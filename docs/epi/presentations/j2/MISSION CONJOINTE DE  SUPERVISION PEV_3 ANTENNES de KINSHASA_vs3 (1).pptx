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9" r:id="rId5"/>
    <p:sldId id="258" r:id="rId6"/>
    <p:sldId id="260" r:id="rId7"/>
    <p:sldId id="262" r:id="rId8"/>
    <p:sldId id="263" r:id="rId9"/>
    <p:sldId id="264" r:id="rId10"/>
    <p:sldId id="267" r:id="rId11"/>
    <p:sldId id="266"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snapToGrid="0">
      <p:cViewPr varScale="1">
        <p:scale>
          <a:sx n="82" d="100"/>
          <a:sy n="82"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D3F8D2-3365-14A5-F726-E86EEEF2D61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6A361F1-6DA5-74A9-76AE-C7AFAC26A6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42ABDA7-AF2A-201C-7E22-246C029DAB99}"/>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5" name="Espace réservé du pied de page 4">
            <a:extLst>
              <a:ext uri="{FF2B5EF4-FFF2-40B4-BE49-F238E27FC236}">
                <a16:creationId xmlns:a16="http://schemas.microsoft.com/office/drawing/2014/main" id="{61640CD4-1FF2-AA98-C350-F00A725D77B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7B05CB5-B982-5E16-B98A-CF3BCDC19342}"/>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231873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6A5D09-A0F1-7094-E1D1-E6CEFCDBEA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1531DD6-A66B-8D61-F7D4-2E9978AA993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4D1EB8B-AC19-ECD0-9FD0-C8F72221FB43}"/>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5" name="Espace réservé du pied de page 4">
            <a:extLst>
              <a:ext uri="{FF2B5EF4-FFF2-40B4-BE49-F238E27FC236}">
                <a16:creationId xmlns:a16="http://schemas.microsoft.com/office/drawing/2014/main" id="{D9E2A451-6695-6CF9-71C1-7A9BA07EE31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915178-5D18-3AAE-0CE6-F843C6D791AD}"/>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504183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747C3-C7CF-B0DF-DF92-D63EC39BDFB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0B05102-3B57-82E9-8454-FC6A82597A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A8811EB-180B-0C04-1E35-FA448745F051}"/>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5" name="Espace réservé du pied de page 4">
            <a:extLst>
              <a:ext uri="{FF2B5EF4-FFF2-40B4-BE49-F238E27FC236}">
                <a16:creationId xmlns:a16="http://schemas.microsoft.com/office/drawing/2014/main" id="{587B1730-F823-F613-4510-32FAD765B4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49CCB09-B1D5-BE32-C327-38F4CC067E71}"/>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3885811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D566CA-7477-88C7-D674-2C43FD92E8A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34C6994-F579-81B6-2144-81B196B3378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BDBEFAD-A5AD-275D-1EEA-459AB6D72C3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69BB1B9-348B-9EEA-B59F-B44F1C787F4D}"/>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6" name="Espace réservé du pied de page 5">
            <a:extLst>
              <a:ext uri="{FF2B5EF4-FFF2-40B4-BE49-F238E27FC236}">
                <a16:creationId xmlns:a16="http://schemas.microsoft.com/office/drawing/2014/main" id="{2FC120A0-1A50-C643-DEF6-F08E4AB0AC3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D753FD-DFCB-8290-6197-632BFDC4890C}"/>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3098103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D4B751-924E-3DCF-A2C1-6B1E9C3F1CE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4D3A04C-DE55-E1D1-E99C-F24BFB4DE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CEE44FF-4B30-2704-BBE0-58A568E275E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E9482E2-AB51-D02C-3226-0175BB33B7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2FFC35F-FE8A-3A9D-E47B-8FBB693DC2B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EB03281-AE84-1141-48EA-87EE26FDD65E}"/>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8" name="Espace réservé du pied de page 7">
            <a:extLst>
              <a:ext uri="{FF2B5EF4-FFF2-40B4-BE49-F238E27FC236}">
                <a16:creationId xmlns:a16="http://schemas.microsoft.com/office/drawing/2014/main" id="{F94743CD-B6DA-C633-D5AE-37B5638CDB8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4AA0662-6DEF-A777-DEFE-70D54B6FA41A}"/>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4070724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866D03-6D85-FED6-AE28-3101A190055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3CF6183-5BDA-BDE6-ED76-4493ABF8DD94}"/>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4" name="Espace réservé du pied de page 3">
            <a:extLst>
              <a:ext uri="{FF2B5EF4-FFF2-40B4-BE49-F238E27FC236}">
                <a16:creationId xmlns:a16="http://schemas.microsoft.com/office/drawing/2014/main" id="{46897A1E-F604-9E58-E39A-982C6113944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558B174-A797-154D-62C1-222E0EBB222F}"/>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1820372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D3FABCB-7352-1698-9A78-962146D0FF1E}"/>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3" name="Espace réservé du pied de page 2">
            <a:extLst>
              <a:ext uri="{FF2B5EF4-FFF2-40B4-BE49-F238E27FC236}">
                <a16:creationId xmlns:a16="http://schemas.microsoft.com/office/drawing/2014/main" id="{E330F942-FACE-0EA3-D907-8211B35D134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2252A40-57AA-B032-E67A-D0A3983053AE}"/>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3893501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3ED5B-4D5C-8CC7-71BE-A85077ED247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21358DE-CBAB-48AC-085E-D0155F9CD1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04757CE-2497-724D-C030-75F422C497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D51F504-DB2A-E805-E071-56EC2EB45736}"/>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6" name="Espace réservé du pied de page 5">
            <a:extLst>
              <a:ext uri="{FF2B5EF4-FFF2-40B4-BE49-F238E27FC236}">
                <a16:creationId xmlns:a16="http://schemas.microsoft.com/office/drawing/2014/main" id="{8C72D73F-E209-6931-78EB-A93EF0F2F6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400E60E-34F1-22E5-C5CA-9F6DAF728B9E}"/>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264604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A7055B-02C5-BB8E-4B7A-0B633E9D9C9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FC4A854D-D041-440A-FF5E-EAF13A3448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A834B77-06E8-3443-9F6F-C8C87B576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6CFC93B-5DB4-9985-F661-029D6615E96B}"/>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6" name="Espace réservé du pied de page 5">
            <a:extLst>
              <a:ext uri="{FF2B5EF4-FFF2-40B4-BE49-F238E27FC236}">
                <a16:creationId xmlns:a16="http://schemas.microsoft.com/office/drawing/2014/main" id="{67CFAF37-4D8B-1EA9-D48E-493E39F4C39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EABB665-C68D-0AA1-5F9B-7132893B799A}"/>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653305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87FF8-F084-CC4D-677A-54DC3F45E9C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36B4305-CA95-6581-02DE-192061A0685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19CC3D-8157-8A76-88F3-44468216FA04}"/>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5" name="Espace réservé du pied de page 4">
            <a:extLst>
              <a:ext uri="{FF2B5EF4-FFF2-40B4-BE49-F238E27FC236}">
                <a16:creationId xmlns:a16="http://schemas.microsoft.com/office/drawing/2014/main" id="{8689A609-42A1-A927-A41E-B6BE7A137D8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3527B9-699A-D9D2-F0A7-D90C0B974CA4}"/>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4179857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FE7993C-0D7C-73DA-1C5A-B8B5110BCC2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57A5D32-169A-037F-981B-06C1E212F87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1F36DEF-0C57-9484-216A-D6DDA99D8AB7}"/>
              </a:ext>
            </a:extLst>
          </p:cNvPr>
          <p:cNvSpPr>
            <a:spLocks noGrp="1"/>
          </p:cNvSpPr>
          <p:nvPr>
            <p:ph type="dt" sz="half" idx="10"/>
          </p:nvPr>
        </p:nvSpPr>
        <p:spPr/>
        <p:txBody>
          <a:bodyPr/>
          <a:lstStyle/>
          <a:p>
            <a:fld id="{2E9A3A58-70C1-42CB-BA68-B55962167B1B}" type="datetimeFigureOut">
              <a:rPr lang="fr-FR" smtClean="0"/>
              <a:t>10/12/2025</a:t>
            </a:fld>
            <a:endParaRPr lang="fr-FR"/>
          </a:p>
        </p:txBody>
      </p:sp>
      <p:sp>
        <p:nvSpPr>
          <p:cNvPr id="5" name="Espace réservé du pied de page 4">
            <a:extLst>
              <a:ext uri="{FF2B5EF4-FFF2-40B4-BE49-F238E27FC236}">
                <a16:creationId xmlns:a16="http://schemas.microsoft.com/office/drawing/2014/main" id="{53567EFB-DAAF-1464-471A-30BDE92CF0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6ED3416-8347-0073-5351-254BD4533FA8}"/>
              </a:ext>
            </a:extLst>
          </p:cNvPr>
          <p:cNvSpPr>
            <a:spLocks noGrp="1"/>
          </p:cNvSpPr>
          <p:nvPr>
            <p:ph type="sldNum" sz="quarter" idx="12"/>
          </p:nvPr>
        </p:nvSpPr>
        <p:spPr/>
        <p:txBody>
          <a:bodyPr/>
          <a:lstStyle/>
          <a:p>
            <a:fld id="{A9F97D59-B577-4CD2-B561-43988B8EC657}" type="slidenum">
              <a:rPr lang="fr-FR" smtClean="0"/>
              <a:t>‹N°›</a:t>
            </a:fld>
            <a:endParaRPr lang="fr-FR"/>
          </a:p>
        </p:txBody>
      </p:sp>
    </p:spTree>
    <p:extLst>
      <p:ext uri="{BB962C8B-B14F-4D97-AF65-F5344CB8AC3E}">
        <p14:creationId xmlns:p14="http://schemas.microsoft.com/office/powerpoint/2010/main" val="168366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33FBA8E-7FD2-DB5F-D12E-F3CA4904C3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E5DD779-B70C-A9A8-E1E4-C6BA027F11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D90153D-1049-5317-9FBF-E44E865EA8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A3A58-70C1-42CB-BA68-B55962167B1B}" type="datetimeFigureOut">
              <a:rPr lang="fr-FR" smtClean="0"/>
              <a:t>10/12/2025</a:t>
            </a:fld>
            <a:endParaRPr lang="fr-FR"/>
          </a:p>
        </p:txBody>
      </p:sp>
      <p:sp>
        <p:nvSpPr>
          <p:cNvPr id="5" name="Espace réservé du pied de page 4">
            <a:extLst>
              <a:ext uri="{FF2B5EF4-FFF2-40B4-BE49-F238E27FC236}">
                <a16:creationId xmlns:a16="http://schemas.microsoft.com/office/drawing/2014/main" id="{4F61ADE3-CA5D-5229-C9CF-33C38BFF2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B24308F-7346-0E1C-A44C-10A3928E7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97D59-B577-4CD2-B561-43988B8EC657}" type="slidenum">
              <a:rPr lang="fr-FR" smtClean="0"/>
              <a:t>‹N°›</a:t>
            </a:fld>
            <a:endParaRPr lang="fr-FR"/>
          </a:p>
        </p:txBody>
      </p:sp>
    </p:spTree>
    <p:extLst>
      <p:ext uri="{BB962C8B-B14F-4D97-AF65-F5344CB8AC3E}">
        <p14:creationId xmlns:p14="http://schemas.microsoft.com/office/powerpoint/2010/main" val="2384695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F60956-DE39-B1A5-F210-30B1F9980D82}"/>
              </a:ext>
            </a:extLst>
          </p:cNvPr>
          <p:cNvSpPr>
            <a:spLocks noGrp="1"/>
          </p:cNvSpPr>
          <p:nvPr>
            <p:ph type="ctrTitle"/>
          </p:nvPr>
        </p:nvSpPr>
        <p:spPr>
          <a:xfrm>
            <a:off x="1120877" y="1048518"/>
            <a:ext cx="9930580" cy="2207443"/>
          </a:xfrm>
          <a:solidFill>
            <a:srgbClr val="002060"/>
          </a:solidFill>
        </p:spPr>
        <p:txBody>
          <a:bodyPr>
            <a:normAutofit fontScale="90000"/>
          </a:bodyPr>
          <a:lstStyle/>
          <a:p>
            <a:pPr marL="0" marR="0" lvl="0" indent="0" defTabSz="914400" rtl="0" eaLnBrk="1" fontAlgn="auto" latinLnBrk="0" hangingPunct="1">
              <a:lnSpc>
                <a:spcPts val="5100"/>
              </a:lnSpc>
              <a:spcBef>
                <a:spcPts val="0"/>
              </a:spcBef>
              <a:spcAft>
                <a:spcPts val="0"/>
              </a:spcAft>
              <a:tabLst/>
              <a:defRPr/>
            </a:pPr>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MISSION CONJOINTE DE  SUPERVISION SUR LE RENFORCEMENT DE LA VACCINATION DE ROUTINE</a:t>
            </a:r>
            <a:endParaRPr lang="fr-FR" dirty="0">
              <a:solidFill>
                <a:schemeClr val="bg1"/>
              </a:solidFill>
            </a:endParaRPr>
          </a:p>
        </p:txBody>
      </p:sp>
      <p:sp>
        <p:nvSpPr>
          <p:cNvPr id="3" name="Sous-titre 2">
            <a:extLst>
              <a:ext uri="{FF2B5EF4-FFF2-40B4-BE49-F238E27FC236}">
                <a16:creationId xmlns:a16="http://schemas.microsoft.com/office/drawing/2014/main" id="{E0AA5FA0-8061-3543-9F20-DD8FBC485ED2}"/>
              </a:ext>
            </a:extLst>
          </p:cNvPr>
          <p:cNvSpPr>
            <a:spLocks noGrp="1"/>
          </p:cNvSpPr>
          <p:nvPr>
            <p:ph type="subTitle" idx="1"/>
          </p:nvPr>
        </p:nvSpPr>
        <p:spPr/>
        <p:txBody>
          <a:bodyPr/>
          <a:lstStyle/>
          <a:p>
            <a:r>
              <a:rPr lang="fr-FR" sz="2800" b="1" dirty="0"/>
              <a:t>Restitution de la mission conjointe menée par les 3 antennes PEV de Kinshasa avec l'appui de l'OMS pour renforcer la vaccination de routine et la surveillance dans les zones de santé moins performantes.</a:t>
            </a:r>
          </a:p>
          <a:p>
            <a:endParaRPr lang="fr-FR" dirty="0"/>
          </a:p>
        </p:txBody>
      </p:sp>
      <p:sp>
        <p:nvSpPr>
          <p:cNvPr id="4" name="Text 1">
            <a:extLst>
              <a:ext uri="{FF2B5EF4-FFF2-40B4-BE49-F238E27FC236}">
                <a16:creationId xmlns:a16="http://schemas.microsoft.com/office/drawing/2014/main" id="{87B6A2BB-BE75-1F79-E667-B263E0BC78ED}"/>
              </a:ext>
            </a:extLst>
          </p:cNvPr>
          <p:cNvSpPr/>
          <p:nvPr/>
        </p:nvSpPr>
        <p:spPr>
          <a:xfrm>
            <a:off x="6235034" y="5410001"/>
            <a:ext cx="4432966" cy="325636"/>
          </a:xfrm>
          <a:prstGeom prst="rect">
            <a:avLst/>
          </a:prstGeom>
          <a:solidFill>
            <a:srgbClr val="00B0F0"/>
          </a:solidFill>
          <a:ln/>
        </p:spPr>
        <p:txBody>
          <a:bodyPr wrap="none" lIns="0" tIns="0" rIns="0" bIns="0" rtlCol="0" anchor="t"/>
          <a:lstStyle/>
          <a:p>
            <a:pPr marL="0" indent="0" algn="l">
              <a:lnSpc>
                <a:spcPts val="2550"/>
              </a:lnSpc>
              <a:buNone/>
            </a:pPr>
            <a:r>
              <a:rPr lang="en-US" sz="2050" b="1" dirty="0">
                <a:solidFill>
                  <a:srgbClr val="000000"/>
                </a:solidFill>
                <a:latin typeface="Petrona Bold" pitchFamily="34" charset="0"/>
                <a:ea typeface="Petrona Bold" pitchFamily="34" charset="-122"/>
                <a:cs typeface="Petrona Bold" pitchFamily="34" charset="-120"/>
              </a:rPr>
              <a:t>Kinshasa, Septembre-Octobre 2025</a:t>
            </a:r>
            <a:endParaRPr lang="en-US" sz="2050" dirty="0"/>
          </a:p>
        </p:txBody>
      </p:sp>
      <p:pic>
        <p:nvPicPr>
          <p:cNvPr id="6" name="Image 13" descr="Democratic-Republic-of-the-Congo-180-animated-flag-gifs.gif">
            <a:extLst>
              <a:ext uri="{FF2B5EF4-FFF2-40B4-BE49-F238E27FC236}">
                <a16:creationId xmlns:a16="http://schemas.microsoft.com/office/drawing/2014/main" id="{4FFC4981-4759-FC55-402D-724D0D64E7EE}"/>
              </a:ext>
            </a:extLst>
          </p:cNvPr>
          <p:cNvPicPr>
            <a:picLocks noChangeAspect="1"/>
          </p:cNvPicPr>
          <p:nvPr/>
        </p:nvPicPr>
        <p:blipFill>
          <a:blip r:embed="rId2" cstate="print"/>
          <a:srcRect/>
          <a:stretch>
            <a:fillRect/>
          </a:stretch>
        </p:blipFill>
        <p:spPr>
          <a:xfrm>
            <a:off x="5315799" y="71696"/>
            <a:ext cx="1845536" cy="900721"/>
          </a:xfrm>
          <a:prstGeom prst="ellipse">
            <a:avLst/>
          </a:prstGeom>
          <a:ln>
            <a:noFill/>
          </a:ln>
          <a:effectLst>
            <a:softEdge rad="112500"/>
          </a:effectLst>
        </p:spPr>
      </p:pic>
      <p:pic>
        <p:nvPicPr>
          <p:cNvPr id="8" name="Image 7">
            <a:extLst>
              <a:ext uri="{FF2B5EF4-FFF2-40B4-BE49-F238E27FC236}">
                <a16:creationId xmlns:a16="http://schemas.microsoft.com/office/drawing/2014/main" id="{11EF5D34-8395-F887-AD77-E9A5C68E6B8D}"/>
              </a:ext>
            </a:extLst>
          </p:cNvPr>
          <p:cNvPicPr>
            <a:picLocks noChangeAspect="1"/>
          </p:cNvPicPr>
          <p:nvPr/>
        </p:nvPicPr>
        <p:blipFill>
          <a:blip r:embed="rId3"/>
          <a:stretch>
            <a:fillRect/>
          </a:stretch>
        </p:blipFill>
        <p:spPr>
          <a:xfrm>
            <a:off x="11179277" y="16134"/>
            <a:ext cx="993057" cy="983904"/>
          </a:xfrm>
          <a:prstGeom prst="rect">
            <a:avLst/>
          </a:prstGeom>
        </p:spPr>
      </p:pic>
      <p:pic>
        <p:nvPicPr>
          <p:cNvPr id="9" name="Image 8">
            <a:extLst>
              <a:ext uri="{FF2B5EF4-FFF2-40B4-BE49-F238E27FC236}">
                <a16:creationId xmlns:a16="http://schemas.microsoft.com/office/drawing/2014/main" id="{61100700-A7DA-D844-CCB3-113883FFBA5D}"/>
              </a:ext>
            </a:extLst>
          </p:cNvPr>
          <p:cNvPicPr>
            <a:picLocks noChangeAspect="1"/>
          </p:cNvPicPr>
          <p:nvPr/>
        </p:nvPicPr>
        <p:blipFill>
          <a:blip r:embed="rId4"/>
          <a:stretch>
            <a:fillRect/>
          </a:stretch>
        </p:blipFill>
        <p:spPr>
          <a:xfrm>
            <a:off x="9832" y="6144053"/>
            <a:ext cx="2461473" cy="701101"/>
          </a:xfrm>
          <a:prstGeom prst="rect">
            <a:avLst/>
          </a:prstGeom>
        </p:spPr>
      </p:pic>
      <p:pic>
        <p:nvPicPr>
          <p:cNvPr id="10" name="Image 9">
            <a:extLst>
              <a:ext uri="{FF2B5EF4-FFF2-40B4-BE49-F238E27FC236}">
                <a16:creationId xmlns:a16="http://schemas.microsoft.com/office/drawing/2014/main" id="{F0192AAF-F694-91C2-9648-771FF82230CE}"/>
              </a:ext>
            </a:extLst>
          </p:cNvPr>
          <p:cNvPicPr>
            <a:picLocks/>
          </p:cNvPicPr>
          <p:nvPr/>
        </p:nvPicPr>
        <p:blipFill>
          <a:blip r:embed="rId5" cstate="print"/>
          <a:srcRect/>
          <a:stretch/>
        </p:blipFill>
        <p:spPr>
          <a:xfrm>
            <a:off x="0" y="12846"/>
            <a:ext cx="1120877" cy="1035671"/>
          </a:xfrm>
          <a:prstGeom prst="rect">
            <a:avLst/>
          </a:prstGeom>
        </p:spPr>
      </p:pic>
    </p:spTree>
    <p:extLst>
      <p:ext uri="{BB962C8B-B14F-4D97-AF65-F5344CB8AC3E}">
        <p14:creationId xmlns:p14="http://schemas.microsoft.com/office/powerpoint/2010/main" val="1489264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3B1360-1572-C47C-AD97-882779B07B65}"/>
              </a:ext>
            </a:extLst>
          </p:cNvPr>
          <p:cNvSpPr>
            <a:spLocks noGrp="1"/>
          </p:cNvSpPr>
          <p:nvPr>
            <p:ph type="title"/>
          </p:nvPr>
        </p:nvSpPr>
        <p:spPr>
          <a:xfrm>
            <a:off x="838199" y="227474"/>
            <a:ext cx="10085439" cy="736087"/>
          </a:xfrm>
          <a:solidFill>
            <a:srgbClr val="002060"/>
          </a:solidFill>
        </p:spPr>
        <p:txBody>
          <a:bodyPr>
            <a:normAutofit/>
          </a:bodyPr>
          <a:lstStyle/>
          <a:p>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Contenu</a:t>
            </a:r>
            <a:endParaRPr lang="fr-FR" dirty="0">
              <a:solidFill>
                <a:schemeClr val="bg1"/>
              </a:solidFill>
            </a:endParaRPr>
          </a:p>
        </p:txBody>
      </p:sp>
      <p:sp>
        <p:nvSpPr>
          <p:cNvPr id="3" name="Espace réservé du contenu 2">
            <a:extLst>
              <a:ext uri="{FF2B5EF4-FFF2-40B4-BE49-F238E27FC236}">
                <a16:creationId xmlns:a16="http://schemas.microsoft.com/office/drawing/2014/main" id="{8BB253FF-FEF9-07D5-BDB0-3AD963C056C0}"/>
              </a:ext>
            </a:extLst>
          </p:cNvPr>
          <p:cNvSpPr>
            <a:spLocks noGrp="1"/>
          </p:cNvSpPr>
          <p:nvPr>
            <p:ph idx="1"/>
          </p:nvPr>
        </p:nvSpPr>
        <p:spPr>
          <a:xfrm>
            <a:off x="838200" y="1406013"/>
            <a:ext cx="10242756" cy="4247535"/>
          </a:xfrm>
        </p:spPr>
        <p:txBody>
          <a:bodyPr>
            <a:noAutofit/>
          </a:bodyPr>
          <a:lstStyle/>
          <a:p>
            <a:pPr marL="514350" indent="-514350">
              <a:lnSpc>
                <a:spcPct val="107000"/>
              </a:lnSpc>
              <a:buFont typeface="+mj-lt"/>
              <a:buAutoNum type="arabicPeriod"/>
            </a:pPr>
            <a:r>
              <a:rPr lang="fr-FR" sz="2400" b="1" dirty="0">
                <a:solidFill>
                  <a:srgbClr val="002060"/>
                </a:solidFill>
                <a:latin typeface="Inter" pitchFamily="34" charset="0"/>
                <a:ea typeface="Inter" pitchFamily="34" charset="-122"/>
              </a:rPr>
              <a:t>Contexte</a:t>
            </a:r>
          </a:p>
          <a:p>
            <a:pPr marL="514350" indent="-514350">
              <a:lnSpc>
                <a:spcPct val="107000"/>
              </a:lnSpc>
              <a:buFont typeface="+mj-lt"/>
              <a:buAutoNum type="arabicPeriod"/>
            </a:pPr>
            <a:r>
              <a:rPr lang="fr-FR" sz="2400" b="1" dirty="0">
                <a:solidFill>
                  <a:srgbClr val="002060"/>
                </a:solidFill>
                <a:latin typeface="Inter" pitchFamily="34" charset="0"/>
                <a:ea typeface="Inter" pitchFamily="34" charset="-122"/>
              </a:rPr>
              <a:t>Objectifs de la mission</a:t>
            </a:r>
          </a:p>
          <a:p>
            <a:pPr marL="514350" indent="-514350">
              <a:lnSpc>
                <a:spcPct val="107000"/>
              </a:lnSpc>
              <a:buFont typeface="+mj-lt"/>
              <a:buAutoNum type="arabicPeriod"/>
            </a:pPr>
            <a:r>
              <a:rPr lang="fr-FR" sz="2400" b="1" dirty="0">
                <a:solidFill>
                  <a:srgbClr val="002060"/>
                </a:solidFill>
                <a:latin typeface="Inter" pitchFamily="34" charset="0"/>
                <a:ea typeface="Inter" pitchFamily="34" charset="-122"/>
              </a:rPr>
              <a:t>Déroulement de la mission</a:t>
            </a:r>
          </a:p>
          <a:p>
            <a:pPr marL="514350" indent="-514350">
              <a:lnSpc>
                <a:spcPct val="107000"/>
              </a:lnSpc>
              <a:buFont typeface="+mj-lt"/>
              <a:buAutoNum type="arabicPeriod"/>
            </a:pPr>
            <a:r>
              <a:rPr lang="fr-FR" sz="2400" b="1" dirty="0">
                <a:solidFill>
                  <a:srgbClr val="002060"/>
                </a:solidFill>
                <a:latin typeface="Inter" pitchFamily="34" charset="0"/>
                <a:ea typeface="Inter" pitchFamily="34" charset="-122"/>
              </a:rPr>
              <a:t>Points Forts </a:t>
            </a:r>
          </a:p>
          <a:p>
            <a:pPr marL="514350" indent="-514350">
              <a:lnSpc>
                <a:spcPct val="107000"/>
              </a:lnSpc>
              <a:buFont typeface="+mj-lt"/>
              <a:buAutoNum type="arabicPeriod"/>
            </a:pPr>
            <a:r>
              <a:rPr lang="fr-FR" sz="2400" b="1" dirty="0">
                <a:solidFill>
                  <a:srgbClr val="002060"/>
                </a:solidFill>
                <a:latin typeface="Inter" pitchFamily="34" charset="0"/>
                <a:ea typeface="Inter" pitchFamily="34" charset="-122"/>
              </a:rPr>
              <a:t>Défis Majeurs</a:t>
            </a:r>
          </a:p>
          <a:p>
            <a:pPr marL="514350" indent="-514350">
              <a:lnSpc>
                <a:spcPct val="107000"/>
              </a:lnSpc>
              <a:buFont typeface="+mj-lt"/>
              <a:buAutoNum type="arabicPeriod"/>
            </a:pPr>
            <a:r>
              <a:rPr lang="fr-FR" sz="2400" b="1" dirty="0">
                <a:solidFill>
                  <a:srgbClr val="002060"/>
                </a:solidFill>
                <a:latin typeface="Inter" pitchFamily="34" charset="0"/>
                <a:ea typeface="Inter" pitchFamily="34" charset="-122"/>
              </a:rPr>
              <a:t>Recommandations</a:t>
            </a:r>
          </a:p>
          <a:p>
            <a:pPr marL="514350" indent="-514350">
              <a:lnSpc>
                <a:spcPct val="107000"/>
              </a:lnSpc>
              <a:buFont typeface="+mj-lt"/>
              <a:buAutoNum type="arabicPeriod"/>
            </a:pPr>
            <a:endParaRPr lang="fr-FR" sz="2400" b="1" dirty="0">
              <a:solidFill>
                <a:srgbClr val="002060"/>
              </a:solidFill>
              <a:latin typeface="Inter" pitchFamily="34" charset="0"/>
              <a:ea typeface="Inter" pitchFamily="34" charset="-122"/>
            </a:endParaRPr>
          </a:p>
        </p:txBody>
      </p:sp>
    </p:spTree>
    <p:extLst>
      <p:ext uri="{BB962C8B-B14F-4D97-AF65-F5344CB8AC3E}">
        <p14:creationId xmlns:p14="http://schemas.microsoft.com/office/powerpoint/2010/main" val="3143222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3A2BFC-501D-FCD7-01D6-C1E73B6CD6FE}"/>
              </a:ext>
            </a:extLst>
          </p:cNvPr>
          <p:cNvSpPr>
            <a:spLocks noGrp="1"/>
          </p:cNvSpPr>
          <p:nvPr>
            <p:ph type="title"/>
          </p:nvPr>
        </p:nvSpPr>
        <p:spPr>
          <a:xfrm>
            <a:off x="793790" y="365126"/>
            <a:ext cx="10560010" cy="775416"/>
          </a:xfrm>
          <a:solidFill>
            <a:srgbClr val="002060"/>
          </a:solidFill>
        </p:spPr>
        <p:txBody>
          <a:bodyPr>
            <a:normAutofit/>
          </a:bodyPr>
          <a:lstStyle/>
          <a:p>
            <a:pPr marL="0" marR="0" lvl="0" indent="0" defTabSz="914400" rtl="0" eaLnBrk="1" fontAlgn="auto" latinLnBrk="0" hangingPunct="1">
              <a:lnSpc>
                <a:spcPts val="5100"/>
              </a:lnSpc>
              <a:spcBef>
                <a:spcPts val="0"/>
              </a:spcBef>
              <a:spcAft>
                <a:spcPts val="0"/>
              </a:spcAft>
              <a:tabLst/>
              <a:defRPr/>
            </a:pP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Contexte</a:t>
            </a:r>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 de la Mission</a:t>
            </a:r>
            <a:endParaRPr lang="fr-FR" dirty="0">
              <a:solidFill>
                <a:schemeClr val="bg1"/>
              </a:solidFill>
            </a:endParaRPr>
          </a:p>
        </p:txBody>
      </p:sp>
      <p:sp>
        <p:nvSpPr>
          <p:cNvPr id="4" name="Text 1">
            <a:extLst>
              <a:ext uri="{FF2B5EF4-FFF2-40B4-BE49-F238E27FC236}">
                <a16:creationId xmlns:a16="http://schemas.microsoft.com/office/drawing/2014/main" id="{F64BAABB-0BA9-AC39-F814-DD00C8E49E05}"/>
              </a:ext>
            </a:extLst>
          </p:cNvPr>
          <p:cNvSpPr/>
          <p:nvPr/>
        </p:nvSpPr>
        <p:spPr>
          <a:xfrm>
            <a:off x="793791" y="1553498"/>
            <a:ext cx="5180742" cy="953728"/>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Les supervisions conjointes OMS-Antennes PEV ont ciblé six zones de santé identifiées comme moins performantes au cours des mois de septembre et octobre 2025.</a:t>
            </a:r>
            <a:endParaRPr lang="en-US" sz="1550" b="1" dirty="0"/>
          </a:p>
        </p:txBody>
      </p:sp>
      <p:sp>
        <p:nvSpPr>
          <p:cNvPr id="5" name="Text 2">
            <a:extLst>
              <a:ext uri="{FF2B5EF4-FFF2-40B4-BE49-F238E27FC236}">
                <a16:creationId xmlns:a16="http://schemas.microsoft.com/office/drawing/2014/main" id="{03E0171E-2D22-3D07-9715-40AE2B2CAEF5}"/>
              </a:ext>
            </a:extLst>
          </p:cNvPr>
          <p:cNvSpPr/>
          <p:nvPr/>
        </p:nvSpPr>
        <p:spPr>
          <a:xfrm>
            <a:off x="838201" y="2893763"/>
            <a:ext cx="5136331" cy="344286"/>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Septembre 2025 :</a:t>
            </a:r>
            <a:r>
              <a:rPr lang="en-US" sz="1550" dirty="0">
                <a:solidFill>
                  <a:srgbClr val="272525"/>
                </a:solidFill>
                <a:latin typeface="Inter" pitchFamily="34" charset="0"/>
                <a:ea typeface="Inter" pitchFamily="34" charset="-122"/>
                <a:cs typeface="Inter" pitchFamily="34" charset="-120"/>
              </a:rPr>
              <a:t> Kisenso, Ndjili et Bandalungwa</a:t>
            </a:r>
            <a:endParaRPr lang="en-US" sz="1550" dirty="0"/>
          </a:p>
        </p:txBody>
      </p:sp>
      <p:sp>
        <p:nvSpPr>
          <p:cNvPr id="6" name="Text 3">
            <a:extLst>
              <a:ext uri="{FF2B5EF4-FFF2-40B4-BE49-F238E27FC236}">
                <a16:creationId xmlns:a16="http://schemas.microsoft.com/office/drawing/2014/main" id="{C096B7E7-FC34-4F26-5B6A-C418B3F62E72}"/>
              </a:ext>
            </a:extLst>
          </p:cNvPr>
          <p:cNvSpPr/>
          <p:nvPr/>
        </p:nvSpPr>
        <p:spPr>
          <a:xfrm>
            <a:off x="793791" y="3549286"/>
            <a:ext cx="5136331" cy="413114"/>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Octobre 2025 :</a:t>
            </a:r>
            <a:r>
              <a:rPr lang="en-US" sz="1550" dirty="0">
                <a:solidFill>
                  <a:srgbClr val="272525"/>
                </a:solidFill>
                <a:latin typeface="Inter" pitchFamily="34" charset="0"/>
                <a:ea typeface="Inter" pitchFamily="34" charset="-122"/>
                <a:cs typeface="Inter" pitchFamily="34" charset="-120"/>
              </a:rPr>
              <a:t> Limete, Maluku 1 et </a:t>
            </a:r>
            <a:r>
              <a:rPr lang="en-US" sz="1550" dirty="0" err="1">
                <a:solidFill>
                  <a:srgbClr val="272525"/>
                </a:solidFill>
                <a:latin typeface="Inter" pitchFamily="34" charset="0"/>
                <a:ea typeface="Inter" pitchFamily="34" charset="-122"/>
                <a:cs typeface="Inter" pitchFamily="34" charset="-120"/>
              </a:rPr>
              <a:t>Mongafula</a:t>
            </a:r>
            <a:r>
              <a:rPr lang="en-US" sz="1550" dirty="0">
                <a:solidFill>
                  <a:srgbClr val="272525"/>
                </a:solidFill>
                <a:latin typeface="Inter" pitchFamily="34" charset="0"/>
                <a:ea typeface="Inter" pitchFamily="34" charset="-122"/>
                <a:cs typeface="Inter" pitchFamily="34" charset="-120"/>
              </a:rPr>
              <a:t> 1</a:t>
            </a:r>
            <a:endParaRPr lang="en-US" sz="1550" dirty="0"/>
          </a:p>
        </p:txBody>
      </p:sp>
      <p:sp>
        <p:nvSpPr>
          <p:cNvPr id="7" name="Text 4">
            <a:extLst>
              <a:ext uri="{FF2B5EF4-FFF2-40B4-BE49-F238E27FC236}">
                <a16:creationId xmlns:a16="http://schemas.microsoft.com/office/drawing/2014/main" id="{FF7ED14A-9724-269E-0966-B1A3BB12B4EF}"/>
              </a:ext>
            </a:extLst>
          </p:cNvPr>
          <p:cNvSpPr/>
          <p:nvPr/>
        </p:nvSpPr>
        <p:spPr>
          <a:xfrm>
            <a:off x="793791" y="4204810"/>
            <a:ext cx="5379267" cy="123242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Chaque zone de santé a été visitée pendant 5 jours. </a:t>
            </a:r>
          </a:p>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Les zones visitées en septembre ont été revisitées en octobre pour évaluer les progrès.</a:t>
            </a:r>
            <a:endParaRPr lang="en-US" sz="1550" b="1" dirty="0"/>
          </a:p>
        </p:txBody>
      </p:sp>
      <p:pic>
        <p:nvPicPr>
          <p:cNvPr id="3" name="Image 2">
            <a:extLst>
              <a:ext uri="{FF2B5EF4-FFF2-40B4-BE49-F238E27FC236}">
                <a16:creationId xmlns:a16="http://schemas.microsoft.com/office/drawing/2014/main" id="{65E95DAC-E89B-C95A-DD8E-E67A7CA6A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541" y="1553498"/>
            <a:ext cx="5379267" cy="4528569"/>
          </a:xfrm>
          <a:prstGeom prst="rect">
            <a:avLst/>
          </a:prstGeom>
          <a:ln w="28575">
            <a:solidFill>
              <a:schemeClr val="tx1"/>
            </a:solidFill>
          </a:ln>
        </p:spPr>
      </p:pic>
    </p:spTree>
    <p:extLst>
      <p:ext uri="{BB962C8B-B14F-4D97-AF65-F5344CB8AC3E}">
        <p14:creationId xmlns:p14="http://schemas.microsoft.com/office/powerpoint/2010/main" val="349086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B13D37-1EDE-4A7B-DD7E-620C8BC37C9C}"/>
              </a:ext>
            </a:extLst>
          </p:cNvPr>
          <p:cNvSpPr>
            <a:spLocks noGrp="1"/>
          </p:cNvSpPr>
          <p:nvPr>
            <p:ph type="title"/>
          </p:nvPr>
        </p:nvSpPr>
        <p:spPr>
          <a:xfrm>
            <a:off x="838200" y="365125"/>
            <a:ext cx="10409903" cy="795081"/>
          </a:xfrm>
          <a:solidFill>
            <a:srgbClr val="002060"/>
          </a:solidFill>
        </p:spPr>
        <p:txBody>
          <a:bodyPr>
            <a:normAutofit/>
          </a:bodyPr>
          <a:lstStyle/>
          <a:p>
            <a:pPr marL="0" marR="0" lvl="0" indent="0" defTabSz="914400" rtl="0" eaLnBrk="1" fontAlgn="auto" latinLnBrk="0" hangingPunct="1">
              <a:lnSpc>
                <a:spcPts val="5100"/>
              </a:lnSpc>
              <a:spcBef>
                <a:spcPts val="0"/>
              </a:spcBef>
              <a:spcAft>
                <a:spcPts val="0"/>
              </a:spcAft>
              <a:tabLst/>
              <a:defRPr/>
            </a:pP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Objectifs</a:t>
            </a:r>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 de la Mission</a:t>
            </a:r>
            <a:endParaRPr lang="fr-FR" dirty="0">
              <a:solidFill>
                <a:schemeClr val="bg1"/>
              </a:solidFill>
            </a:endParaRPr>
          </a:p>
        </p:txBody>
      </p:sp>
      <p:sp>
        <p:nvSpPr>
          <p:cNvPr id="4" name="Shape 1">
            <a:extLst>
              <a:ext uri="{FF2B5EF4-FFF2-40B4-BE49-F238E27FC236}">
                <a16:creationId xmlns:a16="http://schemas.microsoft.com/office/drawing/2014/main" id="{33D14BDC-A560-2DCC-2B06-A5CB366131F8}"/>
              </a:ext>
            </a:extLst>
          </p:cNvPr>
          <p:cNvSpPr/>
          <p:nvPr/>
        </p:nvSpPr>
        <p:spPr>
          <a:xfrm>
            <a:off x="727505" y="1562185"/>
            <a:ext cx="5479191" cy="1798074"/>
          </a:xfrm>
          <a:prstGeom prst="roundRect">
            <a:avLst>
              <a:gd name="adj" fmla="val 3202"/>
            </a:avLst>
          </a:prstGeom>
          <a:solidFill>
            <a:srgbClr val="CCEEFF"/>
          </a:solidFill>
          <a:ln w="7620">
            <a:solidFill>
              <a:srgbClr val="B2D4E5"/>
            </a:solidFill>
            <a:prstDash val="solid"/>
          </a:ln>
        </p:spPr>
        <p:txBody>
          <a:bodyPr/>
          <a:lstStyle/>
          <a:p>
            <a:endParaRPr lang="fr-FR" dirty="0"/>
          </a:p>
        </p:txBody>
      </p:sp>
      <p:sp>
        <p:nvSpPr>
          <p:cNvPr id="5" name="Text 3">
            <a:extLst>
              <a:ext uri="{FF2B5EF4-FFF2-40B4-BE49-F238E27FC236}">
                <a16:creationId xmlns:a16="http://schemas.microsoft.com/office/drawing/2014/main" id="{133DC329-06C9-02A1-1BCD-AAC30558CD17}"/>
              </a:ext>
            </a:extLst>
          </p:cNvPr>
          <p:cNvSpPr/>
          <p:nvPr/>
        </p:nvSpPr>
        <p:spPr>
          <a:xfrm>
            <a:off x="838200" y="1758800"/>
            <a:ext cx="3381256"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Renforcement des Capacités</a:t>
            </a:r>
            <a:endParaRPr lang="en-US" sz="2050" dirty="0"/>
          </a:p>
        </p:txBody>
      </p:sp>
      <p:sp>
        <p:nvSpPr>
          <p:cNvPr id="6" name="Shape 1">
            <a:extLst>
              <a:ext uri="{FF2B5EF4-FFF2-40B4-BE49-F238E27FC236}">
                <a16:creationId xmlns:a16="http://schemas.microsoft.com/office/drawing/2014/main" id="{82B643FD-A54C-8647-A975-1AC1330A354B}"/>
              </a:ext>
            </a:extLst>
          </p:cNvPr>
          <p:cNvSpPr/>
          <p:nvPr/>
        </p:nvSpPr>
        <p:spPr>
          <a:xfrm>
            <a:off x="6452255" y="1591594"/>
            <a:ext cx="5248131" cy="1837406"/>
          </a:xfrm>
          <a:prstGeom prst="roundRect">
            <a:avLst>
              <a:gd name="adj" fmla="val 3202"/>
            </a:avLst>
          </a:prstGeom>
          <a:solidFill>
            <a:srgbClr val="CCEEFF"/>
          </a:solidFill>
          <a:ln w="7620">
            <a:solidFill>
              <a:srgbClr val="B2D4E5"/>
            </a:solidFill>
            <a:prstDash val="solid"/>
          </a:ln>
        </p:spPr>
        <p:txBody>
          <a:bodyPr/>
          <a:lstStyle/>
          <a:p>
            <a:endParaRPr lang="fr-FR" dirty="0"/>
          </a:p>
        </p:txBody>
      </p:sp>
      <p:sp>
        <p:nvSpPr>
          <p:cNvPr id="7" name="Text 4">
            <a:extLst>
              <a:ext uri="{FF2B5EF4-FFF2-40B4-BE49-F238E27FC236}">
                <a16:creationId xmlns:a16="http://schemas.microsoft.com/office/drawing/2014/main" id="{FE64A6A0-4816-EB8C-732C-BF00586369B1}"/>
              </a:ext>
            </a:extLst>
          </p:cNvPr>
          <p:cNvSpPr/>
          <p:nvPr/>
        </p:nvSpPr>
        <p:spPr>
          <a:xfrm>
            <a:off x="838200" y="2244329"/>
            <a:ext cx="5257800" cy="990483"/>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Renforcer la capacité des prestataires au niveau des bureaux centraux des zones de santé et des aires de santé (3 AS par zone de santé)</a:t>
            </a:r>
            <a:endParaRPr lang="en-US" sz="1550" dirty="0"/>
          </a:p>
        </p:txBody>
      </p:sp>
      <p:sp>
        <p:nvSpPr>
          <p:cNvPr id="8" name="Text 8">
            <a:extLst>
              <a:ext uri="{FF2B5EF4-FFF2-40B4-BE49-F238E27FC236}">
                <a16:creationId xmlns:a16="http://schemas.microsoft.com/office/drawing/2014/main" id="{947D8ECD-5C9B-BEB3-52DC-A436F7FB3F08}"/>
              </a:ext>
            </a:extLst>
          </p:cNvPr>
          <p:cNvSpPr/>
          <p:nvPr/>
        </p:nvSpPr>
        <p:spPr>
          <a:xfrm>
            <a:off x="6548284" y="2244330"/>
            <a:ext cx="4699819" cy="901994"/>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Réaliser une enquête rapide de convenance dans les aires de santé ciblées pour identifier les défis</a:t>
            </a:r>
            <a:endParaRPr lang="en-US" sz="1550" dirty="0"/>
          </a:p>
        </p:txBody>
      </p:sp>
      <p:sp>
        <p:nvSpPr>
          <p:cNvPr id="9" name="Text 7">
            <a:extLst>
              <a:ext uri="{FF2B5EF4-FFF2-40B4-BE49-F238E27FC236}">
                <a16:creationId xmlns:a16="http://schemas.microsoft.com/office/drawing/2014/main" id="{5BC466B8-9A67-137F-0A7D-0B18271D709A}"/>
              </a:ext>
            </a:extLst>
          </p:cNvPr>
          <p:cNvSpPr/>
          <p:nvPr/>
        </p:nvSpPr>
        <p:spPr>
          <a:xfrm>
            <a:off x="6656795" y="1746106"/>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Enquête Rapide</a:t>
            </a:r>
            <a:endParaRPr lang="en-US" sz="2050" dirty="0"/>
          </a:p>
        </p:txBody>
      </p:sp>
      <p:sp>
        <p:nvSpPr>
          <p:cNvPr id="10" name="Shape 1">
            <a:extLst>
              <a:ext uri="{FF2B5EF4-FFF2-40B4-BE49-F238E27FC236}">
                <a16:creationId xmlns:a16="http://schemas.microsoft.com/office/drawing/2014/main" id="{E3ACD40A-5081-7F1F-AF84-8621CCACECCC}"/>
              </a:ext>
            </a:extLst>
          </p:cNvPr>
          <p:cNvSpPr/>
          <p:nvPr/>
        </p:nvSpPr>
        <p:spPr>
          <a:xfrm>
            <a:off x="720130" y="3916955"/>
            <a:ext cx="5479191" cy="1923405"/>
          </a:xfrm>
          <a:prstGeom prst="roundRect">
            <a:avLst>
              <a:gd name="adj" fmla="val 3202"/>
            </a:avLst>
          </a:prstGeom>
          <a:solidFill>
            <a:srgbClr val="CCEEFF"/>
          </a:solidFill>
          <a:ln w="7620">
            <a:solidFill>
              <a:srgbClr val="B2D4E5"/>
            </a:solidFill>
            <a:prstDash val="solid"/>
          </a:ln>
        </p:spPr>
        <p:txBody>
          <a:bodyPr/>
          <a:lstStyle/>
          <a:p>
            <a:endParaRPr lang="fr-FR" dirty="0"/>
          </a:p>
        </p:txBody>
      </p:sp>
      <p:sp>
        <p:nvSpPr>
          <p:cNvPr id="11" name="Shape 1">
            <a:extLst>
              <a:ext uri="{FF2B5EF4-FFF2-40B4-BE49-F238E27FC236}">
                <a16:creationId xmlns:a16="http://schemas.microsoft.com/office/drawing/2014/main" id="{A162F233-D2C9-8D94-2E18-372367ABD026}"/>
              </a:ext>
            </a:extLst>
          </p:cNvPr>
          <p:cNvSpPr/>
          <p:nvPr/>
        </p:nvSpPr>
        <p:spPr>
          <a:xfrm>
            <a:off x="6452256" y="3916957"/>
            <a:ext cx="5248130" cy="1923404"/>
          </a:xfrm>
          <a:prstGeom prst="roundRect">
            <a:avLst>
              <a:gd name="adj" fmla="val 3202"/>
            </a:avLst>
          </a:prstGeom>
          <a:solidFill>
            <a:srgbClr val="CCEEFF"/>
          </a:solidFill>
          <a:ln w="7620">
            <a:solidFill>
              <a:srgbClr val="B2D4E5"/>
            </a:solidFill>
            <a:prstDash val="solid"/>
          </a:ln>
        </p:spPr>
        <p:txBody>
          <a:bodyPr/>
          <a:lstStyle/>
          <a:p>
            <a:endParaRPr lang="fr-FR" dirty="0"/>
          </a:p>
        </p:txBody>
      </p:sp>
      <p:sp>
        <p:nvSpPr>
          <p:cNvPr id="12" name="Text 11">
            <a:extLst>
              <a:ext uri="{FF2B5EF4-FFF2-40B4-BE49-F238E27FC236}">
                <a16:creationId xmlns:a16="http://schemas.microsoft.com/office/drawing/2014/main" id="{2CFAE54E-791F-5BE9-D562-DFDA1C5DCD45}"/>
              </a:ext>
            </a:extLst>
          </p:cNvPr>
          <p:cNvSpPr/>
          <p:nvPr/>
        </p:nvSpPr>
        <p:spPr>
          <a:xfrm>
            <a:off x="950607" y="4042403"/>
            <a:ext cx="2847975"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Évaluation des Données</a:t>
            </a:r>
            <a:endParaRPr lang="en-US" sz="2050" dirty="0"/>
          </a:p>
        </p:txBody>
      </p:sp>
      <p:sp>
        <p:nvSpPr>
          <p:cNvPr id="13" name="Text 15">
            <a:extLst>
              <a:ext uri="{FF2B5EF4-FFF2-40B4-BE49-F238E27FC236}">
                <a16:creationId xmlns:a16="http://schemas.microsoft.com/office/drawing/2014/main" id="{210A3DCF-23FE-0CD4-CC15-52508D9AB443}"/>
              </a:ext>
            </a:extLst>
          </p:cNvPr>
          <p:cNvSpPr/>
          <p:nvPr/>
        </p:nvSpPr>
        <p:spPr>
          <a:xfrm>
            <a:off x="7030421" y="4042403"/>
            <a:ext cx="2640092"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Plan de Redressement</a:t>
            </a:r>
            <a:endParaRPr lang="en-US" sz="2050" dirty="0"/>
          </a:p>
        </p:txBody>
      </p:sp>
      <p:sp>
        <p:nvSpPr>
          <p:cNvPr id="14" name="Text 12">
            <a:extLst>
              <a:ext uri="{FF2B5EF4-FFF2-40B4-BE49-F238E27FC236}">
                <a16:creationId xmlns:a16="http://schemas.microsoft.com/office/drawing/2014/main" id="{927011B3-6746-E3BD-DB64-93BEB4C5EC7A}"/>
              </a:ext>
            </a:extLst>
          </p:cNvPr>
          <p:cNvSpPr/>
          <p:nvPr/>
        </p:nvSpPr>
        <p:spPr>
          <a:xfrm>
            <a:off x="838200" y="4629690"/>
            <a:ext cx="5169309" cy="965211"/>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Évaluer la qualité des données produites par les structures à partir des différents outils de collecte selon les directives PEV</a:t>
            </a:r>
            <a:endParaRPr lang="en-US" sz="1550" dirty="0"/>
          </a:p>
        </p:txBody>
      </p:sp>
      <p:sp>
        <p:nvSpPr>
          <p:cNvPr id="15" name="Text 16">
            <a:extLst>
              <a:ext uri="{FF2B5EF4-FFF2-40B4-BE49-F238E27FC236}">
                <a16:creationId xmlns:a16="http://schemas.microsoft.com/office/drawing/2014/main" id="{120760F5-D2EF-9175-764A-504FB7501901}"/>
              </a:ext>
            </a:extLst>
          </p:cNvPr>
          <p:cNvSpPr/>
          <p:nvPr/>
        </p:nvSpPr>
        <p:spPr>
          <a:xfrm>
            <a:off x="6548284" y="4708995"/>
            <a:ext cx="4923586" cy="885906"/>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Élaborer et évaluer conjointement le plan de redressement issu des différentes faiblesses constatées</a:t>
            </a:r>
            <a:endParaRPr lang="en-US" sz="1550" dirty="0"/>
          </a:p>
        </p:txBody>
      </p:sp>
    </p:spTree>
    <p:extLst>
      <p:ext uri="{BB962C8B-B14F-4D97-AF65-F5344CB8AC3E}">
        <p14:creationId xmlns:p14="http://schemas.microsoft.com/office/powerpoint/2010/main" val="383320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36D7D2-2A4D-A057-A79B-1DE10D1DE2E7}"/>
              </a:ext>
            </a:extLst>
          </p:cNvPr>
          <p:cNvSpPr>
            <a:spLocks noGrp="1"/>
          </p:cNvSpPr>
          <p:nvPr>
            <p:ph type="title"/>
          </p:nvPr>
        </p:nvSpPr>
        <p:spPr>
          <a:xfrm>
            <a:off x="838200" y="365126"/>
            <a:ext cx="10370574" cy="755752"/>
          </a:xfrm>
          <a:solidFill>
            <a:srgbClr val="002060"/>
          </a:solidFill>
        </p:spPr>
        <p:txBody>
          <a:bodyPr>
            <a:normAutofit/>
          </a:bodyPr>
          <a:lstStyle/>
          <a:p>
            <a:pPr marL="0" marR="0" lvl="0" indent="0" defTabSz="914400" rtl="0" eaLnBrk="1" fontAlgn="auto" latinLnBrk="0" hangingPunct="1">
              <a:lnSpc>
                <a:spcPts val="5100"/>
              </a:lnSpc>
              <a:spcBef>
                <a:spcPts val="0"/>
              </a:spcBef>
              <a:spcAft>
                <a:spcPts val="0"/>
              </a:spcAft>
              <a:tabLst/>
              <a:defRPr/>
            </a:pP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Déroulement</a:t>
            </a:r>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 de la Mission</a:t>
            </a:r>
            <a:endParaRPr lang="fr-FR" dirty="0">
              <a:solidFill>
                <a:schemeClr val="bg1"/>
              </a:solidFill>
            </a:endParaRPr>
          </a:p>
        </p:txBody>
      </p:sp>
      <p:sp>
        <p:nvSpPr>
          <p:cNvPr id="4" name="Shape 1">
            <a:extLst>
              <a:ext uri="{FF2B5EF4-FFF2-40B4-BE49-F238E27FC236}">
                <a16:creationId xmlns:a16="http://schemas.microsoft.com/office/drawing/2014/main" id="{B63D6A87-9A59-476A-8615-13D0AFE505DB}"/>
              </a:ext>
            </a:extLst>
          </p:cNvPr>
          <p:cNvSpPr/>
          <p:nvPr/>
        </p:nvSpPr>
        <p:spPr>
          <a:xfrm>
            <a:off x="459494" y="3288901"/>
            <a:ext cx="10621462" cy="45719"/>
          </a:xfrm>
          <a:prstGeom prst="roundRect">
            <a:avLst>
              <a:gd name="adj" fmla="val 364651"/>
            </a:avLst>
          </a:prstGeom>
          <a:solidFill>
            <a:srgbClr val="B2D4E5"/>
          </a:solidFill>
          <a:ln/>
        </p:spPr>
      </p:sp>
      <p:sp>
        <p:nvSpPr>
          <p:cNvPr id="5" name="Shape 3">
            <a:extLst>
              <a:ext uri="{FF2B5EF4-FFF2-40B4-BE49-F238E27FC236}">
                <a16:creationId xmlns:a16="http://schemas.microsoft.com/office/drawing/2014/main" id="{348F2A76-8E31-8588-8A4E-7955CA90DA61}"/>
              </a:ext>
            </a:extLst>
          </p:cNvPr>
          <p:cNvSpPr/>
          <p:nvPr/>
        </p:nvSpPr>
        <p:spPr>
          <a:xfrm>
            <a:off x="3335440" y="3082949"/>
            <a:ext cx="446484" cy="446484"/>
          </a:xfrm>
          <a:prstGeom prst="roundRect">
            <a:avLst>
              <a:gd name="adj" fmla="val 18670"/>
            </a:avLst>
          </a:prstGeom>
          <a:solidFill>
            <a:srgbClr val="CCEEFF"/>
          </a:solidFill>
          <a:ln w="7620">
            <a:solidFill>
              <a:srgbClr val="B2D4E5"/>
            </a:solidFill>
            <a:prstDash val="solid"/>
          </a:ln>
        </p:spPr>
        <p:txBody>
          <a:bodyPr/>
          <a:lstStyle/>
          <a:p>
            <a:r>
              <a:rPr lang="fr-FR" dirty="0"/>
              <a:t>1</a:t>
            </a:r>
          </a:p>
        </p:txBody>
      </p:sp>
      <p:sp>
        <p:nvSpPr>
          <p:cNvPr id="6" name="Text 11">
            <a:extLst>
              <a:ext uri="{FF2B5EF4-FFF2-40B4-BE49-F238E27FC236}">
                <a16:creationId xmlns:a16="http://schemas.microsoft.com/office/drawing/2014/main" id="{45D22982-A60E-C4A0-D535-3C786CF8A3FB}"/>
              </a:ext>
            </a:extLst>
          </p:cNvPr>
          <p:cNvSpPr/>
          <p:nvPr/>
        </p:nvSpPr>
        <p:spPr>
          <a:xfrm>
            <a:off x="7399579" y="3098282"/>
            <a:ext cx="390135" cy="381238"/>
          </a:xfrm>
          <a:prstGeom prst="rect">
            <a:avLst/>
          </a:prstGeom>
          <a:solidFill>
            <a:srgbClr val="CCEEFF"/>
          </a:solidFill>
          <a:ln w="7620">
            <a:solidFill>
              <a:srgbClr val="B2D4E5"/>
            </a:solidFill>
            <a:prstDash val="solid"/>
          </a:ln>
        </p:spPr>
        <p:txBody>
          <a:bodyPr/>
          <a:lstStyle/>
          <a:p>
            <a:r>
              <a:rPr lang="en-US"/>
              <a:t>2</a:t>
            </a:r>
            <a:endParaRPr lang="en-US" dirty="0"/>
          </a:p>
        </p:txBody>
      </p:sp>
      <p:sp>
        <p:nvSpPr>
          <p:cNvPr id="7" name="Shape 2">
            <a:extLst>
              <a:ext uri="{FF2B5EF4-FFF2-40B4-BE49-F238E27FC236}">
                <a16:creationId xmlns:a16="http://schemas.microsoft.com/office/drawing/2014/main" id="{CE2FFC6F-9117-7231-F893-A6858A3192BE}"/>
              </a:ext>
            </a:extLst>
          </p:cNvPr>
          <p:cNvSpPr/>
          <p:nvPr/>
        </p:nvSpPr>
        <p:spPr>
          <a:xfrm>
            <a:off x="3503163" y="2791088"/>
            <a:ext cx="49454" cy="356777"/>
          </a:xfrm>
          <a:prstGeom prst="roundRect">
            <a:avLst>
              <a:gd name="adj" fmla="val 364651"/>
            </a:avLst>
          </a:prstGeom>
          <a:solidFill>
            <a:srgbClr val="B2D4E5"/>
          </a:solidFill>
          <a:ln/>
        </p:spPr>
      </p:sp>
      <p:sp>
        <p:nvSpPr>
          <p:cNvPr id="8" name="Shape 2">
            <a:extLst>
              <a:ext uri="{FF2B5EF4-FFF2-40B4-BE49-F238E27FC236}">
                <a16:creationId xmlns:a16="http://schemas.microsoft.com/office/drawing/2014/main" id="{154CCAB0-B4B2-5697-4785-E9B4DB3D7837}"/>
              </a:ext>
            </a:extLst>
          </p:cNvPr>
          <p:cNvSpPr/>
          <p:nvPr/>
        </p:nvSpPr>
        <p:spPr>
          <a:xfrm flipH="1">
            <a:off x="7571786" y="3429000"/>
            <a:ext cx="45719" cy="390643"/>
          </a:xfrm>
          <a:prstGeom prst="roundRect">
            <a:avLst>
              <a:gd name="adj" fmla="val 364651"/>
            </a:avLst>
          </a:prstGeom>
          <a:solidFill>
            <a:srgbClr val="B2D4E5"/>
          </a:solidFill>
          <a:ln/>
        </p:spPr>
      </p:sp>
      <p:sp>
        <p:nvSpPr>
          <p:cNvPr id="9" name="Text 8">
            <a:extLst>
              <a:ext uri="{FF2B5EF4-FFF2-40B4-BE49-F238E27FC236}">
                <a16:creationId xmlns:a16="http://schemas.microsoft.com/office/drawing/2014/main" id="{8531DA69-6E98-161A-BB9A-CB464EA96B71}"/>
              </a:ext>
            </a:extLst>
          </p:cNvPr>
          <p:cNvSpPr/>
          <p:nvPr/>
        </p:nvSpPr>
        <p:spPr>
          <a:xfrm>
            <a:off x="241995" y="2501694"/>
            <a:ext cx="8215789" cy="317540"/>
          </a:xfrm>
          <a:prstGeom prst="rect">
            <a:avLst/>
          </a:prstGeom>
          <a:noFill/>
          <a:ln/>
        </p:spPr>
        <p:txBody>
          <a:bodyPr wrap="non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Antenne Kin-Est :</a:t>
            </a:r>
            <a:r>
              <a:rPr lang="en-US" sz="1550" dirty="0">
                <a:solidFill>
                  <a:srgbClr val="272525"/>
                </a:solidFill>
                <a:latin typeface="Inter" pitchFamily="34" charset="0"/>
                <a:ea typeface="Inter" pitchFamily="34" charset="-122"/>
                <a:cs typeface="Inter" pitchFamily="34" charset="-120"/>
              </a:rPr>
              <a:t> ZS Bandalungwa (BCZS + AS Adoula, Makelele, Lubudi Nord)</a:t>
            </a:r>
            <a:endParaRPr lang="en-US" sz="1550" dirty="0"/>
          </a:p>
        </p:txBody>
      </p:sp>
      <p:sp>
        <p:nvSpPr>
          <p:cNvPr id="10" name="Text 7">
            <a:extLst>
              <a:ext uri="{FF2B5EF4-FFF2-40B4-BE49-F238E27FC236}">
                <a16:creationId xmlns:a16="http://schemas.microsoft.com/office/drawing/2014/main" id="{88109A12-565B-EEB9-0A5C-C68E644AAE6B}"/>
              </a:ext>
            </a:extLst>
          </p:cNvPr>
          <p:cNvSpPr/>
          <p:nvPr/>
        </p:nvSpPr>
        <p:spPr>
          <a:xfrm>
            <a:off x="18753" y="2172037"/>
            <a:ext cx="8215789" cy="317540"/>
          </a:xfrm>
          <a:prstGeom prst="rect">
            <a:avLst/>
          </a:prstGeom>
          <a:noFill/>
          <a:ln/>
        </p:spPr>
        <p:txBody>
          <a:bodyPr wrap="non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Antenne Kin-Ouest :</a:t>
            </a:r>
            <a:r>
              <a:rPr lang="en-US" sz="1550" dirty="0">
                <a:solidFill>
                  <a:srgbClr val="272525"/>
                </a:solidFill>
                <a:latin typeface="Inter" pitchFamily="34" charset="0"/>
                <a:ea typeface="Inter" pitchFamily="34" charset="-122"/>
                <a:cs typeface="Inter" pitchFamily="34" charset="-120"/>
              </a:rPr>
              <a:t> ZS Ndjili (BCZS + AS Quartier 4, Quartier 12, Quartier 13B)</a:t>
            </a:r>
            <a:endParaRPr lang="en-US" sz="1550" dirty="0"/>
          </a:p>
        </p:txBody>
      </p:sp>
      <p:sp>
        <p:nvSpPr>
          <p:cNvPr id="11" name="Text 6">
            <a:extLst>
              <a:ext uri="{FF2B5EF4-FFF2-40B4-BE49-F238E27FC236}">
                <a16:creationId xmlns:a16="http://schemas.microsoft.com/office/drawing/2014/main" id="{985DA835-EF43-77E0-7CBF-D386820DA662}"/>
              </a:ext>
            </a:extLst>
          </p:cNvPr>
          <p:cNvSpPr/>
          <p:nvPr/>
        </p:nvSpPr>
        <p:spPr>
          <a:xfrm>
            <a:off x="313722" y="1789871"/>
            <a:ext cx="8215789" cy="317540"/>
          </a:xfrm>
          <a:prstGeom prst="rect">
            <a:avLst/>
          </a:prstGeom>
          <a:noFill/>
          <a:ln/>
        </p:spPr>
        <p:txBody>
          <a:bodyPr wrap="non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Antenne Kin-Centre :</a:t>
            </a:r>
            <a:r>
              <a:rPr lang="en-US" sz="1550" dirty="0">
                <a:solidFill>
                  <a:srgbClr val="272525"/>
                </a:solidFill>
                <a:latin typeface="Inter" pitchFamily="34" charset="0"/>
                <a:ea typeface="Inter" pitchFamily="34" charset="-122"/>
                <a:cs typeface="Inter" pitchFamily="34" charset="-120"/>
              </a:rPr>
              <a:t> ZS Kisenso (BCZS + AS Kabila, Kisenso-gare, Nsola)</a:t>
            </a:r>
            <a:endParaRPr lang="en-US" sz="1550" dirty="0"/>
          </a:p>
        </p:txBody>
      </p:sp>
      <p:sp>
        <p:nvSpPr>
          <p:cNvPr id="12" name="Text 5">
            <a:extLst>
              <a:ext uri="{FF2B5EF4-FFF2-40B4-BE49-F238E27FC236}">
                <a16:creationId xmlns:a16="http://schemas.microsoft.com/office/drawing/2014/main" id="{B9F6FB55-BEDA-45D9-CA92-934CE284CEEE}"/>
              </a:ext>
            </a:extLst>
          </p:cNvPr>
          <p:cNvSpPr/>
          <p:nvPr/>
        </p:nvSpPr>
        <p:spPr>
          <a:xfrm>
            <a:off x="2032956" y="1423762"/>
            <a:ext cx="2604968" cy="325636"/>
          </a:xfrm>
          <a:prstGeom prst="rect">
            <a:avLst/>
          </a:prstGeom>
          <a:noFill/>
          <a:ln/>
        </p:spPr>
        <p:txBody>
          <a:bodyPr wrap="none" lIns="0" tIns="0" rIns="0" bIns="0" rtlCol="0" anchor="t"/>
          <a:lstStyle/>
          <a:p>
            <a:pPr marL="0" indent="0" algn="ctr">
              <a:lnSpc>
                <a:spcPts val="2550"/>
              </a:lnSpc>
              <a:buNone/>
            </a:pPr>
            <a:r>
              <a:rPr lang="en-US" sz="2050" b="1" dirty="0">
                <a:solidFill>
                  <a:srgbClr val="272525"/>
                </a:solidFill>
                <a:latin typeface="Petrona Bold" pitchFamily="34" charset="0"/>
                <a:ea typeface="Petrona Bold" pitchFamily="34" charset="-122"/>
                <a:cs typeface="Petrona Bold" pitchFamily="34" charset="-120"/>
              </a:rPr>
              <a:t>Septembre 2025</a:t>
            </a:r>
            <a:endParaRPr lang="en-US" sz="2050" dirty="0"/>
          </a:p>
        </p:txBody>
      </p:sp>
      <p:sp>
        <p:nvSpPr>
          <p:cNvPr id="13" name="Text 12">
            <a:extLst>
              <a:ext uri="{FF2B5EF4-FFF2-40B4-BE49-F238E27FC236}">
                <a16:creationId xmlns:a16="http://schemas.microsoft.com/office/drawing/2014/main" id="{7872F167-4EB4-8994-8CB7-4447D1C11E29}"/>
              </a:ext>
            </a:extLst>
          </p:cNvPr>
          <p:cNvSpPr/>
          <p:nvPr/>
        </p:nvSpPr>
        <p:spPr>
          <a:xfrm>
            <a:off x="6032117" y="3834348"/>
            <a:ext cx="2604968" cy="325636"/>
          </a:xfrm>
          <a:prstGeom prst="rect">
            <a:avLst/>
          </a:prstGeom>
          <a:noFill/>
          <a:ln/>
        </p:spPr>
        <p:txBody>
          <a:bodyPr wrap="none" lIns="0" tIns="0" rIns="0" bIns="0" rtlCol="0" anchor="t"/>
          <a:lstStyle/>
          <a:p>
            <a:pPr marL="0" indent="0" algn="ctr">
              <a:lnSpc>
                <a:spcPts val="2550"/>
              </a:lnSpc>
              <a:buNone/>
            </a:pPr>
            <a:r>
              <a:rPr lang="en-US" sz="2050" b="1" dirty="0">
                <a:solidFill>
                  <a:srgbClr val="272525"/>
                </a:solidFill>
                <a:latin typeface="Petrona Bold" pitchFamily="34" charset="0"/>
                <a:ea typeface="Petrona Bold" pitchFamily="34" charset="-122"/>
                <a:cs typeface="Petrona Bold" pitchFamily="34" charset="-120"/>
              </a:rPr>
              <a:t>Octobre 2025</a:t>
            </a:r>
            <a:endParaRPr lang="en-US" sz="2050" dirty="0"/>
          </a:p>
        </p:txBody>
      </p:sp>
      <p:sp>
        <p:nvSpPr>
          <p:cNvPr id="14" name="Text 13">
            <a:extLst>
              <a:ext uri="{FF2B5EF4-FFF2-40B4-BE49-F238E27FC236}">
                <a16:creationId xmlns:a16="http://schemas.microsoft.com/office/drawing/2014/main" id="{A0662964-19A7-2132-0303-89B9F058B87E}"/>
              </a:ext>
            </a:extLst>
          </p:cNvPr>
          <p:cNvSpPr/>
          <p:nvPr/>
        </p:nvSpPr>
        <p:spPr>
          <a:xfrm>
            <a:off x="3335440" y="4174471"/>
            <a:ext cx="8215908" cy="63507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Antenne Kin-Centre :</a:t>
            </a:r>
            <a:r>
              <a:rPr lang="en-US" sz="1550" dirty="0">
                <a:solidFill>
                  <a:srgbClr val="272525"/>
                </a:solidFill>
                <a:latin typeface="Inter" pitchFamily="34" charset="0"/>
                <a:ea typeface="Inter" pitchFamily="34" charset="-122"/>
                <a:cs typeface="Inter" pitchFamily="34" charset="-120"/>
              </a:rPr>
              <a:t> ZS Kisenso et Limete (BCZS + AS Kabila, Kisenso-gare, Nsola, Industriel 3, Agricole, Mfumu mvula)</a:t>
            </a:r>
            <a:endParaRPr lang="en-US" sz="1550" dirty="0"/>
          </a:p>
        </p:txBody>
      </p:sp>
      <p:sp>
        <p:nvSpPr>
          <p:cNvPr id="15" name="Text 14">
            <a:extLst>
              <a:ext uri="{FF2B5EF4-FFF2-40B4-BE49-F238E27FC236}">
                <a16:creationId xmlns:a16="http://schemas.microsoft.com/office/drawing/2014/main" id="{6249D4A4-F06C-4F3A-E862-3009E49242CE}"/>
              </a:ext>
            </a:extLst>
          </p:cNvPr>
          <p:cNvSpPr/>
          <p:nvPr/>
        </p:nvSpPr>
        <p:spPr>
          <a:xfrm>
            <a:off x="3226647" y="4843464"/>
            <a:ext cx="8215908" cy="635079"/>
          </a:xfrm>
          <a:prstGeom prst="rect">
            <a:avLst/>
          </a:prstGeom>
          <a:noFill/>
          <a:ln/>
        </p:spPr>
        <p:txBody>
          <a:bodyPr wrap="square" lIns="0" tIns="0" rIns="0" bIns="0" rtlCol="0" anchor="t"/>
          <a:lstStyle/>
          <a:p>
            <a:pPr marL="0" indent="0" algn="ctr">
              <a:lnSpc>
                <a:spcPts val="2500"/>
              </a:lnSpc>
              <a:buNone/>
            </a:pPr>
            <a:r>
              <a:rPr lang="en-US" sz="1550" b="1" dirty="0" err="1">
                <a:solidFill>
                  <a:srgbClr val="272525"/>
                </a:solidFill>
                <a:latin typeface="Inter" pitchFamily="34" charset="0"/>
                <a:ea typeface="Inter" pitchFamily="34" charset="-122"/>
                <a:cs typeface="Inter" pitchFamily="34" charset="-120"/>
              </a:rPr>
              <a:t>Antenne</a:t>
            </a:r>
            <a:r>
              <a:rPr lang="en-US" sz="1550" b="1" dirty="0">
                <a:solidFill>
                  <a:srgbClr val="272525"/>
                </a:solidFill>
                <a:latin typeface="Inter" pitchFamily="34" charset="0"/>
                <a:ea typeface="Inter" pitchFamily="34" charset="-122"/>
                <a:cs typeface="Inter" pitchFamily="34" charset="-120"/>
              </a:rPr>
              <a:t> Kin-Est :</a:t>
            </a:r>
            <a:r>
              <a:rPr lang="en-US" sz="1550" dirty="0">
                <a:solidFill>
                  <a:srgbClr val="272525"/>
                </a:solidFill>
                <a:latin typeface="Inter" pitchFamily="34" charset="0"/>
                <a:ea typeface="Inter" pitchFamily="34" charset="-122"/>
                <a:cs typeface="Inter" pitchFamily="34" charset="-120"/>
              </a:rPr>
              <a:t> ZS Ndjili et Maluku 1 (BCZS + AS Quartier 4, Quartier 12, Quartier 13B, Monako, Kingakati 1, Mangengenge)</a:t>
            </a:r>
            <a:endParaRPr lang="en-US" sz="1550" dirty="0"/>
          </a:p>
        </p:txBody>
      </p:sp>
      <p:sp>
        <p:nvSpPr>
          <p:cNvPr id="16" name="Text 15">
            <a:extLst>
              <a:ext uri="{FF2B5EF4-FFF2-40B4-BE49-F238E27FC236}">
                <a16:creationId xmlns:a16="http://schemas.microsoft.com/office/drawing/2014/main" id="{56785E9E-8844-6B02-A8C5-69CBF17F5390}"/>
              </a:ext>
            </a:extLst>
          </p:cNvPr>
          <p:cNvSpPr/>
          <p:nvPr/>
        </p:nvSpPr>
        <p:spPr>
          <a:xfrm>
            <a:off x="3706760" y="5512457"/>
            <a:ext cx="7735795" cy="635079"/>
          </a:xfrm>
          <a:prstGeom prst="rect">
            <a:avLst/>
          </a:prstGeom>
          <a:noFill/>
          <a:ln/>
        </p:spPr>
        <p:txBody>
          <a:bodyPr wrap="square" lIns="0" tIns="0" rIns="0" bIns="0" rtlCol="0" anchor="t"/>
          <a:lstStyle/>
          <a:p>
            <a:pPr marL="0" indent="0" algn="ctr">
              <a:lnSpc>
                <a:spcPts val="2500"/>
              </a:lnSpc>
              <a:buNone/>
            </a:pPr>
            <a:r>
              <a:rPr lang="en-US" sz="1550" b="1" dirty="0" err="1">
                <a:solidFill>
                  <a:srgbClr val="272525"/>
                </a:solidFill>
                <a:latin typeface="Inter" pitchFamily="34" charset="0"/>
                <a:ea typeface="Inter" pitchFamily="34" charset="-122"/>
                <a:cs typeface="Inter" pitchFamily="34" charset="-120"/>
              </a:rPr>
              <a:t>Antenne</a:t>
            </a:r>
            <a:r>
              <a:rPr lang="en-US" sz="1550" b="1" dirty="0">
                <a:solidFill>
                  <a:srgbClr val="272525"/>
                </a:solidFill>
                <a:latin typeface="Inter" pitchFamily="34" charset="0"/>
                <a:ea typeface="Inter" pitchFamily="34" charset="-122"/>
                <a:cs typeface="Inter" pitchFamily="34" charset="-120"/>
              </a:rPr>
              <a:t> Kin-Ouest :</a:t>
            </a:r>
            <a:r>
              <a:rPr lang="en-US" sz="1550" dirty="0">
                <a:solidFill>
                  <a:srgbClr val="272525"/>
                </a:solidFill>
                <a:latin typeface="Inter" pitchFamily="34" charset="0"/>
                <a:ea typeface="Inter" pitchFamily="34" charset="-122"/>
                <a:cs typeface="Inter" pitchFamily="34" charset="-120"/>
              </a:rPr>
              <a:t> ZS Bandalungwa et </a:t>
            </a:r>
            <a:r>
              <a:rPr lang="en-US" sz="1550" dirty="0" err="1">
                <a:solidFill>
                  <a:srgbClr val="272525"/>
                </a:solidFill>
                <a:latin typeface="Inter" pitchFamily="34" charset="0"/>
                <a:ea typeface="Inter" pitchFamily="34" charset="-122"/>
                <a:cs typeface="Inter" pitchFamily="34" charset="-120"/>
              </a:rPr>
              <a:t>Mongafula</a:t>
            </a:r>
            <a:r>
              <a:rPr lang="en-US" sz="1550" dirty="0">
                <a:solidFill>
                  <a:srgbClr val="272525"/>
                </a:solidFill>
                <a:latin typeface="Inter" pitchFamily="34" charset="0"/>
                <a:ea typeface="Inter" pitchFamily="34" charset="-122"/>
                <a:cs typeface="Inter" pitchFamily="34" charset="-120"/>
              </a:rPr>
              <a:t> 1 (BCZS + AS Adoula, Makelele, </a:t>
            </a:r>
            <a:r>
              <a:rPr lang="en-US" sz="1550" dirty="0" err="1">
                <a:solidFill>
                  <a:srgbClr val="272525"/>
                </a:solidFill>
                <a:latin typeface="Inter" pitchFamily="34" charset="0"/>
                <a:ea typeface="Inter" pitchFamily="34" charset="-122"/>
                <a:cs typeface="Inter" pitchFamily="34" charset="-120"/>
              </a:rPr>
              <a:t>Lubudi</a:t>
            </a:r>
            <a:r>
              <a:rPr lang="en-US" sz="1550" dirty="0">
                <a:solidFill>
                  <a:srgbClr val="272525"/>
                </a:solidFill>
                <a:latin typeface="Inter" pitchFamily="34" charset="0"/>
                <a:ea typeface="Inter" pitchFamily="34" charset="-122"/>
                <a:cs typeface="Inter" pitchFamily="34" charset="-120"/>
              </a:rPr>
              <a:t> Nord)</a:t>
            </a:r>
            <a:endParaRPr lang="en-US" sz="1550" dirty="0"/>
          </a:p>
        </p:txBody>
      </p:sp>
    </p:spTree>
    <p:extLst>
      <p:ext uri="{BB962C8B-B14F-4D97-AF65-F5344CB8AC3E}">
        <p14:creationId xmlns:p14="http://schemas.microsoft.com/office/powerpoint/2010/main" val="761712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AB7278-0F7E-799C-C741-B4CF4D671926}"/>
              </a:ext>
            </a:extLst>
          </p:cNvPr>
          <p:cNvSpPr>
            <a:spLocks noGrp="1"/>
          </p:cNvSpPr>
          <p:nvPr>
            <p:ph type="title"/>
          </p:nvPr>
        </p:nvSpPr>
        <p:spPr>
          <a:xfrm>
            <a:off x="838200" y="365125"/>
            <a:ext cx="10380406" cy="716423"/>
          </a:xfrm>
          <a:solidFill>
            <a:srgbClr val="002060"/>
          </a:solidFill>
        </p:spPr>
        <p:txBody>
          <a:bodyPr>
            <a:normAutofit fontScale="90000"/>
          </a:bodyPr>
          <a:lstStyle/>
          <a:p>
            <a:pPr marL="0" marR="0" lvl="0" indent="0" defTabSz="914400" rtl="0" eaLnBrk="1" fontAlgn="auto" latinLnBrk="0" hangingPunct="1">
              <a:lnSpc>
                <a:spcPts val="5100"/>
              </a:lnSpc>
              <a:spcBef>
                <a:spcPts val="0"/>
              </a:spcBef>
              <a:spcAft>
                <a:spcPts val="0"/>
              </a:spcAft>
              <a:tabLst/>
              <a:defRPr/>
            </a:pPr>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Points Forts </a:t>
            </a: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Identifiés</a:t>
            </a:r>
            <a:endParaRPr lang="fr-FR" dirty="0">
              <a:solidFill>
                <a:schemeClr val="bg1"/>
              </a:solidFill>
            </a:endParaRPr>
          </a:p>
        </p:txBody>
      </p:sp>
      <p:sp>
        <p:nvSpPr>
          <p:cNvPr id="4" name="Shape 1">
            <a:extLst>
              <a:ext uri="{FF2B5EF4-FFF2-40B4-BE49-F238E27FC236}">
                <a16:creationId xmlns:a16="http://schemas.microsoft.com/office/drawing/2014/main" id="{E62FB366-B493-0406-B290-1471F2A6F693}"/>
              </a:ext>
            </a:extLst>
          </p:cNvPr>
          <p:cNvSpPr/>
          <p:nvPr/>
        </p:nvSpPr>
        <p:spPr>
          <a:xfrm>
            <a:off x="838200" y="3962458"/>
            <a:ext cx="5302209" cy="1494445"/>
          </a:xfrm>
          <a:prstGeom prst="roundRect">
            <a:avLst>
              <a:gd name="adj" fmla="val 7208"/>
            </a:avLst>
          </a:prstGeom>
          <a:solidFill>
            <a:srgbClr val="FFFFFF">
              <a:alpha val="95000"/>
            </a:srgbClr>
          </a:solidFill>
          <a:ln w="22860">
            <a:solidFill>
              <a:srgbClr val="B2D4E5"/>
            </a:solidFill>
            <a:prstDash val="solid"/>
          </a:ln>
        </p:spPr>
      </p:sp>
      <p:sp>
        <p:nvSpPr>
          <p:cNvPr id="5" name="Shape 1">
            <a:extLst>
              <a:ext uri="{FF2B5EF4-FFF2-40B4-BE49-F238E27FC236}">
                <a16:creationId xmlns:a16="http://schemas.microsoft.com/office/drawing/2014/main" id="{FBAA0CDF-1EB1-E3AC-5FAD-435152FFAD47}"/>
              </a:ext>
            </a:extLst>
          </p:cNvPr>
          <p:cNvSpPr/>
          <p:nvPr/>
        </p:nvSpPr>
        <p:spPr>
          <a:xfrm>
            <a:off x="838200" y="1568303"/>
            <a:ext cx="5302210" cy="1597684"/>
          </a:xfrm>
          <a:prstGeom prst="roundRect">
            <a:avLst>
              <a:gd name="adj" fmla="val 7208"/>
            </a:avLst>
          </a:prstGeom>
          <a:solidFill>
            <a:srgbClr val="FFFFFF">
              <a:alpha val="95000"/>
            </a:srgbClr>
          </a:solidFill>
          <a:ln w="22860">
            <a:solidFill>
              <a:srgbClr val="B2D4E5"/>
            </a:solidFill>
            <a:prstDash val="solid"/>
          </a:ln>
        </p:spPr>
      </p:sp>
      <p:sp>
        <p:nvSpPr>
          <p:cNvPr id="6" name="Shape 1">
            <a:extLst>
              <a:ext uri="{FF2B5EF4-FFF2-40B4-BE49-F238E27FC236}">
                <a16:creationId xmlns:a16="http://schemas.microsoft.com/office/drawing/2014/main" id="{3AD887D1-6EEB-9215-3F44-0F778E0E789A}"/>
              </a:ext>
            </a:extLst>
          </p:cNvPr>
          <p:cNvSpPr/>
          <p:nvPr/>
        </p:nvSpPr>
        <p:spPr>
          <a:xfrm>
            <a:off x="6607277" y="1568303"/>
            <a:ext cx="5043093" cy="1597684"/>
          </a:xfrm>
          <a:prstGeom prst="roundRect">
            <a:avLst>
              <a:gd name="adj" fmla="val 7208"/>
            </a:avLst>
          </a:prstGeom>
          <a:solidFill>
            <a:srgbClr val="FFFFFF">
              <a:alpha val="95000"/>
            </a:srgbClr>
          </a:solidFill>
          <a:ln w="22860">
            <a:solidFill>
              <a:srgbClr val="B2D4E5"/>
            </a:solidFill>
            <a:prstDash val="solid"/>
          </a:ln>
        </p:spPr>
      </p:sp>
      <p:sp>
        <p:nvSpPr>
          <p:cNvPr id="7" name="Shape 1">
            <a:extLst>
              <a:ext uri="{FF2B5EF4-FFF2-40B4-BE49-F238E27FC236}">
                <a16:creationId xmlns:a16="http://schemas.microsoft.com/office/drawing/2014/main" id="{AA25628F-A562-87FE-9D27-1CC4170C5CCA}"/>
              </a:ext>
            </a:extLst>
          </p:cNvPr>
          <p:cNvSpPr/>
          <p:nvPr/>
        </p:nvSpPr>
        <p:spPr>
          <a:xfrm>
            <a:off x="6607277" y="3910838"/>
            <a:ext cx="5043093" cy="1597684"/>
          </a:xfrm>
          <a:prstGeom prst="roundRect">
            <a:avLst>
              <a:gd name="adj" fmla="val 7208"/>
            </a:avLst>
          </a:prstGeom>
          <a:solidFill>
            <a:srgbClr val="FFFFFF">
              <a:alpha val="95000"/>
            </a:srgbClr>
          </a:solidFill>
          <a:ln w="22860">
            <a:solidFill>
              <a:srgbClr val="B2D4E5"/>
            </a:solidFill>
            <a:prstDash val="solid"/>
          </a:ln>
        </p:spPr>
      </p:sp>
      <p:sp>
        <p:nvSpPr>
          <p:cNvPr id="8" name="Shape 2">
            <a:extLst>
              <a:ext uri="{FF2B5EF4-FFF2-40B4-BE49-F238E27FC236}">
                <a16:creationId xmlns:a16="http://schemas.microsoft.com/office/drawing/2014/main" id="{934BA1B4-067B-0FA7-0C33-E3E7819B2EF0}"/>
              </a:ext>
            </a:extLst>
          </p:cNvPr>
          <p:cNvSpPr/>
          <p:nvPr/>
        </p:nvSpPr>
        <p:spPr>
          <a:xfrm>
            <a:off x="838200" y="3948573"/>
            <a:ext cx="91440" cy="1522214"/>
          </a:xfrm>
          <a:prstGeom prst="roundRect">
            <a:avLst>
              <a:gd name="adj" fmla="val 91163"/>
            </a:avLst>
          </a:prstGeom>
          <a:solidFill>
            <a:srgbClr val="007EBD"/>
          </a:solidFill>
          <a:ln/>
        </p:spPr>
      </p:sp>
      <p:sp>
        <p:nvSpPr>
          <p:cNvPr id="9" name="Shape 2">
            <a:extLst>
              <a:ext uri="{FF2B5EF4-FFF2-40B4-BE49-F238E27FC236}">
                <a16:creationId xmlns:a16="http://schemas.microsoft.com/office/drawing/2014/main" id="{0EE6C419-EACD-A73E-459F-8A737C368114}"/>
              </a:ext>
            </a:extLst>
          </p:cNvPr>
          <p:cNvSpPr/>
          <p:nvPr/>
        </p:nvSpPr>
        <p:spPr>
          <a:xfrm>
            <a:off x="838200" y="1606038"/>
            <a:ext cx="91440" cy="1522214"/>
          </a:xfrm>
          <a:prstGeom prst="roundRect">
            <a:avLst>
              <a:gd name="adj" fmla="val 91163"/>
            </a:avLst>
          </a:prstGeom>
          <a:solidFill>
            <a:srgbClr val="007EBD"/>
          </a:solidFill>
          <a:ln/>
        </p:spPr>
      </p:sp>
      <p:sp>
        <p:nvSpPr>
          <p:cNvPr id="10" name="Shape 2">
            <a:extLst>
              <a:ext uri="{FF2B5EF4-FFF2-40B4-BE49-F238E27FC236}">
                <a16:creationId xmlns:a16="http://schemas.microsoft.com/office/drawing/2014/main" id="{66DF3C28-0902-6DE7-AE4E-DDD09B4CD012}"/>
              </a:ext>
            </a:extLst>
          </p:cNvPr>
          <p:cNvSpPr/>
          <p:nvPr/>
        </p:nvSpPr>
        <p:spPr>
          <a:xfrm>
            <a:off x="6607277" y="1606038"/>
            <a:ext cx="91440" cy="1522214"/>
          </a:xfrm>
          <a:prstGeom prst="roundRect">
            <a:avLst>
              <a:gd name="adj" fmla="val 91163"/>
            </a:avLst>
          </a:prstGeom>
          <a:solidFill>
            <a:srgbClr val="007EBD"/>
          </a:solidFill>
          <a:ln/>
        </p:spPr>
      </p:sp>
      <p:sp>
        <p:nvSpPr>
          <p:cNvPr id="11" name="Shape 2">
            <a:extLst>
              <a:ext uri="{FF2B5EF4-FFF2-40B4-BE49-F238E27FC236}">
                <a16:creationId xmlns:a16="http://schemas.microsoft.com/office/drawing/2014/main" id="{232BDE3A-BDB5-9B20-CB89-D49F70EC9AA8}"/>
              </a:ext>
            </a:extLst>
          </p:cNvPr>
          <p:cNvSpPr/>
          <p:nvPr/>
        </p:nvSpPr>
        <p:spPr>
          <a:xfrm>
            <a:off x="6607277" y="3962458"/>
            <a:ext cx="91440" cy="1522214"/>
          </a:xfrm>
          <a:prstGeom prst="roundRect">
            <a:avLst>
              <a:gd name="adj" fmla="val 91163"/>
            </a:avLst>
          </a:prstGeom>
          <a:solidFill>
            <a:srgbClr val="007EBD"/>
          </a:solidFill>
          <a:ln/>
        </p:spPr>
      </p:sp>
      <p:sp>
        <p:nvSpPr>
          <p:cNvPr id="12" name="Text 3">
            <a:extLst>
              <a:ext uri="{FF2B5EF4-FFF2-40B4-BE49-F238E27FC236}">
                <a16:creationId xmlns:a16="http://schemas.microsoft.com/office/drawing/2014/main" id="{01DBB374-7670-E218-2ED7-1690115FC4FF}"/>
              </a:ext>
            </a:extLst>
          </p:cNvPr>
          <p:cNvSpPr/>
          <p:nvPr/>
        </p:nvSpPr>
        <p:spPr>
          <a:xfrm>
            <a:off x="1054092" y="1715201"/>
            <a:ext cx="3064073"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Disponibilité des Équipes</a:t>
            </a:r>
            <a:endParaRPr lang="en-US" sz="2050" dirty="0"/>
          </a:p>
        </p:txBody>
      </p:sp>
      <p:sp>
        <p:nvSpPr>
          <p:cNvPr id="13" name="Text 4">
            <a:extLst>
              <a:ext uri="{FF2B5EF4-FFF2-40B4-BE49-F238E27FC236}">
                <a16:creationId xmlns:a16="http://schemas.microsoft.com/office/drawing/2014/main" id="{F948AFE0-054B-E114-BEB8-1E19F3F81DB6}"/>
              </a:ext>
            </a:extLst>
          </p:cNvPr>
          <p:cNvSpPr/>
          <p:nvPr/>
        </p:nvSpPr>
        <p:spPr>
          <a:xfrm>
            <a:off x="1054093" y="2202229"/>
            <a:ext cx="49042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Les équipes des AS étaient présentes et engagées tout au long de la mission de supervision</a:t>
            </a:r>
            <a:endParaRPr lang="en-US" sz="1550" dirty="0"/>
          </a:p>
        </p:txBody>
      </p:sp>
      <p:sp>
        <p:nvSpPr>
          <p:cNvPr id="14" name="Text 7">
            <a:extLst>
              <a:ext uri="{FF2B5EF4-FFF2-40B4-BE49-F238E27FC236}">
                <a16:creationId xmlns:a16="http://schemas.microsoft.com/office/drawing/2014/main" id="{63E207D8-F154-0AD2-8983-7F6ADE23C4A3}"/>
              </a:ext>
            </a:extLst>
          </p:cNvPr>
          <p:cNvSpPr/>
          <p:nvPr/>
        </p:nvSpPr>
        <p:spPr>
          <a:xfrm>
            <a:off x="6937261" y="166358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Plans de Supervision</a:t>
            </a:r>
            <a:endParaRPr lang="en-US" sz="2050" dirty="0"/>
          </a:p>
        </p:txBody>
      </p:sp>
      <p:sp>
        <p:nvSpPr>
          <p:cNvPr id="15" name="Text 8">
            <a:extLst>
              <a:ext uri="{FF2B5EF4-FFF2-40B4-BE49-F238E27FC236}">
                <a16:creationId xmlns:a16="http://schemas.microsoft.com/office/drawing/2014/main" id="{97D07B72-9EF6-794F-6FB7-53C715171069}"/>
              </a:ext>
            </a:extLst>
          </p:cNvPr>
          <p:cNvSpPr/>
          <p:nvPr/>
        </p:nvSpPr>
        <p:spPr>
          <a:xfrm>
            <a:off x="6937261" y="2158432"/>
            <a:ext cx="4556649" cy="751916"/>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Disponibilité des plans de supervisions pour guider les activités</a:t>
            </a:r>
            <a:endParaRPr lang="en-US" sz="1550" dirty="0"/>
          </a:p>
        </p:txBody>
      </p:sp>
      <p:sp>
        <p:nvSpPr>
          <p:cNvPr id="16" name="Text 11">
            <a:extLst>
              <a:ext uri="{FF2B5EF4-FFF2-40B4-BE49-F238E27FC236}">
                <a16:creationId xmlns:a16="http://schemas.microsoft.com/office/drawing/2014/main" id="{52E20DDA-8866-EE3E-1DAE-CD7EDFC41C67}"/>
              </a:ext>
            </a:extLst>
          </p:cNvPr>
          <p:cNvSpPr/>
          <p:nvPr/>
        </p:nvSpPr>
        <p:spPr>
          <a:xfrm>
            <a:off x="1054092" y="4036118"/>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Chaîne de Froid</a:t>
            </a:r>
            <a:endParaRPr lang="en-US" sz="2050" dirty="0"/>
          </a:p>
        </p:txBody>
      </p:sp>
      <p:sp>
        <p:nvSpPr>
          <p:cNvPr id="17" name="Text 12">
            <a:extLst>
              <a:ext uri="{FF2B5EF4-FFF2-40B4-BE49-F238E27FC236}">
                <a16:creationId xmlns:a16="http://schemas.microsoft.com/office/drawing/2014/main" id="{73DC9A12-4A58-1030-9FB4-5F5E2A7A1DE0}"/>
              </a:ext>
            </a:extLst>
          </p:cNvPr>
          <p:cNvSpPr/>
          <p:nvPr/>
        </p:nvSpPr>
        <p:spPr>
          <a:xfrm>
            <a:off x="1054093" y="4591787"/>
            <a:ext cx="4825598" cy="69790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Bon fonctionnement de la chaîne de froid au </a:t>
            </a:r>
            <a:r>
              <a:rPr lang="en-US" sz="1550" dirty="0" err="1" smtClean="0">
                <a:solidFill>
                  <a:srgbClr val="272525"/>
                </a:solidFill>
                <a:latin typeface="Inter" pitchFamily="34" charset="0"/>
                <a:ea typeface="Inter" pitchFamily="34" charset="-122"/>
                <a:cs typeface="Inter" pitchFamily="34" charset="-120"/>
              </a:rPr>
              <a:t>niveau</a:t>
            </a:r>
            <a:r>
              <a:rPr lang="en-US" sz="1550" dirty="0" smtClean="0">
                <a:solidFill>
                  <a:srgbClr val="272525"/>
                </a:solidFill>
                <a:latin typeface="Inter" pitchFamily="34" charset="0"/>
                <a:ea typeface="Inter" pitchFamily="34" charset="-122"/>
                <a:cs typeface="Inter" pitchFamily="34" charset="-120"/>
              </a:rPr>
              <a:t> </a:t>
            </a:r>
            <a:endParaRPr lang="en-US" sz="1550" dirty="0">
              <a:solidFill>
                <a:srgbClr val="272525"/>
              </a:solidFill>
              <a:latin typeface="Inter" pitchFamily="34" charset="0"/>
              <a:ea typeface="Inter" pitchFamily="34" charset="-122"/>
              <a:cs typeface="Inter" pitchFamily="34" charset="-120"/>
            </a:endParaRPr>
          </a:p>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des BCZS</a:t>
            </a:r>
            <a:endParaRPr lang="en-US" sz="1550" dirty="0"/>
          </a:p>
        </p:txBody>
      </p:sp>
      <p:sp>
        <p:nvSpPr>
          <p:cNvPr id="18" name="Text 15">
            <a:extLst>
              <a:ext uri="{FF2B5EF4-FFF2-40B4-BE49-F238E27FC236}">
                <a16:creationId xmlns:a16="http://schemas.microsoft.com/office/drawing/2014/main" id="{70E836FA-BCCE-8E2F-F3C7-B3BA9C40A485}"/>
              </a:ext>
            </a:extLst>
          </p:cNvPr>
          <p:cNvSpPr/>
          <p:nvPr/>
        </p:nvSpPr>
        <p:spPr>
          <a:xfrm>
            <a:off x="6937261" y="4114776"/>
            <a:ext cx="2604968" cy="325636"/>
          </a:xfrm>
          <a:prstGeom prst="rect">
            <a:avLst/>
          </a:prstGeom>
          <a:noFill/>
          <a:ln/>
        </p:spPr>
        <p:txBody>
          <a:bodyPr wrap="none" lIns="0" tIns="0" rIns="0" bIns="0" rtlCol="0" anchor="t"/>
          <a:lstStyle/>
          <a:p>
            <a:pPr marL="0" indent="0" algn="l">
              <a:lnSpc>
                <a:spcPts val="2550"/>
              </a:lnSpc>
              <a:buNone/>
            </a:pPr>
            <a:r>
              <a:rPr lang="en-US" sz="2050" b="1" dirty="0" err="1">
                <a:solidFill>
                  <a:srgbClr val="272525"/>
                </a:solidFill>
                <a:latin typeface="Petrona Bold" pitchFamily="34" charset="0"/>
                <a:ea typeface="Petrona Bold" pitchFamily="34" charset="-122"/>
                <a:cs typeface="Petrona Bold" pitchFamily="34" charset="-120"/>
              </a:rPr>
              <a:t>Vaccins</a:t>
            </a:r>
            <a:r>
              <a:rPr lang="en-US" sz="2050" b="1" dirty="0">
                <a:solidFill>
                  <a:srgbClr val="272525"/>
                </a:solidFill>
                <a:latin typeface="Petrona Bold" pitchFamily="34" charset="0"/>
                <a:ea typeface="Petrona Bold" pitchFamily="34" charset="-122"/>
                <a:cs typeface="Petrona Bold" pitchFamily="34" charset="-120"/>
              </a:rPr>
              <a:t> et intrants</a:t>
            </a:r>
            <a:endParaRPr lang="en-US" sz="2050" dirty="0"/>
          </a:p>
        </p:txBody>
      </p:sp>
      <p:sp>
        <p:nvSpPr>
          <p:cNvPr id="19" name="Text 16">
            <a:extLst>
              <a:ext uri="{FF2B5EF4-FFF2-40B4-BE49-F238E27FC236}">
                <a16:creationId xmlns:a16="http://schemas.microsoft.com/office/drawing/2014/main" id="{002503B8-90A6-5E6E-E91D-67F8F4385843}"/>
              </a:ext>
            </a:extLst>
          </p:cNvPr>
          <p:cNvSpPr/>
          <p:nvPr/>
        </p:nvSpPr>
        <p:spPr>
          <a:xfrm>
            <a:off x="6858603" y="4591787"/>
            <a:ext cx="4495197" cy="69790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Disponibilité de tous les </a:t>
            </a:r>
            <a:r>
              <a:rPr lang="en-US" sz="1550" dirty="0" err="1">
                <a:solidFill>
                  <a:srgbClr val="272525"/>
                </a:solidFill>
                <a:latin typeface="Inter" pitchFamily="34" charset="0"/>
                <a:ea typeface="Inter" pitchFamily="34" charset="-122"/>
                <a:cs typeface="Inter" pitchFamily="34" charset="-120"/>
              </a:rPr>
              <a:t>antigènes</a:t>
            </a:r>
            <a:r>
              <a:rPr lang="en-US" sz="1550" dirty="0">
                <a:solidFill>
                  <a:srgbClr val="272525"/>
                </a:solidFill>
                <a:latin typeface="Inter" pitchFamily="34" charset="0"/>
                <a:ea typeface="Inter" pitchFamily="34" charset="-122"/>
                <a:cs typeface="Inter" pitchFamily="34" charset="-120"/>
              </a:rPr>
              <a:t> et intrants de routine au </a:t>
            </a:r>
            <a:r>
              <a:rPr lang="en-US" sz="1550" dirty="0" err="1" smtClean="0">
                <a:solidFill>
                  <a:srgbClr val="272525"/>
                </a:solidFill>
                <a:latin typeface="Inter" pitchFamily="34" charset="0"/>
                <a:ea typeface="Inter" pitchFamily="34" charset="-122"/>
                <a:cs typeface="Inter" pitchFamily="34" charset="-120"/>
              </a:rPr>
              <a:t>niveau</a:t>
            </a:r>
            <a:r>
              <a:rPr lang="en-US" sz="1550" dirty="0" smtClean="0">
                <a:solidFill>
                  <a:srgbClr val="272525"/>
                </a:solidFill>
                <a:latin typeface="Inter" pitchFamily="34" charset="0"/>
                <a:ea typeface="Inter" pitchFamily="34" charset="-122"/>
                <a:cs typeface="Inter" pitchFamily="34" charset="-120"/>
              </a:rPr>
              <a:t> </a:t>
            </a:r>
            <a:r>
              <a:rPr lang="en-US" sz="1550" dirty="0">
                <a:solidFill>
                  <a:srgbClr val="272525"/>
                </a:solidFill>
                <a:latin typeface="Inter" pitchFamily="34" charset="0"/>
                <a:ea typeface="Inter" pitchFamily="34" charset="-122"/>
                <a:cs typeface="Inter" pitchFamily="34" charset="-120"/>
              </a:rPr>
              <a:t>des BCZS</a:t>
            </a:r>
            <a:endParaRPr lang="en-US" sz="1550" dirty="0"/>
          </a:p>
        </p:txBody>
      </p:sp>
    </p:spTree>
    <p:extLst>
      <p:ext uri="{BB962C8B-B14F-4D97-AF65-F5344CB8AC3E}">
        <p14:creationId xmlns:p14="http://schemas.microsoft.com/office/powerpoint/2010/main" val="544964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F4EC83-8ECF-1C89-1630-EBEE4CB2E65C}"/>
              </a:ext>
            </a:extLst>
          </p:cNvPr>
          <p:cNvSpPr>
            <a:spLocks noGrp="1"/>
          </p:cNvSpPr>
          <p:nvPr>
            <p:ph type="title"/>
          </p:nvPr>
        </p:nvSpPr>
        <p:spPr>
          <a:xfrm>
            <a:off x="839788" y="365125"/>
            <a:ext cx="10515600" cy="637765"/>
          </a:xfrm>
          <a:solidFill>
            <a:srgbClr val="002060"/>
          </a:solidFill>
        </p:spPr>
        <p:txBody>
          <a:bodyPr>
            <a:normAutofit fontScale="90000"/>
          </a:bodyPr>
          <a:lstStyle/>
          <a:p>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Défis </a:t>
            </a: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Majeurs</a:t>
            </a:r>
            <a:endParaRPr lang="fr-FR" dirty="0">
              <a:solidFill>
                <a:schemeClr val="bg1"/>
              </a:solidFill>
            </a:endParaRPr>
          </a:p>
        </p:txBody>
      </p:sp>
      <p:sp>
        <p:nvSpPr>
          <p:cNvPr id="3" name="Espace réservé du texte 2">
            <a:extLst>
              <a:ext uri="{FF2B5EF4-FFF2-40B4-BE49-F238E27FC236}">
                <a16:creationId xmlns:a16="http://schemas.microsoft.com/office/drawing/2014/main" id="{863D9FC4-FA2D-FD46-6005-E4E07A0D88CE}"/>
              </a:ext>
            </a:extLst>
          </p:cNvPr>
          <p:cNvSpPr>
            <a:spLocks noGrp="1"/>
          </p:cNvSpPr>
          <p:nvPr>
            <p:ph type="body" idx="1"/>
          </p:nvPr>
        </p:nvSpPr>
        <p:spPr>
          <a:xfrm>
            <a:off x="836612" y="1189551"/>
            <a:ext cx="4816936" cy="491611"/>
          </a:xfrm>
          <a:solidFill>
            <a:srgbClr val="00B0F0"/>
          </a:solidFill>
        </p:spPr>
        <p:txBody>
          <a:bodyPr/>
          <a:lstStyle/>
          <a:p>
            <a:pPr marL="0" marR="0" lvl="0" indent="0" algn="l" defTabSz="914400" rtl="0" eaLnBrk="1" fontAlgn="auto" latinLnBrk="0" hangingPunct="1">
              <a:lnSpc>
                <a:spcPts val="3050"/>
              </a:lnSpc>
              <a:spcBef>
                <a:spcPts val="0"/>
              </a:spcBef>
              <a:spcAft>
                <a:spcPts val="0"/>
              </a:spcAft>
              <a:buClrTx/>
              <a:buSzTx/>
              <a:buFontTx/>
              <a:buNone/>
              <a:tabLst/>
              <a:defRPr/>
            </a:pPr>
            <a:r>
              <a:rPr kumimoji="0" lang="en-US" sz="2450" b="1" i="0" u="none" strike="noStrike" kern="1200" cap="none" spc="0" normalizeH="0" baseline="0" noProof="0" dirty="0">
                <a:ln>
                  <a:noFill/>
                </a:ln>
                <a:solidFill>
                  <a:srgbClr val="000000"/>
                </a:solidFill>
                <a:effectLst/>
                <a:uLnTx/>
                <a:uFillTx/>
                <a:latin typeface="Petrona Bold" pitchFamily="34" charset="0"/>
                <a:ea typeface="Petrona Bold" pitchFamily="34" charset="-122"/>
                <a:cs typeface="Petrona Bold" pitchFamily="34" charset="-120"/>
              </a:rPr>
              <a:t>Coordination et Supervision</a:t>
            </a:r>
            <a:endParaRPr kumimoji="0" lang="en-US" sz="2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Espace réservé du contenu 3">
            <a:extLst>
              <a:ext uri="{FF2B5EF4-FFF2-40B4-BE49-F238E27FC236}">
                <a16:creationId xmlns:a16="http://schemas.microsoft.com/office/drawing/2014/main" id="{B5A2E4FE-DC0D-DAAA-5EF1-D44D9E405AAB}"/>
              </a:ext>
            </a:extLst>
          </p:cNvPr>
          <p:cNvSpPr>
            <a:spLocks noGrp="1"/>
          </p:cNvSpPr>
          <p:nvPr>
            <p:ph sz="half" idx="2"/>
          </p:nvPr>
        </p:nvSpPr>
        <p:spPr>
          <a:xfrm>
            <a:off x="363794" y="1867824"/>
            <a:ext cx="5801032" cy="4625051"/>
          </a:xfrm>
        </p:spPr>
        <p:txBody>
          <a:bodyPr>
            <a:normAutofit fontScale="92500"/>
          </a:bodyPr>
          <a:lstStyle/>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Mission planifiée avec l’accord des MCZS, mais dont la mise en œuvre est compromise par la priorisation d’autres activités par ces derniers.</a:t>
            </a: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Faible accompagnement des aires de santé par l'ECZS</a:t>
            </a:r>
            <a:endPar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endParaRP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Supervision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limitée</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aux seuls IS PEV, manque de polyvalence</a:t>
            </a:r>
            <a:endParaRPr kumimoji="0" lang="en-US" sz="155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Réunions</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monitorage</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irrégulières</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au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niveau</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des BCZS</a:t>
            </a:r>
            <a:endParaRPr kumimoji="0" lang="en-US" sz="155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lang="fr-FR" sz="1550" b="1" dirty="0">
                <a:solidFill>
                  <a:srgbClr val="272525"/>
                </a:solidFill>
                <a:latin typeface="Inter" pitchFamily="34" charset="0"/>
                <a:ea typeface="Inter" pitchFamily="34" charset="-122"/>
                <a:cs typeface="Inter" pitchFamily="34" charset="-120"/>
              </a:rPr>
              <a:t>D</a:t>
            </a:r>
            <a:r>
              <a:rPr kumimoji="0" lang="fr-FR"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émotivation</a:t>
            </a: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des superviseurs qui ne bénéficient pas des primes au détriment de ceux qui ne travaillent pas (AG, les gens qui ne travaillent plus dans les zones de santé, les faux numéros attribués aux bénéficiaires etc.) </a:t>
            </a:r>
            <a:endPar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endParaRP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Inexistence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d'une</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FOSA de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référence</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pour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l'AS</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Makelele (ZS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Bandalungwa</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t>
            </a: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fr-FR" sz="1550" b="1" i="0" u="none" strike="noStrike" kern="1200" cap="none" spc="0" normalizeH="0" baseline="0" noProof="0" dirty="0">
                <a:ln>
                  <a:noFill/>
                </a:ln>
                <a:solidFill>
                  <a:prstClr val="black"/>
                </a:solidFill>
                <a:effectLst/>
                <a:uLnTx/>
                <a:uFillTx/>
                <a:latin typeface="Calibri" panose="020F0502020204030204"/>
                <a:ea typeface="+mn-ea"/>
                <a:cs typeface="+mn-cs"/>
              </a:rPr>
              <a:t>Non réalisation des stratégies mobiles et urbaines de vaccination </a:t>
            </a:r>
          </a:p>
        </p:txBody>
      </p:sp>
      <p:sp>
        <p:nvSpPr>
          <p:cNvPr id="5" name="Espace réservé du texte 4">
            <a:extLst>
              <a:ext uri="{FF2B5EF4-FFF2-40B4-BE49-F238E27FC236}">
                <a16:creationId xmlns:a16="http://schemas.microsoft.com/office/drawing/2014/main" id="{6B73DE8B-A52F-D374-18A9-8952CD4B09AA}"/>
              </a:ext>
            </a:extLst>
          </p:cNvPr>
          <p:cNvSpPr>
            <a:spLocks noGrp="1"/>
          </p:cNvSpPr>
          <p:nvPr>
            <p:ph type="body" sz="quarter" idx="3"/>
          </p:nvPr>
        </p:nvSpPr>
        <p:spPr>
          <a:xfrm>
            <a:off x="6499172" y="1179565"/>
            <a:ext cx="4807002" cy="491611"/>
          </a:xfrm>
          <a:solidFill>
            <a:srgbClr val="00B0F0"/>
          </a:solidFill>
        </p:spPr>
        <p:txBody>
          <a:bodyPr/>
          <a:lstStyle/>
          <a:p>
            <a:pPr marL="0" marR="0" lvl="0" indent="0" algn="l" defTabSz="914400" rtl="0" eaLnBrk="1" fontAlgn="auto" latinLnBrk="0" hangingPunct="1">
              <a:lnSpc>
                <a:spcPts val="3050"/>
              </a:lnSpc>
              <a:spcBef>
                <a:spcPts val="0"/>
              </a:spcBef>
              <a:spcAft>
                <a:spcPts val="0"/>
              </a:spcAft>
              <a:buClrTx/>
              <a:buSzTx/>
              <a:buFontTx/>
              <a:buNone/>
              <a:tabLst/>
              <a:defRPr/>
            </a:pPr>
            <a:r>
              <a:rPr kumimoji="0" lang="en-US" sz="2450" b="1" i="0" u="none" strike="noStrike" kern="1200" cap="none" spc="0" normalizeH="0" baseline="0" noProof="0" dirty="0" err="1">
                <a:ln>
                  <a:noFill/>
                </a:ln>
                <a:solidFill>
                  <a:srgbClr val="000000"/>
                </a:solidFill>
                <a:effectLst/>
                <a:uLnTx/>
                <a:uFillTx/>
                <a:latin typeface="Petrona Bold" pitchFamily="34" charset="0"/>
                <a:ea typeface="Petrona Bold" pitchFamily="34" charset="-122"/>
                <a:cs typeface="Petrona Bold" pitchFamily="34" charset="-120"/>
              </a:rPr>
              <a:t>Qualité</a:t>
            </a:r>
            <a:r>
              <a:rPr kumimoji="0" lang="en-US" sz="2450" b="1" i="0" u="none" strike="noStrike" kern="1200" cap="none" spc="0" normalizeH="0" baseline="0" noProof="0" dirty="0">
                <a:ln>
                  <a:noFill/>
                </a:ln>
                <a:solidFill>
                  <a:srgbClr val="000000"/>
                </a:solidFill>
                <a:effectLst/>
                <a:uLnTx/>
                <a:uFillTx/>
                <a:latin typeface="Petrona Bold" pitchFamily="34" charset="0"/>
                <a:ea typeface="Petrona Bold" pitchFamily="34" charset="-122"/>
                <a:cs typeface="Petrona Bold" pitchFamily="34" charset="-120"/>
              </a:rPr>
              <a:t> des Données</a:t>
            </a:r>
            <a:endParaRPr lang="fr-FR" dirty="0"/>
          </a:p>
        </p:txBody>
      </p:sp>
      <p:sp>
        <p:nvSpPr>
          <p:cNvPr id="6" name="Espace réservé du contenu 5">
            <a:extLst>
              <a:ext uri="{FF2B5EF4-FFF2-40B4-BE49-F238E27FC236}">
                <a16:creationId xmlns:a16="http://schemas.microsoft.com/office/drawing/2014/main" id="{B8EBD668-BE22-2E9A-ED36-88426B5F3A9F}"/>
              </a:ext>
            </a:extLst>
          </p:cNvPr>
          <p:cNvSpPr>
            <a:spLocks noGrp="1"/>
          </p:cNvSpPr>
          <p:nvPr>
            <p:ph sz="quarter" idx="4"/>
          </p:nvPr>
        </p:nvSpPr>
        <p:spPr>
          <a:xfrm>
            <a:off x="6449960" y="1986116"/>
            <a:ext cx="5161937" cy="4247536"/>
          </a:xfrm>
        </p:spPr>
        <p:txBody>
          <a:bodyPr>
            <a:normAutofit/>
          </a:bodyPr>
          <a:lstStyle/>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Forte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incohérence</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entre les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outils</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collecte</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et DHIS2</a:t>
            </a:r>
            <a:endParaRPr kumimoji="0" lang="en-US" sz="155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600" b="1" dirty="0">
                <a:solidFill>
                  <a:srgbClr val="272525"/>
                </a:solidFill>
                <a:latin typeface="Inter" pitchFamily="34" charset="0"/>
                <a:ea typeface="Inter" pitchFamily="34" charset="-122"/>
              </a:rPr>
              <a:t>Absence des courbes de suivi des Couvertures Vaccinales par antigène ni aux BCZS, ni aux CS</a:t>
            </a: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Pas de tableaux de bord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ni</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graphiques</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 </a:t>
            </a:r>
            <a:r>
              <a:rPr kumimoji="0" lang="en-US"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suivi</a:t>
            </a:r>
            <a:r>
              <a:rPr kumimoji="0" lang="en-US"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des MPV</a:t>
            </a:r>
            <a:endParaRPr lang="fr-FR" sz="1600" b="1" dirty="0">
              <a:solidFill>
                <a:srgbClr val="272525"/>
              </a:solidFill>
              <a:latin typeface="Inter" pitchFamily="34" charset="0"/>
              <a:ea typeface="Inter" pitchFamily="34" charset="-122"/>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600" b="1" dirty="0">
                <a:solidFill>
                  <a:srgbClr val="272525"/>
                </a:solidFill>
                <a:latin typeface="Inter" pitchFamily="34" charset="0"/>
                <a:ea typeface="Inter" pitchFamily="34" charset="-122"/>
              </a:rPr>
              <a:t>Absence des listes d'enfants à récupérer</a:t>
            </a:r>
          </a:p>
          <a:p>
            <a:pPr marL="342900" lvl="0" indent="-342900">
              <a:lnSpc>
                <a:spcPct val="107000"/>
              </a:lnSpc>
              <a:spcAft>
                <a:spcPts val="800"/>
              </a:spcAft>
              <a:buSzPts val="1000"/>
              <a:buFont typeface="Symbol" panose="05050102010706020507" pitchFamily="18" charset="2"/>
              <a:buChar char=""/>
              <a:tabLst>
                <a:tab pos="457200" algn="l"/>
              </a:tabLst>
            </a:pPr>
            <a:r>
              <a:rPr lang="fr-FR" sz="1600" b="1" dirty="0">
                <a:solidFill>
                  <a:srgbClr val="272525"/>
                </a:solidFill>
                <a:latin typeface="Inter" pitchFamily="34" charset="0"/>
                <a:ea typeface="Inter" pitchFamily="34" charset="-122"/>
              </a:rPr>
              <a:t>Non-disponibilité et/ou mauvaise tenue des outils de gestion PEV (Registre de vaccination, Fiches de pointage, Fiches de stock, Échéanciers, jetons, carnet de réquisition)</a:t>
            </a:r>
          </a:p>
          <a:p>
            <a:endParaRPr lang="fr-FR" dirty="0"/>
          </a:p>
        </p:txBody>
      </p:sp>
    </p:spTree>
    <p:extLst>
      <p:ext uri="{BB962C8B-B14F-4D97-AF65-F5344CB8AC3E}">
        <p14:creationId xmlns:p14="http://schemas.microsoft.com/office/powerpoint/2010/main" val="417745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D838B-56CE-EDEB-6EBE-8397121F5D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B6A4C8A-8ABA-840C-1C8E-C81E9530E113}"/>
              </a:ext>
            </a:extLst>
          </p:cNvPr>
          <p:cNvSpPr>
            <a:spLocks noGrp="1"/>
          </p:cNvSpPr>
          <p:nvPr>
            <p:ph type="title"/>
          </p:nvPr>
        </p:nvSpPr>
        <p:spPr>
          <a:xfrm>
            <a:off x="839788" y="365125"/>
            <a:ext cx="10515600" cy="637765"/>
          </a:xfrm>
          <a:solidFill>
            <a:srgbClr val="002060"/>
          </a:solidFill>
        </p:spPr>
        <p:txBody>
          <a:bodyPr>
            <a:normAutofit fontScale="90000"/>
          </a:bodyPr>
          <a:lstStyle/>
          <a:p>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Défis </a:t>
            </a: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Majeurs</a:t>
            </a:r>
            <a:endParaRPr lang="fr-FR" dirty="0">
              <a:solidFill>
                <a:schemeClr val="bg1"/>
              </a:solidFill>
            </a:endParaRPr>
          </a:p>
        </p:txBody>
      </p:sp>
      <p:sp>
        <p:nvSpPr>
          <p:cNvPr id="3" name="Espace réservé du texte 2">
            <a:extLst>
              <a:ext uri="{FF2B5EF4-FFF2-40B4-BE49-F238E27FC236}">
                <a16:creationId xmlns:a16="http://schemas.microsoft.com/office/drawing/2014/main" id="{60C48DF1-7D7E-EB0D-32DA-D3A396849960}"/>
              </a:ext>
            </a:extLst>
          </p:cNvPr>
          <p:cNvSpPr>
            <a:spLocks noGrp="1"/>
          </p:cNvSpPr>
          <p:nvPr>
            <p:ph type="body" idx="1"/>
          </p:nvPr>
        </p:nvSpPr>
        <p:spPr>
          <a:xfrm>
            <a:off x="836612" y="1189551"/>
            <a:ext cx="4816936" cy="491611"/>
          </a:xfrm>
          <a:solidFill>
            <a:srgbClr val="00B0F0"/>
          </a:solidFill>
        </p:spPr>
        <p:txBody>
          <a:bodyPr>
            <a:normAutofit/>
          </a:bodyPr>
          <a:lstStyle/>
          <a:p>
            <a:pPr marR="0" lvl="0" fontAlgn="auto">
              <a:lnSpc>
                <a:spcPts val="3050"/>
              </a:lnSpc>
              <a:spcBef>
                <a:spcPts val="0"/>
              </a:spcBef>
              <a:spcAft>
                <a:spcPts val="0"/>
              </a:spcAft>
              <a:buClrTx/>
              <a:buSzTx/>
              <a:tabLst/>
              <a:defRPr/>
            </a:pPr>
            <a:r>
              <a:rPr lang="en-US" sz="2000" dirty="0">
                <a:solidFill>
                  <a:srgbClr val="000000"/>
                </a:solidFill>
                <a:latin typeface="Petrona Bold" pitchFamily="34" charset="0"/>
                <a:ea typeface="Petrona Bold" pitchFamily="34" charset="-122"/>
              </a:rPr>
              <a:t>Prestation des services et </a:t>
            </a:r>
            <a:r>
              <a:rPr lang="en-US" sz="2000" dirty="0" err="1">
                <a:solidFill>
                  <a:srgbClr val="000000"/>
                </a:solidFill>
                <a:latin typeface="Petrona Bold" pitchFamily="34" charset="0"/>
                <a:ea typeface="Petrona Bold" pitchFamily="34" charset="-122"/>
              </a:rPr>
              <a:t>Logistique</a:t>
            </a:r>
            <a:endParaRPr lang="en-US" sz="2000" dirty="0">
              <a:solidFill>
                <a:srgbClr val="000000"/>
              </a:solidFill>
              <a:latin typeface="Petrona Bold" pitchFamily="34" charset="0"/>
              <a:ea typeface="Petrona Bold" pitchFamily="34" charset="-122"/>
            </a:endParaRPr>
          </a:p>
        </p:txBody>
      </p:sp>
      <p:sp>
        <p:nvSpPr>
          <p:cNvPr id="4" name="Espace réservé du contenu 3">
            <a:extLst>
              <a:ext uri="{FF2B5EF4-FFF2-40B4-BE49-F238E27FC236}">
                <a16:creationId xmlns:a16="http://schemas.microsoft.com/office/drawing/2014/main" id="{A47C597E-3759-E11F-316D-94FD00E3E5AE}"/>
              </a:ext>
            </a:extLst>
          </p:cNvPr>
          <p:cNvSpPr>
            <a:spLocks noGrp="1"/>
          </p:cNvSpPr>
          <p:nvPr>
            <p:ph sz="half" idx="2"/>
          </p:nvPr>
        </p:nvSpPr>
        <p:spPr>
          <a:xfrm>
            <a:off x="829854" y="1867823"/>
            <a:ext cx="4813760" cy="2555076"/>
          </a:xfrm>
        </p:spPr>
        <p:txBody>
          <a:bodyPr>
            <a:normAutofit/>
          </a:bodyPr>
          <a:lstStyle/>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Sous-estimation du nombre de séances de vaccination par rapport au poids démographique. </a:t>
            </a: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Faible taux des FOSA </a:t>
            </a:r>
            <a:r>
              <a:rPr lang="fr-FR" sz="1550" b="1" dirty="0">
                <a:solidFill>
                  <a:srgbClr val="272525"/>
                </a:solidFill>
                <a:latin typeface="Inter" pitchFamily="34" charset="0"/>
                <a:ea typeface="Inter" pitchFamily="34" charset="-122"/>
                <a:cs typeface="Inter" pitchFamily="34" charset="-120"/>
              </a:rPr>
              <a:t>in</a:t>
            </a:r>
            <a:r>
              <a:rPr kumimoji="0" lang="fr-FR"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tégrant</a:t>
            </a: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les services de vaccination de routine.</a:t>
            </a:r>
          </a:p>
          <a:p>
            <a:pPr marL="342900" marR="0" lvl="0" indent="-342900" algn="l" defTabSz="914400" rtl="0" eaLnBrk="1" fontAlgn="auto" latinLnBrk="0" hangingPunct="1">
              <a:lnSpc>
                <a:spcPts val="2500"/>
              </a:lnSpc>
              <a:spcBef>
                <a:spcPts val="0"/>
              </a:spcBef>
              <a:spcAft>
                <a:spcPts val="0"/>
              </a:spcAft>
              <a:buClrTx/>
              <a:buSzPct val="100000"/>
              <a:buFontTx/>
              <a:buChar char="•"/>
              <a:tabLst/>
              <a:defRPr/>
            </a:pP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Faible couverture en matériels de chaîne du froid (44%) dans la ZS </a:t>
            </a:r>
            <a:r>
              <a:rPr kumimoji="0" lang="fr-FR" sz="155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Maluku</a:t>
            </a:r>
            <a:r>
              <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1. </a:t>
            </a:r>
          </a:p>
        </p:txBody>
      </p:sp>
      <p:sp>
        <p:nvSpPr>
          <p:cNvPr id="5" name="Espace réservé du texte 4">
            <a:extLst>
              <a:ext uri="{FF2B5EF4-FFF2-40B4-BE49-F238E27FC236}">
                <a16:creationId xmlns:a16="http://schemas.microsoft.com/office/drawing/2014/main" id="{A45F487D-898A-B18A-C08A-1A302B515C22}"/>
              </a:ext>
            </a:extLst>
          </p:cNvPr>
          <p:cNvSpPr>
            <a:spLocks noGrp="1"/>
          </p:cNvSpPr>
          <p:nvPr>
            <p:ph type="body" sz="quarter" idx="3"/>
          </p:nvPr>
        </p:nvSpPr>
        <p:spPr>
          <a:xfrm>
            <a:off x="6164826" y="1189549"/>
            <a:ext cx="4807002" cy="491611"/>
          </a:xfrm>
          <a:solidFill>
            <a:srgbClr val="00B0F0"/>
          </a:solidFill>
        </p:spPr>
        <p:txBody>
          <a:bodyPr>
            <a:normAutofit/>
          </a:bodyPr>
          <a:lstStyle/>
          <a:p>
            <a:pPr marL="0" marR="0" lvl="0" indent="0" algn="l" defTabSz="914400" rtl="0" eaLnBrk="1" fontAlgn="auto" latinLnBrk="0" hangingPunct="1">
              <a:lnSpc>
                <a:spcPts val="3050"/>
              </a:lnSpc>
              <a:spcBef>
                <a:spcPts val="0"/>
              </a:spcBef>
              <a:spcAft>
                <a:spcPts val="0"/>
              </a:spcAft>
              <a:buClrTx/>
              <a:buSzTx/>
              <a:buFontTx/>
              <a:buNone/>
              <a:tabLst/>
              <a:defRPr/>
            </a:pPr>
            <a:r>
              <a:rPr lang="en-US" sz="2000" dirty="0">
                <a:solidFill>
                  <a:srgbClr val="000000"/>
                </a:solidFill>
                <a:latin typeface="Petrona Bold" pitchFamily="34" charset="0"/>
                <a:ea typeface="Petrona Bold" pitchFamily="34" charset="-122"/>
              </a:rPr>
              <a:t>Surveillance MPV et MAPI</a:t>
            </a:r>
            <a:endParaRPr lang="fr-FR" sz="2000" dirty="0"/>
          </a:p>
        </p:txBody>
      </p:sp>
      <p:sp>
        <p:nvSpPr>
          <p:cNvPr id="6" name="Espace réservé du contenu 5">
            <a:extLst>
              <a:ext uri="{FF2B5EF4-FFF2-40B4-BE49-F238E27FC236}">
                <a16:creationId xmlns:a16="http://schemas.microsoft.com/office/drawing/2014/main" id="{C1708266-3393-B436-D523-43D44C9222D3}"/>
              </a:ext>
            </a:extLst>
          </p:cNvPr>
          <p:cNvSpPr>
            <a:spLocks noGrp="1"/>
          </p:cNvSpPr>
          <p:nvPr>
            <p:ph sz="quarter" idx="4"/>
          </p:nvPr>
        </p:nvSpPr>
        <p:spPr>
          <a:xfrm>
            <a:off x="6164825" y="1976285"/>
            <a:ext cx="4925961" cy="1275885"/>
          </a:xfrm>
        </p:spPr>
        <p:txBody>
          <a:bodyPr>
            <a:normAutofit/>
          </a:bodyPr>
          <a:lstStyle/>
          <a:p>
            <a:r>
              <a:rPr lang="fr-FR" sz="1550" b="1" dirty="0">
                <a:solidFill>
                  <a:srgbClr val="272525"/>
                </a:solidFill>
                <a:latin typeface="Inter" pitchFamily="34" charset="0"/>
                <a:ea typeface="Inter" pitchFamily="34" charset="-122"/>
              </a:rPr>
              <a:t>Faible taux de notification de PFA dans la ZS </a:t>
            </a:r>
            <a:r>
              <a:rPr lang="fr-FR" sz="1550" b="1" dirty="0" err="1">
                <a:solidFill>
                  <a:srgbClr val="272525"/>
                </a:solidFill>
                <a:latin typeface="Inter" pitchFamily="34" charset="0"/>
                <a:ea typeface="Inter" pitchFamily="34" charset="-122"/>
              </a:rPr>
              <a:t>Maluku</a:t>
            </a:r>
            <a:r>
              <a:rPr lang="fr-FR" sz="1550" b="1" dirty="0">
                <a:solidFill>
                  <a:srgbClr val="272525"/>
                </a:solidFill>
                <a:latin typeface="Inter" pitchFamily="34" charset="0"/>
                <a:ea typeface="Inter" pitchFamily="34" charset="-122"/>
              </a:rPr>
              <a:t> 1. </a:t>
            </a:r>
          </a:p>
          <a:p>
            <a:r>
              <a:rPr lang="fr-FR" sz="1550" b="1" dirty="0">
                <a:solidFill>
                  <a:srgbClr val="272525"/>
                </a:solidFill>
                <a:latin typeface="Inter" pitchFamily="34" charset="0"/>
                <a:ea typeface="Inter" pitchFamily="34" charset="-122"/>
              </a:rPr>
              <a:t>Faible surveillance des cas de MAPI</a:t>
            </a:r>
          </a:p>
        </p:txBody>
      </p:sp>
      <p:sp>
        <p:nvSpPr>
          <p:cNvPr id="7" name="Espace réservé du texte 4">
            <a:extLst>
              <a:ext uri="{FF2B5EF4-FFF2-40B4-BE49-F238E27FC236}">
                <a16:creationId xmlns:a16="http://schemas.microsoft.com/office/drawing/2014/main" id="{D94B9725-0DB0-4FC8-B716-FA75B6C3E4D1}"/>
              </a:ext>
            </a:extLst>
          </p:cNvPr>
          <p:cNvSpPr txBox="1">
            <a:spLocks/>
          </p:cNvSpPr>
          <p:nvPr/>
        </p:nvSpPr>
        <p:spPr>
          <a:xfrm>
            <a:off x="6171584" y="3605831"/>
            <a:ext cx="4807002" cy="491611"/>
          </a:xfrm>
          <a:prstGeom prst="rect">
            <a:avLst/>
          </a:prstGeom>
          <a:solidFill>
            <a:srgbClr val="00B0F0"/>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ts val="3050"/>
              </a:lnSpc>
              <a:spcBef>
                <a:spcPts val="0"/>
              </a:spcBef>
              <a:buFontTx/>
              <a:buNone/>
              <a:defRPr/>
            </a:pPr>
            <a:r>
              <a:rPr lang="en-US" sz="2000" dirty="0" err="1">
                <a:solidFill>
                  <a:srgbClr val="000000"/>
                </a:solidFill>
                <a:latin typeface="Petrona Bold" pitchFamily="34" charset="0"/>
                <a:ea typeface="Petrona Bold" pitchFamily="34" charset="-122"/>
              </a:rPr>
              <a:t>Enquêtes</a:t>
            </a:r>
            <a:r>
              <a:rPr lang="en-US" sz="2000" dirty="0">
                <a:solidFill>
                  <a:srgbClr val="000000"/>
                </a:solidFill>
                <a:latin typeface="Petrona Bold" pitchFamily="34" charset="0"/>
                <a:ea typeface="Petrona Bold" pitchFamily="34" charset="-122"/>
              </a:rPr>
              <a:t> </a:t>
            </a:r>
            <a:r>
              <a:rPr lang="en-US" sz="2000" dirty="0" err="1">
                <a:solidFill>
                  <a:srgbClr val="000000"/>
                </a:solidFill>
                <a:latin typeface="Petrona Bold" pitchFamily="34" charset="0"/>
                <a:ea typeface="Petrona Bold" pitchFamily="34" charset="-122"/>
              </a:rPr>
              <a:t>Rapide</a:t>
            </a:r>
            <a:r>
              <a:rPr lang="en-US" sz="2000" dirty="0">
                <a:solidFill>
                  <a:srgbClr val="000000"/>
                </a:solidFill>
                <a:latin typeface="Petrona Bold" pitchFamily="34" charset="0"/>
                <a:ea typeface="Petrona Bold" pitchFamily="34" charset="-122"/>
              </a:rPr>
              <a:t> dans les Menages</a:t>
            </a:r>
            <a:endParaRPr lang="fr-FR" sz="2000" dirty="0"/>
          </a:p>
        </p:txBody>
      </p:sp>
      <p:sp>
        <p:nvSpPr>
          <p:cNvPr id="8" name="Espace réservé du contenu 5">
            <a:extLst>
              <a:ext uri="{FF2B5EF4-FFF2-40B4-BE49-F238E27FC236}">
                <a16:creationId xmlns:a16="http://schemas.microsoft.com/office/drawing/2014/main" id="{84E463A9-A80F-246E-9031-6403B3E5BEF8}"/>
              </a:ext>
            </a:extLst>
          </p:cNvPr>
          <p:cNvSpPr txBox="1">
            <a:spLocks/>
          </p:cNvSpPr>
          <p:nvPr/>
        </p:nvSpPr>
        <p:spPr>
          <a:xfrm>
            <a:off x="6164826" y="4336027"/>
            <a:ext cx="4925960" cy="158299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ts val="2500"/>
              </a:lnSpc>
              <a:spcBef>
                <a:spcPts val="0"/>
              </a:spcBef>
              <a:spcAft>
                <a:spcPts val="0"/>
              </a:spcAft>
              <a:buClrTx/>
              <a:buSzTx/>
              <a:tabLst/>
              <a:defRPr/>
            </a:pPr>
            <a:r>
              <a:rPr lang="en-US" sz="1550" b="1" dirty="0">
                <a:solidFill>
                  <a:srgbClr val="272525"/>
                </a:solidFill>
                <a:latin typeface="Inter" pitchFamily="34" charset="0"/>
                <a:ea typeface="Inter" pitchFamily="34" charset="-122"/>
              </a:rPr>
              <a:t>Les </a:t>
            </a:r>
            <a:r>
              <a:rPr lang="en-US" sz="1550" b="1" dirty="0" err="1">
                <a:solidFill>
                  <a:srgbClr val="272525"/>
                </a:solidFill>
                <a:latin typeface="Inter" pitchFamily="34" charset="0"/>
                <a:ea typeface="Inter" pitchFamily="34" charset="-122"/>
              </a:rPr>
              <a:t>enquêtes</a:t>
            </a:r>
            <a:r>
              <a:rPr lang="en-US" sz="1550" b="1" dirty="0">
                <a:solidFill>
                  <a:srgbClr val="272525"/>
                </a:solidFill>
                <a:latin typeface="Inter" pitchFamily="34" charset="0"/>
                <a:ea typeface="Inter" pitchFamily="34" charset="-122"/>
              </a:rPr>
              <a:t> </a:t>
            </a:r>
            <a:r>
              <a:rPr lang="en-US" sz="1550" b="1" dirty="0" err="1">
                <a:solidFill>
                  <a:srgbClr val="272525"/>
                </a:solidFill>
                <a:latin typeface="Inter" pitchFamily="34" charset="0"/>
                <a:ea typeface="Inter" pitchFamily="34" charset="-122"/>
              </a:rPr>
              <a:t>rapides</a:t>
            </a:r>
            <a:r>
              <a:rPr lang="en-US" sz="1550" b="1" dirty="0">
                <a:solidFill>
                  <a:srgbClr val="272525"/>
                </a:solidFill>
                <a:latin typeface="Inter" pitchFamily="34" charset="0"/>
                <a:ea typeface="Inter" pitchFamily="34" charset="-122"/>
              </a:rPr>
              <a:t> </a:t>
            </a:r>
            <a:r>
              <a:rPr lang="en-US" sz="1550" b="1" dirty="0" err="1">
                <a:solidFill>
                  <a:srgbClr val="272525"/>
                </a:solidFill>
                <a:latin typeface="Inter" pitchFamily="34" charset="0"/>
                <a:ea typeface="Inter" pitchFamily="34" charset="-122"/>
              </a:rPr>
              <a:t>confirment</a:t>
            </a:r>
            <a:r>
              <a:rPr lang="en-US" sz="1550" b="1" dirty="0">
                <a:solidFill>
                  <a:srgbClr val="272525"/>
                </a:solidFill>
                <a:latin typeface="Inter" pitchFamily="34" charset="0"/>
                <a:ea typeface="Inter" pitchFamily="34" charset="-122"/>
              </a:rPr>
              <a:t> la </a:t>
            </a:r>
            <a:r>
              <a:rPr lang="en-US" sz="1550" b="1" dirty="0" err="1">
                <a:solidFill>
                  <a:srgbClr val="272525"/>
                </a:solidFill>
                <a:latin typeface="Inter" pitchFamily="34" charset="0"/>
                <a:ea typeface="Inter" pitchFamily="34" charset="-122"/>
              </a:rPr>
              <a:t>présence</a:t>
            </a:r>
            <a:r>
              <a:rPr lang="en-US" sz="1550" b="1" dirty="0">
                <a:solidFill>
                  <a:srgbClr val="272525"/>
                </a:solidFill>
                <a:latin typeface="Inter" pitchFamily="34" charset="0"/>
                <a:ea typeface="Inter" pitchFamily="34" charset="-122"/>
              </a:rPr>
              <a:t> de beaucoup </a:t>
            </a:r>
            <a:r>
              <a:rPr lang="en-US" sz="1550" b="1" dirty="0" err="1">
                <a:solidFill>
                  <a:srgbClr val="272525"/>
                </a:solidFill>
                <a:latin typeface="Inter" pitchFamily="34" charset="0"/>
                <a:ea typeface="Inter" pitchFamily="34" charset="-122"/>
              </a:rPr>
              <a:t>d'enfants</a:t>
            </a:r>
            <a:r>
              <a:rPr lang="en-US" sz="1550" b="1" dirty="0">
                <a:solidFill>
                  <a:srgbClr val="272525"/>
                </a:solidFill>
                <a:latin typeface="Inter" pitchFamily="34" charset="0"/>
                <a:ea typeface="Inter" pitchFamily="34" charset="-122"/>
              </a:rPr>
              <a:t> </a:t>
            </a:r>
            <a:r>
              <a:rPr lang="en-US" sz="1550" b="1" dirty="0" err="1">
                <a:solidFill>
                  <a:srgbClr val="272525"/>
                </a:solidFill>
                <a:latin typeface="Inter" pitchFamily="34" charset="0"/>
                <a:ea typeface="Inter" pitchFamily="34" charset="-122"/>
              </a:rPr>
              <a:t>zéro</a:t>
            </a:r>
            <a:r>
              <a:rPr lang="en-US" sz="1550" b="1" dirty="0">
                <a:solidFill>
                  <a:srgbClr val="272525"/>
                </a:solidFill>
                <a:latin typeface="Inter" pitchFamily="34" charset="0"/>
                <a:ea typeface="Inter" pitchFamily="34" charset="-122"/>
              </a:rPr>
              <a:t>-doses et sous-</a:t>
            </a:r>
            <a:r>
              <a:rPr lang="en-US" sz="1550" b="1" dirty="0" err="1">
                <a:solidFill>
                  <a:srgbClr val="272525"/>
                </a:solidFill>
                <a:latin typeface="Inter" pitchFamily="34" charset="0"/>
                <a:ea typeface="Inter" pitchFamily="34" charset="-122"/>
              </a:rPr>
              <a:t>vaccinés</a:t>
            </a:r>
            <a:r>
              <a:rPr lang="en-US" sz="1550" b="1" dirty="0">
                <a:solidFill>
                  <a:srgbClr val="272525"/>
                </a:solidFill>
                <a:latin typeface="Inter" pitchFamily="34" charset="0"/>
                <a:ea typeface="Inter" pitchFamily="34" charset="-122"/>
              </a:rPr>
              <a:t> dans les </a:t>
            </a:r>
            <a:r>
              <a:rPr lang="en-US" sz="1550" b="1" dirty="0" err="1">
                <a:solidFill>
                  <a:srgbClr val="272525"/>
                </a:solidFill>
                <a:latin typeface="Inter" pitchFamily="34" charset="0"/>
                <a:ea typeface="Inter" pitchFamily="34" charset="-122"/>
              </a:rPr>
              <a:t>communautés</a:t>
            </a:r>
            <a:r>
              <a:rPr lang="en-US" sz="1550" b="1" dirty="0">
                <a:solidFill>
                  <a:srgbClr val="272525"/>
                </a:solidFill>
                <a:latin typeface="Inter" pitchFamily="34" charset="0"/>
                <a:ea typeface="Inter" pitchFamily="34" charset="-122"/>
              </a:rPr>
              <a:t>, </a:t>
            </a:r>
            <a:r>
              <a:rPr lang="en-US" sz="1550" b="1" dirty="0" err="1">
                <a:solidFill>
                  <a:srgbClr val="272525"/>
                </a:solidFill>
                <a:latin typeface="Inter" pitchFamily="34" charset="0"/>
                <a:ea typeface="Inter" pitchFamily="34" charset="-122"/>
              </a:rPr>
              <a:t>soulignant</a:t>
            </a:r>
            <a:r>
              <a:rPr lang="en-US" sz="1550" b="1" dirty="0">
                <a:solidFill>
                  <a:srgbClr val="272525"/>
                </a:solidFill>
                <a:latin typeface="Inter" pitchFamily="34" charset="0"/>
                <a:ea typeface="Inter" pitchFamily="34" charset="-122"/>
              </a:rPr>
              <a:t> </a:t>
            </a:r>
            <a:r>
              <a:rPr lang="en-US" sz="1550" b="1" dirty="0" err="1">
                <a:solidFill>
                  <a:srgbClr val="272525"/>
                </a:solidFill>
                <a:latin typeface="Inter" pitchFamily="34" charset="0"/>
                <a:ea typeface="Inter" pitchFamily="34" charset="-122"/>
              </a:rPr>
              <a:t>une</a:t>
            </a:r>
            <a:r>
              <a:rPr lang="en-US" sz="1550" b="1" dirty="0">
                <a:solidFill>
                  <a:srgbClr val="272525"/>
                </a:solidFill>
                <a:latin typeface="Inter" pitchFamily="34" charset="0"/>
                <a:ea typeface="Inter" pitchFamily="34" charset="-122"/>
              </a:rPr>
              <a:t> </a:t>
            </a:r>
            <a:r>
              <a:rPr lang="en-US" sz="1550" b="1" dirty="0" err="1">
                <a:solidFill>
                  <a:srgbClr val="272525"/>
                </a:solidFill>
                <a:latin typeface="Inter" pitchFamily="34" charset="0"/>
                <a:ea typeface="Inter" pitchFamily="34" charset="-122"/>
              </a:rPr>
              <a:t>insuffisance</a:t>
            </a:r>
            <a:r>
              <a:rPr lang="en-US" sz="1550" b="1" dirty="0">
                <a:solidFill>
                  <a:srgbClr val="272525"/>
                </a:solidFill>
                <a:latin typeface="Inter" pitchFamily="34" charset="0"/>
                <a:ea typeface="Inter" pitchFamily="34" charset="-122"/>
              </a:rPr>
              <a:t> dans le </a:t>
            </a:r>
            <a:r>
              <a:rPr lang="en-US" sz="1550" b="1" dirty="0" err="1">
                <a:solidFill>
                  <a:srgbClr val="272525"/>
                </a:solidFill>
                <a:latin typeface="Inter" pitchFamily="34" charset="0"/>
                <a:ea typeface="Inter" pitchFamily="34" charset="-122"/>
              </a:rPr>
              <a:t>mécanisme</a:t>
            </a:r>
            <a:r>
              <a:rPr lang="en-US" sz="1550" b="1" dirty="0">
                <a:solidFill>
                  <a:srgbClr val="272525"/>
                </a:solidFill>
                <a:latin typeface="Inter" pitchFamily="34" charset="0"/>
                <a:ea typeface="Inter" pitchFamily="34" charset="-122"/>
              </a:rPr>
              <a:t> de </a:t>
            </a:r>
            <a:r>
              <a:rPr lang="en-US" sz="1550" b="1" dirty="0" err="1">
                <a:solidFill>
                  <a:srgbClr val="272525"/>
                </a:solidFill>
                <a:latin typeface="Inter" pitchFamily="34" charset="0"/>
                <a:ea typeface="Inter" pitchFamily="34" charset="-122"/>
              </a:rPr>
              <a:t>récupération</a:t>
            </a:r>
            <a:endParaRPr lang="en-US" sz="1550" b="1" dirty="0">
              <a:solidFill>
                <a:srgbClr val="272525"/>
              </a:solidFill>
              <a:latin typeface="Inter" pitchFamily="34" charset="0"/>
              <a:ea typeface="Inter" pitchFamily="34" charset="-122"/>
            </a:endParaRPr>
          </a:p>
        </p:txBody>
      </p:sp>
      <p:sp>
        <p:nvSpPr>
          <p:cNvPr id="9" name="Espace réservé du texte 4">
            <a:extLst>
              <a:ext uri="{FF2B5EF4-FFF2-40B4-BE49-F238E27FC236}">
                <a16:creationId xmlns:a16="http://schemas.microsoft.com/office/drawing/2014/main" id="{0BEF9A83-22F6-1884-1E8E-061C7E8E00CB}"/>
              </a:ext>
            </a:extLst>
          </p:cNvPr>
          <p:cNvSpPr txBox="1">
            <a:spLocks/>
          </p:cNvSpPr>
          <p:nvPr/>
        </p:nvSpPr>
        <p:spPr>
          <a:xfrm>
            <a:off x="836612" y="4531361"/>
            <a:ext cx="4807002" cy="491611"/>
          </a:xfrm>
          <a:prstGeom prst="rect">
            <a:avLst/>
          </a:prstGeom>
          <a:solidFill>
            <a:srgbClr val="00B0F0"/>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ts val="3050"/>
              </a:lnSpc>
              <a:spcBef>
                <a:spcPts val="0"/>
              </a:spcBef>
              <a:buFontTx/>
              <a:buNone/>
              <a:defRPr/>
            </a:pPr>
            <a:r>
              <a:rPr lang="en-US" sz="2000" dirty="0">
                <a:solidFill>
                  <a:srgbClr val="000000"/>
                </a:solidFill>
                <a:latin typeface="Petrona Bold" pitchFamily="34" charset="0"/>
                <a:ea typeface="Petrona Bold" pitchFamily="34" charset="-122"/>
                <a:cs typeface="Petrona Bold" pitchFamily="34" charset="-120"/>
              </a:rPr>
              <a:t>Communication</a:t>
            </a:r>
            <a:endParaRPr lang="fr-FR" sz="2000" dirty="0"/>
          </a:p>
        </p:txBody>
      </p:sp>
      <p:sp>
        <p:nvSpPr>
          <p:cNvPr id="10" name="Espace réservé du contenu 5">
            <a:extLst>
              <a:ext uri="{FF2B5EF4-FFF2-40B4-BE49-F238E27FC236}">
                <a16:creationId xmlns:a16="http://schemas.microsoft.com/office/drawing/2014/main" id="{8569C469-4F96-00E2-CD28-6F8D34FAABB5}"/>
              </a:ext>
            </a:extLst>
          </p:cNvPr>
          <p:cNvSpPr txBox="1">
            <a:spLocks/>
          </p:cNvSpPr>
          <p:nvPr/>
        </p:nvSpPr>
        <p:spPr>
          <a:xfrm>
            <a:off x="836612" y="5110474"/>
            <a:ext cx="4807002" cy="10346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550" b="1" dirty="0">
                <a:solidFill>
                  <a:srgbClr val="272525"/>
                </a:solidFill>
                <a:latin typeface="Inter" pitchFamily="34" charset="0"/>
                <a:ea typeface="Inter" pitchFamily="34" charset="-122"/>
              </a:rPr>
              <a:t>Absence de plan de communication intégrant le PEV de routine</a:t>
            </a:r>
          </a:p>
        </p:txBody>
      </p:sp>
    </p:spTree>
    <p:extLst>
      <p:ext uri="{BB962C8B-B14F-4D97-AF65-F5344CB8AC3E}">
        <p14:creationId xmlns:p14="http://schemas.microsoft.com/office/powerpoint/2010/main" val="3782513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0470-17F2-D567-71E3-95C960F6D7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816167-A5D2-0EDA-E713-21C8DECF7717}"/>
              </a:ext>
            </a:extLst>
          </p:cNvPr>
          <p:cNvSpPr>
            <a:spLocks noGrp="1"/>
          </p:cNvSpPr>
          <p:nvPr>
            <p:ph type="title"/>
          </p:nvPr>
        </p:nvSpPr>
        <p:spPr>
          <a:xfrm>
            <a:off x="839788" y="365125"/>
            <a:ext cx="10515600" cy="637765"/>
          </a:xfrm>
          <a:solidFill>
            <a:srgbClr val="002060"/>
          </a:solidFill>
        </p:spPr>
        <p:txBody>
          <a:bodyPr>
            <a:normAutofit fontScale="90000"/>
          </a:bodyPr>
          <a:lstStyle/>
          <a:p>
            <a:r>
              <a:rPr kumimoji="0" lang="en-US" sz="4100" b="1" i="0" u="none" strike="noStrike" kern="1200" cap="none" spc="0" normalizeH="0" baseline="0" noProof="0" dirty="0">
                <a:ln>
                  <a:noFill/>
                </a:ln>
                <a:solidFill>
                  <a:schemeClr val="bg1"/>
                </a:solidFill>
                <a:effectLst/>
                <a:uLnTx/>
                <a:uFillTx/>
                <a:latin typeface="Petrona Bold" pitchFamily="34" charset="0"/>
                <a:ea typeface="Petrona Bold" pitchFamily="34" charset="-122"/>
                <a:cs typeface="Petrona Bold" pitchFamily="34" charset="-120"/>
              </a:rPr>
              <a:t>Défis </a:t>
            </a:r>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Majeurs</a:t>
            </a:r>
            <a:endParaRPr lang="fr-FR" dirty="0">
              <a:solidFill>
                <a:schemeClr val="bg1"/>
              </a:solidFill>
            </a:endParaRPr>
          </a:p>
        </p:txBody>
      </p:sp>
      <p:sp>
        <p:nvSpPr>
          <p:cNvPr id="3" name="Espace réservé du texte 2">
            <a:extLst>
              <a:ext uri="{FF2B5EF4-FFF2-40B4-BE49-F238E27FC236}">
                <a16:creationId xmlns:a16="http://schemas.microsoft.com/office/drawing/2014/main" id="{26ECA043-1590-A1ED-2E3C-3AA81996D3F3}"/>
              </a:ext>
            </a:extLst>
          </p:cNvPr>
          <p:cNvSpPr>
            <a:spLocks noGrp="1"/>
          </p:cNvSpPr>
          <p:nvPr>
            <p:ph type="body" idx="1"/>
          </p:nvPr>
        </p:nvSpPr>
        <p:spPr>
          <a:xfrm>
            <a:off x="836612" y="1189551"/>
            <a:ext cx="6407468" cy="476689"/>
          </a:xfrm>
          <a:solidFill>
            <a:srgbClr val="00B0F0"/>
          </a:solidFill>
        </p:spPr>
        <p:txBody>
          <a:bodyPr>
            <a:normAutofit fontScale="25000" lnSpcReduction="20000"/>
          </a:bodyPr>
          <a:lstStyle/>
          <a:p>
            <a:pPr marL="0" marR="0" lvl="0" indent="0" algn="l" defTabSz="914400" rtl="0" eaLnBrk="1" fontAlgn="auto" latinLnBrk="0" hangingPunct="1">
              <a:lnSpc>
                <a:spcPts val="3050"/>
              </a:lnSpc>
              <a:spcBef>
                <a:spcPts val="0"/>
              </a:spcBef>
              <a:spcAft>
                <a:spcPts val="0"/>
              </a:spcAft>
              <a:buClrTx/>
              <a:buSzTx/>
              <a:buFontTx/>
              <a:buNone/>
              <a:tabLst/>
              <a:defRPr/>
            </a:pPr>
            <a:r>
              <a:rPr kumimoji="0" lang="en-US" sz="3300" b="1" i="0" u="none" strike="noStrike" kern="1200" cap="none" spc="0" normalizeH="0" baseline="0" noProof="0" dirty="0" err="1">
                <a:ln>
                  <a:noFill/>
                </a:ln>
                <a:solidFill>
                  <a:srgbClr val="000000"/>
                </a:solidFill>
                <a:effectLst/>
                <a:uLnTx/>
                <a:uFillTx/>
                <a:latin typeface="Petrona Bold" pitchFamily="34" charset="0"/>
                <a:ea typeface="Petrona Bold" pitchFamily="34" charset="-122"/>
                <a:cs typeface="Petrona Bold" pitchFamily="34" charset="-120"/>
              </a:rPr>
              <a:t>Contexte</a:t>
            </a:r>
            <a:r>
              <a:rPr kumimoji="0" lang="en-US" sz="3300" b="1" i="0" u="none" strike="noStrike" kern="1200" cap="none" spc="0" normalizeH="0" baseline="0" noProof="0" dirty="0">
                <a:ln>
                  <a:noFill/>
                </a:ln>
                <a:solidFill>
                  <a:srgbClr val="000000"/>
                </a:solidFill>
                <a:effectLst/>
                <a:uLnTx/>
                <a:uFillTx/>
                <a:latin typeface="Petrona Bold" pitchFamily="34" charset="0"/>
                <a:ea typeface="Petrona Bold" pitchFamily="34" charset="-122"/>
                <a:cs typeface="Petrona Bold" pitchFamily="34" charset="-120"/>
              </a:rPr>
              <a:t> </a:t>
            </a:r>
            <a:r>
              <a:rPr kumimoji="0" lang="en-US" sz="3300" b="1" i="0" u="none" strike="noStrike" kern="1200" cap="none" spc="0" normalizeH="0" baseline="0" noProof="0" dirty="0" err="1">
                <a:ln>
                  <a:noFill/>
                </a:ln>
                <a:solidFill>
                  <a:srgbClr val="000000"/>
                </a:solidFill>
                <a:effectLst/>
                <a:uLnTx/>
                <a:uFillTx/>
                <a:latin typeface="Petrona Bold" pitchFamily="34" charset="0"/>
                <a:ea typeface="Petrona Bold" pitchFamily="34" charset="-122"/>
                <a:cs typeface="Petrona Bold" pitchFamily="34" charset="-120"/>
              </a:rPr>
              <a:t>Sécuritaire</a:t>
            </a:r>
            <a:r>
              <a:rPr kumimoji="0" lang="en-US" sz="3300" b="1" i="0" u="none" strike="noStrike" kern="1200" cap="none" spc="0" normalizeH="0" baseline="0" noProof="0" dirty="0">
                <a:ln>
                  <a:noFill/>
                </a:ln>
                <a:solidFill>
                  <a:srgbClr val="000000"/>
                </a:solidFill>
                <a:effectLst/>
                <a:uLnTx/>
                <a:uFillTx/>
                <a:latin typeface="Petrona Bold" pitchFamily="34" charset="0"/>
                <a:ea typeface="Petrona Bold" pitchFamily="34" charset="-122"/>
                <a:cs typeface="Petrona Bold" pitchFamily="34" charset="-120"/>
              </a:rPr>
              <a:t> : la ZS Maluku 1 est </a:t>
            </a:r>
            <a:r>
              <a:rPr kumimoji="0" lang="en-US" sz="3300" b="1" i="0" u="none" strike="noStrike" kern="1200" cap="none" spc="0" normalizeH="0" baseline="0" noProof="0" dirty="0" err="1">
                <a:ln>
                  <a:noFill/>
                </a:ln>
                <a:solidFill>
                  <a:srgbClr val="000000"/>
                </a:solidFill>
                <a:effectLst/>
                <a:uLnTx/>
                <a:uFillTx/>
                <a:latin typeface="Petrona Bold" pitchFamily="34" charset="0"/>
                <a:ea typeface="Petrona Bold" pitchFamily="34" charset="-122"/>
                <a:cs typeface="Petrona Bold" pitchFamily="34" charset="-120"/>
              </a:rPr>
              <a:t>affectée</a:t>
            </a:r>
            <a:endParaRPr kumimoji="0" lang="en-US" sz="2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Espace réservé du contenu 3">
            <a:extLst>
              <a:ext uri="{FF2B5EF4-FFF2-40B4-BE49-F238E27FC236}">
                <a16:creationId xmlns:a16="http://schemas.microsoft.com/office/drawing/2014/main" id="{CB0B200A-6125-0378-B343-57F798F92FB5}"/>
              </a:ext>
            </a:extLst>
          </p:cNvPr>
          <p:cNvSpPr>
            <a:spLocks noGrp="1"/>
          </p:cNvSpPr>
          <p:nvPr>
            <p:ph sz="half" idx="2"/>
          </p:nvPr>
        </p:nvSpPr>
        <p:spPr>
          <a:xfrm>
            <a:off x="599769" y="2676100"/>
            <a:ext cx="4409112" cy="2881419"/>
          </a:xfrm>
        </p:spPr>
        <p:txBody>
          <a:bodyPr>
            <a:normAutofit/>
          </a:bodyPr>
          <a:lstStyle/>
          <a:p>
            <a:pPr marL="0" marR="0" lvl="0" indent="0" algn="l" defTabSz="914400" rtl="0" eaLnBrk="1" fontAlgn="auto" latinLnBrk="0" hangingPunct="1">
              <a:lnSpc>
                <a:spcPts val="2500"/>
              </a:lnSpc>
              <a:spcBef>
                <a:spcPts val="0"/>
              </a:spcBef>
              <a:spcAft>
                <a:spcPts val="0"/>
              </a:spcAft>
              <a:buClrTx/>
              <a:buSzPct val="100000"/>
              <a:buNone/>
              <a:tabLst/>
              <a:defRPr/>
            </a:pPr>
            <a:endPar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endParaRPr>
          </a:p>
          <a:p>
            <a:pPr marL="0" marR="0" lvl="0" indent="0" algn="l" defTabSz="914400" rtl="0" eaLnBrk="1" fontAlgn="auto" latinLnBrk="0" hangingPunct="1">
              <a:lnSpc>
                <a:spcPts val="2500"/>
              </a:lnSpc>
              <a:spcBef>
                <a:spcPts val="0"/>
              </a:spcBef>
              <a:spcAft>
                <a:spcPts val="0"/>
              </a:spcAft>
              <a:buClrTx/>
              <a:buSzPct val="100000"/>
              <a:buNone/>
              <a:tabLst/>
              <a:defRPr/>
            </a:pPr>
            <a:r>
              <a:rPr lang="fr-FR" sz="1550" b="1" dirty="0">
                <a:solidFill>
                  <a:srgbClr val="272525"/>
                </a:solidFill>
                <a:latin typeface="Inter" pitchFamily="34" charset="0"/>
                <a:ea typeface="Inter" pitchFamily="34" charset="-122"/>
                <a:cs typeface="Inter" pitchFamily="34" charset="-120"/>
              </a:rPr>
              <a:t> </a:t>
            </a:r>
          </a:p>
          <a:p>
            <a:pPr marR="0" lvl="0" algn="l" defTabSz="914400" rtl="0" eaLnBrk="1" fontAlgn="auto" latinLnBrk="0" hangingPunct="1">
              <a:lnSpc>
                <a:spcPts val="2000"/>
              </a:lnSpc>
              <a:spcBef>
                <a:spcPts val="0"/>
              </a:spcBef>
              <a:spcAft>
                <a:spcPts val="0"/>
              </a:spcAft>
              <a:buClrTx/>
              <a:buSzTx/>
              <a:tabLst/>
              <a:defRPr/>
            </a:pPr>
            <a:r>
              <a:rPr lang="en-US" sz="1600" b="1" dirty="0">
                <a:solidFill>
                  <a:srgbClr val="272525"/>
                </a:solidFill>
                <a:latin typeface="Inter" pitchFamily="34" charset="0"/>
                <a:ea typeface="Inter" pitchFamily="34" charset="-122"/>
              </a:rPr>
              <a:t>Les AS Bita, Bu, </a:t>
            </a:r>
            <a:r>
              <a:rPr lang="en-US" sz="1600" b="1" dirty="0" err="1">
                <a:solidFill>
                  <a:srgbClr val="272525"/>
                </a:solidFill>
                <a:latin typeface="Inter" pitchFamily="34" charset="0"/>
                <a:ea typeface="Inter" pitchFamily="34" charset="-122"/>
              </a:rPr>
              <a:t>Maindombe</a:t>
            </a:r>
            <a:r>
              <a:rPr lang="en-US" sz="1600" b="1" dirty="0">
                <a:solidFill>
                  <a:srgbClr val="272525"/>
                </a:solidFill>
                <a:latin typeface="Inter" pitchFamily="34" charset="0"/>
                <a:ea typeface="Inter" pitchFamily="34" charset="-122"/>
              </a:rPr>
              <a:t> 2, </a:t>
            </a:r>
            <a:r>
              <a:rPr lang="en-US" sz="1600" b="1" dirty="0" err="1">
                <a:solidFill>
                  <a:srgbClr val="272525"/>
                </a:solidFill>
                <a:latin typeface="Inter" pitchFamily="34" charset="0"/>
                <a:ea typeface="Inter" pitchFamily="34" charset="-122"/>
              </a:rPr>
              <a:t>Nguma</a:t>
            </a:r>
            <a:r>
              <a:rPr lang="en-US" sz="1600" b="1" dirty="0">
                <a:solidFill>
                  <a:srgbClr val="272525"/>
                </a:solidFill>
                <a:latin typeface="Inter" pitchFamily="34" charset="0"/>
                <a:ea typeface="Inter" pitchFamily="34" charset="-122"/>
              </a:rPr>
              <a:t> 1, </a:t>
            </a:r>
            <a:r>
              <a:rPr lang="en-US" sz="1600" b="1" dirty="0" err="1">
                <a:solidFill>
                  <a:srgbClr val="272525"/>
                </a:solidFill>
                <a:latin typeface="Inter" pitchFamily="34" charset="0"/>
                <a:ea typeface="Inter" pitchFamily="34" charset="-122"/>
              </a:rPr>
              <a:t>Nguma</a:t>
            </a:r>
            <a:r>
              <a:rPr lang="en-US" sz="1600" b="1" dirty="0">
                <a:solidFill>
                  <a:srgbClr val="272525"/>
                </a:solidFill>
                <a:latin typeface="Inter" pitchFamily="34" charset="0"/>
                <a:ea typeface="Inter" pitchFamily="34" charset="-122"/>
              </a:rPr>
              <a:t> 2, </a:t>
            </a:r>
            <a:r>
              <a:rPr lang="en-US" sz="1600" b="1" dirty="0" err="1">
                <a:solidFill>
                  <a:srgbClr val="272525"/>
                </a:solidFill>
                <a:latin typeface="Inter" pitchFamily="34" charset="0"/>
                <a:ea typeface="Inter" pitchFamily="34" charset="-122"/>
              </a:rPr>
              <a:t>Ngana</a:t>
            </a:r>
            <a:r>
              <a:rPr lang="en-US" sz="1600" b="1" dirty="0">
                <a:solidFill>
                  <a:srgbClr val="272525"/>
                </a:solidFill>
                <a:latin typeface="Inter" pitchFamily="34" charset="0"/>
                <a:ea typeface="Inter" pitchFamily="34" charset="-122"/>
              </a:rPr>
              <a:t> et </a:t>
            </a:r>
            <a:r>
              <a:rPr lang="en-US" sz="1600" b="1" dirty="0" err="1">
                <a:solidFill>
                  <a:srgbClr val="272525"/>
                </a:solidFill>
                <a:latin typeface="Inter" pitchFamily="34" charset="0"/>
                <a:ea typeface="Inter" pitchFamily="34" charset="-122"/>
              </a:rPr>
              <a:t>Kikimi</a:t>
            </a:r>
            <a:r>
              <a:rPr lang="en-US" sz="1600" b="1" dirty="0">
                <a:solidFill>
                  <a:srgbClr val="272525"/>
                </a:solidFill>
                <a:latin typeface="Inter" pitchFamily="34" charset="0"/>
                <a:ea typeface="Inter" pitchFamily="34" charset="-122"/>
              </a:rPr>
              <a:t> </a:t>
            </a:r>
            <a:r>
              <a:rPr lang="en-US" sz="1600" b="1" dirty="0" err="1">
                <a:solidFill>
                  <a:srgbClr val="272525"/>
                </a:solidFill>
                <a:latin typeface="Inter" pitchFamily="34" charset="0"/>
                <a:ea typeface="Inter" pitchFamily="34" charset="-122"/>
              </a:rPr>
              <a:t>sont</a:t>
            </a:r>
            <a:r>
              <a:rPr lang="en-US" sz="1600" b="1" dirty="0">
                <a:solidFill>
                  <a:srgbClr val="272525"/>
                </a:solidFill>
                <a:latin typeface="Inter" pitchFamily="34" charset="0"/>
                <a:ea typeface="Inter" pitchFamily="34" charset="-122"/>
              </a:rPr>
              <a:t> </a:t>
            </a:r>
            <a:r>
              <a:rPr lang="en-US" sz="1600" b="1" dirty="0" err="1">
                <a:solidFill>
                  <a:srgbClr val="272525"/>
                </a:solidFill>
                <a:latin typeface="Inter" pitchFamily="34" charset="0"/>
                <a:ea typeface="Inter" pitchFamily="34" charset="-122"/>
              </a:rPr>
              <a:t>particulièrement</a:t>
            </a:r>
            <a:r>
              <a:rPr lang="en-US" sz="1600" b="1" dirty="0">
                <a:solidFill>
                  <a:srgbClr val="272525"/>
                </a:solidFill>
                <a:latin typeface="Inter" pitchFamily="34" charset="0"/>
                <a:ea typeface="Inter" pitchFamily="34" charset="-122"/>
              </a:rPr>
              <a:t> </a:t>
            </a:r>
            <a:r>
              <a:rPr lang="en-US" sz="1600" b="1" dirty="0" err="1">
                <a:solidFill>
                  <a:srgbClr val="272525"/>
                </a:solidFill>
                <a:latin typeface="Inter" pitchFamily="34" charset="0"/>
                <a:ea typeface="Inter" pitchFamily="34" charset="-122"/>
              </a:rPr>
              <a:t>touchées</a:t>
            </a:r>
            <a:r>
              <a:rPr lang="en-US" sz="1600" b="1" dirty="0">
                <a:solidFill>
                  <a:srgbClr val="272525"/>
                </a:solidFill>
                <a:latin typeface="Inter" pitchFamily="34" charset="0"/>
                <a:ea typeface="Inter" pitchFamily="34" charset="-122"/>
              </a:rPr>
              <a:t> par </a:t>
            </a:r>
            <a:r>
              <a:rPr lang="en-US" sz="1600" b="1" dirty="0" err="1">
                <a:solidFill>
                  <a:srgbClr val="272525"/>
                </a:solidFill>
                <a:latin typeface="Inter" pitchFamily="34" charset="0"/>
                <a:ea typeface="Inter" pitchFamily="34" charset="-122"/>
              </a:rPr>
              <a:t>l'insécurité</a:t>
            </a:r>
            <a:r>
              <a:rPr lang="en-US" sz="1600" b="1" dirty="0">
                <a:solidFill>
                  <a:srgbClr val="272525"/>
                </a:solidFill>
                <a:latin typeface="Inter" pitchFamily="34" charset="0"/>
                <a:ea typeface="Inter" pitchFamily="34" charset="-122"/>
              </a:rPr>
              <a:t>.</a:t>
            </a:r>
          </a:p>
          <a:p>
            <a:pPr marL="0" marR="0" lvl="0" indent="0" algn="l" defTabSz="914400" rtl="0" eaLnBrk="1" fontAlgn="auto" latinLnBrk="0" hangingPunct="1">
              <a:lnSpc>
                <a:spcPts val="2500"/>
              </a:lnSpc>
              <a:spcBef>
                <a:spcPts val="0"/>
              </a:spcBef>
              <a:spcAft>
                <a:spcPts val="0"/>
              </a:spcAft>
              <a:buClrTx/>
              <a:buSzPct val="100000"/>
              <a:buNone/>
              <a:tabLst/>
              <a:defRPr/>
            </a:pPr>
            <a:endParaRPr kumimoji="0" lang="fr-FR" sz="155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endParaRPr>
          </a:p>
        </p:txBody>
      </p:sp>
      <p:sp>
        <p:nvSpPr>
          <p:cNvPr id="8" name="Espace réservé du contenu 5">
            <a:extLst>
              <a:ext uri="{FF2B5EF4-FFF2-40B4-BE49-F238E27FC236}">
                <a16:creationId xmlns:a16="http://schemas.microsoft.com/office/drawing/2014/main" id="{9006633F-71C4-2BD9-4C5F-329DF590B080}"/>
              </a:ext>
            </a:extLst>
          </p:cNvPr>
          <p:cNvSpPr txBox="1">
            <a:spLocks/>
          </p:cNvSpPr>
          <p:nvPr/>
        </p:nvSpPr>
        <p:spPr>
          <a:xfrm>
            <a:off x="5443239" y="2676100"/>
            <a:ext cx="5908974" cy="3370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None/>
              <a:tabLst/>
              <a:defRPr/>
            </a:pPr>
            <a:endParaRPr lang="en-US" sz="1550" b="1" dirty="0">
              <a:solidFill>
                <a:srgbClr val="272525"/>
              </a:solidFill>
              <a:latin typeface="Inter" pitchFamily="34" charset="0"/>
              <a:ea typeface="Inter" pitchFamily="34" charset="-122"/>
            </a:endParaRPr>
          </a:p>
          <a:p>
            <a:pPr marL="0" marR="0" lvl="0" indent="0" algn="l" defTabSz="914400" rtl="0" eaLnBrk="1" fontAlgn="auto" latinLnBrk="0" hangingPunct="1">
              <a:lnSpc>
                <a:spcPts val="2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endParaRPr>
          </a:p>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Présence de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déplacés</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internes (IDPs)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hébergés</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dans les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familles</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d'accueil</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et dans des sites de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regroupement</a:t>
            </a:r>
            <a:r>
              <a:rPr lang="en-US" sz="1600" dirty="0">
                <a:solidFill>
                  <a:srgbClr val="272525"/>
                </a:solidFill>
                <a:latin typeface="Inter" pitchFamily="34" charset="0"/>
                <a:ea typeface="Inter" pitchFamily="34" charset="-122"/>
                <a:cs typeface="Inter" pitchFamily="34" charset="-120"/>
              </a:rPr>
              <a:t> </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a:t>
            </a:r>
            <a:endParaRPr lang="en-US" sz="1600" b="1" dirty="0">
              <a:solidFill>
                <a:srgbClr val="272525"/>
              </a:solidFill>
              <a:latin typeface="Inter" pitchFamily="34" charset="0"/>
              <a:ea typeface="Inter" pitchFamily="34" charset="-122"/>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Site de </a:t>
            </a:r>
            <a:r>
              <a:rPr kumimoji="0" lang="en-US" sz="160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regroupement</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NZAMU (AS Monaco) :</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132 ménages , </a:t>
            </a:r>
            <a:r>
              <a:rPr kumimoji="0" lang="fr-FR"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vivant dans la précarité sans latrines ni eau potable avec faible accès aux services de vaccination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000"/>
              </a:lnSpc>
              <a:spcBef>
                <a:spcPts val="0"/>
              </a:spcBef>
              <a:spcAft>
                <a:spcPts val="0"/>
              </a:spcAft>
              <a:buClrTx/>
              <a:buSzPct val="100000"/>
              <a:buNone/>
              <a:tabLst/>
              <a:defRPr/>
            </a:pPr>
            <a:endPar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Site </a:t>
            </a:r>
            <a:r>
              <a:rPr kumimoji="0" lang="en-US" sz="160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Regideso</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(AS </a:t>
            </a:r>
            <a:r>
              <a:rPr kumimoji="0" lang="en-US" sz="1600" b="1"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Mangengenge</a:t>
            </a:r>
            <a:r>
              <a:rPr kumimoji="0" lang="en-US" sz="1600" b="1"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a:t>
            </a:r>
          </a:p>
          <a:p>
            <a:pPr marL="0" marR="0" lvl="0" indent="0" algn="l" defTabSz="914400" rtl="0" eaLnBrk="1" fontAlgn="auto" latinLnBrk="0" hangingPunct="1">
              <a:lnSpc>
                <a:spcPts val="2000"/>
              </a:lnSpc>
              <a:spcBef>
                <a:spcPts val="0"/>
              </a:spcBef>
              <a:spcAft>
                <a:spcPts val="0"/>
              </a:spcAft>
              <a:buClrTx/>
              <a:buSzPct val="100000"/>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Les AS qui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abritent</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les IDPs :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Mangengenge</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Monaco,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Menkao</a:t>
            </a:r>
            <a:r>
              <a:rPr kumimoji="0" lang="en-US" sz="1600" b="0" i="0" u="none" strike="noStrike" kern="1200" cap="none" spc="0" normalizeH="0" baseline="0" noProof="0" dirty="0">
                <a:ln>
                  <a:noFill/>
                </a:ln>
                <a:solidFill>
                  <a:srgbClr val="272525"/>
                </a:solidFill>
                <a:effectLst/>
                <a:uLnTx/>
                <a:uFillTx/>
                <a:latin typeface="Inter" pitchFamily="34" charset="0"/>
                <a:ea typeface="Inter" pitchFamily="34" charset="-122"/>
                <a:cs typeface="Inter" pitchFamily="34" charset="-120"/>
              </a:rPr>
              <a:t>, Bita </a:t>
            </a:r>
            <a:r>
              <a:rPr kumimoji="0" lang="en-US" sz="1600" b="0" i="0" u="none" strike="noStrike" kern="1200" cap="none" spc="0" normalizeH="0" baseline="0" noProof="0" dirty="0" err="1">
                <a:ln>
                  <a:noFill/>
                </a:ln>
                <a:solidFill>
                  <a:srgbClr val="272525"/>
                </a:solidFill>
                <a:effectLst/>
                <a:uLnTx/>
                <a:uFillTx/>
                <a:latin typeface="Inter" pitchFamily="34" charset="0"/>
                <a:ea typeface="Inter" pitchFamily="34" charset="-122"/>
                <a:cs typeface="Inter" pitchFamily="34" charset="-120"/>
              </a:rPr>
              <a:t>centre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1">
            <a:extLst>
              <a:ext uri="{FF2B5EF4-FFF2-40B4-BE49-F238E27FC236}">
                <a16:creationId xmlns:a16="http://schemas.microsoft.com/office/drawing/2014/main" id="{32A0C530-87CE-F90D-FE0F-873C6F7F25B0}"/>
              </a:ext>
            </a:extLst>
          </p:cNvPr>
          <p:cNvSpPr/>
          <p:nvPr/>
        </p:nvSpPr>
        <p:spPr>
          <a:xfrm>
            <a:off x="836613" y="2012750"/>
            <a:ext cx="10401658" cy="563302"/>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Inter" pitchFamily="34" charset="0"/>
                <a:ea typeface="Inter" pitchFamily="34" charset="-122"/>
                <a:cs typeface="Inter" pitchFamily="34" charset="-120"/>
              </a:rPr>
              <a:t>L'insécurité due aux conflits ethniques (Teke contre Yaka / « Mubondo ») </a:t>
            </a:r>
            <a:r>
              <a:rPr lang="en-US" sz="1600" dirty="0" err="1">
                <a:solidFill>
                  <a:srgbClr val="272525"/>
                </a:solidFill>
                <a:latin typeface="Inter" pitchFamily="34" charset="0"/>
                <a:ea typeface="Inter" pitchFamily="34" charset="-122"/>
                <a:cs typeface="Inter" pitchFamily="34" charset="-120"/>
              </a:rPr>
              <a:t>affecte</a:t>
            </a:r>
            <a:r>
              <a:rPr lang="en-US" sz="1600" dirty="0">
                <a:solidFill>
                  <a:srgbClr val="272525"/>
                </a:solidFill>
                <a:latin typeface="Inter" pitchFamily="34" charset="0"/>
                <a:ea typeface="Inter" pitchFamily="34" charset="-122"/>
                <a:cs typeface="Inter" pitchFamily="34" charset="-120"/>
              </a:rPr>
              <a:t> </a:t>
            </a:r>
            <a:r>
              <a:rPr lang="en-US" sz="1600" dirty="0" err="1">
                <a:solidFill>
                  <a:srgbClr val="272525"/>
                </a:solidFill>
                <a:latin typeface="Inter" pitchFamily="34" charset="0"/>
                <a:ea typeface="Inter" pitchFamily="34" charset="-122"/>
                <a:cs typeface="Inter" pitchFamily="34" charset="-120"/>
              </a:rPr>
              <a:t>sévèrement</a:t>
            </a:r>
            <a:r>
              <a:rPr lang="en-US" sz="1600" dirty="0">
                <a:solidFill>
                  <a:srgbClr val="272525"/>
                </a:solidFill>
                <a:latin typeface="Inter" pitchFamily="34" charset="0"/>
                <a:ea typeface="Inter" pitchFamily="34" charset="-122"/>
                <a:cs typeface="Inter" pitchFamily="34" charset="-120"/>
              </a:rPr>
              <a:t> </a:t>
            </a:r>
            <a:r>
              <a:rPr lang="en-US" sz="1600" dirty="0" err="1">
                <a:solidFill>
                  <a:srgbClr val="272525"/>
                </a:solidFill>
                <a:latin typeface="Inter" pitchFamily="34" charset="0"/>
                <a:ea typeface="Inter" pitchFamily="34" charset="-122"/>
                <a:cs typeface="Inter" pitchFamily="34" charset="-120"/>
              </a:rPr>
              <a:t>plusieurs</a:t>
            </a:r>
            <a:r>
              <a:rPr lang="en-US" sz="1600" dirty="0">
                <a:solidFill>
                  <a:srgbClr val="272525"/>
                </a:solidFill>
                <a:latin typeface="Inter" pitchFamily="34" charset="0"/>
                <a:ea typeface="Inter" pitchFamily="34" charset="-122"/>
                <a:cs typeface="Inter" pitchFamily="34" charset="-120"/>
              </a:rPr>
              <a:t> AS, </a:t>
            </a:r>
            <a:r>
              <a:rPr lang="en-US" sz="1600" dirty="0" err="1">
                <a:solidFill>
                  <a:srgbClr val="272525"/>
                </a:solidFill>
                <a:latin typeface="Inter" pitchFamily="34" charset="0"/>
                <a:ea typeface="Inter" pitchFamily="34" charset="-122"/>
                <a:cs typeface="Inter" pitchFamily="34" charset="-120"/>
              </a:rPr>
              <a:t>rendant</a:t>
            </a:r>
            <a:r>
              <a:rPr lang="en-US" sz="1600" dirty="0">
                <a:solidFill>
                  <a:srgbClr val="272525"/>
                </a:solidFill>
                <a:latin typeface="Inter" pitchFamily="34" charset="0"/>
                <a:ea typeface="Inter" pitchFamily="34" charset="-122"/>
                <a:cs typeface="Inter" pitchFamily="34" charset="-120"/>
              </a:rPr>
              <a:t> difficile </a:t>
            </a:r>
          </a:p>
          <a:p>
            <a:pPr marL="0" indent="0" algn="l">
              <a:lnSpc>
                <a:spcPts val="2000"/>
              </a:lnSpc>
              <a:buNone/>
            </a:pPr>
            <a:r>
              <a:rPr lang="en-US" sz="1600" dirty="0" err="1">
                <a:solidFill>
                  <a:srgbClr val="272525"/>
                </a:solidFill>
                <a:latin typeface="Inter" pitchFamily="34" charset="0"/>
                <a:ea typeface="Inter" pitchFamily="34" charset="-122"/>
                <a:cs typeface="Inter" pitchFamily="34" charset="-120"/>
              </a:rPr>
              <a:t>l’accès</a:t>
            </a:r>
            <a:r>
              <a:rPr lang="en-US" sz="1600" dirty="0">
                <a:solidFill>
                  <a:srgbClr val="272525"/>
                </a:solidFill>
                <a:latin typeface="Inter" pitchFamily="34" charset="0"/>
                <a:ea typeface="Inter" pitchFamily="34" charset="-122"/>
                <a:cs typeface="Inter" pitchFamily="34" charset="-120"/>
              </a:rPr>
              <a:t> aux populations. </a:t>
            </a:r>
            <a:endParaRPr lang="en-US" sz="1600" dirty="0"/>
          </a:p>
        </p:txBody>
      </p:sp>
      <p:sp>
        <p:nvSpPr>
          <p:cNvPr id="14" name="Text 3">
            <a:extLst>
              <a:ext uri="{FF2B5EF4-FFF2-40B4-BE49-F238E27FC236}">
                <a16:creationId xmlns:a16="http://schemas.microsoft.com/office/drawing/2014/main" id="{558AD39F-A4AD-6A7F-DCBF-653C00178916}"/>
              </a:ext>
            </a:extLst>
          </p:cNvPr>
          <p:cNvSpPr/>
          <p:nvPr/>
        </p:nvSpPr>
        <p:spPr>
          <a:xfrm>
            <a:off x="1098252" y="2824808"/>
            <a:ext cx="2721908" cy="260140"/>
          </a:xfrm>
          <a:prstGeom prst="rect">
            <a:avLst/>
          </a:prstGeom>
          <a:solidFill>
            <a:schemeClr val="accent5">
              <a:lumMod val="40000"/>
              <a:lumOff val="60000"/>
            </a:schemeClr>
          </a:solidFill>
          <a:ln/>
        </p:spPr>
        <p:txBody>
          <a:bodyPr wrap="none" lIns="0" tIns="0" rIns="0" bIns="0" rtlCol="0" anchor="t"/>
          <a:lstStyle/>
          <a:p>
            <a:pPr marL="0" indent="0" algn="l">
              <a:lnSpc>
                <a:spcPts val="2050"/>
              </a:lnSpc>
              <a:buNone/>
            </a:pPr>
            <a:r>
              <a:rPr lang="en-US" sz="1650" b="1" dirty="0">
                <a:solidFill>
                  <a:srgbClr val="000000"/>
                </a:solidFill>
                <a:latin typeface="Petrona Bold" pitchFamily="34" charset="0"/>
                <a:ea typeface="Petrona Bold" pitchFamily="34" charset="-122"/>
                <a:cs typeface="Petrona Bold" pitchFamily="34" charset="-120"/>
              </a:rPr>
              <a:t>Aires de Santé </a:t>
            </a:r>
            <a:r>
              <a:rPr lang="en-US" sz="1650" b="1" dirty="0" err="1">
                <a:solidFill>
                  <a:srgbClr val="000000"/>
                </a:solidFill>
                <a:latin typeface="Petrona Bold" pitchFamily="34" charset="0"/>
                <a:ea typeface="Petrona Bold" pitchFamily="34" charset="-122"/>
                <a:cs typeface="Petrona Bold" pitchFamily="34" charset="-120"/>
              </a:rPr>
              <a:t>Affectées</a:t>
            </a:r>
            <a:r>
              <a:rPr lang="en-US" sz="1650" b="1" dirty="0">
                <a:solidFill>
                  <a:srgbClr val="000000"/>
                </a:solidFill>
                <a:latin typeface="Petrona Bold" pitchFamily="34" charset="0"/>
                <a:ea typeface="Petrona Bold" pitchFamily="34" charset="-122"/>
                <a:cs typeface="Petrona Bold" pitchFamily="34" charset="-120"/>
              </a:rPr>
              <a:t> :</a:t>
            </a:r>
            <a:endParaRPr lang="en-US" sz="1650" dirty="0"/>
          </a:p>
        </p:txBody>
      </p:sp>
      <p:sp>
        <p:nvSpPr>
          <p:cNvPr id="15" name="Text 5">
            <a:extLst>
              <a:ext uri="{FF2B5EF4-FFF2-40B4-BE49-F238E27FC236}">
                <a16:creationId xmlns:a16="http://schemas.microsoft.com/office/drawing/2014/main" id="{128E040A-16A3-D5BA-F114-FA5D30BEB4DA}"/>
              </a:ext>
            </a:extLst>
          </p:cNvPr>
          <p:cNvSpPr/>
          <p:nvPr/>
        </p:nvSpPr>
        <p:spPr>
          <a:xfrm>
            <a:off x="6510328" y="2824809"/>
            <a:ext cx="2369512" cy="260140"/>
          </a:xfrm>
          <a:prstGeom prst="rect">
            <a:avLst/>
          </a:prstGeom>
          <a:solidFill>
            <a:schemeClr val="accent5">
              <a:lumMod val="40000"/>
              <a:lumOff val="60000"/>
            </a:schemeClr>
          </a:solidFill>
          <a:ln/>
        </p:spPr>
        <p:txBody>
          <a:bodyPr wrap="none" lIns="0" tIns="0" rIns="0" bIns="0" rtlCol="0" anchor="t"/>
          <a:lstStyle/>
          <a:p>
            <a:pPr marL="0" indent="0" algn="l">
              <a:lnSpc>
                <a:spcPts val="2050"/>
              </a:lnSpc>
              <a:buNone/>
            </a:pPr>
            <a:r>
              <a:rPr lang="en-US" sz="1650" b="1" dirty="0">
                <a:solidFill>
                  <a:srgbClr val="000000"/>
                </a:solidFill>
                <a:latin typeface="Petrona Bold" pitchFamily="34" charset="0"/>
                <a:ea typeface="Petrona Bold" pitchFamily="34" charset="-122"/>
                <a:cs typeface="Petrona Bold" pitchFamily="34" charset="-120"/>
              </a:rPr>
              <a:t>Population </a:t>
            </a:r>
            <a:r>
              <a:rPr lang="en-US" sz="1650" b="1" dirty="0" err="1">
                <a:solidFill>
                  <a:srgbClr val="000000"/>
                </a:solidFill>
                <a:latin typeface="Petrona Bold" pitchFamily="34" charset="0"/>
                <a:ea typeface="Petrona Bold" pitchFamily="34" charset="-122"/>
                <a:cs typeface="Petrona Bold" pitchFamily="34" charset="-120"/>
              </a:rPr>
              <a:t>Déplacée</a:t>
            </a:r>
            <a:r>
              <a:rPr lang="en-US" sz="1650" b="1" dirty="0">
                <a:solidFill>
                  <a:srgbClr val="000000"/>
                </a:solidFill>
                <a:latin typeface="Petrona Bold" pitchFamily="34" charset="0"/>
                <a:ea typeface="Petrona Bold" pitchFamily="34" charset="-122"/>
                <a:cs typeface="Petrona Bold" pitchFamily="34" charset="-120"/>
              </a:rPr>
              <a:t> : </a:t>
            </a:r>
            <a:endParaRPr lang="en-US" sz="1650" dirty="0"/>
          </a:p>
        </p:txBody>
      </p:sp>
    </p:spTree>
    <p:extLst>
      <p:ext uri="{BB962C8B-B14F-4D97-AF65-F5344CB8AC3E}">
        <p14:creationId xmlns:p14="http://schemas.microsoft.com/office/powerpoint/2010/main" val="238113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5E601-4AE1-1686-68A8-0395B46B2D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BDA5DA3-D294-19D5-8432-293847A2A3D4}"/>
              </a:ext>
            </a:extLst>
          </p:cNvPr>
          <p:cNvSpPr>
            <a:spLocks noGrp="1"/>
          </p:cNvSpPr>
          <p:nvPr>
            <p:ph type="title"/>
          </p:nvPr>
        </p:nvSpPr>
        <p:spPr>
          <a:xfrm>
            <a:off x="838200" y="227474"/>
            <a:ext cx="10429568" cy="588603"/>
          </a:xfrm>
          <a:solidFill>
            <a:srgbClr val="002060"/>
          </a:solidFill>
        </p:spPr>
        <p:txBody>
          <a:bodyPr>
            <a:normAutofit fontScale="90000"/>
          </a:bodyPr>
          <a:lstStyle/>
          <a:p>
            <a:r>
              <a:rPr kumimoji="0" lang="en-US" sz="4100" b="1" i="0" u="none" strike="noStrike" kern="1200" cap="none" spc="0" normalizeH="0" baseline="0" noProof="0" dirty="0" err="1">
                <a:ln>
                  <a:noFill/>
                </a:ln>
                <a:solidFill>
                  <a:schemeClr val="bg1"/>
                </a:solidFill>
                <a:effectLst/>
                <a:uLnTx/>
                <a:uFillTx/>
                <a:latin typeface="Petrona Bold" pitchFamily="34" charset="0"/>
                <a:ea typeface="Petrona Bold" pitchFamily="34" charset="-122"/>
                <a:cs typeface="Petrona Bold" pitchFamily="34" charset="-120"/>
              </a:rPr>
              <a:t>Recommandations</a:t>
            </a:r>
            <a:endParaRPr lang="fr-FR" dirty="0">
              <a:solidFill>
                <a:schemeClr val="bg1"/>
              </a:solidFill>
            </a:endParaRPr>
          </a:p>
        </p:txBody>
      </p:sp>
      <p:sp>
        <p:nvSpPr>
          <p:cNvPr id="3" name="Espace réservé du contenu 2">
            <a:extLst>
              <a:ext uri="{FF2B5EF4-FFF2-40B4-BE49-F238E27FC236}">
                <a16:creationId xmlns:a16="http://schemas.microsoft.com/office/drawing/2014/main" id="{B6EB350B-EE8F-8D94-B1D6-CA313B9B9E6A}"/>
              </a:ext>
            </a:extLst>
          </p:cNvPr>
          <p:cNvSpPr>
            <a:spLocks noGrp="1"/>
          </p:cNvSpPr>
          <p:nvPr>
            <p:ph idx="1"/>
          </p:nvPr>
        </p:nvSpPr>
        <p:spPr>
          <a:xfrm>
            <a:off x="353961" y="1052051"/>
            <a:ext cx="11533239" cy="5368413"/>
          </a:xfrm>
        </p:spPr>
        <p:txBody>
          <a:bodyPr>
            <a:noAutofit/>
          </a:bodyPr>
          <a:lstStyle/>
          <a:p>
            <a:pPr marL="514350" indent="-514350">
              <a:lnSpc>
                <a:spcPct val="107000"/>
              </a:lnSpc>
              <a:buFont typeface="+mj-lt"/>
              <a:buAutoNum type="arabicPeriod"/>
            </a:pPr>
            <a:r>
              <a:rPr lang="fr-FR" sz="1800" b="1" dirty="0">
                <a:solidFill>
                  <a:srgbClr val="002060"/>
                </a:solidFill>
                <a:latin typeface="Inter" pitchFamily="34" charset="0"/>
                <a:ea typeface="Inter" pitchFamily="34" charset="-122"/>
              </a:rPr>
              <a:t>Diffuser une note circulaire instruisant les ECZS à accompagner les AS par une supervision mensuelle, à mettre en œuvre les stratégies mobiles et urbaines de vaccination, et à partager des rapports mensuels.</a:t>
            </a:r>
          </a:p>
          <a:p>
            <a:pPr marL="514350" indent="-514350">
              <a:lnSpc>
                <a:spcPct val="107000"/>
              </a:lnSpc>
              <a:buFont typeface="+mj-lt"/>
              <a:buAutoNum type="arabicPeriod"/>
            </a:pPr>
            <a:r>
              <a:rPr kumimoji="0" lang="fr-FR" sz="1800" b="1" i="0" u="none" strike="noStrike" kern="1200" cap="none" spc="0" normalizeH="0" baseline="0" noProof="0" dirty="0">
                <a:ln>
                  <a:noFill/>
                </a:ln>
                <a:solidFill>
                  <a:srgbClr val="002060"/>
                </a:solidFill>
                <a:effectLst/>
                <a:uLnTx/>
                <a:uFillTx/>
                <a:latin typeface="Inter" pitchFamily="34" charset="0"/>
                <a:ea typeface="Inter" pitchFamily="34" charset="-122"/>
                <a:cs typeface="+mn-cs"/>
              </a:rPr>
              <a:t>Multiplier les séances de vaccinations dans les AS à forte densité et </a:t>
            </a:r>
            <a:r>
              <a:rPr lang="fr-FR" sz="1800" b="1" dirty="0">
                <a:solidFill>
                  <a:srgbClr val="002060"/>
                </a:solidFill>
                <a:latin typeface="Inter" pitchFamily="34" charset="0"/>
                <a:ea typeface="Inter" pitchFamily="34" charset="-122"/>
              </a:rPr>
              <a:t>Planifier-les selon le poids démographique (Stratégies de vaccination, intégration des nouvelles structures dans les activités de vaccination etc.)</a:t>
            </a:r>
          </a:p>
          <a:p>
            <a:pPr marL="514350" lvl="0" indent="-514350">
              <a:lnSpc>
                <a:spcPct val="107000"/>
              </a:lnSpc>
              <a:buFont typeface="+mj-lt"/>
              <a:buAutoNum type="arabicPeriod"/>
            </a:pPr>
            <a:r>
              <a:rPr lang="fr-FR" sz="1800" b="1" dirty="0">
                <a:solidFill>
                  <a:srgbClr val="002060"/>
                </a:solidFill>
                <a:latin typeface="Inter" pitchFamily="34" charset="0"/>
                <a:ea typeface="Inter" pitchFamily="34" charset="-122"/>
              </a:rPr>
              <a:t>Organiser des séances de vaccination avancées pour améliorer l’accès aux services.</a:t>
            </a:r>
          </a:p>
          <a:p>
            <a:pPr marL="514350" lvl="0" indent="-514350">
              <a:lnSpc>
                <a:spcPct val="107000"/>
              </a:lnSpc>
              <a:buFont typeface="+mj-lt"/>
              <a:buAutoNum type="arabicPeriod"/>
            </a:pPr>
            <a:r>
              <a:rPr lang="fr-FR" sz="1800" b="1" dirty="0">
                <a:solidFill>
                  <a:srgbClr val="002060"/>
                </a:solidFill>
                <a:latin typeface="Inter" pitchFamily="34" charset="0"/>
                <a:ea typeface="Inter" pitchFamily="34" charset="-122"/>
              </a:rPr>
              <a:t>Renforcer l’approche intégratrice dans la réalisation des supervisions PEV en insistant sur l’implication du leadership du MCZ dans la résolution de certains problèmes </a:t>
            </a:r>
          </a:p>
          <a:p>
            <a:pPr marL="514350" lvl="0" indent="-514350">
              <a:lnSpc>
                <a:spcPct val="107000"/>
              </a:lnSpc>
              <a:buFont typeface="+mj-lt"/>
              <a:buAutoNum type="arabicPeriod"/>
            </a:pPr>
            <a:r>
              <a:rPr lang="fr-FR" sz="1800" b="1" dirty="0">
                <a:solidFill>
                  <a:srgbClr val="002060"/>
                </a:solidFill>
                <a:latin typeface="Inter" pitchFamily="34" charset="0"/>
                <a:ea typeface="Inter" pitchFamily="34" charset="-122"/>
              </a:rPr>
              <a:t>Élaborer et mettre en œuvre un plan de communication intégré PEV/routine (messages clés, leaders communautaires, médias, réseaux sociaux) pour réduire l’hésitation à la vaccination.</a:t>
            </a:r>
          </a:p>
          <a:p>
            <a:pPr marL="514350" lvl="0" indent="-514350">
              <a:lnSpc>
                <a:spcPct val="107000"/>
              </a:lnSpc>
              <a:buFont typeface="+mj-lt"/>
              <a:buAutoNum type="arabicPeriod"/>
            </a:pPr>
            <a:r>
              <a:rPr lang="fr-FR" sz="1800" b="1" dirty="0">
                <a:solidFill>
                  <a:srgbClr val="002060"/>
                </a:solidFill>
                <a:latin typeface="Inter" pitchFamily="34" charset="0"/>
                <a:ea typeface="Inter" pitchFamily="34" charset="-122"/>
              </a:rPr>
              <a:t>Au niveau du Site des déplacés internes NZAMU de la ZS </a:t>
            </a:r>
            <a:r>
              <a:rPr lang="fr-FR" sz="1800" b="1" dirty="0" err="1">
                <a:solidFill>
                  <a:srgbClr val="002060"/>
                </a:solidFill>
                <a:latin typeface="Inter" pitchFamily="34" charset="0"/>
                <a:ea typeface="Inter" pitchFamily="34" charset="-122"/>
              </a:rPr>
              <a:t>Maluku</a:t>
            </a:r>
            <a:r>
              <a:rPr lang="fr-FR" sz="1800" b="1" dirty="0">
                <a:solidFill>
                  <a:srgbClr val="002060"/>
                </a:solidFill>
                <a:latin typeface="Inter" pitchFamily="34" charset="0"/>
                <a:ea typeface="Inter" pitchFamily="34" charset="-122"/>
              </a:rPr>
              <a:t> 1 : </a:t>
            </a:r>
          </a:p>
          <a:p>
            <a:pPr lvl="1">
              <a:lnSpc>
                <a:spcPct val="107000"/>
              </a:lnSpc>
              <a:buFont typeface="Wingdings" panose="05000000000000000000" pitchFamily="2" charset="2"/>
              <a:buChar char="Ø"/>
            </a:pPr>
            <a:r>
              <a:rPr lang="fr-FR" sz="1800" b="1" dirty="0">
                <a:solidFill>
                  <a:srgbClr val="0070C0"/>
                </a:solidFill>
                <a:latin typeface="Inter" pitchFamily="34" charset="0"/>
                <a:ea typeface="Inter" pitchFamily="34" charset="-122"/>
              </a:rPr>
              <a:t>Appuyer la construction des latrines à travers le Bureau WASH de la DPS </a:t>
            </a:r>
          </a:p>
          <a:p>
            <a:pPr lvl="1">
              <a:lnSpc>
                <a:spcPct val="107000"/>
              </a:lnSpc>
              <a:buFont typeface="Wingdings" panose="05000000000000000000" pitchFamily="2" charset="2"/>
              <a:buChar char="Ø"/>
            </a:pPr>
            <a:r>
              <a:rPr lang="fr-FR" sz="1800" b="1" dirty="0">
                <a:solidFill>
                  <a:srgbClr val="0070C0"/>
                </a:solidFill>
                <a:latin typeface="Inter" pitchFamily="34" charset="0"/>
                <a:ea typeface="Inter" pitchFamily="34" charset="-122"/>
              </a:rPr>
              <a:t>S’assurer que les </a:t>
            </a:r>
            <a:r>
              <a:rPr lang="fr-FR" sz="1800" b="1" dirty="0" err="1">
                <a:solidFill>
                  <a:srgbClr val="0070C0"/>
                </a:solidFill>
                <a:latin typeface="Inter" pitchFamily="34" charset="0"/>
                <a:ea typeface="Inter" pitchFamily="34" charset="-122"/>
              </a:rPr>
              <a:t>IDPs</a:t>
            </a:r>
            <a:r>
              <a:rPr lang="fr-FR" sz="1800" b="1" dirty="0">
                <a:solidFill>
                  <a:srgbClr val="0070C0"/>
                </a:solidFill>
                <a:latin typeface="Inter" pitchFamily="34" charset="0"/>
                <a:ea typeface="Inter" pitchFamily="34" charset="-122"/>
              </a:rPr>
              <a:t> bénéficient d’une séance de vaccination en stratégie avancée chaque mois</a:t>
            </a:r>
          </a:p>
          <a:p>
            <a:pPr marL="0" lvl="0" indent="0">
              <a:lnSpc>
                <a:spcPct val="107000"/>
              </a:lnSpc>
              <a:buNone/>
            </a:pPr>
            <a:r>
              <a:rPr lang="fr-FR" sz="1800" b="1" dirty="0">
                <a:solidFill>
                  <a:srgbClr val="002060"/>
                </a:solidFill>
                <a:latin typeface="Inter" pitchFamily="34" charset="0"/>
                <a:ea typeface="Inter" pitchFamily="34" charset="-122"/>
              </a:rPr>
              <a:t>8. Désigner une FOSA de référence fonctionnelle pour l’AS </a:t>
            </a:r>
            <a:r>
              <a:rPr lang="fr-FR" sz="1800" b="1" dirty="0" err="1">
                <a:solidFill>
                  <a:srgbClr val="002060"/>
                </a:solidFill>
                <a:latin typeface="Inter" pitchFamily="34" charset="0"/>
                <a:ea typeface="Inter" pitchFamily="34" charset="-122"/>
              </a:rPr>
              <a:t>Makelele</a:t>
            </a:r>
            <a:r>
              <a:rPr lang="fr-FR" sz="1800" b="1" dirty="0">
                <a:solidFill>
                  <a:srgbClr val="002060"/>
                </a:solidFill>
                <a:latin typeface="Inter" pitchFamily="34" charset="0"/>
                <a:ea typeface="Inter" pitchFamily="34" charset="-122"/>
              </a:rPr>
              <a:t> (ZS </a:t>
            </a:r>
            <a:r>
              <a:rPr lang="fr-FR" sz="1800" b="1" dirty="0" err="1">
                <a:solidFill>
                  <a:srgbClr val="002060"/>
                </a:solidFill>
                <a:latin typeface="Inter" pitchFamily="34" charset="0"/>
                <a:ea typeface="Inter" pitchFamily="34" charset="-122"/>
              </a:rPr>
              <a:t>Bandalungwa</a:t>
            </a:r>
            <a:r>
              <a:rPr lang="fr-FR" sz="1800" b="1" dirty="0">
                <a:solidFill>
                  <a:srgbClr val="002060"/>
                </a:solidFill>
                <a:latin typeface="Inter" pitchFamily="34" charset="0"/>
                <a:ea typeface="Inter" pitchFamily="34" charset="-122"/>
              </a:rPr>
              <a:t>) et équiper le site.</a:t>
            </a:r>
          </a:p>
        </p:txBody>
      </p:sp>
    </p:spTree>
    <p:extLst>
      <p:ext uri="{BB962C8B-B14F-4D97-AF65-F5344CB8AC3E}">
        <p14:creationId xmlns:p14="http://schemas.microsoft.com/office/powerpoint/2010/main" val="2924491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DF1A0-5732-F54C-963A-7FBF2FEA0F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E1F53F-D5F4-879E-2D6D-6FCE7F54B27B}"/>
              </a:ext>
            </a:extLst>
          </p:cNvPr>
          <p:cNvSpPr>
            <a:spLocks noGrp="1"/>
          </p:cNvSpPr>
          <p:nvPr>
            <p:ph type="title"/>
          </p:nvPr>
        </p:nvSpPr>
        <p:spPr>
          <a:xfrm>
            <a:off x="838200" y="365126"/>
            <a:ext cx="10429568" cy="745920"/>
          </a:xfrm>
          <a:solidFill>
            <a:srgbClr val="002060"/>
          </a:solidFill>
        </p:spPr>
        <p:txBody>
          <a:bodyPr/>
          <a:lstStyle/>
          <a:p>
            <a:r>
              <a:rPr lang="en-US" sz="4100" b="1" dirty="0">
                <a:solidFill>
                  <a:schemeClr val="bg1"/>
                </a:solidFill>
                <a:latin typeface="Petrona Bold" pitchFamily="34" charset="0"/>
                <a:ea typeface="Petrona Bold" pitchFamily="34" charset="-122"/>
              </a:rPr>
              <a:t>Images </a:t>
            </a:r>
            <a:r>
              <a:rPr lang="en-US" sz="4100" b="1" dirty="0" err="1">
                <a:solidFill>
                  <a:schemeClr val="bg1"/>
                </a:solidFill>
                <a:latin typeface="Petrona Bold" pitchFamily="34" charset="0"/>
                <a:ea typeface="Petrona Bold" pitchFamily="34" charset="-122"/>
              </a:rPr>
              <a:t>illustratives</a:t>
            </a:r>
            <a:r>
              <a:rPr lang="en-US" sz="4100" b="1" dirty="0">
                <a:solidFill>
                  <a:schemeClr val="bg1"/>
                </a:solidFill>
                <a:latin typeface="Petrona Bold" pitchFamily="34" charset="0"/>
                <a:ea typeface="Petrona Bold" pitchFamily="34" charset="-122"/>
              </a:rPr>
              <a:t> de terrain</a:t>
            </a:r>
            <a:endParaRPr lang="fr-FR" dirty="0">
              <a:solidFill>
                <a:schemeClr val="bg1"/>
              </a:solidFill>
            </a:endParaRPr>
          </a:p>
        </p:txBody>
      </p:sp>
      <p:pic>
        <p:nvPicPr>
          <p:cNvPr id="5" name="Espace réservé du contenu 4">
            <a:extLst>
              <a:ext uri="{FF2B5EF4-FFF2-40B4-BE49-F238E27FC236}">
                <a16:creationId xmlns:a16="http://schemas.microsoft.com/office/drawing/2014/main" id="{2A4B38C3-631A-8E30-FCBD-BCF68164CF52}"/>
              </a:ext>
            </a:extLst>
          </p:cNvPr>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748668" y="1169886"/>
            <a:ext cx="3057201" cy="2360049"/>
          </a:xfrm>
        </p:spPr>
      </p:pic>
      <p:pic>
        <p:nvPicPr>
          <p:cNvPr id="7" name="Image 6">
            <a:extLst>
              <a:ext uri="{FF2B5EF4-FFF2-40B4-BE49-F238E27FC236}">
                <a16:creationId xmlns:a16="http://schemas.microsoft.com/office/drawing/2014/main" id="{9CCBAD98-E9B7-F0B1-966A-FDD998E48DC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48668" y="4215066"/>
            <a:ext cx="3037077" cy="2277808"/>
          </a:xfrm>
          <a:prstGeom prst="rect">
            <a:avLst/>
          </a:prstGeom>
        </p:spPr>
      </p:pic>
      <p:sp>
        <p:nvSpPr>
          <p:cNvPr id="13" name="Rectangle 12">
            <a:extLst>
              <a:ext uri="{FF2B5EF4-FFF2-40B4-BE49-F238E27FC236}">
                <a16:creationId xmlns:a16="http://schemas.microsoft.com/office/drawing/2014/main" id="{6B603AFC-A715-6697-925B-52B0B938B15F}"/>
              </a:ext>
            </a:extLst>
          </p:cNvPr>
          <p:cNvSpPr/>
          <p:nvPr/>
        </p:nvSpPr>
        <p:spPr>
          <a:xfrm>
            <a:off x="748669" y="3588775"/>
            <a:ext cx="3057200" cy="544050"/>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Supervision conjointe Antenne KIN-EST &amp; OMS dans les ZS NJILI et MALUKU 1 </a:t>
            </a:r>
          </a:p>
        </p:txBody>
      </p:sp>
      <p:pic>
        <p:nvPicPr>
          <p:cNvPr id="9" name="Image 8">
            <a:extLst>
              <a:ext uri="{FF2B5EF4-FFF2-40B4-BE49-F238E27FC236}">
                <a16:creationId xmlns:a16="http://schemas.microsoft.com/office/drawing/2014/main" id="{53ECED7F-1068-4179-5E89-AB23F1D4CE5A}"/>
              </a:ext>
            </a:extLst>
          </p:cNvPr>
          <p:cNvPicPr>
            <a:picLocks noChangeAspect="1"/>
          </p:cNvPicPr>
          <p:nvPr/>
        </p:nvPicPr>
        <p:blipFill>
          <a:blip r:embed="rId4"/>
          <a:stretch>
            <a:fillRect/>
          </a:stretch>
        </p:blipFill>
        <p:spPr>
          <a:xfrm>
            <a:off x="3948226" y="4297307"/>
            <a:ext cx="3365493" cy="2277808"/>
          </a:xfrm>
          <a:prstGeom prst="rect">
            <a:avLst/>
          </a:prstGeom>
        </p:spPr>
      </p:pic>
      <p:sp>
        <p:nvSpPr>
          <p:cNvPr id="10" name="Rectangle 9">
            <a:extLst>
              <a:ext uri="{FF2B5EF4-FFF2-40B4-BE49-F238E27FC236}">
                <a16:creationId xmlns:a16="http://schemas.microsoft.com/office/drawing/2014/main" id="{26F1E405-5052-B3F8-2523-B1F7CBF59706}"/>
              </a:ext>
            </a:extLst>
          </p:cNvPr>
          <p:cNvSpPr/>
          <p:nvPr/>
        </p:nvSpPr>
        <p:spPr>
          <a:xfrm>
            <a:off x="3948226" y="3671016"/>
            <a:ext cx="3057200" cy="544050"/>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Supervision conjointe Antenne KIN-CENTRE &amp; OMS dans les ZS KISENSO et LIMETE </a:t>
            </a:r>
          </a:p>
        </p:txBody>
      </p:sp>
      <p:sp>
        <p:nvSpPr>
          <p:cNvPr id="12" name="Rectangle 11">
            <a:extLst>
              <a:ext uri="{FF2B5EF4-FFF2-40B4-BE49-F238E27FC236}">
                <a16:creationId xmlns:a16="http://schemas.microsoft.com/office/drawing/2014/main" id="{BB32FEED-8B7C-6ABF-3CA8-165A29EA9643}"/>
              </a:ext>
            </a:extLst>
          </p:cNvPr>
          <p:cNvSpPr/>
          <p:nvPr/>
        </p:nvSpPr>
        <p:spPr>
          <a:xfrm>
            <a:off x="7639400" y="3671016"/>
            <a:ext cx="3716149" cy="544050"/>
          </a:xfrm>
          <a:prstGeom prst="rect">
            <a:avLst/>
          </a:prstGeom>
          <a:ln w="31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Supervision conjointe Antenne KIN-COUEST &amp; OMS dans les ZS BANDALUNGWA et MONTNGAFULA 1</a:t>
            </a:r>
          </a:p>
        </p:txBody>
      </p:sp>
      <p:pic>
        <p:nvPicPr>
          <p:cNvPr id="4" name="Image 3">
            <a:extLst>
              <a:ext uri="{FF2B5EF4-FFF2-40B4-BE49-F238E27FC236}">
                <a16:creationId xmlns:a16="http://schemas.microsoft.com/office/drawing/2014/main" id="{F6731F34-7B58-6776-81E8-5623FF2773F9}"/>
              </a:ext>
            </a:extLst>
          </p:cNvPr>
          <p:cNvPicPr>
            <a:picLocks noChangeAspect="1"/>
          </p:cNvPicPr>
          <p:nvPr/>
        </p:nvPicPr>
        <p:blipFill>
          <a:blip r:embed="rId5"/>
          <a:stretch>
            <a:fillRect/>
          </a:stretch>
        </p:blipFill>
        <p:spPr>
          <a:xfrm>
            <a:off x="3948226" y="1213741"/>
            <a:ext cx="3444240" cy="2354580"/>
          </a:xfrm>
          <a:prstGeom prst="rect">
            <a:avLst/>
          </a:prstGeom>
        </p:spPr>
      </p:pic>
      <p:pic>
        <p:nvPicPr>
          <p:cNvPr id="8" name="Image 7">
            <a:extLst>
              <a:ext uri="{FF2B5EF4-FFF2-40B4-BE49-F238E27FC236}">
                <a16:creationId xmlns:a16="http://schemas.microsoft.com/office/drawing/2014/main" id="{DC56C405-6617-AD3D-38EA-95C8AD1F6589}"/>
              </a:ext>
            </a:extLst>
          </p:cNvPr>
          <p:cNvPicPr>
            <a:picLocks noChangeAspect="1"/>
          </p:cNvPicPr>
          <p:nvPr/>
        </p:nvPicPr>
        <p:blipFill>
          <a:blip r:embed="rId6"/>
          <a:stretch>
            <a:fillRect/>
          </a:stretch>
        </p:blipFill>
        <p:spPr>
          <a:xfrm>
            <a:off x="7742740" y="1241782"/>
            <a:ext cx="3543300" cy="2362200"/>
          </a:xfrm>
          <a:prstGeom prst="rect">
            <a:avLst/>
          </a:prstGeom>
        </p:spPr>
      </p:pic>
      <p:pic>
        <p:nvPicPr>
          <p:cNvPr id="14" name="Image 13">
            <a:extLst>
              <a:ext uri="{FF2B5EF4-FFF2-40B4-BE49-F238E27FC236}">
                <a16:creationId xmlns:a16="http://schemas.microsoft.com/office/drawing/2014/main" id="{F8256391-8C9D-2B73-3902-6D6191086CAC}"/>
              </a:ext>
            </a:extLst>
          </p:cNvPr>
          <p:cNvPicPr>
            <a:picLocks noChangeAspect="1"/>
          </p:cNvPicPr>
          <p:nvPr/>
        </p:nvPicPr>
        <p:blipFill>
          <a:blip r:embed="rId7"/>
          <a:stretch>
            <a:fillRect/>
          </a:stretch>
        </p:blipFill>
        <p:spPr>
          <a:xfrm>
            <a:off x="7742740" y="4297307"/>
            <a:ext cx="3215640" cy="2407920"/>
          </a:xfrm>
          <a:prstGeom prst="rect">
            <a:avLst/>
          </a:prstGeom>
        </p:spPr>
      </p:pic>
    </p:spTree>
    <p:extLst>
      <p:ext uri="{BB962C8B-B14F-4D97-AF65-F5344CB8AC3E}">
        <p14:creationId xmlns:p14="http://schemas.microsoft.com/office/powerpoint/2010/main" val="427879126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1100</Words>
  <Application>Microsoft Office PowerPoint</Application>
  <PresentationFormat>Grand écran</PresentationFormat>
  <Paragraphs>104</Paragraphs>
  <Slides>11</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11</vt:i4>
      </vt:variant>
    </vt:vector>
  </HeadingPairs>
  <TitlesOfParts>
    <vt:vector size="19" baseType="lpstr">
      <vt:lpstr>Arial</vt:lpstr>
      <vt:lpstr>Calibri</vt:lpstr>
      <vt:lpstr>Calibri Light</vt:lpstr>
      <vt:lpstr>Inter</vt:lpstr>
      <vt:lpstr>Petrona Bold</vt:lpstr>
      <vt:lpstr>Symbol</vt:lpstr>
      <vt:lpstr>Wingdings</vt:lpstr>
      <vt:lpstr>Thème Office</vt:lpstr>
      <vt:lpstr>MISSION CONJOINTE DE  SUPERVISION SUR LE RENFORCEMENT DE LA VACCINATION DE ROUTINE</vt:lpstr>
      <vt:lpstr>Contenu</vt:lpstr>
      <vt:lpstr>Contexte de la Mission</vt:lpstr>
      <vt:lpstr>Objectifs de la Mission</vt:lpstr>
      <vt:lpstr>Déroulement de la Mission</vt:lpstr>
      <vt:lpstr>Points Forts Identifiés</vt:lpstr>
      <vt:lpstr>Défis Majeurs</vt:lpstr>
      <vt:lpstr>Défis Majeurs</vt:lpstr>
      <vt:lpstr>Défis Majeurs</vt:lpstr>
      <vt:lpstr>Recommandations</vt:lpstr>
      <vt:lpstr>Images illustratives de terrain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MISSION CONJOINTE DE  SUPERVISION SUR LE RENFORCEMENT DE LA VACCINATION DE ROUTINE</dc:title>
  <dc:creator>musimwafr@hotmail.com</dc:creator>
  <cp:lastModifiedBy>HP</cp:lastModifiedBy>
  <cp:revision>27</cp:revision>
  <dcterms:created xsi:type="dcterms:W3CDTF">2025-11-12T09:54:33Z</dcterms:created>
  <dcterms:modified xsi:type="dcterms:W3CDTF">2025-12-10T09:24:05Z</dcterms:modified>
</cp:coreProperties>
</file>