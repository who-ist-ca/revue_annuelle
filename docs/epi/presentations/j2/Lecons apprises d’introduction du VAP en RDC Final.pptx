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147481637" r:id="rId3"/>
    <p:sldId id="214748163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en-tête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3" name="Espace réservé à la date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*</a:t>
            </a:r>
          </a:p>
        </p:txBody>
      </p:sp>
      <p:sp>
        <p:nvSpPr>
          <p:cNvPr id="4" name="Espace réservé à l'image de la diapositive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  <a:p>
            <a:endParaRPr lang="en-US"/>
          </a:p>
        </p:txBody>
      </p:sp>
      <p:sp>
        <p:nvSpPr>
          <p:cNvPr id="5" name="Espace réservé aux notes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altLang="en-US"/>
              <a:t>Cliquez pour modifier les styles du texte principal</a:t>
            </a:r>
            <a:endParaRPr lang="en-US"/>
          </a:p>
          <a:p>
            <a:pPr lvl="1"/>
            <a:r>
              <a:rPr lang="fr-FR" altLang="en-US"/>
              <a:t>Deuxième niveau</a:t>
            </a:r>
            <a:endParaRPr lang="en-US"/>
          </a:p>
          <a:p>
            <a:pPr lvl="2"/>
            <a:r>
              <a:rPr lang="fr-FR" altLang="en-US"/>
              <a:t>Troisième niveau</a:t>
            </a:r>
            <a:endParaRPr lang="en-US"/>
          </a:p>
          <a:p>
            <a:pPr lvl="3"/>
            <a:r>
              <a:rPr lang="fr-FR" altLang="en-US"/>
              <a:t>Quatrième niveau</a:t>
            </a:r>
            <a:endParaRPr lang="en-US"/>
          </a:p>
          <a:p>
            <a:pPr lvl="4"/>
            <a:r>
              <a:rPr lang="fr-FR" altLang="en-US"/>
              <a:t>Cinquième niveau</a:t>
            </a:r>
            <a:endParaRPr lang="en-US"/>
          </a:p>
        </p:txBody>
      </p:sp>
      <p:sp>
        <p:nvSpPr>
          <p:cNvPr id="6" name="Espace réservé à la note de bas de page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7" name="Espace réservé au numéro de diapositive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69BDBC1-5A5D-4AB1-AC8A-A3A3ACA8EFD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CE5C26E-2E28-4BF5-8F57-6BEEE575A5F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478D895-8B75-42E8-A9E6-E0231763F3B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 noEditPoints="1"/>
          </p:cNvSpPr>
          <p:nvPr>
            <p:ph type="title"/>
          </p:nvPr>
        </p:nvSpPr>
        <p:spPr>
          <a:xfrm>
            <a:off x="415627" y="593367"/>
            <a:ext cx="1136155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endParaRPr/>
          </a:p>
        </p:txBody>
      </p:sp>
      <p:sp>
        <p:nvSpPr>
          <p:cNvPr id="60" name="Google Shape;60;p15"/>
          <p:cNvSpPr>
            <a:spLocks noGrp="1" noEditPoints="1"/>
          </p:cNvSpPr>
          <p:nvPr>
            <p:ph type="body" idx="1"/>
          </p:nvPr>
        </p:nvSpPr>
        <p:spPr>
          <a:xfrm>
            <a:off x="415627" y="1536633"/>
            <a:ext cx="1136155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609585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</a:lvl9pPr>
          </a:lstStyle>
          <a:p>
            <a:pPr lvl="0"/>
            <a:endParaRPr/>
          </a:p>
        </p:txBody>
      </p:sp>
      <p:sp>
        <p:nvSpPr>
          <p:cNvPr id="61" name="Google Shape;61;p15"/>
          <p:cNvSpPr>
            <a:spLocks noGrp="1" noEditPoints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t>‹N°›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7CBB7-620D-4054-93C8-73035290C974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7E3E6-C53C-48B2-A5CB-24A297064F09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Leçons</a:t>
            </a:r>
            <a:r>
              <a:rPr lang="fr-FR" dirty="0"/>
              <a:t> apprises d’introduction du VAP en RDC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>
            <a:off x="457200" y="94192"/>
            <a:ext cx="11430000" cy="436563"/>
          </a:xfrm>
        </p:spPr>
        <p:txBody>
          <a:bodyPr/>
          <a:lstStyle/>
          <a:p>
            <a:r>
              <a:rPr lang="fr-FR" sz="3200" b="1"/>
              <a:t>Leçons apprises </a:t>
            </a:r>
            <a:endParaRPr sz="3200" b="1"/>
          </a:p>
        </p:txBody>
      </p:sp>
      <p:sp>
        <p:nvSpPr>
          <p:cNvPr id="3" name="Espace réservé au contenu 2"/>
          <p:cNvSpPr>
            <a:spLocks noGrp="1" noEditPoints="1"/>
          </p:cNvSpPr>
          <p:nvPr>
            <p:ph idx="1"/>
          </p:nvPr>
        </p:nvSpPr>
        <p:spPr>
          <a:xfrm>
            <a:off x="457200" y="776289"/>
            <a:ext cx="11430000" cy="614944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Engagement politique et </a:t>
            </a:r>
            <a:r>
              <a:rPr sz="2000" b="1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communautaire</a:t>
            </a:r>
            <a:endParaRPr lang="fr-FR" sz="2000" b="1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algn="just"/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L'engagement au plus haut niveau du ministère de la santé (SEGE) dans le plaidoyer en faveur du VAP au KC a facilité d'adhésion des APA et les Leaders religieux dans l'appui à l'introduction du VAP (mobilisation communautaire et des ressources)</a:t>
            </a:r>
          </a:p>
          <a:p>
            <a:pPr marL="0" indent="0" algn="just">
              <a:buNone/>
            </a:pPr>
            <a:r>
              <a:rPr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Coordination </a:t>
            </a:r>
            <a:endParaRPr lang="fr-FR" sz="2000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algn="just"/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Le renforcement de la coordination de l'introduction du VAP piloté par le secrétariat général a permis une synergie entre le PNLP et le PEV et a contribué à maximiser l'atteinte des résultats attendus, </a:t>
            </a:r>
          </a:p>
          <a:p>
            <a:pPr algn="just"/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La forte implication des partenaires à tous les niveaux a permis de faire face à certains défis opérationnels d'ordre logistique et communicationnel, </a:t>
            </a:r>
          </a:p>
          <a:p>
            <a: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sz="2000" b="1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Préparation</a:t>
            </a:r>
            <a:r>
              <a:rPr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</a:t>
            </a:r>
            <a:r>
              <a:rPr sz="2000" b="1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logistique</a:t>
            </a:r>
            <a:endParaRPr lang="fr-FR" sz="2000" b="1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algn="just"/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La faible disponibilité du vaccin anti paludique a poussé à la sélection des zones de santé sur base des critères fixés ayant entrainé un problème d'équité dans le déploiement du VAP en RDC </a:t>
            </a:r>
          </a:p>
          <a:p>
            <a:pPr marL="0" indent="0">
              <a:buNone/>
            </a:pPr>
            <a:r>
              <a:rPr sz="2000" b="1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Suivi</a:t>
            </a:r>
            <a:r>
              <a:rPr sz="2000" b="1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et </a:t>
            </a:r>
            <a:r>
              <a:rPr sz="2000" b="1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évaluation</a:t>
            </a:r>
            <a:endParaRPr lang="fr-FR" sz="2000" b="1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000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L'utilisation</a:t>
            </a:r>
            <a:r>
              <a:rPr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du DHIS2 pour </a:t>
            </a:r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le </a:t>
            </a:r>
            <a:r>
              <a:rPr lang="fr-FR" sz="2000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VAP</a:t>
            </a:r>
            <a:r>
              <a:rPr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a </a:t>
            </a:r>
            <a:r>
              <a:rPr sz="2000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amélioré</a:t>
            </a:r>
            <a:r>
              <a:rPr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la gestion, la </a:t>
            </a:r>
            <a:r>
              <a:rPr sz="2000" dirty="0" err="1">
                <a:latin typeface="Arial Narrow" pitchFamily="34" charset="0"/>
                <a:ea typeface="Arial Narrow" pitchFamily="34" charset="0"/>
                <a:cs typeface="Arial Narrow" pitchFamily="34" charset="0"/>
              </a:rPr>
              <a:t>complétude</a:t>
            </a:r>
            <a:r>
              <a:rPr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 et la promptitude des données.</a:t>
            </a:r>
            <a:endParaRPr lang="fr-FR" sz="2000" dirty="0">
              <a:latin typeface="Arial Narrow" pitchFamily="34" charset="0"/>
              <a:ea typeface="Arial Narrow" pitchFamily="34" charset="0"/>
              <a:cs typeface="Arial Narrow" pitchFamily="34" charset="0"/>
            </a:endParaRPr>
          </a:p>
          <a:p>
            <a: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Arial Narrow" pitchFamily="34" charset="0"/>
                <a:ea typeface="Arial Narrow" pitchFamily="34" charset="0"/>
                <a:cs typeface="Arial Narrow" pitchFamily="34" charset="0"/>
              </a:rPr>
              <a:t>Le faible accompagnement des ZS (prestataires et ECZS) dans la collecte et rapportage des données a impacté négativement la qualité des données de vaccination anti paludique.</a:t>
            </a:r>
          </a:p>
          <a:p>
            <a:pPr marL="0" indent="0">
              <a:buNone/>
            </a:pPr>
            <a:endParaRPr lang="fr-FR" sz="1900" b="1" dirty="0"/>
          </a:p>
          <a:p>
            <a:pPr marL="0" indent="0" algn="just">
              <a:buNone/>
            </a:pPr>
            <a:endParaRPr lang="fr-FR" sz="2000" dirty="0"/>
          </a:p>
          <a:p>
            <a:pPr algn="just"/>
            <a:r>
              <a:rPr lang="fr-FR" sz="2000" dirty="0"/>
              <a:t> </a:t>
            </a:r>
            <a:r>
              <a:rPr lang="fr-FR" sz="2400" dirty="0"/>
              <a:t> </a:t>
            </a:r>
          </a:p>
          <a:p>
            <a:pPr algn="just"/>
            <a:endParaRPr lang="fr-FR" sz="2400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15628" y="162804"/>
            <a:ext cx="11602201" cy="955561"/>
          </a:xfrm>
        </p:spPr>
        <p:txBody>
          <a:bodyPr/>
          <a:lstStyle/>
          <a:p>
            <a:r>
              <a:rPr lang="fr-FR" sz="2133" b="1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IV</a:t>
            </a:r>
            <a:r>
              <a:rPr lang="fr-FR" sz="2133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. </a:t>
            </a:r>
            <a:r>
              <a:rPr lang="fr-FR" sz="2133" b="1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fr-FR" sz="2133" b="1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onnes pratiques</a:t>
            </a:r>
            <a:r>
              <a:rPr lang="fr-FR" sz="2133" b="1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133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903" y="1326533"/>
            <a:ext cx="5274197" cy="37548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20" tIns="60960" rIns="121920" bIns="60960" rtlCol="0" anchor="t">
            <a:spAutoFit/>
          </a:bodyPr>
          <a:lstStyle/>
          <a:p>
            <a:pPr marL="380990" lvl="2" indent="-380990">
              <a:lnSpc>
                <a:spcPct val="150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fr-FR" sz="1600" b="1" dirty="0"/>
              <a:t>Renforcement de la coordination multiprogrammes :  </a:t>
            </a:r>
            <a:r>
              <a:rPr lang="fr-FR" sz="1600" dirty="0"/>
              <a:t>Mise en place d’une coordination dédiée pour le VAP au niveau national avec </a:t>
            </a:r>
            <a:r>
              <a:rPr lang="fr-FR" sz="1600"/>
              <a:t>les deux </a:t>
            </a:r>
            <a:r>
              <a:rPr lang="fr-FR" sz="1600" dirty="0"/>
              <a:t>programmes impliqués (PEV et PNLP)</a:t>
            </a:r>
          </a:p>
          <a:p>
            <a:pPr marL="380990" lvl="2" indent="-380990">
              <a:lnSpc>
                <a:spcPct val="150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fr-FR" sz="1600" b="1" dirty="0"/>
              <a:t>Leadership et coordination</a:t>
            </a:r>
            <a:r>
              <a:rPr lang="fr-FR" sz="1600" dirty="0"/>
              <a:t> : Renforcement des capacités des équipes pour piloter les mécanismes de coordination et superviser les activités de suivi de préparatifs des nouveaux vaccins.</a:t>
            </a:r>
          </a:p>
          <a:p>
            <a:pPr marL="380990" indent="-380990" fontAlgn="t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fr-FR" sz="1600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7661" y="1323420"/>
            <a:ext cx="5778241" cy="40636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20" tIns="60960" rIns="121920" bIns="60960" rtlCol="0" anchor="t">
            <a:spAutoFit/>
          </a:bodyPr>
          <a:lstStyle/>
          <a:p>
            <a:pPr marL="380990" indent="-380990" fontAlgn="t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fr-FR" sz="1600" b="1" dirty="0"/>
              <a:t>Approche participative et cocréation : </a:t>
            </a:r>
            <a:r>
              <a:rPr lang="fr-FR" sz="1600" dirty="0"/>
              <a:t>Organisation et facilitation d'ateliers de cocréation de stratégies d'engagement communautaires avec les partenaires non-traditionnels de la vaccination et des acteurs locaux pour soutenir la demande.</a:t>
            </a:r>
            <a:endParaRPr lang="fr-FR" sz="1600" dirty="0">
              <a:cs typeface="Arial" panose="020B0604020202020204" pitchFamily="34" charset="0"/>
            </a:endParaRPr>
          </a:p>
          <a:p>
            <a:pPr marL="380990" indent="-380990" fontAlgn="t">
              <a:lnSpc>
                <a:spcPct val="2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fr-FR" sz="1600" b="1"/>
              <a:t>Compétences analytiques</a:t>
            </a:r>
            <a:r>
              <a:rPr lang="fr-FR" sz="1600"/>
              <a:t> : Formation et coaching sur l’évaluation de la qualité des données et l’utilisation des outils DHIS2 au niveau des antennes et ZS</a:t>
            </a:r>
            <a:endParaRPr lang="fr-FR" sz="1600">
              <a:cs typeface="Arial" panose="020B0604020202020204" pitchFamily="34" charset="0"/>
            </a:endParaRPr>
          </a:p>
          <a:p>
            <a:pPr marL="380990" indent="-380990" fontAlgn="t">
              <a:lnSpc>
                <a:spcPct val="2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fr-FR" sz="16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319</Words>
  <Application>Microsoft Office PowerPoint</Application>
  <PresentationFormat>Grand écran</PresentationFormat>
  <Paragraphs>23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Arial Narrow</vt:lpstr>
      <vt:lpstr>Calibri</vt:lpstr>
      <vt:lpstr>Times New Roman</vt:lpstr>
      <vt:lpstr>Office Theme</vt:lpstr>
      <vt:lpstr>Leçons apprises d’introduction du VAP en RDC</vt:lpstr>
      <vt:lpstr>Leçons apprises </vt:lpstr>
      <vt:lpstr>IV. Bonnes pratiques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Constant Kingongo</dc:creator>
  <cp:lastModifiedBy>Constant Phambu</cp:lastModifiedBy>
  <cp:revision>2</cp:revision>
  <dcterms:created xsi:type="dcterms:W3CDTF">2025-12-15T19:07:36Z</dcterms:created>
  <dcterms:modified xsi:type="dcterms:W3CDTF">2025-12-16T08:57:20Z</dcterms:modified>
</cp:coreProperties>
</file>