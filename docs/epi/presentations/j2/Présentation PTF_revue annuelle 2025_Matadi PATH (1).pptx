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7" r:id="rId2"/>
    <p:sldId id="258" r:id="rId3"/>
    <p:sldId id="260" r:id="rId4"/>
    <p:sldId id="270" r:id="rId5"/>
    <p:sldId id="294" r:id="rId6"/>
    <p:sldId id="282" r:id="rId7"/>
    <p:sldId id="295" r:id="rId8"/>
    <p:sldId id="277" r:id="rId9"/>
    <p:sldId id="275" r:id="rId10"/>
    <p:sldId id="289" r:id="rId11"/>
    <p:sldId id="272" r:id="rId12"/>
    <p:sldId id="296" r:id="rId13"/>
    <p:sldId id="293" r:id="rId14"/>
    <p:sldId id="279" r:id="rId15"/>
    <p:sldId id="265" r:id="rId16"/>
    <p:sldId id="287" r:id="rId17"/>
    <p:sldId id="286" r:id="rId18"/>
    <p:sldId id="280" r:id="rId19"/>
    <p:sldId id="268" r:id="rId20"/>
    <p:sldId id="290" r:id="rId21"/>
    <p:sldId id="284" r:id="rId22"/>
    <p:sldId id="269" r:id="rId23"/>
    <p:sldId id="263" r:id="rId24"/>
    <p:sldId id="267" r:id="rId2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C3E23E-14F1-936E-9965-5294B7658EE5}" name="Anne Boher" initials="AB" userId="7x3a6lbrnn6s+wa46K4IgxHXiw1S4rRdz5RxLI6MvHY=" providerId="None"/>
  <p188:author id="{AE6A7CBA-8826-C38C-B015-5D367B31F0D0}" name="Jennyfer Tamba Nkebani" initials="JN" userId="ji1Pq3uhdD1qYXvvzqrhHxiNrhEXSU/FWLOUrK2TMuQ=" providerId="None"/>
  <p188:author id="{C02C24BD-4266-7075-8077-988967774501}" name="Constant Kingongo" initials="CK" userId="Constant Kingongo" providerId="None"/>
  <p188:author id="{BC3DA1F3-1F5F-2E2D-D35E-47A15392483B}" name="Eugene Nsambu" initials="EN" userId="Eugene Nsambu"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CC0000"/>
    <a:srgbClr val="B2B2B2"/>
    <a:srgbClr val="202020"/>
    <a:srgbClr val="323232"/>
    <a:srgbClr val="CC33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59"/>
        <p:guide pos="386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fer Tamba Nkebani" userId="ji1Pq3uhdD1qYXvvzqrhHxiNrhEXSU/FWLOUrK2TMuQ=" providerId="None" clId="Web-{AC460E66-94FD-4491-9056-6C2FEEFDBA99}"/>
    <pc:docChg chg="mod modSld">
      <pc:chgData name="Jennyfer Tamba Nkebani" userId="ji1Pq3uhdD1qYXvvzqrhHxiNrhEXSU/FWLOUrK2TMuQ=" providerId="None" clId="Web-{AC460E66-94FD-4491-9056-6C2FEEFDBA99}" dt="2025-12-11T12:24:31.468" v="786"/>
      <pc:docMkLst>
        <pc:docMk/>
      </pc:docMkLst>
      <pc:sldChg chg="modSp">
        <pc:chgData name="Jennyfer Tamba Nkebani" userId="ji1Pq3uhdD1qYXvvzqrhHxiNrhEXSU/FWLOUrK2TMuQ=" providerId="None" clId="Web-{AC460E66-94FD-4491-9056-6C2FEEFDBA99}" dt="2025-12-11T12:09:11.419" v="749" actId="20577"/>
        <pc:sldMkLst>
          <pc:docMk/>
          <pc:sldMk cId="0" sldId="269"/>
        </pc:sldMkLst>
      </pc:sldChg>
      <pc:sldChg chg="modSp modCm">
        <pc:chgData name="Jennyfer Tamba Nkebani" userId="ji1Pq3uhdD1qYXvvzqrhHxiNrhEXSU/FWLOUrK2TMuQ=" providerId="None" clId="Web-{AC460E66-94FD-4491-9056-6C2FEEFDBA99}" dt="2025-12-11T12:24:31.468" v="786"/>
        <pc:sldMkLst>
          <pc:docMk/>
          <pc:sldMk cId="0" sldId="270"/>
        </pc:sldMkLst>
        <pc:graphicFrameChg chg="mod modGraphic">
          <ac:chgData name="Jennyfer Tamba Nkebani" userId="ji1Pq3uhdD1qYXvvzqrhHxiNrhEXSU/FWLOUrK2TMuQ=" providerId="None" clId="Web-{AC460E66-94FD-4491-9056-6C2FEEFDBA99}" dt="2025-12-11T12:24:31.468" v="786"/>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Jennyfer Tamba Nkebani" userId="ji1Pq3uhdD1qYXvvzqrhHxiNrhEXSU/FWLOUrK2TMuQ=" providerId="None" clId="Web-{AC460E66-94FD-4491-9056-6C2FEEFDBA99}" dt="2025-12-11T12:24:31.453" v="785"/>
              <pc2:cmMkLst xmlns:pc2="http://schemas.microsoft.com/office/powerpoint/2019/9/main/command">
                <pc:docMk/>
                <pc:sldMk cId="0" sldId="270"/>
                <pc2:cmMk id="{FEB561B9-59D5-471A-9993-81209B4364D5}"/>
              </pc2:cmMkLst>
            </pc226:cmChg>
          </p:ext>
        </pc:extLst>
      </pc:sldChg>
      <pc:sldChg chg="modSp">
        <pc:chgData name="Jennyfer Tamba Nkebani" userId="ji1Pq3uhdD1qYXvvzqrhHxiNrhEXSU/FWLOUrK2TMuQ=" providerId="None" clId="Web-{AC460E66-94FD-4491-9056-6C2FEEFDBA99}" dt="2025-12-11T11:44:13.479" v="718"/>
        <pc:sldMkLst>
          <pc:docMk/>
          <pc:sldMk cId="630262139" sldId="275"/>
        </pc:sldMkLst>
        <pc:graphicFrameChg chg="mod modGraphic">
          <ac:chgData name="Jennyfer Tamba Nkebani" userId="ji1Pq3uhdD1qYXvvzqrhHxiNrhEXSU/FWLOUrK2TMuQ=" providerId="None" clId="Web-{AC460E66-94FD-4491-9056-6C2FEEFDBA99}" dt="2025-12-11T11:44:13.479" v="718"/>
          <ac:graphicFrameMkLst>
            <pc:docMk/>
            <pc:sldMk cId="630262139" sldId="275"/>
            <ac:graphicFrameMk id="2" creationId="{C73981D3-4E32-8819-D3DD-71C9FC8FD0A6}"/>
          </ac:graphicFrameMkLst>
        </pc:graphicFrameChg>
      </pc:sldChg>
      <pc:sldChg chg="modSp">
        <pc:chgData name="Jennyfer Tamba Nkebani" userId="ji1Pq3uhdD1qYXvvzqrhHxiNrhEXSU/FWLOUrK2TMuQ=" providerId="None" clId="Web-{AC460E66-94FD-4491-9056-6C2FEEFDBA99}" dt="2025-12-11T11:45:35.377" v="721" actId="20577"/>
        <pc:sldMkLst>
          <pc:docMk/>
          <pc:sldMk cId="80651434" sldId="279"/>
        </pc:sldMkLst>
      </pc:sldChg>
      <pc:sldChg chg="modSp">
        <pc:chgData name="Jennyfer Tamba Nkebani" userId="ji1Pq3uhdD1qYXvvzqrhHxiNrhEXSU/FWLOUrK2TMuQ=" providerId="None" clId="Web-{AC460E66-94FD-4491-9056-6C2FEEFDBA99}" dt="2025-12-11T12:23:09.387" v="766" actId="20577"/>
        <pc:sldMkLst>
          <pc:docMk/>
          <pc:sldMk cId="3118767732" sldId="284"/>
        </pc:sldMkLst>
      </pc:sldChg>
      <pc:sldChg chg="modSp">
        <pc:chgData name="Jennyfer Tamba Nkebani" userId="ji1Pq3uhdD1qYXvvzqrhHxiNrhEXSU/FWLOUrK2TMuQ=" providerId="None" clId="Web-{AC460E66-94FD-4491-9056-6C2FEEFDBA99}" dt="2025-12-11T11:42:32.073" v="712" actId="20577"/>
        <pc:sldMkLst>
          <pc:docMk/>
          <pc:sldMk cId="2452682132" sldId="286"/>
        </pc:sldMkLst>
      </pc:sldChg>
    </pc:docChg>
  </pc:docChgLst>
  <pc:docChgLst>
    <pc:chgData name="Godefroid Mpanya" userId="i7v+s+VbZwR4SRL1qMOINMYb1YBXjQoWHnzlMunqnOs=" providerId="None" clId="Web-{CD53354F-F1D1-4670-9580-678EB315BACF}"/>
    <pc:docChg chg="modSld">
      <pc:chgData name="Godefroid Mpanya" userId="i7v+s+VbZwR4SRL1qMOINMYb1YBXjQoWHnzlMunqnOs=" providerId="None" clId="Web-{CD53354F-F1D1-4670-9580-678EB315BACF}" dt="2025-12-11T11:53:35.843" v="1034"/>
      <pc:docMkLst>
        <pc:docMk/>
      </pc:docMkLst>
      <pc:sldChg chg="modSp">
        <pc:chgData name="Godefroid Mpanya" userId="i7v+s+VbZwR4SRL1qMOINMYb1YBXjQoWHnzlMunqnOs=" providerId="None" clId="Web-{CD53354F-F1D1-4670-9580-678EB315BACF}" dt="2025-12-11T11:53:35.843" v="1034"/>
        <pc:sldMkLst>
          <pc:docMk/>
          <pc:sldMk cId="1150169659" sldId="280"/>
        </pc:sldMkLst>
        <pc:graphicFrameChg chg="mod modGraphic">
          <ac:chgData name="Godefroid Mpanya" userId="i7v+s+VbZwR4SRL1qMOINMYb1YBXjQoWHnzlMunqnOs=" providerId="None" clId="Web-{CD53354F-F1D1-4670-9580-678EB315BACF}" dt="2025-12-11T11:53:35.843" v="1034"/>
          <ac:graphicFrameMkLst>
            <pc:docMk/>
            <pc:sldMk cId="1150169659" sldId="280"/>
            <ac:graphicFrameMk id="2" creationId="{A0F0ED3E-C744-48D3-43F3-F123565B6B75}"/>
          </ac:graphicFrameMkLst>
        </pc:graphicFrameChg>
      </pc:sldChg>
      <pc:sldChg chg="modSp">
        <pc:chgData name="Godefroid Mpanya" userId="i7v+s+VbZwR4SRL1qMOINMYb1YBXjQoWHnzlMunqnOs=" providerId="None" clId="Web-{CD53354F-F1D1-4670-9580-678EB315BACF}" dt="2025-12-11T10:39:33.803" v="419"/>
        <pc:sldMkLst>
          <pc:docMk/>
          <pc:sldMk cId="3023329279" sldId="282"/>
        </pc:sldMkLst>
        <pc:graphicFrameChg chg="mod modGraphic">
          <ac:chgData name="Godefroid Mpanya" userId="i7v+s+VbZwR4SRL1qMOINMYb1YBXjQoWHnzlMunqnOs=" providerId="None" clId="Web-{CD53354F-F1D1-4670-9580-678EB315BACF}" dt="2025-12-11T10:39:33.803" v="419"/>
          <ac:graphicFrameMkLst>
            <pc:docMk/>
            <pc:sldMk cId="3023329279" sldId="282"/>
            <ac:graphicFrameMk id="2" creationId="{590A0B16-64FE-9C2C-CF43-F66135246D6A}"/>
          </ac:graphicFrameMkLst>
        </pc:graphicFrameChg>
      </pc:sldChg>
    </pc:docChg>
  </pc:docChgLst>
  <pc:docChgLst>
    <pc:chgData name="Eugene Nsambu" userId="3008886168_tp_box_2" providerId="OAuth2" clId="{8FEE5E99-91F0-48B2-9F2D-475DE6265F1A}"/>
    <pc:docChg chg="undo custSel addSld modSld sldOrd">
      <pc:chgData name="Eugene Nsambu" userId="3008886168_tp_box_2" providerId="OAuth2" clId="{8FEE5E99-91F0-48B2-9F2D-475DE6265F1A}" dt="2025-12-11T15:56:16.887" v="131" actId="207"/>
      <pc:docMkLst>
        <pc:docMk/>
      </pc:docMkLst>
      <pc:sldChg chg="modSp add mod">
        <pc:chgData name="Eugene Nsambu" userId="3008886168_tp_box_2" providerId="OAuth2" clId="{8FEE5E99-91F0-48B2-9F2D-475DE6265F1A}" dt="2025-12-11T15:52:40" v="130"/>
        <pc:sldMkLst>
          <pc:docMk/>
          <pc:sldMk cId="0" sldId="289"/>
        </pc:sldMkLst>
        <pc:graphicFrameChg chg="mod modGraphic">
          <ac:chgData name="Eugene Nsambu" userId="3008886168_tp_box_2" providerId="OAuth2" clId="{8FEE5E99-91F0-48B2-9F2D-475DE6265F1A}" dt="2025-12-11T15:52:40" v="130"/>
          <ac:graphicFrameMkLst>
            <pc:docMk/>
            <pc:sldMk cId="0" sldId="289"/>
            <ac:graphicFrameMk id="2" creationId="{00000000-0000-0000-0000-000000000000}"/>
          </ac:graphicFrameMkLst>
        </pc:graphicFrameChg>
      </pc:sldChg>
      <pc:sldChg chg="modSp add mod">
        <pc:chgData name="Eugene Nsambu" userId="3008886168_tp_box_2" providerId="OAuth2" clId="{8FEE5E99-91F0-48B2-9F2D-475DE6265F1A}" dt="2025-12-11T15:56:16.887" v="131" actId="207"/>
        <pc:sldMkLst>
          <pc:docMk/>
          <pc:sldMk cId="0" sldId="290"/>
        </pc:sldMkLst>
        <pc:spChg chg="mod">
          <ac:chgData name="Eugene Nsambu" userId="3008886168_tp_box_2" providerId="OAuth2" clId="{8FEE5E99-91F0-48B2-9F2D-475DE6265F1A}" dt="2025-12-11T14:07:47.854" v="34" actId="20577"/>
          <ac:spMkLst>
            <pc:docMk/>
            <pc:sldMk cId="0" sldId="290"/>
            <ac:spMk id="176" creationId="{00000000-0000-0000-0000-000000000000}"/>
          </ac:spMkLst>
        </pc:spChg>
      </pc:sldChg>
    </pc:docChg>
  </pc:docChgLst>
  <pc:docChgLst>
    <pc:chgData name="Djeneba Coulibaly" userId="3TJcTleEKvjVvhexbWsbR4CF4cbP0hc60lIRu+hJ9fg=" providerId="None" clId="Web-{34CE67CA-C975-4FB9-A496-E9A2BEEA8AEC}"/>
    <pc:docChg chg="modSld">
      <pc:chgData name="Djeneba Coulibaly" userId="3TJcTleEKvjVvhexbWsbR4CF4cbP0hc60lIRu+hJ9fg=" providerId="None" clId="Web-{34CE67CA-C975-4FB9-A496-E9A2BEEA8AEC}" dt="2025-12-12T16:21:30.958" v="0" actId="14100"/>
      <pc:docMkLst>
        <pc:docMk/>
      </pc:docMkLst>
      <pc:sldChg chg="modSp">
        <pc:chgData name="Djeneba Coulibaly" userId="3TJcTleEKvjVvhexbWsbR4CF4cbP0hc60lIRu+hJ9fg=" providerId="None" clId="Web-{34CE67CA-C975-4FB9-A496-E9A2BEEA8AEC}" dt="2025-12-12T16:21:30.958" v="0" actId="14100"/>
        <pc:sldMkLst>
          <pc:docMk/>
          <pc:sldMk cId="80651434" sldId="279"/>
        </pc:sldMkLst>
      </pc:sldChg>
    </pc:docChg>
  </pc:docChgLst>
  <pc:docChgLst>
    <pc:chgData name="Rock Bashizi" userId="33qYcwBjLwumvsa0TuLIu9JIgVcxc/oMUhMENC2jLfM=" providerId="None" clId="Web-{4A0661B9-BDB0-487B-B197-628D068A4D1B}"/>
    <pc:docChg chg="addSld modSld">
      <pc:chgData name="Rock Bashizi" userId="33qYcwBjLwumvsa0TuLIu9JIgVcxc/oMUhMENC2jLfM=" providerId="None" clId="Web-{4A0661B9-BDB0-487B-B197-628D068A4D1B}" dt="2025-12-10T14:06:22.293" v="1232"/>
      <pc:docMkLst>
        <pc:docMk/>
      </pc:docMkLst>
      <pc:sldChg chg="modSp">
        <pc:chgData name="Rock Bashizi" userId="33qYcwBjLwumvsa0TuLIu9JIgVcxc/oMUhMENC2jLfM=" providerId="None" clId="Web-{4A0661B9-BDB0-487B-B197-628D068A4D1B}" dt="2025-12-10T14:06:22.293" v="1232"/>
        <pc:sldMkLst>
          <pc:docMk/>
          <pc:sldMk cId="0" sldId="272"/>
        </pc:sldMkLst>
        <pc:graphicFrameChg chg="mod modGraphic">
          <ac:chgData name="Rock Bashizi" userId="33qYcwBjLwumvsa0TuLIu9JIgVcxc/oMUhMENC2jLfM=" providerId="None" clId="Web-{4A0661B9-BDB0-487B-B197-628D068A4D1B}" dt="2025-12-10T14:06:22.293" v="1232"/>
          <ac:graphicFrameMkLst>
            <pc:docMk/>
            <pc:sldMk cId="0" sldId="272"/>
            <ac:graphicFrameMk id="2" creationId="{00000000-0000-0000-0000-000000000000}"/>
          </ac:graphicFrameMkLst>
        </pc:graphicFrameChg>
      </pc:sldChg>
    </pc:docChg>
  </pc:docChgLst>
  <pc:docChgLst>
    <pc:chgData name="Constant Kingongo" userId="1872647373_tp_box_2" providerId="OAuth2" clId="{3A2AABDC-73D3-496B-A677-5F4E4A6D0AAC}"/>
    <pc:docChg chg="undo custSel addSld delSld modSld sldOrd">
      <pc:chgData name="Constant Kingongo" userId="1872647373_tp_box_2" providerId="OAuth2" clId="{3A2AABDC-73D3-496B-A677-5F4E4A6D0AAC}" dt="2025-12-16T08:47:52.872" v="8230" actId="20577"/>
      <pc:docMkLst>
        <pc:docMk/>
      </pc:docMkLst>
      <pc:sldChg chg="addSp delSp modSp mod">
        <pc:chgData name="Constant Kingongo" userId="1872647373_tp_box_2" providerId="OAuth2" clId="{3A2AABDC-73D3-496B-A677-5F4E4A6D0AAC}" dt="2025-12-11T08:57:01.024" v="1274" actId="1035"/>
        <pc:sldMkLst>
          <pc:docMk/>
          <pc:sldMk cId="0" sldId="257"/>
        </pc:sldMkLst>
        <pc:spChg chg="add del mod">
          <ac:chgData name="Constant Kingongo" userId="1872647373_tp_box_2" providerId="OAuth2" clId="{3A2AABDC-73D3-496B-A677-5F4E4A6D0AAC}" dt="2025-12-11T08:57:01.024" v="1274" actId="1035"/>
          <ac:spMkLst>
            <pc:docMk/>
            <pc:sldMk cId="0" sldId="257"/>
            <ac:spMk id="150" creationId="{00000000-0000-0000-0000-000000000000}"/>
          </ac:spMkLst>
        </pc:spChg>
      </pc:sldChg>
      <pc:sldChg chg="modSp mod">
        <pc:chgData name="Constant Kingongo" userId="1872647373_tp_box_2" providerId="OAuth2" clId="{3A2AABDC-73D3-496B-A677-5F4E4A6D0AAC}" dt="2025-12-12T10:09:34.732" v="6991" actId="13926"/>
        <pc:sldMkLst>
          <pc:docMk/>
          <pc:sldMk cId="0" sldId="258"/>
        </pc:sldMkLst>
        <pc:spChg chg="mod">
          <ac:chgData name="Constant Kingongo" userId="1872647373_tp_box_2" providerId="OAuth2" clId="{3A2AABDC-73D3-496B-A677-5F4E4A6D0AAC}" dt="2025-12-12T10:09:34.732" v="6991" actId="13926"/>
          <ac:spMkLst>
            <pc:docMk/>
            <pc:sldMk cId="0" sldId="258"/>
            <ac:spMk id="160" creationId="{00000000-0000-0000-0000-000000000000}"/>
          </ac:spMkLst>
        </pc:spChg>
      </pc:sldChg>
      <pc:sldChg chg="addSp delSp modSp mod">
        <pc:chgData name="Constant Kingongo" userId="1872647373_tp_box_2" providerId="OAuth2" clId="{3A2AABDC-73D3-496B-A677-5F4E4A6D0AAC}" dt="2025-12-12T16:19:36.437" v="8118" actId="164"/>
        <pc:sldMkLst>
          <pc:docMk/>
          <pc:sldMk cId="0" sldId="260"/>
        </pc:sldMkLst>
        <pc:spChg chg="mod">
          <ac:chgData name="Constant Kingongo" userId="1872647373_tp_box_2" providerId="OAuth2" clId="{3A2AABDC-73D3-496B-A677-5F4E4A6D0AAC}" dt="2025-12-11T08:29:13.159" v="1038" actId="13926"/>
          <ac:spMkLst>
            <pc:docMk/>
            <pc:sldMk cId="0" sldId="260"/>
            <ac:spMk id="2" creationId="{00000000-0000-0000-0000-000000000000}"/>
          </ac:spMkLst>
        </pc:spChg>
        <pc:spChg chg="add mod">
          <ac:chgData name="Constant Kingongo" userId="1872647373_tp_box_2" providerId="OAuth2" clId="{3A2AABDC-73D3-496B-A677-5F4E4A6D0AAC}" dt="2025-12-12T16:16:15.564" v="8069" actId="164"/>
          <ac:spMkLst>
            <pc:docMk/>
            <pc:sldMk cId="0" sldId="260"/>
            <ac:spMk id="29" creationId="{E41DA7EE-B0BD-9B08-0E33-6F438B69AC3E}"/>
          </ac:spMkLst>
        </pc:spChg>
        <pc:spChg chg="add mod">
          <ac:chgData name="Constant Kingongo" userId="1872647373_tp_box_2" providerId="OAuth2" clId="{3A2AABDC-73D3-496B-A677-5F4E4A6D0AAC}" dt="2025-12-12T16:16:15.564" v="8069" actId="164"/>
          <ac:spMkLst>
            <pc:docMk/>
            <pc:sldMk cId="0" sldId="260"/>
            <ac:spMk id="30" creationId="{D6A9F650-D668-77F0-ABE8-D0858F36E0AE}"/>
          </ac:spMkLst>
        </pc:spChg>
        <pc:spChg chg="add mod">
          <ac:chgData name="Constant Kingongo" userId="1872647373_tp_box_2" providerId="OAuth2" clId="{3A2AABDC-73D3-496B-A677-5F4E4A6D0AAC}" dt="2025-12-12T16:16:15.564" v="8069" actId="164"/>
          <ac:spMkLst>
            <pc:docMk/>
            <pc:sldMk cId="0" sldId="260"/>
            <ac:spMk id="31" creationId="{747AC0BB-5FA7-ECEF-474E-5265C9104DED}"/>
          </ac:spMkLst>
        </pc:spChg>
        <pc:spChg chg="add mod">
          <ac:chgData name="Constant Kingongo" userId="1872647373_tp_box_2" providerId="OAuth2" clId="{3A2AABDC-73D3-496B-A677-5F4E4A6D0AAC}" dt="2025-12-12T16:16:15.564" v="8069" actId="164"/>
          <ac:spMkLst>
            <pc:docMk/>
            <pc:sldMk cId="0" sldId="260"/>
            <ac:spMk id="32" creationId="{F7161875-5297-94A8-25BB-456D0778A511}"/>
          </ac:spMkLst>
        </pc:spChg>
        <pc:spChg chg="add mod">
          <ac:chgData name="Constant Kingongo" userId="1872647373_tp_box_2" providerId="OAuth2" clId="{3A2AABDC-73D3-496B-A677-5F4E4A6D0AAC}" dt="2025-12-12T16:16:15.564" v="8069" actId="164"/>
          <ac:spMkLst>
            <pc:docMk/>
            <pc:sldMk cId="0" sldId="260"/>
            <ac:spMk id="33" creationId="{7575E0BC-8BBB-C007-592A-89A0B14AD207}"/>
          </ac:spMkLst>
        </pc:spChg>
        <pc:spChg chg="add mod">
          <ac:chgData name="Constant Kingongo" userId="1872647373_tp_box_2" providerId="OAuth2" clId="{3A2AABDC-73D3-496B-A677-5F4E4A6D0AAC}" dt="2025-12-12T16:16:15.564" v="8069" actId="164"/>
          <ac:spMkLst>
            <pc:docMk/>
            <pc:sldMk cId="0" sldId="260"/>
            <ac:spMk id="34" creationId="{AE44322F-3A45-9995-64D8-7FF7B9E1BE37}"/>
          </ac:spMkLst>
        </pc:spChg>
        <pc:spChg chg="add mod">
          <ac:chgData name="Constant Kingongo" userId="1872647373_tp_box_2" providerId="OAuth2" clId="{3A2AABDC-73D3-496B-A677-5F4E4A6D0AAC}" dt="2025-12-12T16:16:29.413" v="8072" actId="164"/>
          <ac:spMkLst>
            <pc:docMk/>
            <pc:sldMk cId="0" sldId="260"/>
            <ac:spMk id="35" creationId="{464D8B08-BE2B-3CDA-CB5A-91EF98530445}"/>
          </ac:spMkLst>
        </pc:spChg>
        <pc:spChg chg="add mod">
          <ac:chgData name="Constant Kingongo" userId="1872647373_tp_box_2" providerId="OAuth2" clId="{3A2AABDC-73D3-496B-A677-5F4E4A6D0AAC}" dt="2025-12-12T16:17:57.511" v="8114" actId="207"/>
          <ac:spMkLst>
            <pc:docMk/>
            <pc:sldMk cId="0" sldId="260"/>
            <ac:spMk id="38" creationId="{85506AA0-BAC0-82D2-5107-1EDF3A5E9DAD}"/>
          </ac:spMkLst>
        </pc:spChg>
        <pc:spChg chg="add mod">
          <ac:chgData name="Constant Kingongo" userId="1872647373_tp_box_2" providerId="OAuth2" clId="{3A2AABDC-73D3-496B-A677-5F4E4A6D0AAC}" dt="2025-12-12T16:19:36.437" v="8118" actId="164"/>
          <ac:spMkLst>
            <pc:docMk/>
            <pc:sldMk cId="0" sldId="260"/>
            <ac:spMk id="40" creationId="{99BE9454-929D-18FF-8512-86CECD6B2092}"/>
          </ac:spMkLst>
        </pc:spChg>
        <pc:spChg chg="mod">
          <ac:chgData name="Constant Kingongo" userId="1872647373_tp_box_2" providerId="OAuth2" clId="{3A2AABDC-73D3-496B-A677-5F4E4A6D0AAC}" dt="2025-12-12T07:39:51.722" v="5229" actId="20577"/>
          <ac:spMkLst>
            <pc:docMk/>
            <pc:sldMk cId="0" sldId="260"/>
            <ac:spMk id="176" creationId="{00000000-0000-0000-0000-000000000000}"/>
          </ac:spMkLst>
        </pc:spChg>
        <pc:grpChg chg="add mod">
          <ac:chgData name="Constant Kingongo" userId="1872647373_tp_box_2" providerId="OAuth2" clId="{3A2AABDC-73D3-496B-A677-5F4E4A6D0AAC}" dt="2025-12-12T16:16:15.564" v="8069" actId="164"/>
          <ac:grpSpMkLst>
            <pc:docMk/>
            <pc:sldMk cId="0" sldId="260"/>
            <ac:grpSpMk id="28" creationId="{D6BB8B8D-6AE1-4784-3992-D3DFA1237ABA}"/>
          </ac:grpSpMkLst>
        </pc:grpChg>
        <pc:grpChg chg="add mod">
          <ac:chgData name="Constant Kingongo" userId="1872647373_tp_box_2" providerId="OAuth2" clId="{3A2AABDC-73D3-496B-A677-5F4E4A6D0AAC}" dt="2025-12-12T16:16:29.413" v="8072" actId="164"/>
          <ac:grpSpMkLst>
            <pc:docMk/>
            <pc:sldMk cId="0" sldId="260"/>
            <ac:grpSpMk id="36" creationId="{6671159A-83D8-366B-AD23-8679051485B1}"/>
          </ac:grpSpMkLst>
        </pc:grpChg>
        <pc:grpChg chg="add mod">
          <ac:chgData name="Constant Kingongo" userId="1872647373_tp_box_2" providerId="OAuth2" clId="{3A2AABDC-73D3-496B-A677-5F4E4A6D0AAC}" dt="2025-12-12T16:17:38.135" v="8113" actId="164"/>
          <ac:grpSpMkLst>
            <pc:docMk/>
            <pc:sldMk cId="0" sldId="260"/>
            <ac:grpSpMk id="37" creationId="{9DE3CE4C-1630-3CDD-07D6-E939D8D178AE}"/>
          </ac:grpSpMkLst>
        </pc:grpChg>
        <pc:grpChg chg="add mod">
          <ac:chgData name="Constant Kingongo" userId="1872647373_tp_box_2" providerId="OAuth2" clId="{3A2AABDC-73D3-496B-A677-5F4E4A6D0AAC}" dt="2025-12-12T16:19:36.437" v="8118" actId="164"/>
          <ac:grpSpMkLst>
            <pc:docMk/>
            <pc:sldMk cId="0" sldId="260"/>
            <ac:grpSpMk id="39" creationId="{D5804777-0482-3121-D30F-49C4D0522A36}"/>
          </ac:grpSpMkLst>
        </pc:grpChg>
        <pc:grpChg chg="add mod">
          <ac:chgData name="Constant Kingongo" userId="1872647373_tp_box_2" providerId="OAuth2" clId="{3A2AABDC-73D3-496B-A677-5F4E4A6D0AAC}" dt="2025-12-12T16:19:36.437" v="8118" actId="164"/>
          <ac:grpSpMkLst>
            <pc:docMk/>
            <pc:sldMk cId="0" sldId="260"/>
            <ac:grpSpMk id="41" creationId="{AC03009F-BB22-5159-7332-62FDD7A5C7DA}"/>
          </ac:grpSpMkLst>
        </pc:grpChg>
        <pc:picChg chg="add mod modCrop">
          <ac:chgData name="Constant Kingongo" userId="1872647373_tp_box_2" providerId="OAuth2" clId="{3A2AABDC-73D3-496B-A677-5F4E4A6D0AAC}" dt="2025-12-12T16:11:31.259" v="8049" actId="164"/>
          <ac:picMkLst>
            <pc:docMk/>
            <pc:sldMk cId="0" sldId="260"/>
            <ac:picMk id="25" creationId="{028019A0-C45E-6B51-295A-343C40BC97E1}"/>
          </ac:picMkLst>
        </pc:picChg>
        <pc:picChg chg="add mod modCrop">
          <ac:chgData name="Constant Kingongo" userId="1872647373_tp_box_2" providerId="OAuth2" clId="{3A2AABDC-73D3-496B-A677-5F4E4A6D0AAC}" dt="2025-12-12T16:11:31.259" v="8049" actId="164"/>
          <ac:picMkLst>
            <pc:docMk/>
            <pc:sldMk cId="0" sldId="260"/>
            <ac:picMk id="27" creationId="{BD5A643F-77A0-DB85-A03F-A448785C6AA6}"/>
          </ac:picMkLst>
        </pc:picChg>
      </pc:sldChg>
      <pc:sldChg chg="modSp mod ord">
        <pc:chgData name="Constant Kingongo" userId="1872647373_tp_box_2" providerId="OAuth2" clId="{3A2AABDC-73D3-496B-A677-5F4E4A6D0AAC}" dt="2025-12-12T09:43:27.436" v="6668"/>
        <pc:sldMkLst>
          <pc:docMk/>
          <pc:sldMk cId="0" sldId="263"/>
        </pc:sldMkLst>
        <pc:spChg chg="mod">
          <ac:chgData name="Constant Kingongo" userId="1872647373_tp_box_2" providerId="OAuth2" clId="{3A2AABDC-73D3-496B-A677-5F4E4A6D0AAC}" dt="2025-12-10T12:20:56.803" v="1030" actId="1076"/>
          <ac:spMkLst>
            <pc:docMk/>
            <pc:sldMk cId="0" sldId="263"/>
            <ac:spMk id="176" creationId="{00000000-0000-0000-0000-000000000000}"/>
          </ac:spMkLst>
        </pc:spChg>
        <pc:graphicFrameChg chg="mod modGraphic">
          <ac:chgData name="Constant Kingongo" userId="1872647373_tp_box_2" providerId="OAuth2" clId="{3A2AABDC-73D3-496B-A677-5F4E4A6D0AAC}" dt="2025-12-12T09:40:03.307" v="6658" actId="20577"/>
          <ac:graphicFrameMkLst>
            <pc:docMk/>
            <pc:sldMk cId="0" sldId="263"/>
            <ac:graphicFrameMk id="2" creationId="{00000000-0000-0000-0000-000000000000}"/>
          </ac:graphicFrameMkLst>
        </pc:graphicFrameChg>
      </pc:sldChg>
      <pc:sldChg chg="addSp delSp modSp mod ord">
        <pc:chgData name="Constant Kingongo" userId="1872647373_tp_box_2" providerId="OAuth2" clId="{3A2AABDC-73D3-496B-A677-5F4E4A6D0AAC}" dt="2025-12-12T16:37:57.003" v="8223" actId="207"/>
        <pc:sldMkLst>
          <pc:docMk/>
          <pc:sldMk cId="0" sldId="265"/>
        </pc:sldMkLst>
        <pc:spChg chg="add mod">
          <ac:chgData name="Constant Kingongo" userId="1872647373_tp_box_2" providerId="OAuth2" clId="{3A2AABDC-73D3-496B-A677-5F4E4A6D0AAC}" dt="2025-12-12T16:37:57.003" v="8223" actId="207"/>
          <ac:spMkLst>
            <pc:docMk/>
            <pc:sldMk cId="0" sldId="265"/>
            <ac:spMk id="2" creationId="{800C1A88-375F-A377-613E-F3B1184FC759}"/>
          </ac:spMkLst>
        </pc:spChg>
        <pc:spChg chg="mod">
          <ac:chgData name="Constant Kingongo" userId="1872647373_tp_box_2" providerId="OAuth2" clId="{3A2AABDC-73D3-496B-A677-5F4E4A6D0AAC}" dt="2025-12-12T16:35:05.875" v="8196" actId="20577"/>
          <ac:spMkLst>
            <pc:docMk/>
            <pc:sldMk cId="0" sldId="265"/>
            <ac:spMk id="176" creationId="{00000000-0000-0000-0000-000000000000}"/>
          </ac:spMkLst>
        </pc:spChg>
      </pc:sldChg>
      <pc:sldChg chg="addSp delSp modSp mod">
        <pc:chgData name="Constant Kingongo" userId="1872647373_tp_box_2" providerId="OAuth2" clId="{3A2AABDC-73D3-496B-A677-5F4E4A6D0AAC}" dt="2025-12-12T16:36:53.010" v="8215" actId="403"/>
        <pc:sldMkLst>
          <pc:docMk/>
          <pc:sldMk cId="0" sldId="268"/>
        </pc:sldMkLst>
        <pc:spChg chg="add mod">
          <ac:chgData name="Constant Kingongo" userId="1872647373_tp_box_2" providerId="OAuth2" clId="{3A2AABDC-73D3-496B-A677-5F4E4A6D0AAC}" dt="2025-12-12T16:36:53.010" v="8215" actId="403"/>
          <ac:spMkLst>
            <pc:docMk/>
            <pc:sldMk cId="0" sldId="268"/>
            <ac:spMk id="2" creationId="{3E7CB57C-0E54-579F-6396-2F40A8B24BE1}"/>
          </ac:spMkLst>
        </pc:spChg>
        <pc:spChg chg="mod">
          <ac:chgData name="Constant Kingongo" userId="1872647373_tp_box_2" providerId="OAuth2" clId="{3A2AABDC-73D3-496B-A677-5F4E4A6D0AAC}" dt="2025-12-12T12:44:36.838" v="7610" actId="20577"/>
          <ac:spMkLst>
            <pc:docMk/>
            <pc:sldMk cId="0" sldId="268"/>
            <ac:spMk id="176" creationId="{00000000-0000-0000-0000-000000000000}"/>
          </ac:spMkLst>
        </pc:spChg>
      </pc:sldChg>
      <pc:sldChg chg="addSp delSp modSp mod">
        <pc:chgData name="Constant Kingongo" userId="1872647373_tp_box_2" providerId="OAuth2" clId="{3A2AABDC-73D3-496B-A677-5F4E4A6D0AAC}" dt="2025-12-12T16:37:36.736" v="8222" actId="403"/>
        <pc:sldMkLst>
          <pc:docMk/>
          <pc:sldMk cId="0" sldId="269"/>
        </pc:sldMkLst>
        <pc:spChg chg="add mod">
          <ac:chgData name="Constant Kingongo" userId="1872647373_tp_box_2" providerId="OAuth2" clId="{3A2AABDC-73D3-496B-A677-5F4E4A6D0AAC}" dt="2025-12-12T16:37:36.736" v="8222" actId="403"/>
          <ac:spMkLst>
            <pc:docMk/>
            <pc:sldMk cId="0" sldId="269"/>
            <ac:spMk id="2" creationId="{A26E340F-102F-C644-1F3D-2EA08152A8CC}"/>
          </ac:spMkLst>
        </pc:spChg>
        <pc:spChg chg="mod">
          <ac:chgData name="Constant Kingongo" userId="1872647373_tp_box_2" providerId="OAuth2" clId="{3A2AABDC-73D3-496B-A677-5F4E4A6D0AAC}" dt="2025-12-12T10:00:05.031" v="6867" actId="20577"/>
          <ac:spMkLst>
            <pc:docMk/>
            <pc:sldMk cId="0" sldId="269"/>
            <ac:spMk id="176" creationId="{00000000-0000-0000-0000-000000000000}"/>
          </ac:spMkLst>
        </pc:spChg>
      </pc:sldChg>
      <pc:sldChg chg="modSp mod modCm modNotes">
        <pc:chgData name="Constant Kingongo" userId="1872647373_tp_box_2" providerId="OAuth2" clId="{3A2AABDC-73D3-496B-A677-5F4E4A6D0AAC}" dt="2025-12-12T11:05:10.870" v="7027" actId="13926"/>
        <pc:sldMkLst>
          <pc:docMk/>
          <pc:sldMk cId="0" sldId="270"/>
        </pc:sldMkLst>
        <pc:graphicFrameChg chg="mod modGraphic">
          <ac:chgData name="Constant Kingongo" userId="1872647373_tp_box_2" providerId="OAuth2" clId="{3A2AABDC-73D3-496B-A677-5F4E4A6D0AAC}" dt="2025-12-12T11:05:10.870" v="7027" actId="13926"/>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2T08:21:14.063" v="5283" actId="20577"/>
              <pc2:cmMkLst xmlns:pc2="http://schemas.microsoft.com/office/powerpoint/2019/9/main/command">
                <pc:docMk/>
                <pc:sldMk cId="0" sldId="270"/>
                <pc2:cmMk id="{356B4873-72A1-41DB-B433-42792625F2E3}"/>
              </pc2:cmMkLst>
            </pc226:cmChg>
            <pc226:cmChg xmlns:pc226="http://schemas.microsoft.com/office/powerpoint/2022/06/main/command" chg="mod">
              <pc226:chgData name="Constant Kingongo" userId="1872647373_tp_box_2" providerId="OAuth2" clId="{3A2AABDC-73D3-496B-A677-5F4E4A6D0AAC}" dt="2025-12-12T08:21:37.560" v="5286" actId="20577"/>
              <pc2:cmMkLst xmlns:pc2="http://schemas.microsoft.com/office/powerpoint/2019/9/main/command">
                <pc:docMk/>
                <pc:sldMk cId="0" sldId="270"/>
                <pc2:cmMk id="{C28CC282-FBC7-4F3C-BB5C-50F72E43720E}"/>
              </pc2:cmMkLst>
            </pc226:cmChg>
            <pc226:cmChg xmlns:pc226="http://schemas.microsoft.com/office/powerpoint/2022/06/main/command" chg="mod">
              <pc226:chgData name="Constant Kingongo" userId="1872647373_tp_box_2" providerId="OAuth2" clId="{3A2AABDC-73D3-496B-A677-5F4E4A6D0AAC}" dt="2025-12-11T09:45:11.771" v="1697" actId="313"/>
              <pc2:cmMkLst xmlns:pc2="http://schemas.microsoft.com/office/powerpoint/2019/9/main/command">
                <pc:docMk/>
                <pc:sldMk cId="0" sldId="270"/>
                <pc2:cmMk id="{FEB561B9-59D5-471A-9993-81209B4364D5}"/>
              </pc2:cmMkLst>
            </pc226:cmChg>
          </p:ext>
        </pc:extLst>
      </pc:sldChg>
      <pc:sldChg chg="addSp delSp modSp mod ord">
        <pc:chgData name="Constant Kingongo" userId="1872647373_tp_box_2" providerId="OAuth2" clId="{3A2AABDC-73D3-496B-A677-5F4E4A6D0AAC}" dt="2025-12-12T12:34:45.450" v="7509" actId="108"/>
        <pc:sldMkLst>
          <pc:docMk/>
          <pc:sldMk cId="0" sldId="272"/>
        </pc:sldMkLst>
        <pc:spChg chg="add mod">
          <ac:chgData name="Constant Kingongo" userId="1872647373_tp_box_2" providerId="OAuth2" clId="{3A2AABDC-73D3-496B-A677-5F4E4A6D0AAC}" dt="2025-12-12T12:34:45.450" v="7509" actId="108"/>
          <ac:spMkLst>
            <pc:docMk/>
            <pc:sldMk cId="0" sldId="272"/>
            <ac:spMk id="3" creationId="{17C34870-7052-805A-9D97-8351290AD0A7}"/>
          </ac:spMkLst>
        </pc:spChg>
        <pc:graphicFrameChg chg="mod modGraphic">
          <ac:chgData name="Constant Kingongo" userId="1872647373_tp_box_2" providerId="OAuth2" clId="{3A2AABDC-73D3-496B-A677-5F4E4A6D0AAC}" dt="2025-12-12T12:20:53.588" v="7134" actId="1076"/>
          <ac:graphicFrameMkLst>
            <pc:docMk/>
            <pc:sldMk cId="0" sldId="272"/>
            <ac:graphicFrameMk id="2" creationId="{00000000-0000-0000-0000-000000000000}"/>
          </ac:graphicFrameMkLst>
        </pc:graphicFrameChg>
      </pc:sldChg>
      <pc:sldChg chg="addSp delSp modSp mod ord">
        <pc:chgData name="Constant Kingongo" userId="1872647373_tp_box_2" providerId="OAuth2" clId="{3A2AABDC-73D3-496B-A677-5F4E4A6D0AAC}" dt="2025-12-12T12:32:27.650" v="7455" actId="20577"/>
        <pc:sldMkLst>
          <pc:docMk/>
          <pc:sldMk cId="630262139" sldId="275"/>
        </pc:sldMkLst>
        <pc:spChg chg="add mod">
          <ac:chgData name="Constant Kingongo" userId="1872647373_tp_box_2" providerId="OAuth2" clId="{3A2AABDC-73D3-496B-A677-5F4E4A6D0AAC}" dt="2025-12-12T12:32:00.222" v="7448" actId="1076"/>
          <ac:spMkLst>
            <pc:docMk/>
            <pc:sldMk cId="630262139" sldId="275"/>
            <ac:spMk id="3" creationId="{5BC115C1-27B6-A262-C159-4A17F8C83CFF}"/>
          </ac:spMkLst>
        </pc:spChg>
        <pc:graphicFrameChg chg="modGraphic">
          <ac:chgData name="Constant Kingongo" userId="1872647373_tp_box_2" providerId="OAuth2" clId="{3A2AABDC-73D3-496B-A677-5F4E4A6D0AAC}" dt="2025-12-12T12:32:27.650" v="7455" actId="20577"/>
          <ac:graphicFrameMkLst>
            <pc:docMk/>
            <pc:sldMk cId="630262139" sldId="275"/>
            <ac:graphicFrameMk id="2" creationId="{C73981D3-4E32-8819-D3DD-71C9FC8FD0A6}"/>
          </ac:graphicFrameMkLst>
        </pc:graphicFrameChg>
      </pc:sldChg>
      <pc:sldChg chg="addSp delSp modSp mod ord modCm modNotesTx">
        <pc:chgData name="Constant Kingongo" userId="1872647373_tp_box_2" providerId="OAuth2" clId="{3A2AABDC-73D3-496B-A677-5F4E4A6D0AAC}" dt="2025-12-12T16:18:32.357" v="8115" actId="20577"/>
        <pc:sldMkLst>
          <pc:docMk/>
          <pc:sldMk cId="3894215024" sldId="277"/>
        </pc:sldMkLst>
        <pc:spChg chg="add mod">
          <ac:chgData name="Constant Kingongo" userId="1872647373_tp_box_2" providerId="OAuth2" clId="{3A2AABDC-73D3-496B-A677-5F4E4A6D0AAC}" dt="2025-12-12T12:31:09.977" v="7442" actId="1076"/>
          <ac:spMkLst>
            <pc:docMk/>
            <pc:sldMk cId="3894215024" sldId="277"/>
            <ac:spMk id="3" creationId="{E7B1CB35-EB24-F968-4622-4301E6736BD2}"/>
          </ac:spMkLst>
        </pc:spChg>
        <pc:graphicFrameChg chg="mod modGraphic">
          <ac:chgData name="Constant Kingongo" userId="1872647373_tp_box_2" providerId="OAuth2" clId="{3A2AABDC-73D3-496B-A677-5F4E4A6D0AAC}" dt="2025-12-12T12:31:34.394" v="7445" actId="14734"/>
          <ac:graphicFrameMkLst>
            <pc:docMk/>
            <pc:sldMk cId="3894215024" sldId="277"/>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0T08:42:16.996" v="981" actId="20577"/>
              <pc2:cmMkLst xmlns:pc2="http://schemas.microsoft.com/office/powerpoint/2019/9/main/command">
                <pc:docMk/>
                <pc:sldMk cId="3894215024" sldId="277"/>
                <pc2:cmMk id="{BF450E71-E7B6-421E-B3C9-7A66DBCA50BA}"/>
              </pc2:cmMkLst>
            </pc226:cmChg>
          </p:ext>
        </pc:extLst>
      </pc:sldChg>
      <pc:sldChg chg="addSp delSp modSp mod ord">
        <pc:chgData name="Constant Kingongo" userId="1872647373_tp_box_2" providerId="OAuth2" clId="{3A2AABDC-73D3-496B-A677-5F4E4A6D0AAC}" dt="2025-12-12T16:35:25.818" v="8202" actId="20577"/>
        <pc:sldMkLst>
          <pc:docMk/>
          <pc:sldMk cId="80651434" sldId="279"/>
        </pc:sldMkLst>
        <pc:spChg chg="add mod">
          <ac:chgData name="Constant Kingongo" userId="1872647373_tp_box_2" providerId="OAuth2" clId="{3A2AABDC-73D3-496B-A677-5F4E4A6D0AAC}" dt="2025-12-12T16:31:05.165" v="8122" actId="20577"/>
          <ac:spMkLst>
            <pc:docMk/>
            <pc:sldMk cId="80651434" sldId="279"/>
            <ac:spMk id="2" creationId="{1D9C7698-922B-204E-3DD3-0F67E7CA3A4D}"/>
          </ac:spMkLst>
        </pc:spChg>
        <pc:spChg chg="mod">
          <ac:chgData name="Constant Kingongo" userId="1872647373_tp_box_2" providerId="OAuth2" clId="{3A2AABDC-73D3-496B-A677-5F4E4A6D0AAC}" dt="2025-12-12T16:35:25.818" v="8202" actId="20577"/>
          <ac:spMkLst>
            <pc:docMk/>
            <pc:sldMk cId="80651434" sldId="279"/>
            <ac:spMk id="176" creationId="{3C33C437-B5BF-82F8-CD08-21E10EEF851F}"/>
          </ac:spMkLst>
        </pc:spChg>
      </pc:sldChg>
      <pc:sldChg chg="addSp delSp modSp mod">
        <pc:chgData name="Constant Kingongo" userId="1872647373_tp_box_2" providerId="OAuth2" clId="{3A2AABDC-73D3-496B-A677-5F4E4A6D0AAC}" dt="2025-12-12T13:54:40.443" v="7815" actId="1076"/>
        <pc:sldMkLst>
          <pc:docMk/>
          <pc:sldMk cId="1150169659" sldId="280"/>
        </pc:sldMkLst>
        <pc:spChg chg="mod">
          <ac:chgData name="Constant Kingongo" userId="1872647373_tp_box_2" providerId="OAuth2" clId="{3A2AABDC-73D3-496B-A677-5F4E4A6D0AAC}" dt="2025-12-12T12:44:30.955" v="7601" actId="20577"/>
          <ac:spMkLst>
            <pc:docMk/>
            <pc:sldMk cId="1150169659" sldId="280"/>
            <ac:spMk id="176" creationId="{59F218D3-5320-BDD2-4538-E876AAAF7423}"/>
          </ac:spMkLst>
        </pc:spChg>
        <pc:graphicFrameChg chg="add mod modGraphic">
          <ac:chgData name="Constant Kingongo" userId="1872647373_tp_box_2" providerId="OAuth2" clId="{3A2AABDC-73D3-496B-A677-5F4E4A6D0AAC}" dt="2025-12-12T13:54:40.443" v="7815" actId="1076"/>
          <ac:graphicFrameMkLst>
            <pc:docMk/>
            <pc:sldMk cId="1150169659" sldId="280"/>
            <ac:graphicFrameMk id="2" creationId="{A0F0ED3E-C744-48D3-43F3-F123565B6B75}"/>
          </ac:graphicFrameMkLst>
        </pc:graphicFrameChg>
      </pc:sldChg>
      <pc:sldChg chg="modSp mod ord modNotesTx">
        <pc:chgData name="Constant Kingongo" userId="1872647373_tp_box_2" providerId="OAuth2" clId="{3A2AABDC-73D3-496B-A677-5F4E4A6D0AAC}" dt="2025-12-12T12:30:26.954" v="7437" actId="1076"/>
        <pc:sldMkLst>
          <pc:docMk/>
          <pc:sldMk cId="3023329279" sldId="282"/>
        </pc:sldMkLst>
        <pc:spChg chg="mod">
          <ac:chgData name="Constant Kingongo" userId="1872647373_tp_box_2" providerId="OAuth2" clId="{3A2AABDC-73D3-496B-A677-5F4E4A6D0AAC}" dt="2025-12-12T12:30:15.608" v="7434" actId="113"/>
          <ac:spMkLst>
            <pc:docMk/>
            <pc:sldMk cId="3023329279" sldId="282"/>
            <ac:spMk id="176" creationId="{FF7459DC-C417-0041-8CDB-20BBAA23BEBC}"/>
          </ac:spMkLst>
        </pc:spChg>
        <pc:graphicFrameChg chg="mod modGraphic">
          <ac:chgData name="Constant Kingongo" userId="1872647373_tp_box_2" providerId="OAuth2" clId="{3A2AABDC-73D3-496B-A677-5F4E4A6D0AAC}" dt="2025-12-12T12:30:26.954" v="7437" actId="1076"/>
          <ac:graphicFrameMkLst>
            <pc:docMk/>
            <pc:sldMk cId="3023329279" sldId="282"/>
            <ac:graphicFrameMk id="2" creationId="{590A0B16-64FE-9C2C-CF43-F66135246D6A}"/>
          </ac:graphicFrameMkLst>
        </pc:graphicFrameChg>
      </pc:sldChg>
      <pc:sldChg chg="addSp delSp modSp mod">
        <pc:chgData name="Constant Kingongo" userId="1872647373_tp_box_2" providerId="OAuth2" clId="{3A2AABDC-73D3-496B-A677-5F4E4A6D0AAC}" dt="2025-12-12T14:05:44.460" v="7933" actId="2711"/>
        <pc:sldMkLst>
          <pc:docMk/>
          <pc:sldMk cId="3118767732" sldId="284"/>
        </pc:sldMkLst>
        <pc:spChg chg="add mod">
          <ac:chgData name="Constant Kingongo" userId="1872647373_tp_box_2" providerId="OAuth2" clId="{3A2AABDC-73D3-496B-A677-5F4E4A6D0AAC}" dt="2025-12-12T14:03:03.122" v="7931" actId="20577"/>
          <ac:spMkLst>
            <pc:docMk/>
            <pc:sldMk cId="3118767732" sldId="284"/>
            <ac:spMk id="3" creationId="{16320542-4709-51A8-5F60-9DA5E5E22932}"/>
          </ac:spMkLst>
        </pc:spChg>
        <pc:spChg chg="mod">
          <ac:chgData name="Constant Kingongo" userId="1872647373_tp_box_2" providerId="OAuth2" clId="{3A2AABDC-73D3-496B-A677-5F4E4A6D0AAC}" dt="2025-12-12T14:05:44.460" v="7933" actId="2711"/>
          <ac:spMkLst>
            <pc:docMk/>
            <pc:sldMk cId="3118767732" sldId="284"/>
            <ac:spMk id="176" creationId="{354E4C93-0E49-AE41-8D34-43FB3A016A3C}"/>
          </ac:spMkLst>
        </pc:spChg>
      </pc:sldChg>
      <pc:sldChg chg="addSp delSp modSp add mod ord">
        <pc:chgData name="Constant Kingongo" userId="1872647373_tp_box_2" providerId="OAuth2" clId="{3A2AABDC-73D3-496B-A677-5F4E4A6D0AAC}" dt="2025-12-15T15:12:41.968" v="8225" actId="20577"/>
        <pc:sldMkLst>
          <pc:docMk/>
          <pc:sldMk cId="2452682132" sldId="286"/>
        </pc:sldMkLst>
        <pc:spChg chg="add mod">
          <ac:chgData name="Constant Kingongo" userId="1872647373_tp_box_2" providerId="OAuth2" clId="{3A2AABDC-73D3-496B-A677-5F4E4A6D0AAC}" dt="2025-12-15T15:12:41.968" v="8225" actId="20577"/>
          <ac:spMkLst>
            <pc:docMk/>
            <pc:sldMk cId="2452682132" sldId="286"/>
            <ac:spMk id="2" creationId="{E5FB2986-151C-D7BB-A2CC-705C0993C161}"/>
          </ac:spMkLst>
        </pc:spChg>
        <pc:spChg chg="mod">
          <ac:chgData name="Constant Kingongo" userId="1872647373_tp_box_2" providerId="OAuth2" clId="{3A2AABDC-73D3-496B-A677-5F4E4A6D0AAC}" dt="2025-12-12T12:44:22.547" v="7592"/>
          <ac:spMkLst>
            <pc:docMk/>
            <pc:sldMk cId="2452682132" sldId="286"/>
            <ac:spMk id="176" creationId="{8C664A84-B0BA-36C3-CC2F-A0A70B5091CE}"/>
          </ac:spMkLst>
        </pc:spChg>
      </pc:sldChg>
      <pc:sldChg chg="addSp delSp modSp add mod ord modNotesTx">
        <pc:chgData name="Constant Kingongo" userId="1872647373_tp_box_2" providerId="OAuth2" clId="{3A2AABDC-73D3-496B-A677-5F4E4A6D0AAC}" dt="2025-12-16T08:47:52.872" v="8230" actId="20577"/>
        <pc:sldMkLst>
          <pc:docMk/>
          <pc:sldMk cId="2773468247" sldId="287"/>
        </pc:sldMkLst>
        <pc:spChg chg="add mod">
          <ac:chgData name="Constant Kingongo" userId="1872647373_tp_box_2" providerId="OAuth2" clId="{3A2AABDC-73D3-496B-A677-5F4E4A6D0AAC}" dt="2025-12-16T08:47:52.872" v="8230" actId="20577"/>
          <ac:spMkLst>
            <pc:docMk/>
            <pc:sldMk cId="2773468247" sldId="287"/>
            <ac:spMk id="2" creationId="{048DD277-0D15-7DA4-937E-20CFD7C65152}"/>
          </ac:spMkLst>
        </pc:spChg>
        <pc:spChg chg="mod">
          <ac:chgData name="Constant Kingongo" userId="1872647373_tp_box_2" providerId="OAuth2" clId="{3A2AABDC-73D3-496B-A677-5F4E4A6D0AAC}" dt="2025-12-12T12:44:08.060" v="7591" actId="20577"/>
          <ac:spMkLst>
            <pc:docMk/>
            <pc:sldMk cId="2773468247" sldId="287"/>
            <ac:spMk id="176" creationId="{63A5F3C4-D19E-8C0E-E656-58943E804ABA}"/>
          </ac:spMkLst>
        </pc:spChg>
      </pc:sldChg>
      <pc:sldChg chg="addSp delSp modSp mod ord modCm">
        <pc:chgData name="Constant Kingongo" userId="1872647373_tp_box_2" providerId="OAuth2" clId="{3A2AABDC-73D3-496B-A677-5F4E4A6D0AAC}" dt="2025-12-12T15:47:24.853" v="7984" actId="20577"/>
        <pc:sldMkLst>
          <pc:docMk/>
          <pc:sldMk cId="0" sldId="289"/>
        </pc:sldMkLst>
        <pc:spChg chg="add mod">
          <ac:chgData name="Constant Kingongo" userId="1872647373_tp_box_2" providerId="OAuth2" clId="{3A2AABDC-73D3-496B-A677-5F4E4A6D0AAC}" dt="2025-12-12T12:43:40.403" v="7577" actId="108"/>
          <ac:spMkLst>
            <pc:docMk/>
            <pc:sldMk cId="0" sldId="289"/>
            <ac:spMk id="3" creationId="{706DCDDF-AF9B-EA1D-AC77-30EE603D86CE}"/>
          </ac:spMkLst>
        </pc:spChg>
        <pc:graphicFrameChg chg="mod modGraphic">
          <ac:chgData name="Constant Kingongo" userId="1872647373_tp_box_2" providerId="OAuth2" clId="{3A2AABDC-73D3-496B-A677-5F4E4A6D0AAC}" dt="2025-12-12T15:47:24.853" v="7984" actId="20577"/>
          <ac:graphicFrameMkLst>
            <pc:docMk/>
            <pc:sldMk cId="0" sldId="289"/>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2T15:47:24.853" v="7984" actId="20577"/>
              <pc2:cmMkLst xmlns:pc2="http://schemas.microsoft.com/office/powerpoint/2019/9/main/command">
                <pc:docMk/>
                <pc:sldMk cId="0" sldId="289"/>
                <pc2:cmMk id="{8988F834-730D-48A8-B6C8-F41D96F64327}"/>
              </pc2:cmMkLst>
            </pc226:cmChg>
          </p:ext>
        </pc:extLst>
      </pc:sldChg>
      <pc:sldChg chg="addSp delSp modSp mod ord">
        <pc:chgData name="Constant Kingongo" userId="1872647373_tp_box_2" providerId="OAuth2" clId="{3A2AABDC-73D3-496B-A677-5F4E4A6D0AAC}" dt="2025-12-12T16:36:24.792" v="8210" actId="403"/>
        <pc:sldMkLst>
          <pc:docMk/>
          <pc:sldMk cId="0" sldId="290"/>
        </pc:sldMkLst>
        <pc:spChg chg="add mod">
          <ac:chgData name="Constant Kingongo" userId="1872647373_tp_box_2" providerId="OAuth2" clId="{3A2AABDC-73D3-496B-A677-5F4E4A6D0AAC}" dt="2025-12-12T16:36:24.792" v="8210" actId="403"/>
          <ac:spMkLst>
            <pc:docMk/>
            <pc:sldMk cId="0" sldId="290"/>
            <ac:spMk id="2" creationId="{3AF75C01-2B04-5FF3-0F7C-8DA49845D684}"/>
          </ac:spMkLst>
        </pc:spChg>
        <pc:spChg chg="mod">
          <ac:chgData name="Constant Kingongo" userId="1872647373_tp_box_2" providerId="OAuth2" clId="{3A2AABDC-73D3-496B-A677-5F4E4A6D0AAC}" dt="2025-12-12T12:43:16.246" v="7575" actId="108"/>
          <ac:spMkLst>
            <pc:docMk/>
            <pc:sldMk cId="0" sldId="290"/>
            <ac:spMk id="176" creationId="{00000000-0000-0000-0000-000000000000}"/>
          </ac:spMkLst>
        </pc:spChg>
      </pc:sldChg>
      <pc:sldChg chg="addSp delSp modSp mod modClrScheme chgLayout">
        <pc:chgData name="Constant Kingongo" userId="1872647373_tp_box_2" providerId="OAuth2" clId="{3A2AABDC-73D3-496B-A677-5F4E4A6D0AAC}" dt="2025-12-12T12:37:26.354" v="7544" actId="27636"/>
        <pc:sldMkLst>
          <pc:docMk/>
          <pc:sldMk cId="1056056839" sldId="293"/>
        </pc:sldMkLst>
        <pc:spChg chg="add mod">
          <ac:chgData name="Constant Kingongo" userId="1872647373_tp_box_2" providerId="OAuth2" clId="{3A2AABDC-73D3-496B-A677-5F4E4A6D0AAC}" dt="2025-12-12T12:37:26.354" v="7544" actId="27636"/>
          <ac:spMkLst>
            <pc:docMk/>
            <pc:sldMk cId="1056056839" sldId="293"/>
            <ac:spMk id="4" creationId="{EBDAB952-984B-F8CF-1BC0-6BDE2D9BAB51}"/>
          </ac:spMkLst>
        </pc:spChg>
      </pc:sldChg>
      <pc:sldChg chg="modSp add mod ord">
        <pc:chgData name="Constant Kingongo" userId="1872647373_tp_box_2" providerId="OAuth2" clId="{3A2AABDC-73D3-496B-A677-5F4E4A6D0AAC}" dt="2025-12-12T09:54:09.230" v="6806" actId="14100"/>
        <pc:sldMkLst>
          <pc:docMk/>
          <pc:sldMk cId="2246112027" sldId="294"/>
        </pc:sldMkLst>
        <pc:graphicFrameChg chg="mod modGraphic">
          <ac:chgData name="Constant Kingongo" userId="1872647373_tp_box_2" providerId="OAuth2" clId="{3A2AABDC-73D3-496B-A677-5F4E4A6D0AAC}" dt="2025-12-12T09:54:09.230" v="6806" actId="14100"/>
          <ac:graphicFrameMkLst>
            <pc:docMk/>
            <pc:sldMk cId="2246112027" sldId="294"/>
            <ac:graphicFrameMk id="2" creationId="{05A7BD50-256B-F3A7-2410-A201B52FE749}"/>
          </ac:graphicFrameMkLst>
        </pc:graphicFrameChg>
      </pc:sldChg>
      <pc:sldChg chg="addSp delSp modSp add mod modNotesTx">
        <pc:chgData name="Constant Kingongo" userId="1872647373_tp_box_2" providerId="OAuth2" clId="{3A2AABDC-73D3-496B-A677-5F4E4A6D0AAC}" dt="2025-12-12T12:30:53.140" v="7439"/>
        <pc:sldMkLst>
          <pc:docMk/>
          <pc:sldMk cId="2070158375" sldId="295"/>
        </pc:sldMkLst>
        <pc:spChg chg="add mod">
          <ac:chgData name="Constant Kingongo" userId="1872647373_tp_box_2" providerId="OAuth2" clId="{3A2AABDC-73D3-496B-A677-5F4E4A6D0AAC}" dt="2025-12-12T12:30:53.140" v="7439"/>
          <ac:spMkLst>
            <pc:docMk/>
            <pc:sldMk cId="2070158375" sldId="295"/>
            <ac:spMk id="3" creationId="{01072B8E-7302-E3DB-237C-8C11105F21D8}"/>
          </ac:spMkLst>
        </pc:spChg>
        <pc:graphicFrameChg chg="mod modGraphic">
          <ac:chgData name="Constant Kingongo" userId="1872647373_tp_box_2" providerId="OAuth2" clId="{3A2AABDC-73D3-496B-A677-5F4E4A6D0AAC}" dt="2025-12-12T12:28:24.156" v="7328" actId="403"/>
          <ac:graphicFrameMkLst>
            <pc:docMk/>
            <pc:sldMk cId="2070158375" sldId="295"/>
            <ac:graphicFrameMk id="2" creationId="{47A3654D-D291-AFE4-ACC2-D055C404465D}"/>
          </ac:graphicFrameMkLst>
        </pc:graphicFrameChg>
      </pc:sldChg>
      <pc:sldChg chg="addSp delSp modSp add mod">
        <pc:chgData name="Constant Kingongo" userId="1872647373_tp_box_2" providerId="OAuth2" clId="{3A2AABDC-73D3-496B-A677-5F4E4A6D0AAC}" dt="2025-12-12T12:36:34.616" v="7532" actId="122"/>
        <pc:sldMkLst>
          <pc:docMk/>
          <pc:sldMk cId="4041819544" sldId="296"/>
        </pc:sldMkLst>
        <pc:spChg chg="add mod">
          <ac:chgData name="Constant Kingongo" userId="1872647373_tp_box_2" providerId="OAuth2" clId="{3A2AABDC-73D3-496B-A677-5F4E4A6D0AAC}" dt="2025-12-12T12:36:23.874" v="7528" actId="1076"/>
          <ac:spMkLst>
            <pc:docMk/>
            <pc:sldMk cId="4041819544" sldId="296"/>
            <ac:spMk id="3" creationId="{5894E8DC-3245-EFF2-B2A3-265E5A7182E9}"/>
          </ac:spMkLst>
        </pc:spChg>
        <pc:graphicFrameChg chg="mod modGraphic">
          <ac:chgData name="Constant Kingongo" userId="1872647373_tp_box_2" providerId="OAuth2" clId="{3A2AABDC-73D3-496B-A677-5F4E4A6D0AAC}" dt="2025-12-12T12:36:34.616" v="7532" actId="122"/>
          <ac:graphicFrameMkLst>
            <pc:docMk/>
            <pc:sldMk cId="4041819544" sldId="296"/>
            <ac:graphicFrameMk id="2" creationId="{CEED038B-0DD4-3BFB-721F-2614A12366C5}"/>
          </ac:graphicFrameMkLst>
        </pc:graphicFrameChg>
      </pc:sldChg>
    </pc:docChg>
  </pc:docChgLst>
  <pc:docChgLst>
    <pc:chgData name="Rock Bashizi" userId="33qYcwBjLwumvsa0TuLIu9JIgVcxc/oMUhMENC2jLfM=" providerId="None" clId="Web-{DE5203DF-7FC8-47EA-9C0E-E8FFB61C887F}"/>
    <pc:docChg chg="addSld modSld">
      <pc:chgData name="Rock Bashizi" userId="33qYcwBjLwumvsa0TuLIu9JIgVcxc/oMUhMENC2jLfM=" providerId="None" clId="Web-{DE5203DF-7FC8-47EA-9C0E-E8FFB61C887F}" dt="2025-12-10T14:19:03.166" v="646" actId="20577"/>
      <pc:docMkLst>
        <pc:docMk/>
      </pc:docMkLst>
      <pc:sldChg chg="modSp add replId">
        <pc:chgData name="Rock Bashizi" userId="33qYcwBjLwumvsa0TuLIu9JIgVcxc/oMUhMENC2jLfM=" providerId="None" clId="Web-{DE5203DF-7FC8-47EA-9C0E-E8FFB61C887F}" dt="2025-12-10T14:19:03.166" v="646" actId="20577"/>
        <pc:sldMkLst>
          <pc:docMk/>
          <pc:sldMk cId="3118767732" sldId="284"/>
        </pc:sldMkLst>
        <pc:spChg chg="mod">
          <ac:chgData name="Rock Bashizi" userId="33qYcwBjLwumvsa0TuLIu9JIgVcxc/oMUhMENC2jLfM=" providerId="None" clId="Web-{DE5203DF-7FC8-47EA-9C0E-E8FFB61C887F}" dt="2025-12-10T14:09:30.033" v="19" actId="20577"/>
          <ac:spMkLst>
            <pc:docMk/>
            <pc:sldMk cId="3118767732" sldId="284"/>
            <ac:spMk id="176" creationId="{354E4C93-0E49-AE41-8D34-43FB3A016A3C}"/>
          </ac:spMkLst>
        </pc:spChg>
      </pc:sldChg>
    </pc:docChg>
  </pc:docChgLst>
  <pc:docChgLst>
    <pc:chgData name="Anne Boher" userId="7x3a6lbrnn6s+wa46K4IgxHXiw1S4rRdz5RxLI6MvHY=" providerId="None" clId="Web-{E0592DEC-40AE-4E99-8074-05CA50A3BC55}"/>
    <pc:docChg chg="addSld delSld modSld">
      <pc:chgData name="Anne Boher" userId="7x3a6lbrnn6s+wa46K4IgxHXiw1S4rRdz5RxLI6MvHY=" providerId="None" clId="Web-{E0592DEC-40AE-4E99-8074-05CA50A3BC55}" dt="2025-12-09T16:49:44.048" v="7429" actId="20577"/>
      <pc:docMkLst>
        <pc:docMk/>
      </pc:docMkLst>
      <pc:sldChg chg="modSp">
        <pc:chgData name="Anne Boher" userId="7x3a6lbrnn6s+wa46K4IgxHXiw1S4rRdz5RxLI6MvHY=" providerId="None" clId="Web-{E0592DEC-40AE-4E99-8074-05CA50A3BC55}" dt="2025-12-09T13:08:58.903" v="3" actId="20577"/>
        <pc:sldMkLst>
          <pc:docMk/>
          <pc:sldMk cId="0" sldId="257"/>
        </pc:sldMkLst>
        <pc:spChg chg="mod">
          <ac:chgData name="Anne Boher" userId="7x3a6lbrnn6s+wa46K4IgxHXiw1S4rRdz5RxLI6MvHY=" providerId="None" clId="Web-{E0592DEC-40AE-4E99-8074-05CA50A3BC55}" dt="2025-12-09T13:08:58.903" v="3" actId="20577"/>
          <ac:spMkLst>
            <pc:docMk/>
            <pc:sldMk cId="0" sldId="257"/>
            <ac:spMk id="148" creationId="{00000000-0000-0000-0000-000000000000}"/>
          </ac:spMkLst>
        </pc:spChg>
      </pc:sldChg>
      <pc:sldChg chg="modSp">
        <pc:chgData name="Anne Boher" userId="7x3a6lbrnn6s+wa46K4IgxHXiw1S4rRdz5RxLI6MvHY=" providerId="None" clId="Web-{E0592DEC-40AE-4E99-8074-05CA50A3BC55}" dt="2025-12-09T16:23:30.338" v="7257" actId="20577"/>
        <pc:sldMkLst>
          <pc:docMk/>
          <pc:sldMk cId="0" sldId="260"/>
        </pc:sldMkLst>
        <pc:spChg chg="mod">
          <ac:chgData name="Anne Boher" userId="7x3a6lbrnn6s+wa46K4IgxHXiw1S4rRdz5RxLI6MvHY=" providerId="None" clId="Web-{E0592DEC-40AE-4E99-8074-05CA50A3BC55}" dt="2025-12-09T16:23:30.338" v="7257" actId="20577"/>
          <ac:spMkLst>
            <pc:docMk/>
            <pc:sldMk cId="0" sldId="260"/>
            <ac:spMk id="2" creationId="{00000000-0000-0000-0000-000000000000}"/>
          </ac:spMkLst>
        </pc:spChg>
      </pc:sldChg>
      <pc:sldChg chg="modSp">
        <pc:chgData name="Anne Boher" userId="7x3a6lbrnn6s+wa46K4IgxHXiw1S4rRdz5RxLI6MvHY=" providerId="None" clId="Web-{E0592DEC-40AE-4E99-8074-05CA50A3BC55}" dt="2025-12-09T16:35:07.422" v="7382"/>
        <pc:sldMkLst>
          <pc:docMk/>
          <pc:sldMk cId="0" sldId="263"/>
        </pc:sldMkLst>
        <pc:graphicFrameChg chg="mod modGraphic">
          <ac:chgData name="Anne Boher" userId="7x3a6lbrnn6s+wa46K4IgxHXiw1S4rRdz5RxLI6MvHY=" providerId="None" clId="Web-{E0592DEC-40AE-4E99-8074-05CA50A3BC55}" dt="2025-12-09T16:35:07.422" v="7382"/>
          <ac:graphicFrameMkLst>
            <pc:docMk/>
            <pc:sldMk cId="0" sldId="263"/>
            <ac:graphicFrameMk id="2" creationId="{00000000-0000-0000-0000-000000000000}"/>
          </ac:graphicFrameMkLst>
        </pc:graphicFrameChg>
      </pc:sldChg>
      <pc:sldChg chg="modSp">
        <pc:chgData name="Anne Boher" userId="7x3a6lbrnn6s+wa46K4IgxHXiw1S4rRdz5RxLI6MvHY=" providerId="None" clId="Web-{E0592DEC-40AE-4E99-8074-05CA50A3BC55}" dt="2025-12-09T13:53:38.241" v="2424" actId="20577"/>
        <pc:sldMkLst>
          <pc:docMk/>
          <pc:sldMk cId="0" sldId="268"/>
        </pc:sldMkLst>
      </pc:sldChg>
      <pc:sldChg chg="modSp">
        <pc:chgData name="Anne Boher" userId="7x3a6lbrnn6s+wa46K4IgxHXiw1S4rRdz5RxLI6MvHY=" providerId="None" clId="Web-{E0592DEC-40AE-4E99-8074-05CA50A3BC55}" dt="2025-12-09T13:57:57.567" v="3089" actId="20577"/>
        <pc:sldMkLst>
          <pc:docMk/>
          <pc:sldMk cId="0" sldId="269"/>
        </pc:sldMkLst>
      </pc:sldChg>
      <pc:sldChg chg="addSp delSp modSp">
        <pc:chgData name="Anne Boher" userId="7x3a6lbrnn6s+wa46K4IgxHXiw1S4rRdz5RxLI6MvHY=" providerId="None" clId="Web-{E0592DEC-40AE-4E99-8074-05CA50A3BC55}" dt="2025-12-09T16:27:52.349" v="7347"/>
        <pc:sldMkLst>
          <pc:docMk/>
          <pc:sldMk cId="0" sldId="270"/>
        </pc:sldMkLst>
        <pc:graphicFrameChg chg="mod modGraphic">
          <ac:chgData name="Anne Boher" userId="7x3a6lbrnn6s+wa46K4IgxHXiw1S4rRdz5RxLI6MvHY=" providerId="None" clId="Web-{E0592DEC-40AE-4E99-8074-05CA50A3BC55}" dt="2025-12-09T16:27:52.349" v="7347"/>
          <ac:graphicFrameMkLst>
            <pc:docMk/>
            <pc:sldMk cId="0" sldId="270"/>
            <ac:graphicFrameMk id="2" creationId="{00000000-0000-0000-0000-000000000000}"/>
          </ac:graphicFrameMkLst>
        </pc:graphicFrameChg>
      </pc:sldChg>
      <pc:sldChg chg="modSp">
        <pc:chgData name="Anne Boher" userId="7x3a6lbrnn6s+wa46K4IgxHXiw1S4rRdz5RxLI6MvHY=" providerId="None" clId="Web-{E0592DEC-40AE-4E99-8074-05CA50A3BC55}" dt="2025-12-09T14:07:37.363" v="3091"/>
        <pc:sldMkLst>
          <pc:docMk/>
          <pc:sldMk cId="0" sldId="272"/>
        </pc:sldMkLst>
        <pc:graphicFrameChg chg="mod modGraphic">
          <ac:chgData name="Anne Boher" userId="7x3a6lbrnn6s+wa46K4IgxHXiw1S4rRdz5RxLI6MvHY=" providerId="None" clId="Web-{E0592DEC-40AE-4E99-8074-05CA50A3BC55}" dt="2025-12-09T14:07:37.363" v="3091"/>
          <ac:graphicFrameMkLst>
            <pc:docMk/>
            <pc:sldMk cId="0" sldId="272"/>
            <ac:graphicFrameMk id="2" creationId="{00000000-0000-0000-0000-000000000000}"/>
          </ac:graphicFrameMkLst>
        </pc:graphicFrameChg>
      </pc:sldChg>
      <pc:sldChg chg="modSp add">
        <pc:chgData name="Anne Boher" userId="7x3a6lbrnn6s+wa46K4IgxHXiw1S4rRdz5RxLI6MvHY=" providerId="None" clId="Web-{E0592DEC-40AE-4E99-8074-05CA50A3BC55}" dt="2025-12-09T16:31:15.746" v="7371"/>
        <pc:sldMkLst>
          <pc:docMk/>
          <pc:sldMk cId="630262139" sldId="275"/>
        </pc:sldMkLst>
        <pc:graphicFrameChg chg="mod modGraphic">
          <ac:chgData name="Anne Boher" userId="7x3a6lbrnn6s+wa46K4IgxHXiw1S4rRdz5RxLI6MvHY=" providerId="None" clId="Web-{E0592DEC-40AE-4E99-8074-05CA50A3BC55}" dt="2025-12-09T16:31:15.746" v="7371"/>
          <ac:graphicFrameMkLst>
            <pc:docMk/>
            <pc:sldMk cId="630262139" sldId="275"/>
            <ac:graphicFrameMk id="2" creationId="{C73981D3-4E32-8819-D3DD-71C9FC8FD0A6}"/>
          </ac:graphicFrameMkLst>
        </pc:graphicFrameChg>
      </pc:sldChg>
      <pc:sldChg chg="modSp add modCm">
        <pc:chgData name="Anne Boher" userId="7x3a6lbrnn6s+wa46K4IgxHXiw1S4rRdz5RxLI6MvHY=" providerId="None" clId="Web-{E0592DEC-40AE-4E99-8074-05CA50A3BC55}" dt="2025-12-09T16:29:30.837" v="7353"/>
        <pc:sldMkLst>
          <pc:docMk/>
          <pc:sldMk cId="3894215024" sldId="277"/>
        </pc:sldMkLst>
        <pc:graphicFrameChg chg="mod modGraphic">
          <ac:chgData name="Anne Boher" userId="7x3a6lbrnn6s+wa46K4IgxHXiw1S4rRdz5RxLI6MvHY=" providerId="None" clId="Web-{E0592DEC-40AE-4E99-8074-05CA50A3BC55}" dt="2025-12-09T16:29:30.837" v="7353"/>
          <ac:graphicFrameMkLst>
            <pc:docMk/>
            <pc:sldMk cId="3894215024" sldId="277"/>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Anne Boher" userId="7x3a6lbrnn6s+wa46K4IgxHXiw1S4rRdz5RxLI6MvHY=" providerId="None" clId="Web-{E0592DEC-40AE-4E99-8074-05CA50A3BC55}" dt="2025-12-09T16:29:25.477" v="7350"/>
              <pc2:cmMkLst xmlns:pc2="http://schemas.microsoft.com/office/powerpoint/2019/9/main/command">
                <pc:docMk/>
                <pc:sldMk cId="3894215024" sldId="277"/>
                <pc2:cmMk id="{4020471E-F2C1-4A1C-9210-C743E5FC1338}"/>
              </pc2:cmMkLst>
            </pc226:cmChg>
          </p:ext>
        </pc:extLst>
      </pc:sldChg>
      <pc:sldChg chg="modSp add replId">
        <pc:chgData name="Anne Boher" userId="7x3a6lbrnn6s+wa46K4IgxHXiw1S4rRdz5RxLI6MvHY=" providerId="None" clId="Web-{E0592DEC-40AE-4E99-8074-05CA50A3BC55}" dt="2025-12-09T16:49:44.048" v="7429" actId="20577"/>
        <pc:sldMkLst>
          <pc:docMk/>
          <pc:sldMk cId="80651434" sldId="279"/>
        </pc:sldMkLst>
      </pc:sldChg>
      <pc:sldChg chg="modSp add replId">
        <pc:chgData name="Anne Boher" userId="7x3a6lbrnn6s+wa46K4IgxHXiw1S4rRdz5RxLI6MvHY=" providerId="None" clId="Web-{E0592DEC-40AE-4E99-8074-05CA50A3BC55}" dt="2025-12-09T14:11:31.053" v="3095" actId="20577"/>
        <pc:sldMkLst>
          <pc:docMk/>
          <pc:sldMk cId="1150169659" sldId="280"/>
        </pc:sldMkLst>
      </pc:sldChg>
    </pc:docChg>
  </pc:docChgLst>
  <pc:docChgLst>
    <pc:chgData name="Djeneba Coulibaly" userId="3TJcTleEKvjVvhexbWsbR4CF4cbP0hc60lIRu+hJ9fg=" providerId="None" clId="Web-{41978076-A33F-4EDB-A3BB-202F612A12C0}"/>
    <pc:docChg chg="addSld modSld sldOrd">
      <pc:chgData name="Djeneba Coulibaly" userId="3TJcTleEKvjVvhexbWsbR4CF4cbP0hc60lIRu+hJ9fg=" providerId="None" clId="Web-{41978076-A33F-4EDB-A3BB-202F612A12C0}" dt="2025-12-11T17:15:33.519" v="1339" actId="14100"/>
      <pc:docMkLst>
        <pc:docMk/>
      </pc:docMkLst>
      <pc:sldChg chg="modSp">
        <pc:chgData name="Djeneba Coulibaly" userId="3TJcTleEKvjVvhexbWsbR4CF4cbP0hc60lIRu+hJ9fg=" providerId="None" clId="Web-{41978076-A33F-4EDB-A3BB-202F612A12C0}" dt="2025-12-11T16:46:51.791" v="966"/>
        <pc:sldMkLst>
          <pc:docMk/>
          <pc:sldMk cId="0" sldId="260"/>
        </pc:sldMkLst>
        <pc:spChg chg="mod">
          <ac:chgData name="Djeneba Coulibaly" userId="3TJcTleEKvjVvhexbWsbR4CF4cbP0hc60lIRu+hJ9fg=" providerId="None" clId="Web-{41978076-A33F-4EDB-A3BB-202F612A12C0}" dt="2025-12-11T16:46:51.791" v="966"/>
          <ac:spMkLst>
            <pc:docMk/>
            <pc:sldMk cId="0" sldId="260"/>
            <ac:spMk id="176" creationId="{00000000-0000-0000-0000-000000000000}"/>
          </ac:spMkLst>
        </pc:spChg>
      </pc:sldChg>
      <pc:sldChg chg="modSp">
        <pc:chgData name="Djeneba Coulibaly" userId="3TJcTleEKvjVvhexbWsbR4CF4cbP0hc60lIRu+hJ9fg=" providerId="None" clId="Web-{41978076-A33F-4EDB-A3BB-202F612A12C0}" dt="2025-12-11T17:15:33.519" v="1339" actId="14100"/>
        <pc:sldMkLst>
          <pc:docMk/>
          <pc:sldMk cId="0" sldId="265"/>
        </pc:sldMkLst>
      </pc:sldChg>
      <pc:sldChg chg="modSp">
        <pc:chgData name="Djeneba Coulibaly" userId="3TJcTleEKvjVvhexbWsbR4CF4cbP0hc60lIRu+hJ9fg=" providerId="None" clId="Web-{41978076-A33F-4EDB-A3BB-202F612A12C0}" dt="2025-12-11T16:56:49.313" v="1138"/>
        <pc:sldMkLst>
          <pc:docMk/>
          <pc:sldMk cId="0" sldId="272"/>
        </pc:sldMkLst>
        <pc:graphicFrameChg chg="mod modGraphic">
          <ac:chgData name="Djeneba Coulibaly" userId="3TJcTleEKvjVvhexbWsbR4CF4cbP0hc60lIRu+hJ9fg=" providerId="None" clId="Web-{41978076-A33F-4EDB-A3BB-202F612A12C0}" dt="2025-12-11T16:56:49.313" v="1138"/>
          <ac:graphicFrameMkLst>
            <pc:docMk/>
            <pc:sldMk cId="0" sldId="272"/>
            <ac:graphicFrameMk id="2" creationId="{00000000-0000-0000-0000-000000000000}"/>
          </ac:graphicFrameMkLst>
        </pc:graphicFrameChg>
      </pc:sldChg>
      <pc:sldChg chg="modSp">
        <pc:chgData name="Djeneba Coulibaly" userId="3TJcTleEKvjVvhexbWsbR4CF4cbP0hc60lIRu+hJ9fg=" providerId="None" clId="Web-{41978076-A33F-4EDB-A3BB-202F612A12C0}" dt="2025-12-11T16:54:00.843" v="1046" actId="20577"/>
        <pc:sldMkLst>
          <pc:docMk/>
          <pc:sldMk cId="3118767732" sldId="284"/>
        </pc:sldMkLst>
      </pc:sldChg>
      <pc:sldChg chg="add ord replId">
        <pc:chgData name="Djeneba Coulibaly" userId="3TJcTleEKvjVvhexbWsbR4CF4cbP0hc60lIRu+hJ9fg=" providerId="None" clId="Web-{41978076-A33F-4EDB-A3BB-202F612A12C0}" dt="2025-12-11T17:05:08.435" v="1149"/>
        <pc:sldMkLst>
          <pc:docMk/>
          <pc:sldMk cId="1056056839" sldId="293"/>
        </pc:sldMkLst>
      </pc:sldChg>
    </pc:docChg>
  </pc:docChgLst>
  <pc:docChgLst>
    <pc:chgData name="Djeneba Coulibaly" userId="3TJcTleEKvjVvhexbWsbR4CF4cbP0hc60lIRu+hJ9fg=" providerId="None" clId="Web-{E8974F7A-9E67-4A95-9D8C-FF68DCE9E38B}"/>
    <pc:docChg chg="modSld">
      <pc:chgData name="Djeneba Coulibaly" userId="3TJcTleEKvjVvhexbWsbR4CF4cbP0hc60lIRu+hJ9fg=" providerId="None" clId="Web-{E8974F7A-9E67-4A95-9D8C-FF68DCE9E38B}" dt="2025-12-10T11:46:54.346" v="19"/>
      <pc:docMkLst>
        <pc:docMk/>
      </pc:docMkLst>
    </pc:docChg>
  </pc:docChgLst>
  <pc:docChgLst>
    <pc:chgData name="Godefroid Mpanya" userId="i7v+s+VbZwR4SRL1qMOINMYb1YBXjQoWHnzlMunqnOs=" providerId="None" clId="Web-{41747402-F7DB-489A-8380-75E7A12EE592}"/>
    <pc:docChg chg="addSld modSld">
      <pc:chgData name="Godefroid Mpanya" userId="i7v+s+VbZwR4SRL1qMOINMYb1YBXjQoWHnzlMunqnOs=" providerId="None" clId="Web-{41747402-F7DB-489A-8380-75E7A12EE592}" dt="2025-12-09T14:15:07.751" v="36" actId="1076"/>
      <pc:docMkLst>
        <pc:docMk/>
      </pc:docMkLst>
      <pc:sldChg chg="modSp">
        <pc:chgData name="Godefroid Mpanya" userId="i7v+s+VbZwR4SRL1qMOINMYb1YBXjQoWHnzlMunqnOs=" providerId="None" clId="Web-{41747402-F7DB-489A-8380-75E7A12EE592}" dt="2025-12-09T14:11:52.963" v="14" actId="20577"/>
        <pc:sldMkLst>
          <pc:docMk/>
          <pc:sldMk cId="0" sldId="260"/>
        </pc:sldMkLst>
        <pc:spChg chg="mod">
          <ac:chgData name="Godefroid Mpanya" userId="i7v+s+VbZwR4SRL1qMOINMYb1YBXjQoWHnzlMunqnOs=" providerId="None" clId="Web-{41747402-F7DB-489A-8380-75E7A12EE592}" dt="2025-12-09T14:11:52.963" v="14" actId="20577"/>
          <ac:spMkLst>
            <pc:docMk/>
            <pc:sldMk cId="0" sldId="260"/>
            <ac:spMk id="2" creationId="{00000000-0000-0000-0000-000000000000}"/>
          </ac:spMkLst>
        </pc:spChg>
      </pc:sldChg>
    </pc:docChg>
  </pc:docChgLst>
  <pc:docChgLst>
    <pc:chgData name="Eugene Nsambu" userId="CNE44e3FmfIulqjLIUrjoCC2H7eF2ytnkTF1S1XiEM0=" providerId="None" clId="Web-{E74B70D3-36E3-4AC0-9672-D1F21185666F}"/>
    <pc:docChg chg="modSld">
      <pc:chgData name="Eugene Nsambu" userId="CNE44e3FmfIulqjLIUrjoCC2H7eF2ytnkTF1S1XiEM0=" providerId="None" clId="Web-{E74B70D3-36E3-4AC0-9672-D1F21185666F}" dt="2025-12-15T07:50:24.919" v="183" actId="20577"/>
      <pc:docMkLst>
        <pc:docMk/>
      </pc:docMkLst>
      <pc:sldChg chg="modSp">
        <pc:chgData name="Eugene Nsambu" userId="CNE44e3FmfIulqjLIUrjoCC2H7eF2ytnkTF1S1XiEM0=" providerId="None" clId="Web-{E74B70D3-36E3-4AC0-9672-D1F21185666F}" dt="2025-12-15T07:50:24.919" v="183" actId="20577"/>
        <pc:sldMkLst>
          <pc:docMk/>
          <pc:sldMk cId="2773468247" sldId="287"/>
        </pc:sldMkLst>
        <pc:spChg chg="mod">
          <ac:chgData name="Eugene Nsambu" userId="CNE44e3FmfIulqjLIUrjoCC2H7eF2ytnkTF1S1XiEM0=" providerId="None" clId="Web-{E74B70D3-36E3-4AC0-9672-D1F21185666F}" dt="2025-12-15T07:50:24.919" v="183" actId="20577"/>
          <ac:spMkLst>
            <pc:docMk/>
            <pc:sldMk cId="2773468247" sldId="287"/>
            <ac:spMk id="2" creationId="{048DD277-0D15-7DA4-937E-20CFD7C65152}"/>
          </ac:spMkLst>
        </pc:spChg>
      </pc:sldChg>
      <pc:sldChg chg="modSp">
        <pc:chgData name="Eugene Nsambu" userId="CNE44e3FmfIulqjLIUrjoCC2H7eF2ytnkTF1S1XiEM0=" providerId="None" clId="Web-{E74B70D3-36E3-4AC0-9672-D1F21185666F}" dt="2025-12-15T07:43:25.091" v="171"/>
        <pc:sldMkLst>
          <pc:docMk/>
          <pc:sldMk cId="0" sldId="289"/>
        </pc:sldMkLst>
        <pc:graphicFrameChg chg="mod modGraphic">
          <ac:chgData name="Eugene Nsambu" userId="CNE44e3FmfIulqjLIUrjoCC2H7eF2ytnkTF1S1XiEM0=" providerId="None" clId="Web-{E74B70D3-36E3-4AC0-9672-D1F21185666F}" dt="2025-12-15T07:43:25.091" v="171"/>
          <ac:graphicFrameMkLst>
            <pc:docMk/>
            <pc:sldMk cId="0" sldId="289"/>
            <ac:graphicFrameMk id="2" creationId="{00000000-0000-0000-0000-000000000000}"/>
          </ac:graphicFrameMkLst>
        </pc:graphicFrameChg>
      </pc:sldChg>
    </pc:docChg>
  </pc:docChgLst>
  <pc:docChgLst>
    <pc:chgData name="Anne Boher" userId="7x3a6lbrnn6s+wa46K4IgxHXiw1S4rRdz5RxLI6MvHY=" providerId="None" clId="Web-{69A89C26-7201-42C8-B869-00B00F33C9C8}"/>
    <pc:docChg chg="delSld modSld">
      <pc:chgData name="Anne Boher" userId="7x3a6lbrnn6s+wa46K4IgxHXiw1S4rRdz5RxLI6MvHY=" providerId="None" clId="Web-{69A89C26-7201-42C8-B869-00B00F33C9C8}" dt="2025-12-11T11:32:26.038" v="1095" actId="20577"/>
      <pc:docMkLst>
        <pc:docMk/>
      </pc:docMkLst>
      <pc:sldChg chg="modSp modCm">
        <pc:chgData name="Anne Boher" userId="7x3a6lbrnn6s+wa46K4IgxHXiw1S4rRdz5RxLI6MvHY=" providerId="None" clId="Web-{69A89C26-7201-42C8-B869-00B00F33C9C8}" dt="2025-12-11T09:47:42.380" v="430"/>
        <pc:sldMkLst>
          <pc:docMk/>
          <pc:sldMk cId="0" sldId="270"/>
        </pc:sldMkLst>
        <pc:graphicFrameChg chg="mod modGraphic">
          <ac:chgData name="Anne Boher" userId="7x3a6lbrnn6s+wa46K4IgxHXiw1S4rRdz5RxLI6MvHY=" providerId="None" clId="Web-{69A89C26-7201-42C8-B869-00B00F33C9C8}" dt="2025-12-11T09:47:42.380" v="430"/>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Anne Boher" userId="7x3a6lbrnn6s+wa46K4IgxHXiw1S4rRdz5RxLI6MvHY=" providerId="None" clId="Web-{69A89C26-7201-42C8-B869-00B00F33C9C8}" dt="2025-12-11T09:47:42.364" v="429"/>
              <pc2:cmMkLst xmlns:pc2="http://schemas.microsoft.com/office/powerpoint/2019/9/main/command">
                <pc:docMk/>
                <pc:sldMk cId="0" sldId="270"/>
                <pc2:cmMk id="{FEB561B9-59D5-471A-9993-81209B4364D5}"/>
              </pc2:cmMkLst>
            </pc226:cmChg>
          </p:ext>
        </pc:extLst>
      </pc:sldChg>
      <pc:sldChg chg="modSp">
        <pc:chgData name="Anne Boher" userId="7x3a6lbrnn6s+wa46K4IgxHXiw1S4rRdz5RxLI6MvHY=" providerId="None" clId="Web-{69A89C26-7201-42C8-B869-00B00F33C9C8}" dt="2025-12-11T11:00:25.510" v="1080"/>
        <pc:sldMkLst>
          <pc:docMk/>
          <pc:sldMk cId="630262139" sldId="275"/>
        </pc:sldMkLst>
        <pc:graphicFrameChg chg="mod modGraphic">
          <ac:chgData name="Anne Boher" userId="7x3a6lbrnn6s+wa46K4IgxHXiw1S4rRdz5RxLI6MvHY=" providerId="None" clId="Web-{69A89C26-7201-42C8-B869-00B00F33C9C8}" dt="2025-12-11T11:00:25.510" v="1080"/>
          <ac:graphicFrameMkLst>
            <pc:docMk/>
            <pc:sldMk cId="630262139" sldId="275"/>
            <ac:graphicFrameMk id="2" creationId="{C73981D3-4E32-8819-D3DD-71C9FC8FD0A6}"/>
          </ac:graphicFrameMkLst>
        </pc:graphicFrameChg>
      </pc:sldChg>
      <pc:sldChg chg="modSp">
        <pc:chgData name="Anne Boher" userId="7x3a6lbrnn6s+wa46K4IgxHXiw1S4rRdz5RxLI6MvHY=" providerId="None" clId="Web-{69A89C26-7201-42C8-B869-00B00F33C9C8}" dt="2025-12-11T10:30:08.828" v="791"/>
        <pc:sldMkLst>
          <pc:docMk/>
          <pc:sldMk cId="3894215024" sldId="277"/>
        </pc:sldMkLst>
        <pc:graphicFrameChg chg="mod modGraphic">
          <ac:chgData name="Anne Boher" userId="7x3a6lbrnn6s+wa46K4IgxHXiw1S4rRdz5RxLI6MvHY=" providerId="None" clId="Web-{69A89C26-7201-42C8-B869-00B00F33C9C8}" dt="2025-12-11T10:30:08.828" v="791"/>
          <ac:graphicFrameMkLst>
            <pc:docMk/>
            <pc:sldMk cId="3894215024" sldId="277"/>
            <ac:graphicFrameMk id="2" creationId="{00000000-0000-0000-0000-000000000000}"/>
          </ac:graphicFrameMkLst>
        </pc:graphicFrameChg>
      </pc:sldChg>
      <pc:sldChg chg="modSp">
        <pc:chgData name="Anne Boher" userId="7x3a6lbrnn6s+wa46K4IgxHXiw1S4rRdz5RxLI6MvHY=" providerId="None" clId="Web-{69A89C26-7201-42C8-B869-00B00F33C9C8}" dt="2025-12-11T10:59:59.539" v="1076"/>
        <pc:sldMkLst>
          <pc:docMk/>
          <pc:sldMk cId="3023329279" sldId="282"/>
        </pc:sldMkLst>
        <pc:graphicFrameChg chg="mod modGraphic">
          <ac:chgData name="Anne Boher" userId="7x3a6lbrnn6s+wa46K4IgxHXiw1S4rRdz5RxLI6MvHY=" providerId="None" clId="Web-{69A89C26-7201-42C8-B869-00B00F33C9C8}" dt="2025-12-11T10:59:59.539" v="1076"/>
          <ac:graphicFrameMkLst>
            <pc:docMk/>
            <pc:sldMk cId="3023329279" sldId="282"/>
            <ac:graphicFrameMk id="2" creationId="{590A0B16-64FE-9C2C-CF43-F66135246D6A}"/>
          </ac:graphicFrameMkLst>
        </pc:graphicFrameChg>
      </pc:sldChg>
      <pc:sldChg chg="modSp">
        <pc:chgData name="Anne Boher" userId="7x3a6lbrnn6s+wa46K4IgxHXiw1S4rRdz5RxLI6MvHY=" providerId="None" clId="Web-{69A89C26-7201-42C8-B869-00B00F33C9C8}" dt="2025-12-11T09:21:49.451" v="392" actId="20577"/>
        <pc:sldMkLst>
          <pc:docMk/>
          <pc:sldMk cId="3118767732" sldId="284"/>
        </pc:sldMkLst>
      </pc:sldChg>
    </pc:docChg>
  </pc:docChgLst>
  <pc:docChgLst>
    <pc:chgData name="Anne Boher" userId="7x3a6lbrnn6s+wa46K4IgxHXiw1S4rRdz5RxLI6MvHY=" providerId="None" clId="Web-{B8443B47-2931-484C-9FF9-D80AA95A5664}"/>
    <pc:docChg chg="addSld modSld">
      <pc:chgData name="Anne Boher" userId="7x3a6lbrnn6s+wa46K4IgxHXiw1S4rRdz5RxLI6MvHY=" providerId="None" clId="Web-{B8443B47-2931-484C-9FF9-D80AA95A5664}" dt="2025-12-09T17:39:07.410" v="625" actId="20577"/>
      <pc:docMkLst>
        <pc:docMk/>
      </pc:docMkLst>
      <pc:sldChg chg="modSp">
        <pc:chgData name="Anne Boher" userId="7x3a6lbrnn6s+wa46K4IgxHXiw1S4rRdz5RxLI6MvHY=" providerId="None" clId="Web-{B8443B47-2931-484C-9FF9-D80AA95A5664}" dt="2025-12-09T17:00:10.232" v="2" actId="20577"/>
        <pc:sldMkLst>
          <pc:docMk/>
          <pc:sldMk cId="0" sldId="260"/>
        </pc:sldMkLst>
        <pc:spChg chg="mod">
          <ac:chgData name="Anne Boher" userId="7x3a6lbrnn6s+wa46K4IgxHXiw1S4rRdz5RxLI6MvHY=" providerId="None" clId="Web-{B8443B47-2931-484C-9FF9-D80AA95A5664}" dt="2025-12-09T17:00:10.232" v="2" actId="20577"/>
          <ac:spMkLst>
            <pc:docMk/>
            <pc:sldMk cId="0" sldId="260"/>
            <ac:spMk id="176" creationId="{00000000-0000-0000-0000-000000000000}"/>
          </ac:spMkLst>
        </pc:spChg>
      </pc:sldChg>
      <pc:sldChg chg="modSp">
        <pc:chgData name="Anne Boher" userId="7x3a6lbrnn6s+wa46K4IgxHXiw1S4rRdz5RxLI6MvHY=" providerId="None" clId="Web-{B8443B47-2931-484C-9FF9-D80AA95A5664}" dt="2025-12-09T17:38:51.269" v="622" actId="20577"/>
        <pc:sldMkLst>
          <pc:docMk/>
          <pc:sldMk cId="0" sldId="268"/>
        </pc:sldMkLst>
        <pc:spChg chg="mod">
          <ac:chgData name="Anne Boher" userId="7x3a6lbrnn6s+wa46K4IgxHXiw1S4rRdz5RxLI6MvHY=" providerId="None" clId="Web-{B8443B47-2931-484C-9FF9-D80AA95A5664}" dt="2025-12-09T17:38:51.269" v="622" actId="20577"/>
          <ac:spMkLst>
            <pc:docMk/>
            <pc:sldMk cId="0" sldId="268"/>
            <ac:spMk id="176" creationId="{00000000-0000-0000-0000-000000000000}"/>
          </ac:spMkLst>
        </pc:spChg>
      </pc:sldChg>
      <pc:sldChg chg="modSp">
        <pc:chgData name="Anne Boher" userId="7x3a6lbrnn6s+wa46K4IgxHXiw1S4rRdz5RxLI6MvHY=" providerId="None" clId="Web-{B8443B47-2931-484C-9FF9-D80AA95A5664}" dt="2025-12-09T17:39:07.410" v="625" actId="20577"/>
        <pc:sldMkLst>
          <pc:docMk/>
          <pc:sldMk cId="0" sldId="269"/>
        </pc:sldMkLst>
        <pc:spChg chg="mod">
          <ac:chgData name="Anne Boher" userId="7x3a6lbrnn6s+wa46K4IgxHXiw1S4rRdz5RxLI6MvHY=" providerId="None" clId="Web-{B8443B47-2931-484C-9FF9-D80AA95A5664}" dt="2025-12-09T17:39:07.410" v="625" actId="20577"/>
          <ac:spMkLst>
            <pc:docMk/>
            <pc:sldMk cId="0" sldId="269"/>
            <ac:spMk id="176" creationId="{00000000-0000-0000-0000-000000000000}"/>
          </ac:spMkLst>
        </pc:spChg>
      </pc:sldChg>
      <pc:sldChg chg="modSp">
        <pc:chgData name="Anne Boher" userId="7x3a6lbrnn6s+wa46K4IgxHXiw1S4rRdz5RxLI6MvHY=" providerId="None" clId="Web-{B8443B47-2931-484C-9FF9-D80AA95A5664}" dt="2025-12-09T17:28:01.960" v="179"/>
        <pc:sldMkLst>
          <pc:docMk/>
          <pc:sldMk cId="0" sldId="270"/>
        </pc:sldMkLst>
        <pc:graphicFrameChg chg="mod modGraphic">
          <ac:chgData name="Anne Boher" userId="7x3a6lbrnn6s+wa46K4IgxHXiw1S4rRdz5RxLI6MvHY=" providerId="None" clId="Web-{B8443B47-2931-484C-9FF9-D80AA95A5664}" dt="2025-12-09T17:28:01.960" v="179"/>
          <ac:graphicFrameMkLst>
            <pc:docMk/>
            <pc:sldMk cId="0" sldId="270"/>
            <ac:graphicFrameMk id="2" creationId="{00000000-0000-0000-0000-000000000000}"/>
          </ac:graphicFrameMkLst>
        </pc:graphicFrameChg>
      </pc:sldChg>
      <pc:sldChg chg="modSp">
        <pc:chgData name="Anne Boher" userId="7x3a6lbrnn6s+wa46K4IgxHXiw1S4rRdz5RxLI6MvHY=" providerId="None" clId="Web-{B8443B47-2931-484C-9FF9-D80AA95A5664}" dt="2025-12-09T17:37:39.376" v="613"/>
        <pc:sldMkLst>
          <pc:docMk/>
          <pc:sldMk cId="3894215024" sldId="277"/>
        </pc:sldMkLst>
        <pc:graphicFrameChg chg="mod modGraphic">
          <ac:chgData name="Anne Boher" userId="7x3a6lbrnn6s+wa46K4IgxHXiw1S4rRdz5RxLI6MvHY=" providerId="None" clId="Web-{B8443B47-2931-484C-9FF9-D80AA95A5664}" dt="2025-12-09T17:37:39.376" v="613"/>
          <ac:graphicFrameMkLst>
            <pc:docMk/>
            <pc:sldMk cId="3894215024" sldId="277"/>
            <ac:graphicFrameMk id="2" creationId="{00000000-0000-0000-0000-000000000000}"/>
          </ac:graphicFrameMkLst>
        </pc:graphicFrameChg>
      </pc:sldChg>
      <pc:sldChg chg="modSp">
        <pc:chgData name="Anne Boher" userId="7x3a6lbrnn6s+wa46K4IgxHXiw1S4rRdz5RxLI6MvHY=" providerId="None" clId="Web-{B8443B47-2931-484C-9FF9-D80AA95A5664}" dt="2025-12-09T17:17:07.255" v="48" actId="20577"/>
        <pc:sldMkLst>
          <pc:docMk/>
          <pc:sldMk cId="80651434" sldId="279"/>
        </pc:sldMkLst>
        <pc:spChg chg="mod">
          <ac:chgData name="Anne Boher" userId="7x3a6lbrnn6s+wa46K4IgxHXiw1S4rRdz5RxLI6MvHY=" providerId="None" clId="Web-{B8443B47-2931-484C-9FF9-D80AA95A5664}" dt="2025-12-09T17:17:07.255" v="48" actId="20577"/>
          <ac:spMkLst>
            <pc:docMk/>
            <pc:sldMk cId="80651434" sldId="279"/>
            <ac:spMk id="176" creationId="{3C33C437-B5BF-82F8-CD08-21E10EEF851F}"/>
          </ac:spMkLst>
        </pc:spChg>
      </pc:sldChg>
      <pc:sldChg chg="modSp">
        <pc:chgData name="Anne Boher" userId="7x3a6lbrnn6s+wa46K4IgxHXiw1S4rRdz5RxLI6MvHY=" providerId="None" clId="Web-{B8443B47-2931-484C-9FF9-D80AA95A5664}" dt="2025-12-09T17:38:41.503" v="619" actId="20577"/>
        <pc:sldMkLst>
          <pc:docMk/>
          <pc:sldMk cId="1150169659" sldId="280"/>
        </pc:sldMkLst>
        <pc:spChg chg="mod">
          <ac:chgData name="Anne Boher" userId="7x3a6lbrnn6s+wa46K4IgxHXiw1S4rRdz5RxLI6MvHY=" providerId="None" clId="Web-{B8443B47-2931-484C-9FF9-D80AA95A5664}" dt="2025-12-09T17:38:41.503" v="619" actId="20577"/>
          <ac:spMkLst>
            <pc:docMk/>
            <pc:sldMk cId="1150169659" sldId="280"/>
            <ac:spMk id="176" creationId="{59F218D3-5320-BDD2-4538-E876AAAF7423}"/>
          </ac:spMkLst>
        </pc:spChg>
      </pc:sldChg>
    </pc:docChg>
  </pc:docChgLst>
  <pc:docChgLst>
    <pc:chgData name="Guylain Sundisa Matutala" userId="YSPDKC5wB0Qul3u/Kc8aZQ3iZJXrk7GJbKo+XmS25AU=" providerId="None" clId="Web-{979E6A29-A928-463D-8C1F-FE0779AF52B2}"/>
    <pc:docChg chg="modSld sldOrd">
      <pc:chgData name="Guylain Sundisa Matutala" userId="YSPDKC5wB0Qul3u/Kc8aZQ3iZJXrk7GJbKo+XmS25AU=" providerId="None" clId="Web-{979E6A29-A928-463D-8C1F-FE0779AF52B2}" dt="2025-12-11T12:35:34.015" v="1261"/>
      <pc:docMkLst>
        <pc:docMk/>
      </pc:docMkLst>
      <pc:sldChg chg="modSp">
        <pc:chgData name="Guylain Sundisa Matutala" userId="YSPDKC5wB0Qul3u/Kc8aZQ3iZJXrk7GJbKo+XmS25AU=" providerId="None" clId="Web-{979E6A29-A928-463D-8C1F-FE0779AF52B2}" dt="2025-12-11T12:22:24.185" v="1154" actId="20577"/>
        <pc:sldMkLst>
          <pc:docMk/>
          <pc:sldMk cId="0" sldId="258"/>
        </pc:sldMkLst>
        <pc:spChg chg="mod">
          <ac:chgData name="Guylain Sundisa Matutala" userId="YSPDKC5wB0Qul3u/Kc8aZQ3iZJXrk7GJbKo+XmS25AU=" providerId="None" clId="Web-{979E6A29-A928-463D-8C1F-FE0779AF52B2}" dt="2025-12-11T12:22:24.185" v="1154" actId="20577"/>
          <ac:spMkLst>
            <pc:docMk/>
            <pc:sldMk cId="0" sldId="258"/>
            <ac:spMk id="160" creationId="{00000000-0000-0000-0000-000000000000}"/>
          </ac:spMkLst>
        </pc:spChg>
      </pc:sldChg>
      <pc:sldChg chg="modSp">
        <pc:chgData name="Guylain Sundisa Matutala" userId="YSPDKC5wB0Qul3u/Kc8aZQ3iZJXrk7GJbKo+XmS25AU=" providerId="None" clId="Web-{979E6A29-A928-463D-8C1F-FE0779AF52B2}" dt="2025-12-11T11:57:52.532" v="1073" actId="20577"/>
        <pc:sldMkLst>
          <pc:docMk/>
          <pc:sldMk cId="0" sldId="268"/>
        </pc:sldMkLst>
      </pc:sldChg>
      <pc:sldChg chg="modSp">
        <pc:chgData name="Guylain Sundisa Matutala" userId="YSPDKC5wB0Qul3u/Kc8aZQ3iZJXrk7GJbKo+XmS25AU=" providerId="None" clId="Web-{979E6A29-A928-463D-8C1F-FE0779AF52B2}" dt="2025-12-11T12:10:42.763" v="1081" actId="20577"/>
        <pc:sldMkLst>
          <pc:docMk/>
          <pc:sldMk cId="0" sldId="269"/>
        </pc:sldMkLst>
      </pc:sldChg>
      <pc:sldChg chg="ord">
        <pc:chgData name="Guylain Sundisa Matutala" userId="YSPDKC5wB0Qul3u/Kc8aZQ3iZJXrk7GJbKo+XmS25AU=" providerId="None" clId="Web-{979E6A29-A928-463D-8C1F-FE0779AF52B2}" dt="2025-12-11T12:27:08.577" v="1157"/>
        <pc:sldMkLst>
          <pc:docMk/>
          <pc:sldMk cId="630262139" sldId="275"/>
        </pc:sldMkLst>
      </pc:sldChg>
      <pc:sldChg chg="ord">
        <pc:chgData name="Guylain Sundisa Matutala" userId="YSPDKC5wB0Qul3u/Kc8aZQ3iZJXrk7GJbKo+XmS25AU=" providerId="None" clId="Web-{979E6A29-A928-463D-8C1F-FE0779AF52B2}" dt="2025-12-11T12:26:49.966" v="1156"/>
        <pc:sldMkLst>
          <pc:docMk/>
          <pc:sldMk cId="3894215024" sldId="277"/>
        </pc:sldMkLst>
      </pc:sldChg>
      <pc:sldChg chg="modSp">
        <pc:chgData name="Guylain Sundisa Matutala" userId="YSPDKC5wB0Qul3u/Kc8aZQ3iZJXrk7GJbKo+XmS25AU=" providerId="None" clId="Web-{979E6A29-A928-463D-8C1F-FE0779AF52B2}" dt="2025-12-11T11:55:08.839" v="1069"/>
        <pc:sldMkLst>
          <pc:docMk/>
          <pc:sldMk cId="1150169659" sldId="280"/>
        </pc:sldMkLst>
        <pc:graphicFrameChg chg="mod modGraphic">
          <ac:chgData name="Guylain Sundisa Matutala" userId="YSPDKC5wB0Qul3u/Kc8aZQ3iZJXrk7GJbKo+XmS25AU=" providerId="None" clId="Web-{979E6A29-A928-463D-8C1F-FE0779AF52B2}" dt="2025-12-11T11:55:08.839" v="1069"/>
          <ac:graphicFrameMkLst>
            <pc:docMk/>
            <pc:sldMk cId="1150169659" sldId="280"/>
            <ac:graphicFrameMk id="2" creationId="{A0F0ED3E-C744-48D3-43F3-F123565B6B75}"/>
          </ac:graphicFrameMkLst>
        </pc:graphicFrameChg>
      </pc:sldChg>
      <pc:sldChg chg="modSp modNotes">
        <pc:chgData name="Guylain Sundisa Matutala" userId="YSPDKC5wB0Qul3u/Kc8aZQ3iZJXrk7GJbKo+XmS25AU=" providerId="None" clId="Web-{979E6A29-A928-463D-8C1F-FE0779AF52B2}" dt="2025-12-11T12:35:34.015" v="1261"/>
        <pc:sldMkLst>
          <pc:docMk/>
          <pc:sldMk cId="3023329279" sldId="282"/>
        </pc:sldMkLst>
        <pc:graphicFrameChg chg="mod modGraphic">
          <ac:chgData name="Guylain Sundisa Matutala" userId="YSPDKC5wB0Qul3u/Kc8aZQ3iZJXrk7GJbKo+XmS25AU=" providerId="None" clId="Web-{979E6A29-A928-463D-8C1F-FE0779AF52B2}" dt="2025-12-11T12:35:34.015" v="1261"/>
          <ac:graphicFrameMkLst>
            <pc:docMk/>
            <pc:sldMk cId="3023329279" sldId="282"/>
            <ac:graphicFrameMk id="2" creationId="{590A0B16-64FE-9C2C-CF43-F66135246D6A}"/>
          </ac:graphicFrameMkLst>
        </pc:graphicFrameChg>
      </pc:sldChg>
      <pc:sldChg chg="modSp">
        <pc:chgData name="Guylain Sundisa Matutala" userId="YSPDKC5wB0Qul3u/Kc8aZQ3iZJXrk7GJbKo+XmS25AU=" providerId="None" clId="Web-{979E6A29-A928-463D-8C1F-FE0779AF52B2}" dt="2025-12-11T12:08:48.415" v="1079" actId="20577"/>
        <pc:sldMkLst>
          <pc:docMk/>
          <pc:sldMk cId="3118767732" sldId="284"/>
        </pc:sldMkLst>
      </pc:sldChg>
    </pc:docChg>
  </pc:docChgLst>
  <pc:docChgLst>
    <pc:chgData name="Rock Bashizi" userId="33qYcwBjLwumvsa0TuLIu9JIgVcxc/oMUhMENC2jLfM=" providerId="None" clId="Web-{7B5B9560-EEDD-49CC-90F3-40252E402EB3}"/>
    <pc:docChg chg="addSld modSld sldOrd">
      <pc:chgData name="Rock Bashizi" userId="33qYcwBjLwumvsa0TuLIu9JIgVcxc/oMUhMENC2jLfM=" providerId="None" clId="Web-{7B5B9560-EEDD-49CC-90F3-40252E402EB3}" dt="2025-12-10T13:10:36.803" v="1138"/>
      <pc:docMkLst>
        <pc:docMk/>
      </pc:docMkLst>
      <pc:sldChg chg="modSp">
        <pc:chgData name="Rock Bashizi" userId="33qYcwBjLwumvsa0TuLIu9JIgVcxc/oMUhMENC2jLfM=" providerId="None" clId="Web-{7B5B9560-EEDD-49CC-90F3-40252E402EB3}" dt="2025-12-10T12:33:26.878" v="374"/>
        <pc:sldMkLst>
          <pc:docMk/>
          <pc:sldMk cId="0" sldId="270"/>
        </pc:sldMkLst>
        <pc:graphicFrameChg chg="mod modGraphic">
          <ac:chgData name="Rock Bashizi" userId="33qYcwBjLwumvsa0TuLIu9JIgVcxc/oMUhMENC2jLfM=" providerId="None" clId="Web-{7B5B9560-EEDD-49CC-90F3-40252E402EB3}" dt="2025-12-10T12:33:26.878" v="374"/>
          <ac:graphicFrameMkLst>
            <pc:docMk/>
            <pc:sldMk cId="0" sldId="270"/>
            <ac:graphicFrameMk id="2" creationId="{00000000-0000-0000-0000-000000000000}"/>
          </ac:graphicFrameMkLst>
        </pc:graphicFrameChg>
      </pc:sldChg>
      <pc:sldChg chg="modSp">
        <pc:chgData name="Rock Bashizi" userId="33qYcwBjLwumvsa0TuLIu9JIgVcxc/oMUhMENC2jLfM=" providerId="None" clId="Web-{7B5B9560-EEDD-49CC-90F3-40252E402EB3}" dt="2025-12-10T13:10:36.803" v="1138"/>
        <pc:sldMkLst>
          <pc:docMk/>
          <pc:sldMk cId="0" sldId="272"/>
        </pc:sldMkLst>
        <pc:graphicFrameChg chg="mod modGraphic">
          <ac:chgData name="Rock Bashizi" userId="33qYcwBjLwumvsa0TuLIu9JIgVcxc/oMUhMENC2jLfM=" providerId="None" clId="Web-{7B5B9560-EEDD-49CC-90F3-40252E402EB3}" dt="2025-12-10T13:10:36.803" v="1138"/>
          <ac:graphicFrameMkLst>
            <pc:docMk/>
            <pc:sldMk cId="0" sldId="272"/>
            <ac:graphicFrameMk id="2" creationId="{00000000-0000-0000-0000-000000000000}"/>
          </ac:graphicFrameMkLst>
        </pc:graphicFrameChg>
      </pc:sldChg>
      <pc:sldChg chg="add replId">
        <pc:chgData name="Rock Bashizi" userId="33qYcwBjLwumvsa0TuLIu9JIgVcxc/oMUhMENC2jLfM=" providerId="None" clId="Web-{7B5B9560-EEDD-49CC-90F3-40252E402EB3}" dt="2025-12-10T12:34:37.318" v="375"/>
        <pc:sldMkLst>
          <pc:docMk/>
          <pc:sldMk cId="3023329279" sldId="2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12/16/2025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12/16/2025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txBody>
          <a:bodyPr/>
          <a:lstStyle/>
          <a:p>
            <a:endParaRPr lang="en-US"/>
          </a:p>
        </p:txBody>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8BBCEED-BEB4-5C6D-9D1D-991F6AADBDD6}"/>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A12EA18-369E-2818-6FD1-6B5A1A41A8B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A96B7E1-3D6E-22A3-406F-244596D0B9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91048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2CEB2EF4-0E82-3590-A253-5197F8BB94A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B1DE3091-8B62-EE26-1E30-33817A23256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60841BCB-F528-5C63-BD85-EE7548DCD1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panose="020F0502020204030204"/>
              <a:buNone/>
              <a:tabLst/>
              <a:defRPr/>
            </a:pPr>
            <a:endParaRPr lang="fr-FR"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1338892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1A24E38D-84ED-60E4-8A20-20F69C627D7C}"/>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04BDCF63-CFFF-00E0-22F2-886093AF9F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FD37F008-47DA-1327-1A80-34D74D8AA3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panose="020F0502020204030204"/>
              <a:buNone/>
              <a:tabLst/>
              <a:defRPr/>
            </a:pPr>
            <a:endParaRPr lang="fr-FR"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2771765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B9AF48A9-454E-9D42-114B-9223DF64DE7F}"/>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725DB7EB-4A1D-1FD5-997F-FC12C097507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9DAD5D35-C3F5-BEC3-3356-5EFCEA92E4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869356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281383A-DBD0-F2B4-DF26-A55CE9FBB3D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AD29F8A7-E3AF-BD2E-CCD9-E42AE2DE68B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BCDFF20-E29B-CF2C-3AD5-EF5CC610C2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411076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2E7E803-0B1E-0B1F-564B-E82A1AA7E202}"/>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6C379595-609A-5D34-DC97-C7AB8C63C2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5DE402D-770F-BE63-A427-443B0C590F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05116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768E407-0E83-433E-D614-DDFB0568D74F}"/>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240AD62A-F76A-E1A9-8BCF-C11DB5EA29D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1940847C-F441-F8E0-201B-5BD7542962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84947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69667E45-9F28-61DA-6F75-706502E812F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F8D9D85-2E73-4FE4-714E-9438296A3F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4C7024E4-8E65-4DCC-B852-25F5AEAD21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385387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350A8920-A2B1-4894-B8E5-D56BB956CC59}"/>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C6D9F74-D7C9-13EA-D999-B365C428080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5F57BF9F-554D-7D46-FA38-CCBE10F4AB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963505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4DD0AEC6-4D62-1E8A-437F-940A9BE8ADDD}"/>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AD4E6BA-C177-00ED-95AF-794D6B723A3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EB6386D7-DF8A-2EEB-DCCF-7428780590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857938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885560C-3BD5-120D-5210-AD28A36365B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107AA85-0200-38EA-A347-F97B32D1302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46E656C2-E7AB-4AF5-658E-3B8D70DE71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6865733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 </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a:sym typeface="+mn-ea"/>
              </a:rPr>
              <a:t>Click to edit Master title style</a:t>
            </a:r>
            <a:endParaRPr lang="en-US"/>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a:t>Click to edit Master text styles</a:t>
            </a:r>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
        <p:nvSpPr>
          <p:cNvPr id="5" name="Date Placeholder 4"/>
          <p:cNvSpPr>
            <a:spLocks noGrp="1"/>
          </p:cNvSpPr>
          <p:nvPr>
            <p:ph type="dt" sz="half" idx="10"/>
          </p:nvPr>
        </p:nvSpPr>
        <p:spPr/>
        <p:txBody>
          <a:bodyPr/>
          <a:lstStyle/>
          <a:p>
            <a:fld id="{760FBDFE-C587-4B4C-A407-44438C67B59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a:sym typeface="+mn-ea"/>
              </a:rPr>
              <a:t>Click to edit Master text styles</a:t>
            </a:r>
            <a:endParaRPr lang="en-US"/>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47A4-756D-490B-A52F-7D9E2C9FC0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a:sym typeface="+mn-ea"/>
              </a:rPr>
              <a:t>Click to edit Master text styles</a:t>
            </a:r>
            <a:endParaRPr lang="en-US"/>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t>
            </a:r>
            <a:r>
              <a:rPr lang="en-US" sz="4300" b="1" err="1">
                <a:solidFill>
                  <a:srgbClr val="1155CC"/>
                </a:solidFill>
                <a:latin typeface="Times New Roman" panose="02020603050405020304"/>
                <a:ea typeface="Times New Roman" panose="02020603050405020304"/>
                <a:cs typeface="Times New Roman" panose="02020603050405020304"/>
                <a:sym typeface="Times New Roman" panose="02020603050405020304"/>
              </a:rPr>
              <a:t>annuelle</a:t>
            </a:r>
            <a:r>
              <a:rPr lang="en-US" sz="4300" b="1">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43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Caneva</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s</a:t>
            </a:r>
            <a:r>
              <a:rPr 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des PTF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en</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appui</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à la vaccination</a:t>
            </a:r>
            <a:endParaRPr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a:buClr>
                <a:srgbClr val="000000"/>
              </a:buClr>
              <a:buSzPts val="3200"/>
            </a:pP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Nom du PTF: PATH</a:t>
            </a:r>
            <a:endParaRPr lang="en-US" altLang="en-US" sz="4300" b="1" i="1">
              <a:solidFill>
                <a:srgbClr val="1155CC"/>
              </a:solidFill>
              <a:latin typeface="Times New Roman" panose="02020603050405020304"/>
              <a:ea typeface="Times New Roman" panose="02020603050405020304"/>
              <a:cs typeface="Times New Roman" panose="02020603050405020304"/>
            </a:endParaRPr>
          </a:p>
        </p:txBody>
      </p:sp>
      <p:sp>
        <p:nvSpPr>
          <p:cNvPr id="149" name="Google Shape;149;g3aabd3d1b2d_0_149"/>
          <p:cNvSpPr/>
          <p:nvPr/>
        </p:nvSpPr>
        <p:spPr>
          <a:xfrm>
            <a:off x="3661467" y="1654444"/>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62494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5070578"/>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de </a:t>
            </a:r>
            <a:r>
              <a:rPr 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l</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’organisation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majeurs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de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l’année</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Defis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rencontrés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Solutions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apportées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a:t>
            </a:r>
          </a:p>
          <a:p>
            <a:pPr marL="609600" indent="-476250">
              <a:spcBef>
                <a:spcPts val="1300"/>
              </a:spcBef>
              <a:buClr>
                <a:srgbClr val="000000"/>
              </a:buClr>
              <a:buSzPts val="2700"/>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Valeur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ajoutée</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bonnes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pratiques et innovations</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rgbClr val="000000"/>
              </a:buClr>
              <a:buSzPts val="2700"/>
              <a:buAutoNum type="arabicPeriod"/>
            </a:pPr>
            <a:r>
              <a:rPr lang="en-US" sz="2400" err="1">
                <a:solidFill>
                  <a:schemeClr val="dk1"/>
                </a:solidFill>
                <a:latin typeface="Times New Roman" panose="02020603050405020304"/>
                <a:ea typeface="Times New Roman" panose="02020603050405020304"/>
                <a:cs typeface="Times New Roman" panose="02020603050405020304"/>
              </a:rPr>
              <a:t>Redevabilité</a:t>
            </a:r>
            <a:r>
              <a:rPr lang="en-US" sz="2400">
                <a:solidFill>
                  <a:schemeClr val="dk1"/>
                </a:solidFill>
                <a:latin typeface="Times New Roman" panose="02020603050405020304"/>
                <a:ea typeface="Times New Roman" panose="02020603050405020304"/>
                <a:cs typeface="Times New Roman" panose="02020603050405020304"/>
              </a:rPr>
              <a:t> financière</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engagement pour 2026 </a:t>
            </a:r>
            <a:endParaRPr lang="fr-FR"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rgbClr val="000000"/>
              </a:buClr>
              <a:buSzPts val="2700"/>
              <a:buAutoNum type="arabicPeriod"/>
            </a:pPr>
            <a:r>
              <a:rPr lang="fr-FR" altLang="en-US" sz="2400" err="1">
                <a:solidFill>
                  <a:schemeClr val="dk1"/>
                </a:solidFill>
                <a:latin typeface="Times New Roman" panose="02020603050405020304"/>
                <a:ea typeface="Times New Roman" panose="02020603050405020304"/>
                <a:cs typeface="Times New Roman" panose="02020603050405020304"/>
              </a:rPr>
              <a:t>Récommandations</a:t>
            </a:r>
            <a:endParaRPr lang="fr-FR"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Besoin de collaboration et plaidoyer</a:t>
            </a:r>
            <a:endParaRPr lang="fr-F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solidFill>
            <a:schemeClr val="bg1"/>
          </a:solid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PATH</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263524" y="1451316"/>
            <a:ext cx="7460943" cy="4743007"/>
          </a:xfrm>
          <a:prstGeom prst="rect">
            <a:avLst/>
          </a:prstGeom>
          <a:noFill/>
        </p:spPr>
        <p:txBody>
          <a:bodyPr wrap="square" lIns="91440" tIns="45720" rIns="91440" bIns="45720" rtlCol="0" anchor="t">
            <a:noAutofit/>
          </a:bodyPr>
          <a:lstStyle/>
          <a:p>
            <a:pPr marL="285750" indent="-285750">
              <a:buFont typeface="Arial"/>
              <a:buChar char="•"/>
            </a:pPr>
            <a:r>
              <a:rPr lang="fr-FR">
                <a:latin typeface="Arial"/>
                <a:cs typeface="Arial"/>
              </a:rPr>
              <a:t>PATH est une organisation internationale à but non lucratif. Son siège est à Seattle, dans l'État de Washington (Etats-Unis). Elle a été fondée en 1977.</a:t>
            </a:r>
            <a:endParaRPr lang="fr-FR">
              <a:latin typeface="Arial"/>
              <a:ea typeface="Calibri"/>
              <a:cs typeface="Arial"/>
            </a:endParaRPr>
          </a:p>
          <a:p>
            <a:pPr marL="285750" indent="-285750">
              <a:buFont typeface="Arial"/>
              <a:buChar char="•"/>
            </a:pPr>
            <a:endParaRPr lang="fr-FR">
              <a:latin typeface="Arial"/>
              <a:cs typeface="Arial"/>
            </a:endParaRPr>
          </a:p>
          <a:p>
            <a:pPr marL="285750" indent="-285750">
              <a:buFont typeface="Arial"/>
              <a:buChar char="•"/>
            </a:pPr>
            <a:r>
              <a:rPr lang="fr-FR">
                <a:latin typeface="Arial"/>
                <a:cs typeface="Arial"/>
              </a:rPr>
              <a:t>PATH œuvre pour assurer que tous accèdent à de meilleurs soins, quels que soient leur lieu de naissance, leur genre, leur statut socio-économique ou leur origine.</a:t>
            </a:r>
            <a:endParaRPr lang="fr-FR">
              <a:latin typeface="Arial"/>
              <a:ea typeface="Calibri"/>
              <a:cs typeface="Arial"/>
            </a:endParaRPr>
          </a:p>
          <a:p>
            <a:pPr marL="342900" indent="-342900">
              <a:buFont typeface="Arial"/>
              <a:buChar char="•"/>
            </a:pPr>
            <a:endParaRPr lang="fr-FR" sz="2400">
              <a:latin typeface="Arial" panose="020B0604020202020204" pitchFamily="34" charset="0"/>
              <a:cs typeface="Arial" panose="020B0604020202020204" pitchFamily="34" charset="0"/>
            </a:endParaRPr>
          </a:p>
          <a:p>
            <a:pPr marL="285750" indent="-285750">
              <a:buFont typeface="Arial"/>
              <a:buChar char="•"/>
            </a:pPr>
            <a:r>
              <a:rPr lang="fr-FR">
                <a:latin typeface="Arial"/>
                <a:cs typeface="Arial"/>
              </a:rPr>
              <a:t>La mission de PATH est de promouvoir l'équité en santé en accélérant l'innovation et en renforçant les systèmes de santé, 	en particulier dans des contextes des ressources limitées.</a:t>
            </a:r>
            <a:endParaRPr lang="fr-FR">
              <a:latin typeface="Arial"/>
              <a:ea typeface="Calibri"/>
              <a:cs typeface="Arial"/>
            </a:endParaRPr>
          </a:p>
          <a:p>
            <a:pPr marL="285750" indent="-285750">
              <a:buFont typeface="Arial"/>
              <a:buChar char="•"/>
            </a:pPr>
            <a:endParaRPr lang="fr-FR">
              <a:latin typeface="Arial"/>
              <a:cs typeface="Arial"/>
            </a:endParaRPr>
          </a:p>
          <a:p>
            <a:pPr marL="285750" indent="-285750">
              <a:buFont typeface="Arial"/>
              <a:buChar char="•"/>
            </a:pPr>
            <a:r>
              <a:rPr lang="fr-FR">
                <a:latin typeface="Arial"/>
                <a:cs typeface="Arial"/>
              </a:rPr>
              <a:t>Depuis plus de 15 ans, PATH RDC soutient le Ministère de la Santé Publique, de l'Hygiène et de la Prévention (MSPHP) dans la mise en œuvre de stratégies de santé publique à fort impact, dont plus de 10 ans d’appui au PEV. </a:t>
            </a:r>
            <a:endParaRPr lang="fr-FR" altLang="en-US" sz="2800">
              <a:latin typeface="Arial"/>
              <a:ea typeface="Calibri"/>
              <a:cs typeface="Arial"/>
            </a:endParaRPr>
          </a:p>
          <a:p>
            <a:endParaRPr lang="fr-FR" altLang="en-US" sz="2800"/>
          </a:p>
        </p:txBody>
      </p:sp>
      <p:grpSp>
        <p:nvGrpSpPr>
          <p:cNvPr id="41" name="Group 40">
            <a:extLst>
              <a:ext uri="{FF2B5EF4-FFF2-40B4-BE49-F238E27FC236}">
                <a16:creationId xmlns:a16="http://schemas.microsoft.com/office/drawing/2014/main" id="{AC03009F-BB22-5159-7332-62FDD7A5C7DA}"/>
              </a:ext>
            </a:extLst>
          </p:cNvPr>
          <p:cNvGrpSpPr/>
          <p:nvPr/>
        </p:nvGrpSpPr>
        <p:grpSpPr>
          <a:xfrm>
            <a:off x="7503443" y="1217672"/>
            <a:ext cx="4230049" cy="4250782"/>
            <a:chOff x="7503443" y="1217672"/>
            <a:chExt cx="4230049" cy="4250782"/>
          </a:xfrm>
        </p:grpSpPr>
        <p:grpSp>
          <p:nvGrpSpPr>
            <p:cNvPr id="39" name="Group 38">
              <a:extLst>
                <a:ext uri="{FF2B5EF4-FFF2-40B4-BE49-F238E27FC236}">
                  <a16:creationId xmlns:a16="http://schemas.microsoft.com/office/drawing/2014/main" id="{D5804777-0482-3121-D30F-49C4D0522A36}"/>
                </a:ext>
              </a:extLst>
            </p:cNvPr>
            <p:cNvGrpSpPr/>
            <p:nvPr/>
          </p:nvGrpSpPr>
          <p:grpSpPr>
            <a:xfrm>
              <a:off x="7503443" y="1217672"/>
              <a:ext cx="4230049" cy="4250782"/>
              <a:chOff x="7503443" y="1217672"/>
              <a:chExt cx="4230049" cy="4250782"/>
            </a:xfrm>
          </p:grpSpPr>
          <p:grpSp>
            <p:nvGrpSpPr>
              <p:cNvPr id="37" name="Group 36">
                <a:extLst>
                  <a:ext uri="{FF2B5EF4-FFF2-40B4-BE49-F238E27FC236}">
                    <a16:creationId xmlns:a16="http://schemas.microsoft.com/office/drawing/2014/main" id="{9DE3CE4C-1630-3CDD-07D6-E939D8D178AE}"/>
                  </a:ext>
                </a:extLst>
              </p:cNvPr>
              <p:cNvGrpSpPr/>
              <p:nvPr/>
            </p:nvGrpSpPr>
            <p:grpSpPr>
              <a:xfrm>
                <a:off x="7503443" y="1217672"/>
                <a:ext cx="4230049" cy="4218344"/>
                <a:chOff x="7587195" y="1152796"/>
                <a:chExt cx="4230049" cy="4218344"/>
              </a:xfrm>
            </p:grpSpPr>
            <p:grpSp>
              <p:nvGrpSpPr>
                <p:cNvPr id="36" name="Group 35">
                  <a:extLst>
                    <a:ext uri="{FF2B5EF4-FFF2-40B4-BE49-F238E27FC236}">
                      <a16:creationId xmlns:a16="http://schemas.microsoft.com/office/drawing/2014/main" id="{6671159A-83D8-366B-AD23-8679051485B1}"/>
                    </a:ext>
                  </a:extLst>
                </p:cNvPr>
                <p:cNvGrpSpPr/>
                <p:nvPr/>
              </p:nvGrpSpPr>
              <p:grpSpPr>
                <a:xfrm>
                  <a:off x="7587195" y="1152796"/>
                  <a:ext cx="4230049" cy="4218344"/>
                  <a:chOff x="7587195" y="1152796"/>
                  <a:chExt cx="4230049" cy="4218344"/>
                </a:xfrm>
              </p:grpSpPr>
              <p:grpSp>
                <p:nvGrpSpPr>
                  <p:cNvPr id="28" name="Group 27">
                    <a:extLst>
                      <a:ext uri="{FF2B5EF4-FFF2-40B4-BE49-F238E27FC236}">
                        <a16:creationId xmlns:a16="http://schemas.microsoft.com/office/drawing/2014/main" id="{D6BB8B8D-6AE1-4784-3992-D3DFA1237ABA}"/>
                      </a:ext>
                    </a:extLst>
                  </p:cNvPr>
                  <p:cNvGrpSpPr/>
                  <p:nvPr/>
                </p:nvGrpSpPr>
                <p:grpSpPr>
                  <a:xfrm>
                    <a:off x="7587195" y="1152796"/>
                    <a:ext cx="4230049" cy="4218344"/>
                    <a:chOff x="7587195" y="1152796"/>
                    <a:chExt cx="4230049" cy="4218344"/>
                  </a:xfrm>
                </p:grpSpPr>
                <p:pic>
                  <p:nvPicPr>
                    <p:cNvPr id="25" name="Picture 24" descr="A map of the states&#10;&#10;AI-generated content may be incorrect.">
                      <a:extLst>
                        <a:ext uri="{FF2B5EF4-FFF2-40B4-BE49-F238E27FC236}">
                          <a16:creationId xmlns:a16="http://schemas.microsoft.com/office/drawing/2014/main" id="{028019A0-C45E-6B51-295A-343C40BC97E1}"/>
                        </a:ext>
                      </a:extLst>
                    </p:cNvPr>
                    <p:cNvPicPr>
                      <a:picLocks noChangeAspect="1"/>
                    </p:cNvPicPr>
                    <p:nvPr/>
                  </p:nvPicPr>
                  <p:blipFill>
                    <a:blip r:embed="rId3"/>
                    <a:srcRect l="8892" t="5127" r="7572" b="2385"/>
                    <a:stretch>
                      <a:fillRect/>
                    </a:stretch>
                  </p:blipFill>
                  <p:spPr>
                    <a:xfrm>
                      <a:off x="7587195" y="1152796"/>
                      <a:ext cx="4230049" cy="4218344"/>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BD5A643F-77A0-DB85-A03F-A448785C6AA6}"/>
                        </a:ext>
                      </a:extLst>
                    </p:cNvPr>
                    <p:cNvPicPr>
                      <a:picLocks noChangeAspect="1"/>
                    </p:cNvPicPr>
                    <p:nvPr/>
                  </p:nvPicPr>
                  <p:blipFill>
                    <a:blip r:embed="rId4"/>
                    <a:srcRect b="14279"/>
                    <a:stretch>
                      <a:fillRect/>
                    </a:stretch>
                  </p:blipFill>
                  <p:spPr>
                    <a:xfrm>
                      <a:off x="8437286" y="4335239"/>
                      <a:ext cx="889046" cy="821977"/>
                    </a:xfrm>
                    <a:prstGeom prst="rect">
                      <a:avLst/>
                    </a:prstGeom>
                  </p:spPr>
                </p:pic>
              </p:grpSp>
              <p:sp>
                <p:nvSpPr>
                  <p:cNvPr id="29" name="Star: 4 Points 28">
                    <a:extLst>
                      <a:ext uri="{FF2B5EF4-FFF2-40B4-BE49-F238E27FC236}">
                        <a16:creationId xmlns:a16="http://schemas.microsoft.com/office/drawing/2014/main" id="{E41DA7EE-B0BD-9B08-0E33-6F438B69AC3E}"/>
                      </a:ext>
                    </a:extLst>
                  </p:cNvPr>
                  <p:cNvSpPr/>
                  <p:nvPr/>
                </p:nvSpPr>
                <p:spPr>
                  <a:xfrm>
                    <a:off x="8453628" y="5175504"/>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0" name="Star: 4 Points 29">
                    <a:extLst>
                      <a:ext uri="{FF2B5EF4-FFF2-40B4-BE49-F238E27FC236}">
                        <a16:creationId xmlns:a16="http://schemas.microsoft.com/office/drawing/2014/main" id="{D6A9F650-D668-77F0-ABE8-D0858F36E0AE}"/>
                      </a:ext>
                    </a:extLst>
                  </p:cNvPr>
                  <p:cNvSpPr/>
                  <p:nvPr/>
                </p:nvSpPr>
                <p:spPr>
                  <a:xfrm>
                    <a:off x="10425684" y="4152360"/>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1" name="Star: 4 Points 30">
                    <a:extLst>
                      <a:ext uri="{FF2B5EF4-FFF2-40B4-BE49-F238E27FC236}">
                        <a16:creationId xmlns:a16="http://schemas.microsoft.com/office/drawing/2014/main" id="{747AC0BB-5FA7-ECEF-474E-5265C9104DED}"/>
                      </a:ext>
                    </a:extLst>
                  </p:cNvPr>
                  <p:cNvSpPr/>
                  <p:nvPr/>
                </p:nvSpPr>
                <p:spPr>
                  <a:xfrm>
                    <a:off x="10946892" y="1615440"/>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2" name="Star: 4 Points 31">
                    <a:extLst>
                      <a:ext uri="{FF2B5EF4-FFF2-40B4-BE49-F238E27FC236}">
                        <a16:creationId xmlns:a16="http://schemas.microsoft.com/office/drawing/2014/main" id="{F7161875-5297-94A8-25BB-456D0778A511}"/>
                      </a:ext>
                    </a:extLst>
                  </p:cNvPr>
                  <p:cNvSpPr/>
                  <p:nvPr/>
                </p:nvSpPr>
                <p:spPr>
                  <a:xfrm>
                    <a:off x="9528483" y="1471939"/>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3" name="Star: 4 Points 32">
                    <a:extLst>
                      <a:ext uri="{FF2B5EF4-FFF2-40B4-BE49-F238E27FC236}">
                        <a16:creationId xmlns:a16="http://schemas.microsoft.com/office/drawing/2014/main" id="{7575E0BC-8BBB-C007-592A-89A0B14AD207}"/>
                      </a:ext>
                    </a:extLst>
                  </p:cNvPr>
                  <p:cNvSpPr/>
                  <p:nvPr/>
                </p:nvSpPr>
                <p:spPr>
                  <a:xfrm>
                    <a:off x="9075075" y="1654818"/>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4" name="Star: 4 Points 33">
                    <a:extLst>
                      <a:ext uri="{FF2B5EF4-FFF2-40B4-BE49-F238E27FC236}">
                        <a16:creationId xmlns:a16="http://schemas.microsoft.com/office/drawing/2014/main" id="{AE44322F-3A45-9995-64D8-7FF7B9E1BE37}"/>
                      </a:ext>
                    </a:extLst>
                  </p:cNvPr>
                  <p:cNvSpPr/>
                  <p:nvPr/>
                </p:nvSpPr>
                <p:spPr>
                  <a:xfrm>
                    <a:off x="10251948" y="1599953"/>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
              <p:nvSpPr>
                <p:cNvPr id="35" name="Star: 4 Points 34">
                  <a:extLst>
                    <a:ext uri="{FF2B5EF4-FFF2-40B4-BE49-F238E27FC236}">
                      <a16:creationId xmlns:a16="http://schemas.microsoft.com/office/drawing/2014/main" id="{464D8B08-BE2B-3CDA-CB5A-91EF98530445}"/>
                    </a:ext>
                  </a:extLst>
                </p:cNvPr>
                <p:cNvSpPr/>
                <p:nvPr/>
              </p:nvSpPr>
              <p:spPr>
                <a:xfrm>
                  <a:off x="8988207" y="2024093"/>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
            <p:nvSpPr>
              <p:cNvPr id="38" name="TextBox 37">
                <a:extLst>
                  <a:ext uri="{FF2B5EF4-FFF2-40B4-BE49-F238E27FC236}">
                    <a16:creationId xmlns:a16="http://schemas.microsoft.com/office/drawing/2014/main" id="{85506AA0-BAC0-82D2-5107-1EDF3A5E9DAD}"/>
                  </a:ext>
                </a:extLst>
              </p:cNvPr>
              <p:cNvSpPr txBox="1"/>
              <p:nvPr/>
            </p:nvSpPr>
            <p:spPr>
              <a:xfrm>
                <a:off x="8491063" y="5237622"/>
                <a:ext cx="1395916" cy="230832"/>
              </a:xfrm>
              <a:prstGeom prst="rect">
                <a:avLst/>
              </a:prstGeom>
              <a:noFill/>
            </p:spPr>
            <p:txBody>
              <a:bodyPr wrap="square" rtlCol="0">
                <a:spAutoFit/>
              </a:bodyPr>
              <a:lstStyle/>
              <a:p>
                <a:r>
                  <a:rPr lang="en-US" sz="900" b="1">
                    <a:solidFill>
                      <a:schemeClr val="tx1">
                        <a:lumMod val="50000"/>
                        <a:lumOff val="50000"/>
                      </a:schemeClr>
                    </a:solidFill>
                  </a:rPr>
                  <a:t>Avec CHAI pour le VAP</a:t>
                </a:r>
                <a:endParaRPr lang="fr-FR" sz="900" b="1">
                  <a:solidFill>
                    <a:schemeClr val="tx1">
                      <a:lumMod val="50000"/>
                      <a:lumOff val="50000"/>
                    </a:schemeClr>
                  </a:solidFill>
                </a:endParaRPr>
              </a:p>
            </p:txBody>
          </p:sp>
        </p:grpSp>
        <p:sp>
          <p:nvSpPr>
            <p:cNvPr id="40" name="Star: 4 Points 39">
              <a:extLst>
                <a:ext uri="{FF2B5EF4-FFF2-40B4-BE49-F238E27FC236}">
                  <a16:creationId xmlns:a16="http://schemas.microsoft.com/office/drawing/2014/main" id="{99BE9454-929D-18FF-8512-86CECD6B2092}"/>
                </a:ext>
              </a:extLst>
            </p:cNvPr>
            <p:cNvSpPr/>
            <p:nvPr/>
          </p:nvSpPr>
          <p:spPr>
            <a:xfrm>
              <a:off x="7550731" y="3464486"/>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218880210"/>
              </p:ext>
            </p:extLst>
          </p:nvPr>
        </p:nvGraphicFramePr>
        <p:xfrm>
          <a:off x="485799" y="927441"/>
          <a:ext cx="11172801" cy="5679175"/>
        </p:xfrm>
        <a:graphic>
          <a:graphicData uri="http://schemas.openxmlformats.org/drawingml/2006/table">
            <a:tbl>
              <a:tblPr firstRow="1" bandRow="1">
                <a:tableStyleId>{5C22544A-7EE6-4342-B048-85BDC9FD1C3A}</a:tableStyleId>
              </a:tblPr>
              <a:tblGrid>
                <a:gridCol w="2101278">
                  <a:extLst>
                    <a:ext uri="{9D8B030D-6E8A-4147-A177-3AD203B41FA5}">
                      <a16:colId xmlns:a16="http://schemas.microsoft.com/office/drawing/2014/main" val="20000"/>
                    </a:ext>
                  </a:extLst>
                </a:gridCol>
                <a:gridCol w="5776038">
                  <a:extLst>
                    <a:ext uri="{9D8B030D-6E8A-4147-A177-3AD203B41FA5}">
                      <a16:colId xmlns:a16="http://schemas.microsoft.com/office/drawing/2014/main" val="20001"/>
                    </a:ext>
                  </a:extLst>
                </a:gridCol>
                <a:gridCol w="1897626">
                  <a:extLst>
                    <a:ext uri="{9D8B030D-6E8A-4147-A177-3AD203B41FA5}">
                      <a16:colId xmlns:a16="http://schemas.microsoft.com/office/drawing/2014/main" val="20002"/>
                    </a:ext>
                  </a:extLst>
                </a:gridCol>
                <a:gridCol w="1397859">
                  <a:extLst>
                    <a:ext uri="{9D8B030D-6E8A-4147-A177-3AD203B41FA5}">
                      <a16:colId xmlns:a16="http://schemas.microsoft.com/office/drawing/2014/main" val="20003"/>
                    </a:ext>
                  </a:extLst>
                </a:gridCol>
              </a:tblGrid>
              <a:tr h="481781">
                <a:tc>
                  <a:txBody>
                    <a:bodyPr/>
                    <a:lstStyle/>
                    <a:p>
                      <a:pPr>
                        <a:buNone/>
                      </a:pPr>
                      <a:r>
                        <a:rPr lang="fr-FR" altLang="en-US" sz="1600"/>
                        <a:t>Domaine d’intervention </a:t>
                      </a:r>
                    </a:p>
                  </a:txBody>
                  <a:tcPr/>
                </a:tc>
                <a:tc>
                  <a:txBody>
                    <a:bodyPr/>
                    <a:lstStyle/>
                    <a:p>
                      <a:pPr>
                        <a:buNone/>
                      </a:pPr>
                      <a:r>
                        <a:rPr lang="fr-FR" altLang="en-US" sz="1600"/>
                        <a:t>Interventions </a:t>
                      </a:r>
                    </a:p>
                  </a:txBody>
                  <a:tcPr/>
                </a:tc>
                <a:tc>
                  <a:txBody>
                    <a:bodyPr/>
                    <a:lstStyle/>
                    <a:p>
                      <a:pPr>
                        <a:buNone/>
                      </a:pPr>
                      <a:r>
                        <a:rPr lang="fr-FR" altLang="en-US" sz="1600"/>
                        <a:t>Zone d’intervention </a:t>
                      </a:r>
                    </a:p>
                  </a:txBody>
                  <a:tcPr/>
                </a:tc>
                <a:tc>
                  <a:txBody>
                    <a:bodyPr/>
                    <a:lstStyle/>
                    <a:p>
                      <a:pPr algn="ctr">
                        <a:buNone/>
                      </a:pPr>
                      <a:r>
                        <a:rPr lang="fr-FR" altLang="en-US" sz="1600"/>
                        <a:t># consultants ou AT </a:t>
                      </a:r>
                    </a:p>
                  </a:txBody>
                  <a:tcPr/>
                </a:tc>
                <a:extLst>
                  <a:ext uri="{0D108BD9-81ED-4DB2-BD59-A6C34878D82A}">
                    <a16:rowId xmlns:a16="http://schemas.microsoft.com/office/drawing/2014/main" val="10000"/>
                  </a:ext>
                </a:extLst>
              </a:tr>
              <a:tr h="17014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a:solidFill>
                            <a:schemeClr val="tx1"/>
                          </a:solidFill>
                          <a:latin typeface="Arial"/>
                          <a:ea typeface="+mn-ea"/>
                          <a:cs typeface="+mn-cs"/>
                          <a:sym typeface="Arial"/>
                        </a:rPr>
                        <a:t>Leadership, Management, and Coordination (LMC)</a:t>
                      </a:r>
                      <a:endParaRPr lang="fr-FR" sz="1400" b="1" i="0" u="none" strike="noStrike" cap="none">
                        <a:solidFill>
                          <a:schemeClr val="tx1"/>
                        </a:solidFill>
                        <a:latin typeface="Arial"/>
                        <a:ea typeface="+mn-ea"/>
                        <a:cs typeface="+mn-cs"/>
                        <a:sym typeface="Arial"/>
                      </a:endParaRPr>
                    </a:p>
                  </a:txBody>
                  <a:tcPr/>
                </a:tc>
                <a:tc>
                  <a:txBody>
                    <a:bodyPr/>
                    <a:lstStyle/>
                    <a:p>
                      <a:pPr marL="285750" marR="0" lvl="0" indent="-285750" algn="l" rtl="0" eaLnBrk="1" fontAlgn="auto" latinLnBrk="0" hangingPunct="1">
                        <a:lnSpc>
                          <a:spcPct val="100000"/>
                        </a:lnSpc>
                        <a:spcBef>
                          <a:spcPts val="0"/>
                        </a:spcBef>
                        <a:spcAft>
                          <a:spcPts val="0"/>
                        </a:spcAft>
                        <a:buClrTx/>
                        <a:buSzTx/>
                        <a:buFont typeface="Arial"/>
                        <a:buChar char="•"/>
                      </a:pPr>
                      <a:r>
                        <a:rPr lang="fr-FR" sz="1400" b="0" i="0" u="none" strike="noStrike" cap="none">
                          <a:solidFill>
                            <a:schemeClr val="dk1"/>
                          </a:solidFill>
                          <a:effectLst/>
                          <a:latin typeface="Arial"/>
                          <a:ea typeface="+mn-ea"/>
                          <a:cs typeface="+mn-cs"/>
                          <a:sym typeface="Arial"/>
                        </a:rPr>
                        <a:t>Appui à la coordination et planification​ d’introduction et </a:t>
                      </a:r>
                      <a:r>
                        <a:rPr lang="fr-FR" sz="1400" b="0" i="0" u="none" strike="noStrike" cap="none">
                          <a:solidFill>
                            <a:schemeClr val="dk1"/>
                          </a:solidFill>
                          <a:effectLst/>
                          <a:latin typeface="Arial"/>
                          <a:ea typeface="+mn-ea"/>
                          <a:cs typeface="+mn-cs"/>
                        </a:rPr>
                        <a:t>extension VAP</a:t>
                      </a:r>
                    </a:p>
                    <a:p>
                      <a:pPr marL="285750" marR="0" lvl="0" indent="-285750" algn="l">
                        <a:lnSpc>
                          <a:spcPct val="100000"/>
                        </a:lnSpc>
                        <a:spcBef>
                          <a:spcPts val="0"/>
                        </a:spcBef>
                        <a:spcAft>
                          <a:spcPts val="0"/>
                        </a:spcAft>
                        <a:buClrTx/>
                        <a:buSzTx/>
                        <a:buFont typeface="Arial"/>
                        <a:buChar char="•"/>
                      </a:pPr>
                      <a:r>
                        <a:rPr lang="fr-FR" sz="1400" b="0" i="0" u="none" strike="noStrike" cap="none" noProof="0">
                          <a:solidFill>
                            <a:schemeClr val="tx1"/>
                          </a:solidFill>
                          <a:effectLst/>
                          <a:latin typeface="Arial"/>
                        </a:rPr>
                        <a:t>Appui a l’organisation du forum national sur la vaccination et l’éradication de la poliomyélite</a:t>
                      </a:r>
                      <a:r>
                        <a:rPr lang="fr-FR" sz="1400" b="0" i="0" u="none" strike="noStrike" cap="none" noProof="0">
                          <a:solidFill>
                            <a:schemeClr val="tx1"/>
                          </a:solidFill>
                          <a:effectLst/>
                          <a:latin typeface="+mn-lt"/>
                        </a:rPr>
                        <a:t> et </a:t>
                      </a:r>
                      <a:r>
                        <a:rPr lang="fr-FR" sz="1400" b="0" i="0" u="none" strike="noStrike" cap="none" noProof="0">
                          <a:solidFill>
                            <a:schemeClr val="tx1"/>
                          </a:solidFill>
                          <a:effectLst/>
                          <a:latin typeface="Arial"/>
                        </a:rPr>
                        <a:t>suivi des engagements des provinces de déclaration de Kinshasa</a:t>
                      </a:r>
                      <a:endParaRPr lang="fr-FR" sz="1400">
                        <a:solidFill>
                          <a:schemeClr val="tx1"/>
                        </a:solidFill>
                      </a:endParaRPr>
                    </a:p>
                    <a:p>
                      <a:pPr marL="285750" marR="0" lvl="0" indent="-285750" algn="l" defTabSz="914400">
                        <a:lnSpc>
                          <a:spcPct val="100000"/>
                        </a:lnSpc>
                        <a:spcBef>
                          <a:spcPts val="0"/>
                        </a:spcBef>
                        <a:spcAft>
                          <a:spcPts val="0"/>
                        </a:spcAft>
                        <a:buClrTx/>
                        <a:buSzTx/>
                        <a:buFont typeface="Arial"/>
                        <a:buChar char="•"/>
                        <a:tabLst/>
                        <a:defRPr/>
                      </a:pPr>
                      <a:r>
                        <a:rPr lang="fr-FR" sz="1400" b="0" i="0" u="none" strike="noStrike" kern="1200" cap="none" noProof="0">
                          <a:solidFill>
                            <a:schemeClr val="tx1"/>
                          </a:solidFill>
                          <a:effectLst/>
                          <a:latin typeface="Arial"/>
                          <a:ea typeface="+mn-ea"/>
                          <a:cs typeface="+mn-cs"/>
                        </a:rPr>
                        <a:t>Appui au plaidoyer par la structuration, la consolidation du REPACAV  et la mise en œuvre de la feuille de route du réseau.</a:t>
                      </a:r>
                      <a:endParaRPr lang="fr-FR" sz="1400" b="0" i="0" u="none" strike="noStrike" kern="1200" cap="none">
                        <a:solidFill>
                          <a:schemeClr val="tx1"/>
                        </a:solidFill>
                        <a:effectLst/>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a:solidFill>
                            <a:schemeClr val="dk1"/>
                          </a:solidFill>
                          <a:effectLst/>
                          <a:latin typeface="Arial"/>
                          <a:ea typeface="+mn-ea"/>
                          <a:cs typeface="+mn-cs"/>
                        </a:rPr>
                        <a:t>National,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a:solidFill>
                            <a:schemeClr val="dk1"/>
                          </a:solidFill>
                          <a:effectLst/>
                          <a:latin typeface="Arial"/>
                          <a:ea typeface="+mn-ea"/>
                          <a:cs typeface="+mn-cs"/>
                        </a:rPr>
                        <a:t>Provinces/</a:t>
                      </a:r>
                      <a:r>
                        <a:rPr lang="en-US" sz="1400" b="0" i="0" u="none" strike="noStrike" kern="1200" cap="none" err="1">
                          <a:solidFill>
                            <a:schemeClr val="dk1"/>
                          </a:solidFill>
                          <a:effectLst/>
                          <a:latin typeface="Arial"/>
                          <a:ea typeface="+mn-ea"/>
                          <a:cs typeface="+mn-cs"/>
                        </a:rPr>
                        <a:t>Antennes</a:t>
                      </a:r>
                      <a:endParaRPr lang="fr-FR" sz="1400" b="0" i="0" u="none" strike="noStrike" kern="1200" cap="none">
                        <a:solidFill>
                          <a:schemeClr val="dk1"/>
                        </a:solidFill>
                        <a:effectLst/>
                        <a:latin typeface="Arial"/>
                        <a:ea typeface="+mn-ea"/>
                        <a:cs typeface="+mn-cs"/>
                      </a:endParaRPr>
                    </a:p>
                  </a:txBody>
                  <a:tcPr/>
                </a:tc>
                <a:tc>
                  <a:txBody>
                    <a:bodyPr/>
                    <a:lstStyle/>
                    <a:p>
                      <a:pPr algn="ctr">
                        <a:buNone/>
                      </a:pPr>
                      <a:r>
                        <a:rPr lang="fr-FR" altLang="en-US" sz="1400">
                          <a:latin typeface="Arial"/>
                        </a:rPr>
                        <a:t>6</a:t>
                      </a:r>
                    </a:p>
                    <a:p>
                      <a:pPr lvl="0" algn="ctr">
                        <a:buNone/>
                      </a:pPr>
                      <a:r>
                        <a:rPr lang="fr-FR" altLang="en-US" sz="1400">
                          <a:solidFill>
                            <a:schemeClr val="tx1"/>
                          </a:solidFill>
                          <a:latin typeface="Arial"/>
                        </a:rPr>
                        <a:t>9</a:t>
                      </a:r>
                    </a:p>
                  </a:txBody>
                  <a:tcPr/>
                </a:tc>
                <a:extLst>
                  <a:ext uri="{0D108BD9-81ED-4DB2-BD59-A6C34878D82A}">
                    <a16:rowId xmlns:a16="http://schemas.microsoft.com/office/drawing/2014/main" val="10001"/>
                  </a:ext>
                </a:extLst>
              </a:tr>
              <a:tr h="868805">
                <a:tc>
                  <a:txBody>
                    <a:bodyPr/>
                    <a:lstStyle/>
                    <a:p>
                      <a:r>
                        <a:rPr lang="en-US" sz="1400" b="1" i="0" u="none" strike="noStrike" cap="none">
                          <a:solidFill>
                            <a:schemeClr val="tx1"/>
                          </a:solidFill>
                          <a:latin typeface="Arial"/>
                          <a:ea typeface="+mn-ea"/>
                          <a:cs typeface="+mn-cs"/>
                          <a:sym typeface="Arial"/>
                        </a:rPr>
                        <a:t>Prestation des services</a:t>
                      </a:r>
                      <a:endParaRPr lang="fr-FR" sz="1400" b="1" i="0" u="none" strike="noStrike" cap="none">
                        <a:solidFill>
                          <a:schemeClr val="tx1"/>
                        </a:solidFill>
                        <a:latin typeface="Arial"/>
                        <a:ea typeface="+mn-ea"/>
                        <a:cs typeface="+mn-cs"/>
                        <a:sym typeface="Arial"/>
                      </a:endParaRPr>
                    </a:p>
                  </a:txBody>
                  <a:tcPr anchor="ctr"/>
                </a:tc>
                <a:tc>
                  <a:txBody>
                    <a:bodyPr/>
                    <a:lstStyle/>
                    <a:p>
                      <a:pPr marL="171450" lvl="0" indent="-171450" algn="l" fontAlgn="t">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Appui aux formations</a:t>
                      </a:r>
                      <a:r>
                        <a:rPr lang="fr-FR" sz="1400" b="0" i="0" u="none" strike="noStrike" kern="1200" cap="none" noProof="0">
                          <a:solidFill>
                            <a:schemeClr val="tx1"/>
                          </a:solidFill>
                          <a:latin typeface="Arial"/>
                          <a:ea typeface="+mn-ea"/>
                          <a:cs typeface="+mn-cs"/>
                          <a:sym typeface="Arial"/>
                        </a:rPr>
                        <a:t> et le renforcement des capacités</a:t>
                      </a:r>
                      <a:r>
                        <a:rPr lang="fr-FR" sz="1400" b="0" i="0" u="none" strike="noStrike" kern="1200" cap="none" noProof="0">
                          <a:solidFill>
                            <a:schemeClr val="tx1"/>
                          </a:solidFill>
                          <a:latin typeface="Arial"/>
                          <a:ea typeface="+mn-ea"/>
                          <a:cs typeface="+mn-cs"/>
                        </a:rPr>
                        <a:t> sur VAP</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 Appui aux supervisions</a:t>
                      </a:r>
                      <a:r>
                        <a:rPr lang="fr-FR" sz="1400" b="0" i="0" u="none" strike="noStrike" kern="1200" cap="none" noProof="0">
                          <a:solidFill>
                            <a:schemeClr val="tx1"/>
                          </a:solidFill>
                          <a:latin typeface="Arial"/>
                          <a:ea typeface="+mn-ea"/>
                          <a:cs typeface="+mn-cs"/>
                          <a:sym typeface="Arial"/>
                        </a:rPr>
                        <a:t> </a:t>
                      </a:r>
                      <a:r>
                        <a:rPr lang="fr-FR" sz="1400" b="0" i="0" u="none" strike="noStrike" kern="1200" cap="none" noProof="0">
                          <a:solidFill>
                            <a:schemeClr val="tx1"/>
                          </a:solidFill>
                          <a:latin typeface="Arial"/>
                          <a:ea typeface="+mn-ea"/>
                          <a:cs typeface="+mn-cs"/>
                        </a:rPr>
                        <a:t>pré </a:t>
                      </a:r>
                      <a:r>
                        <a:rPr lang="fr-FR" sz="1400" b="0" i="0" u="none" strike="noStrike" kern="1200" cap="none" noProof="0">
                          <a:solidFill>
                            <a:schemeClr val="tx1"/>
                          </a:solidFill>
                          <a:latin typeface="Arial"/>
                          <a:ea typeface="+mn-ea"/>
                          <a:cs typeface="+mn-cs"/>
                          <a:sym typeface="Arial"/>
                        </a:rPr>
                        <a:t>et post-introduction</a:t>
                      </a:r>
                      <a:r>
                        <a:rPr lang="fr-FR" sz="1400" b="0" i="0" u="none" strike="noStrike" kern="1200" cap="none" noProof="0">
                          <a:solidFill>
                            <a:schemeClr val="tx1"/>
                          </a:solidFill>
                          <a:latin typeface="Arial"/>
                          <a:ea typeface="+mn-ea"/>
                          <a:cs typeface="+mn-cs"/>
                        </a:rPr>
                        <a:t> VAP</a:t>
                      </a:r>
                      <a:endParaRPr lang="fr-FR"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 Appui à l’élaboration</a:t>
                      </a:r>
                      <a:r>
                        <a:rPr lang="fr-FR" sz="1400" b="0" i="0" u="none" strike="noStrike" kern="1200" cap="none" noProof="0">
                          <a:solidFill>
                            <a:schemeClr val="tx1"/>
                          </a:solidFill>
                          <a:latin typeface="Arial"/>
                          <a:ea typeface="+mn-ea"/>
                          <a:cs typeface="+mn-cs"/>
                          <a:sym typeface="Arial"/>
                        </a:rPr>
                        <a:t>/actualisation des documents </a:t>
                      </a:r>
                      <a:r>
                        <a:rPr lang="fr-FR" sz="1400" b="0" i="0" u="none" strike="noStrike" kern="1200" cap="none" noProof="0">
                          <a:solidFill>
                            <a:schemeClr val="tx1"/>
                          </a:solidFill>
                          <a:latin typeface="Arial"/>
                          <a:ea typeface="+mn-ea"/>
                          <a:cs typeface="+mn-cs"/>
                        </a:rPr>
                        <a:t>stratégiques</a:t>
                      </a:r>
                    </a:p>
                    <a:p>
                      <a:pPr marL="171450" lvl="0" indent="-171450" algn="l">
                        <a:lnSpc>
                          <a:spcPct val="100000"/>
                        </a:lnSpc>
                        <a:spcBef>
                          <a:spcPts val="0"/>
                        </a:spcBef>
                        <a:spcAft>
                          <a:spcPts val="0"/>
                        </a:spcAft>
                        <a:buFont typeface="Arial"/>
                        <a:buChar char="•"/>
                      </a:pPr>
                      <a:r>
                        <a:rPr lang="fr-FR" sz="1400" b="0" i="0" u="none" strike="noStrike" kern="1200" cap="none">
                          <a:solidFill>
                            <a:schemeClr val="tx1"/>
                          </a:solidFill>
                          <a:latin typeface="Arial"/>
                          <a:ea typeface="+mn-ea"/>
                          <a:cs typeface="+mn-cs"/>
                        </a:rPr>
                        <a:t>Appui à l'intégration des activités de vaccination dans les ESS publics et privés </a:t>
                      </a:r>
                      <a:endParaRPr lang="en-US" sz="1400" b="0" i="0" u="none" strike="noStrike" kern="1200" cap="none">
                        <a:solidFill>
                          <a:schemeClr val="tx1"/>
                        </a:solidFill>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kern="1200" cap="none">
                          <a:solidFill>
                            <a:schemeClr val="dk1"/>
                          </a:solidFill>
                          <a:effectLst/>
                          <a:latin typeface="Arial"/>
                          <a:ea typeface="+mn-ea"/>
                          <a:cs typeface="+mn-cs"/>
                        </a:rPr>
                        <a:t>National, Province/</a:t>
                      </a:r>
                      <a:r>
                        <a:rPr lang="en-US" sz="1400" b="0" i="0" u="none" strike="noStrike" kern="1200" cap="none" err="1">
                          <a:solidFill>
                            <a:schemeClr val="dk1"/>
                          </a:solidFill>
                          <a:effectLst/>
                          <a:latin typeface="Arial"/>
                          <a:ea typeface="+mn-ea"/>
                          <a:cs typeface="+mn-cs"/>
                        </a:rPr>
                        <a:t>Antennes</a:t>
                      </a:r>
                      <a:endParaRPr lang="en-US" sz="1400" b="0" i="0" u="none" strike="noStrike" kern="1200" cap="none">
                        <a:solidFill>
                          <a:schemeClr val="dk1"/>
                        </a:solidFill>
                        <a:effectLst/>
                        <a:latin typeface="Arial"/>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b="0" i="0" u="none" strike="noStrike" kern="1200" cap="none">
                          <a:solidFill>
                            <a:schemeClr val="dk1"/>
                          </a:solidFill>
                          <a:effectLst/>
                          <a:latin typeface="Arial"/>
                          <a:ea typeface="+mn-ea"/>
                          <a:cs typeface="+mn-cs"/>
                        </a:rPr>
                        <a:t>Zones de </a:t>
                      </a:r>
                      <a:r>
                        <a:rPr lang="fr-FR" sz="1400" b="0" i="0" u="none" strike="noStrike" kern="1200" cap="none" err="1">
                          <a:solidFill>
                            <a:schemeClr val="dk1"/>
                          </a:solidFill>
                          <a:effectLst/>
                          <a:latin typeface="Arial"/>
                          <a:ea typeface="+mn-ea"/>
                          <a:cs typeface="+mn-cs"/>
                        </a:rPr>
                        <a:t>sant</a:t>
                      </a:r>
                      <a:r>
                        <a:rPr lang="en-US" sz="1400" b="0" i="0" u="none" strike="noStrike" kern="1200" cap="none" noProof="0">
                          <a:solidFill>
                            <a:schemeClr val="dk1"/>
                          </a:solidFill>
                          <a:effectLst/>
                          <a:latin typeface="Arial"/>
                          <a:ea typeface="+mn-ea"/>
                          <a:cs typeface="+mn-cs"/>
                        </a:rPr>
                        <a:t>é</a:t>
                      </a:r>
                    </a:p>
                  </a:txBody>
                  <a:tcPr/>
                </a:tc>
                <a:tc>
                  <a:txBody>
                    <a:bodyPr/>
                    <a:lstStyle/>
                    <a:p>
                      <a:pPr algn="ctr">
                        <a:buNone/>
                      </a:pPr>
                      <a:r>
                        <a:rPr lang="fr-FR" altLang="en-US" sz="1400">
                          <a:latin typeface="Arial"/>
                        </a:rPr>
                        <a:t>16</a:t>
                      </a:r>
                    </a:p>
                    <a:p>
                      <a:pPr algn="ctr">
                        <a:buNone/>
                      </a:pPr>
                      <a:r>
                        <a:rPr lang="fr-FR" altLang="en-US" sz="1400">
                          <a:latin typeface="Arial"/>
                        </a:rPr>
                        <a:t>3</a:t>
                      </a:r>
                    </a:p>
                  </a:txBody>
                  <a:tcPr anchor="ctr"/>
                </a:tc>
                <a:extLst>
                  <a:ext uri="{0D108BD9-81ED-4DB2-BD59-A6C34878D82A}">
                    <a16:rowId xmlns:a16="http://schemas.microsoft.com/office/drawing/2014/main" val="10002"/>
                  </a:ext>
                </a:extLst>
              </a:tr>
              <a:tr h="868805">
                <a:tc>
                  <a:txBody>
                    <a:bodyPr/>
                    <a:lstStyle/>
                    <a:p>
                      <a:r>
                        <a:rPr lang="en-US" sz="1400" b="1" i="0" u="none" strike="noStrike" cap="none">
                          <a:solidFill>
                            <a:schemeClr val="tx1"/>
                          </a:solidFill>
                          <a:latin typeface="Arial"/>
                          <a:ea typeface="+mn-ea"/>
                          <a:cs typeface="+mn-cs"/>
                          <a:sym typeface="Arial"/>
                        </a:rPr>
                        <a:t>Chaine d’approvisionnement et logistique</a:t>
                      </a:r>
                      <a:endParaRPr lang="fr-FR" sz="1400" b="1" i="0" u="none" strike="noStrike" cap="none" err="1">
                        <a:solidFill>
                          <a:schemeClr val="tx1"/>
                        </a:solidFill>
                        <a:latin typeface="Arial"/>
                        <a:ea typeface="+mn-ea"/>
                        <a:cs typeface="+mn-cs"/>
                        <a:sym typeface="Arial"/>
                      </a:endParaRPr>
                    </a:p>
                  </a:txBody>
                  <a:tcPr anchor="ctr"/>
                </a:tc>
                <a:tc>
                  <a:txBody>
                    <a:bodyPr/>
                    <a:lstStyle/>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aux estimations des </a:t>
                      </a:r>
                      <a:r>
                        <a:rPr lang="en-US" sz="1400" b="0" i="0" u="none" strike="noStrike" kern="1200" cap="none" noProof="0" err="1">
                          <a:solidFill>
                            <a:schemeClr val="tx1"/>
                          </a:solidFill>
                          <a:latin typeface="Arial"/>
                          <a:ea typeface="+mn-ea"/>
                          <a:cs typeface="+mn-cs"/>
                        </a:rPr>
                        <a:t>besoins</a:t>
                      </a:r>
                      <a:r>
                        <a:rPr lang="en-US" sz="1400" b="0" i="0" u="none" strike="noStrike" kern="1200" cap="none" noProof="0">
                          <a:solidFill>
                            <a:schemeClr val="tx1"/>
                          </a:solidFill>
                          <a:latin typeface="Arial"/>
                          <a:ea typeface="+mn-ea"/>
                          <a:cs typeface="+mn-cs"/>
                        </a:rPr>
                        <a:t> </a:t>
                      </a:r>
                      <a:r>
                        <a:rPr lang="en-US" sz="1400" b="0" i="0" u="none" strike="noStrike" kern="1200" cap="none" noProof="0" err="1">
                          <a:solidFill>
                            <a:schemeClr val="tx1"/>
                          </a:solidFill>
                          <a:latin typeface="Arial"/>
                          <a:ea typeface="+mn-ea"/>
                          <a:cs typeface="+mn-cs"/>
                        </a:rPr>
                        <a:t>en</a:t>
                      </a:r>
                      <a:r>
                        <a:rPr lang="en-US" sz="1400" b="0" i="0" u="none" strike="noStrike" kern="1200" cap="none" noProof="0">
                          <a:solidFill>
                            <a:schemeClr val="tx1"/>
                          </a:solidFill>
                          <a:latin typeface="Arial"/>
                          <a:ea typeface="+mn-ea"/>
                          <a:cs typeface="+mn-cs"/>
                        </a:rPr>
                        <a:t> </a:t>
                      </a:r>
                      <a:r>
                        <a:rPr lang="en-US" sz="1400" b="0" i="0" u="none" strike="noStrike" kern="1200" cap="none" noProof="0" err="1">
                          <a:solidFill>
                            <a:schemeClr val="tx1"/>
                          </a:solidFill>
                          <a:latin typeface="Arial"/>
                          <a:ea typeface="+mn-ea"/>
                          <a:cs typeface="+mn-cs"/>
                        </a:rPr>
                        <a:t>vaccins</a:t>
                      </a:r>
                      <a:r>
                        <a:rPr lang="en-US" sz="1400" b="0" i="0" u="none" strike="noStrike" kern="1200" cap="none" noProof="0">
                          <a:solidFill>
                            <a:schemeClr val="tx1"/>
                          </a:solidFill>
                          <a:latin typeface="Arial"/>
                          <a:ea typeface="+mn-ea"/>
                          <a:cs typeface="+mn-cs"/>
                        </a:rPr>
                        <a:t> et intrants </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Suivi</a:t>
                      </a:r>
                      <a:r>
                        <a:rPr lang="en-US" sz="1400" b="0" i="0" u="none" strike="noStrike" kern="1200" cap="none" noProof="0">
                          <a:solidFill>
                            <a:schemeClr val="tx1"/>
                          </a:solidFill>
                          <a:latin typeface="Arial"/>
                          <a:ea typeface="+mn-ea"/>
                          <a:cs typeface="+mn-cs"/>
                        </a:rPr>
                        <a:t> de </a:t>
                      </a:r>
                      <a:r>
                        <a:rPr lang="en-US" sz="1400" b="0" i="0" u="none" strike="noStrike" kern="1200" cap="none" noProof="0">
                          <a:solidFill>
                            <a:schemeClr val="tx1"/>
                          </a:solidFill>
                          <a:latin typeface="Arial"/>
                          <a:ea typeface="+mn-ea"/>
                          <a:cs typeface="+mn-cs"/>
                          <a:sym typeface="Arial"/>
                        </a:rPr>
                        <a:t>la </a:t>
                      </a:r>
                      <a:r>
                        <a:rPr lang="en-US" sz="1400" b="0" i="0" u="none" strike="noStrike" kern="1200" cap="none" noProof="0" err="1">
                          <a:solidFill>
                            <a:schemeClr val="tx1"/>
                          </a:solidFill>
                          <a:latin typeface="Arial"/>
                          <a:ea typeface="+mn-ea"/>
                          <a:cs typeface="+mn-cs"/>
                          <a:sym typeface="Arial"/>
                        </a:rPr>
                        <a:t>disponibilité</a:t>
                      </a:r>
                      <a:r>
                        <a:rPr lang="en-US" sz="1400" b="0" i="0" u="none" strike="noStrike" kern="1200" cap="none" noProof="0">
                          <a:solidFill>
                            <a:schemeClr val="tx1"/>
                          </a:solidFill>
                          <a:latin typeface="Arial"/>
                          <a:ea typeface="+mn-ea"/>
                          <a:cs typeface="+mn-cs"/>
                          <a:sym typeface="Arial"/>
                        </a:rPr>
                        <a:t> et </a:t>
                      </a:r>
                      <a:r>
                        <a:rPr lang="en-US" sz="1400" b="0" i="0" u="none" strike="noStrike" kern="1200" cap="none" noProof="0">
                          <a:solidFill>
                            <a:schemeClr val="tx1"/>
                          </a:solidFill>
                          <a:latin typeface="Arial"/>
                          <a:ea typeface="+mn-ea"/>
                          <a:cs typeface="+mn-cs"/>
                        </a:rPr>
                        <a:t>de </a:t>
                      </a:r>
                      <a:r>
                        <a:rPr lang="en-US" sz="1400" b="0" i="0" u="none" strike="noStrike" kern="1200" cap="none" noProof="0">
                          <a:solidFill>
                            <a:schemeClr val="tx1"/>
                          </a:solidFill>
                          <a:latin typeface="Arial"/>
                          <a:ea typeface="+mn-ea"/>
                          <a:cs typeface="+mn-cs"/>
                          <a:sym typeface="Arial"/>
                        </a:rPr>
                        <a:t>la gestion des </a:t>
                      </a:r>
                      <a:r>
                        <a:rPr lang="en-US" sz="1400" b="0" i="0" u="none" strike="noStrike" kern="1200" cap="none" noProof="0" err="1">
                          <a:solidFill>
                            <a:schemeClr val="tx1"/>
                          </a:solidFill>
                          <a:latin typeface="Arial"/>
                          <a:ea typeface="+mn-ea"/>
                          <a:cs typeface="+mn-cs"/>
                          <a:sym typeface="Arial"/>
                        </a:rPr>
                        <a:t>vaccins</a:t>
                      </a:r>
                      <a:r>
                        <a:rPr lang="en-US" sz="1400" b="0" i="0" u="none" strike="noStrike" kern="1200" cap="none" noProof="0">
                          <a:solidFill>
                            <a:schemeClr val="tx1"/>
                          </a:solidFill>
                          <a:latin typeface="Arial"/>
                          <a:ea typeface="+mn-ea"/>
                          <a:cs typeface="+mn-cs"/>
                          <a:sym typeface="Arial"/>
                        </a:rPr>
                        <a:t> et intrants</a:t>
                      </a:r>
                      <a:r>
                        <a:rPr lang="en-US" sz="1400" b="0" i="0" u="none" strike="noStrike" kern="1200" cap="none" noProof="0">
                          <a:solidFill>
                            <a:schemeClr val="tx1"/>
                          </a:solidFill>
                          <a:latin typeface="Arial"/>
                          <a:ea typeface="+mn-ea"/>
                          <a:cs typeface="+mn-cs"/>
                        </a:rPr>
                        <a:t> </a:t>
                      </a:r>
                      <a:endParaRPr lang="fr-FR"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Suivi</a:t>
                      </a:r>
                      <a:r>
                        <a:rPr lang="en-US" sz="1400" b="0" i="0" u="none" strike="noStrike" kern="1200" cap="none" noProof="0">
                          <a:solidFill>
                            <a:schemeClr val="tx1"/>
                          </a:solidFill>
                          <a:latin typeface="Arial"/>
                          <a:ea typeface="+mn-ea"/>
                          <a:cs typeface="+mn-cs"/>
                        </a:rPr>
                        <a:t> du </a:t>
                      </a:r>
                      <a:r>
                        <a:rPr lang="en-US" sz="1400" b="0" i="0" u="none" strike="noStrike" kern="1200" cap="none" noProof="0">
                          <a:solidFill>
                            <a:schemeClr val="tx1"/>
                          </a:solidFill>
                          <a:latin typeface="Arial"/>
                          <a:ea typeface="+mn-ea"/>
                          <a:cs typeface="+mn-cs"/>
                          <a:sym typeface="Arial"/>
                        </a:rPr>
                        <a:t>bon </a:t>
                      </a:r>
                      <a:r>
                        <a:rPr lang="en-US" sz="1400" b="0" i="0" u="none" strike="noStrike" kern="1200" cap="none" noProof="0" err="1">
                          <a:solidFill>
                            <a:schemeClr val="tx1"/>
                          </a:solidFill>
                          <a:latin typeface="Arial"/>
                          <a:ea typeface="+mn-ea"/>
                          <a:cs typeface="+mn-cs"/>
                          <a:sym typeface="Arial"/>
                        </a:rPr>
                        <a:t>fonctionnement</a:t>
                      </a:r>
                      <a:r>
                        <a:rPr lang="en-US" sz="1400" b="0" i="0" u="none" strike="noStrike" kern="1200" cap="none" noProof="0">
                          <a:solidFill>
                            <a:schemeClr val="tx1"/>
                          </a:solidFill>
                          <a:latin typeface="Arial"/>
                          <a:ea typeface="+mn-ea"/>
                          <a:cs typeface="+mn-cs"/>
                          <a:sym typeface="Arial"/>
                        </a:rPr>
                        <a:t> de la </a:t>
                      </a:r>
                      <a:r>
                        <a:rPr lang="en-US" sz="1400" b="0" i="0" u="none" strike="noStrike" kern="1200" cap="none" noProof="0" err="1">
                          <a:solidFill>
                            <a:schemeClr val="tx1"/>
                          </a:solidFill>
                          <a:latin typeface="Arial"/>
                          <a:ea typeface="+mn-ea"/>
                          <a:cs typeface="+mn-cs"/>
                          <a:sym typeface="Arial"/>
                        </a:rPr>
                        <a:t>chaîne</a:t>
                      </a:r>
                      <a:r>
                        <a:rPr lang="en-US" sz="1400" b="0" i="0" u="none" strike="noStrike" kern="1200" cap="none" noProof="0">
                          <a:solidFill>
                            <a:schemeClr val="tx1"/>
                          </a:solidFill>
                          <a:latin typeface="Arial"/>
                          <a:ea typeface="+mn-ea"/>
                          <a:cs typeface="+mn-cs"/>
                          <a:sym typeface="Arial"/>
                        </a:rPr>
                        <a:t> du </a:t>
                      </a:r>
                      <a:r>
                        <a:rPr lang="en-US" sz="1400" b="0" i="0" u="none" strike="noStrike" kern="1200" cap="none" noProof="0" err="1">
                          <a:solidFill>
                            <a:schemeClr val="tx1"/>
                          </a:solidFill>
                          <a:latin typeface="Arial"/>
                          <a:ea typeface="+mn-ea"/>
                          <a:cs typeface="+mn-cs"/>
                          <a:sym typeface="Arial"/>
                        </a:rPr>
                        <a:t>froid</a:t>
                      </a:r>
                      <a:r>
                        <a:rPr lang="en-US" sz="1400" b="0" i="0" u="none" strike="noStrike" kern="1200" cap="none" noProof="0">
                          <a:solidFill>
                            <a:schemeClr val="tx1"/>
                          </a:solidFill>
                          <a:latin typeface="Arial"/>
                          <a:ea typeface="+mn-ea"/>
                          <a:cs typeface="+mn-cs"/>
                        </a:rPr>
                        <a:t> </a:t>
                      </a:r>
                      <a:endParaRPr lang="fr-FR" sz="1400" b="0" i="0" u="none" strike="noStrike" kern="1200" cap="none">
                        <a:solidFill>
                          <a:schemeClr val="tx1"/>
                        </a:solidFill>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kern="1200" cap="none">
                          <a:solidFill>
                            <a:schemeClr val="dk1"/>
                          </a:solidFill>
                          <a:effectLst/>
                          <a:latin typeface="Arial"/>
                          <a:ea typeface="+mn-ea"/>
                          <a:cs typeface="+mn-cs"/>
                        </a:rPr>
                        <a:t>National, Province/</a:t>
                      </a:r>
                      <a:r>
                        <a:rPr lang="en-US" sz="1400" b="0" i="0" u="none" strike="noStrike" kern="1200" cap="none" err="1">
                          <a:solidFill>
                            <a:schemeClr val="dk1"/>
                          </a:solidFill>
                          <a:effectLst/>
                          <a:latin typeface="Arial"/>
                          <a:ea typeface="+mn-ea"/>
                          <a:cs typeface="+mn-cs"/>
                        </a:rPr>
                        <a:t>Antennes</a:t>
                      </a:r>
                      <a:endParaRPr lang="en-US" sz="1400" b="0" i="0" u="none" strike="noStrike" kern="1200" cap="none">
                        <a:solidFill>
                          <a:schemeClr val="dk1"/>
                        </a:solidFill>
                        <a:effectLst/>
                        <a:latin typeface="Arial"/>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b="0" i="0" u="none" strike="noStrike" kern="1200" cap="none">
                          <a:solidFill>
                            <a:schemeClr val="dk1"/>
                          </a:solidFill>
                          <a:effectLst/>
                          <a:latin typeface="Arial"/>
                          <a:ea typeface="+mn-ea"/>
                          <a:cs typeface="+mn-cs"/>
                        </a:rPr>
                        <a:t>Zones de </a:t>
                      </a:r>
                      <a:r>
                        <a:rPr lang="fr-FR" sz="1400" b="0" i="0" u="none" strike="noStrike" kern="1200" cap="none" err="1">
                          <a:solidFill>
                            <a:schemeClr val="dk1"/>
                          </a:solidFill>
                          <a:effectLst/>
                          <a:latin typeface="Arial"/>
                          <a:ea typeface="+mn-ea"/>
                          <a:cs typeface="+mn-cs"/>
                        </a:rPr>
                        <a:t>sant</a:t>
                      </a:r>
                      <a:r>
                        <a:rPr lang="en-US" sz="1400" b="0" i="0" u="none" strike="noStrike" kern="1200" cap="none" noProof="0">
                          <a:solidFill>
                            <a:schemeClr val="dk1"/>
                          </a:solidFill>
                          <a:effectLst/>
                          <a:latin typeface="Arial"/>
                          <a:ea typeface="+mn-ea"/>
                          <a:cs typeface="+mn-cs"/>
                        </a:rPr>
                        <a:t>é</a:t>
                      </a:r>
                    </a:p>
                  </a:txBody>
                  <a:tcPr/>
                </a:tc>
                <a:tc>
                  <a:txBody>
                    <a:bodyPr/>
                    <a:lstStyle/>
                    <a:p>
                      <a:pPr algn="ctr">
                        <a:buNone/>
                      </a:pPr>
                      <a:r>
                        <a:rPr lang="fr-FR" altLang="en-US" sz="1400">
                          <a:latin typeface="Arial"/>
                        </a:rPr>
                        <a:t>15</a:t>
                      </a:r>
                    </a:p>
                  </a:txBody>
                  <a:tcPr anchor="ctr"/>
                </a:tc>
                <a:extLst>
                  <a:ext uri="{0D108BD9-81ED-4DB2-BD59-A6C34878D82A}">
                    <a16:rowId xmlns:a16="http://schemas.microsoft.com/office/drawing/2014/main" val="10005"/>
                  </a:ext>
                </a:extLst>
              </a:tr>
              <a:tr h="1122207">
                <a:tc>
                  <a:txBody>
                    <a:bodyPr/>
                    <a:lstStyle/>
                    <a:p>
                      <a:r>
                        <a:rPr lang="en-US" sz="1400" b="1" i="0" u="none" strike="noStrike" cap="none" err="1">
                          <a:solidFill>
                            <a:schemeClr val="tx1"/>
                          </a:solidFill>
                          <a:latin typeface="Arial"/>
                          <a:ea typeface="+mn-ea"/>
                          <a:cs typeface="+mn-cs"/>
                          <a:sym typeface="Arial"/>
                        </a:rPr>
                        <a:t>Suivi</a:t>
                      </a:r>
                      <a:r>
                        <a:rPr lang="en-US" sz="1400" b="1" i="0" u="none" strike="noStrike" cap="none">
                          <a:solidFill>
                            <a:schemeClr val="tx1"/>
                          </a:solidFill>
                          <a:latin typeface="Arial"/>
                          <a:ea typeface="+mn-ea"/>
                          <a:cs typeface="+mn-cs"/>
                          <a:sym typeface="Arial"/>
                        </a:rPr>
                        <a:t>-Evaluation</a:t>
                      </a:r>
                      <a:endParaRPr lang="fr-FR" sz="1400" b="1" i="0" u="none" strike="noStrike" cap="none">
                        <a:solidFill>
                          <a:schemeClr val="tx1"/>
                        </a:solidFill>
                        <a:latin typeface="Arial"/>
                        <a:ea typeface="+mn-ea"/>
                        <a:cs typeface="+mn-cs"/>
                        <a:sym typeface="Arial"/>
                      </a:endParaRPr>
                    </a:p>
                  </a:txBody>
                  <a:tcPr anchor="ctr"/>
                </a:tc>
                <a:tc>
                  <a:txBody>
                    <a:bodyPr/>
                    <a:lstStyle/>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à </a:t>
                      </a:r>
                      <a:r>
                        <a:rPr lang="en-US" sz="1400" b="0" i="0" u="none" strike="noStrike" kern="1200" cap="none" noProof="0" err="1">
                          <a:solidFill>
                            <a:schemeClr val="tx1"/>
                          </a:solidFill>
                          <a:latin typeface="Arial"/>
                          <a:ea typeface="+mn-ea"/>
                          <a:cs typeface="+mn-cs"/>
                        </a:rPr>
                        <a:t>l'actualisation</a:t>
                      </a:r>
                      <a:r>
                        <a:rPr lang="en-US" sz="1400" b="0" i="0" u="none" strike="noStrike" kern="1200" cap="none" noProof="0">
                          <a:solidFill>
                            <a:schemeClr val="tx1"/>
                          </a:solidFill>
                          <a:latin typeface="Arial"/>
                          <a:ea typeface="+mn-ea"/>
                          <a:cs typeface="+mn-cs"/>
                        </a:rPr>
                        <a:t> des </a:t>
                      </a:r>
                      <a:r>
                        <a:rPr lang="en-US" sz="1400" b="0" i="0" u="none" strike="noStrike" kern="1200" cap="none" noProof="0" err="1">
                          <a:solidFill>
                            <a:schemeClr val="tx1"/>
                          </a:solidFill>
                          <a:latin typeface="Arial"/>
                          <a:ea typeface="+mn-ea"/>
                          <a:cs typeface="+mn-cs"/>
                        </a:rPr>
                        <a:t>outils</a:t>
                      </a:r>
                      <a:r>
                        <a:rPr lang="en-US" sz="1400" b="0" i="0" u="none" strike="noStrike" kern="1200" cap="none" noProof="0">
                          <a:solidFill>
                            <a:schemeClr val="tx1"/>
                          </a:solidFill>
                          <a:latin typeface="Arial"/>
                          <a:ea typeface="+mn-ea"/>
                          <a:cs typeface="+mn-cs"/>
                        </a:rPr>
                        <a:t> de gestion et </a:t>
                      </a:r>
                      <a:r>
                        <a:rPr lang="en-US" sz="1400" b="0" i="0" u="none" strike="noStrike" kern="1200" cap="none" noProof="0" err="1">
                          <a:solidFill>
                            <a:schemeClr val="tx1"/>
                          </a:solidFill>
                          <a:latin typeface="Arial"/>
                          <a:ea typeface="+mn-ea"/>
                          <a:cs typeface="+mn-cs"/>
                        </a:rPr>
                        <a:t>l'intégration</a:t>
                      </a:r>
                      <a:r>
                        <a:rPr lang="en-US" sz="1400" b="0" i="0" u="none" strike="noStrike" kern="1200" cap="none" noProof="0">
                          <a:solidFill>
                            <a:schemeClr val="tx1"/>
                          </a:solidFill>
                          <a:latin typeface="Arial"/>
                          <a:ea typeface="+mn-ea"/>
                          <a:cs typeface="+mn-cs"/>
                        </a:rPr>
                        <a:t> de VAP dans DHIS2</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à </a:t>
                      </a:r>
                      <a:r>
                        <a:rPr lang="en-US" sz="1400" b="0" i="0" u="none" strike="noStrike" kern="1200" cap="none" noProof="0" err="1">
                          <a:solidFill>
                            <a:schemeClr val="tx1"/>
                          </a:solidFill>
                          <a:latin typeface="Arial"/>
                          <a:ea typeface="+mn-ea"/>
                          <a:cs typeface="+mn-cs"/>
                        </a:rPr>
                        <a:t>l’amélioration</a:t>
                      </a:r>
                      <a:r>
                        <a:rPr lang="en-US" sz="1400" b="0" i="0" u="none" strike="noStrike" kern="1200" cap="none" noProof="0">
                          <a:solidFill>
                            <a:schemeClr val="tx1"/>
                          </a:solidFill>
                          <a:latin typeface="Arial"/>
                          <a:ea typeface="+mn-ea"/>
                          <a:cs typeface="+mn-cs"/>
                        </a:rPr>
                        <a:t> de la </a:t>
                      </a:r>
                      <a:r>
                        <a:rPr lang="en-US" sz="1400" b="0" i="0" u="none" strike="noStrike" kern="1200" cap="none" noProof="0" err="1">
                          <a:solidFill>
                            <a:schemeClr val="tx1"/>
                          </a:solidFill>
                          <a:latin typeface="Arial"/>
                          <a:ea typeface="+mn-ea"/>
                          <a:cs typeface="+mn-cs"/>
                        </a:rPr>
                        <a:t>qualité</a:t>
                      </a:r>
                      <a:r>
                        <a:rPr lang="en-US" sz="1400" b="0" i="0" u="none" strike="noStrike" kern="1200" cap="none" noProof="0">
                          <a:solidFill>
                            <a:schemeClr val="tx1"/>
                          </a:solidFill>
                          <a:latin typeface="Arial"/>
                          <a:ea typeface="+mn-ea"/>
                          <a:cs typeface="+mn-cs"/>
                        </a:rPr>
                        <a:t> et de </a:t>
                      </a:r>
                      <a:r>
                        <a:rPr lang="en-US" sz="1400" b="0" i="0" u="none" strike="noStrike" kern="1200" cap="none" noProof="0" err="1">
                          <a:solidFill>
                            <a:schemeClr val="tx1"/>
                          </a:solidFill>
                          <a:latin typeface="Arial"/>
                          <a:ea typeface="+mn-ea"/>
                          <a:cs typeface="+mn-cs"/>
                        </a:rPr>
                        <a:t>l’utilisation</a:t>
                      </a:r>
                      <a:r>
                        <a:rPr lang="en-US" sz="1400" b="0" i="0" u="none" strike="noStrike" kern="1200" cap="none" noProof="0">
                          <a:solidFill>
                            <a:schemeClr val="tx1"/>
                          </a:solidFill>
                          <a:latin typeface="Arial"/>
                          <a:ea typeface="+mn-ea"/>
                          <a:cs typeface="+mn-cs"/>
                        </a:rPr>
                        <a:t> des données </a:t>
                      </a:r>
                    </a:p>
                    <a:p>
                      <a:pPr marL="171450" lvl="0" indent="-171450" algn="l">
                        <a:lnSpc>
                          <a:spcPct val="100000"/>
                        </a:lnSpc>
                        <a:spcBef>
                          <a:spcPts val="0"/>
                        </a:spcBef>
                        <a:spcAft>
                          <a:spcPts val="0"/>
                        </a:spcAft>
                        <a:buFont typeface="Arial"/>
                        <a:buChar char="•"/>
                      </a:pPr>
                      <a:r>
                        <a:rPr lang="fr-FR" altLang="en-US" sz="1400" b="0" i="0" u="none" strike="noStrike" kern="1200" cap="none">
                          <a:solidFill>
                            <a:schemeClr val="tx1"/>
                          </a:solidFill>
                          <a:latin typeface="Arial"/>
                          <a:ea typeface="+mn-ea"/>
                          <a:cs typeface="+mn-cs"/>
                        </a:rPr>
                        <a:t>Appui a l’organisation des revues de validation des données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fr-FR" altLang="en-US" sz="1400" kern="1200">
                          <a:solidFill>
                            <a:srgbClr val="202020"/>
                          </a:solidFill>
                          <a:latin typeface="Arial" panose="020B0604020202020204" pitchFamily="34" charset="0"/>
                          <a:ea typeface="+mn-ea"/>
                          <a:cs typeface="Arial" panose="020B0604020202020204" pitchFamily="34" charset="0"/>
                        </a:rPr>
                        <a:t>Renforcement de capacit</a:t>
                      </a:r>
                      <a:r>
                        <a:rPr lang="fr-FR" sz="1400" kern="1200">
                          <a:solidFill>
                            <a:srgbClr val="202020"/>
                          </a:solidFill>
                          <a:latin typeface="Arial" panose="020B0604020202020204" pitchFamily="34" charset="0"/>
                          <a:ea typeface="+mn-ea"/>
                          <a:cs typeface="Arial" panose="020B0604020202020204" pitchFamily="34" charset="0"/>
                        </a:rPr>
                        <a:t>é</a:t>
                      </a:r>
                      <a:r>
                        <a:rPr lang="fr-FR" altLang="en-US" sz="1400" kern="1200">
                          <a:solidFill>
                            <a:srgbClr val="202020"/>
                          </a:solidFill>
                          <a:latin typeface="Arial" panose="020B0604020202020204" pitchFamily="34" charset="0"/>
                          <a:ea typeface="+mn-ea"/>
                          <a:cs typeface="Arial" panose="020B0604020202020204" pitchFamily="34" charset="0"/>
                        </a:rPr>
                        <a:t> des acteurs provinciaux en HCD Living </a:t>
                      </a:r>
                      <a:r>
                        <a:rPr lang="fr-FR" altLang="en-US" sz="1400" kern="1200" err="1">
                          <a:solidFill>
                            <a:srgbClr val="202020"/>
                          </a:solidFill>
                          <a:latin typeface="Arial" panose="020B0604020202020204" pitchFamily="34" charset="0"/>
                          <a:ea typeface="+mn-ea"/>
                          <a:cs typeface="Arial" panose="020B0604020202020204" pitchFamily="34" charset="0"/>
                        </a:rPr>
                        <a:t>Labs</a:t>
                      </a:r>
                      <a:endParaRPr lang="fr-FR" altLang="en-US" sz="1400" kern="1200">
                        <a:solidFill>
                          <a:srgbClr val="202020"/>
                        </a:solidFill>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kern="1200">
                          <a:solidFill>
                            <a:schemeClr val="dk1"/>
                          </a:solidFill>
                          <a:latin typeface="Arial"/>
                          <a:ea typeface="+mn-ea"/>
                          <a:cs typeface="+mn-cs"/>
                        </a:rPr>
                        <a:t>National, Province/Antennes PEV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kern="1200">
                          <a:solidFill>
                            <a:schemeClr val="dk1"/>
                          </a:solidFill>
                          <a:latin typeface="Arial"/>
                          <a:ea typeface="+mn-ea"/>
                          <a:cs typeface="+mn-cs"/>
                        </a:rPr>
                        <a:t>Zones de sant</a:t>
                      </a:r>
                      <a:r>
                        <a:rPr lang="en-US" sz="1400" kern="1200" noProof="0">
                          <a:solidFill>
                            <a:schemeClr val="dk1"/>
                          </a:solidFill>
                          <a:latin typeface="Arial"/>
                          <a:ea typeface="+mn-ea"/>
                          <a:cs typeface="+mn-cs"/>
                        </a:rPr>
                        <a:t>é</a:t>
                      </a:r>
                    </a:p>
                  </a:txBody>
                  <a:tcPr/>
                </a:tc>
                <a:tc>
                  <a:txBody>
                    <a:bodyPr/>
                    <a:lstStyle/>
                    <a:p>
                      <a:pPr algn="ctr">
                        <a:buNone/>
                      </a:pPr>
                      <a:r>
                        <a:rPr lang="fr-FR" altLang="en-US" sz="1400">
                          <a:latin typeface="Arial"/>
                        </a:rPr>
                        <a:t>16</a:t>
                      </a: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9E9D0D5-AAE9-90F5-0098-2E2F268EBD5B}"/>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ECCF1CF8-F479-6459-4EE6-D7BEF489EF58}"/>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a:extLst>
              <a:ext uri="{FF2B5EF4-FFF2-40B4-BE49-F238E27FC236}">
                <a16:creationId xmlns:a16="http://schemas.microsoft.com/office/drawing/2014/main" id="{52D6D007-21BC-6BF0-3434-12645A8556E4}"/>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7EB157F-79C6-2473-685F-36D578E27E19}"/>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29BC8AA7-C4DF-17EB-1A3C-7B66F5724432}"/>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09FCE66C-952D-1314-8D60-C054FE86B396}"/>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05A7BD50-256B-F3A7-2410-A201B52FE749}"/>
              </a:ext>
            </a:extLst>
          </p:cNvPr>
          <p:cNvGraphicFramePr/>
          <p:nvPr>
            <p:custDataLst>
              <p:tags r:id="rId1"/>
            </p:custDataLst>
            <p:extLst>
              <p:ext uri="{D42A27DB-BD31-4B8C-83A1-F6EECF244321}">
                <p14:modId xmlns:p14="http://schemas.microsoft.com/office/powerpoint/2010/main" val="3934605750"/>
              </p:ext>
            </p:extLst>
          </p:nvPr>
        </p:nvGraphicFramePr>
        <p:xfrm>
          <a:off x="509601" y="838368"/>
          <a:ext cx="11377299" cy="5725030"/>
        </p:xfrm>
        <a:graphic>
          <a:graphicData uri="http://schemas.openxmlformats.org/drawingml/2006/table">
            <a:tbl>
              <a:tblPr firstRow="1" bandRow="1">
                <a:tableStyleId>{5C22544A-7EE6-4342-B048-85BDC9FD1C3A}</a:tableStyleId>
              </a:tblPr>
              <a:tblGrid>
                <a:gridCol w="2139738">
                  <a:extLst>
                    <a:ext uri="{9D8B030D-6E8A-4147-A177-3AD203B41FA5}">
                      <a16:colId xmlns:a16="http://schemas.microsoft.com/office/drawing/2014/main" val="20000"/>
                    </a:ext>
                  </a:extLst>
                </a:gridCol>
                <a:gridCol w="6070122">
                  <a:extLst>
                    <a:ext uri="{9D8B030D-6E8A-4147-A177-3AD203B41FA5}">
                      <a16:colId xmlns:a16="http://schemas.microsoft.com/office/drawing/2014/main" val="20001"/>
                    </a:ext>
                  </a:extLst>
                </a:gridCol>
                <a:gridCol w="1752200">
                  <a:extLst>
                    <a:ext uri="{9D8B030D-6E8A-4147-A177-3AD203B41FA5}">
                      <a16:colId xmlns:a16="http://schemas.microsoft.com/office/drawing/2014/main" val="20002"/>
                    </a:ext>
                  </a:extLst>
                </a:gridCol>
                <a:gridCol w="1415239">
                  <a:extLst>
                    <a:ext uri="{9D8B030D-6E8A-4147-A177-3AD203B41FA5}">
                      <a16:colId xmlns:a16="http://schemas.microsoft.com/office/drawing/2014/main" val="20003"/>
                    </a:ext>
                  </a:extLst>
                </a:gridCol>
              </a:tblGrid>
              <a:tr h="553893">
                <a:tc>
                  <a:txBody>
                    <a:bodyPr/>
                    <a:lstStyle/>
                    <a:p>
                      <a:pPr>
                        <a:buNone/>
                      </a:pPr>
                      <a:r>
                        <a:rPr lang="fr-FR" altLang="en-US" sz="1600"/>
                        <a:t>Domaine d’intervention </a:t>
                      </a:r>
                    </a:p>
                  </a:txBody>
                  <a:tcPr/>
                </a:tc>
                <a:tc>
                  <a:txBody>
                    <a:bodyPr/>
                    <a:lstStyle/>
                    <a:p>
                      <a:pPr>
                        <a:buNone/>
                      </a:pPr>
                      <a:r>
                        <a:rPr lang="fr-FR" altLang="en-US" sz="1600"/>
                        <a:t>Interventions </a:t>
                      </a:r>
                    </a:p>
                  </a:txBody>
                  <a:tcPr/>
                </a:tc>
                <a:tc>
                  <a:txBody>
                    <a:bodyPr/>
                    <a:lstStyle/>
                    <a:p>
                      <a:pPr>
                        <a:buNone/>
                      </a:pPr>
                      <a:r>
                        <a:rPr lang="fr-FR" altLang="en-US" sz="1600"/>
                        <a:t>Zone d’intervention </a:t>
                      </a:r>
                    </a:p>
                  </a:txBody>
                  <a:tcPr/>
                </a:tc>
                <a:tc>
                  <a:txBody>
                    <a:bodyPr/>
                    <a:lstStyle/>
                    <a:p>
                      <a:pPr algn="ctr">
                        <a:buNone/>
                      </a:pPr>
                      <a:r>
                        <a:rPr lang="fr-FR" altLang="en-US" sz="1600"/>
                        <a:t># consultants ou AT </a:t>
                      </a:r>
                    </a:p>
                  </a:txBody>
                  <a:tcPr/>
                </a:tc>
                <a:extLst>
                  <a:ext uri="{0D108BD9-81ED-4DB2-BD59-A6C34878D82A}">
                    <a16:rowId xmlns:a16="http://schemas.microsoft.com/office/drawing/2014/main" val="10000"/>
                  </a:ext>
                </a:extLst>
              </a:tr>
              <a:tr h="241963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fr-FR" sz="1600" b="1" i="0" u="none" strike="noStrike" cap="none">
                          <a:solidFill>
                            <a:schemeClr val="tx1"/>
                          </a:solidFill>
                          <a:latin typeface="Arial" panose="020B0604020202020204" pitchFamily="34" charset="0"/>
                          <a:ea typeface="+mn-ea"/>
                          <a:cs typeface="Arial" panose="020B0604020202020204" pitchFamily="34" charset="0"/>
                          <a:sym typeface="Times New Roman"/>
                        </a:rPr>
                        <a:t>Promotion de la demande </a:t>
                      </a:r>
                      <a:r>
                        <a:rPr lang="fr-FR" sz="1600" b="1" i="0" u="none" strike="noStrike" cap="none">
                          <a:solidFill>
                            <a:schemeClr val="tx1"/>
                          </a:solidFill>
                          <a:latin typeface="Arial" panose="020B0604020202020204" pitchFamily="34" charset="0"/>
                          <a:ea typeface="+mn-ea"/>
                          <a:cs typeface="Arial" panose="020B0604020202020204" pitchFamily="34" charset="0"/>
                        </a:rPr>
                        <a:t>et gestion des risques</a:t>
                      </a:r>
                      <a:endParaRPr lang="fr-FR" sz="1600" b="1" i="0" u="none" strike="noStrike" cap="none">
                        <a:solidFill>
                          <a:schemeClr val="tx1"/>
                        </a:solidFill>
                        <a:latin typeface="Arial" panose="020B0604020202020204" pitchFamily="34" charset="0"/>
                        <a:ea typeface="+mn-ea"/>
                        <a:cs typeface="Arial" panose="020B0604020202020204" pitchFamily="34" charset="0"/>
                        <a:sym typeface="Arial"/>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l'élaboration, reproduction et distribution d'outils de communication sur le VAP en langue </a:t>
                      </a: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la cocréation de stratégies d'engagement communautaire pour la promotion du VAP avec les acteurs locaux et non-traditionnels.</a:t>
                      </a:r>
                      <a:endParaRPr lang="en-US" sz="1600">
                        <a:latin typeface="Arial" panose="020B0604020202020204" pitchFamily="34" charset="0"/>
                        <a:cs typeface="Arial" panose="020B0604020202020204" pitchFamily="34" charset="0"/>
                      </a:endParaRP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la collecte et analyse de données sur les perceptions des ménages et documentation des bonnes pratiques/leçons apprises</a:t>
                      </a: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a:solidFill>
                            <a:schemeClr val="tx1"/>
                          </a:solidFill>
                          <a:latin typeface="Arial" panose="020B0604020202020204" pitchFamily="34" charset="0"/>
                          <a:ea typeface="+mn-ea"/>
                          <a:cs typeface="Arial" panose="020B0604020202020204" pitchFamily="34" charset="0"/>
                        </a:rPr>
                        <a:t>Renforcement de la dynamique communautaire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altLang="en-US" sz="1600" b="0" i="0" u="none" strike="noStrike" kern="1200" cap="none">
                          <a:solidFill>
                            <a:schemeClr val="tx1"/>
                          </a:solidFill>
                          <a:latin typeface="Arial" panose="020B0604020202020204" pitchFamily="34" charset="0"/>
                          <a:ea typeface="+mn-ea"/>
                          <a:cs typeface="Arial" panose="020B0604020202020204" pitchFamily="34" charset="0"/>
                        </a:rPr>
                        <a:t>Formation au référentiel métier de RECO</a:t>
                      </a:r>
                    </a:p>
                  </a:txBody>
                  <a:tcPr/>
                </a:tc>
                <a:tc>
                  <a:txBody>
                    <a:bodyPr/>
                    <a:lstStyle/>
                    <a:p>
                      <a:pPr marL="171450" indent="-171450">
                        <a:buFont typeface="Arial"/>
                        <a:buChar char="•"/>
                      </a:pPr>
                      <a:r>
                        <a:rPr lang="fr-FR" altLang="en-US" sz="1600">
                          <a:latin typeface="Arial" panose="020B0604020202020204" pitchFamily="34" charset="0"/>
                          <a:cs typeface="Arial" panose="020B0604020202020204" pitchFamily="34" charset="0"/>
                        </a:rPr>
                        <a:t>National (coordination, planification)</a:t>
                      </a:r>
                    </a:p>
                    <a:p>
                      <a:pPr marL="171450" lvl="0" indent="-171450">
                        <a:buFont typeface="Arial"/>
                        <a:buChar char="•"/>
                      </a:pPr>
                      <a:r>
                        <a:rPr lang="fr-FR" altLang="en-US" sz="1600">
                          <a:latin typeface="Arial" panose="020B0604020202020204" pitchFamily="34" charset="0"/>
                          <a:cs typeface="Arial" panose="020B0604020202020204" pitchFamily="34" charset="0"/>
                        </a:rPr>
                        <a:t>Antenne (16 DPS)</a:t>
                      </a:r>
                    </a:p>
                    <a:p>
                      <a:pPr marL="171450" lvl="0" indent="-171450">
                        <a:buFont typeface="Arial"/>
                        <a:buChar char="•"/>
                      </a:pPr>
                      <a:r>
                        <a:rPr lang="fr-FR" altLang="en-US" sz="1600">
                          <a:latin typeface="Arial" panose="020B0604020202020204" pitchFamily="34" charset="0"/>
                          <a:cs typeface="Arial" panose="020B0604020202020204" pitchFamily="34" charset="0"/>
                        </a:rPr>
                        <a:t>Zonal (7 ZS Deep Dive au Kongo Central)</a:t>
                      </a:r>
                    </a:p>
                  </a:txBody>
                  <a:tcPr/>
                </a:tc>
                <a:tc>
                  <a:txBody>
                    <a:bodyPr/>
                    <a:lstStyle/>
                    <a:p>
                      <a:pPr algn="ctr">
                        <a:buNone/>
                      </a:pPr>
                      <a:r>
                        <a:rPr lang="fr-FR" altLang="en-US" sz="1600">
                          <a:latin typeface="Arial" panose="020B0604020202020204" pitchFamily="34" charset="0"/>
                          <a:cs typeface="Arial" panose="020B0604020202020204" pitchFamily="34" charset="0"/>
                        </a:rPr>
                        <a:t>14</a:t>
                      </a:r>
                    </a:p>
                  </a:txBody>
                  <a:tcPr anchor="ctr"/>
                </a:tc>
                <a:extLst>
                  <a:ext uri="{0D108BD9-81ED-4DB2-BD59-A6C34878D82A}">
                    <a16:rowId xmlns:a16="http://schemas.microsoft.com/office/drawing/2014/main" val="10006"/>
                  </a:ext>
                </a:extLst>
              </a:tr>
              <a:tr h="26160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b="1" i="0" u="none" strike="noStrike" kern="1200">
                          <a:solidFill>
                            <a:schemeClr val="tx1"/>
                          </a:solidFill>
                          <a:effectLst/>
                          <a:latin typeface="Arial" panose="020B0604020202020204" pitchFamily="34" charset="0"/>
                          <a:ea typeface="+mn-ea"/>
                          <a:cs typeface="Arial" panose="020B0604020202020204" pitchFamily="34" charset="0"/>
                        </a:rPr>
                        <a:t>Plaidoyer et communication </a:t>
                      </a:r>
                    </a:p>
                    <a:p>
                      <a:endParaRPr lang="fr-FR" sz="1600" b="0" i="0" u="none" strike="noStrike" cap="none">
                        <a:solidFill>
                          <a:schemeClr val="tx1"/>
                        </a:solidFill>
                        <a:latin typeface="Arial" panose="020B0604020202020204" pitchFamily="34" charset="0"/>
                        <a:ea typeface="+mn-ea"/>
                        <a:cs typeface="Arial" panose="020B0604020202020204" pitchFamily="34" charset="0"/>
                        <a:sym typeface="Arial"/>
                      </a:endParaRPr>
                    </a:p>
                  </a:txBody>
                  <a:tcPr anchor="ctr"/>
                </a:tc>
                <a:tc>
                  <a:txBody>
                    <a:bodyPr/>
                    <a:lstStyle/>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le plaidoyer en faveur de la vaccination de routine comme priorités clés des decideurs </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le plaidoyer pour le respect des engagements des decideurs </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Accompagner la stratégie MoU dans trois provinces.</a:t>
                      </a:r>
                      <a:endParaRPr lang="fr" sz="1600">
                        <a:latin typeface="Arial" panose="020B0604020202020204" pitchFamily="34" charset="0"/>
                        <a:cs typeface="Arial" panose="020B0604020202020204" pitchFamily="34" charset="0"/>
                      </a:endParaRP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Accompagner le REPACAV dans son role de plaidoyer en faveur de la vaccination</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la communication stratégique et la visibilité des activit</a:t>
                      </a:r>
                      <a:r>
                        <a:rPr lang="fr-FR" sz="1600" b="0" i="0" u="none" strike="noStrike" kern="1200" noProof="0">
                          <a:solidFill>
                            <a:schemeClr val="tx1"/>
                          </a:solidFill>
                          <a:effectLst/>
                          <a:latin typeface="Arial" panose="020B0604020202020204" pitchFamily="34" charset="0"/>
                          <a:ea typeface="+mn-ea"/>
                          <a:cs typeface="Arial" panose="020B0604020202020204" pitchFamily="34" charset="0"/>
                        </a:rPr>
                        <a:t>é</a:t>
                      </a: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s de vaccination en routine et en campagnes</a:t>
                      </a:r>
                    </a:p>
                  </a:txBody>
                  <a:tcPr/>
                </a:tc>
                <a:tc>
                  <a:txBody>
                    <a:bodyPr/>
                    <a:lstStyle/>
                    <a:p>
                      <a:pPr lvl="0">
                        <a:buNone/>
                      </a:pPr>
                      <a:r>
                        <a:rPr lang="fr-FR" altLang="en-US" sz="1600" kern="1200">
                          <a:solidFill>
                            <a:schemeClr val="dk1"/>
                          </a:solidFill>
                          <a:latin typeface="Arial" panose="020B0604020202020204" pitchFamily="34" charset="0"/>
                          <a:ea typeface="+mn-ea"/>
                          <a:cs typeface="Arial" panose="020B0604020202020204" pitchFamily="34" charset="0"/>
                        </a:rPr>
                        <a:t>National</a:t>
                      </a:r>
                    </a:p>
                    <a:p>
                      <a:pPr lvl="0">
                        <a:buNone/>
                      </a:pPr>
                      <a:r>
                        <a:rPr lang="fr-FR" altLang="en-US" sz="1600" kern="1200">
                          <a:solidFill>
                            <a:schemeClr val="dk1"/>
                          </a:solidFill>
                          <a:latin typeface="Arial" panose="020B0604020202020204" pitchFamily="34" charset="0"/>
                          <a:ea typeface="+mn-ea"/>
                          <a:cs typeface="Arial" panose="020B0604020202020204" pitchFamily="34" charset="0"/>
                        </a:rPr>
                        <a:t>Provinces: Lualaba, Tanganyika, Haut Lomami, Haut-Katanga</a:t>
                      </a:r>
                      <a:endParaRPr lang="en-US" sz="1600" kern="1200">
                        <a:solidFill>
                          <a:schemeClr val="dk1"/>
                        </a:solidFill>
                        <a:latin typeface="Arial" panose="020B0604020202020204" pitchFamily="34" charset="0"/>
                        <a:ea typeface="+mn-ea"/>
                        <a:cs typeface="Arial" panose="020B0604020202020204" pitchFamily="34" charset="0"/>
                      </a:endParaRPr>
                    </a:p>
                  </a:txBody>
                  <a:tcPr/>
                </a:tc>
                <a:tc>
                  <a:txBody>
                    <a:bodyPr/>
                    <a:lstStyle/>
                    <a:p>
                      <a:pPr>
                        <a:buNone/>
                      </a:pPr>
                      <a:r>
                        <a:rPr lang="en-US" altLang="en-US" sz="1600">
                          <a:latin typeface="Arial" panose="020B0604020202020204" pitchFamily="34" charset="0"/>
                          <a:cs typeface="Arial" panose="020B0604020202020204" pitchFamily="34" charset="0"/>
                        </a:rPr>
                        <a:t>2 (national)</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46112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BB31718-F2B9-5BEE-157A-5AAC2F316F0C}"/>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FF7459DC-C417-0041-8CDB-20BBAA23BEBC}"/>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AA8AFAA1-CF55-B953-3BE5-95931F41DAD3}"/>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566E47B-3BED-ACBB-C343-B24EF339518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C3DFD47-78D1-5F99-35A7-8D9F122470A3}"/>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A0F977A7-81E0-4C8B-4E55-86F2A9AD316C}"/>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590A0B16-64FE-9C2C-CF43-F66135246D6A}"/>
              </a:ext>
            </a:extLst>
          </p:cNvPr>
          <p:cNvGraphicFramePr/>
          <p:nvPr>
            <p:custDataLst>
              <p:tags r:id="rId1"/>
            </p:custDataLst>
            <p:extLst>
              <p:ext uri="{D42A27DB-BD31-4B8C-83A1-F6EECF244321}">
                <p14:modId xmlns:p14="http://schemas.microsoft.com/office/powerpoint/2010/main" val="4107089102"/>
              </p:ext>
            </p:extLst>
          </p:nvPr>
        </p:nvGraphicFramePr>
        <p:xfrm>
          <a:off x="305100" y="555413"/>
          <a:ext cx="11677700" cy="6232016"/>
        </p:xfrm>
        <a:graphic>
          <a:graphicData uri="http://schemas.openxmlformats.org/drawingml/2006/table">
            <a:tbl>
              <a:tblPr firstRow="1" bandRow="1">
                <a:tableStyleId>{5C22544A-7EE6-4342-B048-85BDC9FD1C3A}</a:tableStyleId>
              </a:tblPr>
              <a:tblGrid>
                <a:gridCol w="2718273">
                  <a:extLst>
                    <a:ext uri="{9D8B030D-6E8A-4147-A177-3AD203B41FA5}">
                      <a16:colId xmlns:a16="http://schemas.microsoft.com/office/drawing/2014/main" val="20000"/>
                    </a:ext>
                  </a:extLst>
                </a:gridCol>
                <a:gridCol w="1274618">
                  <a:extLst>
                    <a:ext uri="{9D8B030D-6E8A-4147-A177-3AD203B41FA5}">
                      <a16:colId xmlns:a16="http://schemas.microsoft.com/office/drawing/2014/main" val="20001"/>
                    </a:ext>
                  </a:extLst>
                </a:gridCol>
                <a:gridCol w="3805382">
                  <a:extLst>
                    <a:ext uri="{9D8B030D-6E8A-4147-A177-3AD203B41FA5}">
                      <a16:colId xmlns:a16="http://schemas.microsoft.com/office/drawing/2014/main" val="20002"/>
                    </a:ext>
                  </a:extLst>
                </a:gridCol>
                <a:gridCol w="3879427">
                  <a:extLst>
                    <a:ext uri="{9D8B030D-6E8A-4147-A177-3AD203B41FA5}">
                      <a16:colId xmlns:a16="http://schemas.microsoft.com/office/drawing/2014/main" val="20003"/>
                    </a:ext>
                  </a:extLst>
                </a:gridCol>
              </a:tblGrid>
              <a:tr h="551709">
                <a:tc>
                  <a:txBody>
                    <a:bodyPr/>
                    <a:lstStyle/>
                    <a:p>
                      <a:pPr>
                        <a:buNone/>
                      </a:pPr>
                      <a:r>
                        <a:rPr lang="fr-FR" altLang="en-US" sz="1200">
                          <a:latin typeface="Arial" panose="020B0604020202020204" pitchFamily="34" charset="0"/>
                          <a:cs typeface="Arial" panose="020B0604020202020204" pitchFamily="34" charset="0"/>
                        </a:rPr>
                        <a:t>Activité prévue dans le PAO du PEV en 2025</a:t>
                      </a:r>
                    </a:p>
                  </a:txBody>
                  <a:tcPr/>
                </a:tc>
                <a:tc>
                  <a:txBody>
                    <a:bodyPr/>
                    <a:lstStyle/>
                    <a:p>
                      <a:pPr>
                        <a:buNone/>
                      </a:pPr>
                      <a:r>
                        <a:rPr lang="fr-FR" altLang="en-US" sz="1200">
                          <a:latin typeface="Arial" panose="020B0604020202020204" pitchFamily="34" charset="0"/>
                          <a:cs typeface="Arial" panose="020B0604020202020204" pitchFamily="34" charset="0"/>
                        </a:rPr>
                        <a:t>Niveau de réalisation</a:t>
                      </a:r>
                    </a:p>
                  </a:txBody>
                  <a:tcPr/>
                </a:tc>
                <a:tc>
                  <a:txBody>
                    <a:bodyPr/>
                    <a:lstStyle/>
                    <a:p>
                      <a:pPr>
                        <a:buNone/>
                      </a:pPr>
                      <a:r>
                        <a:rPr lang="fr-FR" altLang="en-US" sz="1200">
                          <a:latin typeface="Arial" panose="020B0604020202020204" pitchFamily="34" charset="0"/>
                          <a:cs typeface="Arial" panose="020B0604020202020204" pitchFamily="34" charset="0"/>
                        </a:rPr>
                        <a:t>Output</a:t>
                      </a:r>
                    </a:p>
                  </a:txBody>
                  <a:tcPr/>
                </a:tc>
                <a:tc>
                  <a:txBody>
                    <a:bodyPr/>
                    <a:lstStyle/>
                    <a:p>
                      <a:pPr>
                        <a:buNone/>
                      </a:pPr>
                      <a:r>
                        <a:rPr lang="fr-FR" altLang="en-US" sz="1200" err="1">
                          <a:latin typeface="Arial" panose="020B0604020202020204" pitchFamily="34" charset="0"/>
                          <a:cs typeface="Arial" panose="020B0604020202020204" pitchFamily="34" charset="0"/>
                        </a:rPr>
                        <a:t>Outcome</a:t>
                      </a:r>
                      <a:endParaRPr lang="fr-FR" alt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638909">
                <a:tc>
                  <a:txBody>
                    <a:bodyPr/>
                    <a:lstStyle/>
                    <a:p>
                      <a:pPr marL="0" marR="0" lvl="0" indent="0" algn="l" defTabSz="914400" rtl="0" eaLnBrk="1" fontAlgn="t" latinLnBrk="0" hangingPunct="1">
                        <a:lnSpc>
                          <a:spcPct val="100000"/>
                        </a:lnSpc>
                        <a:spcBef>
                          <a:spcPts val="0"/>
                        </a:spcBef>
                        <a:spcAft>
                          <a:spcPts val="0"/>
                        </a:spcAft>
                        <a:buClrTx/>
                        <a:buSzTx/>
                        <a:buFont typeface="Arial"/>
                        <a:buNone/>
                        <a:tabLst/>
                        <a:defRPr/>
                      </a:pPr>
                      <a:r>
                        <a:rPr lang="en-US" sz="1400" b="1" kern="1200">
                          <a:solidFill>
                            <a:schemeClr val="tx1"/>
                          </a:solidFill>
                          <a:effectLst/>
                          <a:latin typeface="Arial" panose="020B0604020202020204" pitchFamily="34" charset="0"/>
                          <a:cs typeface="Arial" panose="020B0604020202020204" pitchFamily="34" charset="0"/>
                        </a:rPr>
                        <a:t>Introduction du VAP dans  provinces de la RDC(Bloc 1 &amp; 2)</a:t>
                      </a:r>
                      <a:endParaRPr lang="en-US" sz="1400" b="1"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fr-FR"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0" marR="0" lvl="0" indent="0" algn="l">
                        <a:lnSpc>
                          <a:spcPts val="1500"/>
                        </a:lnSpc>
                        <a:buClr>
                          <a:srgbClr val="000000"/>
                        </a:buClr>
                        <a:buSzPts val="1200"/>
                        <a:buFont typeface="Arial" panose="020B0604020202020204" pitchFamily="34" charset="0"/>
                        <a:buNone/>
                      </a:pPr>
                      <a:r>
                        <a:rPr lang="fr-FR" sz="1400" b="0" u="none" strike="noStrike" kern="1200" noProof="0">
                          <a:solidFill>
                            <a:schemeClr val="tx1"/>
                          </a:solidFill>
                          <a:effectLst/>
                          <a:latin typeface="Arial" panose="020B0604020202020204" pitchFamily="34" charset="0"/>
                          <a:cs typeface="Arial" panose="020B0604020202020204" pitchFamily="34" charset="0"/>
                        </a:rPr>
                        <a:t>275 ZS de 15 provinces ont introduit le VAP dans le Bloc 1 (8 provinces) et le Bloc 2 (7 provinces)</a:t>
                      </a:r>
                      <a:endParaRPr lang="en-US" sz="1400" b="0" i="0" u="none" strike="noStrike" kern="1200" noProof="0">
                        <a:solidFill>
                          <a:srgbClr val="000000"/>
                        </a:solidFill>
                        <a:effectLst/>
                        <a:latin typeface="Arial" panose="020B0604020202020204" pitchFamily="34" charset="0"/>
                        <a:cs typeface="Arial" panose="020B0604020202020204" pitchFamily="34" charset="0"/>
                      </a:endParaRPr>
                    </a:p>
                  </a:txBody>
                  <a:tcPr anchor="ctr"/>
                </a:tc>
                <a:tc rowSpan="2">
                  <a:txBody>
                    <a:bodyPr/>
                    <a:lstStyle/>
                    <a:p>
                      <a:pPr marL="171450" indent="-171450">
                        <a:buFont typeface="Arial" panose="020B0604020202020204" pitchFamily="34" charset="0"/>
                        <a:buChar char="•"/>
                      </a:pPr>
                      <a:r>
                        <a:rPr lang="en-US" sz="1400" kern="1200">
                          <a:solidFill>
                            <a:schemeClr val="tx1"/>
                          </a:solidFill>
                          <a:effectLst/>
                          <a:latin typeface="Arial" panose="020B0604020202020204" pitchFamily="34" charset="0"/>
                          <a:cs typeface="Arial" panose="020B0604020202020204" pitchFamily="34" charset="0"/>
                        </a:rPr>
                        <a:t>CV Kongo Central: VAP1: 86%, VAP2: 80%, VAP3: 73%, VAP4: 47%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effectLst/>
                          <a:latin typeface="Arial" panose="020B0604020202020204" pitchFamily="34" charset="0"/>
                          <a:cs typeface="Arial" panose="020B0604020202020204" pitchFamily="34" charset="0"/>
                        </a:rPr>
                        <a:t>8 </a:t>
                      </a:r>
                      <a:r>
                        <a:rPr lang="en-US" sz="1400" kern="1200" err="1">
                          <a:solidFill>
                            <a:schemeClr val="tx1"/>
                          </a:solidFill>
                          <a:effectLst/>
                          <a:latin typeface="Arial" panose="020B0604020202020204" pitchFamily="34" charset="0"/>
                          <a:cs typeface="Arial" panose="020B0604020202020204" pitchFamily="34" charset="0"/>
                        </a:rPr>
                        <a:t>autres</a:t>
                      </a:r>
                      <a:r>
                        <a:rPr lang="en-US" sz="1400" kern="1200">
                          <a:solidFill>
                            <a:schemeClr val="tx1"/>
                          </a:solidFill>
                          <a:effectLst/>
                          <a:latin typeface="Arial" panose="020B0604020202020204" pitchFamily="34" charset="0"/>
                          <a:cs typeface="Arial" panose="020B0604020202020204" pitchFamily="34" charset="0"/>
                        </a:rPr>
                        <a:t> provinces du Bloc 1: VAP1: 93%, VAP2: 72%, VAP3: 58%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effectLst/>
                          <a:latin typeface="Arial" panose="020B0604020202020204" pitchFamily="34" charset="0"/>
                          <a:cs typeface="Arial" panose="020B0604020202020204" pitchFamily="34" charset="0"/>
                        </a:rPr>
                        <a:t>7 provinces du Bloc 2: VAP1: 82%, VAP2: 51%, VAP3: 26%</a:t>
                      </a:r>
                      <a:endParaRPr lang="en-US" sz="140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934207514"/>
                  </a:ext>
                </a:extLst>
              </a:tr>
              <a:tr h="1116254">
                <a:tc>
                  <a:txBody>
                    <a:bodyPr/>
                    <a:lstStyle/>
                    <a:p>
                      <a:pPr marL="457200" marR="0" lvl="1" indent="0" algn="l" defTabSz="914400" rtl="0" eaLnBrk="1" fontAlgn="t" latinLnBrk="0" hangingPunct="1">
                        <a:lnSpc>
                          <a:spcPct val="100000"/>
                        </a:lnSpc>
                        <a:spcBef>
                          <a:spcPts val="0"/>
                        </a:spcBef>
                        <a:spcAft>
                          <a:spcPts val="0"/>
                        </a:spcAft>
                        <a:buClrTx/>
                        <a:buSzTx/>
                        <a:buFont typeface="Arial"/>
                        <a:buNone/>
                        <a:tabLst/>
                        <a:defRPr/>
                      </a:pPr>
                      <a:r>
                        <a:rPr lang="fr-FR" sz="1400" b="0" kern="1200" noProof="0">
                          <a:solidFill>
                            <a:schemeClr val="tx1"/>
                          </a:solidFill>
                          <a:effectLst/>
                          <a:latin typeface="Arial" panose="020B0604020202020204" pitchFamily="34" charset="0"/>
                          <a:cs typeface="Arial" panose="020B0604020202020204" pitchFamily="34" charset="0"/>
                        </a:rPr>
                        <a:t>Appui à l’élaboration</a:t>
                      </a:r>
                      <a:r>
                        <a:rPr lang="fr-FR" sz="1400" b="0" kern="1200" noProof="0">
                          <a:solidFill>
                            <a:schemeClr val="tx1"/>
                          </a:solidFill>
                          <a:effectLst/>
                          <a:latin typeface="Arial" panose="020B0604020202020204" pitchFamily="34" charset="0"/>
                          <a:cs typeface="Arial" panose="020B0604020202020204" pitchFamily="34" charset="0"/>
                          <a:sym typeface="Arial"/>
                        </a:rPr>
                        <a:t>/actualisation des documents </a:t>
                      </a:r>
                      <a:r>
                        <a:rPr lang="fr-FR" sz="1400" b="0" kern="1200" noProof="0">
                          <a:solidFill>
                            <a:schemeClr val="tx1"/>
                          </a:solidFill>
                          <a:effectLst/>
                          <a:latin typeface="Arial" panose="020B0604020202020204" pitchFamily="34" charset="0"/>
                          <a:cs typeface="Arial" panose="020B0604020202020204" pitchFamily="34" charset="0"/>
                        </a:rPr>
                        <a:t>stratégiques pour l’introduction du VAP</a:t>
                      </a:r>
                      <a:endParaRPr lang="en-US"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en-US" sz="1400" b="0" kern="1200">
                          <a:solidFill>
                            <a:schemeClr val="tx1"/>
                          </a:solidFill>
                          <a:effectLst/>
                          <a:latin typeface="Arial" panose="020B0604020202020204" pitchFamily="34" charset="0"/>
                          <a:cs typeface="Arial" panose="020B0604020202020204" pitchFamily="34" charset="0"/>
                        </a:rPr>
                        <a:t>Plans </a:t>
                      </a:r>
                      <a:r>
                        <a:rPr lang="en-US" sz="1400" b="0" kern="1200" err="1">
                          <a:solidFill>
                            <a:schemeClr val="tx1"/>
                          </a:solidFill>
                          <a:effectLst/>
                          <a:latin typeface="Arial" panose="020B0604020202020204" pitchFamily="34" charset="0"/>
                          <a:cs typeface="Arial" panose="020B0604020202020204" pitchFamily="34" charset="0"/>
                        </a:rPr>
                        <a:t>d'introduction</a:t>
                      </a:r>
                      <a:r>
                        <a:rPr lang="en-US" sz="1400" b="0" kern="1200">
                          <a:solidFill>
                            <a:schemeClr val="tx1"/>
                          </a:solidFill>
                          <a:effectLst/>
                          <a:latin typeface="Arial" panose="020B0604020202020204" pitchFamily="34" charset="0"/>
                          <a:cs typeface="Arial" panose="020B0604020202020204" pitchFamily="34" charset="0"/>
                        </a:rPr>
                        <a:t>, de d</a:t>
                      </a:r>
                      <a:r>
                        <a:rPr lang="en-US" sz="1400" b="0" kern="1200" noProof="0">
                          <a:solidFill>
                            <a:schemeClr val="tx1"/>
                          </a:solidFill>
                          <a:effectLst/>
                          <a:latin typeface="Arial" panose="020B0604020202020204" pitchFamily="34" charset="0"/>
                          <a:cs typeface="Arial" panose="020B0604020202020204" pitchFamily="34" charset="0"/>
                        </a:rPr>
                        <a:t>é</a:t>
                      </a:r>
                      <a:r>
                        <a:rPr lang="en-US" sz="1400" b="0" kern="1200" err="1">
                          <a:solidFill>
                            <a:schemeClr val="tx1"/>
                          </a:solidFill>
                          <a:effectLst/>
                          <a:latin typeface="Arial" panose="020B0604020202020204" pitchFamily="34" charset="0"/>
                          <a:cs typeface="Arial" panose="020B0604020202020204" pitchFamily="34" charset="0"/>
                        </a:rPr>
                        <a:t>ploiement</a:t>
                      </a:r>
                      <a:r>
                        <a:rPr lang="en-US" sz="1400" b="0" kern="1200">
                          <a:solidFill>
                            <a:schemeClr val="tx1"/>
                          </a:solidFill>
                          <a:effectLst/>
                          <a:latin typeface="Arial" panose="020B0604020202020204" pitchFamily="34" charset="0"/>
                          <a:cs typeface="Arial" panose="020B0604020202020204" pitchFamily="34" charset="0"/>
                        </a:rPr>
                        <a:t>, de communication et de formation </a:t>
                      </a:r>
                      <a:r>
                        <a:rPr lang="en-US" sz="1400" b="0" kern="1200" err="1">
                          <a:solidFill>
                            <a:schemeClr val="tx1"/>
                          </a:solidFill>
                          <a:effectLst/>
                          <a:latin typeface="Arial" panose="020B0604020202020204" pitchFamily="34" charset="0"/>
                          <a:cs typeface="Arial" panose="020B0604020202020204" pitchFamily="34" charset="0"/>
                        </a:rPr>
                        <a:t>disponibles</a:t>
                      </a:r>
                      <a:endParaRPr lang="en-US" sz="1400" b="0" kern="1200">
                        <a:solidFill>
                          <a:schemeClr val="tx1"/>
                        </a:solidFill>
                        <a:effectLst/>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kern="1200">
                          <a:solidFill>
                            <a:schemeClr val="tx1"/>
                          </a:solidFill>
                          <a:effectLst/>
                          <a:latin typeface="Arial" panose="020B0604020202020204" pitchFamily="34" charset="0"/>
                          <a:cs typeface="Arial" panose="020B0604020202020204" pitchFamily="34" charset="0"/>
                        </a:rPr>
                        <a:t> </a:t>
                      </a:r>
                      <a:r>
                        <a:rPr lang="en-US" sz="1400" b="0" kern="1200" err="1">
                          <a:solidFill>
                            <a:schemeClr val="tx1"/>
                          </a:solidFill>
                          <a:effectLst/>
                          <a:latin typeface="Arial" panose="020B0604020202020204" pitchFamily="34" charset="0"/>
                          <a:cs typeface="Arial" panose="020B0604020202020204" pitchFamily="34" charset="0"/>
                        </a:rPr>
                        <a:t>Cartographie</a:t>
                      </a:r>
                      <a:r>
                        <a:rPr lang="en-US" sz="1400" b="0" kern="1200">
                          <a:solidFill>
                            <a:schemeClr val="tx1"/>
                          </a:solidFill>
                          <a:effectLst/>
                          <a:latin typeface="Arial" panose="020B0604020202020204" pitchFamily="34" charset="0"/>
                          <a:cs typeface="Arial" panose="020B0604020202020204" pitchFamily="34" charset="0"/>
                        </a:rPr>
                        <a:t> des Blocs des vaccinations  de la RDC</a:t>
                      </a:r>
                    </a:p>
                  </a:txBody>
                  <a:tcPr anchor="ctr"/>
                </a:tc>
                <a:tc vMerge="1">
                  <a:txBody>
                    <a:bodyPr/>
                    <a:lstStyle/>
                    <a:p>
                      <a:pPr marL="285750" indent="-285750" fontAlgn="t">
                        <a:lnSpc>
                          <a:spcPts val="1500"/>
                        </a:lnSpc>
                        <a:buFont typeface="Arial" panose="020B0604020202020204" pitchFamily="34" charset="0"/>
                        <a:buChar char="•"/>
                      </a:pPr>
                      <a:endParaRPr lang="fr-FR" sz="1200" b="0" i="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767162176"/>
                  </a:ext>
                </a:extLst>
              </a:tr>
              <a:tr h="1169223">
                <a:tc>
                  <a:txBody>
                    <a:bodyPr/>
                    <a:lstStyle/>
                    <a:p>
                      <a:pPr marL="457200" marR="0" lvl="1"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400" b="0" kern="1200" err="1">
                          <a:solidFill>
                            <a:schemeClr val="tx1"/>
                          </a:solidFill>
                          <a:effectLst/>
                          <a:latin typeface="Arial" panose="020B0604020202020204" pitchFamily="34" charset="0"/>
                          <a:cs typeface="Arial" panose="020B0604020202020204" pitchFamily="34" charset="0"/>
                        </a:rPr>
                        <a:t>Appui</a:t>
                      </a:r>
                      <a:r>
                        <a:rPr lang="en-US" sz="1400" b="0" kern="1200">
                          <a:solidFill>
                            <a:schemeClr val="tx1"/>
                          </a:solidFill>
                          <a:effectLst/>
                          <a:latin typeface="Arial" panose="020B0604020202020204" pitchFamily="34" charset="0"/>
                          <a:cs typeface="Arial" panose="020B0604020202020204" pitchFamily="34" charset="0"/>
                        </a:rPr>
                        <a:t> à la formation sur le nouveau </a:t>
                      </a:r>
                      <a:r>
                        <a:rPr lang="en-US" sz="1400" b="0" kern="1200" err="1">
                          <a:solidFill>
                            <a:schemeClr val="tx1"/>
                          </a:solidFill>
                          <a:effectLst/>
                          <a:latin typeface="Arial" panose="020B0604020202020204" pitchFamily="34" charset="0"/>
                          <a:cs typeface="Arial" panose="020B0604020202020204" pitchFamily="34" charset="0"/>
                        </a:rPr>
                        <a:t>vaccin</a:t>
                      </a:r>
                      <a:r>
                        <a:rPr lang="en-US" sz="1400" b="0" kern="1200">
                          <a:solidFill>
                            <a:schemeClr val="tx1"/>
                          </a:solidFill>
                          <a:effectLst/>
                          <a:latin typeface="Arial" panose="020B0604020202020204" pitchFamily="34" charset="0"/>
                          <a:cs typeface="Arial" panose="020B0604020202020204" pitchFamily="34" charset="0"/>
                        </a:rPr>
                        <a:t> VAP </a:t>
                      </a:r>
                      <a:endParaRPr lang="en-US"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kern="1200">
                        <a:solidFill>
                          <a:schemeClr val="tx1"/>
                        </a:solidFill>
                        <a:effectLst/>
                        <a:latin typeface="Arial" panose="020B0604020202020204" pitchFamily="34" charset="0"/>
                        <a:cs typeface="Arial" panose="020B0604020202020204" pitchFamily="34" charset="0"/>
                      </a:endParaRPr>
                    </a:p>
                    <a:p>
                      <a:pPr algn="ctr">
                        <a:buNone/>
                      </a:pP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cap="none" noProof="0">
                          <a:solidFill>
                            <a:schemeClr val="tx1"/>
                          </a:solidFill>
                          <a:latin typeface="Arial" panose="020B0604020202020204" pitchFamily="34" charset="0"/>
                          <a:cs typeface="Arial" panose="020B0604020202020204" pitchFamily="34" charset="0"/>
                        </a:rPr>
                        <a:t>704 cadres du </a:t>
                      </a:r>
                      <a:r>
                        <a:rPr lang="en-US" sz="1400" b="0" u="none" strike="noStrike" cap="none" noProof="0" err="1">
                          <a:solidFill>
                            <a:schemeClr val="tx1"/>
                          </a:solidFill>
                          <a:latin typeface="Arial" panose="020B0604020202020204" pitchFamily="34" charset="0"/>
                          <a:cs typeface="Arial" panose="020B0604020202020204" pitchFamily="34" charset="0"/>
                        </a:rPr>
                        <a:t>niveau</a:t>
                      </a:r>
                      <a:r>
                        <a:rPr lang="en-US" sz="1400" b="0" u="none" strike="noStrike" cap="none" noProof="0">
                          <a:solidFill>
                            <a:schemeClr val="tx1"/>
                          </a:solidFill>
                          <a:latin typeface="Arial" panose="020B0604020202020204" pitchFamily="34" charset="0"/>
                          <a:cs typeface="Arial" panose="020B0604020202020204" pitchFamily="34" charset="0"/>
                        </a:rPr>
                        <a:t> national, provinces/</a:t>
                      </a:r>
                      <a:r>
                        <a:rPr lang="en-US" sz="1400" b="0" u="none" strike="noStrike" cap="none" noProof="0" err="1">
                          <a:solidFill>
                            <a:schemeClr val="tx1"/>
                          </a:solidFill>
                          <a:latin typeface="Arial" panose="020B0604020202020204" pitchFamily="34" charset="0"/>
                          <a:cs typeface="Arial" panose="020B0604020202020204" pitchFamily="34" charset="0"/>
                        </a:rPr>
                        <a:t>antennes</a:t>
                      </a:r>
                      <a:r>
                        <a:rPr lang="en-US" sz="1400" b="0" u="none" strike="noStrike" cap="none" noProof="0">
                          <a:solidFill>
                            <a:schemeClr val="tx1"/>
                          </a:solidFill>
                          <a:latin typeface="Arial" panose="020B0604020202020204" pitchFamily="34" charset="0"/>
                          <a:cs typeface="Arial" panose="020B0604020202020204" pitchFamily="34" charset="0"/>
                        </a:rPr>
                        <a:t> et  ZS form</a:t>
                      </a:r>
                      <a:r>
                        <a:rPr lang="fr-FR" sz="1400" b="0" u="none" strike="noStrike" cap="none" noProof="0">
                          <a:solidFill>
                            <a:schemeClr val="tx1"/>
                          </a:solidFill>
                          <a:latin typeface="Arial" panose="020B0604020202020204" pitchFamily="34" charset="0"/>
                          <a:cs typeface="Arial" panose="020B0604020202020204" pitchFamily="34" charset="0"/>
                        </a:rPr>
                        <a:t>é</a:t>
                      </a:r>
                      <a:r>
                        <a:rPr lang="en-US" sz="1400" b="0" u="none" strike="noStrike" cap="none" noProof="0">
                          <a:solidFill>
                            <a:schemeClr val="tx1"/>
                          </a:solidFill>
                          <a:latin typeface="Arial" panose="020B0604020202020204" pitchFamily="34" charset="0"/>
                          <a:cs typeface="Arial" panose="020B0604020202020204" pitchFamily="34" charset="0"/>
                        </a:rPr>
                        <a:t>s</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fr-FR" sz="1400" b="0" u="none" strike="noStrike" kern="1200" cap="none">
                          <a:solidFill>
                            <a:schemeClr val="tx1"/>
                          </a:solidFill>
                          <a:latin typeface="Arial" panose="020B0604020202020204" pitchFamily="34" charset="0"/>
                          <a:ea typeface="+mn-ea"/>
                          <a:cs typeface="Arial" panose="020B0604020202020204" pitchFamily="34" charset="0"/>
                        </a:rPr>
                        <a:t>Modules de formation produits et distribués (guides, manuels, présentations). Rapports de formation disponibles.</a:t>
                      </a:r>
                    </a:p>
                  </a:txBody>
                  <a:tcPr anchor="ctr"/>
                </a:tc>
                <a:tc>
                  <a:txBody>
                    <a:bodyPr/>
                    <a:lstStyle/>
                    <a:p>
                      <a:pPr marL="285750" indent="-285750" fontAlgn="t">
                        <a:lnSpc>
                          <a:spcPts val="1500"/>
                        </a:lnSpc>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Amélioration des connaissances et compétences des prestataires sur le VAP</a:t>
                      </a:r>
                    </a:p>
                    <a:p>
                      <a:pPr marL="285750" indent="-285750" fontAlgn="t">
                        <a:lnSpc>
                          <a:spcPts val="1500"/>
                        </a:lnSpc>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Renforcement de la capacité du système de santé à introduire et gérer le vaccin VAP</a:t>
                      </a:r>
                    </a:p>
                  </a:txBody>
                  <a:tcPr/>
                </a:tc>
                <a:extLst>
                  <a:ext uri="{0D108BD9-81ED-4DB2-BD59-A6C34878D82A}">
                    <a16:rowId xmlns:a16="http://schemas.microsoft.com/office/drawing/2014/main" val="2955838110"/>
                  </a:ext>
                </a:extLst>
              </a:tr>
              <a:tr h="2594207">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fr-FR" sz="1400" b="0" kern="1200" noProof="0">
                          <a:solidFill>
                            <a:schemeClr val="tx1"/>
                          </a:solidFill>
                          <a:effectLst/>
                          <a:latin typeface="Arial" panose="020B0604020202020204" pitchFamily="34" charset="0"/>
                          <a:cs typeface="Arial" panose="020B0604020202020204" pitchFamily="34" charset="0"/>
                        </a:rPr>
                        <a:t>Appui aux supervisions</a:t>
                      </a:r>
                      <a:r>
                        <a:rPr lang="fr-FR" sz="1400" b="0" kern="1200" noProof="0">
                          <a:solidFill>
                            <a:schemeClr val="tx1"/>
                          </a:solidFill>
                          <a:effectLst/>
                          <a:latin typeface="Arial" panose="020B0604020202020204" pitchFamily="34" charset="0"/>
                          <a:cs typeface="Arial" panose="020B0604020202020204" pitchFamily="34" charset="0"/>
                          <a:sym typeface="Arial"/>
                        </a:rPr>
                        <a:t> </a:t>
                      </a:r>
                      <a:r>
                        <a:rPr lang="fr-FR" sz="1400" b="0" kern="1200" noProof="0">
                          <a:solidFill>
                            <a:schemeClr val="tx1"/>
                          </a:solidFill>
                          <a:effectLst/>
                          <a:latin typeface="Arial" panose="020B0604020202020204" pitchFamily="34" charset="0"/>
                          <a:cs typeface="Arial" panose="020B0604020202020204" pitchFamily="34" charset="0"/>
                        </a:rPr>
                        <a:t>pré </a:t>
                      </a:r>
                      <a:r>
                        <a:rPr lang="fr-FR" sz="1400" b="0" kern="1200" noProof="0">
                          <a:solidFill>
                            <a:schemeClr val="tx1"/>
                          </a:solidFill>
                          <a:effectLst/>
                          <a:latin typeface="Arial" panose="020B0604020202020204" pitchFamily="34" charset="0"/>
                          <a:cs typeface="Arial" panose="020B0604020202020204" pitchFamily="34" charset="0"/>
                          <a:sym typeface="Arial"/>
                        </a:rPr>
                        <a:t>et post-introduction</a:t>
                      </a:r>
                      <a:r>
                        <a:rPr lang="fr-FR" sz="1400" b="0" kern="1200" noProof="0">
                          <a:solidFill>
                            <a:schemeClr val="tx1"/>
                          </a:solidFill>
                          <a:effectLst/>
                          <a:latin typeface="Arial" panose="020B0604020202020204" pitchFamily="34" charset="0"/>
                          <a:cs typeface="Arial" panose="020B0604020202020204" pitchFamily="34" charset="0"/>
                        </a:rPr>
                        <a:t> VAP</a:t>
                      </a:r>
                      <a:endParaRPr lang="fr-FR"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kern="1200">
                        <a:solidFill>
                          <a:schemeClr val="tx1"/>
                        </a:solidFill>
                        <a:effectLst/>
                        <a:latin typeface="Arial" panose="020B0604020202020204" pitchFamily="34" charset="0"/>
                        <a:cs typeface="Arial" panose="020B0604020202020204" pitchFamily="34" charset="0"/>
                      </a:endParaRPr>
                    </a:p>
                    <a:p>
                      <a:pPr algn="ctr">
                        <a:buNone/>
                      </a:pP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kern="1200" cap="none" noProof="0">
                          <a:solidFill>
                            <a:schemeClr val="tx1"/>
                          </a:solidFill>
                          <a:latin typeface="Arial" panose="020B0604020202020204" pitchFamily="34" charset="0"/>
                          <a:ea typeface="+mn-ea"/>
                          <a:cs typeface="Arial" panose="020B0604020202020204" pitchFamily="34" charset="0"/>
                        </a:rPr>
                        <a:t>18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antennes</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supervisées</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pour le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suivi</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Pré et post introduction de VAP pour les blocs 1 et 2</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fr-FR" sz="1400" b="0" u="none" strike="noStrike" kern="1200" cap="none" noProof="0">
                          <a:solidFill>
                            <a:schemeClr val="tx1"/>
                          </a:solidFill>
                          <a:latin typeface="Arial" panose="020B0604020202020204" pitchFamily="34" charset="0"/>
                          <a:ea typeface="+mn-ea"/>
                          <a:cs typeface="Arial" panose="020B0604020202020204" pitchFamily="34" charset="0"/>
                        </a:rPr>
                        <a:t>Plans d’action correctifs élaborés suite aux supervisions.</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kern="1200" cap="none">
                          <a:solidFill>
                            <a:schemeClr val="tx1"/>
                          </a:solidFill>
                          <a:latin typeface="Arial" panose="020B0604020202020204" pitchFamily="34" charset="0"/>
                          <a:ea typeface="+mn-ea"/>
                          <a:cs typeface="Arial" panose="020B0604020202020204" pitchFamily="34" charset="0"/>
                        </a:rPr>
                        <a:t>1,198 </a:t>
                      </a:r>
                      <a:r>
                        <a:rPr lang="en-US" sz="1400" b="0" u="none" strike="noStrike" kern="1200" cap="none" err="1">
                          <a:solidFill>
                            <a:schemeClr val="tx1"/>
                          </a:solidFill>
                          <a:latin typeface="Arial" panose="020B0604020202020204" pitchFamily="34" charset="0"/>
                          <a:ea typeface="+mn-ea"/>
                          <a:cs typeface="Arial" panose="020B0604020202020204" pitchFamily="34" charset="0"/>
                        </a:rPr>
                        <a:t>prestataires</a:t>
                      </a:r>
                      <a:r>
                        <a:rPr lang="en-US" sz="1400" b="0" u="none" strike="noStrike" kern="1200" cap="none">
                          <a:solidFill>
                            <a:schemeClr val="tx1"/>
                          </a:solidFill>
                          <a:latin typeface="Arial" panose="020B0604020202020204" pitchFamily="34" charset="0"/>
                          <a:ea typeface="+mn-ea"/>
                          <a:cs typeface="Arial" panose="020B0604020202020204" pitchFamily="34" charset="0"/>
                        </a:rPr>
                        <a:t> des ZS et ESS coach</a:t>
                      </a:r>
                      <a:r>
                        <a:rPr lang="fr-FR" sz="1400" b="0" u="none" strike="noStrike" kern="1200" cap="none" err="1">
                          <a:solidFill>
                            <a:schemeClr val="tx1"/>
                          </a:solidFill>
                          <a:latin typeface="Arial" panose="020B0604020202020204" pitchFamily="34" charset="0"/>
                          <a:ea typeface="+mn-ea"/>
                          <a:cs typeface="Arial" panose="020B0604020202020204" pitchFamily="34" charset="0"/>
                        </a:rPr>
                        <a:t>és</a:t>
                      </a:r>
                      <a:r>
                        <a:rPr lang="fr-FR" sz="1400" b="0" u="none" strike="noStrike" kern="1200" cap="none">
                          <a:solidFill>
                            <a:schemeClr val="tx1"/>
                          </a:solidFill>
                          <a:latin typeface="Arial" panose="020B0604020202020204" pitchFamily="34" charset="0"/>
                          <a:ea typeface="+mn-ea"/>
                          <a:cs typeface="Arial" panose="020B0604020202020204" pitchFamily="34" charset="0"/>
                        </a:rPr>
                        <a:t> sur la vaccination en général et le VAP en particulier</a:t>
                      </a:r>
                    </a:p>
                  </a:txBody>
                  <a:tcPr anchor="ctr"/>
                </a:tc>
                <a:tc>
                  <a:txBody>
                    <a:bodyPr/>
                    <a:lstStyle/>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Amélioration des préparatifs avant l’introduction du VAP (disponibilité des équipements, chaîne du froid, outils de gestion). </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Réduction des erreurs dans l’administration du vaccin après introduction. </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Renforcement de la qualité des données de vaccination</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Augmentation de la couverture vaccinale VAP grâce à une meilleure organisation et suivi.</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337491876"/>
                  </a:ext>
                </a:extLst>
              </a:tr>
            </a:tbl>
          </a:graphicData>
        </a:graphic>
      </p:graphicFrame>
    </p:spTree>
    <p:extLst>
      <p:ext uri="{BB962C8B-B14F-4D97-AF65-F5344CB8AC3E}">
        <p14:creationId xmlns:p14="http://schemas.microsoft.com/office/powerpoint/2010/main" val="3023329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F8FA7B32-A8BD-0C50-D9B4-62380ABA6FDF}"/>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4ABBF188-7F3C-90EF-A59B-13D1A6C67C7B}"/>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002F8F0-5A25-AB76-768F-0843CD5771BA}"/>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78B52581-8E9F-5A10-B6D8-231ACC418B21}"/>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40C150B9-B9AC-39F6-08AA-FA8F6618D8D4}"/>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47A3654D-D291-AFE4-ACC2-D055C404465D}"/>
              </a:ext>
            </a:extLst>
          </p:cNvPr>
          <p:cNvGraphicFramePr/>
          <p:nvPr>
            <p:custDataLst>
              <p:tags r:id="rId1"/>
            </p:custDataLst>
            <p:extLst>
              <p:ext uri="{D42A27DB-BD31-4B8C-83A1-F6EECF244321}">
                <p14:modId xmlns:p14="http://schemas.microsoft.com/office/powerpoint/2010/main" val="396888459"/>
              </p:ext>
            </p:extLst>
          </p:nvPr>
        </p:nvGraphicFramePr>
        <p:xfrm>
          <a:off x="267700" y="599759"/>
          <a:ext cx="11473900" cy="5721990"/>
        </p:xfrm>
        <a:graphic>
          <a:graphicData uri="http://schemas.openxmlformats.org/drawingml/2006/table">
            <a:tbl>
              <a:tblPr firstRow="1" bandRow="1">
                <a:tableStyleId>{5C22544A-7EE6-4342-B048-85BDC9FD1C3A}</a:tableStyleId>
              </a:tblPr>
              <a:tblGrid>
                <a:gridCol w="2962593">
                  <a:extLst>
                    <a:ext uri="{9D8B030D-6E8A-4147-A177-3AD203B41FA5}">
                      <a16:colId xmlns:a16="http://schemas.microsoft.com/office/drawing/2014/main" val="20000"/>
                    </a:ext>
                  </a:extLst>
                </a:gridCol>
                <a:gridCol w="1156763">
                  <a:extLst>
                    <a:ext uri="{9D8B030D-6E8A-4147-A177-3AD203B41FA5}">
                      <a16:colId xmlns:a16="http://schemas.microsoft.com/office/drawing/2014/main" val="20001"/>
                    </a:ext>
                  </a:extLst>
                </a:gridCol>
                <a:gridCol w="4164137">
                  <a:extLst>
                    <a:ext uri="{9D8B030D-6E8A-4147-A177-3AD203B41FA5}">
                      <a16:colId xmlns:a16="http://schemas.microsoft.com/office/drawing/2014/main" val="20002"/>
                    </a:ext>
                  </a:extLst>
                </a:gridCol>
                <a:gridCol w="3190407">
                  <a:extLst>
                    <a:ext uri="{9D8B030D-6E8A-4147-A177-3AD203B41FA5}">
                      <a16:colId xmlns:a16="http://schemas.microsoft.com/office/drawing/2014/main" val="20003"/>
                    </a:ext>
                  </a:extLst>
                </a:gridCol>
              </a:tblGrid>
              <a:tr h="776092">
                <a:tc>
                  <a:txBody>
                    <a:bodyPr/>
                    <a:lstStyle/>
                    <a:p>
                      <a:pPr>
                        <a:buNone/>
                      </a:pPr>
                      <a:r>
                        <a:rPr lang="fr-FR" altLang="en-US" sz="1600"/>
                        <a:t>Activité prévue dans le PAO du PEV en 2025</a:t>
                      </a:r>
                      <a:endParaRPr lang="fr-FR" altLang="en-US" sz="1600">
                        <a:latin typeface="Arial"/>
                      </a:endParaRPr>
                    </a:p>
                  </a:txBody>
                  <a:tcPr/>
                </a:tc>
                <a:tc>
                  <a:txBody>
                    <a:bodyPr/>
                    <a:lstStyle/>
                    <a:p>
                      <a:pPr>
                        <a:buNone/>
                      </a:pPr>
                      <a:r>
                        <a:rPr lang="fr-FR" altLang="en-US" sz="1600"/>
                        <a:t>Niveau de réalisation</a:t>
                      </a:r>
                      <a:endParaRPr lang="fr-FR" altLang="en-US" sz="1600">
                        <a:latin typeface="Arial"/>
                      </a:endParaRPr>
                    </a:p>
                  </a:txBody>
                  <a:tcPr/>
                </a:tc>
                <a:tc>
                  <a:txBody>
                    <a:bodyPr/>
                    <a:lstStyle/>
                    <a:p>
                      <a:pPr>
                        <a:buNone/>
                      </a:pPr>
                      <a:r>
                        <a:rPr lang="fr-FR" altLang="en-US" sz="1600"/>
                        <a:t>Output</a:t>
                      </a:r>
                      <a:endParaRPr lang="fr-FR" altLang="en-US" sz="1600">
                        <a:latin typeface="Arial"/>
                      </a:endParaRPr>
                    </a:p>
                  </a:txBody>
                  <a:tcPr/>
                </a:tc>
                <a:tc>
                  <a:txBody>
                    <a:bodyPr/>
                    <a:lstStyle/>
                    <a:p>
                      <a:pPr>
                        <a:buNone/>
                      </a:pPr>
                      <a:r>
                        <a:rPr lang="fr-FR" altLang="en-US" sz="1600"/>
                        <a:t>Outcome</a:t>
                      </a:r>
                      <a:endParaRPr lang="fr-FR" altLang="en-US" sz="1600" err="1">
                        <a:latin typeface="Arial"/>
                      </a:endParaRPr>
                    </a:p>
                  </a:txBody>
                  <a:tcPr/>
                </a:tc>
                <a:extLst>
                  <a:ext uri="{0D108BD9-81ED-4DB2-BD59-A6C34878D82A}">
                    <a16:rowId xmlns:a16="http://schemas.microsoft.com/office/drawing/2014/main" val="10000"/>
                  </a:ext>
                </a:extLst>
              </a:tr>
              <a:tr h="888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a:solidFill>
                            <a:schemeClr val="tx1"/>
                          </a:solidFill>
                          <a:effectLst/>
                          <a:latin typeface="Arial" panose="020B0604020202020204" pitchFamily="34" charset="0"/>
                          <a:cs typeface="Arial" panose="020B0604020202020204" pitchFamily="34" charset="0"/>
                        </a:rPr>
                        <a:t>Appui à la révision/actualisation des outils et intégration de VAP dans DHIS2</a:t>
                      </a:r>
                      <a:endParaRPr lang="fr-FR"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en-US" sz="1400" u="none" strike="noStrike" cap="none" err="1">
                          <a:latin typeface="Arial" panose="020B0604020202020204" pitchFamily="34" charset="0"/>
                          <a:cs typeface="Arial" panose="020B0604020202020204" pitchFamily="34" charset="0"/>
                        </a:rPr>
                        <a:t>Outils</a:t>
                      </a:r>
                      <a:r>
                        <a:rPr lang="en-US" sz="1400" u="none" strike="noStrike" cap="none">
                          <a:latin typeface="Arial" panose="020B0604020202020204" pitchFamily="34" charset="0"/>
                          <a:cs typeface="Arial" panose="020B0604020202020204" pitchFamily="34" charset="0"/>
                        </a:rPr>
                        <a:t> de gestion mis </a:t>
                      </a:r>
                      <a:r>
                        <a:rPr lang="fr-FR" sz="1400" u="none" strike="noStrike" cap="none">
                          <a:latin typeface="Arial" panose="020B0604020202020204" pitchFamily="34" charset="0"/>
                          <a:cs typeface="Arial" panose="020B0604020202020204" pitchFamily="34" charset="0"/>
                        </a:rPr>
                        <a:t>à</a:t>
                      </a:r>
                      <a:r>
                        <a:rPr lang="en-US" sz="1400" u="none" strike="noStrike" cap="none">
                          <a:latin typeface="Arial" panose="020B0604020202020204" pitchFamily="34" charset="0"/>
                          <a:cs typeface="Arial" panose="020B0604020202020204" pitchFamily="34" charset="0"/>
                        </a:rPr>
                        <a:t> jour et </a:t>
                      </a:r>
                      <a:r>
                        <a:rPr lang="en-US" sz="1400" u="none" strike="noStrike" cap="none" err="1">
                          <a:latin typeface="Arial" panose="020B0604020202020204" pitchFamily="34" charset="0"/>
                          <a:cs typeface="Arial" panose="020B0604020202020204" pitchFamily="34" charset="0"/>
                        </a:rPr>
                        <a:t>disponibles</a:t>
                      </a:r>
                      <a:endParaRPr lang="en-US" sz="1400" u="none" strike="noStrike" cap="none">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000000"/>
                        </a:buClr>
                        <a:buSzPts val="1200"/>
                        <a:buFont typeface="Arial"/>
                        <a:buChar char="•"/>
                      </a:pPr>
                      <a:r>
                        <a:rPr lang="en-US" sz="1400" u="none" strike="noStrike" cap="none">
                          <a:latin typeface="Arial" panose="020B0604020202020204" pitchFamily="34" charset="0"/>
                          <a:cs typeface="Arial" panose="020B0604020202020204" pitchFamily="34" charset="0"/>
                        </a:rPr>
                        <a:t>Les données VAP  </a:t>
                      </a:r>
                      <a:r>
                        <a:rPr lang="en-US" sz="1400" u="none" strike="noStrike" cap="none" err="1">
                          <a:latin typeface="Arial" panose="020B0604020202020204" pitchFamily="34" charset="0"/>
                          <a:cs typeface="Arial" panose="020B0604020202020204" pitchFamily="34" charset="0"/>
                        </a:rPr>
                        <a:t>integrées</a:t>
                      </a:r>
                      <a:r>
                        <a:rPr lang="en-US" sz="1400" u="none" strike="noStrike" cap="none">
                          <a:latin typeface="Arial" panose="020B0604020202020204" pitchFamily="34" charset="0"/>
                          <a:cs typeface="Arial" panose="020B0604020202020204" pitchFamily="34" charset="0"/>
                        </a:rPr>
                        <a:t> dans DHIS2 de routine</a:t>
                      </a:r>
                    </a:p>
                  </a:txBody>
                  <a:tcPr anchor="ctr"/>
                </a:tc>
                <a:tc>
                  <a:txBody>
                    <a:bodyPr/>
                    <a:lstStyle/>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US" sz="1400" u="none" strike="noStrike" cap="none" err="1">
                          <a:latin typeface="Arial" panose="020B0604020202020204" pitchFamily="34" charset="0"/>
                          <a:cs typeface="Arial" panose="020B0604020202020204" pitchFamily="34" charset="0"/>
                        </a:rPr>
                        <a:t>Complétude</a:t>
                      </a:r>
                      <a:r>
                        <a:rPr lang="en-US" sz="1400" u="none" strike="noStrike" cap="none">
                          <a:latin typeface="Arial" panose="020B0604020202020204" pitchFamily="34" charset="0"/>
                          <a:cs typeface="Arial" panose="020B0604020202020204" pitchFamily="34" charset="0"/>
                        </a:rPr>
                        <a:t> et promptitude des données dans DHIS2 (plus 95%)</a:t>
                      </a:r>
                    </a:p>
                  </a:txBody>
                  <a:tcPr/>
                </a:tc>
                <a:extLst>
                  <a:ext uri="{0D108BD9-81ED-4DB2-BD59-A6C34878D82A}">
                    <a16:rowId xmlns:a16="http://schemas.microsoft.com/office/drawing/2014/main" val="3576343439"/>
                  </a:ext>
                </a:extLst>
              </a:tr>
              <a:tr h="1143715">
                <a:tc>
                  <a:txBody>
                    <a:bodyPr/>
                    <a:lstStyle/>
                    <a:p>
                      <a:pPr lvl="0">
                        <a:buNone/>
                      </a:pPr>
                      <a:r>
                        <a:rPr lang="fr-FR" altLang="en-US" sz="1400" b="0" kern="1200">
                          <a:solidFill>
                            <a:schemeClr val="tx1"/>
                          </a:solidFill>
                          <a:effectLst/>
                          <a:latin typeface="Arial" panose="020B0604020202020204" pitchFamily="34" charset="0"/>
                          <a:ea typeface="+mn-ea"/>
                          <a:cs typeface="Arial" panose="020B0604020202020204" pitchFamily="34" charset="0"/>
                        </a:rPr>
                        <a:t>Appui à l’ organisation des réunions d’analyse et de validation des données de la vaccination en province et ZS</a:t>
                      </a:r>
                    </a:p>
                  </a:txBody>
                  <a:tcPr/>
                </a:tc>
                <a:tc>
                  <a:txBody>
                    <a:bodyPr/>
                    <a:lstStyle/>
                    <a:p>
                      <a:pPr algn="ctr">
                        <a:buNone/>
                      </a:pPr>
                      <a:r>
                        <a:rPr lang="fr-FR" altLang="en-US" sz="1400" b="0" kern="1200">
                          <a:solidFill>
                            <a:schemeClr val="tx1"/>
                          </a:solidFill>
                          <a:effectLst/>
                          <a:latin typeface="Arial" panose="020B0604020202020204" pitchFamily="34" charset="0"/>
                          <a:ea typeface="+mn-ea"/>
                          <a:cs typeface="Arial" panose="020B0604020202020204" pitchFamily="34" charset="0"/>
                        </a:rPr>
                        <a:t>100%</a:t>
                      </a:r>
                    </a:p>
                  </a:txBody>
                  <a:tcPr anchor="ctr"/>
                </a:tc>
                <a:tc>
                  <a:txBody>
                    <a:bodyPr/>
                    <a:lstStyle/>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schemeClr val="tx1"/>
                          </a:solidFill>
                          <a:effectLst/>
                          <a:latin typeface="Arial" panose="020B0604020202020204" pitchFamily="34" charset="0"/>
                          <a:ea typeface="+mn-ea"/>
                          <a:cs typeface="Arial" panose="020B0604020202020204" pitchFamily="34" charset="0"/>
                        </a:rPr>
                        <a:t>93% (80/86)  revues de </a:t>
                      </a:r>
                      <a:r>
                        <a:rPr lang="en-US" sz="1400" b="0" kern="1200" err="1">
                          <a:solidFill>
                            <a:schemeClr val="tx1"/>
                          </a:solidFill>
                          <a:effectLst/>
                          <a:latin typeface="Arial" panose="020B0604020202020204" pitchFamily="34" charset="0"/>
                          <a:ea typeface="+mn-ea"/>
                          <a:cs typeface="Arial" panose="020B0604020202020204" pitchFamily="34" charset="0"/>
                        </a:rPr>
                        <a:t>monitorage</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mensuel</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appuy</a:t>
                      </a:r>
                      <a:r>
                        <a:rPr lang="fr-FR" sz="1400" b="0" kern="1200">
                          <a:solidFill>
                            <a:schemeClr val="tx1"/>
                          </a:solidFill>
                          <a:effectLst/>
                          <a:latin typeface="Arial" panose="020B0604020202020204" pitchFamily="34" charset="0"/>
                          <a:ea typeface="+mn-ea"/>
                          <a:cs typeface="Arial" panose="020B0604020202020204" pitchFamily="34" charset="0"/>
                        </a:rPr>
                        <a:t>é</a:t>
                      </a:r>
                      <a:r>
                        <a:rPr lang="en-US" sz="1400" b="0" kern="1200">
                          <a:solidFill>
                            <a:schemeClr val="tx1"/>
                          </a:solidFill>
                          <a:effectLst/>
                          <a:latin typeface="Arial" panose="020B0604020202020204" pitchFamily="34" charset="0"/>
                          <a:ea typeface="+mn-ea"/>
                          <a:cs typeface="Arial" panose="020B0604020202020204" pitchFamily="34" charset="0"/>
                        </a:rPr>
                        <a:t>es dans 7 ZS Deep Dive du Kongo Central et 100%(4/4) dans la ZS </a:t>
                      </a:r>
                      <a:r>
                        <a:rPr lang="en-US" sz="1400" b="0" kern="1200" err="1">
                          <a:solidFill>
                            <a:schemeClr val="tx1"/>
                          </a:solidFill>
                          <a:effectLst/>
                          <a:latin typeface="Arial" panose="020B0604020202020204" pitchFamily="34" charset="0"/>
                          <a:ea typeface="+mn-ea"/>
                          <a:cs typeface="Arial" panose="020B0604020202020204" pitchFamily="34" charset="0"/>
                        </a:rPr>
                        <a:t>Kikwit</a:t>
                      </a:r>
                      <a:r>
                        <a:rPr lang="en-US" sz="1400" b="0" kern="1200">
                          <a:solidFill>
                            <a:schemeClr val="tx1"/>
                          </a:solidFill>
                          <a:effectLst/>
                          <a:latin typeface="Arial" panose="020B0604020202020204" pitchFamily="34" charset="0"/>
                          <a:ea typeface="+mn-ea"/>
                          <a:cs typeface="Arial" panose="020B0604020202020204" pitchFamily="34" charset="0"/>
                        </a:rPr>
                        <a:t> Nord (</a:t>
                      </a:r>
                      <a:r>
                        <a:rPr lang="en-US" sz="1400" b="0" kern="1200" err="1">
                          <a:solidFill>
                            <a:schemeClr val="tx1"/>
                          </a:solidFill>
                          <a:effectLst/>
                          <a:latin typeface="Arial" panose="020B0604020202020204" pitchFamily="34" charset="0"/>
                          <a:ea typeface="+mn-ea"/>
                          <a:cs typeface="Arial" panose="020B0604020202020204" pitchFamily="34" charset="0"/>
                        </a:rPr>
                        <a:t>Kwilu</a:t>
                      </a:r>
                      <a:r>
                        <a:rPr lang="en-US" sz="1400" b="0" kern="1200">
                          <a:solidFill>
                            <a:schemeClr val="tx1"/>
                          </a:solidFill>
                          <a:effectLst/>
                          <a:latin typeface="Arial" panose="020B0604020202020204" pitchFamily="34" charset="0"/>
                          <a:ea typeface="+mn-ea"/>
                          <a:cs typeface="Arial" panose="020B0604020202020204" pitchFamily="34" charset="0"/>
                        </a:rPr>
                        <a:t>)</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84 plans d’amélioration élaborés</a:t>
                      </a:r>
                    </a:p>
                  </a:txBody>
                  <a:tcPr anchor="ctr"/>
                </a:tc>
                <a:tc>
                  <a:txBody>
                    <a:bodyPr/>
                    <a:lstStyle/>
                    <a:p>
                      <a:pPr marL="285750" indent="-285750" fontAlgn="t">
                        <a:lnSpc>
                          <a:spcPts val="1500"/>
                        </a:lnSpc>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Amélioration constante des indicateurs de performance des ZS </a:t>
                      </a:r>
                    </a:p>
                    <a:p>
                      <a:pPr marL="285750" indent="-285750" fontAlgn="t">
                        <a:lnSpc>
                          <a:spcPts val="1500"/>
                        </a:lnSpc>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Augmentation du taux de complétude et promptitude des rapports (&gt;95%)</a:t>
                      </a:r>
                    </a:p>
                  </a:txBody>
                  <a:tcPr/>
                </a:tc>
                <a:extLst>
                  <a:ext uri="{0D108BD9-81ED-4DB2-BD59-A6C34878D82A}">
                    <a16:rowId xmlns:a16="http://schemas.microsoft.com/office/drawing/2014/main" val="10001"/>
                  </a:ext>
                </a:extLst>
              </a:tr>
              <a:tr h="2817322">
                <a:tc>
                  <a:txBody>
                    <a:bodyPr/>
                    <a:lstStyle/>
                    <a:p>
                      <a:pPr lvl="0">
                        <a:buNone/>
                      </a:pPr>
                      <a:r>
                        <a:rPr lang="fr-FR" altLang="en-US" sz="1400" b="0" kern="1200">
                          <a:solidFill>
                            <a:schemeClr val="tx1"/>
                          </a:solidFill>
                          <a:effectLst/>
                          <a:latin typeface="Arial" panose="020B0604020202020204" pitchFamily="34" charset="0"/>
                          <a:ea typeface="+mn-ea"/>
                          <a:cs typeface="Arial" panose="020B0604020202020204" pitchFamily="34" charset="0"/>
                        </a:rPr>
                        <a:t>Accompagner la réalisation de R-DQA dans les ZS des provinces d’interventions</a:t>
                      </a:r>
                    </a:p>
                  </a:txBody>
                  <a:tcPr/>
                </a:tc>
                <a:tc>
                  <a:txBody>
                    <a:bodyPr/>
                    <a:lstStyle/>
                    <a:p>
                      <a:pPr algn="ctr">
                        <a:buNone/>
                      </a:pPr>
                      <a:r>
                        <a:rPr lang="fr-FR" altLang="en-US" sz="1400" b="0" kern="1200">
                          <a:solidFill>
                            <a:schemeClr val="tx1"/>
                          </a:solidFill>
                          <a:effectLst/>
                          <a:latin typeface="Arial" panose="020B0604020202020204" pitchFamily="34" charset="0"/>
                          <a:ea typeface="+mn-ea"/>
                          <a:cs typeface="Arial" panose="020B0604020202020204" pitchFamily="34" charset="0"/>
                        </a:rPr>
                        <a:t>100%</a:t>
                      </a:r>
                    </a:p>
                  </a:txBody>
                  <a:tcPr anchor="ct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400" b="0" kern="1200">
                          <a:solidFill>
                            <a:schemeClr val="tx1"/>
                          </a:solidFill>
                          <a:effectLst/>
                          <a:latin typeface="Arial" panose="020B0604020202020204" pitchFamily="34" charset="0"/>
                          <a:ea typeface="+mn-ea"/>
                          <a:cs typeface="Arial" panose="020B0604020202020204" pitchFamily="34" charset="0"/>
                        </a:rPr>
                        <a:t>163 DQA </a:t>
                      </a:r>
                      <a:r>
                        <a:rPr lang="en-US" sz="1400" b="0" kern="1200" err="1">
                          <a:solidFill>
                            <a:schemeClr val="tx1"/>
                          </a:solidFill>
                          <a:effectLst/>
                          <a:latin typeface="Arial" panose="020B0604020202020204" pitchFamily="34" charset="0"/>
                          <a:ea typeface="+mn-ea"/>
                          <a:cs typeface="Arial" panose="020B0604020202020204" pitchFamily="34" charset="0"/>
                        </a:rPr>
                        <a:t>réalisées</a:t>
                      </a:r>
                      <a:r>
                        <a:rPr lang="en-US" sz="1400" b="0" kern="1200">
                          <a:solidFill>
                            <a:schemeClr val="tx1"/>
                          </a:solidFill>
                          <a:effectLst/>
                          <a:latin typeface="Arial" panose="020B0604020202020204" pitchFamily="34" charset="0"/>
                          <a:ea typeface="+mn-ea"/>
                          <a:cs typeface="Arial" panose="020B0604020202020204" pitchFamily="34" charset="0"/>
                        </a:rPr>
                        <a:t> dans la province du Kongo Central</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400" b="0" kern="1200">
                          <a:solidFill>
                            <a:schemeClr val="tx1"/>
                          </a:solidFill>
                          <a:effectLst/>
                          <a:latin typeface="Arial" panose="020B0604020202020204" pitchFamily="34" charset="0"/>
                          <a:ea typeface="+mn-ea"/>
                          <a:cs typeface="Arial" panose="020B0604020202020204" pitchFamily="34" charset="0"/>
                        </a:rPr>
                        <a:t>87 DQA </a:t>
                      </a:r>
                      <a:r>
                        <a:rPr lang="en-US" sz="1400" b="0" kern="1200" err="1">
                          <a:solidFill>
                            <a:schemeClr val="tx1"/>
                          </a:solidFill>
                          <a:effectLst/>
                          <a:latin typeface="Arial" panose="020B0604020202020204" pitchFamily="34" charset="0"/>
                          <a:ea typeface="+mn-ea"/>
                          <a:cs typeface="Arial" panose="020B0604020202020204" pitchFamily="34" charset="0"/>
                        </a:rPr>
                        <a:t>réalisées</a:t>
                      </a:r>
                      <a:r>
                        <a:rPr lang="en-US" sz="1400" b="0" kern="1200">
                          <a:solidFill>
                            <a:schemeClr val="tx1"/>
                          </a:solidFill>
                          <a:effectLst/>
                          <a:latin typeface="Arial" panose="020B0604020202020204" pitchFamily="34" charset="0"/>
                          <a:ea typeface="+mn-ea"/>
                          <a:cs typeface="Arial" panose="020B0604020202020204" pitchFamily="34" charset="0"/>
                        </a:rPr>
                        <a:t> dans les 6 </a:t>
                      </a:r>
                      <a:r>
                        <a:rPr lang="en-US" sz="1400" b="0" kern="1200" err="1">
                          <a:solidFill>
                            <a:schemeClr val="tx1"/>
                          </a:solidFill>
                          <a:effectLst/>
                          <a:latin typeface="Arial" panose="020B0604020202020204" pitchFamily="34" charset="0"/>
                          <a:ea typeface="+mn-ea"/>
                          <a:cs typeface="Arial" panose="020B0604020202020204" pitchFamily="34" charset="0"/>
                        </a:rPr>
                        <a:t>antennes</a:t>
                      </a:r>
                      <a:r>
                        <a:rPr lang="en-US" sz="1400" b="0" kern="1200">
                          <a:solidFill>
                            <a:schemeClr val="tx1"/>
                          </a:solidFill>
                          <a:effectLst/>
                          <a:latin typeface="Arial" panose="020B0604020202020204" pitchFamily="34" charset="0"/>
                          <a:ea typeface="+mn-ea"/>
                          <a:cs typeface="Arial" panose="020B0604020202020204" pitchFamily="34" charset="0"/>
                        </a:rPr>
                        <a:t>(</a:t>
                      </a:r>
                      <a:r>
                        <a:rPr lang="en-US" sz="1400" b="0" kern="1200" err="1">
                          <a:solidFill>
                            <a:schemeClr val="tx1"/>
                          </a:solidFill>
                          <a:effectLst/>
                          <a:latin typeface="Arial" panose="020B0604020202020204" pitchFamily="34" charset="0"/>
                          <a:ea typeface="+mn-ea"/>
                          <a:cs typeface="Arial" panose="020B0604020202020204" pitchFamily="34" charset="0"/>
                        </a:rPr>
                        <a:t>Kikwit</a:t>
                      </a:r>
                      <a:r>
                        <a:rPr lang="en-US" sz="1400" b="0" kern="1200">
                          <a:solidFill>
                            <a:schemeClr val="tx1"/>
                          </a:solidFill>
                          <a:effectLst/>
                          <a:latin typeface="Arial" panose="020B0604020202020204" pitchFamily="34" charset="0"/>
                          <a:ea typeface="+mn-ea"/>
                          <a:cs typeface="Arial" panose="020B0604020202020204" pitchFamily="34" charset="0"/>
                        </a:rPr>
                        <a:t>, Bandundu, Kenge, </a:t>
                      </a:r>
                      <a:r>
                        <a:rPr lang="en-US" sz="1400" b="0" kern="1200" err="1">
                          <a:solidFill>
                            <a:schemeClr val="tx1"/>
                          </a:solidFill>
                          <a:effectLst/>
                          <a:latin typeface="Arial" panose="020B0604020202020204" pitchFamily="34" charset="0"/>
                          <a:ea typeface="+mn-ea"/>
                          <a:cs typeface="Arial" panose="020B0604020202020204" pitchFamily="34" charset="0"/>
                        </a:rPr>
                        <a:t>Inongo</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Lisala</a:t>
                      </a:r>
                      <a:r>
                        <a:rPr lang="en-US" sz="1400" b="0" kern="1200">
                          <a:solidFill>
                            <a:schemeClr val="tx1"/>
                          </a:solidFill>
                          <a:effectLst/>
                          <a:latin typeface="Arial" panose="020B0604020202020204" pitchFamily="34" charset="0"/>
                          <a:ea typeface="+mn-ea"/>
                          <a:cs typeface="Arial" panose="020B0604020202020204" pitchFamily="34" charset="0"/>
                        </a:rPr>
                        <a:t> et </a:t>
                      </a:r>
                      <a:r>
                        <a:rPr lang="en-US" sz="1400" b="0" kern="1200" err="1">
                          <a:solidFill>
                            <a:schemeClr val="tx1"/>
                          </a:solidFill>
                          <a:effectLst/>
                          <a:latin typeface="Arial" panose="020B0604020202020204" pitchFamily="34" charset="0"/>
                          <a:ea typeface="+mn-ea"/>
                          <a:cs typeface="Arial" panose="020B0604020202020204" pitchFamily="34" charset="0"/>
                        </a:rPr>
                        <a:t>Boende</a:t>
                      </a:r>
                      <a:r>
                        <a:rPr lang="en-US" sz="1400" b="0" kern="1200">
                          <a:solidFill>
                            <a:schemeClr val="tx1"/>
                          </a:solidFill>
                          <a:effectLst/>
                          <a:latin typeface="Arial" panose="020B0604020202020204" pitchFamily="34" charset="0"/>
                          <a:ea typeface="+mn-ea"/>
                          <a:cs typeface="Arial" panose="020B0604020202020204" pitchFamily="34" charset="0"/>
                        </a:rPr>
                        <a:t>)</a:t>
                      </a:r>
                      <a:endParaRPr lang="fr-FR" sz="1400" b="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Plans d’amélioration de la qualité des données élaborés suite aux évaluations.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Liste des écarts identifiés entre différentes sources(registre de vaccination, fiche de pointage et DHIS2).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Sessions de feedback organisées avec les équipes locales</a:t>
                      </a:r>
                      <a:endParaRPr lang="en-US" sz="1400" b="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Amélioration de la qualité des données de vaccination (exactitude, cohérence). </a:t>
                      </a:r>
                      <a:endParaRPr lang="en-US" sz="1400" b="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Réduction des écarts entre données sources (registres) et données rapportées dans DHIS2. </a:t>
                      </a:r>
                      <a:endParaRPr lang="en-US" sz="1400" b="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Renforcement des capacités des  prestataires des ESS en  utilisation des outils</a:t>
                      </a:r>
                      <a:endParaRPr lang="en-US" sz="1400" b="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sp>
        <p:nvSpPr>
          <p:cNvPr id="3" name="Google Shape;176;g3aabd3d1b2d_0_290">
            <a:extLst>
              <a:ext uri="{FF2B5EF4-FFF2-40B4-BE49-F238E27FC236}">
                <a16:creationId xmlns:a16="http://schemas.microsoft.com/office/drawing/2014/main" id="{01072B8E-7302-E3DB-237C-8C11105F21D8}"/>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07015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500992225"/>
              </p:ext>
            </p:extLst>
          </p:nvPr>
        </p:nvGraphicFramePr>
        <p:xfrm>
          <a:off x="362690" y="868680"/>
          <a:ext cx="11450319" cy="5303520"/>
        </p:xfrm>
        <a:graphic>
          <a:graphicData uri="http://schemas.openxmlformats.org/drawingml/2006/table">
            <a:tbl>
              <a:tblPr firstRow="1" bandRow="1">
                <a:tableStyleId>{5C22544A-7EE6-4342-B048-85BDC9FD1C3A}</a:tableStyleId>
              </a:tblPr>
              <a:tblGrid>
                <a:gridCol w="3058438">
                  <a:extLst>
                    <a:ext uri="{9D8B030D-6E8A-4147-A177-3AD203B41FA5}">
                      <a16:colId xmlns:a16="http://schemas.microsoft.com/office/drawing/2014/main" val="20000"/>
                    </a:ext>
                  </a:extLst>
                </a:gridCol>
                <a:gridCol w="1086217">
                  <a:extLst>
                    <a:ext uri="{9D8B030D-6E8A-4147-A177-3AD203B41FA5}">
                      <a16:colId xmlns:a16="http://schemas.microsoft.com/office/drawing/2014/main" val="20001"/>
                    </a:ext>
                  </a:extLst>
                </a:gridCol>
                <a:gridCol w="3631112">
                  <a:extLst>
                    <a:ext uri="{9D8B030D-6E8A-4147-A177-3AD203B41FA5}">
                      <a16:colId xmlns:a16="http://schemas.microsoft.com/office/drawing/2014/main" val="20002"/>
                    </a:ext>
                  </a:extLst>
                </a:gridCol>
                <a:gridCol w="3674552">
                  <a:extLst>
                    <a:ext uri="{9D8B030D-6E8A-4147-A177-3AD203B41FA5}">
                      <a16:colId xmlns:a16="http://schemas.microsoft.com/office/drawing/2014/main" val="20003"/>
                    </a:ext>
                  </a:extLst>
                </a:gridCol>
              </a:tblGrid>
              <a:tr h="376362">
                <a:tc>
                  <a:txBody>
                    <a:bodyPr/>
                    <a:lstStyle/>
                    <a:p>
                      <a:pPr>
                        <a:buNone/>
                      </a:pPr>
                      <a:r>
                        <a:rPr lang="fr-FR" altLang="en-US" sz="1200">
                          <a:latin typeface="Arial" panose="020B0604020202020204" pitchFamily="34" charset="0"/>
                          <a:cs typeface="Arial" panose="020B0604020202020204" pitchFamily="34" charset="0"/>
                        </a:rPr>
                        <a:t>Activité prévu dans le PAO du PEV en 2025</a:t>
                      </a:r>
                    </a:p>
                  </a:txBody>
                  <a:tcPr/>
                </a:tc>
                <a:tc>
                  <a:txBody>
                    <a:bodyPr/>
                    <a:lstStyle/>
                    <a:p>
                      <a:pPr>
                        <a:buNone/>
                      </a:pPr>
                      <a:r>
                        <a:rPr lang="fr-FR" altLang="en-US" sz="1200">
                          <a:latin typeface="Arial" panose="020B0604020202020204" pitchFamily="34" charset="0"/>
                          <a:cs typeface="Arial" panose="020B0604020202020204" pitchFamily="34" charset="0"/>
                        </a:rPr>
                        <a:t>Niveau de réalisation</a:t>
                      </a:r>
                    </a:p>
                  </a:txBody>
                  <a:tcPr/>
                </a:tc>
                <a:tc>
                  <a:txBody>
                    <a:bodyPr/>
                    <a:lstStyle/>
                    <a:p>
                      <a:pPr>
                        <a:buNone/>
                      </a:pPr>
                      <a:r>
                        <a:rPr lang="fr-FR" altLang="en-US" sz="1200">
                          <a:latin typeface="Arial" panose="020B0604020202020204" pitchFamily="34" charset="0"/>
                          <a:cs typeface="Arial" panose="020B0604020202020204" pitchFamily="34" charset="0"/>
                        </a:rPr>
                        <a:t>Output</a:t>
                      </a:r>
                    </a:p>
                  </a:txBody>
                  <a:tcPr/>
                </a:tc>
                <a:tc>
                  <a:txBody>
                    <a:bodyPr/>
                    <a:lstStyle/>
                    <a:p>
                      <a:pPr>
                        <a:buNone/>
                      </a:pPr>
                      <a:r>
                        <a:rPr lang="fr-FR" altLang="en-US" sz="1200" err="1">
                          <a:latin typeface="Arial" panose="020B0604020202020204" pitchFamily="34" charset="0"/>
                          <a:cs typeface="Arial" panose="020B0604020202020204" pitchFamily="34" charset="0"/>
                        </a:rPr>
                        <a:t>Outcome</a:t>
                      </a:r>
                      <a:endParaRPr lang="fr-FR" alt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0">
                <a:tc>
                  <a:txBody>
                    <a:bodyPr/>
                    <a:lstStyle/>
                    <a:p>
                      <a:pPr>
                        <a:buNone/>
                      </a:pPr>
                      <a:r>
                        <a:rPr lang="en-US" sz="1200" b="0" i="0" u="none" strike="noStrike">
                          <a:solidFill>
                            <a:srgbClr val="000000"/>
                          </a:solidFill>
                          <a:effectLst/>
                          <a:latin typeface="Arial"/>
                          <a:cs typeface="Arial"/>
                        </a:rPr>
                        <a:t>Assurer </a:t>
                      </a:r>
                      <a:r>
                        <a:rPr lang="en-US" sz="1200" b="0" i="0" u="none" strike="noStrike" err="1">
                          <a:solidFill>
                            <a:srgbClr val="000000"/>
                          </a:solidFill>
                          <a:effectLst/>
                          <a:latin typeface="Arial"/>
                          <a:cs typeface="Arial"/>
                        </a:rPr>
                        <a:t>l'accompagnement</a:t>
                      </a:r>
                      <a:r>
                        <a:rPr lang="en-US" sz="1200" b="0" i="0" u="none" strike="noStrike">
                          <a:solidFill>
                            <a:srgbClr val="000000"/>
                          </a:solidFill>
                          <a:effectLst/>
                          <a:latin typeface="Arial"/>
                          <a:cs typeface="Arial"/>
                        </a:rPr>
                        <a:t> de PNT dans la mise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œuvre</a:t>
                      </a:r>
                      <a:r>
                        <a:rPr lang="en-US" sz="1200" b="0" i="0" u="none" strike="noStrike">
                          <a:solidFill>
                            <a:srgbClr val="000000"/>
                          </a:solidFill>
                          <a:effectLst/>
                          <a:latin typeface="Arial"/>
                          <a:cs typeface="Arial"/>
                        </a:rPr>
                        <a:t>, le </a:t>
                      </a:r>
                      <a:r>
                        <a:rPr lang="en-US" sz="1200" b="0" i="0" u="none" strike="noStrike" err="1">
                          <a:solidFill>
                            <a:srgbClr val="000000"/>
                          </a:solidFill>
                          <a:effectLst/>
                          <a:latin typeface="Arial"/>
                          <a:cs typeface="Arial"/>
                        </a:rPr>
                        <a:t>suivi</a:t>
                      </a:r>
                      <a:r>
                        <a:rPr lang="en-US" sz="1200" b="0" i="0" u="none" strike="noStrike">
                          <a:solidFill>
                            <a:srgbClr val="000000"/>
                          </a:solidFill>
                          <a:effectLst/>
                          <a:latin typeface="Arial"/>
                          <a:cs typeface="Arial"/>
                        </a:rPr>
                        <a:t> et </a:t>
                      </a:r>
                      <a:r>
                        <a:rPr lang="en-US" sz="1200" b="0" i="0" u="none" strike="noStrike" err="1">
                          <a:solidFill>
                            <a:srgbClr val="000000"/>
                          </a:solidFill>
                          <a:effectLst/>
                          <a:latin typeface="Arial"/>
                          <a:cs typeface="Arial"/>
                        </a:rPr>
                        <a:t>l'évaluation</a:t>
                      </a:r>
                      <a:r>
                        <a:rPr lang="en-US" sz="1200" b="0" i="0" u="none" strike="noStrike">
                          <a:solidFill>
                            <a:srgbClr val="000000"/>
                          </a:solidFill>
                          <a:effectLst/>
                          <a:latin typeface="Arial"/>
                          <a:cs typeface="Arial"/>
                        </a:rPr>
                        <a:t> de la </a:t>
                      </a:r>
                      <a:r>
                        <a:rPr lang="en-US" sz="1200" b="0" i="0" u="none" strike="noStrike" err="1">
                          <a:solidFill>
                            <a:srgbClr val="000000"/>
                          </a:solidFill>
                          <a:effectLst/>
                          <a:latin typeface="Arial"/>
                          <a:cs typeface="Arial"/>
                        </a:rPr>
                        <a:t>feuille</a:t>
                      </a:r>
                      <a:r>
                        <a:rPr lang="en-US" sz="1200" b="0" i="0" u="none" strike="noStrike">
                          <a:solidFill>
                            <a:srgbClr val="000000"/>
                          </a:solidFill>
                          <a:effectLst/>
                          <a:latin typeface="Arial"/>
                          <a:cs typeface="Arial"/>
                        </a:rPr>
                        <a:t> de route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faveur</a:t>
                      </a:r>
                      <a:r>
                        <a:rPr lang="en-US" sz="1200" b="0" i="0" u="none" strike="noStrike">
                          <a:solidFill>
                            <a:srgbClr val="000000"/>
                          </a:solidFill>
                          <a:effectLst/>
                          <a:latin typeface="Arial"/>
                          <a:cs typeface="Arial"/>
                        </a:rPr>
                        <a:t> de la vaccination ​anti-</a:t>
                      </a:r>
                      <a:r>
                        <a:rPr lang="en-US" sz="1200" b="0" i="0" u="none" strike="noStrike" err="1">
                          <a:solidFill>
                            <a:srgbClr val="000000"/>
                          </a:solidFill>
                          <a:effectLst/>
                          <a:latin typeface="Arial"/>
                          <a:cs typeface="Arial"/>
                        </a:rPr>
                        <a:t>paludique</a:t>
                      </a:r>
                      <a:endParaRPr lang="fr-FR" altLang="en-US" sz="1200">
                        <a:latin typeface="Arial" panose="020B0604020202020204" pitchFamily="34" charset="0"/>
                        <a:cs typeface="Arial" panose="020B0604020202020204" pitchFamily="34" charset="0"/>
                      </a:endParaRPr>
                    </a:p>
                  </a:txBody>
                  <a:tcPr/>
                </a:tc>
                <a:tc>
                  <a:txBody>
                    <a:bodyPr/>
                    <a:lstStyle/>
                    <a:p>
                      <a:pPr>
                        <a:buNone/>
                      </a:pPr>
                      <a:r>
                        <a:rPr lang="fr-FR" altLang="en-US" sz="1200">
                          <a:latin typeface="Arial"/>
                          <a:cs typeface="Arial"/>
                        </a:rPr>
                        <a:t>Réalisé </a:t>
                      </a:r>
                    </a:p>
                  </a:txBody>
                  <a:tcPr/>
                </a:tc>
                <a:tc>
                  <a:txBody>
                    <a:bodyPr/>
                    <a:lstStyle/>
                    <a:p>
                      <a:pPr marL="0" indent="0">
                        <a:buFont typeface="Arial"/>
                        <a:buNone/>
                      </a:pPr>
                      <a:r>
                        <a:rPr lang="en-US" sz="1200" b="0" i="0" u="none" strike="noStrike">
                          <a:solidFill>
                            <a:srgbClr val="000000"/>
                          </a:solidFill>
                          <a:effectLst/>
                          <a:latin typeface="Arial"/>
                          <a:cs typeface="Arial"/>
                        </a:rPr>
                        <a:t>PATH a </a:t>
                      </a:r>
                      <a:r>
                        <a:rPr lang="en-US" sz="1200" b="0" i="0" u="none" strike="noStrike" err="1">
                          <a:solidFill>
                            <a:srgbClr val="000000"/>
                          </a:solidFill>
                          <a:effectLst/>
                          <a:latin typeface="Arial"/>
                          <a:cs typeface="Arial"/>
                        </a:rPr>
                        <a:t>contribu</a:t>
                      </a:r>
                      <a:r>
                        <a:rPr lang="fr-FR" sz="1200" b="0" i="0" u="none" strike="noStrike">
                          <a:solidFill>
                            <a:srgbClr val="000000"/>
                          </a:solidFill>
                          <a:effectLst/>
                          <a:latin typeface="Arial"/>
                          <a:cs typeface="Arial"/>
                        </a:rPr>
                        <a:t>é</a:t>
                      </a:r>
                      <a:endParaRPr lang="en-US" sz="1200" b="0" i="0" u="none" strike="noStrike">
                        <a:solidFill>
                          <a:srgbClr val="000000"/>
                        </a:solidFill>
                        <a:effectLst/>
                        <a:latin typeface="Arial"/>
                        <a:cs typeface="Arial"/>
                      </a:endParaRPr>
                    </a:p>
                    <a:p>
                      <a:pPr marL="171450" indent="-171450">
                        <a:buFont typeface="Arial"/>
                        <a:buChar char="•"/>
                      </a:pPr>
                      <a:r>
                        <a:rPr lang="en-US" sz="1200" b="0" i="0" u="none" strike="noStrike">
                          <a:solidFill>
                            <a:srgbClr val="000000"/>
                          </a:solidFill>
                          <a:effectLst/>
                          <a:latin typeface="Arial"/>
                          <a:cs typeface="Arial"/>
                        </a:rPr>
                        <a:t>287 PNT </a:t>
                      </a:r>
                      <a:r>
                        <a:rPr lang="en-US" sz="1200" b="0" i="0" u="none" strike="noStrike" err="1">
                          <a:solidFill>
                            <a:srgbClr val="000000"/>
                          </a:solidFill>
                          <a:effectLst/>
                          <a:latin typeface="Arial"/>
                          <a:cs typeface="Arial"/>
                        </a:rPr>
                        <a:t>formés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communication </a:t>
                      </a:r>
                      <a:r>
                        <a:rPr lang="en-US" sz="1200" b="0" i="0" u="none" strike="noStrike" err="1">
                          <a:solidFill>
                            <a:srgbClr val="000000"/>
                          </a:solidFill>
                          <a:effectLst/>
                          <a:latin typeface="Arial"/>
                          <a:cs typeface="Arial"/>
                        </a:rPr>
                        <a:t>interpersonnelle</a:t>
                      </a:r>
                      <a:r>
                        <a:rPr lang="en-US" sz="1200" b="0" i="0" u="none" strike="noStrike">
                          <a:solidFill>
                            <a:srgbClr val="000000"/>
                          </a:solidFill>
                          <a:effectLst/>
                          <a:latin typeface="Arial"/>
                          <a:cs typeface="Arial"/>
                        </a:rPr>
                        <a:t> et messages sur le </a:t>
                      </a:r>
                      <a:r>
                        <a:rPr lang="en-US" sz="1200" b="0" i="0" u="none" strike="noStrike" err="1">
                          <a:solidFill>
                            <a:srgbClr val="000000"/>
                          </a:solidFill>
                          <a:effectLst/>
                          <a:latin typeface="Arial"/>
                          <a:cs typeface="Arial"/>
                        </a:rPr>
                        <a:t>vaccin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antipaludique</a:t>
                      </a:r>
                      <a:r>
                        <a:rPr lang="en-US" sz="1200" b="0" i="0" u="none" strike="noStrike">
                          <a:solidFill>
                            <a:srgbClr val="000000"/>
                          </a:solidFill>
                          <a:effectLst/>
                          <a:latin typeface="Arial"/>
                          <a:cs typeface="Arial"/>
                        </a:rPr>
                        <a:t> dans 5 provinces(Kongo-central, </a:t>
                      </a:r>
                      <a:r>
                        <a:rPr lang="en-US" sz="1200" b="0" i="0" u="none" strike="noStrike" err="1">
                          <a:solidFill>
                            <a:srgbClr val="000000"/>
                          </a:solidFill>
                          <a:effectLst/>
                          <a:latin typeface="Arial"/>
                          <a:cs typeface="Arial"/>
                        </a:rPr>
                        <a:t>Kwilu</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Tshopo</a:t>
                      </a:r>
                      <a:r>
                        <a:rPr lang="en-US" sz="1200" b="0" i="0" u="none" strike="noStrike">
                          <a:solidFill>
                            <a:srgbClr val="000000"/>
                          </a:solidFill>
                          <a:effectLst/>
                          <a:latin typeface="Arial"/>
                          <a:cs typeface="Arial"/>
                        </a:rPr>
                        <a:t>, Equateur, Maniema)</a:t>
                      </a: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11 882 visites à domicile réalisées </a:t>
                      </a:r>
                      <a:endParaRPr lang="fr-FR" sz="1200" b="0" i="0" u="none" strike="noStrike" noProof="0">
                        <a:solidFill>
                          <a:srgbClr val="000000"/>
                        </a:solidFill>
                        <a:effectLst/>
                        <a:latin typeface="Arial"/>
                      </a:endParaRP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8448 spots et 53 émissions diffusés</a:t>
                      </a:r>
                      <a:r>
                        <a:rPr lang="fr-FR" sz="1200" b="0" i="0" u="none" strike="noStrike" noProof="0">
                          <a:solidFill>
                            <a:srgbClr val="000000"/>
                          </a:solidFill>
                          <a:effectLst/>
                          <a:latin typeface="Arial"/>
                        </a:rPr>
                        <a:t> </a:t>
                      </a:r>
                      <a:endParaRPr lang="en-US" sz="1200" b="0" i="0" u="none" strike="noStrike" noProof="0">
                        <a:solidFill>
                          <a:srgbClr val="000000"/>
                        </a:solidFill>
                        <a:effectLst/>
                        <a:latin typeface="Arial"/>
                      </a:endParaRP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354 séances de sensibilisation publique réalisées</a:t>
                      </a:r>
                      <a:r>
                        <a:rPr lang="fr-FR" sz="1200" b="0" i="0" u="none" strike="noStrike" noProof="0">
                          <a:solidFill>
                            <a:srgbClr val="000000"/>
                          </a:solidFill>
                          <a:effectLst/>
                          <a:latin typeface="Arial"/>
                        </a:rPr>
                        <a:t>  </a:t>
                      </a:r>
                      <a:endParaRPr lang="en-US"/>
                    </a:p>
                  </a:txBody>
                  <a:tcPr/>
                </a:tc>
                <a:tc>
                  <a:txBody>
                    <a:bodyPr/>
                    <a:lstStyle/>
                    <a:p>
                      <a:pPr marL="171450" indent="-171450" algn="l" rtl="0" fontAlgn="base">
                        <a:lnSpc>
                          <a:spcPct val="100000"/>
                        </a:lnSpc>
                        <a:buFont typeface="Arial"/>
                        <a:buChar char="•"/>
                      </a:pPr>
                      <a:r>
                        <a:rPr lang="fr-FR" sz="1200" b="0" i="0" u="none" strike="noStrike" noProof="0">
                          <a:solidFill>
                            <a:srgbClr val="202020"/>
                          </a:solidFill>
                          <a:effectLst/>
                          <a:latin typeface="Arial"/>
                        </a:rPr>
                        <a:t>120 703 personnes touchées par un message VAP (66 % de femmes) </a:t>
                      </a:r>
                      <a:r>
                        <a:rPr lang="fr-FR" sz="1200" b="0" i="0" u="none" strike="noStrike" noProof="0">
                          <a:solidFill>
                            <a:srgbClr val="000000"/>
                          </a:solidFill>
                          <a:effectLst/>
                          <a:latin typeface="Arial"/>
                        </a:rPr>
                        <a:t> </a:t>
                      </a:r>
                    </a:p>
                    <a:p>
                      <a:pPr marL="171450" lvl="0" indent="-171450" algn="l">
                        <a:lnSpc>
                          <a:spcPct val="100000"/>
                        </a:lnSpc>
                        <a:buFont typeface="Arial"/>
                        <a:buChar char="•"/>
                      </a:pPr>
                      <a:r>
                        <a:rPr lang="fr-FR" sz="1200" b="0" i="0" u="none" strike="noStrike">
                          <a:solidFill>
                            <a:srgbClr val="202020"/>
                          </a:solidFill>
                          <a:effectLst/>
                          <a:latin typeface="Arial"/>
                          <a:cs typeface="Arial"/>
                        </a:rPr>
                        <a:t>423 enfants en conflit avec la vaccination identifiés (301 récupérés soit 71%)</a:t>
                      </a:r>
                      <a:r>
                        <a:rPr lang="fr-FR" sz="1200" b="0" i="0">
                          <a:solidFill>
                            <a:srgbClr val="000000"/>
                          </a:solidFill>
                          <a:effectLst/>
                          <a:latin typeface="Arial"/>
                          <a:cs typeface="Arial"/>
                        </a:rPr>
                        <a:t>​</a:t>
                      </a:r>
                      <a:endParaRPr lang="fr-FR"/>
                    </a:p>
                    <a:p>
                      <a:pPr marL="171450" lvl="0" indent="-171450" algn="l">
                        <a:lnSpc>
                          <a:spcPct val="100000"/>
                        </a:lnSpc>
                        <a:buFont typeface="Arial"/>
                        <a:buChar char="•"/>
                      </a:pPr>
                      <a:r>
                        <a:rPr lang="fr-FR" sz="1200" b="0" i="0" u="none" strike="noStrike" noProof="0">
                          <a:solidFill>
                            <a:srgbClr val="202020"/>
                          </a:solidFill>
                          <a:effectLst/>
                          <a:latin typeface="Arial"/>
                        </a:rPr>
                        <a:t>Reduction du taux d'abandon entre VAP1-VAP 4(45% en juin a 30% en octobre) </a:t>
                      </a:r>
                    </a:p>
                  </a:txBody>
                  <a:tcPr/>
                </a:tc>
                <a:extLst>
                  <a:ext uri="{0D108BD9-81ED-4DB2-BD59-A6C34878D82A}">
                    <a16:rowId xmlns:a16="http://schemas.microsoft.com/office/drawing/2014/main" val="10001"/>
                  </a:ext>
                </a:extLst>
              </a:tr>
              <a:tr h="395605">
                <a:tc>
                  <a:txBody>
                    <a:bodyPr/>
                    <a:lstStyle/>
                    <a:p>
                      <a:pPr marL="0" algn="l" defTabSz="914400" rtl="0" eaLnBrk="1" latinLnBrk="0" hangingPunct="1">
                        <a:buNone/>
                      </a:pPr>
                      <a:r>
                        <a:rPr lang="en-US" sz="1200" b="0" i="0" u="none" strike="noStrike" kern="1200" err="1">
                          <a:solidFill>
                            <a:schemeClr val="tx1"/>
                          </a:solidFill>
                          <a:effectLst/>
                          <a:latin typeface="Arial"/>
                          <a:ea typeface="+mn-ea"/>
                          <a:cs typeface="Arial"/>
                        </a:rPr>
                        <a:t>Organiser</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l'atelier</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d'élaboration</a:t>
                      </a:r>
                      <a:r>
                        <a:rPr lang="en-US" sz="1200" b="0" i="0" u="none" strike="noStrike" kern="1200">
                          <a:solidFill>
                            <a:schemeClr val="tx1"/>
                          </a:solidFill>
                          <a:effectLst/>
                          <a:latin typeface="Arial"/>
                          <a:ea typeface="+mn-ea"/>
                          <a:cs typeface="Arial"/>
                        </a:rPr>
                        <a:t> du plan de communication national </a:t>
                      </a:r>
                      <a:r>
                        <a:rPr lang="en-US" sz="1200" b="0" i="0" u="none" strike="noStrike" kern="1200" err="1">
                          <a:solidFill>
                            <a:schemeClr val="tx1"/>
                          </a:solidFill>
                          <a:effectLst/>
                          <a:latin typeface="Arial"/>
                          <a:ea typeface="+mn-ea"/>
                          <a:cs typeface="Arial"/>
                        </a:rPr>
                        <a:t>en</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appui</a:t>
                      </a:r>
                      <a:r>
                        <a:rPr lang="en-US" sz="1200" b="0" i="0" u="none" strike="noStrike" kern="1200">
                          <a:solidFill>
                            <a:schemeClr val="tx1"/>
                          </a:solidFill>
                          <a:effectLst/>
                          <a:latin typeface="Arial"/>
                          <a:ea typeface="+mn-ea"/>
                          <a:cs typeface="Arial"/>
                        </a:rPr>
                        <a:t> à la vaccination (SNV) et </a:t>
                      </a:r>
                      <a:r>
                        <a:rPr lang="en-US" sz="1200" b="0" i="0" u="none" strike="noStrike" kern="1200" err="1">
                          <a:solidFill>
                            <a:schemeClr val="tx1"/>
                          </a:solidFill>
                          <a:effectLst/>
                          <a:latin typeface="Arial"/>
                          <a:ea typeface="+mn-ea"/>
                          <a:cs typeface="Arial"/>
                        </a:rPr>
                        <a:t>en</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faveur</a:t>
                      </a:r>
                      <a:r>
                        <a:rPr lang="en-US" sz="1200" b="0" i="0" u="none" strike="noStrike" kern="1200">
                          <a:solidFill>
                            <a:schemeClr val="tx1"/>
                          </a:solidFill>
                          <a:effectLst/>
                          <a:latin typeface="Arial"/>
                          <a:ea typeface="+mn-ea"/>
                          <a:cs typeface="Arial"/>
                        </a:rPr>
                        <a:t> de </a:t>
                      </a:r>
                      <a:r>
                        <a:rPr lang="en-US" sz="1200" b="0" i="0" u="none" strike="noStrike" kern="1200" err="1">
                          <a:solidFill>
                            <a:schemeClr val="tx1"/>
                          </a:solidFill>
                          <a:effectLst/>
                          <a:latin typeface="Arial"/>
                          <a:ea typeface="+mn-ea"/>
                          <a:cs typeface="Arial"/>
                        </a:rPr>
                        <a:t>l'introduction</a:t>
                      </a:r>
                      <a:r>
                        <a:rPr lang="en-US" sz="1200" b="0" i="0" u="none" strike="noStrike" kern="1200">
                          <a:solidFill>
                            <a:schemeClr val="tx1"/>
                          </a:solidFill>
                          <a:effectLst/>
                          <a:latin typeface="Arial"/>
                          <a:ea typeface="+mn-ea"/>
                          <a:cs typeface="Arial"/>
                        </a:rPr>
                        <a:t> des </a:t>
                      </a:r>
                      <a:r>
                        <a:rPr lang="en-US" sz="1200" b="0" i="0" u="none" strike="noStrike" kern="1200" err="1">
                          <a:solidFill>
                            <a:schemeClr val="tx1"/>
                          </a:solidFill>
                          <a:effectLst/>
                          <a:latin typeface="Arial"/>
                          <a:ea typeface="+mn-ea"/>
                          <a:cs typeface="Arial"/>
                        </a:rPr>
                        <a:t>vaccins</a:t>
                      </a:r>
                      <a:r>
                        <a:rPr lang="en-US" sz="1200" b="0" i="0" u="none" strike="noStrike" kern="1200">
                          <a:solidFill>
                            <a:schemeClr val="tx1"/>
                          </a:solidFill>
                          <a:effectLst/>
                          <a:latin typeface="Arial"/>
                          <a:ea typeface="+mn-ea"/>
                          <a:cs typeface="Arial"/>
                        </a:rPr>
                        <a:t> VAP, RR, HPV</a:t>
                      </a:r>
                      <a:endParaRPr lang="fr-FR" altLang="en-US" sz="1200" b="0" i="0" u="none" strike="noStrike" kern="1200">
                        <a:solidFill>
                          <a:schemeClr val="tx1"/>
                        </a:solidFill>
                        <a:effectLst/>
                        <a:latin typeface="Arial"/>
                        <a:ea typeface="+mn-ea"/>
                        <a:cs typeface="Arial"/>
                      </a:endParaRPr>
                    </a:p>
                  </a:txBody>
                  <a:tcPr/>
                </a:tc>
                <a:tc>
                  <a:txBody>
                    <a:bodyPr/>
                    <a:lstStyle/>
                    <a:p>
                      <a:pPr>
                        <a:buNone/>
                      </a:pPr>
                      <a:r>
                        <a:rPr lang="fr-FR" altLang="en-US" sz="1200">
                          <a:solidFill>
                            <a:schemeClr val="tx1"/>
                          </a:solidFill>
                          <a:latin typeface="Arial"/>
                          <a:cs typeface="Arial"/>
                        </a:rPr>
                        <a:t>Réalisé</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fr-FR" sz="1200" b="0" i="0" u="none" strike="noStrike" noProof="0">
                          <a:solidFill>
                            <a:schemeClr val="tx1"/>
                          </a:solidFill>
                          <a:latin typeface="Arial"/>
                          <a:cs typeface="Arial"/>
                        </a:rPr>
                        <a:t>Plans de communication, gestion des risques et engagement communautaire pour l'introduction et le déploiement du VAP en RDC élaborés et mis à jour</a:t>
                      </a:r>
                    </a:p>
                  </a:txBody>
                  <a:tcPr/>
                </a:tc>
                <a:tc>
                  <a:txBody>
                    <a:bodyPr/>
                    <a:lstStyle/>
                    <a:p>
                      <a:pPr lvl="0">
                        <a:buNone/>
                      </a:pPr>
                      <a:r>
                        <a:rPr lang="en-US" sz="1200">
                          <a:solidFill>
                            <a:schemeClr val="tx1"/>
                          </a:solidFill>
                          <a:latin typeface="Arial"/>
                          <a:cs typeface="Arial"/>
                        </a:rPr>
                        <a:t>Les planifications pour l'introduction et deploiement du VAP en RDC sont disponibles et tiennent compte des resultats de l'enquete CAP 2024</a:t>
                      </a:r>
                    </a:p>
                  </a:txBody>
                  <a:tcPr/>
                </a:tc>
                <a:extLst>
                  <a:ext uri="{0D108BD9-81ED-4DB2-BD59-A6C34878D82A}">
                    <a16:rowId xmlns:a16="http://schemas.microsoft.com/office/drawing/2014/main" val="10002"/>
                  </a:ext>
                </a:extLst>
              </a:tr>
              <a:tr h="0">
                <a:tc>
                  <a:txBody>
                    <a:bodyPr/>
                    <a:lstStyle/>
                    <a:p>
                      <a:pPr>
                        <a:buNone/>
                      </a:pPr>
                      <a:r>
                        <a:rPr lang="en-US" sz="1200" b="0" i="0" u="none" strike="noStrike" err="1">
                          <a:solidFill>
                            <a:srgbClr val="000000"/>
                          </a:solidFill>
                          <a:effectLst/>
                          <a:latin typeface="Arial"/>
                          <a:cs typeface="Arial"/>
                        </a:rPr>
                        <a:t>Produire</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rendre</a:t>
                      </a:r>
                      <a:r>
                        <a:rPr lang="en-US" sz="1200" b="0" i="0" u="none" strike="noStrike">
                          <a:solidFill>
                            <a:srgbClr val="000000"/>
                          </a:solidFill>
                          <a:effectLst/>
                          <a:latin typeface="Arial"/>
                          <a:cs typeface="Arial"/>
                        </a:rPr>
                        <a:t> disponible et diffuser les </a:t>
                      </a:r>
                      <a:r>
                        <a:rPr lang="en-US" sz="1200" b="0" i="0" u="none" strike="noStrike" err="1">
                          <a:solidFill>
                            <a:srgbClr val="000000"/>
                          </a:solidFill>
                          <a:effectLst/>
                          <a:latin typeface="Arial"/>
                          <a:cs typeface="Arial"/>
                        </a:rPr>
                        <a:t>outils</a:t>
                      </a:r>
                      <a:r>
                        <a:rPr lang="en-US" sz="1200" b="0" i="0" u="none" strike="noStrike">
                          <a:solidFill>
                            <a:srgbClr val="000000"/>
                          </a:solidFill>
                          <a:effectLst/>
                          <a:latin typeface="Arial"/>
                          <a:cs typeface="Arial"/>
                        </a:rPr>
                        <a:t>, supports/</a:t>
                      </a:r>
                      <a:r>
                        <a:rPr lang="en-US" sz="1200" b="0" i="0" u="none" strike="noStrike" err="1">
                          <a:solidFill>
                            <a:srgbClr val="000000"/>
                          </a:solidFill>
                          <a:effectLst/>
                          <a:latin typeface="Arial"/>
                          <a:cs typeface="Arial"/>
                        </a:rPr>
                        <a:t>matériels</a:t>
                      </a:r>
                      <a:r>
                        <a:rPr lang="en-US" sz="1200" b="0" i="0" u="none" strike="noStrike">
                          <a:solidFill>
                            <a:srgbClr val="000000"/>
                          </a:solidFill>
                          <a:effectLst/>
                          <a:latin typeface="Arial"/>
                          <a:cs typeface="Arial"/>
                        </a:rPr>
                        <a:t> de communication ​(spots, pod-cast, les histoires à </a:t>
                      </a:r>
                      <a:r>
                        <a:rPr lang="en-US" sz="1200" b="0" i="0" u="none" strike="noStrike" err="1">
                          <a:solidFill>
                            <a:srgbClr val="000000"/>
                          </a:solidFill>
                          <a:effectLst/>
                          <a:latin typeface="Arial"/>
                          <a:cs typeface="Arial"/>
                        </a:rPr>
                        <a:t>succes</a:t>
                      </a:r>
                      <a:r>
                        <a:rPr lang="en-US" sz="1200" b="0" i="0" u="none" strike="noStrike">
                          <a:solidFill>
                            <a:srgbClr val="000000"/>
                          </a:solidFill>
                          <a:effectLst/>
                          <a:latin typeface="Arial"/>
                          <a:cs typeface="Arial"/>
                        </a:rPr>
                        <a:t> et </a:t>
                      </a:r>
                      <a:r>
                        <a:rPr lang="en-US" sz="1200" b="0" i="0" u="none" strike="noStrike" err="1">
                          <a:solidFill>
                            <a:srgbClr val="000000"/>
                          </a:solidFill>
                          <a:effectLst/>
                          <a:latin typeface="Arial"/>
                          <a:cs typeface="Arial"/>
                        </a:rPr>
                        <a:t>émissions</a:t>
                      </a:r>
                      <a:r>
                        <a:rPr lang="en-US" sz="1200" b="0" i="0" u="none" strike="noStrike">
                          <a:solidFill>
                            <a:srgbClr val="000000"/>
                          </a:solidFill>
                          <a:effectLst/>
                          <a:latin typeface="Arial"/>
                          <a:cs typeface="Arial"/>
                        </a:rPr>
                        <a:t> radio-</a:t>
                      </a:r>
                      <a:r>
                        <a:rPr lang="en-US" sz="1200" b="0" i="0" u="none" strike="noStrike" err="1">
                          <a:solidFill>
                            <a:srgbClr val="000000"/>
                          </a:solidFill>
                          <a:effectLst/>
                          <a:latin typeface="Arial"/>
                          <a:cs typeface="Arial"/>
                        </a:rPr>
                        <a:t>télévisées</a:t>
                      </a:r>
                      <a:r>
                        <a:rPr lang="en-US" sz="1200" b="0" i="0" u="none" strike="noStrike">
                          <a:solidFill>
                            <a:srgbClr val="000000"/>
                          </a:solidFill>
                          <a:effectLst/>
                          <a:latin typeface="Arial"/>
                          <a:cs typeface="Arial"/>
                        </a:rPr>
                        <a:t> à audience </a:t>
                      </a:r>
                      <a:r>
                        <a:rPr lang="en-US" sz="1200" b="0" i="0" u="none" strike="noStrike" err="1">
                          <a:solidFill>
                            <a:srgbClr val="000000"/>
                          </a:solidFill>
                          <a:effectLst/>
                          <a:latin typeface="Arial"/>
                          <a:cs typeface="Arial"/>
                        </a:rPr>
                        <a:t>nationale</a:t>
                      </a:r>
                      <a:r>
                        <a:rPr lang="en-US" sz="1200" b="0" i="0" u="none" strike="noStrike">
                          <a:solidFill>
                            <a:srgbClr val="000000"/>
                          </a:solidFill>
                          <a:effectLst/>
                          <a:latin typeface="Arial"/>
                          <a:cs typeface="Arial"/>
                        </a:rPr>
                        <a:t> ​) par les </a:t>
                      </a:r>
                      <a:r>
                        <a:rPr lang="en-US" sz="1200" b="0" i="0" u="none" strike="noStrike" err="1">
                          <a:solidFill>
                            <a:srgbClr val="000000"/>
                          </a:solidFill>
                          <a:effectLst/>
                          <a:latin typeface="Arial"/>
                          <a:cs typeface="Arial"/>
                        </a:rPr>
                        <a:t>acteurs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communautaires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faveur</a:t>
                      </a:r>
                      <a:r>
                        <a:rPr lang="en-US" sz="1200" b="0" i="0" u="none" strike="noStrike">
                          <a:solidFill>
                            <a:srgbClr val="000000"/>
                          </a:solidFill>
                          <a:effectLst/>
                          <a:latin typeface="Arial"/>
                          <a:cs typeface="Arial"/>
                        </a:rPr>
                        <a:t> de VAP</a:t>
                      </a:r>
                      <a:endParaRPr lang="fr-FR" altLang="en-US" sz="1200">
                        <a:latin typeface="Arial"/>
                        <a:cs typeface="Arial"/>
                      </a:endParaRPr>
                    </a:p>
                  </a:txBody>
                  <a:tcPr/>
                </a:tc>
                <a:tc>
                  <a:txBody>
                    <a:bodyPr/>
                    <a:lstStyle/>
                    <a:p>
                      <a:pPr marL="0" algn="l" defTabSz="914400" rtl="0" eaLnBrk="1" latinLnBrk="0" hangingPunct="1">
                        <a:buNone/>
                      </a:pPr>
                      <a:r>
                        <a:rPr lang="fr-FR" altLang="en-US" sz="1200" kern="1200">
                          <a:solidFill>
                            <a:schemeClr val="dk1"/>
                          </a:solidFill>
                          <a:latin typeface="Arial"/>
                          <a:ea typeface="+mn-ea"/>
                          <a:cs typeface="Arial"/>
                        </a:rPr>
                        <a:t>Réalisé </a:t>
                      </a:r>
                    </a:p>
                  </a:txBody>
                  <a:tcPr/>
                </a:tc>
                <a:tc>
                  <a:txBody>
                    <a:bodyPr/>
                    <a:lstStyle/>
                    <a:p>
                      <a:pPr marL="0" lvl="0" indent="0">
                        <a:buClr>
                          <a:srgbClr val="000000"/>
                        </a:buClr>
                        <a:buNone/>
                      </a:pPr>
                      <a:r>
                        <a:rPr lang="fr-FR" sz="1200" b="0" i="0" u="none" strike="noStrike" kern="1200" noProof="0">
                          <a:solidFill>
                            <a:schemeClr val="tx1"/>
                          </a:solidFill>
                          <a:effectLst/>
                          <a:latin typeface="Arial"/>
                        </a:rPr>
                        <a:t>PATH a contribué à la </a:t>
                      </a:r>
                    </a:p>
                    <a:p>
                      <a:pPr marL="0" lvl="0" indent="0">
                        <a:buClr>
                          <a:srgbClr val="000000"/>
                        </a:buClr>
                        <a:buNone/>
                      </a:pPr>
                      <a:r>
                        <a:rPr lang="fr-FR" sz="1200" b="0" i="0" u="none" strike="noStrike" kern="1200" noProof="0">
                          <a:solidFill>
                            <a:schemeClr val="tx1"/>
                          </a:solidFill>
                          <a:effectLst/>
                          <a:latin typeface="Arial"/>
                        </a:rPr>
                        <a:t>Production et distribution dans 16 DPS, 287 acteurs locaux de l'engagement communautaire et 7 000 jeunes pour le VAP :  </a:t>
                      </a:r>
                      <a:endParaRPr lang="en-US" sz="1200" b="0" i="0" u="none" strike="noStrike" kern="1200" noProof="0">
                        <a:solidFill>
                          <a:srgbClr val="000000"/>
                        </a:solidFill>
                        <a:effectLst/>
                        <a:latin typeface="Arial"/>
                      </a:endParaRPr>
                    </a:p>
                    <a:p>
                      <a:pPr marL="171450" lvl="0" indent="-171450">
                        <a:buClr>
                          <a:srgbClr val="000000"/>
                        </a:buClr>
                        <a:buFont typeface="Arial"/>
                        <a:buChar char="•"/>
                      </a:pPr>
                      <a:r>
                        <a:rPr lang="fr-FR" sz="1200" b="0" i="0" u="none" strike="noStrike" kern="1200" noProof="0">
                          <a:solidFill>
                            <a:srgbClr val="000000"/>
                          </a:solidFill>
                          <a:effectLst/>
                          <a:latin typeface="Arial"/>
                        </a:rPr>
                        <a:t>25 000 aide-mémoires en 7 langues </a:t>
                      </a:r>
                      <a:endParaRPr lang="en-US" sz="1200" b="0" i="0" u="none" strike="noStrike" kern="1200" noProof="0">
                        <a:solidFill>
                          <a:srgbClr val="000000"/>
                        </a:solidFill>
                        <a:effectLst/>
                        <a:latin typeface="Arial"/>
                      </a:endParaRPr>
                    </a:p>
                    <a:p>
                      <a:pPr marL="171450" lvl="0" indent="-171450">
                        <a:buClr>
                          <a:srgbClr val="000000"/>
                        </a:buClr>
                        <a:buFont typeface="Arial,Sans-Serif"/>
                        <a:buChar char="•"/>
                      </a:pPr>
                      <a:r>
                        <a:rPr lang="fr-FR" sz="1200" b="0" i="0" u="none" strike="noStrike" kern="1200" noProof="0">
                          <a:solidFill>
                            <a:srgbClr val="000000"/>
                          </a:solidFill>
                          <a:effectLst/>
                          <a:latin typeface="Arial"/>
                        </a:rPr>
                        <a:t>16 250 chasubles  </a:t>
                      </a:r>
                      <a:endParaRPr lang="en-US" sz="1200" b="0" i="0" u="none" strike="noStrike" kern="1200" noProof="0">
                        <a:solidFill>
                          <a:srgbClr val="000000"/>
                        </a:solidFill>
                        <a:effectLst/>
                        <a:latin typeface="Arial"/>
                      </a:endParaRPr>
                    </a:p>
                    <a:p>
                      <a:pPr marL="171450" lvl="0" indent="-171450">
                        <a:buClr>
                          <a:srgbClr val="000000"/>
                        </a:buClr>
                        <a:buFont typeface="Arial,Sans-Serif"/>
                        <a:buChar char="•"/>
                      </a:pPr>
                      <a:r>
                        <a:rPr lang="fr-FR" sz="1200" b="0" i="0" u="none" strike="noStrike" kern="1200" noProof="0">
                          <a:solidFill>
                            <a:srgbClr val="000000"/>
                          </a:solidFill>
                          <a:effectLst/>
                          <a:latin typeface="Arial"/>
                        </a:rPr>
                        <a:t>4 200 gilets et casquettes </a:t>
                      </a:r>
                    </a:p>
                    <a:p>
                      <a:pPr marL="171450" lvl="0" indent="-171450">
                        <a:buClr>
                          <a:srgbClr val="000000"/>
                        </a:buClr>
                        <a:buFont typeface="Arial,Sans-Serif"/>
                        <a:buChar char="•"/>
                      </a:pPr>
                      <a:r>
                        <a:rPr lang="fr-FR" sz="1200" b="0" i="0" u="none" strike="noStrike" kern="1200" noProof="0">
                          <a:solidFill>
                            <a:srgbClr val="000000"/>
                          </a:solidFill>
                          <a:effectLst/>
                          <a:latin typeface="Arial"/>
                        </a:rPr>
                        <a:t>Aide-mémoires, messages, vidéos disponibles en 7 langues, format impression et digital </a:t>
                      </a:r>
                      <a:r>
                        <a:rPr lang="en-US" sz="1200" b="0" i="0" u="none" strike="noStrike" kern="1200">
                          <a:solidFill>
                            <a:schemeClr val="tx1"/>
                          </a:solidFill>
                          <a:effectLst/>
                          <a:latin typeface="Arial"/>
                          <a:ea typeface="+mn-ea"/>
                          <a:cs typeface="Arial"/>
                        </a:rPr>
                        <a:t>​</a:t>
                      </a:r>
                      <a:endParaRPr lang="fr-FR" sz="1200" b="0" i="0" u="none" strike="noStrike" kern="1200">
                        <a:solidFill>
                          <a:schemeClr val="tx1"/>
                        </a:solidFill>
                        <a:effectLst/>
                        <a:latin typeface="Arial"/>
                        <a:ea typeface="+mn-ea"/>
                        <a:cs typeface="Arial"/>
                      </a:endParaRPr>
                    </a:p>
                    <a:p>
                      <a:pPr marL="171450" lvl="0" indent="-171450">
                        <a:buClr>
                          <a:srgbClr val="000000"/>
                        </a:buClr>
                        <a:buFont typeface="Arial,Sans-Serif"/>
                        <a:buChar char="•"/>
                      </a:pPr>
                      <a:r>
                        <a:rPr lang="fr-FR" sz="1200" b="0" i="0" u="none" strike="noStrike" kern="1200">
                          <a:solidFill>
                            <a:schemeClr val="tx1"/>
                          </a:solidFill>
                          <a:effectLst/>
                          <a:latin typeface="Arial"/>
                          <a:ea typeface="+mn-ea"/>
                          <a:cs typeface="Arial"/>
                        </a:rPr>
                        <a:t>Documentation sur les leçons apprises et soumission présentation de 4 posters/abstracts à la conférence internationale</a:t>
                      </a:r>
                    </a:p>
                  </a:txBody>
                  <a:tcPr/>
                </a:tc>
                <a:tc>
                  <a:txBody>
                    <a:bodyPr/>
                    <a:lstStyle/>
                    <a:p>
                      <a:pPr marL="171450" indent="-171450">
                        <a:buFont typeface="Arial"/>
                        <a:buChar char="•"/>
                      </a:pPr>
                      <a:endParaRPr lang="fr-FR" altLang="en-US" sz="1200">
                        <a:latin typeface="Arial"/>
                        <a:cs typeface="Arial"/>
                      </a:endParaRPr>
                    </a:p>
                    <a:p>
                      <a:pPr marL="171450" lvl="0" indent="-171450">
                        <a:buFont typeface="Arial"/>
                        <a:buChar char="•"/>
                      </a:pPr>
                      <a:r>
                        <a:rPr lang="fr-FR" altLang="en-US" sz="1200">
                          <a:latin typeface="Arial"/>
                          <a:cs typeface="Arial"/>
                        </a:rPr>
                        <a:t>Les DPS et les acteurs locaux sont outillés en matériel de visibilité et de communication en faveur de la promotion de la demande de VAP.</a:t>
                      </a:r>
                    </a:p>
                    <a:p>
                      <a:pPr marL="0" lvl="0" indent="0">
                        <a:buFont typeface="Arial"/>
                        <a:buNone/>
                      </a:pPr>
                      <a:endParaRPr lang="fr-FR" altLang="en-US" sz="1200">
                        <a:latin typeface="Arial"/>
                        <a:cs typeface="Arial"/>
                      </a:endParaRPr>
                    </a:p>
                    <a:p>
                      <a:pPr marL="171450" lvl="0" indent="-171450">
                        <a:buFont typeface="Arial"/>
                        <a:buChar char="•"/>
                      </a:pPr>
                      <a:r>
                        <a:rPr lang="fr-FR" altLang="en-US" sz="1200">
                          <a:latin typeface="Arial"/>
                          <a:cs typeface="Arial"/>
                        </a:rPr>
                        <a:t>Les participants à la conférence ont été informés sur les axes stratégiques d'introduction et de déploiement du vaccin antipaludique dans 31 zones de sante du Kongo Central  </a:t>
                      </a:r>
                    </a:p>
                  </a:txBody>
                  <a:tcP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E7B1CB35-EB24-F968-4622-4301E6736BD2}"/>
              </a:ext>
            </a:extLst>
          </p:cNvPr>
          <p:cNvSpPr txBox="1"/>
          <p:nvPr/>
        </p:nvSpPr>
        <p:spPr>
          <a:xfrm>
            <a:off x="458550" y="196033"/>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89421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506EDD2-EA00-CF7A-67E5-18E32B0D0F85}"/>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BA88FC0A-0FCA-1E36-1D6D-7E875F83579E}"/>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F5331286-3622-D5BC-420A-A1B696417BAF}"/>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4369100-E10A-8599-3395-097AFA4CBF8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99140E12-BC9B-3C7A-7F22-AAFBC9EA2ECF}"/>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C73981D3-4E32-8819-D3DD-71C9FC8FD0A6}"/>
              </a:ext>
            </a:extLst>
          </p:cNvPr>
          <p:cNvGraphicFramePr/>
          <p:nvPr>
            <p:custDataLst>
              <p:tags r:id="rId1"/>
            </p:custDataLst>
            <p:extLst>
              <p:ext uri="{D42A27DB-BD31-4B8C-83A1-F6EECF244321}">
                <p14:modId xmlns:p14="http://schemas.microsoft.com/office/powerpoint/2010/main" val="2756394978"/>
              </p:ext>
            </p:extLst>
          </p:nvPr>
        </p:nvGraphicFramePr>
        <p:xfrm>
          <a:off x="436580" y="920115"/>
          <a:ext cx="11450318" cy="5661575"/>
        </p:xfrm>
        <a:graphic>
          <a:graphicData uri="http://schemas.openxmlformats.org/drawingml/2006/table">
            <a:tbl>
              <a:tblPr firstRow="1" bandRow="1">
                <a:tableStyleId>{5C22544A-7EE6-4342-B048-85BDC9FD1C3A}</a:tableStyleId>
              </a:tblPr>
              <a:tblGrid>
                <a:gridCol w="2537529">
                  <a:extLst>
                    <a:ext uri="{9D8B030D-6E8A-4147-A177-3AD203B41FA5}">
                      <a16:colId xmlns:a16="http://schemas.microsoft.com/office/drawing/2014/main" val="20000"/>
                    </a:ext>
                  </a:extLst>
                </a:gridCol>
                <a:gridCol w="1154546">
                  <a:extLst>
                    <a:ext uri="{9D8B030D-6E8A-4147-A177-3AD203B41FA5}">
                      <a16:colId xmlns:a16="http://schemas.microsoft.com/office/drawing/2014/main" val="20001"/>
                    </a:ext>
                  </a:extLst>
                </a:gridCol>
                <a:gridCol w="3149600">
                  <a:extLst>
                    <a:ext uri="{9D8B030D-6E8A-4147-A177-3AD203B41FA5}">
                      <a16:colId xmlns:a16="http://schemas.microsoft.com/office/drawing/2014/main" val="20002"/>
                    </a:ext>
                  </a:extLst>
                </a:gridCol>
                <a:gridCol w="4608643">
                  <a:extLst>
                    <a:ext uri="{9D8B030D-6E8A-4147-A177-3AD203B41FA5}">
                      <a16:colId xmlns:a16="http://schemas.microsoft.com/office/drawing/2014/main" val="20003"/>
                    </a:ext>
                  </a:extLst>
                </a:gridCol>
              </a:tblGrid>
              <a:tr h="430211">
                <a:tc>
                  <a:txBody>
                    <a:bodyPr/>
                    <a:lstStyle/>
                    <a:p>
                      <a:pPr>
                        <a:buNone/>
                      </a:pPr>
                      <a:r>
                        <a:rPr lang="fr-FR" altLang="en-US" sz="1400"/>
                        <a:t>Activité prévue dans le PAO du PEV 2025</a:t>
                      </a:r>
                    </a:p>
                  </a:txBody>
                  <a:tcPr/>
                </a:tc>
                <a:tc>
                  <a:txBody>
                    <a:bodyPr/>
                    <a:lstStyle/>
                    <a:p>
                      <a:pPr>
                        <a:buNone/>
                      </a:pPr>
                      <a:r>
                        <a:rPr lang="fr-FR" altLang="en-US" sz="1400"/>
                        <a:t>Niveau de réalisation</a:t>
                      </a:r>
                    </a:p>
                  </a:txBody>
                  <a:tcPr/>
                </a:tc>
                <a:tc>
                  <a:txBody>
                    <a:bodyPr/>
                    <a:lstStyle/>
                    <a:p>
                      <a:pPr>
                        <a:buNone/>
                      </a:pPr>
                      <a:r>
                        <a:rPr lang="fr-FR" altLang="en-US" sz="1400"/>
                        <a:t>Output</a:t>
                      </a:r>
                    </a:p>
                  </a:txBody>
                  <a:tcPr/>
                </a:tc>
                <a:tc>
                  <a:txBody>
                    <a:bodyPr/>
                    <a:lstStyle/>
                    <a:p>
                      <a:pPr>
                        <a:buNone/>
                      </a:pPr>
                      <a:r>
                        <a:rPr lang="fr-FR" altLang="en-US" sz="1400"/>
                        <a:t>Outcome</a:t>
                      </a:r>
                      <a:endParaRPr lang="fr-FR" altLang="en-US" sz="1400" err="1"/>
                    </a:p>
                  </a:txBody>
                  <a:tcPr/>
                </a:tc>
                <a:extLst>
                  <a:ext uri="{0D108BD9-81ED-4DB2-BD59-A6C34878D82A}">
                    <a16:rowId xmlns:a16="http://schemas.microsoft.com/office/drawing/2014/main" val="10000"/>
                  </a:ext>
                </a:extLst>
              </a:tr>
              <a:tr h="2151052">
                <a:tc>
                  <a:txBody>
                    <a:bodyPr/>
                    <a:lstStyle/>
                    <a:p>
                      <a:pPr>
                        <a:buNone/>
                      </a:pPr>
                      <a:r>
                        <a:rPr lang="en-US" sz="1200" b="0" i="0" u="none" strike="noStrike" kern="1200" err="1">
                          <a:solidFill>
                            <a:schemeClr val="tx1"/>
                          </a:solidFill>
                          <a:effectLst/>
                          <a:latin typeface="Arial"/>
                          <a:ea typeface="+mn-ea"/>
                          <a:cs typeface="+mn-cs"/>
                        </a:rPr>
                        <a:t>Appuyer</a:t>
                      </a:r>
                      <a:r>
                        <a:rPr lang="en-US" sz="1200" b="0" i="0" u="none" strike="noStrike" kern="1200">
                          <a:solidFill>
                            <a:schemeClr val="tx1"/>
                          </a:solidFill>
                          <a:effectLst/>
                          <a:latin typeface="Arial"/>
                          <a:ea typeface="+mn-ea"/>
                          <a:cs typeface="+mn-cs"/>
                        </a:rPr>
                        <a:t> les </a:t>
                      </a:r>
                      <a:r>
                        <a:rPr lang="en-US" sz="1200" b="0" i="0" u="none" strike="noStrike" kern="1200" err="1">
                          <a:solidFill>
                            <a:schemeClr val="tx1"/>
                          </a:solidFill>
                          <a:effectLst/>
                          <a:latin typeface="Arial"/>
                          <a:ea typeface="+mn-ea"/>
                          <a:cs typeface="+mn-cs"/>
                        </a:rPr>
                        <a:t>acteurs</a:t>
                      </a:r>
                      <a:r>
                        <a:rPr lang="en-US" sz="1200" b="0" i="0" u="none" strike="noStrike" kern="1200">
                          <a:solidFill>
                            <a:schemeClr val="tx1"/>
                          </a:solidFill>
                          <a:effectLst/>
                          <a:latin typeface="Arial"/>
                          <a:ea typeface="+mn-ea"/>
                          <a:cs typeface="+mn-cs"/>
                        </a:rPr>
                        <a:t> </a:t>
                      </a:r>
                      <a:r>
                        <a:rPr lang="en-US" sz="1200" b="0" i="0" u="none" strike="noStrike" kern="1200" err="1">
                          <a:solidFill>
                            <a:schemeClr val="tx1"/>
                          </a:solidFill>
                          <a:effectLst/>
                          <a:latin typeface="Arial"/>
                          <a:ea typeface="+mn-ea"/>
                          <a:cs typeface="+mn-cs"/>
                        </a:rPr>
                        <a:t>communautaires</a:t>
                      </a:r>
                      <a:r>
                        <a:rPr lang="en-US" sz="1200" b="0" i="0" u="none" strike="noStrike" kern="1200">
                          <a:solidFill>
                            <a:schemeClr val="tx1"/>
                          </a:solidFill>
                          <a:effectLst/>
                          <a:latin typeface="Arial"/>
                          <a:ea typeface="+mn-ea"/>
                          <a:cs typeface="+mn-cs"/>
                        </a:rPr>
                        <a:t> au </a:t>
                      </a:r>
                      <a:r>
                        <a:rPr lang="en-US" sz="1200" b="0" i="0" u="none" strike="noStrike" kern="1200" err="1">
                          <a:solidFill>
                            <a:schemeClr val="tx1"/>
                          </a:solidFill>
                          <a:effectLst/>
                          <a:latin typeface="Arial"/>
                          <a:ea typeface="+mn-ea"/>
                          <a:cs typeface="+mn-cs"/>
                        </a:rPr>
                        <a:t>niveau</a:t>
                      </a:r>
                      <a:r>
                        <a:rPr lang="en-US" sz="1200" b="0" i="0" u="none" strike="noStrike" kern="1200">
                          <a:solidFill>
                            <a:schemeClr val="tx1"/>
                          </a:solidFill>
                          <a:effectLst/>
                          <a:latin typeface="Arial"/>
                          <a:ea typeface="+mn-ea"/>
                          <a:cs typeface="+mn-cs"/>
                        </a:rPr>
                        <a:t> provincial pour </a:t>
                      </a:r>
                      <a:r>
                        <a:rPr lang="en-US" sz="1200" b="0" i="0" u="none" strike="noStrike" kern="1200" err="1">
                          <a:solidFill>
                            <a:schemeClr val="tx1"/>
                          </a:solidFill>
                          <a:effectLst/>
                          <a:latin typeface="Arial"/>
                          <a:ea typeface="+mn-ea"/>
                          <a:cs typeface="+mn-cs"/>
                        </a:rPr>
                        <a:t>renforcer</a:t>
                      </a:r>
                      <a:r>
                        <a:rPr lang="en-US" sz="1200" b="0" i="0" u="none" strike="noStrike" kern="1200">
                          <a:solidFill>
                            <a:schemeClr val="tx1"/>
                          </a:solidFill>
                          <a:effectLst/>
                          <a:latin typeface="Arial"/>
                          <a:ea typeface="+mn-ea"/>
                          <a:cs typeface="+mn-cs"/>
                        </a:rPr>
                        <a:t> la surveillance </a:t>
                      </a:r>
                      <a:r>
                        <a:rPr lang="en-US" sz="1200" b="0" i="0" u="none" strike="noStrike" kern="1200" noProof="0">
                          <a:solidFill>
                            <a:schemeClr val="tx1"/>
                          </a:solidFill>
                          <a:effectLst/>
                          <a:latin typeface="Arial"/>
                        </a:rPr>
                        <a:t>à </a:t>
                      </a:r>
                      <a:r>
                        <a:rPr lang="en-US" sz="1200" b="0" i="0" u="none" strike="noStrike" kern="1200">
                          <a:solidFill>
                            <a:schemeClr val="tx1"/>
                          </a:solidFill>
                          <a:effectLst/>
                          <a:latin typeface="Arial"/>
                          <a:ea typeface="+mn-ea"/>
                          <a:cs typeface="+mn-cs"/>
                        </a:rPr>
                        <a:t>base </a:t>
                      </a:r>
                      <a:r>
                        <a:rPr lang="en-US" sz="1200" b="0" i="0" u="none" strike="noStrike" kern="1200" err="1">
                          <a:solidFill>
                            <a:schemeClr val="tx1"/>
                          </a:solidFill>
                          <a:effectLst/>
                          <a:latin typeface="Arial"/>
                          <a:ea typeface="+mn-ea"/>
                          <a:cs typeface="+mn-cs"/>
                        </a:rPr>
                        <a:t>communautaire</a:t>
                      </a:r>
                      <a:r>
                        <a:rPr lang="en-US" sz="1200" b="0" i="0" u="none" strike="noStrike" kern="1200">
                          <a:solidFill>
                            <a:schemeClr val="tx1"/>
                          </a:solidFill>
                          <a:effectLst/>
                          <a:latin typeface="Arial"/>
                          <a:ea typeface="+mn-ea"/>
                          <a:cs typeface="+mn-cs"/>
                        </a:rPr>
                        <a:t> des maladies à </a:t>
                      </a:r>
                      <a:r>
                        <a:rPr lang="en-US" sz="1200" b="0" i="0" u="none" strike="noStrike" kern="1200" err="1">
                          <a:solidFill>
                            <a:schemeClr val="tx1"/>
                          </a:solidFill>
                          <a:effectLst/>
                          <a:latin typeface="Arial"/>
                          <a:ea typeface="+mn-ea"/>
                          <a:cs typeface="+mn-cs"/>
                        </a:rPr>
                        <a:t>prévention</a:t>
                      </a:r>
                      <a:r>
                        <a:rPr lang="en-US" sz="1200" b="0" i="0" u="none" strike="noStrike" kern="1200">
                          <a:solidFill>
                            <a:schemeClr val="tx1"/>
                          </a:solidFill>
                          <a:effectLst/>
                          <a:latin typeface="Arial"/>
                          <a:ea typeface="+mn-ea"/>
                          <a:cs typeface="+mn-cs"/>
                        </a:rPr>
                        <a:t> </a:t>
                      </a:r>
                      <a:r>
                        <a:rPr lang="en-US" sz="1200" b="0" i="0" u="none" strike="noStrike" kern="1200" err="1">
                          <a:solidFill>
                            <a:schemeClr val="tx1"/>
                          </a:solidFill>
                          <a:effectLst/>
                          <a:latin typeface="Arial"/>
                          <a:ea typeface="+mn-ea"/>
                          <a:cs typeface="+mn-cs"/>
                        </a:rPr>
                        <a:t>vaccinale</a:t>
                      </a:r>
                      <a:r>
                        <a:rPr lang="en-US" sz="1200" b="0" i="0" u="none" strike="noStrike" kern="1200">
                          <a:solidFill>
                            <a:schemeClr val="tx1"/>
                          </a:solidFill>
                          <a:effectLst/>
                          <a:latin typeface="Arial"/>
                          <a:ea typeface="+mn-ea"/>
                          <a:cs typeface="+mn-cs"/>
                        </a:rPr>
                        <a:t> (MPV) et des MAPI​</a:t>
                      </a:r>
                      <a:endParaRPr lang="fr-FR" altLang="en-US" sz="1200" b="0" i="0" u="none" strike="noStrike" kern="1200">
                        <a:solidFill>
                          <a:schemeClr val="tx1"/>
                        </a:solidFill>
                        <a:effectLst/>
                        <a:latin typeface="Arial"/>
                        <a:ea typeface="+mn-ea"/>
                        <a:cs typeface="+mn-cs"/>
                      </a:endParaRPr>
                    </a:p>
                  </a:txBody>
                  <a:tcPr/>
                </a:tc>
                <a:tc>
                  <a:txBody>
                    <a:bodyPr/>
                    <a:lstStyle/>
                    <a:p>
                      <a:pPr marL="0" algn="l" defTabSz="914400" rtl="0" eaLnBrk="1" latinLnBrk="0" hangingPunct="1">
                        <a:buNone/>
                      </a:pPr>
                      <a:r>
                        <a:rPr lang="fr-FR" altLang="en-US" sz="1200" kern="1200">
                          <a:solidFill>
                            <a:schemeClr val="tx1"/>
                          </a:solidFill>
                          <a:latin typeface="Arial"/>
                          <a:ea typeface="+mn-ea"/>
                          <a:cs typeface="+mn-cs"/>
                        </a:rPr>
                        <a:t>Réalisé</a:t>
                      </a:r>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fr-FR" sz="1200" b="0" i="0" u="none" strike="noStrike" kern="1200">
                        <a:solidFill>
                          <a:schemeClr val="tx1"/>
                        </a:solidFill>
                        <a:effectLst/>
                        <a:latin typeface="Arial"/>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a:solidFill>
                            <a:schemeClr val="tx1"/>
                          </a:solidFill>
                          <a:effectLst/>
                          <a:latin typeface="Arial"/>
                          <a:ea typeface="+mn-ea"/>
                          <a:cs typeface="+mn-cs"/>
                        </a:rPr>
                        <a:t>Plus de 7000 jeunes de 16 provinces des blocs 1 et 2 ont été formes aux messages VAP et engages dans des activités de mobilisation sociale et de gestion des rumeurs, en partenariat avec l'Unicef RDC.</a:t>
                      </a:r>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fr-FR" sz="1200" b="0" i="0" u="none" strike="noStrike" kern="1200">
                        <a:solidFill>
                          <a:schemeClr val="tx1"/>
                        </a:solidFill>
                        <a:effectLst/>
                        <a:latin typeface="Arial"/>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a:solidFill>
                            <a:schemeClr val="tx1"/>
                          </a:solidFill>
                          <a:effectLst/>
                          <a:latin typeface="Arial"/>
                          <a:ea typeface="+mn-ea"/>
                          <a:cs typeface="+mn-cs"/>
                        </a:rPr>
                        <a:t>Au Kongo Central: </a:t>
                      </a:r>
                      <a:r>
                        <a:rPr lang="fr-FR" sz="1200" b="0" i="0" u="none" strike="noStrike" kern="1200" noProof="0">
                          <a:solidFill>
                            <a:schemeClr val="tx1"/>
                          </a:solidFill>
                          <a:effectLst/>
                          <a:latin typeface="Arial"/>
                        </a:rPr>
                        <a:t>7 106 parents et tuteurs sensibilisés, dont 84 % lors de visites à domicile ; 1 688 enfants accompagnés pour se faire vacciner ; 334 des 370 refus gérés avec succès (90%)</a:t>
                      </a:r>
                    </a:p>
                    <a:p>
                      <a:pPr marL="171450" marR="0" lvl="0" indent="-171450" algn="l">
                        <a:lnSpc>
                          <a:spcPct val="100000"/>
                        </a:lnSpc>
                        <a:spcBef>
                          <a:spcPts val="0"/>
                        </a:spcBef>
                        <a:spcAft>
                          <a:spcPts val="0"/>
                        </a:spcAft>
                        <a:buClrTx/>
                        <a:buSzTx/>
                        <a:buFont typeface="Arial" panose="020B0604020202020204" pitchFamily="34" charset="0"/>
                        <a:buChar char="•"/>
                      </a:pPr>
                      <a:endParaRPr lang="fr-FR" sz="1200" b="0" i="0" u="none" strike="noStrike" kern="1200" noProof="0">
                        <a:solidFill>
                          <a:schemeClr val="tx1"/>
                        </a:solidFill>
                        <a:effectLst/>
                        <a:latin typeface="Arial"/>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noProof="0">
                          <a:solidFill>
                            <a:schemeClr val="tx1"/>
                          </a:solidFill>
                          <a:effectLst/>
                          <a:latin typeface="Arial"/>
                        </a:rPr>
                        <a:t>Dans les 15 provinces des blocs 1 et 2 : environ 6 millions de personnes sensibilisées (y compris via les media communautaires), plus de 1 991 cas de refus ont été discutés et 9 620 enfants ont été récupérés.</a:t>
                      </a:r>
                    </a:p>
                  </a:txBody>
                  <a:tcPr/>
                </a:tc>
                <a:extLst>
                  <a:ext uri="{0D108BD9-81ED-4DB2-BD59-A6C34878D82A}">
                    <a16:rowId xmlns:a16="http://schemas.microsoft.com/office/drawing/2014/main" val="10004"/>
                  </a:ext>
                </a:extLst>
              </a:tr>
              <a:tr h="2992363">
                <a:tc>
                  <a:txBody>
                    <a:bodyPr/>
                    <a:lstStyle/>
                    <a:p>
                      <a:pPr lvl="0">
                        <a:buNone/>
                      </a:pPr>
                      <a:r>
                        <a:rPr lang="en-US" sz="1200" b="0" i="0" u="none" strike="noStrike" noProof="0" err="1">
                          <a:solidFill>
                            <a:schemeClr val="tx1"/>
                          </a:solidFill>
                          <a:latin typeface="Arial"/>
                        </a:rPr>
                        <a:t>Appuyer</a:t>
                      </a:r>
                      <a:r>
                        <a:rPr lang="en-US" sz="1200" b="0" i="0" u="none" strike="noStrike" noProof="0">
                          <a:solidFill>
                            <a:schemeClr val="tx1"/>
                          </a:solidFill>
                          <a:latin typeface="Arial"/>
                        </a:rPr>
                        <a:t> la </a:t>
                      </a:r>
                      <a:r>
                        <a:rPr lang="en-US" sz="1200" b="0" i="0" u="none" strike="noStrike" noProof="0" err="1">
                          <a:solidFill>
                            <a:schemeClr val="tx1"/>
                          </a:solidFill>
                          <a:latin typeface="Arial"/>
                        </a:rPr>
                        <a:t>génération</a:t>
                      </a:r>
                      <a:r>
                        <a:rPr lang="en-US" sz="1200" b="0" i="0" u="none" strike="noStrike" noProof="0">
                          <a:solidFill>
                            <a:schemeClr val="tx1"/>
                          </a:solidFill>
                          <a:latin typeface="Arial"/>
                        </a:rPr>
                        <a:t> des </a:t>
                      </a:r>
                      <a:r>
                        <a:rPr lang="en-US" sz="1200" b="0" i="0" u="none" strike="noStrike" noProof="0" err="1">
                          <a:solidFill>
                            <a:schemeClr val="tx1"/>
                          </a:solidFill>
                          <a:latin typeface="Arial"/>
                        </a:rPr>
                        <a:t>évidences</a:t>
                      </a:r>
                      <a:r>
                        <a:rPr lang="en-US" sz="1200" b="0" i="0" u="none" strike="noStrike" noProof="0">
                          <a:solidFill>
                            <a:schemeClr val="tx1"/>
                          </a:solidFill>
                          <a:latin typeface="Arial"/>
                        </a:rPr>
                        <a:t> et la documentation des </a:t>
                      </a:r>
                      <a:r>
                        <a:rPr lang="en-US" sz="1200" b="0" i="0" u="none" strike="noStrike" noProof="0" err="1">
                          <a:solidFill>
                            <a:schemeClr val="tx1"/>
                          </a:solidFill>
                          <a:latin typeface="Arial"/>
                        </a:rPr>
                        <a:t>bonnes</a:t>
                      </a:r>
                      <a:r>
                        <a:rPr lang="en-US" sz="1200" b="0" i="0" u="none" strike="noStrike" noProof="0">
                          <a:solidFill>
                            <a:schemeClr val="tx1"/>
                          </a:solidFill>
                          <a:latin typeface="Arial"/>
                        </a:rPr>
                        <a:t> pratiques et </a:t>
                      </a:r>
                      <a:r>
                        <a:rPr lang="en-US" sz="1200" b="0" i="0" u="none" strike="noStrike" noProof="0" err="1">
                          <a:solidFill>
                            <a:schemeClr val="tx1"/>
                          </a:solidFill>
                          <a:latin typeface="Arial"/>
                        </a:rPr>
                        <a:t>lecons</a:t>
                      </a:r>
                      <a:r>
                        <a:rPr lang="en-US" sz="1200" b="0" i="0" u="none" strike="noStrike" noProof="0">
                          <a:solidFill>
                            <a:schemeClr val="tx1"/>
                          </a:solidFill>
                          <a:latin typeface="Arial"/>
                        </a:rPr>
                        <a:t> apprises</a:t>
                      </a:r>
                    </a:p>
                  </a:txBody>
                  <a:tcPr/>
                </a:tc>
                <a:tc>
                  <a:txBody>
                    <a:bodyPr/>
                    <a:lstStyle/>
                    <a:p>
                      <a:pPr>
                        <a:buNone/>
                      </a:pPr>
                      <a:r>
                        <a:rPr lang="fr-FR" altLang="en-US" sz="1200">
                          <a:solidFill>
                            <a:schemeClr val="tx1"/>
                          </a:solidFill>
                          <a:latin typeface="Arial"/>
                        </a:rPr>
                        <a:t>Réalisé</a:t>
                      </a:r>
                    </a:p>
                  </a:txBody>
                  <a:tcPr/>
                </a:tc>
                <a:tc>
                  <a:txBody>
                    <a:bodyPr/>
                    <a:lstStyle/>
                    <a:p>
                      <a:pPr marL="171450" lvl="0" indent="-171450">
                        <a:buFont typeface="Arial"/>
                        <a:buChar char="•"/>
                      </a:pPr>
                      <a:r>
                        <a:rPr lang="fr-FR" sz="1200" b="0" i="0" u="none" strike="noStrike" noProof="0">
                          <a:solidFill>
                            <a:schemeClr val="tx1"/>
                          </a:solidFill>
                          <a:latin typeface="Arial"/>
                        </a:rPr>
                        <a:t>Enquêtes rapides sur les connaissances et les perceptions des ménages concernant le VAP menées par les assistants techniques PATH lors des suivis conjoints de séances de vaccination dans les provinces du Kongo Central, Kwilu, Kwango (527 répondants).</a:t>
                      </a:r>
                    </a:p>
                    <a:p>
                      <a:pPr marL="171450" lvl="0" indent="-171450">
                        <a:buFont typeface="Arial"/>
                        <a:buChar char="•"/>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Sans-Serif"/>
                        <a:buChar char="•"/>
                      </a:pPr>
                      <a:r>
                        <a:rPr lang="fr-FR" sz="1200" b="0" i="0" u="none" strike="noStrike" noProof="0">
                          <a:solidFill>
                            <a:schemeClr val="tx1"/>
                          </a:solidFill>
                          <a:latin typeface="Arial"/>
                        </a:rPr>
                        <a:t>Documentation des bonnes pratiques et partage des leçons apprises avec les acteurs de la sante (études de cas, abstracts, article web, base de données photos, vidéos et textes) </a:t>
                      </a:r>
                    </a:p>
                  </a:txBody>
                  <a:tcPr/>
                </a:tc>
                <a:tc>
                  <a:txBody>
                    <a:bodyPr/>
                    <a:lstStyle/>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Les acteurs communautaires ont permis de faire progresser la connaissance (94 % pour le paludisme, 96 % pour la VAP), renforçant ainsi la confiance et favorisant la demande vaccinale. </a:t>
                      </a:r>
                    </a:p>
                    <a:p>
                      <a:pPr marL="171450" marR="0" lvl="0" indent="-171450" algn="l">
                        <a:lnSpc>
                          <a:spcPct val="100000"/>
                        </a:lnSpc>
                        <a:spcBef>
                          <a:spcPts val="0"/>
                        </a:spcBef>
                        <a:spcAft>
                          <a:spcPts val="0"/>
                        </a:spcAft>
                        <a:buClr>
                          <a:srgbClr val="000000"/>
                        </a:buClr>
                        <a:buFont typeface="Arial"/>
                        <a:buChar char="•"/>
                      </a:pPr>
                      <a:endParaRPr lang="fr-FR" sz="1200" b="0" i="0" u="none" strike="noStrike" noProof="0">
                        <a:solidFill>
                          <a:schemeClr val="tx1"/>
                        </a:solidFill>
                        <a:highlight>
                          <a:srgbClr val="FFFF00"/>
                        </a:highlight>
                        <a:latin typeface="Arial"/>
                      </a:endParaRPr>
                    </a:p>
                    <a:p>
                      <a:pPr marL="17145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Mise à jour des messages et approches en fonction des résultats des enquêtes rapides menées en 2025 </a:t>
                      </a:r>
                    </a:p>
                    <a:p>
                      <a:pPr marL="0" lvl="0" indent="0" algn="l">
                        <a:lnSpc>
                          <a:spcPct val="100000"/>
                        </a:lnSpc>
                        <a:spcBef>
                          <a:spcPts val="0"/>
                        </a:spcBef>
                        <a:spcAft>
                          <a:spcPts val="0"/>
                        </a:spcAft>
                        <a:buClr>
                          <a:srgbClr val="000000"/>
                        </a:buClr>
                        <a:buNone/>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Les donateurs et partenaires UN de </a:t>
                      </a:r>
                      <a:r>
                        <a:rPr lang="fr-FR" sz="1200" b="0" i="0" u="none" strike="noStrike" noProof="0" err="1">
                          <a:solidFill>
                            <a:schemeClr val="tx1"/>
                          </a:solidFill>
                          <a:latin typeface="Arial"/>
                        </a:rPr>
                        <a:t>MalVac</a:t>
                      </a:r>
                      <a:r>
                        <a:rPr lang="fr-FR" sz="1200" b="0" i="0" u="none" strike="noStrike" noProof="0">
                          <a:solidFill>
                            <a:schemeClr val="tx1"/>
                          </a:solidFill>
                          <a:latin typeface="Arial"/>
                        </a:rPr>
                        <a:t> ont été informés sur les résultats de l'AT de PATH en RDC grâce a  2 études de cas présentées a </a:t>
                      </a:r>
                      <a:r>
                        <a:rPr lang="fr-FR" sz="1200" b="0" i="0" u="none" strike="noStrike" noProof="0" err="1">
                          <a:solidFill>
                            <a:schemeClr val="tx1"/>
                          </a:solidFill>
                          <a:latin typeface="Arial"/>
                        </a:rPr>
                        <a:t>Geneve</a:t>
                      </a:r>
                      <a:r>
                        <a:rPr lang="fr-FR" sz="1200" b="0" i="0" u="none" strike="noStrike" noProof="0">
                          <a:solidFill>
                            <a:schemeClr val="tx1"/>
                          </a:solidFill>
                          <a:latin typeface="Arial"/>
                        </a:rPr>
                        <a:t> en septembre 2025</a:t>
                      </a:r>
                    </a:p>
                    <a:p>
                      <a:pPr marL="171450" marR="0" lvl="0" indent="-171450" algn="l">
                        <a:lnSpc>
                          <a:spcPct val="100000"/>
                        </a:lnSpc>
                        <a:spcBef>
                          <a:spcPts val="0"/>
                        </a:spcBef>
                        <a:spcAft>
                          <a:spcPts val="0"/>
                        </a:spcAft>
                        <a:buClr>
                          <a:srgbClr val="000000"/>
                        </a:buClr>
                        <a:buFont typeface="Arial"/>
                        <a:buChar char="•"/>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L'approche de la RDC pour l'introduction et le déploiement du VAP au Kongo Central et la collecte des données est connue des acteurs de la sante mondiale.</a:t>
                      </a:r>
                    </a:p>
                  </a:txBody>
                  <a:tcPr/>
                </a:tc>
                <a:extLst>
                  <a:ext uri="{0D108BD9-81ED-4DB2-BD59-A6C34878D82A}">
                    <a16:rowId xmlns:a16="http://schemas.microsoft.com/office/drawing/2014/main" val="10009"/>
                  </a:ext>
                </a:extLst>
              </a:tr>
            </a:tbl>
          </a:graphicData>
        </a:graphic>
      </p:graphicFrame>
      <p:sp>
        <p:nvSpPr>
          <p:cNvPr id="3" name="Google Shape;176;g3aabd3d1b2d_0_290">
            <a:extLst>
              <a:ext uri="{FF2B5EF4-FFF2-40B4-BE49-F238E27FC236}">
                <a16:creationId xmlns:a16="http://schemas.microsoft.com/office/drawing/2014/main" id="{5BC115C1-27B6-A262-C159-4A17F8C83CFF}"/>
              </a:ext>
            </a:extLst>
          </p:cNvPr>
          <p:cNvSpPr txBox="1"/>
          <p:nvPr/>
        </p:nvSpPr>
        <p:spPr>
          <a:xfrm>
            <a:off x="383700" y="358035"/>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63026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3114984260"/>
              </p:ext>
            </p:extLst>
          </p:nvPr>
        </p:nvGraphicFramePr>
        <p:xfrm>
          <a:off x="343600" y="669096"/>
          <a:ext cx="11543300" cy="5393590"/>
        </p:xfrm>
        <a:graphic>
          <a:graphicData uri="http://schemas.openxmlformats.org/drawingml/2006/table">
            <a:tbl>
              <a:tblPr firstRow="1" bandRow="1">
                <a:tableStyleId>{5C22544A-7EE6-4342-B048-85BDC9FD1C3A}</a:tableStyleId>
              </a:tblPr>
              <a:tblGrid>
                <a:gridCol w="3462990">
                  <a:extLst>
                    <a:ext uri="{9D8B030D-6E8A-4147-A177-3AD203B41FA5}">
                      <a16:colId xmlns:a16="http://schemas.microsoft.com/office/drawing/2014/main" val="20000"/>
                    </a:ext>
                  </a:extLst>
                </a:gridCol>
                <a:gridCol w="1737237">
                  <a:extLst>
                    <a:ext uri="{9D8B030D-6E8A-4147-A177-3AD203B41FA5}">
                      <a16:colId xmlns:a16="http://schemas.microsoft.com/office/drawing/2014/main" val="20001"/>
                    </a:ext>
                  </a:extLst>
                </a:gridCol>
                <a:gridCol w="2798601">
                  <a:extLst>
                    <a:ext uri="{9D8B030D-6E8A-4147-A177-3AD203B41FA5}">
                      <a16:colId xmlns:a16="http://schemas.microsoft.com/office/drawing/2014/main" val="20002"/>
                    </a:ext>
                  </a:extLst>
                </a:gridCol>
                <a:gridCol w="3544472">
                  <a:extLst>
                    <a:ext uri="{9D8B030D-6E8A-4147-A177-3AD203B41FA5}">
                      <a16:colId xmlns:a16="http://schemas.microsoft.com/office/drawing/2014/main" val="20003"/>
                    </a:ext>
                  </a:extLst>
                </a:gridCol>
              </a:tblGrid>
              <a:tr h="717450">
                <a:tc>
                  <a:txBody>
                    <a:bodyPr/>
                    <a:lstStyle/>
                    <a:p>
                      <a:pPr>
                        <a:buNone/>
                      </a:pPr>
                      <a:r>
                        <a:rPr lang="fr-FR" altLang="en-US" dirty="0">
                          <a:latin typeface="Arial"/>
                          <a:cs typeface="Arial"/>
                        </a:rPr>
                        <a:t>Activité prévu dans le PAO du PEV en 2025</a:t>
                      </a:r>
                    </a:p>
                  </a:txBody>
                  <a:tcPr/>
                </a:tc>
                <a:tc>
                  <a:txBody>
                    <a:bodyPr/>
                    <a:lstStyle/>
                    <a:p>
                      <a:pPr>
                        <a:buNone/>
                      </a:pPr>
                      <a:r>
                        <a:rPr lang="fr-FR" altLang="en-US" dirty="0">
                          <a:latin typeface="Arial"/>
                          <a:cs typeface="Arial"/>
                        </a:rPr>
                        <a:t>Niveau de réalisation</a:t>
                      </a:r>
                    </a:p>
                  </a:txBody>
                  <a:tcPr/>
                </a:tc>
                <a:tc>
                  <a:txBody>
                    <a:bodyPr/>
                    <a:lstStyle/>
                    <a:p>
                      <a:pPr>
                        <a:buNone/>
                      </a:pPr>
                      <a:r>
                        <a:rPr lang="fr-FR" altLang="en-US" dirty="0">
                          <a:latin typeface="Arial"/>
                          <a:cs typeface="Arial"/>
                        </a:rPr>
                        <a:t>Output</a:t>
                      </a:r>
                    </a:p>
                  </a:txBody>
                  <a:tcPr/>
                </a:tc>
                <a:tc>
                  <a:txBody>
                    <a:bodyPr/>
                    <a:lstStyle/>
                    <a:p>
                      <a:pPr>
                        <a:buNone/>
                      </a:pPr>
                      <a:r>
                        <a:rPr lang="fr-FR" altLang="en-US" err="1">
                          <a:latin typeface="Arial" panose="020B0604020202020204" pitchFamily="34" charset="0"/>
                          <a:cs typeface="Arial" panose="020B0604020202020204" pitchFamily="34" charset="0"/>
                        </a:rPr>
                        <a:t>Outcome</a:t>
                      </a:r>
                      <a:endParaRPr lang="fr-FR"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73816">
                <a:tc>
                  <a:txBody>
                    <a:bodyPr/>
                    <a:lstStyle/>
                    <a:p>
                      <a:pPr>
                        <a:buNone/>
                      </a:pPr>
                      <a:r>
                        <a:rPr lang="fr-FR" sz="1600" b="0" i="0" u="none" strike="noStrike" kern="1200" dirty="0">
                          <a:solidFill>
                            <a:schemeClr val="tx1"/>
                          </a:solidFill>
                          <a:effectLst/>
                          <a:latin typeface="Arial"/>
                          <a:ea typeface="+mn-ea"/>
                          <a:cs typeface="Arial"/>
                        </a:rPr>
                        <a:t>Appui à l'intégration des activités de vaccination dans les ESS publics et privés viables qui ne les offrent pas à travers l'élaboration des directives</a:t>
                      </a:r>
                      <a:endParaRPr lang="fr-FR" altLang="en-US" sz="1600" dirty="0">
                        <a:solidFill>
                          <a:schemeClr val="tx1"/>
                        </a:solidFill>
                        <a:latin typeface="Arial"/>
                        <a:cs typeface="Arial"/>
                      </a:endParaRPr>
                    </a:p>
                  </a:txBody>
                  <a:tcPr/>
                </a:tc>
                <a:tc>
                  <a:txBody>
                    <a:bodyPr/>
                    <a:lstStyle/>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r>
                        <a:rPr lang="en-US" altLang="en-US" sz="1600" dirty="0">
                          <a:solidFill>
                            <a:schemeClr val="tx1"/>
                          </a:solidFill>
                          <a:latin typeface="Arial"/>
                          <a:cs typeface="Arial"/>
                        </a:rPr>
                        <a:t>100%</a:t>
                      </a:r>
                      <a:endParaRPr lang="fr-FR" altLang="en-US" sz="1600" dirty="0">
                        <a:solidFill>
                          <a:schemeClr val="tx1"/>
                        </a:solidFill>
                        <a:latin typeface="Arial"/>
                        <a:cs typeface="Arial"/>
                      </a:endParaRPr>
                    </a:p>
                  </a:txBody>
                  <a:tcPr/>
                </a:tc>
                <a:tc>
                  <a:txBody>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lang="fr-FR" altLang="en-US" sz="1600" kern="1200" dirty="0">
                          <a:solidFill>
                            <a:schemeClr val="tx1"/>
                          </a:solidFill>
                          <a:latin typeface="Arial"/>
                          <a:ea typeface="+mn-ea"/>
                          <a:cs typeface="Arial"/>
                        </a:rPr>
                        <a:t>15 ESS privés intégrés en vaccination de routine</a:t>
                      </a:r>
                    </a:p>
                    <a:p>
                      <a:pPr marL="12700" marR="0" lvl="0" indent="0" algn="l" defTabSz="914400" rtl="0" eaLnBrk="1" fontAlgn="auto" latinLnBrk="0" hangingPunct="1">
                        <a:lnSpc>
                          <a:spcPct val="100000"/>
                        </a:lnSpc>
                        <a:spcBef>
                          <a:spcPts val="110"/>
                        </a:spcBef>
                        <a:spcAft>
                          <a:spcPts val="0"/>
                        </a:spcAft>
                        <a:buClrTx/>
                        <a:buSzTx/>
                        <a:buFontTx/>
                        <a:buNone/>
                        <a:tabLst/>
                        <a:defRPr/>
                      </a:pPr>
                      <a:r>
                        <a:rPr lang="fr-FR" altLang="en-US" sz="1600" kern="1200" dirty="0">
                          <a:solidFill>
                            <a:schemeClr val="tx1"/>
                          </a:solidFill>
                          <a:latin typeface="Arial"/>
                          <a:ea typeface="+mn-ea"/>
                          <a:cs typeface="Arial"/>
                        </a:rPr>
                        <a:t>20 Prestataires des ESS formés en PEV de routine</a:t>
                      </a:r>
                    </a:p>
                  </a:txBody>
                  <a:tcPr/>
                </a:tc>
                <a:tc>
                  <a:txBody>
                    <a:bodyPr/>
                    <a:lstStyle/>
                    <a:p>
                      <a:pPr marL="355600" marR="0" lvl="0" indent="-342900" algn="l" rtl="0" eaLnBrk="1" fontAlgn="auto" latinLnBrk="0" hangingPunct="1">
                        <a:lnSpc>
                          <a:spcPct val="100000"/>
                        </a:lnSpc>
                        <a:spcBef>
                          <a:spcPts val="110"/>
                        </a:spcBef>
                        <a:spcAft>
                          <a:spcPts val="0"/>
                        </a:spcAft>
                        <a:buClrTx/>
                        <a:buSzTx/>
                        <a:buFontTx/>
                        <a:buAutoNum type="arabicPlain" startAt="685"/>
                      </a:pPr>
                      <a:r>
                        <a:rPr lang="en-US" sz="1600" kern="1200" dirty="0">
                          <a:solidFill>
                            <a:schemeClr val="tx1"/>
                          </a:solidFill>
                          <a:latin typeface="Arial"/>
                          <a:ea typeface="+mn-ea"/>
                          <a:cs typeface="Arial"/>
                        </a:rPr>
                        <a:t> R</a:t>
                      </a:r>
                      <a:r>
                        <a:rPr lang="fr-FR" altLang="en-US" sz="1600" kern="1200" dirty="0">
                          <a:solidFill>
                            <a:schemeClr val="tx1"/>
                          </a:solidFill>
                          <a:latin typeface="Arial"/>
                          <a:ea typeface="+mn-ea"/>
                          <a:cs typeface="Arial"/>
                        </a:rPr>
                        <a:t>é</a:t>
                      </a:r>
                      <a:r>
                        <a:rPr lang="en-US" sz="1600" kern="1200" dirty="0" err="1">
                          <a:solidFill>
                            <a:schemeClr val="tx1"/>
                          </a:solidFill>
                          <a:latin typeface="Arial"/>
                          <a:ea typeface="+mn-ea"/>
                          <a:cs typeface="Arial"/>
                        </a:rPr>
                        <a:t>cuper</a:t>
                      </a:r>
                      <a:r>
                        <a:rPr lang="fr-FR" altLang="en-US" sz="1600" kern="1200" dirty="0">
                          <a:solidFill>
                            <a:schemeClr val="tx1"/>
                          </a:solidFill>
                          <a:latin typeface="Arial"/>
                          <a:ea typeface="+mn-ea"/>
                          <a:cs typeface="Arial"/>
                        </a:rPr>
                        <a:t>é</a:t>
                      </a:r>
                      <a:r>
                        <a:rPr lang="en-US" sz="1600" kern="1200" dirty="0">
                          <a:solidFill>
                            <a:schemeClr val="tx1"/>
                          </a:solidFill>
                          <a:latin typeface="Arial"/>
                          <a:ea typeface="+mn-ea"/>
                          <a:cs typeface="Arial"/>
                        </a:rPr>
                        <a:t> </a:t>
                      </a:r>
                      <a:r>
                        <a:rPr lang="en-US" sz="1600" kern="1200" dirty="0" err="1">
                          <a:solidFill>
                            <a:schemeClr val="tx1"/>
                          </a:solidFill>
                          <a:latin typeface="Arial"/>
                          <a:ea typeface="+mn-ea"/>
                          <a:cs typeface="Arial"/>
                        </a:rPr>
                        <a:t>en</a:t>
                      </a:r>
                      <a:r>
                        <a:rPr lang="en-US" sz="1600" kern="1200" dirty="0">
                          <a:solidFill>
                            <a:schemeClr val="tx1"/>
                          </a:solidFill>
                          <a:latin typeface="Arial"/>
                          <a:ea typeface="+mn-ea"/>
                          <a:cs typeface="Arial"/>
                        </a:rPr>
                        <a:t> Penta3</a:t>
                      </a:r>
                      <a:endParaRPr lang="fr-FR" dirty="0"/>
                    </a:p>
                    <a:p>
                      <a:pPr marL="12700" marR="0" lvl="0" indent="0" algn="l">
                        <a:lnSpc>
                          <a:spcPct val="100000"/>
                        </a:lnSpc>
                        <a:spcBef>
                          <a:spcPts val="110"/>
                        </a:spcBef>
                        <a:spcAft>
                          <a:spcPts val="0"/>
                        </a:spcAft>
                        <a:buClrTx/>
                        <a:buSzTx/>
                        <a:buFontTx/>
                        <a:buNone/>
                      </a:pPr>
                      <a:r>
                        <a:rPr lang="en-US" sz="1600" kern="1200">
                          <a:solidFill>
                            <a:schemeClr val="tx1"/>
                          </a:solidFill>
                          <a:latin typeface="Arial"/>
                          <a:ea typeface="+mn-ea"/>
                          <a:cs typeface="Arial"/>
                        </a:rPr>
                        <a:t>764 enfant en Penta1</a:t>
                      </a:r>
                      <a:endParaRPr lang="fr-FR"/>
                    </a:p>
                    <a:p>
                      <a:pPr marL="12700" marR="0" lvl="0" indent="0" algn="l" rtl="0" eaLnBrk="1" fontAlgn="auto" latinLnBrk="0" hangingPunct="1">
                        <a:lnSpc>
                          <a:spcPct val="100000"/>
                        </a:lnSpc>
                        <a:spcBef>
                          <a:spcPts val="110"/>
                        </a:spcBef>
                        <a:spcAft>
                          <a:spcPts val="0"/>
                        </a:spcAft>
                        <a:buClrTx/>
                        <a:buSzTx/>
                        <a:buFontTx/>
                        <a:buNone/>
                      </a:pPr>
                      <a:endParaRPr lang="en-US" sz="1600" kern="1200" dirty="0">
                        <a:solidFill>
                          <a:schemeClr val="tx1"/>
                        </a:solidFill>
                        <a:latin typeface="Arial"/>
                        <a:ea typeface="+mn-ea"/>
                        <a:cs typeface="Arial"/>
                      </a:endParaRPr>
                    </a:p>
                  </a:txBody>
                  <a:tcPr/>
                </a:tc>
                <a:extLst>
                  <a:ext uri="{0D108BD9-81ED-4DB2-BD59-A6C34878D82A}">
                    <a16:rowId xmlns:a16="http://schemas.microsoft.com/office/drawing/2014/main" val="10001"/>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dirty="0">
                          <a:solidFill>
                            <a:schemeClr val="tx1"/>
                          </a:solidFill>
                          <a:latin typeface="Arial"/>
                          <a:cs typeface="Arial"/>
                        </a:rPr>
                        <a:t>Appuyer la génération des évidences </a:t>
                      </a:r>
                      <a:r>
                        <a:rPr lang="fr-FR" altLang="en-US" sz="1600" dirty="0" err="1">
                          <a:solidFill>
                            <a:schemeClr val="tx1"/>
                          </a:solidFill>
                          <a:latin typeface="Arial"/>
                          <a:cs typeface="Arial"/>
                        </a:rPr>
                        <a:t>a</a:t>
                      </a:r>
                      <a:r>
                        <a:rPr lang="fr-FR" altLang="en-US" sz="1600" dirty="0">
                          <a:solidFill>
                            <a:schemeClr val="tx1"/>
                          </a:solidFill>
                          <a:latin typeface="Arial"/>
                          <a:cs typeface="Arial"/>
                        </a:rPr>
                        <a:t> travers les sondages rapides, enquête CAP-</a:t>
                      </a:r>
                      <a:r>
                        <a:rPr lang="fr-FR" altLang="en-US" sz="1600" dirty="0" err="1">
                          <a:solidFill>
                            <a:schemeClr val="tx1"/>
                          </a:solidFill>
                          <a:latin typeface="Arial"/>
                          <a:cs typeface="Arial"/>
                        </a:rPr>
                        <a:t>BeSD</a:t>
                      </a:r>
                      <a:r>
                        <a:rPr lang="fr-FR" altLang="en-US" sz="1600" dirty="0">
                          <a:solidFill>
                            <a:schemeClr val="tx1"/>
                          </a:solidFill>
                          <a:latin typeface="Arial"/>
                          <a:cs typeface="Arial"/>
                        </a:rPr>
                        <a:t> et HCD sur la vaccination ​</a:t>
                      </a:r>
                    </a:p>
                  </a:txBody>
                  <a:tcPr/>
                </a:tc>
                <a:tc>
                  <a:txBody>
                    <a:bodyPr/>
                    <a:lstStyle/>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dirty="0">
                          <a:solidFill>
                            <a:schemeClr val="tx1"/>
                          </a:solidFill>
                          <a:latin typeface="Arial"/>
                          <a:cs typeface="Arial"/>
                        </a:rPr>
                        <a:t>100%</a:t>
                      </a:r>
                      <a:endParaRPr lang="fr-FR" altLang="en-US" sz="1600" dirty="0">
                        <a:solidFill>
                          <a:schemeClr val="tx1"/>
                        </a:solidFill>
                        <a:latin typeface="Arial"/>
                        <a:cs typeface="Arial"/>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dirty="0">
                          <a:solidFill>
                            <a:schemeClr val="tx1"/>
                          </a:solidFill>
                          <a:latin typeface="Arial"/>
                          <a:cs typeface="Arial"/>
                        </a:rPr>
                        <a:t>26 facilitateurs provinciaux formés en HCD – Living </a:t>
                      </a:r>
                      <a:r>
                        <a:rPr lang="fr-FR" altLang="en-US" sz="1600" dirty="0" err="1">
                          <a:solidFill>
                            <a:schemeClr val="tx1"/>
                          </a:solidFill>
                          <a:latin typeface="Arial"/>
                          <a:cs typeface="Arial"/>
                        </a:rPr>
                        <a:t>Labs</a:t>
                      </a:r>
                      <a:r>
                        <a:rPr lang="fr-FR" altLang="en-US" sz="1600" dirty="0">
                          <a:solidFill>
                            <a:schemeClr val="tx1"/>
                          </a:solidFill>
                          <a:latin typeface="Arial"/>
                          <a:cs typeface="Arial"/>
                        </a:rPr>
                        <a:t> et dans les approches </a:t>
                      </a:r>
                      <a:r>
                        <a:rPr lang="fr-FR" altLang="en-US" sz="1600" dirty="0" err="1">
                          <a:solidFill>
                            <a:schemeClr val="tx1"/>
                          </a:solidFill>
                          <a:latin typeface="Arial"/>
                          <a:cs typeface="Arial"/>
                        </a:rPr>
                        <a:t>d'am</a:t>
                      </a:r>
                      <a:r>
                        <a:rPr lang="en-US" sz="1600" b="0" i="0" u="none" strike="noStrike" kern="1200" dirty="0">
                          <a:solidFill>
                            <a:schemeClr val="tx1"/>
                          </a:solidFill>
                          <a:effectLst/>
                          <a:latin typeface="Arial"/>
                          <a:ea typeface="+mn-ea"/>
                          <a:cs typeface="Arial"/>
                        </a:rPr>
                        <a:t>é</a:t>
                      </a:r>
                      <a:r>
                        <a:rPr lang="fr-FR" altLang="en-US" sz="1600" dirty="0" err="1">
                          <a:solidFill>
                            <a:schemeClr val="tx1"/>
                          </a:solidFill>
                          <a:latin typeface="Arial"/>
                          <a:cs typeface="Arial"/>
                        </a:rPr>
                        <a:t>lioration</a:t>
                      </a:r>
                      <a:r>
                        <a:rPr lang="fr-FR" altLang="en-US" sz="1600" dirty="0">
                          <a:solidFill>
                            <a:schemeClr val="tx1"/>
                          </a:solidFill>
                          <a:latin typeface="Arial"/>
                          <a:cs typeface="Arial"/>
                        </a:rPr>
                        <a:t> continue (Haut- </a:t>
                      </a:r>
                      <a:r>
                        <a:rPr lang="fr-FR" altLang="en-US" sz="1600" dirty="0" err="1">
                          <a:solidFill>
                            <a:schemeClr val="tx1"/>
                          </a:solidFill>
                          <a:latin typeface="Arial"/>
                          <a:cs typeface="Arial"/>
                        </a:rPr>
                        <a:t>Lomami</a:t>
                      </a:r>
                      <a:r>
                        <a:rPr lang="fr-FR" altLang="en-US" sz="1600" dirty="0">
                          <a:solidFill>
                            <a:schemeClr val="tx1"/>
                          </a:solidFill>
                          <a:latin typeface="Arial"/>
                          <a:cs typeface="Arial"/>
                        </a:rPr>
                        <a:t> et Lualaba)​</a:t>
                      </a:r>
                    </a:p>
                  </a:txBody>
                  <a:tcPr/>
                </a:tc>
                <a:tc>
                  <a:txBody>
                    <a:bodyPr/>
                    <a:lstStyle/>
                    <a:p>
                      <a:pPr lvl="0"/>
                      <a:r>
                        <a:rPr lang="fr-FR" altLang="en-US" sz="1600" kern="1200">
                          <a:solidFill>
                            <a:schemeClr val="tx1"/>
                          </a:solidFill>
                          <a:latin typeface="Arial"/>
                          <a:ea typeface="+mn-ea"/>
                          <a:cs typeface="Arial"/>
                        </a:rPr>
                        <a:t>100% des facilitateurs formes en HCD Living </a:t>
                      </a:r>
                      <a:r>
                        <a:rPr lang="fr-FR" altLang="en-US" sz="1600" kern="1200" err="1">
                          <a:solidFill>
                            <a:schemeClr val="tx1"/>
                          </a:solidFill>
                          <a:latin typeface="Arial"/>
                          <a:ea typeface="+mn-ea"/>
                          <a:cs typeface="Arial"/>
                        </a:rPr>
                        <a:t>Labs</a:t>
                      </a:r>
                      <a:endParaRPr lang="fr-FR" altLang="en-US" sz="1600" kern="1200" dirty="0" err="1">
                        <a:solidFill>
                          <a:schemeClr val="tx1"/>
                        </a:solidFill>
                        <a:latin typeface="Arial"/>
                        <a:ea typeface="+mn-ea"/>
                        <a:cs typeface="Arial"/>
                      </a:endParaRPr>
                    </a:p>
                    <a:p>
                      <a:pPr lvl="0">
                        <a:buNone/>
                      </a:pPr>
                      <a:r>
                        <a:rPr lang="fr-FR" altLang="en-US" sz="1600" kern="1200" dirty="0">
                          <a:solidFill>
                            <a:schemeClr val="tx1"/>
                          </a:solidFill>
                          <a:latin typeface="Arial"/>
                          <a:ea typeface="+mn-ea"/>
                          <a:cs typeface="Arial"/>
                        </a:rPr>
                        <a:t>4 Interventions d'envergures communautaires  ont été </a:t>
                      </a:r>
                      <a:r>
                        <a:rPr lang="fr-FR" altLang="en-US" sz="1600" kern="1200" dirty="0" err="1">
                          <a:solidFill>
                            <a:schemeClr val="tx1"/>
                          </a:solidFill>
                          <a:latin typeface="Arial"/>
                          <a:ea typeface="+mn-ea"/>
                          <a:cs typeface="Arial"/>
                        </a:rPr>
                        <a:t>concu</a:t>
                      </a:r>
                      <a:r>
                        <a:rPr lang="fr-FR" altLang="en-US" sz="1600" kern="1200" dirty="0">
                          <a:solidFill>
                            <a:schemeClr val="tx1"/>
                          </a:solidFill>
                          <a:latin typeface="Arial"/>
                          <a:ea typeface="+mn-ea"/>
                          <a:cs typeface="Arial"/>
                        </a:rPr>
                        <a:t> </a:t>
                      </a:r>
                      <a:r>
                        <a:rPr lang="fr-FR" sz="1600" b="0" i="0" u="none" strike="noStrike" kern="1200" noProof="0" dirty="0">
                          <a:solidFill>
                            <a:schemeClr val="tx1"/>
                          </a:solidFill>
                          <a:latin typeface="Arial"/>
                        </a:rPr>
                        <a:t>a Kamina </a:t>
                      </a:r>
                      <a:r>
                        <a:rPr lang="fr-FR" altLang="en-US" sz="1600" kern="1200" dirty="0">
                          <a:solidFill>
                            <a:schemeClr val="tx1"/>
                          </a:solidFill>
                          <a:latin typeface="Arial"/>
                          <a:ea typeface="+mn-ea"/>
                          <a:cs typeface="Arial"/>
                        </a:rPr>
                        <a:t>pour am</a:t>
                      </a:r>
                      <a:r>
                        <a:rPr lang="fr-FR" sz="1600" b="0" i="0" u="none" strike="noStrike" kern="1200" noProof="0" dirty="0">
                          <a:solidFill>
                            <a:schemeClr val="tx1"/>
                          </a:solidFill>
                          <a:latin typeface="Arial"/>
                        </a:rPr>
                        <a:t>é</a:t>
                      </a:r>
                      <a:r>
                        <a:rPr lang="fr-FR" altLang="en-US" sz="1600" kern="1200" dirty="0">
                          <a:solidFill>
                            <a:schemeClr val="tx1"/>
                          </a:solidFill>
                          <a:latin typeface="Arial"/>
                          <a:ea typeface="+mn-ea"/>
                          <a:cs typeface="Arial"/>
                        </a:rPr>
                        <a:t>liorer le score de vaccination de routine</a:t>
                      </a:r>
                    </a:p>
                    <a:p>
                      <a:pPr lvl="0">
                        <a:buNone/>
                      </a:pPr>
                      <a:endParaRPr lang="fr-FR" altLang="en-US" sz="1600" kern="1200" dirty="0">
                        <a:solidFill>
                          <a:schemeClr val="tx1"/>
                        </a:solidFill>
                        <a:latin typeface="Arial"/>
                        <a:ea typeface="+mn-ea"/>
                        <a:cs typeface="Arial"/>
                      </a:endParaRPr>
                    </a:p>
                  </a:txBody>
                  <a:tcPr/>
                </a:tc>
                <a:extLst>
                  <a:ext uri="{0D108BD9-81ED-4DB2-BD59-A6C34878D82A}">
                    <a16:rowId xmlns:a16="http://schemas.microsoft.com/office/drawing/2014/main" val="10002"/>
                  </a:ext>
                </a:extLst>
              </a:tr>
              <a:tr h="395605">
                <a:tc>
                  <a:txBody>
                    <a:bodyPr/>
                    <a:lstStyle/>
                    <a:p>
                      <a:pPr>
                        <a:buNone/>
                      </a:pPr>
                      <a:r>
                        <a:rPr lang="fr-FR" altLang="en-US" sz="1600" dirty="0">
                          <a:solidFill>
                            <a:schemeClr val="tx1"/>
                          </a:solidFill>
                          <a:latin typeface="Arial"/>
                          <a:cs typeface="Arial"/>
                        </a:rPr>
                        <a:t>Appuyer techniquement et financièrement les 11 provinces FAE lors des sessions des formations en ligne des prestataires en Gestion PEV plus stratégies de vaccination, Genre et Equité à l'aide des supports vidéo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altLang="en-US" sz="1600" dirty="0">
                          <a:solidFill>
                            <a:schemeClr val="tx1"/>
                          </a:solidFill>
                          <a:latin typeface="Arial"/>
                          <a:cs typeface="Arial"/>
                        </a:rPr>
                        <a:t>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dirty="0">
                          <a:solidFill>
                            <a:schemeClr val="tx1"/>
                          </a:solidFill>
                          <a:latin typeface="Arial"/>
                          <a:cs typeface="Arial"/>
                        </a:rPr>
                        <a:t>61 RECO sélectionnés et formés en référentiel métier (</a:t>
                      </a:r>
                      <a:r>
                        <a:rPr lang="fr-FR" altLang="en-US" sz="1600" dirty="0" err="1">
                          <a:solidFill>
                            <a:schemeClr val="tx1"/>
                          </a:solidFill>
                          <a:latin typeface="Arial"/>
                          <a:cs typeface="Arial"/>
                        </a:rPr>
                        <a:t>Kilanga</a:t>
                      </a:r>
                      <a:r>
                        <a:rPr lang="fr-FR" altLang="en-US" sz="1600" dirty="0">
                          <a:solidFill>
                            <a:schemeClr val="tx1"/>
                          </a:solidFill>
                          <a:latin typeface="Arial"/>
                          <a:cs typeface="Arial"/>
                        </a:rPr>
                        <a:t>)​</a:t>
                      </a:r>
                    </a:p>
                  </a:txBody>
                  <a:tcPr/>
                </a:tc>
                <a:tc>
                  <a:txBody>
                    <a:bodyPr/>
                    <a:lstStyle/>
                    <a:p>
                      <a:pPr marL="12700">
                        <a:lnSpc>
                          <a:spcPct val="100000"/>
                        </a:lnSpc>
                        <a:spcBef>
                          <a:spcPts val="110"/>
                        </a:spcBef>
                      </a:pPr>
                      <a:endParaRPr lang="en-US" sz="1600" kern="1200">
                        <a:solidFill>
                          <a:schemeClr val="tx1"/>
                        </a:solidFill>
                        <a:latin typeface="Arial" panose="020B0604020202020204" pitchFamily="34" charset="0"/>
                        <a:ea typeface="+mn-ea"/>
                        <a:cs typeface="Arial" panose="020B0604020202020204" pitchFamily="34" charset="0"/>
                      </a:endParaRPr>
                    </a:p>
                    <a:p>
                      <a:pPr marL="12700">
                        <a:lnSpc>
                          <a:spcPct val="100000"/>
                        </a:lnSpc>
                        <a:spcBef>
                          <a:spcPts val="110"/>
                        </a:spcBef>
                      </a:pPr>
                      <a:r>
                        <a:rPr lang="en-US" sz="1600" kern="1200" dirty="0">
                          <a:solidFill>
                            <a:schemeClr val="tx1"/>
                          </a:solidFill>
                          <a:latin typeface="Arial"/>
                          <a:ea typeface="+mn-ea"/>
                          <a:cs typeface="Arial"/>
                        </a:rPr>
                        <a:t>692 enfants ZD </a:t>
                      </a:r>
                      <a:r>
                        <a:rPr lang="en-US" sz="1600" kern="1200" dirty="0" err="1">
                          <a:solidFill>
                            <a:schemeClr val="tx1"/>
                          </a:solidFill>
                          <a:latin typeface="Arial"/>
                          <a:ea typeface="+mn-ea"/>
                          <a:cs typeface="Arial"/>
                        </a:rPr>
                        <a:t>identifi</a:t>
                      </a:r>
                      <a:r>
                        <a:rPr lang="fr-FR" sz="1600" kern="1200" dirty="0">
                          <a:solidFill>
                            <a:schemeClr val="tx1"/>
                          </a:solidFill>
                          <a:latin typeface="Arial"/>
                          <a:ea typeface="+mn-ea"/>
                          <a:cs typeface="Arial"/>
                        </a:rPr>
                        <a:t>é</a:t>
                      </a:r>
                      <a:r>
                        <a:rPr lang="en-US" sz="1600" kern="1200" dirty="0">
                          <a:solidFill>
                            <a:schemeClr val="tx1"/>
                          </a:solidFill>
                          <a:latin typeface="Arial"/>
                          <a:ea typeface="+mn-ea"/>
                          <a:cs typeface="Arial"/>
                        </a:rPr>
                        <a:t>s par le Reco form</a:t>
                      </a:r>
                      <a:r>
                        <a:rPr lang="fr-FR" altLang="en-US" sz="1600" dirty="0">
                          <a:solidFill>
                            <a:schemeClr val="tx1"/>
                          </a:solidFill>
                          <a:latin typeface="Arial"/>
                          <a:cs typeface="Arial"/>
                        </a:rPr>
                        <a:t>é</a:t>
                      </a:r>
                      <a:r>
                        <a:rPr lang="en-US" sz="1600" kern="1200" dirty="0">
                          <a:solidFill>
                            <a:schemeClr val="tx1"/>
                          </a:solidFill>
                          <a:latin typeface="Arial"/>
                          <a:ea typeface="+mn-ea"/>
                          <a:cs typeface="Arial"/>
                        </a:rPr>
                        <a:t>s</a:t>
                      </a:r>
                    </a:p>
                  </a:txBody>
                  <a:tcPr/>
                </a:tc>
                <a:extLst>
                  <a:ext uri="{0D108BD9-81ED-4DB2-BD59-A6C34878D82A}">
                    <a16:rowId xmlns:a16="http://schemas.microsoft.com/office/drawing/2014/main" val="10004"/>
                  </a:ext>
                </a:extLst>
              </a:tr>
            </a:tbl>
          </a:graphicData>
        </a:graphic>
      </p:graphicFrame>
      <p:sp>
        <p:nvSpPr>
          <p:cNvPr id="3" name="Google Shape;176;g3aabd3d1b2d_0_290">
            <a:extLst>
              <a:ext uri="{FF2B5EF4-FFF2-40B4-BE49-F238E27FC236}">
                <a16:creationId xmlns:a16="http://schemas.microsoft.com/office/drawing/2014/main" id="{706DCDDF-AF9B-EA1D-AC77-30EE603D86CE}"/>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lvl="0">
              <a:buClr>
                <a:schemeClr val="dk1"/>
              </a:buClr>
              <a:buSzPts val="1500"/>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BE" sz="2400" b="1">
                <a:solidFill>
                  <a:srgbClr val="1155CC"/>
                </a:solidFill>
                <a:latin typeface="Times New Roman" panose="02020603050405020304"/>
                <a:cs typeface="Times New Roman" panose="02020603050405020304"/>
              </a:rPr>
              <a:t>ZDLA HCD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-TSHOPO)</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359848438"/>
              </p:ext>
            </p:extLst>
          </p:nvPr>
        </p:nvGraphicFramePr>
        <p:xfrm>
          <a:off x="541800" y="728274"/>
          <a:ext cx="11414700" cy="5631594"/>
        </p:xfrm>
        <a:graphic>
          <a:graphicData uri="http://schemas.openxmlformats.org/drawingml/2006/table">
            <a:tbl>
              <a:tblPr firstRow="1" bandRow="1">
                <a:tableStyleId>{5C22544A-7EE6-4342-B048-85BDC9FD1C3A}</a:tableStyleId>
              </a:tblPr>
              <a:tblGrid>
                <a:gridCol w="4061346">
                  <a:extLst>
                    <a:ext uri="{9D8B030D-6E8A-4147-A177-3AD203B41FA5}">
                      <a16:colId xmlns:a16="http://schemas.microsoft.com/office/drawing/2014/main" val="20000"/>
                    </a:ext>
                  </a:extLst>
                </a:gridCol>
                <a:gridCol w="1538660">
                  <a:extLst>
                    <a:ext uri="{9D8B030D-6E8A-4147-A177-3AD203B41FA5}">
                      <a16:colId xmlns:a16="http://schemas.microsoft.com/office/drawing/2014/main" val="20001"/>
                    </a:ext>
                  </a:extLst>
                </a:gridCol>
                <a:gridCol w="3390418">
                  <a:extLst>
                    <a:ext uri="{9D8B030D-6E8A-4147-A177-3AD203B41FA5}">
                      <a16:colId xmlns:a16="http://schemas.microsoft.com/office/drawing/2014/main" val="20002"/>
                    </a:ext>
                  </a:extLst>
                </a:gridCol>
                <a:gridCol w="2424276">
                  <a:extLst>
                    <a:ext uri="{9D8B030D-6E8A-4147-A177-3AD203B41FA5}">
                      <a16:colId xmlns:a16="http://schemas.microsoft.com/office/drawing/2014/main" val="20003"/>
                    </a:ext>
                  </a:extLst>
                </a:gridCol>
              </a:tblGrid>
              <a:tr h="554718">
                <a:tc>
                  <a:txBody>
                    <a:bodyPr/>
                    <a:lstStyle/>
                    <a:p>
                      <a:pPr>
                        <a:buNone/>
                      </a:pPr>
                      <a:r>
                        <a:rPr lang="fr-FR" altLang="en-US"/>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endParaRPr lang="fr-FR" altLang="en-US" err="1"/>
                    </a:p>
                  </a:txBody>
                  <a:tcPr/>
                </a:tc>
                <a:extLst>
                  <a:ext uri="{0D108BD9-81ED-4DB2-BD59-A6C34878D82A}">
                    <a16:rowId xmlns:a16="http://schemas.microsoft.com/office/drawing/2014/main" val="10000"/>
                  </a:ext>
                </a:extLst>
              </a:tr>
              <a:tr h="1056606">
                <a:tc>
                  <a:txBody>
                    <a:bodyPr/>
                    <a:lstStyle/>
                    <a:p>
                      <a:pPr marL="0" algn="l" rtl="0" eaLnBrk="1" latinLnBrk="0" hangingPunct="1">
                        <a:buNone/>
                      </a:pPr>
                      <a:r>
                        <a:rPr lang="fr-FR" sz="1600" b="0" kern="1200">
                          <a:solidFill>
                            <a:schemeClr val="tx1"/>
                          </a:solidFill>
                          <a:effectLst/>
                          <a:latin typeface="Arial" panose="020B0604020202020204" pitchFamily="34" charset="0"/>
                          <a:cs typeface="Arial" panose="020B0604020202020204" pitchFamily="34" charset="0"/>
                        </a:rPr>
                        <a:t>Forum national organisé: </a:t>
                      </a:r>
                      <a:r>
                        <a:rPr lang="fr-FR" sz="1600" b="0" kern="1200" err="1">
                          <a:solidFill>
                            <a:schemeClr val="tx1"/>
                          </a:solidFill>
                          <a:effectLst/>
                          <a:latin typeface="Arial" panose="020B0604020202020204" pitchFamily="34" charset="0"/>
                          <a:cs typeface="Arial" panose="020B0604020202020204" pitchFamily="34" charset="0"/>
                        </a:rPr>
                        <a:t>Immunization</a:t>
                      </a:r>
                      <a:r>
                        <a:rPr lang="fr-FR" sz="1600" b="0" kern="1200">
                          <a:solidFill>
                            <a:schemeClr val="tx1"/>
                          </a:solidFill>
                          <a:effectLst/>
                          <a:latin typeface="Arial" panose="020B0604020202020204" pitchFamily="34" charset="0"/>
                          <a:cs typeface="Arial" panose="020B0604020202020204" pitchFamily="34" charset="0"/>
                        </a:rPr>
                        <a:t>, Nutrition et lutte contre le cancer du col utérin</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0" algn="ctr" rtl="0" eaLnBrk="1" latinLnBrk="0" hangingPunct="1">
                        <a:buNone/>
                      </a:pPr>
                      <a:r>
                        <a:rPr lang="en-US" sz="1600" b="0" kern="1200">
                          <a:solidFill>
                            <a:schemeClr val="tx1"/>
                          </a:solidFill>
                          <a:effectLst/>
                          <a:latin typeface="Arial" panose="020B0604020202020204" pitchFamily="34" charset="0"/>
                          <a:cs typeface="Arial" panose="020B0604020202020204" pitchFamily="34" charset="0"/>
                        </a:rPr>
                        <a:t>1</a:t>
                      </a:r>
                      <a:r>
                        <a:rPr lang="fr-FR" sz="1600" b="0" kern="1200">
                          <a:solidFill>
                            <a:schemeClr val="tx1"/>
                          </a:solidFill>
                          <a:effectLst/>
                          <a:latin typeface="Arial" panose="020B0604020202020204" pitchFamily="34" charset="0"/>
                          <a:cs typeface="Arial" panose="020B0604020202020204" pitchFamily="34" charset="0"/>
                        </a:rPr>
                        <a:t>00%</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b="0" kern="1200">
                          <a:solidFill>
                            <a:schemeClr val="tx1"/>
                          </a:solidFill>
                          <a:effectLst/>
                          <a:latin typeface="Arial" panose="020B0604020202020204" pitchFamily="34" charset="0"/>
                          <a:cs typeface="Arial" panose="020B0604020202020204" pitchFamily="34" charset="0"/>
                        </a:rPr>
                        <a:t>Renouvellement des engagements par la signature de la déclaration de Kinshasa par les décideurs </a:t>
                      </a:r>
                      <a:r>
                        <a:rPr lang="fr-FR" sz="1600" b="0" kern="1200" err="1">
                          <a:solidFill>
                            <a:schemeClr val="tx1"/>
                          </a:solidFill>
                          <a:effectLst/>
                          <a:latin typeface="Arial" panose="020B0604020202020204" pitchFamily="34" charset="0"/>
                          <a:cs typeface="Arial" panose="020B0604020202020204" pitchFamily="34" charset="0"/>
                        </a:rPr>
                        <a:t>cles</a:t>
                      </a:r>
                      <a:r>
                        <a:rPr lang="fr-FR" sz="1600" b="0" kern="1200">
                          <a:solidFill>
                            <a:schemeClr val="tx1"/>
                          </a:solidFill>
                          <a:effectLst/>
                          <a:latin typeface="Arial" panose="020B0604020202020204" pitchFamily="34" charset="0"/>
                          <a:cs typeface="Arial" panose="020B0604020202020204" pitchFamily="34" charset="0"/>
                        </a:rPr>
                        <a:t> au niveau central et les 26 provinces </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b="0" kern="1200">
                          <a:solidFill>
                            <a:schemeClr val="tx1"/>
                          </a:solidFill>
                          <a:effectLst/>
                          <a:latin typeface="Arial" panose="020B0604020202020204" pitchFamily="34" charset="0"/>
                          <a:cs typeface="Arial" panose="020B0604020202020204" pitchFamily="34" charset="0"/>
                        </a:rPr>
                        <a:t>Fonds mobilises par les provinces </a:t>
                      </a:r>
                    </a:p>
                  </a:txBody>
                  <a:tcPr marL="0" marR="0" marT="0" marB="0" anchor="ctr"/>
                </a:tc>
                <a:extLst>
                  <a:ext uri="{0D108BD9-81ED-4DB2-BD59-A6C34878D82A}">
                    <a16:rowId xmlns:a16="http://schemas.microsoft.com/office/drawing/2014/main" val="10001"/>
                  </a:ext>
                </a:extLst>
              </a:tr>
              <a:tr h="1267927">
                <a:tc>
                  <a:txBody>
                    <a:bodyPr/>
                    <a:lstStyle/>
                    <a:p>
                      <a:pPr marL="0" algn="l" rtl="0" eaLnBrk="1" latinLnBrk="0" hangingPunct="1">
                        <a:buNone/>
                      </a:pPr>
                      <a:r>
                        <a:rPr lang="fr-FR" sz="1600" b="0" i="0" u="none" strike="noStrike" kern="1200">
                          <a:solidFill>
                            <a:srgbClr val="000000"/>
                          </a:solidFill>
                          <a:effectLst/>
                          <a:latin typeface="Arial" panose="020B0604020202020204" pitchFamily="34" charset="0"/>
                          <a:ea typeface="+mn-ea"/>
                          <a:cs typeface="Arial" panose="020B0604020202020204" pitchFamily="34" charset="0"/>
                        </a:rPr>
                        <a:t>Appuyer la mise en </a:t>
                      </a:r>
                      <a:r>
                        <a:rPr lang="fr-FR" sz="1600" b="0" i="0" u="none" strike="noStrike" kern="1200" err="1">
                          <a:solidFill>
                            <a:srgbClr val="000000"/>
                          </a:solidFill>
                          <a:effectLst/>
                          <a:latin typeface="Arial" panose="020B0604020202020204" pitchFamily="34" charset="0"/>
                          <a:ea typeface="+mn-ea"/>
                          <a:cs typeface="Arial" panose="020B0604020202020204" pitchFamily="34" charset="0"/>
                        </a:rPr>
                        <a:t>oeuvre</a:t>
                      </a:r>
                      <a:r>
                        <a:rPr lang="fr-FR" sz="1600" b="0" i="0" u="none" strike="noStrike" kern="1200">
                          <a:solidFill>
                            <a:srgbClr val="000000"/>
                          </a:solidFill>
                          <a:effectLst/>
                          <a:latin typeface="Arial" panose="020B0604020202020204" pitchFamily="34" charset="0"/>
                          <a:ea typeface="+mn-ea"/>
                          <a:cs typeface="Arial" panose="020B0604020202020204" pitchFamily="34" charset="0"/>
                        </a:rPr>
                        <a:t> des activités de la feuille de route des REPACAV du niveau national et provincial dans 12/26 provinces :Haut Katanga, Kasaï, Kinshasa, Kasaï Oriental, </a:t>
                      </a:r>
                      <a:r>
                        <a:rPr lang="fr-FR" sz="1600" b="0" i="0" u="none" strike="noStrike" kern="1200" err="1">
                          <a:solidFill>
                            <a:srgbClr val="000000"/>
                          </a:solidFill>
                          <a:effectLst/>
                          <a:latin typeface="Arial" panose="020B0604020202020204" pitchFamily="34" charset="0"/>
                          <a:ea typeface="+mn-ea"/>
                          <a:cs typeface="Arial" panose="020B0604020202020204" pitchFamily="34" charset="0"/>
                        </a:rPr>
                        <a:t>Tshopo</a:t>
                      </a:r>
                      <a:r>
                        <a:rPr lang="fr-FR" sz="1600" b="0" i="0" u="none" strike="noStrike" kern="1200">
                          <a:solidFill>
                            <a:srgbClr val="000000"/>
                          </a:solidFill>
                          <a:effectLst/>
                          <a:latin typeface="Arial" panose="020B0604020202020204" pitchFamily="34" charset="0"/>
                          <a:ea typeface="+mn-ea"/>
                          <a:cs typeface="Arial" panose="020B0604020202020204" pitchFamily="34" charset="0"/>
                        </a:rPr>
                        <a:t>, Tanganyika, Lualaba, Ituri, Kongo Central, Equateur, Kwilu et Kwango</a:t>
                      </a:r>
                    </a:p>
                  </a:txBody>
                  <a:tcPr marL="0" marR="0" marT="0" marB="0" anchor="ctr"/>
                </a:tc>
                <a:tc>
                  <a:txBody>
                    <a:bodyPr/>
                    <a:lstStyle/>
                    <a:p>
                      <a:pPr marL="0" algn="ctr" rtl="0" eaLnBrk="1" latinLnBrk="0" hangingPunct="1">
                        <a:buNone/>
                      </a:pPr>
                      <a:r>
                        <a:rPr lang="fr-FR" sz="1600" kern="1200">
                          <a:solidFill>
                            <a:schemeClr val="tx1"/>
                          </a:solidFill>
                          <a:effectLst/>
                          <a:latin typeface="Arial" panose="020B0604020202020204" pitchFamily="34" charset="0"/>
                          <a:cs typeface="Arial" panose="020B0604020202020204" pitchFamily="34" charset="0"/>
                        </a:rPr>
                        <a:t>100%  </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kern="1200">
                          <a:solidFill>
                            <a:schemeClr val="tx1"/>
                          </a:solidFill>
                          <a:effectLst/>
                          <a:latin typeface="Arial" panose="020B0604020202020204" pitchFamily="34" charset="0"/>
                          <a:cs typeface="Arial" panose="020B0604020202020204" pitchFamily="34" charset="0"/>
                        </a:rPr>
                        <a:t>ROI, Statuts et feuille de route 2025 du REPACAV développé </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kern="1200">
                          <a:solidFill>
                            <a:schemeClr val="tx1"/>
                          </a:solidFill>
                          <a:effectLst/>
                          <a:latin typeface="Arial" panose="020B0604020202020204" pitchFamily="34" charset="0"/>
                          <a:cs typeface="Arial" panose="020B0604020202020204" pitchFamily="34" charset="0"/>
                        </a:rPr>
                        <a:t>REPACAV national mieux structuré, plus actif et plus visible dans les actions en faveur de la vaccination</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2"/>
                  </a:ext>
                </a:extLst>
              </a:tr>
              <a:tr h="2309274">
                <a:tc>
                  <a:txBody>
                    <a:bodyPr/>
                    <a:lstStyle/>
                    <a:p>
                      <a:pPr marL="0" algn="l" rtl="0" eaLnBrk="1" latinLnBrk="0" hangingPunct="1">
                        <a:buNone/>
                      </a:pPr>
                      <a:r>
                        <a:rPr lang="fr-FR" sz="1600" kern="1200">
                          <a:solidFill>
                            <a:schemeClr val="tx1"/>
                          </a:solidFill>
                          <a:effectLst/>
                          <a:latin typeface="Arial" panose="020B0604020202020204" pitchFamily="34" charset="0"/>
                          <a:cs typeface="Arial" panose="020B0604020202020204" pitchFamily="34" charset="0"/>
                        </a:rPr>
                        <a:t>Apporter un appui technique et financier dans l'organisation de la 16 </a:t>
                      </a:r>
                      <a:r>
                        <a:rPr lang="fr-FR" sz="1600" kern="1200" err="1">
                          <a:solidFill>
                            <a:schemeClr val="tx1"/>
                          </a:solidFill>
                          <a:effectLst/>
                          <a:latin typeface="Arial" panose="020B0604020202020204" pitchFamily="34" charset="0"/>
                          <a:cs typeface="Arial" panose="020B0604020202020204" pitchFamily="34" charset="0"/>
                        </a:rPr>
                        <a:t>ème</a:t>
                      </a:r>
                      <a:r>
                        <a:rPr lang="fr-FR" sz="1600" kern="1200">
                          <a:solidFill>
                            <a:schemeClr val="tx1"/>
                          </a:solidFill>
                          <a:effectLst/>
                          <a:latin typeface="Arial" panose="020B0604020202020204" pitchFamily="34" charset="0"/>
                          <a:cs typeface="Arial" panose="020B0604020202020204" pitchFamily="34" charset="0"/>
                        </a:rPr>
                        <a:t> édition de la Semaine Africaine de Vaccination (SAV), la célébration des journées spéciales liées aux Maladies a Prevention Vaccinale (Polio).</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0" indent="0" algn="ctr" rtl="0" eaLnBrk="1" latinLnBrk="0" hangingPunct="1">
                        <a:buClrTx/>
                        <a:buSzPts val="1400"/>
                        <a:buFont typeface="Symbol" panose="05050102010706020507" pitchFamily="18" charset="2"/>
                        <a:buNone/>
                      </a:pPr>
                      <a:r>
                        <a:rPr lang="fr-FR" sz="1600" kern="1200">
                          <a:solidFill>
                            <a:schemeClr val="tx1"/>
                          </a:solidFill>
                          <a:effectLst/>
                          <a:latin typeface="Arial" panose="020B0604020202020204" pitchFamily="34" charset="0"/>
                          <a:cs typeface="Arial" panose="020B0604020202020204" pitchFamily="34" charset="0"/>
                        </a:rPr>
                        <a:t>100%  </a:t>
                      </a:r>
                    </a:p>
                  </a:txBody>
                  <a:tcPr marL="0" marR="0" marT="0" marB="0" anchor="ctr"/>
                </a:tc>
                <a:tc>
                  <a:txBody>
                    <a:bodyPr/>
                    <a:lstStyle/>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noProof="0">
                          <a:solidFill>
                            <a:schemeClr val="tx1"/>
                          </a:solidFill>
                          <a:effectLst/>
                          <a:latin typeface="Arial" panose="020B0604020202020204" pitchFamily="34" charset="0"/>
                          <a:cs typeface="Arial" panose="020B0604020202020204" pitchFamily="34" charset="0"/>
                        </a:rPr>
                        <a:t>  Une matinée des parlementaires sur la vaccination impliquant les députés provinciaux et les sénateurs et autres décideurs clés organisée</a:t>
                      </a:r>
                    </a:p>
                  </a:txBody>
                  <a:tcPr marL="0" marR="0" marT="0" marB="0" anchor="ctr"/>
                </a:tc>
                <a:tc>
                  <a:txBody>
                    <a:bodyPr/>
                    <a:lstStyle/>
                    <a:p>
                      <a:pPr marL="0" indent="0" algn="l" rtl="0" eaLnBrk="1" latinLnBrk="0" hangingPunct="1">
                        <a:buNone/>
                      </a:pPr>
                      <a:endParaRPr lang="fr-FR" sz="1600" b="0" i="0" u="none" strike="noStrike" kern="1200" noProof="0">
                        <a:solidFill>
                          <a:schemeClr val="tx1"/>
                        </a:solidFill>
                        <a:effectLst/>
                        <a:latin typeface="Arial" panose="020B0604020202020204" pitchFamily="34" charset="0"/>
                        <a:cs typeface="Arial" panose="020B0604020202020204" pitchFamily="34" charset="0"/>
                      </a:endParaRPr>
                    </a:p>
                    <a:p>
                      <a:pPr marL="0" lvl="0" indent="0" algn="l">
                        <a:buNone/>
                      </a:pPr>
                      <a:endParaRPr lang="fr-FR" sz="1600" b="0" i="0" u="none" strike="noStrike" kern="1200" noProof="0">
                        <a:solidFill>
                          <a:schemeClr val="tx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17C34870-7052-805A-9D97-8351290AD0A7}"/>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lvl="0">
              <a:defRPr/>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FR" altLang="en-US" sz="2400" b="1">
                <a:solidFill>
                  <a:srgbClr val="1155CC"/>
                </a:solidFill>
                <a:latin typeface="Times New Roman" panose="02020603050405020304"/>
                <a:cs typeface="Times New Roman" panose="02020603050405020304"/>
              </a:rPr>
              <a:t>Plaidoyer et communication en faveur de la vaccination) </a:t>
            </a: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7D1C4D5-E29E-E1C7-E252-84B8BFB14626}"/>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9EC38629-BD76-3511-2A58-67CEF91028D0}"/>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00AC1282-835A-A98B-6EDC-23270E505EAD}"/>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95BE69F-B604-23B3-F410-4A992366F4D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74C2D4C-9C63-375B-C9A2-2494508D48A3}"/>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CEED038B-0DD4-3BFB-721F-2614A12366C5}"/>
              </a:ext>
            </a:extLst>
          </p:cNvPr>
          <p:cNvGraphicFramePr/>
          <p:nvPr>
            <p:custDataLst>
              <p:tags r:id="rId1"/>
            </p:custDataLst>
            <p:extLst>
              <p:ext uri="{D42A27DB-BD31-4B8C-83A1-F6EECF244321}">
                <p14:modId xmlns:p14="http://schemas.microsoft.com/office/powerpoint/2010/main" val="3071456275"/>
              </p:ext>
            </p:extLst>
          </p:nvPr>
        </p:nvGraphicFramePr>
        <p:xfrm>
          <a:off x="305100" y="685800"/>
          <a:ext cx="11582092" cy="6045742"/>
        </p:xfrm>
        <a:graphic>
          <a:graphicData uri="http://schemas.openxmlformats.org/drawingml/2006/table">
            <a:tbl>
              <a:tblPr firstRow="1" bandRow="1">
                <a:tableStyleId>{5C22544A-7EE6-4342-B048-85BDC9FD1C3A}</a:tableStyleId>
              </a:tblPr>
              <a:tblGrid>
                <a:gridCol w="3199555">
                  <a:extLst>
                    <a:ext uri="{9D8B030D-6E8A-4147-A177-3AD203B41FA5}">
                      <a16:colId xmlns:a16="http://schemas.microsoft.com/office/drawing/2014/main" val="20000"/>
                    </a:ext>
                  </a:extLst>
                </a:gridCol>
                <a:gridCol w="1222702">
                  <a:extLst>
                    <a:ext uri="{9D8B030D-6E8A-4147-A177-3AD203B41FA5}">
                      <a16:colId xmlns:a16="http://schemas.microsoft.com/office/drawing/2014/main" val="20001"/>
                    </a:ext>
                  </a:extLst>
                </a:gridCol>
                <a:gridCol w="3576134">
                  <a:extLst>
                    <a:ext uri="{9D8B030D-6E8A-4147-A177-3AD203B41FA5}">
                      <a16:colId xmlns:a16="http://schemas.microsoft.com/office/drawing/2014/main" val="20002"/>
                    </a:ext>
                  </a:extLst>
                </a:gridCol>
                <a:gridCol w="3583701">
                  <a:extLst>
                    <a:ext uri="{9D8B030D-6E8A-4147-A177-3AD203B41FA5}">
                      <a16:colId xmlns:a16="http://schemas.microsoft.com/office/drawing/2014/main" val="20003"/>
                    </a:ext>
                  </a:extLst>
                </a:gridCol>
              </a:tblGrid>
              <a:tr h="635000">
                <a:tc>
                  <a:txBody>
                    <a:bodyPr/>
                    <a:lstStyle/>
                    <a:p>
                      <a:pPr>
                        <a:buNone/>
                      </a:pPr>
                      <a:r>
                        <a:rPr lang="fr-FR" altLang="en-US"/>
                        <a:t>Activité </a:t>
                      </a:r>
                      <a:r>
                        <a:rPr lang="fr-FR" altLang="en-US" sz="1800" b="1" kern="1200">
                          <a:solidFill>
                            <a:schemeClr val="lt1"/>
                          </a:solidFill>
                          <a:latin typeface="+mn-lt"/>
                          <a:ea typeface="+mn-ea"/>
                          <a:cs typeface="+mn-cs"/>
                          <a:sym typeface="Times New Roman" panose="02020603050405020304"/>
                        </a:rPr>
                        <a:t>non planifiées dans le PAO du PEV</a:t>
                      </a:r>
                      <a:endParaRPr lang="fr-FR" altLang="en-US" sz="1800" b="1" kern="1200">
                        <a:solidFill>
                          <a:schemeClr val="lt1"/>
                        </a:solidFill>
                        <a:latin typeface="+mn-lt"/>
                        <a:ea typeface="+mn-ea"/>
                        <a:cs typeface="+mn-cs"/>
                      </a:endParaRP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endParaRPr lang="fr-FR" altLang="en-US" err="1"/>
                    </a:p>
                  </a:txBody>
                  <a:tcPr/>
                </a:tc>
                <a:extLst>
                  <a:ext uri="{0D108BD9-81ED-4DB2-BD59-A6C34878D82A}">
                    <a16:rowId xmlns:a16="http://schemas.microsoft.com/office/drawing/2014/main" val="10000"/>
                  </a:ext>
                </a:extLst>
              </a:tr>
              <a:tr h="1206223">
                <a:tc>
                  <a:txBody>
                    <a:bodyPr/>
                    <a:lstStyle/>
                    <a:p>
                      <a:pPr>
                        <a:buNone/>
                      </a:pPr>
                      <a:r>
                        <a:rPr lang="fr-FR" altLang="en-US" sz="1400">
                          <a:solidFill>
                            <a:schemeClr val="tx1"/>
                          </a:solidFill>
                        </a:rPr>
                        <a:t>Appui financier et technique au cabinet du ministre de la sante pour des taches en lien avec son implication avant, pendant et après le forum national sur la vaccination</a:t>
                      </a:r>
                    </a:p>
                  </a:txBody>
                  <a:tcPr/>
                </a:tc>
                <a:tc>
                  <a:txBody>
                    <a:bodyPr/>
                    <a:lstStyle/>
                    <a:p>
                      <a:pPr algn="ctr">
                        <a:buNone/>
                      </a:pPr>
                      <a:r>
                        <a:rPr lang="fr-FR" altLang="en-US" sz="1400">
                          <a:solidFill>
                            <a:schemeClr val="tx1"/>
                          </a:solidFill>
                        </a:rPr>
                        <a:t>100%</a:t>
                      </a:r>
                    </a:p>
                  </a:txBody>
                  <a:tcPr/>
                </a:tc>
                <a:tc>
                  <a:txBody>
                    <a:bodyPr/>
                    <a:lstStyle/>
                    <a:p>
                      <a:pPr>
                        <a:buNone/>
                      </a:pPr>
                      <a:r>
                        <a:rPr lang="fr-FR" altLang="en-US" sz="1400">
                          <a:solidFill>
                            <a:schemeClr val="tx1"/>
                          </a:solidFill>
                        </a:rPr>
                        <a:t>Participation des membres du cabinet aux differentes activites prevues dans le plan du Forum</a:t>
                      </a:r>
                    </a:p>
                  </a:txBody>
                  <a:tcPr/>
                </a:tc>
                <a:tc>
                  <a:txBody>
                    <a:bodyPr/>
                    <a:lstStyle/>
                    <a:p>
                      <a:pPr>
                        <a:buNone/>
                      </a:pPr>
                      <a:r>
                        <a:rPr lang="fr-FR" altLang="en-US" sz="1400">
                          <a:solidFill>
                            <a:schemeClr val="tx1"/>
                          </a:solidFill>
                        </a:rPr>
                        <a:t>La tenue du Forum malgre les contraintes securitaires ce forum a permis d obtenir des engagements fermes des gouverneurs et leurs ministres de la sante des provinces representees  </a:t>
                      </a:r>
                    </a:p>
                  </a:txBody>
                  <a:tcPr/>
                </a:tc>
                <a:extLst>
                  <a:ext uri="{0D108BD9-81ED-4DB2-BD59-A6C34878D82A}">
                    <a16:rowId xmlns:a16="http://schemas.microsoft.com/office/drawing/2014/main" val="10001"/>
                  </a:ext>
                </a:extLst>
              </a:tr>
              <a:tr h="1206223">
                <a:tc>
                  <a:txBody>
                    <a:bodyPr/>
                    <a:lstStyle/>
                    <a:p>
                      <a:pPr lvl="0">
                        <a:buNone/>
                      </a:pPr>
                      <a:r>
                        <a:rPr lang="fr-FR" sz="1400" b="0" u="none" strike="noStrike" noProof="0">
                          <a:solidFill>
                            <a:schemeClr val="tx1"/>
                          </a:solidFill>
                        </a:rPr>
                        <a:t>Appui financier au CNCSU pour la coordination et du forum et le suivi de la declaration de Kinshasa</a:t>
                      </a:r>
                      <a:endParaRPr lang="fr-FR" sz="1400" b="0" i="0" u="none" strike="noStrike" noProof="0">
                        <a:solidFill>
                          <a:schemeClr val="tx1"/>
                        </a:solidFill>
                        <a:latin typeface="Calibri"/>
                      </a:endParaRPr>
                    </a:p>
                  </a:txBody>
                  <a:tcPr/>
                </a:tc>
                <a:tc>
                  <a:txBody>
                    <a:bodyPr/>
                    <a:lstStyle/>
                    <a:p>
                      <a:pPr algn="ctr">
                        <a:buNone/>
                      </a:pPr>
                      <a:r>
                        <a:rPr lang="fr-FR" altLang="en-US" sz="1400">
                          <a:solidFill>
                            <a:schemeClr val="tx1"/>
                          </a:solidFill>
                        </a:rPr>
                        <a:t>100%</a:t>
                      </a:r>
                    </a:p>
                  </a:txBody>
                  <a:tcPr/>
                </a:tc>
                <a:tc>
                  <a:txBody>
                    <a:bodyPr/>
                    <a:lstStyle/>
                    <a:p>
                      <a:pPr marL="285750" indent="-285750">
                        <a:buFont typeface="Arial"/>
                        <a:buChar char="•"/>
                      </a:pPr>
                      <a:r>
                        <a:rPr lang="fr-FR" altLang="en-US" sz="1400">
                          <a:solidFill>
                            <a:schemeClr val="tx1"/>
                          </a:solidFill>
                        </a:rPr>
                        <a:t>Réunions des différentes commissions tenues</a:t>
                      </a:r>
                      <a:endParaRPr lang="en-US" sz="1400">
                        <a:solidFill>
                          <a:schemeClr val="tx1"/>
                        </a:solidFill>
                      </a:endParaRPr>
                    </a:p>
                    <a:p>
                      <a:pPr marL="285750" lvl="0" indent="-285750">
                        <a:buFont typeface="Arial"/>
                        <a:buChar char="•"/>
                      </a:pPr>
                      <a:r>
                        <a:rPr lang="fr-FR" altLang="en-US" sz="1400">
                          <a:solidFill>
                            <a:schemeClr val="tx1"/>
                          </a:solidFill>
                        </a:rPr>
                        <a:t>Rapport final du forum produit</a:t>
                      </a:r>
                    </a:p>
                    <a:p>
                      <a:pPr marL="285750" lvl="0" indent="-285750">
                        <a:buFont typeface="Arial"/>
                        <a:buChar char="•"/>
                      </a:pPr>
                      <a:r>
                        <a:rPr lang="fr-FR" altLang="en-US" sz="1400">
                          <a:solidFill>
                            <a:schemeClr val="tx1"/>
                          </a:solidFill>
                        </a:rPr>
                        <a:t>Réunion de plaidoyer avec les gouverneurs (12e conférence des gouverneurs) </a:t>
                      </a:r>
                    </a:p>
                  </a:txBody>
                  <a:tcPr/>
                </a:tc>
                <a:tc>
                  <a:txBody>
                    <a:bodyPr/>
                    <a:lstStyle/>
                    <a:p>
                      <a:pPr marL="285750" indent="-285750">
                        <a:buFont typeface="Arial"/>
                        <a:buChar char="•"/>
                      </a:pPr>
                      <a:r>
                        <a:rPr lang="fr-FR" altLang="en-US" sz="1400">
                          <a:solidFill>
                            <a:schemeClr val="tx1"/>
                          </a:solidFill>
                        </a:rPr>
                        <a:t> Déclaration de Kinshasa signée </a:t>
                      </a:r>
                      <a:endParaRPr lang="en-US" sz="1400">
                        <a:solidFill>
                          <a:schemeClr val="tx1"/>
                        </a:solidFill>
                      </a:endParaRPr>
                    </a:p>
                    <a:p>
                      <a:pPr marL="285750" lvl="0" indent="-285750">
                        <a:buFont typeface="Arial"/>
                        <a:buChar char="•"/>
                      </a:pPr>
                      <a:r>
                        <a:rPr lang="fr-FR" altLang="en-US" sz="1400">
                          <a:solidFill>
                            <a:schemeClr val="tx1"/>
                          </a:solidFill>
                        </a:rPr>
                        <a:t>Niveau de décaissement des fonds</a:t>
                      </a:r>
                      <a:endParaRPr lang="en-US" sz="1400">
                        <a:solidFill>
                          <a:schemeClr val="tx1"/>
                        </a:solidFill>
                      </a:endParaRPr>
                    </a:p>
                  </a:txBody>
                  <a:tcPr/>
                </a:tc>
                <a:extLst>
                  <a:ext uri="{0D108BD9-81ED-4DB2-BD59-A6C34878D82A}">
                    <a16:rowId xmlns:a16="http://schemas.microsoft.com/office/drawing/2014/main" val="10002"/>
                  </a:ext>
                </a:extLst>
              </a:tr>
              <a:tr h="2993216">
                <a:tc>
                  <a:txBody>
                    <a:bodyPr/>
                    <a:lstStyle/>
                    <a:p>
                      <a:pPr>
                        <a:buNone/>
                      </a:pPr>
                      <a:r>
                        <a:rPr lang="fr-FR" altLang="en-US" sz="1400" kern="1200">
                          <a:solidFill>
                            <a:schemeClr val="tx1"/>
                          </a:solidFill>
                          <a:latin typeface="+mn-lt"/>
                          <a:ea typeface="+mn-ea"/>
                          <a:cs typeface="+mn-cs"/>
                        </a:rPr>
                        <a:t>Appui au renforcement de la communication au ministère de la sante (Consultant), y compris en soutien a la communication stratégique sur la vaccination </a:t>
                      </a:r>
                    </a:p>
                  </a:txBody>
                  <a:tcPr/>
                </a:tc>
                <a:tc>
                  <a:txBody>
                    <a:bodyPr/>
                    <a:lstStyle/>
                    <a:p>
                      <a:pPr algn="ctr">
                        <a:buNone/>
                      </a:pPr>
                      <a:r>
                        <a:rPr lang="en-US" altLang="en-US" sz="1400" b="0" u="none" strike="noStrike" kern="1200">
                          <a:solidFill>
                            <a:schemeClr val="tx1"/>
                          </a:solidFill>
                        </a:rPr>
                        <a:t>1</a:t>
                      </a:r>
                      <a:r>
                        <a:rPr lang="fr-FR" altLang="en-US" sz="1400" b="0" u="none" strike="noStrike" kern="1200">
                          <a:solidFill>
                            <a:schemeClr val="tx1"/>
                          </a:solidFill>
                        </a:rPr>
                        <a:t>00%</a:t>
                      </a:r>
                      <a:endParaRPr lang="fr-FR" altLang="en-US" sz="1400" b="0" i="0" u="none" strike="noStrike" kern="1200">
                        <a:solidFill>
                          <a:schemeClr val="tx1"/>
                        </a:solidFill>
                        <a:latin typeface="Calibri"/>
                        <a:ea typeface="+mn-ea"/>
                        <a:cs typeface="+mn-cs"/>
                      </a:endParaRPr>
                    </a:p>
                  </a:txBody>
                  <a:tcPr/>
                </a:tc>
                <a:tc>
                  <a:txBody>
                    <a:bodyPr/>
                    <a:lstStyle/>
                    <a:p>
                      <a:pPr marL="285750" indent="-285750">
                        <a:buFont typeface="Arial" panose="020B0604020202020204" pitchFamily="34" charset="0"/>
                        <a:buChar char="•"/>
                      </a:pPr>
                      <a:r>
                        <a:rPr lang="fr-FR" sz="1400" kern="1200">
                          <a:solidFill>
                            <a:schemeClr val="tx1"/>
                          </a:solidFill>
                          <a:latin typeface="+mn-lt"/>
                          <a:ea typeface="+mn-ea"/>
                          <a:cs typeface="+mn-cs"/>
                        </a:rPr>
                        <a:t>Appui à la planification et à la mise en œuvre de la communication stratégique sur la vaccination.</a:t>
                      </a:r>
                    </a:p>
                    <a:p>
                      <a:pPr marL="285750" indent="-285750">
                        <a:buFont typeface="Arial" panose="020B0604020202020204" pitchFamily="34" charset="0"/>
                        <a:buChar char="•"/>
                      </a:pPr>
                      <a:r>
                        <a:rPr lang="fr-FR" sz="1400" kern="1200">
                          <a:solidFill>
                            <a:schemeClr val="tx1"/>
                          </a:solidFill>
                          <a:latin typeface="+mn-lt"/>
                          <a:ea typeface="+mn-ea"/>
                          <a:cs typeface="+mn-cs"/>
                        </a:rPr>
                        <a:t>Production, diffusion et amplification de contenus via les canaux institutionnels et digitaux.</a:t>
                      </a:r>
                    </a:p>
                    <a:p>
                      <a:pPr marL="285750" indent="-285750">
                        <a:buFont typeface="Arial" panose="020B0604020202020204" pitchFamily="34" charset="0"/>
                        <a:buChar char="•"/>
                      </a:pPr>
                      <a:r>
                        <a:rPr lang="fr-FR" sz="1400" kern="1200">
                          <a:solidFill>
                            <a:schemeClr val="tx1"/>
                          </a:solidFill>
                          <a:latin typeface="+mn-lt"/>
                          <a:ea typeface="+mn-ea"/>
                          <a:cs typeface="+mn-cs"/>
                        </a:rPr>
                        <a:t>Renforcement des capacités et appui aux relations médias pour une communication cohérente et efficace.</a:t>
                      </a:r>
                    </a:p>
                    <a:p>
                      <a:pPr marL="285750" indent="-285750">
                        <a:buFont typeface="Arial" panose="020B0604020202020204" pitchFamily="34" charset="0"/>
                        <a:buChar char="•"/>
                      </a:pPr>
                      <a:r>
                        <a:rPr lang="fr-FR" sz="1400" kern="1200">
                          <a:solidFill>
                            <a:schemeClr val="tx1"/>
                          </a:solidFill>
                          <a:latin typeface="+mn-lt"/>
                          <a:ea typeface="+mn-ea"/>
                          <a:cs typeface="+mn-cs"/>
                        </a:rPr>
                        <a:t>Accroissement de la visibilité, de l’engagement des parties prenantes et de l’adhésion du public à la vaccination</a:t>
                      </a:r>
                    </a:p>
                  </a:txBody>
                  <a:tcPr/>
                </a:tc>
                <a:tc>
                  <a:txBody>
                    <a:bodyPr/>
                    <a:lstStyle/>
                    <a:p>
                      <a:pPr marL="285750" lvl="0" indent="-285750" algn="l">
                        <a:lnSpc>
                          <a:spcPct val="100000"/>
                        </a:lnSpc>
                        <a:spcBef>
                          <a:spcPts val="0"/>
                        </a:spcBef>
                        <a:spcAft>
                          <a:spcPts val="0"/>
                        </a:spcAft>
                        <a:buFont typeface="Arial"/>
                        <a:buChar char="•"/>
                      </a:pPr>
                      <a:r>
                        <a:rPr lang="fr-FR" sz="1400" b="0" u="none" strike="noStrike" noProof="0"/>
                        <a:t>Renforcement de la visibilité des actions du ministère de la Santé sur la vaccination au niveau national et international</a:t>
                      </a:r>
                      <a:endParaRPr lang="en-US"/>
                    </a:p>
                    <a:p>
                      <a:pPr marL="285750" lvl="0" indent="-285750" algn="l">
                        <a:lnSpc>
                          <a:spcPct val="100000"/>
                        </a:lnSpc>
                        <a:spcBef>
                          <a:spcPts val="0"/>
                        </a:spcBef>
                        <a:spcAft>
                          <a:spcPts val="0"/>
                        </a:spcAft>
                        <a:buFont typeface="Arial"/>
                        <a:buChar char="•"/>
                      </a:pPr>
                      <a:r>
                        <a:rPr lang="fr-FR" sz="1400" b="0" u="none" strike="noStrike" noProof="0"/>
                        <a:t>Amélioration de la coordination et de la cohérence des messages sur la vaccination</a:t>
                      </a:r>
                      <a:endParaRPr lang="fr-FR"/>
                    </a:p>
                    <a:p>
                      <a:pPr marL="285750" lvl="0" indent="-285750" algn="l">
                        <a:lnSpc>
                          <a:spcPct val="100000"/>
                        </a:lnSpc>
                        <a:spcBef>
                          <a:spcPts val="0"/>
                        </a:spcBef>
                        <a:spcAft>
                          <a:spcPts val="0"/>
                        </a:spcAft>
                        <a:buFont typeface="Arial"/>
                        <a:buChar char="•"/>
                      </a:pPr>
                      <a:r>
                        <a:rPr lang="fr-FR" sz="1400" b="0" u="none" strike="noStrike" noProof="0"/>
                        <a:t>Engagement accru des parties prenantes (gouvernement, partenaires, médias) en faveur de la vaccination</a:t>
                      </a:r>
                      <a:endParaRPr lang="fr-FR"/>
                    </a:p>
                    <a:p>
                      <a:pPr marL="285750" lvl="0" indent="-285750" algn="l">
                        <a:lnSpc>
                          <a:spcPct val="100000"/>
                        </a:lnSpc>
                        <a:spcBef>
                          <a:spcPts val="0"/>
                        </a:spcBef>
                        <a:spcAft>
                          <a:spcPts val="0"/>
                        </a:spcAft>
                        <a:buFont typeface="Arial"/>
                        <a:buChar char="•"/>
                      </a:pPr>
                      <a:r>
                        <a:rPr lang="fr-FR" sz="1400" b="0" u="none" strike="noStrike" noProof="0"/>
                        <a:t>Contribution à une meilleure perception publique et à l’adhésion des communautés sur la vaccination </a:t>
                      </a:r>
                      <a:endParaRPr lang="fr-FR"/>
                    </a:p>
                  </a:txBody>
                  <a:tcP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5894E8DC-3245-EFF2-B2A3-265E5A7182E9}"/>
              </a:ext>
            </a:extLst>
          </p:cNvPr>
          <p:cNvSpPr txBox="1"/>
          <p:nvPr/>
        </p:nvSpPr>
        <p:spPr>
          <a:xfrm>
            <a:off x="458550" y="186513"/>
            <a:ext cx="11274900" cy="483611"/>
          </a:xfrm>
          <a:prstGeom prst="rect">
            <a:avLst/>
          </a:prstGeom>
          <a:noFill/>
          <a:ln>
            <a:noFill/>
          </a:ln>
        </p:spPr>
        <p:txBody>
          <a:bodyPr spcFirstLastPara="1" wrap="square" lIns="0" tIns="0" rIns="0" bIns="0" anchor="t" anchorCtr="0">
            <a:noAutofit/>
          </a:bodyPr>
          <a:lstStyle/>
          <a:p>
            <a:pPr lvl="0">
              <a:defRPr/>
            </a:pPr>
            <a:r>
              <a:rPr lang="en-US" sz="20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Autres</a:t>
            </a:r>
            <a:r>
              <a:rPr lang="en-US" sz="20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0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0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FR" altLang="en-US" sz="2000" b="1">
                <a:solidFill>
                  <a:srgbClr val="1155CC"/>
                </a:solidFill>
                <a:latin typeface="Times New Roman" panose="02020603050405020304"/>
                <a:cs typeface="Times New Roman" panose="02020603050405020304"/>
              </a:rPr>
              <a:t>Plaidoyer et communication en faveur de la vaccination) </a:t>
            </a: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404181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81423D6-9C25-94E5-4F78-D0642892ECAA}"/>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EA9B9E33-0E72-808E-4292-9133A4466EBD}"/>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C51B7991-8758-D4E2-3516-AB9A0030A71B}"/>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7DC48ECF-9B1D-96B9-89AD-B4528162C432}"/>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9471BC92-4CBE-0357-3B1B-7BCC990A1E9A}"/>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4" name="Title 3">
            <a:extLst>
              <a:ext uri="{FF2B5EF4-FFF2-40B4-BE49-F238E27FC236}">
                <a16:creationId xmlns:a16="http://schemas.microsoft.com/office/drawing/2014/main" id="{EBDAB952-984B-F8CF-1BC0-6BDE2D9BAB51}"/>
              </a:ext>
            </a:extLst>
          </p:cNvPr>
          <p:cNvSpPr>
            <a:spLocks noGrp="1"/>
          </p:cNvSpPr>
          <p:nvPr>
            <p:ph type="title"/>
          </p:nvPr>
        </p:nvSpPr>
        <p:spPr/>
        <p:txBody>
          <a:bodyPr>
            <a:normAutofit/>
          </a:bodyPr>
          <a:lstStyle/>
          <a:p>
            <a:r>
              <a:rPr lang="fr-FR">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lang="fr-FR"/>
          </a:p>
        </p:txBody>
      </p:sp>
    </p:spTree>
    <p:extLst>
      <p:ext uri="{BB962C8B-B14F-4D97-AF65-F5344CB8AC3E}">
        <p14:creationId xmlns:p14="http://schemas.microsoft.com/office/powerpoint/2010/main" val="105605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18348FCD-3979-CAFC-9E35-E7062EA3EB1A}"/>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3C33C437-B5BF-82F8-CD08-21E10EEF851F}"/>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(VAP)</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DFF79825-21AA-F5DF-F8CB-645808B79C6D}"/>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929263EF-B6FB-DB4C-B6C2-2D004E0C37E0}"/>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6801A7EC-AF89-F3AE-9F4D-351795F43114}"/>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76CFAAB-6BBD-BBB9-27B8-ACB2A6AC2AE1}"/>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1D9C7698-922B-204E-3DD3-0F67E7CA3A4D}"/>
              </a:ext>
            </a:extLst>
          </p:cNvPr>
          <p:cNvSpPr txBox="1"/>
          <p:nvPr/>
        </p:nvSpPr>
        <p:spPr>
          <a:xfrm>
            <a:off x="458592" y="1127760"/>
            <a:ext cx="10900288" cy="4539704"/>
          </a:xfrm>
          <a:prstGeom prst="rect">
            <a:avLst/>
          </a:prstGeom>
          <a:noFill/>
        </p:spPr>
        <p:txBody>
          <a:bodyPr wrap="square" rtlCol="0">
            <a:spAutoFit/>
          </a:bodyPr>
          <a:lstStyle/>
          <a:p>
            <a:pPr marL="0" lvl="2">
              <a:spcBef>
                <a:spcPts val="1200"/>
              </a:spcBef>
            </a:pPr>
            <a:r>
              <a:rPr lang="fr-FR" sz="1600">
                <a:solidFill>
                  <a:srgbClr val="414141"/>
                </a:solidFill>
                <a:latin typeface="Arial"/>
                <a:cs typeface="Arial"/>
              </a:rPr>
              <a:t>PATH a facilité:</a:t>
            </a:r>
          </a:p>
          <a:p>
            <a:pPr marL="285750" lvl="2" indent="-285750">
              <a:spcBef>
                <a:spcPts val="1200"/>
              </a:spcBef>
              <a:buFont typeface="Arial" panose="020B0604020202020204" pitchFamily="34" charset="0"/>
              <a:buChar char="•"/>
            </a:pPr>
            <a:r>
              <a:rPr lang="fr-FR" sz="1600">
                <a:solidFill>
                  <a:srgbClr val="414141"/>
                </a:solidFill>
                <a:latin typeface="Arial"/>
                <a:cs typeface="Arial"/>
              </a:rPr>
              <a:t>Le partage d’</a:t>
            </a:r>
            <a:r>
              <a:rPr lang="fr-FR" sz="1600" err="1">
                <a:solidFill>
                  <a:srgbClr val="414141"/>
                </a:solidFill>
                <a:latin typeface="Arial"/>
                <a:cs typeface="Arial"/>
              </a:rPr>
              <a:t>experience</a:t>
            </a:r>
            <a:r>
              <a:rPr lang="fr-FR" sz="1600">
                <a:solidFill>
                  <a:srgbClr val="414141"/>
                </a:solidFill>
                <a:latin typeface="Arial"/>
                <a:cs typeface="Arial"/>
              </a:rPr>
              <a:t> entre la RDC et les autres pays ayant introduit le  vaccin contre le paludisme ce qui a permis de </a:t>
            </a:r>
            <a:r>
              <a:rPr lang="fr-FR" sz="1600" err="1">
                <a:solidFill>
                  <a:srgbClr val="414141"/>
                </a:solidFill>
                <a:latin typeface="Arial"/>
                <a:cs typeface="Arial"/>
              </a:rPr>
              <a:t>reaffiner</a:t>
            </a:r>
            <a:r>
              <a:rPr lang="fr-FR" sz="1600">
                <a:solidFill>
                  <a:srgbClr val="414141"/>
                </a:solidFill>
                <a:latin typeface="Arial"/>
                <a:cs typeface="Arial"/>
              </a:rPr>
              <a:t> les différents documents normatifs de VAP</a:t>
            </a:r>
          </a:p>
          <a:p>
            <a:pPr marL="285750" lvl="2" indent="-285750">
              <a:spcBef>
                <a:spcPts val="1200"/>
              </a:spcBef>
              <a:buFont typeface="Arial" panose="020B0604020202020204" pitchFamily="34" charset="0"/>
              <a:buChar char="•"/>
            </a:pPr>
            <a:r>
              <a:rPr lang="fr-FR" sz="1600">
                <a:solidFill>
                  <a:srgbClr val="414141"/>
                </a:solidFill>
                <a:latin typeface="Arial"/>
                <a:cs typeface="Arial"/>
                <a:sym typeface="+mn-ea"/>
              </a:rPr>
              <a:t>La mise en place d’une coordination dédiée pour le VAP au niveau national impliquant tous les programmes (PEV, </a:t>
            </a:r>
            <a:r>
              <a:rPr lang="fr-FR" sz="1600">
                <a:solidFill>
                  <a:srgbClr val="414141"/>
                </a:solidFill>
                <a:latin typeface="Arial"/>
                <a:cs typeface="Arial"/>
                <a:sym typeface="Times New Roman" panose="02020603050405020304"/>
              </a:rPr>
              <a:t>PNLP</a:t>
            </a:r>
            <a:r>
              <a:rPr lang="fr-FR" sz="1600">
                <a:solidFill>
                  <a:srgbClr val="414141"/>
                </a:solidFill>
                <a:latin typeface="Arial"/>
                <a:ea typeface="Times New Roman" panose="02020603050405020304"/>
                <a:cs typeface="Arial"/>
                <a:sym typeface="Times New Roman" panose="02020603050405020304"/>
              </a:rPr>
              <a:t>, PNCPS) sous le lead du secrétariat général.</a:t>
            </a:r>
            <a:endParaRPr lang="fr-FR" sz="1600">
              <a:solidFill>
                <a:srgbClr val="414141"/>
              </a:solidFill>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Une </a:t>
            </a:r>
            <a:r>
              <a:rPr lang="fr-FR" sz="1600" err="1">
                <a:latin typeface="Arial"/>
                <a:ea typeface="Times New Roman" panose="02020603050405020304"/>
                <a:cs typeface="Arial"/>
                <a:sym typeface="Times New Roman" panose="02020603050405020304"/>
              </a:rPr>
              <a:t>planfication</a:t>
            </a:r>
            <a:r>
              <a:rPr lang="fr-FR" sz="1600">
                <a:latin typeface="Arial"/>
                <a:ea typeface="Times New Roman" panose="02020603050405020304"/>
                <a:cs typeface="Arial"/>
                <a:sym typeface="Times New Roman" panose="02020603050405020304"/>
              </a:rPr>
              <a:t> rigoureuse de l’extension du VAP dans les autres provinces après le Kongo central par les orientations de </a:t>
            </a:r>
            <a:r>
              <a:rPr lang="fr-FR" sz="1600" err="1">
                <a:latin typeface="Arial"/>
                <a:ea typeface="Times New Roman" panose="02020603050405020304"/>
                <a:cs typeface="Arial"/>
                <a:sym typeface="Times New Roman" panose="02020603050405020304"/>
              </a:rPr>
              <a:t>Gavi</a:t>
            </a:r>
            <a:r>
              <a:rPr lang="fr-FR" sz="1600">
                <a:latin typeface="Arial"/>
                <a:ea typeface="Times New Roman" panose="02020603050405020304"/>
                <a:cs typeface="Arial"/>
                <a:sym typeface="Times New Roman" panose="02020603050405020304"/>
              </a:rPr>
              <a:t>, l’analyse des données, du budget.</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Collaboration avec l'Unicef pour intégrer VAP dans les activités de U-reporters</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L’extension de l’approche PNT a soutenir l’engagement communautaire VAP</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en-US" sz="1600">
                <a:latin typeface="Arial"/>
                <a:ea typeface="Times New Roman" panose="02020603050405020304"/>
                <a:cs typeface="Arial"/>
              </a:rPr>
              <a:t>Les </a:t>
            </a:r>
            <a:r>
              <a:rPr lang="en-US" sz="1600" err="1">
                <a:latin typeface="Arial"/>
                <a:ea typeface="Times New Roman" panose="02020603050405020304"/>
                <a:cs typeface="Arial"/>
              </a:rPr>
              <a:t>appuis</a:t>
            </a:r>
            <a:r>
              <a:rPr lang="en-US" sz="1600">
                <a:latin typeface="Arial"/>
                <a:ea typeface="Times New Roman" panose="02020603050405020304"/>
                <a:cs typeface="Arial"/>
              </a:rPr>
              <a:t> aux </a:t>
            </a:r>
            <a:r>
              <a:rPr lang="en-US" sz="1600" err="1">
                <a:latin typeface="Arial"/>
                <a:ea typeface="Times New Roman" panose="02020603050405020304"/>
                <a:cs typeface="Arial"/>
              </a:rPr>
              <a:t>antennes</a:t>
            </a:r>
            <a:r>
              <a:rPr lang="en-US" sz="1600">
                <a:latin typeface="Arial"/>
                <a:ea typeface="Times New Roman" panose="02020603050405020304"/>
                <a:cs typeface="Arial"/>
              </a:rPr>
              <a:t> dans le </a:t>
            </a:r>
            <a:r>
              <a:rPr lang="en-US" sz="1600" err="1">
                <a:latin typeface="Arial"/>
                <a:ea typeface="Times New Roman" panose="02020603050405020304"/>
                <a:cs typeface="Arial"/>
              </a:rPr>
              <a:t>suivi</a:t>
            </a:r>
            <a:r>
              <a:rPr lang="en-US" sz="1600">
                <a:latin typeface="Arial"/>
                <a:ea typeface="Times New Roman" panose="02020603050405020304"/>
                <a:cs typeface="Arial"/>
              </a:rPr>
              <a:t> de stock VAP pour </a:t>
            </a:r>
            <a:r>
              <a:rPr lang="en-US" sz="1600" err="1">
                <a:latin typeface="Arial"/>
                <a:ea typeface="Times New Roman" panose="02020603050405020304"/>
                <a:cs typeface="Arial"/>
              </a:rPr>
              <a:t>mimiser</a:t>
            </a:r>
            <a:r>
              <a:rPr lang="en-US" sz="1600">
                <a:latin typeface="Arial"/>
                <a:ea typeface="Times New Roman" panose="02020603050405020304"/>
                <a:cs typeface="Arial"/>
              </a:rPr>
              <a:t> la </a:t>
            </a:r>
            <a:r>
              <a:rPr lang="en-US" sz="1600" err="1">
                <a:latin typeface="Arial"/>
                <a:ea typeface="Times New Roman" panose="02020603050405020304"/>
                <a:cs typeface="Arial"/>
              </a:rPr>
              <a:t>peremption</a:t>
            </a:r>
            <a:r>
              <a:rPr lang="en-US" sz="1600">
                <a:latin typeface="Arial"/>
                <a:ea typeface="Times New Roman" panose="02020603050405020304"/>
                <a:cs typeface="Arial"/>
              </a:rPr>
              <a:t> et </a:t>
            </a:r>
            <a:r>
              <a:rPr lang="en-US" sz="1600" err="1">
                <a:latin typeface="Arial"/>
                <a:ea typeface="Times New Roman" panose="02020603050405020304"/>
                <a:cs typeface="Arial"/>
              </a:rPr>
              <a:t>ameliorer</a:t>
            </a:r>
            <a:r>
              <a:rPr lang="en-US" sz="1600">
                <a:latin typeface="Arial"/>
                <a:ea typeface="Times New Roman" panose="02020603050405020304"/>
                <a:cs typeface="Arial"/>
              </a:rPr>
              <a:t> la </a:t>
            </a:r>
            <a:r>
              <a:rPr lang="en-US" sz="1600" err="1">
                <a:latin typeface="Arial"/>
                <a:ea typeface="Times New Roman" panose="02020603050405020304"/>
                <a:cs typeface="Arial"/>
              </a:rPr>
              <a:t>consomation</a:t>
            </a:r>
            <a:r>
              <a:rPr lang="en-US" sz="1600">
                <a:latin typeface="Arial"/>
                <a:ea typeface="Times New Roman" panose="02020603050405020304"/>
                <a:cs typeface="Arial"/>
              </a:rPr>
              <a:t> des </a:t>
            </a:r>
            <a:r>
              <a:rPr lang="en-US" sz="1600" err="1">
                <a:latin typeface="Arial"/>
                <a:ea typeface="Times New Roman" panose="02020603050405020304"/>
                <a:cs typeface="Arial"/>
              </a:rPr>
              <a:t>vaccins</a:t>
            </a:r>
            <a:r>
              <a:rPr lang="en-US" sz="1600">
                <a:latin typeface="Arial"/>
                <a:ea typeface="Times New Roman" panose="02020603050405020304"/>
                <a:cs typeface="Arial"/>
              </a:rPr>
              <a:t> (</a:t>
            </a:r>
            <a:r>
              <a:rPr lang="en-US" sz="1600" err="1">
                <a:latin typeface="Arial"/>
                <a:ea typeface="Times New Roman" panose="02020603050405020304"/>
                <a:cs typeface="Arial"/>
              </a:rPr>
              <a:t>exemple</a:t>
            </a:r>
            <a:r>
              <a:rPr lang="en-US" sz="1600">
                <a:latin typeface="Arial"/>
                <a:ea typeface="Times New Roman" panose="02020603050405020304"/>
                <a:cs typeface="Arial"/>
              </a:rPr>
              <a:t>, </a:t>
            </a:r>
            <a:r>
              <a:rPr lang="en-US" sz="1600" err="1">
                <a:latin typeface="Arial"/>
                <a:ea typeface="Times New Roman" panose="02020603050405020304"/>
                <a:cs typeface="Arial"/>
              </a:rPr>
              <a:t>ces</a:t>
            </a:r>
            <a:r>
              <a:rPr lang="en-US" sz="1600">
                <a:latin typeface="Arial"/>
                <a:ea typeface="Times New Roman" panose="02020603050405020304"/>
                <a:cs typeface="Arial"/>
              </a:rPr>
              <a:t> analyses </a:t>
            </a:r>
            <a:r>
              <a:rPr lang="en-US" sz="1600" err="1">
                <a:latin typeface="Arial"/>
                <a:ea typeface="Times New Roman" panose="02020603050405020304"/>
                <a:cs typeface="Arial"/>
              </a:rPr>
              <a:t>ont</a:t>
            </a:r>
            <a:r>
              <a:rPr lang="en-US" sz="1600">
                <a:latin typeface="Arial"/>
                <a:ea typeface="Times New Roman" panose="02020603050405020304"/>
                <a:cs typeface="Arial"/>
              </a:rPr>
              <a:t> </a:t>
            </a:r>
            <a:r>
              <a:rPr lang="en-US" sz="1600" err="1">
                <a:latin typeface="Arial"/>
                <a:ea typeface="Times New Roman" panose="02020603050405020304"/>
                <a:cs typeface="Arial"/>
              </a:rPr>
              <a:t>permis</a:t>
            </a:r>
            <a:r>
              <a:rPr lang="en-US" sz="1600">
                <a:latin typeface="Arial"/>
                <a:ea typeface="Times New Roman" panose="02020603050405020304"/>
                <a:cs typeface="Arial"/>
              </a:rPr>
              <a:t> de </a:t>
            </a:r>
            <a:r>
              <a:rPr lang="en-US" sz="1600" err="1">
                <a:latin typeface="Arial"/>
                <a:ea typeface="Times New Roman" panose="02020603050405020304"/>
                <a:cs typeface="Arial"/>
              </a:rPr>
              <a:t>redployer</a:t>
            </a:r>
            <a:r>
              <a:rPr lang="en-US" sz="1600">
                <a:latin typeface="Arial"/>
                <a:ea typeface="Times New Roman" panose="02020603050405020304"/>
                <a:cs typeface="Arial"/>
              </a:rPr>
              <a:t> les </a:t>
            </a:r>
            <a:r>
              <a:rPr lang="en-US" sz="1600" err="1">
                <a:latin typeface="Arial"/>
                <a:ea typeface="Times New Roman" panose="02020603050405020304"/>
                <a:cs typeface="Arial"/>
              </a:rPr>
              <a:t>vaccins</a:t>
            </a:r>
            <a:r>
              <a:rPr lang="en-US" sz="1600">
                <a:latin typeface="Arial"/>
                <a:ea typeface="Times New Roman" panose="02020603050405020304"/>
                <a:cs typeface="Arial"/>
              </a:rPr>
              <a:t> qui </a:t>
            </a:r>
            <a:r>
              <a:rPr lang="en-US" sz="1600" err="1">
                <a:latin typeface="Arial"/>
                <a:ea typeface="Times New Roman" panose="02020603050405020304"/>
                <a:cs typeface="Arial"/>
              </a:rPr>
              <a:t>exprient</a:t>
            </a:r>
            <a:r>
              <a:rPr lang="en-US" sz="1600">
                <a:latin typeface="Arial"/>
                <a:ea typeface="Times New Roman" panose="02020603050405020304"/>
                <a:cs typeface="Arial"/>
              </a:rPr>
              <a:t> </a:t>
            </a:r>
            <a:r>
              <a:rPr lang="en-US" sz="1600" err="1">
                <a:latin typeface="Arial"/>
                <a:ea typeface="Times New Roman" panose="02020603050405020304"/>
                <a:cs typeface="Arial"/>
              </a:rPr>
              <a:t>en</a:t>
            </a:r>
            <a:r>
              <a:rPr lang="en-US" sz="1600">
                <a:latin typeface="Arial"/>
                <a:ea typeface="Times New Roman" panose="02020603050405020304"/>
                <a:cs typeface="Arial"/>
              </a:rPr>
              <a:t> </a:t>
            </a:r>
            <a:r>
              <a:rPr lang="en-US" sz="1600" err="1">
                <a:latin typeface="Arial"/>
                <a:ea typeface="Times New Roman" panose="02020603050405020304"/>
                <a:cs typeface="Arial"/>
              </a:rPr>
              <a:t>decembre</a:t>
            </a:r>
            <a:r>
              <a:rPr lang="en-US" sz="1600">
                <a:latin typeface="Arial"/>
                <a:ea typeface="Times New Roman" panose="02020603050405020304"/>
                <a:cs typeface="Arial"/>
              </a:rPr>
              <a:t> 2025 au Kongo vers les </a:t>
            </a:r>
            <a:r>
              <a:rPr lang="en-US" sz="1600" err="1">
                <a:latin typeface="Arial"/>
                <a:ea typeface="Times New Roman" panose="02020603050405020304"/>
                <a:cs typeface="Arial"/>
              </a:rPr>
              <a:t>autres</a:t>
            </a:r>
            <a:r>
              <a:rPr lang="en-US" sz="1600">
                <a:latin typeface="Arial"/>
                <a:ea typeface="Times New Roman" panose="02020603050405020304"/>
                <a:cs typeface="Arial"/>
              </a:rPr>
              <a:t> provinces)</a:t>
            </a:r>
          </a:p>
          <a:p>
            <a:pPr marL="285750" indent="-285750">
              <a:spcBef>
                <a:spcPts val="600"/>
              </a:spcBef>
              <a:buFont typeface="Arial,Sans-Serif"/>
              <a:buChar char="•"/>
            </a:pPr>
            <a:r>
              <a:rPr lang="fr-FR" sz="1600">
                <a:latin typeface="Arial"/>
                <a:ea typeface="Calibri"/>
                <a:cs typeface="Arial"/>
              </a:rPr>
              <a:t>La migration des données CPP et VAP de DHIS2 temporaire(DHIS2 tracker) vers DHIS2 de routine ce qui a </a:t>
            </a:r>
            <a:r>
              <a:rPr lang="fr-FR" sz="1600" err="1">
                <a:latin typeface="Arial"/>
                <a:ea typeface="Calibri"/>
                <a:cs typeface="Arial"/>
              </a:rPr>
              <a:t>ameliorée</a:t>
            </a:r>
            <a:r>
              <a:rPr lang="fr-FR" sz="1600">
                <a:latin typeface="Arial"/>
                <a:ea typeface="Calibri"/>
                <a:cs typeface="Arial"/>
              </a:rPr>
              <a:t> la complétude et la promptitude.</a:t>
            </a:r>
          </a:p>
        </p:txBody>
      </p:sp>
    </p:spTree>
    <p:extLst>
      <p:ext uri="{BB962C8B-B14F-4D97-AF65-F5344CB8AC3E}">
        <p14:creationId xmlns:p14="http://schemas.microsoft.com/office/powerpoint/2010/main" val="80651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0"/>
            <a:ext cx="11274900" cy="827367"/>
          </a:xfrm>
          <a:prstGeom prst="rect">
            <a:avLst/>
          </a:prstGeom>
          <a:noFill/>
          <a:ln>
            <a:noFill/>
          </a:ln>
        </p:spPr>
        <p:txBody>
          <a:bodyPr spcFirstLastPara="1" wrap="square" lIns="0" tIns="0" rIns="0" bIns="0" anchor="t" anchorCtr="0">
            <a:noAutofit/>
          </a:bodyPr>
          <a:lstStyle/>
          <a:p>
            <a:pPr lvl="0">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a:t>
            </a:r>
            <a:r>
              <a:rPr lang="fr-FR" altLang="en-US" sz="2800" b="1">
                <a:solidFill>
                  <a:srgbClr val="1155CC"/>
                </a:solidFill>
                <a:latin typeface="Times New Roman" panose="02020603050405020304"/>
                <a:cs typeface="Times New Roman" panose="02020603050405020304"/>
              </a:rPr>
              <a:t>Plaidoyer et communication en faveur de la vaccination</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800C1A88-375F-A377-613E-F3B1184FC759}"/>
              </a:ext>
            </a:extLst>
          </p:cNvPr>
          <p:cNvSpPr txBox="1"/>
          <p:nvPr/>
        </p:nvSpPr>
        <p:spPr>
          <a:xfrm>
            <a:off x="388650" y="1494030"/>
            <a:ext cx="11414700" cy="4417107"/>
          </a:xfrm>
          <a:prstGeom prst="rect">
            <a:avLst/>
          </a:prstGeom>
          <a:noFill/>
        </p:spPr>
        <p:txBody>
          <a:bodyPr wrap="square" rtlCol="0">
            <a:spAutoFit/>
          </a:bodyPr>
          <a:lstStyle/>
          <a:p>
            <a:pPr marL="285750" indent="-285750">
              <a:lnSpc>
                <a:spcPct val="150000"/>
              </a:lnSpc>
              <a:spcBef>
                <a:spcPts val="600"/>
              </a:spcBef>
              <a:buFont typeface="Arial" panose="020B0604020202020204" pitchFamily="34" charset="0"/>
              <a:buChar char="•"/>
            </a:pPr>
            <a:r>
              <a:rPr lang="en-US" sz="1600" b="1" err="1">
                <a:solidFill>
                  <a:schemeClr val="tx1">
                    <a:lumMod val="50000"/>
                    <a:lumOff val="50000"/>
                  </a:schemeClr>
                </a:solidFill>
                <a:latin typeface="Arial" panose="020B0604020202020204" pitchFamily="34" charset="0"/>
                <a:cs typeface="Arial" panose="020B0604020202020204" pitchFamily="34" charset="0"/>
              </a:rPr>
              <a:t>Stratégie</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digitale</a:t>
            </a:r>
            <a:r>
              <a:rPr lang="en-US" sz="1600" b="1">
                <a:solidFill>
                  <a:schemeClr val="tx1">
                    <a:lumMod val="50000"/>
                    <a:lumOff val="50000"/>
                  </a:schemeClr>
                </a:solidFill>
                <a:latin typeface="Arial" panose="020B0604020202020204" pitchFamily="34" charset="0"/>
                <a:cs typeface="Arial" panose="020B0604020202020204" pitchFamily="34" charset="0"/>
              </a:rPr>
              <a:t> et engagement via les </a:t>
            </a:r>
            <a:r>
              <a:rPr lang="en-US" sz="1600" b="1" err="1">
                <a:solidFill>
                  <a:schemeClr val="tx1">
                    <a:lumMod val="50000"/>
                    <a:lumOff val="50000"/>
                  </a:schemeClr>
                </a:solidFill>
                <a:latin typeface="Arial" panose="020B0604020202020204" pitchFamily="34" charset="0"/>
                <a:cs typeface="Arial" panose="020B0604020202020204" pitchFamily="34" charset="0"/>
              </a:rPr>
              <a:t>platesformes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digitales</a:t>
            </a:r>
            <a:r>
              <a:rPr lang="en-US" sz="1600" b="1">
                <a:solidFill>
                  <a:schemeClr val="tx1">
                    <a:lumMod val="50000"/>
                    <a:lumOff val="50000"/>
                  </a:schemeClr>
                </a:solidFill>
                <a:latin typeface="Arial" panose="020B0604020202020204" pitchFamily="34" charset="0"/>
                <a:cs typeface="Arial" panose="020B0604020202020204" pitchFamily="34" charset="0"/>
              </a:rPr>
              <a:t>/réseaux </a:t>
            </a:r>
            <a:r>
              <a:rPr lang="en-US" sz="1600" b="1" err="1">
                <a:solidFill>
                  <a:schemeClr val="tx1">
                    <a:lumMod val="50000"/>
                    <a:lumOff val="50000"/>
                  </a:schemeClr>
                </a:solidFill>
                <a:latin typeface="Arial" panose="020B0604020202020204" pitchFamily="34" charset="0"/>
                <a:cs typeface="Arial" panose="020B0604020202020204" pitchFamily="34" charset="0"/>
              </a:rPr>
              <a:t>sociaux</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Permet</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une</a:t>
            </a:r>
            <a:r>
              <a:rPr lang="en-US" sz="1600">
                <a:solidFill>
                  <a:schemeClr val="tx1">
                    <a:lumMod val="50000"/>
                    <a:lumOff val="50000"/>
                  </a:schemeClr>
                </a:solidFill>
                <a:latin typeface="Arial" panose="020B0604020202020204" pitchFamily="34" charset="0"/>
                <a:cs typeface="Arial" panose="020B0604020202020204" pitchFamily="34" charset="0"/>
              </a:rPr>
              <a:t> diffusion </a:t>
            </a:r>
            <a:r>
              <a:rPr lang="en-US" sz="1600" err="1">
                <a:solidFill>
                  <a:schemeClr val="tx1">
                    <a:lumMod val="50000"/>
                    <a:lumOff val="50000"/>
                  </a:schemeClr>
                </a:solidFill>
                <a:latin typeface="Arial" panose="020B0604020202020204" pitchFamily="34" charset="0"/>
                <a:cs typeface="Arial" panose="020B0604020202020204" pitchFamily="34" charset="0"/>
              </a:rPr>
              <a:t>rapide</a:t>
            </a:r>
            <a:r>
              <a:rPr lang="en-US" sz="1600">
                <a:solidFill>
                  <a:schemeClr val="tx1">
                    <a:lumMod val="50000"/>
                    <a:lumOff val="50000"/>
                  </a:schemeClr>
                </a:solidFill>
                <a:latin typeface="Arial" panose="020B0604020202020204" pitchFamily="34" charset="0"/>
                <a:cs typeface="Arial" panose="020B0604020202020204" pitchFamily="34" charset="0"/>
              </a:rPr>
              <a:t>, interactive et </a:t>
            </a:r>
            <a:r>
              <a:rPr lang="en-US" sz="1600" err="1">
                <a:solidFill>
                  <a:schemeClr val="tx1">
                    <a:lumMod val="50000"/>
                    <a:lumOff val="50000"/>
                  </a:schemeClr>
                </a:solidFill>
                <a:latin typeface="Arial" panose="020B0604020202020204" pitchFamily="34" charset="0"/>
                <a:cs typeface="Arial" panose="020B0604020202020204" pitchFamily="34" charset="0"/>
              </a:rPr>
              <a:t>ciblée</a:t>
            </a:r>
            <a:r>
              <a:rPr lang="en-US" sz="1600">
                <a:solidFill>
                  <a:schemeClr val="tx1">
                    <a:lumMod val="50000"/>
                    <a:lumOff val="50000"/>
                  </a:schemeClr>
                </a:solidFill>
                <a:latin typeface="Arial" panose="020B0604020202020204" pitchFamily="34" charset="0"/>
                <a:cs typeface="Arial" panose="020B0604020202020204" pitchFamily="34" charset="0"/>
              </a:rPr>
              <a:t> des messages, surtout </a:t>
            </a:r>
            <a:r>
              <a:rPr lang="en-US" sz="1600" err="1">
                <a:solidFill>
                  <a:schemeClr val="tx1">
                    <a:lumMod val="50000"/>
                    <a:lumOff val="50000"/>
                  </a:schemeClr>
                </a:solidFill>
                <a:latin typeface="Arial" panose="020B0604020202020204" pitchFamily="34" charset="0"/>
                <a:cs typeface="Arial" panose="020B0604020202020204" pitchFamily="34" charset="0"/>
              </a:rPr>
              <a:t>auprès</a:t>
            </a:r>
            <a:r>
              <a:rPr lang="en-US" sz="1600">
                <a:solidFill>
                  <a:schemeClr val="tx1">
                    <a:lumMod val="50000"/>
                    <a:lumOff val="50000"/>
                  </a:schemeClr>
                </a:solidFill>
                <a:latin typeface="Arial" panose="020B0604020202020204" pitchFamily="34" charset="0"/>
                <a:cs typeface="Arial" panose="020B0604020202020204" pitchFamily="34" charset="0"/>
              </a:rPr>
              <a:t> des jeunes et des </a:t>
            </a:r>
            <a:r>
              <a:rPr lang="en-US" sz="1600" err="1">
                <a:solidFill>
                  <a:schemeClr val="tx1">
                    <a:lumMod val="50000"/>
                    <a:lumOff val="50000"/>
                  </a:schemeClr>
                </a:solidFill>
                <a:latin typeface="Arial" panose="020B0604020202020204" pitchFamily="34" charset="0"/>
                <a:cs typeface="Arial" panose="020B0604020202020204" pitchFamily="34" charset="0"/>
              </a:rPr>
              <a:t>communautés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éloignées</a:t>
            </a:r>
            <a:r>
              <a:rPr lang="en-US" sz="1600">
                <a:solidFill>
                  <a:schemeClr val="tx1">
                    <a:lumMod val="50000"/>
                    <a:lumOff val="50000"/>
                  </a:schemeClr>
                </a:solidFill>
                <a:latin typeface="Arial" panose="020B0604020202020204" pitchFamily="34" charset="0"/>
                <a:cs typeface="Arial" panose="020B0604020202020204" pitchFamily="34" charset="0"/>
              </a:rPr>
              <a:t>.</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err="1">
                <a:solidFill>
                  <a:schemeClr val="tx1">
                    <a:lumMod val="50000"/>
                    <a:lumOff val="50000"/>
                  </a:schemeClr>
                </a:solidFill>
                <a:latin typeface="Arial" panose="020B0604020202020204" pitchFamily="34" charset="0"/>
                <a:cs typeface="Arial" panose="020B0604020202020204" pitchFamily="34" charset="0"/>
              </a:rPr>
              <a:t>Utilisation</a:t>
            </a:r>
            <a:r>
              <a:rPr lang="en-US" sz="1600" b="1">
                <a:solidFill>
                  <a:schemeClr val="tx1">
                    <a:lumMod val="50000"/>
                    <a:lumOff val="50000"/>
                  </a:schemeClr>
                </a:solidFill>
                <a:latin typeface="Arial" panose="020B0604020202020204" pitchFamily="34" charset="0"/>
                <a:cs typeface="Arial" panose="020B0604020202020204" pitchFamily="34" charset="0"/>
              </a:rPr>
              <a:t> des </a:t>
            </a:r>
            <a:r>
              <a:rPr lang="en-US" sz="1600" b="1" err="1">
                <a:solidFill>
                  <a:schemeClr val="tx1">
                    <a:lumMod val="50000"/>
                    <a:lumOff val="50000"/>
                  </a:schemeClr>
                </a:solidFill>
                <a:latin typeface="Arial" panose="020B0604020202020204" pitchFamily="34" charset="0"/>
                <a:cs typeface="Arial" panose="020B0604020202020204" pitchFamily="34" charset="0"/>
              </a:rPr>
              <a:t>influenceurs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locaux</a:t>
            </a:r>
            <a:r>
              <a:rPr lang="en-US" sz="1600" b="1">
                <a:solidFill>
                  <a:schemeClr val="tx1">
                    <a:lumMod val="50000"/>
                    <a:lumOff val="50000"/>
                  </a:schemeClr>
                </a:solidFill>
                <a:latin typeface="Arial" panose="020B0604020202020204" pitchFamily="34" charset="0"/>
                <a:cs typeface="Arial" panose="020B0604020202020204" pitchFamily="34" charset="0"/>
              </a:rPr>
              <a:t> (artistes, </a:t>
            </a:r>
            <a:r>
              <a:rPr lang="en-US" sz="1600" b="1" err="1">
                <a:solidFill>
                  <a:schemeClr val="tx1">
                    <a:lumMod val="50000"/>
                    <a:lumOff val="50000"/>
                  </a:schemeClr>
                </a:solidFill>
                <a:latin typeface="Arial" panose="020B0604020202020204" pitchFamily="34" charset="0"/>
                <a:cs typeface="Arial" panose="020B0604020202020204" pitchFamily="34" charset="0"/>
              </a:rPr>
              <a:t>createurs</a:t>
            </a:r>
            <a:r>
              <a:rPr lang="en-US" sz="1600" b="1">
                <a:solidFill>
                  <a:schemeClr val="tx1">
                    <a:lumMod val="50000"/>
                    <a:lumOff val="50000"/>
                  </a:schemeClr>
                </a:solidFill>
                <a:latin typeface="Arial" panose="020B0604020202020204" pitchFamily="34" charset="0"/>
                <a:cs typeface="Arial" panose="020B0604020202020204" pitchFamily="34" charset="0"/>
              </a:rPr>
              <a:t> de </a:t>
            </a:r>
            <a:r>
              <a:rPr lang="en-US" sz="1600" b="1" err="1">
                <a:solidFill>
                  <a:schemeClr val="tx1">
                    <a:lumMod val="50000"/>
                    <a:lumOff val="50000"/>
                  </a:schemeClr>
                </a:solidFill>
                <a:latin typeface="Arial" panose="020B0604020202020204" pitchFamily="34" charset="0"/>
                <a:cs typeface="Arial" panose="020B0604020202020204" pitchFamily="34" charset="0"/>
              </a:rPr>
              <a:t>contenue</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blogueurs</a:t>
            </a:r>
            <a:r>
              <a:rPr lang="en-US" sz="1600" b="1">
                <a:solidFill>
                  <a:schemeClr val="tx1">
                    <a:lumMod val="50000"/>
                    <a:lumOff val="50000"/>
                  </a:schemeClr>
                </a:solidFill>
                <a:latin typeface="Arial" panose="020B0604020202020204" pitchFamily="34" charset="0"/>
                <a:cs typeface="Arial" panose="020B0604020202020204" pitchFamily="34" charset="0"/>
              </a:rPr>
              <a:t>, etc.)</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Renforce</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crédibilité</a:t>
            </a:r>
            <a:r>
              <a:rPr lang="en-US" sz="1600">
                <a:solidFill>
                  <a:schemeClr val="tx1">
                    <a:lumMod val="50000"/>
                    <a:lumOff val="50000"/>
                  </a:schemeClr>
                </a:solidFill>
                <a:latin typeface="Arial" panose="020B0604020202020204" pitchFamily="34" charset="0"/>
                <a:cs typeface="Arial" panose="020B0604020202020204" pitchFamily="34" charset="0"/>
              </a:rPr>
              <a:t> des messages et </a:t>
            </a:r>
            <a:r>
              <a:rPr lang="en-US" sz="1600" err="1">
                <a:solidFill>
                  <a:schemeClr val="tx1">
                    <a:lumMod val="50000"/>
                    <a:lumOff val="50000"/>
                  </a:schemeClr>
                </a:solidFill>
                <a:latin typeface="Arial" panose="020B0604020202020204" pitchFamily="34" charset="0"/>
                <a:cs typeface="Arial" panose="020B0604020202020204" pitchFamily="34" charset="0"/>
              </a:rPr>
              <a:t>favorise</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l’adhésion</a:t>
            </a:r>
            <a:r>
              <a:rPr lang="en-US" sz="1600">
                <a:solidFill>
                  <a:schemeClr val="tx1">
                    <a:lumMod val="50000"/>
                    <a:lumOff val="50000"/>
                  </a:schemeClr>
                </a:solidFill>
                <a:latin typeface="Arial" panose="020B0604020202020204" pitchFamily="34" charset="0"/>
                <a:cs typeface="Arial" panose="020B0604020202020204" pitchFamily="34" charset="0"/>
              </a:rPr>
              <a:t> des </a:t>
            </a:r>
            <a:r>
              <a:rPr lang="en-US" sz="1600" err="1">
                <a:solidFill>
                  <a:schemeClr val="tx1">
                    <a:lumMod val="50000"/>
                    <a:lumOff val="50000"/>
                  </a:schemeClr>
                </a:solidFill>
                <a:latin typeface="Arial" panose="020B0604020202020204" pitchFamily="34" charset="0"/>
                <a:cs typeface="Arial" panose="020B0604020202020204" pitchFamily="34" charset="0"/>
              </a:rPr>
              <a:t>communautés</a:t>
            </a:r>
            <a:r>
              <a:rPr lang="en-US" sz="1600">
                <a:solidFill>
                  <a:schemeClr val="tx1">
                    <a:lumMod val="50000"/>
                    <a:lumOff val="50000"/>
                  </a:schemeClr>
                </a:solidFill>
                <a:latin typeface="Arial" panose="020B0604020202020204" pitchFamily="34" charset="0"/>
                <a:cs typeface="Arial" panose="020B0604020202020204" pitchFamily="34" charset="0"/>
              </a:rPr>
              <a:t> grâce à des voix </a:t>
            </a:r>
            <a:r>
              <a:rPr lang="en-US" sz="1600" err="1">
                <a:solidFill>
                  <a:schemeClr val="tx1">
                    <a:lumMod val="50000"/>
                    <a:lumOff val="50000"/>
                  </a:schemeClr>
                </a:solidFill>
                <a:latin typeface="Arial" panose="020B0604020202020204" pitchFamily="34" charset="0"/>
                <a:cs typeface="Arial" panose="020B0604020202020204" pitchFamily="34" charset="0"/>
              </a:rPr>
              <a:t>influentes</a:t>
            </a:r>
            <a:r>
              <a:rPr lang="en-US" sz="1600">
                <a:solidFill>
                  <a:schemeClr val="tx1">
                    <a:lumMod val="50000"/>
                    <a:lumOff val="50000"/>
                  </a:schemeClr>
                </a:solidFill>
                <a:latin typeface="Arial" panose="020B0604020202020204" pitchFamily="34" charset="0"/>
                <a:cs typeface="Arial" panose="020B0604020202020204" pitchFamily="34" charset="0"/>
              </a:rPr>
              <a:t> surtout du meme</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Production de </a:t>
            </a:r>
            <a:r>
              <a:rPr lang="en-US" sz="1600" b="1" err="1">
                <a:solidFill>
                  <a:schemeClr val="tx1">
                    <a:lumMod val="50000"/>
                    <a:lumOff val="50000"/>
                  </a:schemeClr>
                </a:solidFill>
                <a:latin typeface="Arial" panose="020B0604020202020204" pitchFamily="34" charset="0"/>
                <a:cs typeface="Arial" panose="020B0604020202020204" pitchFamily="34" charset="0"/>
              </a:rPr>
              <a:t>contenus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multimédias</a:t>
            </a:r>
            <a:r>
              <a:rPr lang="en-US" sz="1600" b="1">
                <a:solidFill>
                  <a:schemeClr val="tx1">
                    <a:lumMod val="50000"/>
                    <a:lumOff val="50000"/>
                  </a:schemeClr>
                </a:solidFill>
                <a:latin typeface="Arial" panose="020B0604020202020204" pitchFamily="34" charset="0"/>
                <a:cs typeface="Arial" panose="020B0604020202020204" pitchFamily="34" charset="0"/>
              </a:rPr>
              <a:t> (capsules </a:t>
            </a:r>
            <a:r>
              <a:rPr lang="en-US" sz="1600" b="1" err="1">
                <a:solidFill>
                  <a:schemeClr val="tx1">
                    <a:lumMod val="50000"/>
                    <a:lumOff val="50000"/>
                  </a:schemeClr>
                </a:solidFill>
                <a:latin typeface="Arial" panose="020B0604020202020204" pitchFamily="34" charset="0"/>
                <a:cs typeface="Arial" panose="020B0604020202020204" pitchFamily="34" charset="0"/>
              </a:rPr>
              <a:t>ou</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contenue</a:t>
            </a:r>
            <a:r>
              <a:rPr lang="en-US" sz="1600" b="1">
                <a:solidFill>
                  <a:schemeClr val="tx1">
                    <a:lumMod val="50000"/>
                    <a:lumOff val="50000"/>
                  </a:schemeClr>
                </a:solidFill>
                <a:latin typeface="Arial" panose="020B0604020202020204" pitchFamily="34" charset="0"/>
                <a:cs typeface="Arial" panose="020B0604020202020204" pitchFamily="34" charset="0"/>
              </a:rPr>
              <a:t> immersible / </a:t>
            </a:r>
            <a:r>
              <a:rPr lang="en-US" sz="1600" b="1" err="1">
                <a:solidFill>
                  <a:schemeClr val="tx1">
                    <a:lumMod val="50000"/>
                    <a:lumOff val="50000"/>
                  </a:schemeClr>
                </a:solidFill>
                <a:latin typeface="Arial" panose="020B0604020202020204" pitchFamily="34" charset="0"/>
                <a:cs typeface="Arial" panose="020B0604020202020204" pitchFamily="34" charset="0"/>
              </a:rPr>
              <a:t>vidéo</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infographies</a:t>
            </a:r>
            <a:r>
              <a:rPr lang="en-US" sz="1600" b="1">
                <a:solidFill>
                  <a:schemeClr val="tx1">
                    <a:lumMod val="50000"/>
                    <a:lumOff val="50000"/>
                  </a:schemeClr>
                </a:solidFill>
                <a:latin typeface="Arial" panose="020B0604020202020204" pitchFamily="34" charset="0"/>
                <a:cs typeface="Arial" panose="020B0604020202020204" pitchFamily="34" charset="0"/>
              </a:rPr>
              <a:t> interactives): </a:t>
            </a:r>
            <a:r>
              <a:rPr lang="en-US" sz="1600">
                <a:solidFill>
                  <a:schemeClr val="tx1">
                    <a:lumMod val="50000"/>
                    <a:lumOff val="50000"/>
                  </a:schemeClr>
                </a:solidFill>
                <a:latin typeface="Arial" panose="020B0604020202020204" pitchFamily="34" charset="0"/>
                <a:cs typeface="Arial" panose="020B0604020202020204" pitchFamily="34" charset="0"/>
              </a:rPr>
              <a:t>Rend les messages plus </a:t>
            </a:r>
            <a:r>
              <a:rPr lang="en-US" sz="1600" err="1">
                <a:solidFill>
                  <a:schemeClr val="tx1">
                    <a:lumMod val="50000"/>
                    <a:lumOff val="50000"/>
                  </a:schemeClr>
                </a:solidFill>
                <a:latin typeface="Arial" panose="020B0604020202020204" pitchFamily="34" charset="0"/>
                <a:cs typeface="Arial" panose="020B0604020202020204" pitchFamily="34" charset="0"/>
              </a:rPr>
              <a:t>attractifs</a:t>
            </a:r>
            <a:r>
              <a:rPr lang="en-US" sz="1600">
                <a:solidFill>
                  <a:schemeClr val="tx1">
                    <a:lumMod val="50000"/>
                    <a:lumOff val="50000"/>
                  </a:schemeClr>
                </a:solidFill>
                <a:latin typeface="Arial" panose="020B0604020202020204" pitchFamily="34" charset="0"/>
                <a:cs typeface="Arial" panose="020B0604020202020204" pitchFamily="34" charset="0"/>
              </a:rPr>
              <a:t> et </a:t>
            </a:r>
            <a:r>
              <a:rPr lang="en-US" sz="1600" err="1">
                <a:solidFill>
                  <a:schemeClr val="tx1">
                    <a:lumMod val="50000"/>
                    <a:lumOff val="50000"/>
                  </a:schemeClr>
                </a:solidFill>
                <a:latin typeface="Arial" panose="020B0604020202020204" pitchFamily="34" charset="0"/>
                <a:cs typeface="Arial" panose="020B0604020202020204" pitchFamily="34" charset="0"/>
              </a:rPr>
              <a:t>compréhensibles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favorisant</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mémorisation</a:t>
            </a:r>
            <a:r>
              <a:rPr lang="en-US" sz="1600">
                <a:solidFill>
                  <a:schemeClr val="tx1">
                    <a:lumMod val="50000"/>
                    <a:lumOff val="50000"/>
                  </a:schemeClr>
                </a:solidFill>
                <a:latin typeface="Arial" panose="020B0604020202020204" pitchFamily="34" charset="0"/>
                <a:cs typeface="Arial" panose="020B0604020202020204" pitchFamily="34" charset="0"/>
              </a:rPr>
              <a:t> et le partage.</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Briefing </a:t>
            </a:r>
            <a:r>
              <a:rPr lang="en-US" sz="1600" b="1" err="1">
                <a:solidFill>
                  <a:schemeClr val="tx1">
                    <a:lumMod val="50000"/>
                    <a:lumOff val="50000"/>
                  </a:schemeClr>
                </a:solidFill>
                <a:latin typeface="Arial" panose="020B0604020202020204" pitchFamily="34" charset="0"/>
                <a:cs typeface="Arial" panose="020B0604020202020204" pitchFamily="34" charset="0"/>
              </a:rPr>
              <a:t>médias</a:t>
            </a:r>
            <a:r>
              <a:rPr lang="en-US" sz="1600" b="1">
                <a:solidFill>
                  <a:schemeClr val="tx1">
                    <a:lumMod val="50000"/>
                    <a:lumOff val="50000"/>
                  </a:schemeClr>
                </a:solidFill>
                <a:latin typeface="Arial" panose="020B0604020202020204" pitchFamily="34" charset="0"/>
                <a:cs typeface="Arial" panose="020B0604020202020204" pitchFamily="34" charset="0"/>
              </a:rPr>
              <a:t> et </a:t>
            </a:r>
            <a:r>
              <a:rPr lang="en-US" sz="1600" b="1" err="1">
                <a:solidFill>
                  <a:schemeClr val="tx1">
                    <a:lumMod val="50000"/>
                    <a:lumOff val="50000"/>
                  </a:schemeClr>
                </a:solidFill>
                <a:latin typeface="Arial" panose="020B0604020202020204" pitchFamily="34" charset="0"/>
                <a:cs typeface="Arial" panose="020B0604020202020204" pitchFamily="34" charset="0"/>
              </a:rPr>
              <a:t>visites</a:t>
            </a:r>
            <a:r>
              <a:rPr lang="en-US" sz="1600" b="1">
                <a:solidFill>
                  <a:schemeClr val="tx1">
                    <a:lumMod val="50000"/>
                    <a:lumOff val="50000"/>
                  </a:schemeClr>
                </a:solidFill>
                <a:latin typeface="Arial" panose="020B0604020202020204" pitchFamily="34" charset="0"/>
                <a:cs typeface="Arial" panose="020B0604020202020204" pitchFamily="34" charset="0"/>
              </a:rPr>
              <a:t> terrain pour journalists</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Crée</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une</a:t>
            </a:r>
            <a:r>
              <a:rPr lang="en-US" sz="1600">
                <a:solidFill>
                  <a:schemeClr val="tx1">
                    <a:lumMod val="50000"/>
                    <a:lumOff val="50000"/>
                  </a:schemeClr>
                </a:solidFill>
                <a:latin typeface="Arial" panose="020B0604020202020204" pitchFamily="34" charset="0"/>
                <a:cs typeface="Arial" panose="020B0604020202020204" pitchFamily="34" charset="0"/>
              </a:rPr>
              <a:t> relation de </a:t>
            </a:r>
            <a:r>
              <a:rPr lang="en-US" sz="1600" err="1">
                <a:solidFill>
                  <a:schemeClr val="tx1">
                    <a:lumMod val="50000"/>
                    <a:lumOff val="50000"/>
                  </a:schemeClr>
                </a:solidFill>
                <a:latin typeface="Arial" panose="020B0604020202020204" pitchFamily="34" charset="0"/>
                <a:cs typeface="Arial" panose="020B0604020202020204" pitchFamily="34" charset="0"/>
              </a:rPr>
              <a:t>confiance</a:t>
            </a:r>
            <a:r>
              <a:rPr lang="en-US" sz="1600">
                <a:solidFill>
                  <a:schemeClr val="tx1">
                    <a:lumMod val="50000"/>
                    <a:lumOff val="50000"/>
                  </a:schemeClr>
                </a:solidFill>
                <a:latin typeface="Arial" panose="020B0604020202020204" pitchFamily="34" charset="0"/>
                <a:cs typeface="Arial" panose="020B0604020202020204" pitchFamily="34" charset="0"/>
              </a:rPr>
              <a:t> avec les </a:t>
            </a:r>
            <a:r>
              <a:rPr lang="en-US" sz="1600" err="1">
                <a:solidFill>
                  <a:schemeClr val="tx1">
                    <a:lumMod val="50000"/>
                    <a:lumOff val="50000"/>
                  </a:schemeClr>
                </a:solidFill>
                <a:latin typeface="Arial" panose="020B0604020202020204" pitchFamily="34" charset="0"/>
                <a:cs typeface="Arial" panose="020B0604020202020204" pitchFamily="34" charset="0"/>
              </a:rPr>
              <a:t>médias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améliore</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qualité</a:t>
            </a:r>
            <a:r>
              <a:rPr lang="en-US" sz="1600">
                <a:solidFill>
                  <a:schemeClr val="tx1">
                    <a:lumMod val="50000"/>
                    <a:lumOff val="50000"/>
                  </a:schemeClr>
                </a:solidFill>
                <a:latin typeface="Arial" panose="020B0604020202020204" pitchFamily="34" charset="0"/>
                <a:cs typeface="Arial" panose="020B0604020202020204" pitchFamily="34" charset="0"/>
              </a:rPr>
              <a:t> et la </a:t>
            </a:r>
            <a:r>
              <a:rPr lang="en-US" sz="1600" err="1">
                <a:solidFill>
                  <a:schemeClr val="tx1">
                    <a:lumMod val="50000"/>
                    <a:lumOff val="50000"/>
                  </a:schemeClr>
                </a:solidFill>
                <a:latin typeface="Arial" panose="020B0604020202020204" pitchFamily="34" charset="0"/>
                <a:cs typeface="Arial" panose="020B0604020202020204" pitchFamily="34" charset="0"/>
              </a:rPr>
              <a:t>fréquence</a:t>
            </a:r>
            <a:r>
              <a:rPr lang="en-US" sz="1600">
                <a:solidFill>
                  <a:schemeClr val="tx1">
                    <a:lumMod val="50000"/>
                    <a:lumOff val="50000"/>
                  </a:schemeClr>
                </a:solidFill>
                <a:latin typeface="Arial" panose="020B0604020202020204" pitchFamily="34" charset="0"/>
                <a:cs typeface="Arial" panose="020B0604020202020204" pitchFamily="34" charset="0"/>
              </a:rPr>
              <a:t> de la couverture </a:t>
            </a:r>
            <a:r>
              <a:rPr lang="en-US" sz="1600" err="1">
                <a:solidFill>
                  <a:schemeClr val="tx1">
                    <a:lumMod val="50000"/>
                    <a:lumOff val="50000"/>
                  </a:schemeClr>
                </a:solidFill>
                <a:latin typeface="Arial" panose="020B0604020202020204" pitchFamily="34" charset="0"/>
                <a:cs typeface="Arial" panose="020B0604020202020204" pitchFamily="34" charset="0"/>
              </a:rPr>
              <a:t>médiatique</a:t>
            </a:r>
            <a:r>
              <a:rPr lang="en-US" sz="1600">
                <a:solidFill>
                  <a:schemeClr val="tx1">
                    <a:lumMod val="50000"/>
                    <a:lumOff val="50000"/>
                  </a:schemeClr>
                </a:solidFill>
                <a:latin typeface="Arial" panose="020B0604020202020204" pitchFamily="34" charset="0"/>
                <a:cs typeface="Arial" panose="020B0604020202020204" pitchFamily="34" charset="0"/>
              </a:rPr>
              <a:t>.</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Documentation </a:t>
            </a:r>
            <a:r>
              <a:rPr lang="en-US" sz="1600" b="1" err="1">
                <a:solidFill>
                  <a:schemeClr val="tx1">
                    <a:lumMod val="50000"/>
                    <a:lumOff val="50000"/>
                  </a:schemeClr>
                </a:solidFill>
                <a:latin typeface="Arial" panose="020B0604020202020204" pitchFamily="34" charset="0"/>
                <a:cs typeface="Arial" panose="020B0604020202020204" pitchFamily="34" charset="0"/>
              </a:rPr>
              <a:t>systématique</a:t>
            </a:r>
            <a:r>
              <a:rPr lang="en-US" sz="1600" b="1">
                <a:solidFill>
                  <a:schemeClr val="tx1">
                    <a:lumMod val="50000"/>
                    <a:lumOff val="50000"/>
                  </a:schemeClr>
                </a:solidFill>
                <a:latin typeface="Arial" panose="020B0604020202020204" pitchFamily="34" charset="0"/>
                <a:cs typeface="Arial" panose="020B0604020202020204" pitchFamily="34" charset="0"/>
              </a:rPr>
              <a:t> des experiences </a:t>
            </a:r>
            <a:r>
              <a:rPr lang="en-US" sz="1600" b="1" err="1">
                <a:solidFill>
                  <a:schemeClr val="tx1">
                    <a:lumMod val="50000"/>
                    <a:lumOff val="50000"/>
                  </a:schemeClr>
                </a:solidFill>
                <a:latin typeface="Arial" panose="020B0604020202020204" pitchFamily="34" charset="0"/>
                <a:cs typeface="Arial" panose="020B0604020202020204" pitchFamily="34" charset="0"/>
              </a:rPr>
              <a:t>ou</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vecues</a:t>
            </a:r>
            <a:r>
              <a:rPr lang="en-US" sz="1600" b="1">
                <a:solidFill>
                  <a:schemeClr val="tx1">
                    <a:lumMod val="50000"/>
                    <a:lumOff val="50000"/>
                  </a:schemeClr>
                </a:solidFill>
                <a:latin typeface="Arial" panose="020B0604020202020204" pitchFamily="34" charset="0"/>
                <a:cs typeface="Arial" panose="020B0604020202020204" pitchFamily="34" charset="0"/>
              </a:rPr>
              <a:t> des leaders </a:t>
            </a:r>
            <a:r>
              <a:rPr lang="en-US" sz="1600" b="1" err="1">
                <a:solidFill>
                  <a:schemeClr val="tx1">
                    <a:lumMod val="50000"/>
                    <a:lumOff val="50000"/>
                  </a:schemeClr>
                </a:solidFill>
                <a:latin typeface="Arial" panose="020B0604020202020204" pitchFamily="34" charset="0"/>
                <a:cs typeface="Arial" panose="020B0604020202020204" pitchFamily="34" charset="0"/>
              </a:rPr>
              <a:t>communautaires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beneficaires</a:t>
            </a:r>
            <a:r>
              <a:rPr lang="en-US" sz="1600" b="1">
                <a:solidFill>
                  <a:schemeClr val="tx1">
                    <a:lumMod val="50000"/>
                    <a:lumOff val="50000"/>
                  </a:schemeClr>
                </a:solidFill>
                <a:latin typeface="Arial" panose="020B0604020202020204" pitchFamily="34" charset="0"/>
                <a:cs typeface="Arial" panose="020B0604020202020204" pitchFamily="34" charset="0"/>
              </a:rPr>
              <a:t> (story telling, success stories, </a:t>
            </a:r>
            <a:r>
              <a:rPr lang="en-US" sz="1600" b="1" err="1">
                <a:solidFill>
                  <a:schemeClr val="tx1">
                    <a:lumMod val="50000"/>
                    <a:lumOff val="50000"/>
                  </a:schemeClr>
                </a:solidFill>
                <a:latin typeface="Arial" panose="020B0604020202020204" pitchFamily="34" charset="0"/>
                <a:cs typeface="Arial" panose="020B0604020202020204" pitchFamily="34" charset="0"/>
              </a:rPr>
              <a:t>témoignages</a:t>
            </a:r>
            <a:r>
              <a:rPr lang="en-US" sz="1600" b="1">
                <a:solidFill>
                  <a:schemeClr val="tx1">
                    <a:lumMod val="50000"/>
                    <a:lumOff val="50000"/>
                  </a:schemeClr>
                </a:solidFill>
                <a:latin typeface="Arial" panose="020B0604020202020204" pitchFamily="34" charset="0"/>
                <a:cs typeface="Arial" panose="020B0604020202020204" pitchFamily="34" charset="0"/>
              </a:rPr>
              <a:t>)</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Capitalise</a:t>
            </a:r>
            <a:r>
              <a:rPr lang="en-US" sz="1600">
                <a:solidFill>
                  <a:schemeClr val="tx1">
                    <a:lumMod val="50000"/>
                    <a:lumOff val="50000"/>
                  </a:schemeClr>
                </a:solidFill>
                <a:latin typeface="Arial" panose="020B0604020202020204" pitchFamily="34" charset="0"/>
                <a:cs typeface="Arial" panose="020B0604020202020204" pitchFamily="34" charset="0"/>
              </a:rPr>
              <a:t> les </a:t>
            </a:r>
            <a:r>
              <a:rPr lang="en-US" sz="1600" err="1">
                <a:solidFill>
                  <a:schemeClr val="tx1">
                    <a:lumMod val="50000"/>
                    <a:lumOff val="50000"/>
                  </a:schemeClr>
                </a:solidFill>
                <a:latin typeface="Arial" panose="020B0604020202020204" pitchFamily="34" charset="0"/>
                <a:cs typeface="Arial" panose="020B0604020202020204" pitchFamily="34" charset="0"/>
              </a:rPr>
              <a:t>bonnes</a:t>
            </a:r>
            <a:r>
              <a:rPr lang="en-US" sz="1600">
                <a:solidFill>
                  <a:schemeClr val="tx1">
                    <a:lumMod val="50000"/>
                    <a:lumOff val="50000"/>
                  </a:schemeClr>
                </a:solidFill>
                <a:latin typeface="Arial" panose="020B0604020202020204" pitchFamily="34" charset="0"/>
                <a:cs typeface="Arial" panose="020B0604020202020204" pitchFamily="34" charset="0"/>
              </a:rPr>
              <a:t> pratiques, </a:t>
            </a:r>
            <a:r>
              <a:rPr lang="en-US" sz="1600" err="1">
                <a:solidFill>
                  <a:schemeClr val="tx1">
                    <a:lumMod val="50000"/>
                    <a:lumOff val="50000"/>
                  </a:schemeClr>
                </a:solidFill>
                <a:latin typeface="Arial" panose="020B0604020202020204" pitchFamily="34" charset="0"/>
                <a:cs typeface="Arial" panose="020B0604020202020204" pitchFamily="34" charset="0"/>
              </a:rPr>
              <a:t>renforce</a:t>
            </a:r>
            <a:r>
              <a:rPr lang="en-US" sz="1600">
                <a:solidFill>
                  <a:schemeClr val="tx1">
                    <a:lumMod val="50000"/>
                    <a:lumOff val="50000"/>
                  </a:schemeClr>
                </a:solidFill>
                <a:latin typeface="Arial" panose="020B0604020202020204" pitchFamily="34" charset="0"/>
                <a:cs typeface="Arial" panose="020B0604020202020204" pitchFamily="34" charset="0"/>
              </a:rPr>
              <a:t> la transparence et </a:t>
            </a:r>
            <a:r>
              <a:rPr lang="en-US" sz="1600" err="1">
                <a:solidFill>
                  <a:schemeClr val="tx1">
                    <a:lumMod val="50000"/>
                    <a:lumOff val="50000"/>
                  </a:schemeClr>
                </a:solidFill>
                <a:latin typeface="Arial" panose="020B0604020202020204" pitchFamily="34" charset="0"/>
                <a:cs typeface="Arial" panose="020B0604020202020204" pitchFamily="34" charset="0"/>
              </a:rPr>
              <a:t>fournit</a:t>
            </a:r>
            <a:r>
              <a:rPr lang="en-US" sz="1600">
                <a:solidFill>
                  <a:schemeClr val="tx1">
                    <a:lumMod val="50000"/>
                    <a:lumOff val="50000"/>
                  </a:schemeClr>
                </a:solidFill>
                <a:latin typeface="Arial" panose="020B0604020202020204" pitchFamily="34" charset="0"/>
                <a:cs typeface="Arial" panose="020B0604020202020204" pitchFamily="34" charset="0"/>
              </a:rPr>
              <a:t> des </a:t>
            </a:r>
            <a:r>
              <a:rPr lang="en-US" sz="1600" err="1">
                <a:solidFill>
                  <a:schemeClr val="tx1">
                    <a:lumMod val="50000"/>
                    <a:lumOff val="50000"/>
                  </a:schemeClr>
                </a:solidFill>
                <a:latin typeface="Arial" panose="020B0604020202020204" pitchFamily="34" charset="0"/>
                <a:cs typeface="Arial" panose="020B0604020202020204" pitchFamily="34" charset="0"/>
              </a:rPr>
              <a:t>preuves</a:t>
            </a:r>
            <a:r>
              <a:rPr lang="en-US" sz="1600">
                <a:solidFill>
                  <a:schemeClr val="tx1">
                    <a:lumMod val="50000"/>
                    <a:lumOff val="50000"/>
                  </a:schemeClr>
                </a:solidFill>
                <a:latin typeface="Arial" panose="020B0604020202020204" pitchFamily="34" charset="0"/>
                <a:cs typeface="Arial" panose="020B0604020202020204" pitchFamily="34" charset="0"/>
              </a:rPr>
              <a:t> pour le plaidoyer.</a:t>
            </a:r>
            <a:endParaRPr lang="en-US" sz="1600" b="1">
              <a:solidFill>
                <a:schemeClr val="tx1">
                  <a:lumMod val="50000"/>
                  <a:lumOff val="50000"/>
                </a:schemeClr>
              </a:solidFill>
              <a:latin typeface="Arial" panose="020B0604020202020204" pitchFamily="34" charset="0"/>
              <a:ea typeface="Calibri"/>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230F63A-CEAC-FB35-0EF2-821E0CF02C39}"/>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63A5F3C4-D19E-8C0E-E656-58943E804ABA}"/>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Innovations (VAP &amp; </a:t>
            </a:r>
            <a:r>
              <a:rPr lang="fr-BE" sz="2700">
                <a:solidFill>
                  <a:srgbClr val="1155CC"/>
                </a:solidFill>
                <a:latin typeface="Times New Roman" panose="02020603050405020304"/>
                <a:cs typeface="Times New Roman" panose="02020603050405020304"/>
              </a:rPr>
              <a:t>ZDLA HCD </a:t>
            </a:r>
            <a:r>
              <a:rPr lang="en-US" sz="2700">
                <a:solidFill>
                  <a:srgbClr val="1155CC"/>
                </a:solidFill>
                <a:latin typeface="Times New Roman" panose="02020603050405020304"/>
                <a:cs typeface="Times New Roman" panose="02020603050405020304"/>
                <a:sym typeface="Times New Roman" panose="02020603050405020304"/>
              </a:rPr>
              <a:t>-TSHOPO</a:t>
            </a: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A8D193FC-6512-2DE3-A368-AAFD84C5BBF2}"/>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0A93121-93B8-4604-8912-E8A95EB6EEEA}"/>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61B4846-8C40-E421-7889-E3AEDE9062A5}"/>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8D7FDD05-147A-89A5-EF98-26B67448E97B}"/>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048DD277-0D15-7DA4-937E-20CFD7C65152}"/>
              </a:ext>
            </a:extLst>
          </p:cNvPr>
          <p:cNvSpPr txBox="1"/>
          <p:nvPr/>
        </p:nvSpPr>
        <p:spPr>
          <a:xfrm>
            <a:off x="267700" y="1049641"/>
            <a:ext cx="11162300" cy="5447645"/>
          </a:xfrm>
          <a:prstGeom prst="rect">
            <a:avLst/>
          </a:prstGeom>
          <a:noFill/>
        </p:spPr>
        <p:txBody>
          <a:bodyPr wrap="square" lIns="91440" tIns="45720" rIns="91440" bIns="45720" rtlCol="0" anchor="t">
            <a:spAutoFit/>
          </a:bodyPr>
          <a:lstStyle/>
          <a:p>
            <a:pPr marL="0" lvl="2">
              <a:spcBef>
                <a:spcPts val="1200"/>
              </a:spcBef>
            </a:pPr>
            <a:r>
              <a:rPr lang="fr-FR" sz="2000" dirty="0">
                <a:solidFill>
                  <a:srgbClr val="414141"/>
                </a:solidFill>
                <a:latin typeface="Arial"/>
                <a:cs typeface="Arial"/>
              </a:rPr>
              <a:t>PATH a facilité:</a:t>
            </a:r>
          </a:p>
          <a:p>
            <a:pPr marL="285750" lvl="2" indent="-285750">
              <a:spcBef>
                <a:spcPts val="1200"/>
              </a:spcBef>
              <a:buFont typeface="Arial" panose="020B0604020202020204" pitchFamily="34" charset="0"/>
              <a:buChar char="•"/>
            </a:pPr>
            <a:r>
              <a:rPr lang="fr-FR" sz="2000" b="1" i="1">
                <a:solidFill>
                  <a:srgbClr val="414141"/>
                </a:solidFill>
                <a:latin typeface="Arial"/>
                <a:cs typeface="Arial"/>
              </a:rPr>
              <a:t>Digi</a:t>
            </a:r>
          </a:p>
          <a:p>
            <a:pPr marL="285750" lvl="2" indent="-285750">
              <a:spcBef>
                <a:spcPts val="1200"/>
              </a:spcBef>
              <a:buFont typeface="Arial" panose="020B0604020202020204" pitchFamily="34" charset="0"/>
              <a:buChar char="•"/>
            </a:pPr>
            <a:r>
              <a:rPr lang="fr-FR" sz="2000" b="1" i="1" dirty="0">
                <a:solidFill>
                  <a:srgbClr val="414141"/>
                </a:solidFill>
                <a:latin typeface="Arial"/>
                <a:cs typeface="Arial"/>
              </a:rPr>
              <a:t>Approche « Deep dive » </a:t>
            </a:r>
            <a:r>
              <a:rPr lang="fr-FR" sz="2000" dirty="0">
                <a:solidFill>
                  <a:srgbClr val="414141"/>
                </a:solidFill>
                <a:latin typeface="Arial"/>
                <a:cs typeface="Arial"/>
              </a:rPr>
              <a:t>dans la province du Kongo central ciblant 7 ZS </a:t>
            </a:r>
          </a:p>
          <a:p>
            <a:pPr marL="742950" lvl="3" indent="-285750">
              <a:spcBef>
                <a:spcPts val="1200"/>
              </a:spcBef>
              <a:buFont typeface="Arial" panose="020B0604020202020204" pitchFamily="34" charset="0"/>
              <a:buChar char="•"/>
            </a:pPr>
            <a:r>
              <a:rPr lang="fr-FR" sz="2000" dirty="0">
                <a:solidFill>
                  <a:srgbClr val="414141"/>
                </a:solidFill>
                <a:latin typeface="Arial"/>
                <a:cs typeface="Arial"/>
              </a:rPr>
              <a:t>Pour a</a:t>
            </a:r>
            <a:r>
              <a:rPr lang="fr-FR" sz="2000" dirty="0">
                <a:latin typeface="Arial"/>
                <a:cs typeface="Arial"/>
              </a:rPr>
              <a:t>ssurer un accompagnement rapproché de qualité afin de renforcer les facteurs qui influencent positivement la vaccination et développer des stratégies ciblées pour améliorer la qualité des services et optimiser la couverture des quatre doses du vaccin antipaludique, sans compromettre celle des autres antigènes ni les interventions contre le paludisme. </a:t>
            </a:r>
          </a:p>
          <a:p>
            <a:pPr marL="742950" lvl="3" indent="-285750">
              <a:spcBef>
                <a:spcPts val="1200"/>
              </a:spcBef>
              <a:buFont typeface="Arial" panose="020B0604020202020204" pitchFamily="34" charset="0"/>
              <a:buChar char="•"/>
            </a:pPr>
            <a:r>
              <a:rPr lang="fr-FR" sz="2000" dirty="0">
                <a:latin typeface="Arial"/>
                <a:cs typeface="Arial"/>
              </a:rPr>
              <a:t>Traduire rapidement les enseignements tirés de ces zones pour soutenir le déploiement en dans les autres zones de santé du Kongo Central, tout en informant la planification et les préparatifs de l’extension à d’autres provinces de la RDC.</a:t>
            </a:r>
          </a:p>
          <a:p>
            <a:pPr marL="457200" lvl="3">
              <a:spcBef>
                <a:spcPts val="1200"/>
              </a:spcBef>
            </a:pPr>
            <a:endParaRPr lang="fr-FR" sz="2000" dirty="0">
              <a:latin typeface="Arial" panose="020B0604020202020204" pitchFamily="34" charset="0"/>
              <a:cs typeface="Arial" panose="020B0604020202020204" pitchFamily="34" charset="0"/>
            </a:endParaRPr>
          </a:p>
          <a:p>
            <a:pPr marL="342900" indent="-342900">
              <a:buClr>
                <a:schemeClr val="dk1"/>
              </a:buClr>
              <a:buSzPts val="1200"/>
              <a:buFont typeface="Arial" panose="020B0604020202020204" pitchFamily="34" charset="0"/>
              <a:buChar char="•"/>
              <a:defRPr/>
            </a:pPr>
            <a:r>
              <a:rPr lang="fr-FR" sz="2000" b="1" i="1" dirty="0">
                <a:solidFill>
                  <a:srgbClr val="414141"/>
                </a:solidFill>
                <a:latin typeface="Arial"/>
                <a:cs typeface="Arial"/>
              </a:rPr>
              <a:t>L’approche HCD </a:t>
            </a:r>
            <a:r>
              <a:rPr lang="fr-FR" sz="2000" dirty="0">
                <a:solidFill>
                  <a:srgbClr val="414141"/>
                </a:solidFill>
                <a:latin typeface="Arial"/>
                <a:cs typeface="Arial"/>
              </a:rPr>
              <a:t>a démontré une capacité remarquable à relever les défis complexes liés aux enfants zéro dose, en alliant une recherche approfondie fondée sur des méthodes mixtes à un prototypage rapide et collaboratif dans la province de la </a:t>
            </a:r>
            <a:r>
              <a:rPr lang="fr-FR" sz="2000" dirty="0" err="1">
                <a:solidFill>
                  <a:srgbClr val="414141"/>
                </a:solidFill>
                <a:latin typeface="Arial"/>
                <a:cs typeface="Arial"/>
              </a:rPr>
              <a:t>Tshopo</a:t>
            </a:r>
            <a:endParaRPr lang="fr-FR" sz="2000" dirty="0" err="1">
              <a:solidFill>
                <a:srgbClr val="414141"/>
              </a:solidFill>
              <a:latin typeface="Arial" panose="020B060402020202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2773468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BC41402-80C3-7004-F8AE-A518C8720C7D}"/>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8C664A84-B0BA-36C3-CC2F-A0A70B5091CE}"/>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Bonnes pratiques (VAP &amp; </a:t>
            </a:r>
            <a:r>
              <a:rPr lang="fr-BE" sz="2700">
                <a:solidFill>
                  <a:srgbClr val="1155CC"/>
                </a:solidFill>
                <a:latin typeface="Times New Roman" panose="02020603050405020304"/>
                <a:cs typeface="Times New Roman" panose="02020603050405020304"/>
              </a:rPr>
              <a:t>ZDLA HCD </a:t>
            </a:r>
            <a:r>
              <a:rPr lang="en-US" sz="2700">
                <a:solidFill>
                  <a:srgbClr val="1155CC"/>
                </a:solidFill>
                <a:latin typeface="Times New Roman" panose="02020603050405020304"/>
                <a:cs typeface="Times New Roman" panose="02020603050405020304"/>
                <a:sym typeface="Times New Roman" panose="02020603050405020304"/>
              </a:rPr>
              <a:t>-TSHOPO</a:t>
            </a: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1C55D539-C46B-D929-CC1E-EBAA72CF7397}"/>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5E401F4-4433-A7D1-E7D5-0ED2613851A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F46684C2-DEFA-4F47-712A-E875BD145A6A}"/>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E1857681-CB85-0140-4E00-130B41A7EB60}"/>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E5FB2986-151C-D7BB-A2CC-705C0993C161}"/>
              </a:ext>
            </a:extLst>
          </p:cNvPr>
          <p:cNvSpPr txBox="1"/>
          <p:nvPr/>
        </p:nvSpPr>
        <p:spPr>
          <a:xfrm>
            <a:off x="355600" y="927441"/>
            <a:ext cx="11765280" cy="5130700"/>
          </a:xfrm>
          <a:prstGeom prst="rect">
            <a:avLst/>
          </a:prstGeom>
          <a:noFill/>
        </p:spPr>
        <p:txBody>
          <a:bodyPr wrap="square" rtlCol="0">
            <a:spAutoFit/>
          </a:bodyPr>
          <a:lstStyle/>
          <a:p>
            <a:pPr marL="0" lvl="2">
              <a:lnSpc>
                <a:spcPct val="150000"/>
              </a:lnSpc>
              <a:spcBef>
                <a:spcPts val="1200"/>
              </a:spcBef>
            </a:pPr>
            <a:r>
              <a:rPr lang="fr-FR" dirty="0">
                <a:latin typeface="Arial" panose="020B0604020202020204" pitchFamily="34" charset="0"/>
                <a:cs typeface="Arial" panose="020B0604020202020204" pitchFamily="34" charset="0"/>
              </a:rPr>
              <a:t>PATH appui: </a:t>
            </a:r>
          </a:p>
          <a:p>
            <a:pPr marL="742950" lvl="3" indent="-285750">
              <a:lnSpc>
                <a:spcPct val="150000"/>
              </a:lnSpc>
              <a:spcBef>
                <a:spcPts val="600"/>
              </a:spcBef>
              <a:buFont typeface="Arial,Sans-Serif"/>
              <a:buChar char="•"/>
            </a:pPr>
            <a:r>
              <a:rPr lang="fr-FR" sz="1400"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Les </a:t>
            </a:r>
            <a:r>
              <a:rPr lang="fr-FR" sz="1400" b="1" i="1"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évaluations hebdomadaires de la qualité des données (DQA</a:t>
            </a:r>
            <a:r>
              <a:rPr lang="fr-FR" sz="1400"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 de vaccination au niveau des ZS lors des visites et missions de supervision des établissements des soins de santé par le FO</a:t>
            </a:r>
            <a:endParaRPr lang="en-US" sz="1400"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marL="742950" lvl="3" indent="-285750">
              <a:lnSpc>
                <a:spcPct val="150000"/>
              </a:lnSpc>
              <a:spcBef>
                <a:spcPts val="600"/>
              </a:spcBef>
              <a:buFont typeface="Arial,Sans-Serif"/>
              <a:buChar char="•"/>
            </a:pPr>
            <a:r>
              <a:rPr lang="fr-FR" sz="1400"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Organisation et facilitation d'ateliers de cocréation de stratégies d'engagement communautaire avec les partenaires non-traditionnels de la vaccination et des acteurs locaux pour soutenir la demande </a:t>
            </a:r>
            <a:r>
              <a:rPr lang="fr-FR" sz="1400" b="1" i="1" dirty="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par l’approche participative et cocréation.</a:t>
            </a:r>
            <a:endParaRPr lang="fr-FR" sz="1400" b="1" i="1" dirty="0">
              <a:solidFill>
                <a:srgbClr val="414141"/>
              </a:solidFill>
              <a:latin typeface="Arial" panose="020B0604020202020204" pitchFamily="34" charset="0"/>
              <a:ea typeface="Times New Roman" panose="02020603050405020304"/>
              <a:cs typeface="Arial" panose="020B0604020202020204" pitchFamily="34" charset="0"/>
            </a:endParaRPr>
          </a:p>
          <a:p>
            <a:pPr marL="742950" lvl="3" indent="-285750">
              <a:lnSpc>
                <a:spcPct val="150000"/>
              </a:lnSpc>
              <a:spcBef>
                <a:spcPts val="600"/>
              </a:spcBef>
              <a:buFont typeface="Arial,Sans-Serif"/>
              <a:buChar char="•"/>
            </a:pPr>
            <a:r>
              <a:rPr lang="fr-FR" sz="1400" dirty="0">
                <a:solidFill>
                  <a:srgbClr val="414141"/>
                </a:solidFill>
                <a:latin typeface="Arial" panose="020B0604020202020204" pitchFamily="34" charset="0"/>
                <a:cs typeface="Arial" panose="020B0604020202020204" pitchFamily="34" charset="0"/>
              </a:rPr>
              <a:t>Le coaching des prestataires pour l’utilisation des outils de gestion, techniques de communication interpersonnelle, messages clés et atténuation des risques. </a:t>
            </a:r>
            <a:endParaRPr lang="fr-FR" sz="1400" dirty="0">
              <a:solidFill>
                <a:srgbClr val="000000"/>
              </a:solidFill>
              <a:latin typeface="Arial" panose="020B0604020202020204" pitchFamily="34" charset="0"/>
              <a:ea typeface="Calibri"/>
              <a:cs typeface="Arial" panose="020B0604020202020204" pitchFamily="34" charset="0"/>
            </a:endParaRPr>
          </a:p>
          <a:p>
            <a:pPr marL="742950" lvl="3" indent="-285750">
              <a:lnSpc>
                <a:spcPct val="150000"/>
              </a:lnSpc>
              <a:spcBef>
                <a:spcPts val="600"/>
              </a:spcBef>
              <a:buFont typeface="Arial,Sans-Serif"/>
              <a:buChar char="•"/>
            </a:pPr>
            <a:r>
              <a:rPr lang="fr-FR" sz="1400" b="1" i="1" dirty="0">
                <a:solidFill>
                  <a:srgbClr val="414141"/>
                </a:solidFill>
                <a:latin typeface="Arial" panose="020B0604020202020204" pitchFamily="34" charset="0"/>
                <a:ea typeface="Calibri"/>
                <a:cs typeface="Arial" panose="020B0604020202020204" pitchFamily="34" charset="0"/>
              </a:rPr>
              <a:t>Suivi de proximité des activités  de génération de la demande en faveur du VAP</a:t>
            </a:r>
            <a:r>
              <a:rPr lang="fr-FR" sz="1400" b="1" dirty="0">
                <a:solidFill>
                  <a:srgbClr val="414141"/>
                </a:solidFill>
                <a:latin typeface="Arial" panose="020B0604020202020204" pitchFamily="34" charset="0"/>
                <a:ea typeface="Calibri"/>
                <a:cs typeface="Arial" panose="020B0604020202020204" pitchFamily="34" charset="0"/>
              </a:rPr>
              <a:t>: </a:t>
            </a:r>
            <a:r>
              <a:rPr lang="fr-FR" sz="1400" dirty="0">
                <a:solidFill>
                  <a:srgbClr val="414141"/>
                </a:solidFill>
                <a:latin typeface="Arial" panose="020B0604020202020204" pitchFamily="34" charset="0"/>
                <a:ea typeface="Calibri"/>
                <a:cs typeface="Arial" panose="020B0604020202020204" pitchFamily="34" charset="0"/>
              </a:rPr>
              <a:t>Création des groupes </a:t>
            </a:r>
            <a:r>
              <a:rPr lang="fr-FR" sz="1400" dirty="0" err="1">
                <a:solidFill>
                  <a:srgbClr val="414141"/>
                </a:solidFill>
                <a:latin typeface="Arial" panose="020B0604020202020204" pitchFamily="34" charset="0"/>
                <a:ea typeface="Calibri"/>
                <a:cs typeface="Arial" panose="020B0604020202020204" pitchFamily="34" charset="0"/>
              </a:rPr>
              <a:t>Whatsapp</a:t>
            </a:r>
            <a:r>
              <a:rPr lang="fr-FR" sz="1400" dirty="0">
                <a:solidFill>
                  <a:srgbClr val="414141"/>
                </a:solidFill>
                <a:latin typeface="Arial" panose="020B0604020202020204" pitchFamily="34" charset="0"/>
                <a:ea typeface="Calibri"/>
                <a:cs typeface="Arial" panose="020B0604020202020204" pitchFamily="34" charset="0"/>
              </a:rPr>
              <a:t> réunissant les Membres de la DPS  et des Zones de santé (MCZ, AC, IT...) ainsi que les PNT et les U-report . </a:t>
            </a:r>
          </a:p>
          <a:p>
            <a:pPr marL="742950" lvl="3" indent="-285750">
              <a:lnSpc>
                <a:spcPct val="150000"/>
              </a:lnSpc>
              <a:spcBef>
                <a:spcPts val="600"/>
              </a:spcBef>
              <a:buFont typeface="Arial,Sans-Serif"/>
              <a:buChar char="•"/>
            </a:pPr>
            <a:r>
              <a:rPr lang="en-US" sz="1400" dirty="0" err="1">
                <a:solidFill>
                  <a:srgbClr val="414141"/>
                </a:solidFill>
                <a:latin typeface="Arial" panose="020B0604020202020204" pitchFamily="34" charset="0"/>
                <a:cs typeface="Arial" panose="020B0604020202020204" pitchFamily="34" charset="0"/>
              </a:rPr>
              <a:t>L’approche</a:t>
            </a:r>
            <a:r>
              <a:rPr lang="en-US" sz="1400" dirty="0">
                <a:solidFill>
                  <a:srgbClr val="414141"/>
                </a:solidFill>
                <a:latin typeface="Arial" panose="020B0604020202020204" pitchFamily="34" charset="0"/>
                <a:cs typeface="Arial" panose="020B0604020202020204" pitchFamily="34" charset="0"/>
              </a:rPr>
              <a:t> HCD a </a:t>
            </a:r>
            <a:r>
              <a:rPr lang="en-US" sz="1400" dirty="0" err="1">
                <a:solidFill>
                  <a:srgbClr val="414141"/>
                </a:solidFill>
                <a:latin typeface="Arial" panose="020B0604020202020204" pitchFamily="34" charset="0"/>
                <a:cs typeface="Arial" panose="020B0604020202020204" pitchFamily="34" charset="0"/>
              </a:rPr>
              <a:t>permis</a:t>
            </a:r>
            <a:r>
              <a:rPr lang="en-US" sz="1400" dirty="0">
                <a:solidFill>
                  <a:srgbClr val="414141"/>
                </a:solidFill>
                <a:latin typeface="Arial" panose="020B0604020202020204" pitchFamily="34" charset="0"/>
                <a:cs typeface="Arial" panose="020B0604020202020204" pitchFamily="34" charset="0"/>
              </a:rPr>
              <a:t> aux équipes de passer </a:t>
            </a:r>
            <a:r>
              <a:rPr lang="en-US" sz="1400" dirty="0" err="1">
                <a:solidFill>
                  <a:srgbClr val="414141"/>
                </a:solidFill>
                <a:latin typeface="Arial" panose="020B0604020202020204" pitchFamily="34" charset="0"/>
                <a:cs typeface="Arial" panose="020B0604020202020204" pitchFamily="34" charset="0"/>
              </a:rPr>
              <a:t>en</a:t>
            </a:r>
            <a:r>
              <a:rPr lang="en-US" sz="1400" dirty="0">
                <a:solidFill>
                  <a:srgbClr val="414141"/>
                </a:solidFill>
                <a:latin typeface="Arial" panose="020B0604020202020204" pitchFamily="34" charset="0"/>
                <a:cs typeface="Arial" panose="020B0604020202020204" pitchFamily="34" charset="0"/>
              </a:rPr>
              <a:t> peu de temps de </a:t>
            </a:r>
            <a:r>
              <a:rPr lang="en-US" sz="1400" dirty="0" err="1">
                <a:solidFill>
                  <a:srgbClr val="414141"/>
                </a:solidFill>
                <a:latin typeface="Arial" panose="020B0604020202020204" pitchFamily="34" charset="0"/>
                <a:cs typeface="Arial" panose="020B0604020202020204" pitchFamily="34" charset="0"/>
              </a:rPr>
              <a:t>l’identification</a:t>
            </a:r>
            <a:r>
              <a:rPr lang="en-US" sz="1400" dirty="0">
                <a:solidFill>
                  <a:srgbClr val="414141"/>
                </a:solidFill>
                <a:latin typeface="Arial" panose="020B0604020202020204" pitchFamily="34" charset="0"/>
                <a:cs typeface="Arial" panose="020B0604020202020204" pitchFamily="34" charset="0"/>
              </a:rPr>
              <a:t> des causes profondes à la mise à </a:t>
            </a:r>
            <a:r>
              <a:rPr lang="en-US" sz="1400" dirty="0" err="1">
                <a:solidFill>
                  <a:srgbClr val="414141"/>
                </a:solidFill>
                <a:latin typeface="Arial" panose="020B0604020202020204" pitchFamily="34" charset="0"/>
                <a:cs typeface="Arial" panose="020B0604020202020204" pitchFamily="34" charset="0"/>
              </a:rPr>
              <a:t>l’essai</a:t>
            </a:r>
            <a:r>
              <a:rPr lang="en-US" sz="1400" dirty="0">
                <a:solidFill>
                  <a:srgbClr val="414141"/>
                </a:solidFill>
                <a:latin typeface="Arial" panose="020B0604020202020204" pitchFamily="34" charset="0"/>
                <a:cs typeface="Arial" panose="020B0604020202020204" pitchFamily="34" charset="0"/>
              </a:rPr>
              <a:t> et à </a:t>
            </a:r>
            <a:r>
              <a:rPr lang="en-US" sz="1400" dirty="0" err="1">
                <a:solidFill>
                  <a:srgbClr val="414141"/>
                </a:solidFill>
                <a:latin typeface="Arial" panose="020B0604020202020204" pitchFamily="34" charset="0"/>
                <a:cs typeface="Arial" panose="020B0604020202020204" pitchFamily="34" charset="0"/>
              </a:rPr>
              <a:t>l’amélioration</a:t>
            </a:r>
            <a:r>
              <a:rPr lang="en-US" sz="1400" dirty="0">
                <a:solidFill>
                  <a:srgbClr val="414141"/>
                </a:solidFill>
                <a:latin typeface="Arial" panose="020B0604020202020204" pitchFamily="34" charset="0"/>
                <a:cs typeface="Arial" panose="020B0604020202020204" pitchFamily="34" charset="0"/>
              </a:rPr>
              <a:t> de solutions pratiques dans des </a:t>
            </a:r>
            <a:r>
              <a:rPr lang="en-US" sz="1400" dirty="0" err="1">
                <a:solidFill>
                  <a:srgbClr val="414141"/>
                </a:solidFill>
                <a:latin typeface="Arial" panose="020B0604020202020204" pitchFamily="34" charset="0"/>
                <a:cs typeface="Arial" panose="020B0604020202020204" pitchFamily="34" charset="0"/>
              </a:rPr>
              <a:t>contextes</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réels</a:t>
            </a:r>
            <a:r>
              <a:rPr lang="en-US" sz="1400" dirty="0">
                <a:solidFill>
                  <a:srgbClr val="414141"/>
                </a:solidFill>
                <a:latin typeface="Arial" panose="020B0604020202020204" pitchFamily="34" charset="0"/>
                <a:cs typeface="Arial" panose="020B0604020202020204" pitchFamily="34" charset="0"/>
              </a:rPr>
              <a:t> de prestation de services.</a:t>
            </a:r>
          </a:p>
          <a:p>
            <a:pPr marL="742950" lvl="3" indent="-285750">
              <a:lnSpc>
                <a:spcPct val="150000"/>
              </a:lnSpc>
              <a:spcBef>
                <a:spcPts val="600"/>
              </a:spcBef>
              <a:buFont typeface="Arial,Sans-Serif"/>
              <a:buChar char="•"/>
            </a:pPr>
            <a:r>
              <a:rPr lang="en-US" sz="1400" dirty="0">
                <a:solidFill>
                  <a:srgbClr val="414141"/>
                </a:solidFill>
                <a:latin typeface="Arial" panose="020B0604020202020204" pitchFamily="34" charset="0"/>
                <a:cs typeface="Arial" panose="020B0604020202020204" pitchFamily="34" charset="0"/>
              </a:rPr>
              <a:t>La </a:t>
            </a:r>
            <a:r>
              <a:rPr lang="en-US" sz="1400" dirty="0" err="1">
                <a:solidFill>
                  <a:srgbClr val="414141"/>
                </a:solidFill>
                <a:latin typeface="Arial" panose="020B0604020202020204" pitchFamily="34" charset="0"/>
                <a:cs typeface="Arial" panose="020B0604020202020204" pitchFamily="34" charset="0"/>
              </a:rPr>
              <a:t>méthodologie</a:t>
            </a:r>
            <a:r>
              <a:rPr lang="en-US" sz="1400" dirty="0">
                <a:solidFill>
                  <a:srgbClr val="414141"/>
                </a:solidFill>
                <a:latin typeface="Arial" panose="020B0604020202020204" pitchFamily="34" charset="0"/>
                <a:cs typeface="Arial" panose="020B0604020202020204" pitchFamily="34" charset="0"/>
              </a:rPr>
              <a:t> adaptative a </a:t>
            </a:r>
            <a:r>
              <a:rPr lang="en-US" sz="1400" dirty="0" err="1">
                <a:solidFill>
                  <a:srgbClr val="414141"/>
                </a:solidFill>
                <a:latin typeface="Arial" panose="020B0604020202020204" pitchFamily="34" charset="0"/>
                <a:cs typeface="Arial" panose="020B0604020202020204" pitchFamily="34" charset="0"/>
              </a:rPr>
              <a:t>été</a:t>
            </a:r>
            <a:r>
              <a:rPr lang="en-US" sz="1400" dirty="0">
                <a:solidFill>
                  <a:srgbClr val="414141"/>
                </a:solidFill>
                <a:latin typeface="Arial" panose="020B0604020202020204" pitchFamily="34" charset="0"/>
                <a:cs typeface="Arial" panose="020B0604020202020204" pitchFamily="34" charset="0"/>
              </a:rPr>
              <a:t> très </a:t>
            </a:r>
            <a:r>
              <a:rPr lang="en-US" sz="1400" dirty="0" err="1">
                <a:solidFill>
                  <a:srgbClr val="414141"/>
                </a:solidFill>
                <a:latin typeface="Arial" panose="020B0604020202020204" pitchFamily="34" charset="0"/>
                <a:cs typeface="Arial" panose="020B0604020202020204" pitchFamily="34" charset="0"/>
              </a:rPr>
              <a:t>appréciée</a:t>
            </a:r>
            <a:r>
              <a:rPr lang="en-US" sz="1400" dirty="0">
                <a:solidFill>
                  <a:srgbClr val="414141"/>
                </a:solidFill>
                <a:latin typeface="Arial" panose="020B0604020202020204" pitchFamily="34" charset="0"/>
                <a:cs typeface="Arial" panose="020B0604020202020204" pitchFamily="34" charset="0"/>
              </a:rPr>
              <a:t> par les </a:t>
            </a:r>
            <a:r>
              <a:rPr lang="en-US" sz="1400" dirty="0" err="1">
                <a:solidFill>
                  <a:srgbClr val="414141"/>
                </a:solidFill>
                <a:latin typeface="Arial" panose="020B0604020202020204" pitchFamily="34" charset="0"/>
                <a:cs typeface="Arial" panose="020B0604020202020204" pitchFamily="34" charset="0"/>
              </a:rPr>
              <a:t>bailleurs</a:t>
            </a:r>
            <a:r>
              <a:rPr lang="en-US" sz="1400" dirty="0">
                <a:solidFill>
                  <a:srgbClr val="414141"/>
                </a:solidFill>
                <a:latin typeface="Arial" panose="020B0604020202020204" pitchFamily="34" charset="0"/>
                <a:cs typeface="Arial" panose="020B0604020202020204" pitchFamily="34" charset="0"/>
              </a:rPr>
              <a:t> de fonds, </a:t>
            </a:r>
            <a:r>
              <a:rPr lang="en-US" sz="1400" dirty="0" err="1">
                <a:solidFill>
                  <a:srgbClr val="414141"/>
                </a:solidFill>
                <a:latin typeface="Arial" panose="020B0604020202020204" pitchFamily="34" charset="0"/>
                <a:cs typeface="Arial" panose="020B0604020202020204" pitchFamily="34" charset="0"/>
              </a:rPr>
              <a:t>entraînant</a:t>
            </a:r>
            <a:r>
              <a:rPr lang="en-US" sz="1400" dirty="0">
                <a:solidFill>
                  <a:srgbClr val="414141"/>
                </a:solidFill>
                <a:latin typeface="Arial" panose="020B0604020202020204" pitchFamily="34" charset="0"/>
                <a:cs typeface="Arial" panose="020B0604020202020204" pitchFamily="34" charset="0"/>
              </a:rPr>
              <a:t> deux extensions de </a:t>
            </a:r>
            <a:r>
              <a:rPr lang="en-US" sz="1400" dirty="0" err="1">
                <a:solidFill>
                  <a:srgbClr val="414141"/>
                </a:solidFill>
                <a:latin typeface="Arial" panose="020B0604020202020204" pitchFamily="34" charset="0"/>
                <a:cs typeface="Arial" panose="020B0604020202020204" pitchFamily="34" charset="0"/>
              </a:rPr>
              <a:t>projet</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budgétisées</a:t>
            </a:r>
            <a:r>
              <a:rPr lang="en-US" sz="1400" dirty="0">
                <a:solidFill>
                  <a:srgbClr val="414141"/>
                </a:solidFill>
                <a:latin typeface="Arial" panose="020B0604020202020204" pitchFamily="34" charset="0"/>
                <a:cs typeface="Arial" panose="020B0604020202020204" pitchFamily="34" charset="0"/>
              </a:rPr>
              <a:t> et </a:t>
            </a:r>
            <a:r>
              <a:rPr lang="en-US" sz="1400" dirty="0" err="1">
                <a:solidFill>
                  <a:srgbClr val="414141"/>
                </a:solidFill>
                <a:latin typeface="Arial" panose="020B0604020202020204" pitchFamily="34" charset="0"/>
                <a:cs typeface="Arial" panose="020B0604020202020204" pitchFamily="34" charset="0"/>
              </a:rPr>
              <a:t>une</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demande</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d’assistance</a:t>
            </a:r>
            <a:r>
              <a:rPr lang="en-US" sz="1400" dirty="0">
                <a:solidFill>
                  <a:srgbClr val="414141"/>
                </a:solidFill>
                <a:latin typeface="Arial" panose="020B0604020202020204" pitchFamily="34" charset="0"/>
                <a:cs typeface="Arial" panose="020B0604020202020204" pitchFamily="34" charset="0"/>
              </a:rPr>
              <a:t> technique à SANRU, un </a:t>
            </a:r>
            <a:r>
              <a:rPr lang="en-US" sz="1400" dirty="0" err="1">
                <a:solidFill>
                  <a:srgbClr val="414141"/>
                </a:solidFill>
                <a:latin typeface="Arial" panose="020B0604020202020204" pitchFamily="34" charset="0"/>
                <a:cs typeface="Arial" panose="020B0604020202020204" pitchFamily="34" charset="0"/>
              </a:rPr>
              <a:t>bénéficiaire</a:t>
            </a:r>
            <a:r>
              <a:rPr lang="en-US" sz="1400" dirty="0">
                <a:solidFill>
                  <a:srgbClr val="414141"/>
                </a:solidFill>
                <a:latin typeface="Arial" panose="020B0604020202020204" pitchFamily="34" charset="0"/>
                <a:cs typeface="Arial" panose="020B0604020202020204" pitchFamily="34" charset="0"/>
              </a:rPr>
              <a:t> local de la BMGF, </a:t>
            </a:r>
            <a:r>
              <a:rPr lang="en-US" sz="1400" dirty="0" err="1">
                <a:solidFill>
                  <a:srgbClr val="414141"/>
                </a:solidFill>
                <a:latin typeface="Arial" panose="020B0604020202020204" pitchFamily="34" charset="0"/>
                <a:cs typeface="Arial" panose="020B0604020202020204" pitchFamily="34" charset="0"/>
              </a:rPr>
              <a:t>afin</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d’appliquer</a:t>
            </a:r>
            <a:r>
              <a:rPr lang="en-US" sz="1400" dirty="0">
                <a:solidFill>
                  <a:srgbClr val="414141"/>
                </a:solidFill>
                <a:latin typeface="Arial" panose="020B0604020202020204" pitchFamily="34" charset="0"/>
                <a:cs typeface="Arial" panose="020B0604020202020204" pitchFamily="34" charset="0"/>
              </a:rPr>
              <a:t> le </a:t>
            </a:r>
            <a:r>
              <a:rPr lang="en-US" sz="1400" dirty="0" err="1">
                <a:solidFill>
                  <a:srgbClr val="414141"/>
                </a:solidFill>
                <a:latin typeface="Arial" panose="020B0604020202020204" pitchFamily="34" charset="0"/>
                <a:cs typeface="Arial" panose="020B0604020202020204" pitchFamily="34" charset="0"/>
              </a:rPr>
              <a:t>même</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modèle</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d’expansion</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géographique</a:t>
            </a:r>
            <a:r>
              <a:rPr lang="en-US" sz="1400" dirty="0">
                <a:solidFill>
                  <a:srgbClr val="414141"/>
                </a:solidFill>
                <a:latin typeface="Arial" panose="020B0604020202020204" pitchFamily="34" charset="0"/>
                <a:cs typeface="Arial" panose="020B0604020202020204" pitchFamily="34" charset="0"/>
              </a:rPr>
              <a:t> et </a:t>
            </a:r>
            <a:r>
              <a:rPr lang="en-US" sz="1400" dirty="0" err="1">
                <a:solidFill>
                  <a:srgbClr val="414141"/>
                </a:solidFill>
                <a:latin typeface="Arial" panose="020B0604020202020204" pitchFamily="34" charset="0"/>
                <a:cs typeface="Arial" panose="020B0604020202020204" pitchFamily="34" charset="0"/>
              </a:rPr>
              <a:t>d’apprentissage</a:t>
            </a:r>
            <a:r>
              <a:rPr lang="en-US" sz="1400" dirty="0">
                <a:solidFill>
                  <a:srgbClr val="414141"/>
                </a:solidFill>
                <a:latin typeface="Arial" panose="020B0604020202020204" pitchFamily="34" charset="0"/>
                <a:cs typeface="Arial" panose="020B0604020202020204" pitchFamily="34" charset="0"/>
              </a:rPr>
              <a:t> pour guider la mise à </a:t>
            </a:r>
            <a:r>
              <a:rPr lang="en-US" sz="1400" dirty="0" err="1">
                <a:solidFill>
                  <a:srgbClr val="414141"/>
                </a:solidFill>
                <a:latin typeface="Arial" panose="020B0604020202020204" pitchFamily="34" charset="0"/>
                <a:cs typeface="Arial" panose="020B0604020202020204" pitchFamily="34" charset="0"/>
              </a:rPr>
              <a:t>l’échelle</a:t>
            </a:r>
            <a:r>
              <a:rPr lang="en-US" sz="1400" dirty="0">
                <a:solidFill>
                  <a:srgbClr val="414141"/>
                </a:solidFill>
                <a:latin typeface="Arial" panose="020B0604020202020204" pitchFamily="34" charset="0"/>
                <a:cs typeface="Arial" panose="020B0604020202020204" pitchFamily="34" charset="0"/>
              </a:rPr>
              <a:t> au‑</a:t>
            </a:r>
            <a:r>
              <a:rPr lang="en-US" sz="1400" dirty="0" err="1">
                <a:solidFill>
                  <a:srgbClr val="414141"/>
                </a:solidFill>
                <a:latin typeface="Arial" panose="020B0604020202020204" pitchFamily="34" charset="0"/>
                <a:cs typeface="Arial" panose="020B0604020202020204" pitchFamily="34" charset="0"/>
              </a:rPr>
              <a:t>delà</a:t>
            </a:r>
            <a:r>
              <a:rPr lang="en-US" sz="1400" dirty="0">
                <a:solidFill>
                  <a:srgbClr val="414141"/>
                </a:solidFill>
                <a:latin typeface="Arial" panose="020B0604020202020204" pitchFamily="34" charset="0"/>
                <a:cs typeface="Arial" panose="020B0604020202020204" pitchFamily="34" charset="0"/>
              </a:rPr>
              <a:t> des zones </a:t>
            </a:r>
            <a:r>
              <a:rPr lang="en-US" sz="1400" dirty="0" err="1">
                <a:solidFill>
                  <a:srgbClr val="414141"/>
                </a:solidFill>
                <a:latin typeface="Arial" panose="020B0604020202020204" pitchFamily="34" charset="0"/>
                <a:cs typeface="Arial" panose="020B0604020202020204" pitchFamily="34" charset="0"/>
              </a:rPr>
              <a:t>pilotes</a:t>
            </a:r>
            <a:r>
              <a:rPr lang="en-US" sz="1400" dirty="0">
                <a:solidFill>
                  <a:srgbClr val="414141"/>
                </a:solidFill>
                <a:latin typeface="Arial" panose="020B0604020202020204" pitchFamily="34" charset="0"/>
                <a:cs typeface="Arial" panose="020B0604020202020204" pitchFamily="34" charset="0"/>
              </a:rPr>
              <a:t> </a:t>
            </a:r>
            <a:r>
              <a:rPr lang="en-US" sz="1400" dirty="0" err="1">
                <a:solidFill>
                  <a:srgbClr val="414141"/>
                </a:solidFill>
                <a:latin typeface="Arial" panose="020B0604020202020204" pitchFamily="34" charset="0"/>
                <a:cs typeface="Arial" panose="020B0604020202020204" pitchFamily="34" charset="0"/>
              </a:rPr>
              <a:t>initiales</a:t>
            </a:r>
            <a:endParaRPr lang="fr-FR" altLang="en-US" sz="1400" dirty="0">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2452682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55BE0EE-2FAC-7153-9289-03FE16F51A8B}"/>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9F218D3-5320-BDD2-4538-E876AAAF7423}"/>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Défis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rencontrés</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 (VAP)</a:t>
            </a:r>
            <a:endPar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07A43700-0C27-7120-6459-1521DD898A87}"/>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89BEDA0F-BEF8-13E0-D14D-2459A193806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475311B7-D6F5-4C7F-8F40-6EC09241142C}"/>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16466601-1FCD-E11C-B146-149AA8110050}"/>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1">
            <a:extLst>
              <a:ext uri="{FF2B5EF4-FFF2-40B4-BE49-F238E27FC236}">
                <a16:creationId xmlns:a16="http://schemas.microsoft.com/office/drawing/2014/main" id="{A0F0ED3E-C744-48D3-43F3-F123565B6B75}"/>
              </a:ext>
            </a:extLst>
          </p:cNvPr>
          <p:cNvGraphicFramePr>
            <a:graphicFrameLocks noGrp="1"/>
          </p:cNvGraphicFramePr>
          <p:nvPr>
            <p:extLst>
              <p:ext uri="{D42A27DB-BD31-4B8C-83A1-F6EECF244321}">
                <p14:modId xmlns:p14="http://schemas.microsoft.com/office/powerpoint/2010/main" val="3344785909"/>
              </p:ext>
            </p:extLst>
          </p:nvPr>
        </p:nvGraphicFramePr>
        <p:xfrm>
          <a:off x="458592" y="844337"/>
          <a:ext cx="11200008" cy="5833306"/>
        </p:xfrm>
        <a:graphic>
          <a:graphicData uri="http://schemas.openxmlformats.org/drawingml/2006/table">
            <a:tbl>
              <a:tblPr firstRow="1" bandRow="1">
                <a:tableStyleId>{5C22544A-7EE6-4342-B048-85BDC9FD1C3A}</a:tableStyleId>
              </a:tblPr>
              <a:tblGrid>
                <a:gridCol w="4651235">
                  <a:extLst>
                    <a:ext uri="{9D8B030D-6E8A-4147-A177-3AD203B41FA5}">
                      <a16:colId xmlns:a16="http://schemas.microsoft.com/office/drawing/2014/main" val="2454578778"/>
                    </a:ext>
                  </a:extLst>
                </a:gridCol>
                <a:gridCol w="6548773">
                  <a:extLst>
                    <a:ext uri="{9D8B030D-6E8A-4147-A177-3AD203B41FA5}">
                      <a16:colId xmlns:a16="http://schemas.microsoft.com/office/drawing/2014/main" val="1059320646"/>
                    </a:ext>
                  </a:extLst>
                </a:gridCol>
              </a:tblGrid>
              <a:tr h="419378">
                <a:tc>
                  <a:txBody>
                    <a:bodyPr/>
                    <a:lstStyle/>
                    <a:p>
                      <a:r>
                        <a:rPr lang="en-US" sz="1600" b="1" i="0" u="none" strike="noStrike" cap="none"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Défis</a:t>
                      </a:r>
                      <a:r>
                        <a:rPr lang="en-US" sz="1600" b="1" i="0" u="none" strike="noStrike" cap="none">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r>
                        <a:rPr lang="en-US" sz="1600" b="1" i="0" u="none" strike="noStrike" cap="none"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rencontrés</a:t>
                      </a:r>
                      <a:r>
                        <a:rPr 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endParaRPr lang="fr-FR" sz="1600" b="1">
                        <a:solidFill>
                          <a:schemeClr val="bg1"/>
                        </a:solidFill>
                        <a:latin typeface="Arial" panose="020B0604020202020204" pitchFamily="34" charset="0"/>
                        <a:cs typeface="Arial" panose="020B0604020202020204" pitchFamily="34" charset="0"/>
                      </a:endParaRPr>
                    </a:p>
                  </a:txBody>
                  <a:tcPr/>
                </a:tc>
                <a:tc>
                  <a:txBody>
                    <a:bodyPr/>
                    <a:lstStyle/>
                    <a:p>
                      <a:r>
                        <a:rPr lang="en-US" alt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Solutions </a:t>
                      </a:r>
                      <a:r>
                        <a:rPr lang="en-US" altLang="en-US" sz="1600" b="1"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apportées</a:t>
                      </a:r>
                      <a:r>
                        <a:rPr lang="en-US" alt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endParaRPr lang="fr-FR" sz="1600" b="1">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73216563"/>
                  </a:ext>
                </a:extLst>
              </a:tr>
              <a:tr h="10053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 sz="1600">
                          <a:latin typeface="Arial" panose="020B0604020202020204" pitchFamily="34" charset="0"/>
                          <a:ea typeface="Times New Roman" panose="02020603050405020304"/>
                          <a:cs typeface="Arial" panose="020B0604020202020204" pitchFamily="34" charset="0"/>
                        </a:rPr>
                        <a:t>Un</a:t>
                      </a:r>
                      <a:r>
                        <a:rPr lang="fr" sz="1600">
                          <a:latin typeface="Arial" panose="020B0604020202020204" pitchFamily="34" charset="0"/>
                          <a:ea typeface="Times New Roman" panose="02020603050405020304"/>
                          <a:cs typeface="Arial" panose="020B0604020202020204" pitchFamily="34" charset="0"/>
                          <a:sym typeface="Times New Roman" panose="02020603050405020304"/>
                        </a:rPr>
                        <a:t> gap de financement pour les 78 ZS non-</a:t>
                      </a:r>
                      <a:r>
                        <a:rPr lang="en-US" sz="1600">
                          <a:latin typeface="Arial" panose="020B0604020202020204" pitchFamily="34" charset="0"/>
                          <a:ea typeface="Times New Roman" panose="02020603050405020304"/>
                          <a:cs typeface="Arial" panose="020B0604020202020204" pitchFamily="34" charset="0"/>
                          <a:sym typeface="Times New Roman" panose="02020603050405020304"/>
                        </a:rPr>
                        <a:t>é</a:t>
                      </a:r>
                      <a:r>
                        <a:rPr lang="fr" sz="1600">
                          <a:latin typeface="Arial" panose="020B0604020202020204" pitchFamily="34" charset="0"/>
                          <a:ea typeface="Times New Roman" panose="02020603050405020304"/>
                          <a:cs typeface="Arial" panose="020B0604020202020204" pitchFamily="34" charset="0"/>
                          <a:sym typeface="Times New Roman" panose="02020603050405020304"/>
                        </a:rPr>
                        <a:t>ligibles</a:t>
                      </a:r>
                      <a:r>
                        <a:rPr lang="fr" sz="1600">
                          <a:latin typeface="Arial" panose="020B0604020202020204" pitchFamily="34" charset="0"/>
                          <a:ea typeface="Times New Roman" panose="02020603050405020304"/>
                          <a:cs typeface="Arial" panose="020B0604020202020204" pitchFamily="34" charset="0"/>
                        </a:rPr>
                        <a:t> a retardé l'extension rapide </a:t>
                      </a:r>
                      <a:r>
                        <a:rPr lang="fr" sz="1600">
                          <a:latin typeface="Arial" panose="020B0604020202020204" pitchFamily="34" charset="0"/>
                          <a:cs typeface="Arial" panose="020B0604020202020204" pitchFamily="34" charset="0"/>
                        </a:rPr>
                        <a:t>du VAP</a:t>
                      </a:r>
                      <a:endParaRPr lang="en-US" sz="1600">
                        <a:solidFill>
                          <a:srgbClr val="414141"/>
                        </a:solidFill>
                        <a:latin typeface="Arial" panose="020B0604020202020204" pitchFamily="34" charset="0"/>
                        <a:ea typeface="Times New Roman" panose="02020603050405020304"/>
                        <a:cs typeface="Arial" panose="020B0604020202020204" pitchFamily="34" charset="0"/>
                      </a:endParaRPr>
                    </a:p>
                    <a:p>
                      <a:endParaRPr lang="fr-FR" sz="1600">
                        <a:latin typeface="Arial" panose="020B0604020202020204" pitchFamily="34" charset="0"/>
                        <a:cs typeface="Arial" panose="020B0604020202020204" pitchFamily="34" charset="0"/>
                      </a:endParaRPr>
                    </a:p>
                  </a:txBody>
                  <a:tcPr/>
                </a:tc>
                <a:tc>
                  <a:txBody>
                    <a:bodyPr/>
                    <a:lstStyle/>
                    <a:p>
                      <a:r>
                        <a:rPr lang="fr-FR" sz="1600" kern="1200">
                          <a:solidFill>
                            <a:schemeClr val="dk1"/>
                          </a:solidFill>
                          <a:latin typeface="Arial" panose="020B0604020202020204" pitchFamily="34" charset="0"/>
                          <a:cs typeface="Arial" panose="020B0604020202020204" pitchFamily="34" charset="0"/>
                        </a:rPr>
                        <a:t>Mobilisation des ressources en cours pour combler le gap: </a:t>
                      </a:r>
                      <a:endParaRPr lang="en-US" sz="1600" kern="1200">
                        <a:solidFill>
                          <a:schemeClr val="dk1"/>
                        </a:solidFill>
                        <a:latin typeface="Arial" panose="020B0604020202020204" pitchFamily="34" charset="0"/>
                        <a:cs typeface="Arial" panose="020B0604020202020204" pitchFamily="34" charset="0"/>
                      </a:endParaRPr>
                    </a:p>
                    <a:p>
                      <a:pPr marL="285750" lvl="0" indent="-285750">
                        <a:buFont typeface="Arial"/>
                        <a:buChar char="•"/>
                      </a:pPr>
                      <a:r>
                        <a:rPr lang="fr-FR" sz="1600" kern="1200" err="1">
                          <a:solidFill>
                            <a:schemeClr val="dk1"/>
                          </a:solidFill>
                          <a:latin typeface="Arial" panose="020B0604020202020204" pitchFamily="34" charset="0"/>
                          <a:cs typeface="Arial" panose="020B0604020202020204" pitchFamily="34" charset="0"/>
                        </a:rPr>
                        <a:t>Reunion</a:t>
                      </a:r>
                      <a:r>
                        <a:rPr lang="fr-FR" sz="1600" kern="1200">
                          <a:solidFill>
                            <a:schemeClr val="dk1"/>
                          </a:solidFill>
                          <a:latin typeface="Arial" panose="020B0604020202020204" pitchFamily="34" charset="0"/>
                          <a:cs typeface="Arial" panose="020B0604020202020204" pitchFamily="34" charset="0"/>
                        </a:rPr>
                        <a:t> tenue avec AMP pour un appui en achat de vaccins </a:t>
                      </a:r>
                    </a:p>
                    <a:p>
                      <a:pPr marL="285750" lvl="0" indent="-285750">
                        <a:buFont typeface="Arial"/>
                        <a:buChar char="•"/>
                      </a:pPr>
                      <a:r>
                        <a:rPr lang="fr-FR" sz="1600" kern="1200" err="1">
                          <a:solidFill>
                            <a:schemeClr val="dk1"/>
                          </a:solidFill>
                          <a:latin typeface="Arial" panose="020B0604020202020204" pitchFamily="34" charset="0"/>
                          <a:cs typeface="Arial" panose="020B0604020202020204" pitchFamily="34" charset="0"/>
                        </a:rPr>
                        <a:t>Rencoontre</a:t>
                      </a:r>
                      <a:r>
                        <a:rPr lang="fr-FR" sz="1600" kern="1200">
                          <a:solidFill>
                            <a:schemeClr val="dk1"/>
                          </a:solidFill>
                          <a:latin typeface="Arial" panose="020B0604020202020204" pitchFamily="34" charset="0"/>
                          <a:cs typeface="Arial" panose="020B0604020202020204" pitchFamily="34" charset="0"/>
                        </a:rPr>
                        <a:t> avec MSF pour l'utilisation des doses </a:t>
                      </a:r>
                      <a:r>
                        <a:rPr lang="fr-FR" sz="1600" kern="1200" err="1">
                          <a:solidFill>
                            <a:schemeClr val="dk1"/>
                          </a:solidFill>
                          <a:latin typeface="Arial" panose="020B0604020202020204" pitchFamily="34" charset="0"/>
                          <a:cs typeface="Arial" panose="020B0604020202020204" pitchFamily="34" charset="0"/>
                        </a:rPr>
                        <a:t>prevue</a:t>
                      </a:r>
                      <a:r>
                        <a:rPr lang="fr-FR" sz="1600" kern="1200">
                          <a:solidFill>
                            <a:schemeClr val="dk1"/>
                          </a:solidFill>
                          <a:latin typeface="Arial" panose="020B0604020202020204" pitchFamily="34" charset="0"/>
                          <a:cs typeface="Arial" panose="020B0604020202020204" pitchFamily="34" charset="0"/>
                        </a:rPr>
                        <a:t> pour la campagne VAP dans une zone de sante déjà couverte </a:t>
                      </a:r>
                    </a:p>
                  </a:txBody>
                  <a:tcPr/>
                </a:tc>
                <a:extLst>
                  <a:ext uri="{0D108BD9-81ED-4DB2-BD59-A6C34878D82A}">
                    <a16:rowId xmlns:a16="http://schemas.microsoft.com/office/drawing/2014/main" val="4204748064"/>
                  </a:ext>
                </a:extLst>
              </a:tr>
              <a:tr h="545763">
                <a:tc>
                  <a:txBody>
                    <a:bodyPr/>
                    <a:lstStyle/>
                    <a:p>
                      <a:pPr marL="0" marR="0" lvl="0" indent="0" algn="l">
                        <a:lnSpc>
                          <a:spcPct val="100000"/>
                        </a:lnSpc>
                        <a:spcBef>
                          <a:spcPts val="0"/>
                        </a:spcBef>
                        <a:spcAft>
                          <a:spcPts val="0"/>
                        </a:spcAft>
                        <a:buNone/>
                      </a:pPr>
                      <a:r>
                        <a:rPr lang="fr" sz="1600" b="0" i="0" u="none" strike="noStrike" noProof="0">
                          <a:solidFill>
                            <a:srgbClr val="000000"/>
                          </a:solidFill>
                          <a:latin typeface="Arial" panose="020B0604020202020204" pitchFamily="34" charset="0"/>
                          <a:cs typeface="Arial" panose="020B0604020202020204" pitchFamily="34" charset="0"/>
                        </a:rPr>
                        <a:t>Ressources limitées pour former plus de prestataires et ReCo à tous les niveaux</a:t>
                      </a:r>
                    </a:p>
                  </a:txBody>
                  <a:tcPr/>
                </a:tc>
                <a:tc>
                  <a:txBody>
                    <a:bodyPr/>
                    <a:lstStyle/>
                    <a:p>
                      <a:pPr marL="0" marR="0" lvl="2" indent="0" algn="l">
                        <a:lnSpc>
                          <a:spcPct val="100000"/>
                        </a:lnSpc>
                        <a:spcBef>
                          <a:spcPts val="1200"/>
                        </a:spcBef>
                        <a:spcAft>
                          <a:spcPts val="0"/>
                        </a:spcAft>
                        <a:buClr>
                          <a:srgbClr val="000000"/>
                        </a:buClr>
                        <a:buNone/>
                      </a:pPr>
                      <a:r>
                        <a:rPr lang="fr-FR" sz="1600" b="0" i="0" u="none" strike="noStrike" kern="1200" noProof="0">
                          <a:solidFill>
                            <a:srgbClr val="000000"/>
                          </a:solidFill>
                          <a:latin typeface="Arial" panose="020B0604020202020204" pitchFamily="34" charset="0"/>
                          <a:ea typeface="+mn-ea"/>
                          <a:cs typeface="Arial" panose="020B0604020202020204" pitchFamily="34" charset="0"/>
                        </a:rPr>
                        <a:t>Briefing des prestataires lors des supervisions et visites de suivi</a:t>
                      </a:r>
                    </a:p>
                  </a:txBody>
                  <a:tcPr/>
                </a:tc>
                <a:extLst>
                  <a:ext uri="{0D108BD9-81ED-4DB2-BD59-A6C34878D82A}">
                    <a16:rowId xmlns:a16="http://schemas.microsoft.com/office/drawing/2014/main" val="3604987697"/>
                  </a:ext>
                </a:extLst>
              </a:tr>
              <a:tr h="1464944">
                <a:tc>
                  <a:txBody>
                    <a:bodyPr/>
                    <a:lstStyle/>
                    <a:p>
                      <a:pPr marL="0" marR="0" lvl="0" indent="0" algn="l">
                        <a:lnSpc>
                          <a:spcPct val="100000"/>
                        </a:lnSpc>
                        <a:spcBef>
                          <a:spcPts val="0"/>
                        </a:spcBef>
                        <a:spcAft>
                          <a:spcPts val="0"/>
                        </a:spcAft>
                        <a:buNone/>
                      </a:pPr>
                      <a:r>
                        <a:rPr lang="fr" sz="1600" b="0" i="0" u="none" strike="noStrike" noProof="0">
                          <a:solidFill>
                            <a:srgbClr val="000000"/>
                          </a:solidFill>
                          <a:latin typeface="Arial" panose="020B0604020202020204" pitchFamily="34" charset="0"/>
                          <a:cs typeface="Arial" panose="020B0604020202020204" pitchFamily="34" charset="0"/>
                        </a:rPr>
                        <a:t>Ressources limitées pour  la réproduction des outils de communication  et la diffusion des supports de communication du VAP sur les médias</a:t>
                      </a:r>
                    </a:p>
                  </a:txBody>
                  <a:tcPr/>
                </a:tc>
                <a:tc>
                  <a:txBody>
                    <a:bodyPr/>
                    <a:lstStyle/>
                    <a:p>
                      <a:pPr marL="285750" indent="-285750">
                        <a:buFont typeface="Calibri"/>
                        <a:buChar char="-"/>
                      </a:pPr>
                      <a:r>
                        <a:rPr lang="fr-FR" sz="1600">
                          <a:latin typeface="Arial" panose="020B0604020202020204" pitchFamily="34" charset="0"/>
                          <a:cs typeface="Arial" panose="020B0604020202020204" pitchFamily="34" charset="0"/>
                        </a:rPr>
                        <a:t>Mise à disposition des supports sous format numérique à tous les niveaux</a:t>
                      </a:r>
                      <a:endParaRPr lang="en-US" sz="1600">
                        <a:latin typeface="Arial" panose="020B0604020202020204" pitchFamily="34" charset="0"/>
                        <a:cs typeface="Arial" panose="020B0604020202020204" pitchFamily="34" charset="0"/>
                      </a:endParaRPr>
                    </a:p>
                    <a:p>
                      <a:pPr marL="285750" lvl="0" indent="-285750">
                        <a:buFont typeface="Calibri"/>
                        <a:buChar char="-"/>
                      </a:pPr>
                      <a:r>
                        <a:rPr lang="en-US" sz="1600" err="1">
                          <a:latin typeface="Arial" panose="020B0604020202020204" pitchFamily="34" charset="0"/>
                          <a:cs typeface="Arial" panose="020B0604020202020204" pitchFamily="34" charset="0"/>
                        </a:rPr>
                        <a:t>Appui</a:t>
                      </a:r>
                      <a:r>
                        <a:rPr lang="en-US" sz="1600">
                          <a:latin typeface="Arial" panose="020B0604020202020204" pitchFamily="34" charset="0"/>
                          <a:cs typeface="Arial" panose="020B0604020202020204" pitchFamily="34" charset="0"/>
                        </a:rPr>
                        <a:t> à </a:t>
                      </a:r>
                      <a:r>
                        <a:rPr lang="en-US" sz="1600" err="1">
                          <a:latin typeface="Arial" panose="020B0604020202020204" pitchFamily="34" charset="0"/>
                          <a:cs typeface="Arial" panose="020B0604020202020204" pitchFamily="34" charset="0"/>
                        </a:rPr>
                        <a:t>l'engagement</a:t>
                      </a:r>
                      <a:r>
                        <a:rPr lang="en-US" sz="1600">
                          <a:latin typeface="Arial" panose="020B0604020202020204" pitchFamily="34" charset="0"/>
                          <a:cs typeface="Arial" panose="020B0604020202020204" pitchFamily="34" charset="0"/>
                        </a:rPr>
                        <a:t> des </a:t>
                      </a:r>
                      <a:r>
                        <a:rPr lang="en-US" sz="1600" err="1">
                          <a:latin typeface="Arial" panose="020B0604020202020204" pitchFamily="34" charset="0"/>
                          <a:cs typeface="Arial" panose="020B0604020202020204" pitchFamily="34" charset="0"/>
                        </a:rPr>
                        <a:t>médias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comme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parténaires</a:t>
                      </a:r>
                      <a:r>
                        <a:rPr lang="en-US" sz="1600">
                          <a:latin typeface="Arial" panose="020B0604020202020204" pitchFamily="34" charset="0"/>
                          <a:cs typeface="Arial" panose="020B0604020202020204" pitchFamily="34" charset="0"/>
                        </a:rPr>
                        <a:t> non </a:t>
                      </a:r>
                      <a:r>
                        <a:rPr lang="en-US" sz="1600" err="1">
                          <a:latin typeface="Arial" panose="020B0604020202020204" pitchFamily="34" charset="0"/>
                          <a:cs typeface="Arial" panose="020B0604020202020204" pitchFamily="34" charset="0"/>
                        </a:rPr>
                        <a:t>traditionnel</a:t>
                      </a:r>
                      <a:endParaRPr lang="en-US" sz="1600">
                        <a:latin typeface="Arial" panose="020B0604020202020204" pitchFamily="34" charset="0"/>
                        <a:cs typeface="Arial" panose="020B0604020202020204" pitchFamily="34" charset="0"/>
                      </a:endParaRPr>
                    </a:p>
                    <a:p>
                      <a:pPr marL="285750" lvl="0" indent="-285750">
                        <a:buFont typeface="Calibri"/>
                        <a:buChar char="-"/>
                      </a:pPr>
                      <a:r>
                        <a:rPr lang="en-US" sz="1600">
                          <a:latin typeface="Arial" panose="020B0604020202020204" pitchFamily="34" charset="0"/>
                          <a:cs typeface="Arial" panose="020B0604020202020204" pitchFamily="34" charset="0"/>
                        </a:rPr>
                        <a:t>Mise à disposition </a:t>
                      </a:r>
                      <a:r>
                        <a:rPr lang="en-US" sz="1600" err="1">
                          <a:latin typeface="Arial" panose="020B0604020202020204" pitchFamily="34" charset="0"/>
                          <a:cs typeface="Arial" panose="020B0604020202020204" pitchFamily="34" charset="0"/>
                        </a:rPr>
                        <a:t>d'une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agence</a:t>
                      </a:r>
                      <a:r>
                        <a:rPr lang="en-US" sz="1600">
                          <a:latin typeface="Arial" panose="020B0604020202020204" pitchFamily="34" charset="0"/>
                          <a:cs typeface="Arial" panose="020B0604020202020204" pitchFamily="34" charset="0"/>
                        </a:rPr>
                        <a:t> de communication pour </a:t>
                      </a:r>
                      <a:r>
                        <a:rPr lang="en-US" sz="1600" err="1">
                          <a:latin typeface="Arial" panose="020B0604020202020204" pitchFamily="34" charset="0"/>
                          <a:cs typeface="Arial" panose="020B0604020202020204" pitchFamily="34" charset="0"/>
                        </a:rPr>
                        <a:t>appuyer</a:t>
                      </a:r>
                      <a:r>
                        <a:rPr lang="en-US" sz="1600">
                          <a:latin typeface="Arial" panose="020B0604020202020204" pitchFamily="34" charset="0"/>
                          <a:cs typeface="Arial" panose="020B0604020202020204" pitchFamily="34" charset="0"/>
                        </a:rPr>
                        <a:t> les pays dans la </a:t>
                      </a:r>
                      <a:r>
                        <a:rPr lang="en-US" sz="1600" err="1">
                          <a:latin typeface="Arial" panose="020B0604020202020204" pitchFamily="34" charset="0"/>
                          <a:cs typeface="Arial" panose="020B0604020202020204" pitchFamily="34" charset="0"/>
                        </a:rPr>
                        <a:t>traduction</a:t>
                      </a:r>
                      <a:r>
                        <a:rPr lang="en-US" sz="1600">
                          <a:latin typeface="Arial" panose="020B0604020202020204" pitchFamily="34" charset="0"/>
                          <a:cs typeface="Arial" panose="020B0604020202020204" pitchFamily="34" charset="0"/>
                        </a:rPr>
                        <a:t> des </a:t>
                      </a:r>
                      <a:r>
                        <a:rPr lang="en-US" sz="1600" err="1">
                          <a:latin typeface="Arial" panose="020B0604020202020204" pitchFamily="34" charset="0"/>
                          <a:cs typeface="Arial" panose="020B0604020202020204" pitchFamily="34" charset="0"/>
                        </a:rPr>
                        <a:t>outils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en</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langues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96573703"/>
                  </a:ext>
                </a:extLst>
              </a:tr>
              <a:tr h="801995">
                <a:tc>
                  <a:txBody>
                    <a:bodyPr/>
                    <a:lstStyle/>
                    <a:p>
                      <a:pPr marL="0" marR="0" lvl="0" indent="0" algn="l" rtl="0" eaLnBrk="1" fontAlgn="auto" latinLnBrk="0" hangingPunct="1">
                        <a:lnSpc>
                          <a:spcPct val="100000"/>
                        </a:lnSpc>
                        <a:spcBef>
                          <a:spcPts val="0"/>
                        </a:spcBef>
                        <a:spcAft>
                          <a:spcPts val="0"/>
                        </a:spcAft>
                        <a:buClrTx/>
                        <a:buSzTx/>
                        <a:buFontTx/>
                        <a:buNone/>
                      </a:pPr>
                      <a:r>
                        <a:rPr lang="fr" sz="1600">
                          <a:latin typeface="Arial" panose="020B0604020202020204" pitchFamily="34" charset="0"/>
                          <a:ea typeface="Calibri"/>
                          <a:cs typeface="Arial" panose="020B0604020202020204" pitchFamily="34" charset="0"/>
                        </a:rPr>
                        <a:t>Rupture de VAP dans certaines ZS lors des activites </a:t>
                      </a:r>
                      <a:r>
                        <a:rPr lang="fr" sz="1600">
                          <a:latin typeface="Arial" panose="020B0604020202020204" pitchFamily="34" charset="0"/>
                          <a:cs typeface="Arial" panose="020B0604020202020204" pitchFamily="34" charset="0"/>
                        </a:rPr>
                        <a:t>de Big Catch Up.</a:t>
                      </a:r>
                      <a:endParaRPr lang="en-US" sz="1600">
                        <a:latin typeface="Arial" panose="020B0604020202020204" pitchFamily="34" charset="0"/>
                        <a:cs typeface="Arial" panose="020B0604020202020204" pitchFamily="34" charset="0"/>
                      </a:endParaRPr>
                    </a:p>
                  </a:txBody>
                  <a:tcPr/>
                </a:tc>
                <a:tc>
                  <a:txBody>
                    <a:bodyPr/>
                    <a:lstStyle/>
                    <a:p>
                      <a:r>
                        <a:rPr lang="fr-FR" sz="1600" b="0" i="0" u="none" strike="noStrike" kern="1200">
                          <a:solidFill>
                            <a:srgbClr val="000000"/>
                          </a:solidFill>
                          <a:latin typeface="Arial" panose="020B0604020202020204" pitchFamily="34" charset="0"/>
                          <a:ea typeface="+mn-ea"/>
                          <a:cs typeface="Arial" panose="020B0604020202020204" pitchFamily="34" charset="0"/>
                        </a:rPr>
                        <a:t>Echange avec les MCA des provinces concernées et  briefing des prestataires lors des visites de suivi post introduction sur la cible VAP et la cohorte 6-11 mois</a:t>
                      </a:r>
                    </a:p>
                  </a:txBody>
                  <a:tcPr/>
                </a:tc>
                <a:extLst>
                  <a:ext uri="{0D108BD9-81ED-4DB2-BD59-A6C34878D82A}">
                    <a16:rowId xmlns:a16="http://schemas.microsoft.com/office/drawing/2014/main" val="775885217"/>
                  </a:ext>
                </a:extLst>
              </a:tr>
              <a:tr h="1390568">
                <a:tc>
                  <a:txBody>
                    <a:bodyPr/>
                    <a:lstStyle/>
                    <a:p>
                      <a:pPr marL="0" marR="0" lvl="0" indent="0" algn="l" rtl="0" eaLnBrk="1" fontAlgn="auto" latinLnBrk="0" hangingPunct="1">
                        <a:lnSpc>
                          <a:spcPct val="100000"/>
                        </a:lnSpc>
                        <a:spcBef>
                          <a:spcPts val="0"/>
                        </a:spcBef>
                        <a:spcAft>
                          <a:spcPts val="0"/>
                        </a:spcAft>
                        <a:buClrTx/>
                        <a:buSzTx/>
                        <a:buFontTx/>
                        <a:buNone/>
                      </a:pPr>
                      <a:r>
                        <a:rPr lang="fr-FR" sz="1800" b="0" i="0" u="none" strike="noStrike" kern="1200">
                          <a:solidFill>
                            <a:schemeClr val="dk1"/>
                          </a:solidFill>
                          <a:effectLst/>
                          <a:latin typeface="+mn-lt"/>
                          <a:ea typeface="+mn-ea"/>
                          <a:cs typeface="+mn-cs"/>
                        </a:rPr>
                        <a:t> </a:t>
                      </a:r>
                      <a:r>
                        <a:rPr lang="fr-FR" sz="1600" kern="1200">
                          <a:solidFill>
                            <a:schemeClr val="dk1"/>
                          </a:solidFill>
                          <a:latin typeface="Arial" panose="020B0604020202020204" pitchFamily="34" charset="0"/>
                          <a:ea typeface="Calibri"/>
                          <a:cs typeface="Arial" panose="020B0604020202020204" pitchFamily="34" charset="0"/>
                        </a:rPr>
                        <a:t>Retard dans le déploiement des outils dans certaines provinces, ressources limitées pour reproduction, quantités insuffisantes dans certaines provinces. Faible qualité des données</a:t>
                      </a:r>
                      <a:endParaRPr lang="en-US" sz="1600" kern="1200">
                        <a:solidFill>
                          <a:schemeClr val="dk1"/>
                        </a:solidFill>
                        <a:latin typeface="Arial" panose="020B0604020202020204" pitchFamily="34" charset="0"/>
                        <a:ea typeface="Calibri"/>
                        <a:cs typeface="Arial" panose="020B0604020202020204" pitchFamily="34" charset="0"/>
                      </a:endParaRPr>
                    </a:p>
                  </a:txBody>
                  <a:tcPr/>
                </a:tc>
                <a:tc>
                  <a:txBody>
                    <a:bodyPr/>
                    <a:lstStyle/>
                    <a:p>
                      <a:r>
                        <a:rPr lang="en-US" sz="1600" b="0" i="0" u="none" strike="noStrike" kern="1200" err="1">
                          <a:solidFill>
                            <a:srgbClr val="000000"/>
                          </a:solidFill>
                          <a:latin typeface="Arial" panose="020B0604020202020204" pitchFamily="34" charset="0"/>
                          <a:ea typeface="+mn-ea"/>
                          <a:cs typeface="Arial" panose="020B0604020202020204" pitchFamily="34" charset="0"/>
                        </a:rPr>
                        <a:t>Utilisation</a:t>
                      </a:r>
                      <a:r>
                        <a:rPr lang="en-US" sz="1600" b="0" i="0" u="none" strike="noStrike" kern="1200">
                          <a:solidFill>
                            <a:srgbClr val="000000"/>
                          </a:solidFill>
                          <a:latin typeface="Arial" panose="020B0604020202020204" pitchFamily="34" charset="0"/>
                          <a:ea typeface="+mn-ea"/>
                          <a:cs typeface="Arial" panose="020B0604020202020204" pitchFamily="34" charset="0"/>
                        </a:rPr>
                        <a:t> des </a:t>
                      </a:r>
                      <a:r>
                        <a:rPr lang="en-US" sz="1600" b="0" i="0" u="none" strike="noStrike" kern="1200" err="1">
                          <a:solidFill>
                            <a:srgbClr val="000000"/>
                          </a:solidFill>
                          <a:latin typeface="Arial" panose="020B0604020202020204" pitchFamily="34" charset="0"/>
                          <a:ea typeface="+mn-ea"/>
                          <a:cs typeface="Arial" panose="020B0604020202020204" pitchFamily="34" charset="0"/>
                        </a:rPr>
                        <a:t>anciens</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outils</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en</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ajoutant</a:t>
                      </a:r>
                      <a:r>
                        <a:rPr lang="en-US" sz="1600" b="0" i="0" u="none" strike="noStrike" kern="1200">
                          <a:solidFill>
                            <a:srgbClr val="000000"/>
                          </a:solidFill>
                          <a:latin typeface="Arial" panose="020B0604020202020204" pitchFamily="34" charset="0"/>
                          <a:ea typeface="+mn-ea"/>
                          <a:cs typeface="Arial" panose="020B0604020202020204" pitchFamily="34" charset="0"/>
                        </a:rPr>
                        <a:t> les données VAP </a:t>
                      </a:r>
                      <a:r>
                        <a:rPr lang="en-US" sz="1600" b="0" i="0" u="none" strike="noStrike" kern="1200" err="1">
                          <a:solidFill>
                            <a:srgbClr val="000000"/>
                          </a:solidFill>
                          <a:latin typeface="Arial" panose="020B0604020202020204" pitchFamily="34" charset="0"/>
                          <a:ea typeface="+mn-ea"/>
                          <a:cs typeface="Arial" panose="020B0604020202020204" pitchFamily="34" charset="0"/>
                        </a:rPr>
                        <a:t>manuellement</a:t>
                      </a:r>
                      <a:endParaRPr lang="fr-FR" sz="1600" b="0" i="0" u="none" strike="noStrike" kern="1200">
                        <a:solidFill>
                          <a:srgbClr val="000000"/>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70041252"/>
                  </a:ext>
                </a:extLst>
              </a:tr>
            </a:tbl>
          </a:graphicData>
        </a:graphic>
      </p:graphicFrame>
    </p:spTree>
    <p:extLst>
      <p:ext uri="{BB962C8B-B14F-4D97-AF65-F5344CB8AC3E}">
        <p14:creationId xmlns:p14="http://schemas.microsoft.com/office/powerpoint/2010/main" val="1150169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et engagements pour 2026</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 (VAP)</a:t>
            </a:r>
            <a:endPar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3E7CB57C-0E54-579F-6396-2F40A8B24BE1}"/>
              </a:ext>
            </a:extLst>
          </p:cNvPr>
          <p:cNvSpPr txBox="1"/>
          <p:nvPr/>
        </p:nvSpPr>
        <p:spPr>
          <a:xfrm>
            <a:off x="267700" y="1049641"/>
            <a:ext cx="11465708" cy="4955203"/>
          </a:xfrm>
          <a:prstGeom prst="rect">
            <a:avLst/>
          </a:prstGeom>
          <a:noFill/>
        </p:spPr>
        <p:txBody>
          <a:bodyPr wrap="square" rtlCol="0">
            <a:spAutoFit/>
          </a:bodyPr>
          <a:lstStyle/>
          <a:p>
            <a:r>
              <a:rPr lang="en-US" sz="2000" b="1" i="1">
                <a:latin typeface="Arial"/>
                <a:cs typeface="Arial"/>
              </a:rPr>
              <a:t>Si le PEV </a:t>
            </a:r>
            <a:r>
              <a:rPr lang="en-US" sz="2000" b="1" i="1" err="1">
                <a:latin typeface="Arial"/>
                <a:cs typeface="Arial"/>
              </a:rPr>
              <a:t>reconduit</a:t>
            </a:r>
            <a:r>
              <a:rPr lang="en-US" sz="2000" b="1" i="1">
                <a:latin typeface="Arial"/>
                <a:cs typeface="Arial"/>
              </a:rPr>
              <a:t> PATH, nous </a:t>
            </a:r>
            <a:r>
              <a:rPr lang="en-US" sz="2000" b="1" i="1" err="1">
                <a:latin typeface="Arial"/>
                <a:cs typeface="Arial"/>
              </a:rPr>
              <a:t>proposons</a:t>
            </a:r>
            <a:r>
              <a:rPr lang="en-US" sz="2000" b="1" i="1">
                <a:latin typeface="Arial"/>
                <a:cs typeface="Arial"/>
              </a:rPr>
              <a:t> de</a:t>
            </a:r>
            <a:r>
              <a:rPr lang="en-US" sz="2000" i="1">
                <a:latin typeface="Arial"/>
                <a:cs typeface="Arial"/>
              </a:rPr>
              <a:t>:</a:t>
            </a:r>
            <a:endParaRPr lang="en-US" sz="2000">
              <a:latin typeface="Arial"/>
              <a:cs typeface="Arial"/>
            </a:endParaRPr>
          </a:p>
          <a:p>
            <a:endParaRPr lang="en-US" sz="1600">
              <a:latin typeface="Arial"/>
              <a:cs typeface="Arial"/>
            </a:endParaRPr>
          </a:p>
          <a:p>
            <a:pPr marL="285750" indent="-285750">
              <a:buFont typeface="Arial,Sans-Serif"/>
              <a:buChar char="•"/>
            </a:pPr>
            <a:r>
              <a:rPr lang="en-US" sz="2000" err="1">
                <a:latin typeface="Arial"/>
                <a:cs typeface="Arial"/>
              </a:rPr>
              <a:t>Poursuivre</a:t>
            </a:r>
            <a:r>
              <a:rPr lang="en-US" sz="2000">
                <a:latin typeface="Arial"/>
                <a:cs typeface="Arial"/>
              </a:rPr>
              <a:t> </a:t>
            </a:r>
            <a:r>
              <a:rPr lang="en-US" sz="2000" err="1">
                <a:latin typeface="Arial"/>
                <a:cs typeface="Arial"/>
              </a:rPr>
              <a:t>l'accompagnement</a:t>
            </a:r>
            <a:r>
              <a:rPr lang="en-US" sz="2000">
                <a:latin typeface="Arial"/>
                <a:cs typeface="Arial"/>
              </a:rPr>
              <a:t> pour la mise à </a:t>
            </a:r>
            <a:r>
              <a:rPr lang="en-US" sz="2000" err="1">
                <a:latin typeface="Arial"/>
                <a:cs typeface="Arial"/>
              </a:rPr>
              <a:t>l'échelle</a:t>
            </a:r>
            <a:r>
              <a:rPr lang="en-US" sz="2000">
                <a:latin typeface="Arial"/>
                <a:cs typeface="Arial"/>
              </a:rPr>
              <a:t> du VAP </a:t>
            </a:r>
            <a:r>
              <a:rPr lang="en-US" sz="2000" err="1">
                <a:latin typeface="Arial"/>
                <a:cs typeface="Arial"/>
              </a:rPr>
              <a:t>en</a:t>
            </a:r>
            <a:r>
              <a:rPr lang="en-US" sz="2000">
                <a:latin typeface="Arial"/>
                <a:cs typeface="Arial"/>
              </a:rPr>
              <a:t> RDC.</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Poursuivre</a:t>
            </a:r>
            <a:r>
              <a:rPr lang="en-US" sz="2000">
                <a:latin typeface="Arial"/>
                <a:cs typeface="Arial"/>
              </a:rPr>
              <a:t> </a:t>
            </a:r>
            <a:r>
              <a:rPr lang="en-US" sz="2000" err="1">
                <a:latin typeface="Arial"/>
                <a:cs typeface="Arial"/>
              </a:rPr>
              <a:t>l’accompagnement</a:t>
            </a:r>
            <a:r>
              <a:rPr lang="en-US" sz="2000">
                <a:latin typeface="Arial"/>
                <a:cs typeface="Arial"/>
              </a:rPr>
              <a:t> du PEV pour mobiliser des </a:t>
            </a:r>
            <a:r>
              <a:rPr lang="en-US" sz="2000" err="1">
                <a:latin typeface="Arial"/>
                <a:cs typeface="Arial"/>
              </a:rPr>
              <a:t>ressources</a:t>
            </a:r>
            <a:r>
              <a:rPr lang="en-US" sz="2000">
                <a:latin typeface="Arial"/>
                <a:cs typeface="Arial"/>
              </a:rPr>
              <a:t> </a:t>
            </a:r>
            <a:r>
              <a:rPr lang="en-US" sz="2000" err="1">
                <a:latin typeface="Arial"/>
                <a:cs typeface="Arial"/>
              </a:rPr>
              <a:t>additionnelles</a:t>
            </a:r>
            <a:r>
              <a:rPr lang="en-US" sz="2000">
                <a:latin typeface="Arial"/>
                <a:cs typeface="Arial"/>
              </a:rPr>
              <a:t> </a:t>
            </a:r>
            <a:r>
              <a:rPr lang="en-US" sz="2000" err="1">
                <a:latin typeface="Arial"/>
                <a:cs typeface="Arial"/>
              </a:rPr>
              <a:t>afin</a:t>
            </a:r>
            <a:r>
              <a:rPr lang="en-US" sz="2000">
                <a:latin typeface="Arial"/>
                <a:cs typeface="Arial"/>
              </a:rPr>
              <a:t> de </a:t>
            </a:r>
            <a:r>
              <a:rPr lang="en-US" sz="2000" err="1">
                <a:latin typeface="Arial"/>
                <a:cs typeface="Arial"/>
              </a:rPr>
              <a:t>couvrir</a:t>
            </a:r>
            <a:r>
              <a:rPr lang="en-US" sz="2000">
                <a:latin typeface="Arial"/>
                <a:cs typeface="Arial"/>
              </a:rPr>
              <a:t> le </a:t>
            </a:r>
            <a:r>
              <a:rPr lang="en-US" sz="2000" err="1">
                <a:latin typeface="Arial"/>
                <a:cs typeface="Arial"/>
              </a:rPr>
              <a:t>déficit</a:t>
            </a:r>
            <a:r>
              <a:rPr lang="en-US" sz="2000">
                <a:latin typeface="Arial"/>
                <a:cs typeface="Arial"/>
              </a:rPr>
              <a:t> de 78 zones de santé à </a:t>
            </a:r>
            <a:r>
              <a:rPr lang="en-US" sz="2000" err="1">
                <a:latin typeface="Arial"/>
                <a:cs typeface="Arial"/>
              </a:rPr>
              <a:t>faible</a:t>
            </a:r>
            <a:r>
              <a:rPr lang="en-US" sz="2000">
                <a:latin typeface="Arial"/>
                <a:cs typeface="Arial"/>
              </a:rPr>
              <a:t> impact sur </a:t>
            </a:r>
            <a:r>
              <a:rPr lang="en-US" sz="2000" err="1">
                <a:latin typeface="Arial"/>
                <a:cs typeface="Arial"/>
              </a:rPr>
              <a:t>l’équité</a:t>
            </a:r>
            <a:r>
              <a:rPr lang="en-US" sz="2000">
                <a:latin typeface="Arial"/>
                <a:cs typeface="Arial"/>
              </a:rPr>
              <a:t>.</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Apporter</a:t>
            </a:r>
            <a:r>
              <a:rPr lang="en-US" sz="2000">
                <a:latin typeface="Arial"/>
                <a:cs typeface="Arial"/>
              </a:rPr>
              <a:t> un </a:t>
            </a:r>
            <a:r>
              <a:rPr lang="en-US" sz="2000" err="1">
                <a:latin typeface="Arial"/>
                <a:cs typeface="Arial"/>
              </a:rPr>
              <a:t>soutien</a:t>
            </a:r>
            <a:r>
              <a:rPr lang="en-US" sz="2000">
                <a:latin typeface="Arial"/>
                <a:cs typeface="Arial"/>
              </a:rPr>
              <a:t> aux </a:t>
            </a:r>
            <a:r>
              <a:rPr lang="en-US" sz="2000" err="1">
                <a:latin typeface="Arial"/>
                <a:cs typeface="Arial"/>
              </a:rPr>
              <a:t>antennes</a:t>
            </a:r>
            <a:r>
              <a:rPr lang="en-US" sz="2000">
                <a:latin typeface="Arial"/>
                <a:cs typeface="Arial"/>
              </a:rPr>
              <a:t> et aux zones de santé pour </a:t>
            </a:r>
            <a:r>
              <a:rPr lang="en-US" sz="2000" err="1">
                <a:latin typeface="Arial"/>
                <a:cs typeface="Arial"/>
              </a:rPr>
              <a:t>améliorer</a:t>
            </a:r>
            <a:r>
              <a:rPr lang="en-US" sz="2000">
                <a:latin typeface="Arial"/>
                <a:cs typeface="Arial"/>
              </a:rPr>
              <a:t> la </a:t>
            </a:r>
            <a:r>
              <a:rPr lang="en-US" sz="2000" err="1">
                <a:latin typeface="Arial"/>
                <a:cs typeface="Arial"/>
              </a:rPr>
              <a:t>qualité</a:t>
            </a:r>
            <a:r>
              <a:rPr lang="en-US" sz="2000">
                <a:latin typeface="Arial"/>
                <a:cs typeface="Arial"/>
              </a:rPr>
              <a:t> et </a:t>
            </a:r>
            <a:r>
              <a:rPr lang="en-US" sz="2000" err="1">
                <a:latin typeface="Arial"/>
                <a:cs typeface="Arial"/>
              </a:rPr>
              <a:t>l'utilisation</a:t>
            </a:r>
            <a:r>
              <a:rPr lang="en-US" sz="2000">
                <a:latin typeface="Arial"/>
                <a:cs typeface="Arial"/>
              </a:rPr>
              <a:t> des données de vaccination dans le cadre de la </a:t>
            </a:r>
            <a:r>
              <a:rPr lang="en-US" sz="2000" err="1">
                <a:latin typeface="Arial"/>
                <a:cs typeface="Arial"/>
              </a:rPr>
              <a:t>prise</a:t>
            </a:r>
            <a:r>
              <a:rPr lang="en-US" sz="2000">
                <a:latin typeface="Arial"/>
                <a:cs typeface="Arial"/>
              </a:rPr>
              <a:t> de </a:t>
            </a:r>
            <a:r>
              <a:rPr lang="en-US" sz="2000" err="1">
                <a:latin typeface="Arial"/>
                <a:cs typeface="Arial"/>
              </a:rPr>
              <a:t>décision</a:t>
            </a:r>
            <a:r>
              <a:rPr lang="en-US" sz="2000">
                <a:latin typeface="Arial"/>
                <a:cs typeface="Arial"/>
              </a:rPr>
              <a:t>.</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Renforcer</a:t>
            </a:r>
            <a:r>
              <a:rPr lang="en-US" sz="2000">
                <a:latin typeface="Arial"/>
                <a:cs typeface="Arial"/>
              </a:rPr>
              <a:t> </a:t>
            </a:r>
            <a:r>
              <a:rPr lang="en-US" sz="2000" err="1">
                <a:latin typeface="Arial"/>
                <a:cs typeface="Arial"/>
              </a:rPr>
              <a:t>l’appui</a:t>
            </a:r>
            <a:r>
              <a:rPr lang="en-US" sz="2000">
                <a:latin typeface="Arial"/>
                <a:cs typeface="Arial"/>
              </a:rPr>
              <a:t> pour </a:t>
            </a:r>
            <a:r>
              <a:rPr lang="en-US" sz="2000" err="1">
                <a:latin typeface="Arial"/>
                <a:cs typeface="Arial"/>
              </a:rPr>
              <a:t>l’extension</a:t>
            </a:r>
            <a:r>
              <a:rPr lang="en-US" sz="2000">
                <a:latin typeface="Arial"/>
                <a:cs typeface="Arial"/>
              </a:rPr>
              <a:t> des </a:t>
            </a:r>
            <a:r>
              <a:rPr lang="en-US" sz="2000" err="1">
                <a:latin typeface="Arial"/>
                <a:cs typeface="Arial"/>
              </a:rPr>
              <a:t>approches</a:t>
            </a:r>
            <a:r>
              <a:rPr lang="en-US" sz="2000">
                <a:latin typeface="Arial"/>
                <a:cs typeface="Arial"/>
              </a:rPr>
              <a:t> </a:t>
            </a:r>
            <a:r>
              <a:rPr lang="en-US" sz="2000" err="1">
                <a:latin typeface="Arial"/>
                <a:cs typeface="Arial"/>
              </a:rPr>
              <a:t>innovantes</a:t>
            </a:r>
            <a:r>
              <a:rPr lang="en-US" sz="2000">
                <a:latin typeface="Arial"/>
                <a:cs typeface="Arial"/>
              </a:rPr>
              <a:t> </a:t>
            </a:r>
            <a:r>
              <a:rPr lang="en-US" sz="2000" err="1">
                <a:latin typeface="Arial"/>
                <a:cs typeface="Arial"/>
              </a:rPr>
              <a:t>en</a:t>
            </a:r>
            <a:r>
              <a:rPr lang="en-US" sz="2000">
                <a:latin typeface="Arial"/>
                <a:cs typeface="Arial"/>
              </a:rPr>
              <a:t> </a:t>
            </a:r>
            <a:r>
              <a:rPr lang="en-US" sz="2000" err="1">
                <a:latin typeface="Arial"/>
                <a:cs typeface="Arial"/>
              </a:rPr>
              <a:t>faveur</a:t>
            </a:r>
            <a:r>
              <a:rPr lang="en-US" sz="2000">
                <a:latin typeface="Arial"/>
                <a:cs typeface="Arial"/>
              </a:rPr>
              <a:t> de la promotion et de </a:t>
            </a:r>
            <a:r>
              <a:rPr lang="en-US" sz="2000" err="1">
                <a:latin typeface="Arial"/>
                <a:cs typeface="Arial"/>
              </a:rPr>
              <a:t>l'engagement</a:t>
            </a:r>
            <a:r>
              <a:rPr lang="en-US" sz="2000">
                <a:latin typeface="Arial"/>
                <a:cs typeface="Arial"/>
              </a:rPr>
              <a:t> </a:t>
            </a:r>
            <a:r>
              <a:rPr lang="en-US" sz="2000" err="1">
                <a:latin typeface="Arial"/>
                <a:cs typeface="Arial"/>
              </a:rPr>
              <a:t>communautaire</a:t>
            </a:r>
            <a:r>
              <a:rPr lang="en-US" sz="2000">
                <a:latin typeface="Arial"/>
                <a:cs typeface="Arial"/>
              </a:rPr>
              <a:t> des </a:t>
            </a:r>
            <a:r>
              <a:rPr lang="en-US" sz="2000" err="1">
                <a:latin typeface="Arial"/>
                <a:cs typeface="Arial"/>
              </a:rPr>
              <a:t>acteurs</a:t>
            </a:r>
            <a:r>
              <a:rPr lang="en-US" sz="2000">
                <a:latin typeface="Arial"/>
                <a:cs typeface="Arial"/>
              </a:rPr>
              <a:t> </a:t>
            </a:r>
            <a:r>
              <a:rPr lang="en-US" sz="2000" err="1">
                <a:latin typeface="Arial"/>
                <a:cs typeface="Arial"/>
              </a:rPr>
              <a:t>locaux</a:t>
            </a:r>
            <a:r>
              <a:rPr lang="en-US" sz="2000">
                <a:latin typeface="Arial"/>
                <a:cs typeface="Arial"/>
              </a:rPr>
              <a:t> </a:t>
            </a:r>
            <a:r>
              <a:rPr lang="en-US" sz="2000" err="1">
                <a:latin typeface="Arial"/>
                <a:cs typeface="Arial"/>
              </a:rPr>
              <a:t>afin</a:t>
            </a:r>
            <a:r>
              <a:rPr lang="en-US" sz="2000">
                <a:latin typeface="Arial"/>
                <a:cs typeface="Arial"/>
              </a:rPr>
              <a:t> de </a:t>
            </a:r>
            <a:r>
              <a:rPr lang="en-US" sz="2000" err="1">
                <a:latin typeface="Arial"/>
                <a:cs typeface="Arial"/>
              </a:rPr>
              <a:t>réduire</a:t>
            </a:r>
            <a:r>
              <a:rPr lang="en-US" sz="2000">
                <a:latin typeface="Arial"/>
                <a:cs typeface="Arial"/>
              </a:rPr>
              <a:t> les </a:t>
            </a:r>
            <a:r>
              <a:rPr lang="en-US" sz="2000" err="1">
                <a:latin typeface="Arial"/>
                <a:cs typeface="Arial"/>
              </a:rPr>
              <a:t>taux</a:t>
            </a:r>
            <a:r>
              <a:rPr lang="en-US" sz="2000">
                <a:latin typeface="Arial"/>
                <a:cs typeface="Arial"/>
              </a:rPr>
              <a:t> </a:t>
            </a:r>
            <a:r>
              <a:rPr lang="en-US" sz="2000" err="1">
                <a:latin typeface="Arial"/>
                <a:cs typeface="Arial"/>
              </a:rPr>
              <a:t>d’abandon</a:t>
            </a:r>
            <a:r>
              <a:rPr lang="en-US" sz="2000">
                <a:latin typeface="Arial"/>
                <a:cs typeface="Arial"/>
              </a:rPr>
              <a:t> entre les doses et </a:t>
            </a:r>
            <a:r>
              <a:rPr lang="en-US" sz="2000" err="1">
                <a:latin typeface="Arial"/>
                <a:cs typeface="Arial"/>
              </a:rPr>
              <a:t>d'identifier</a:t>
            </a:r>
            <a:r>
              <a:rPr lang="en-US" sz="2000">
                <a:latin typeface="Arial"/>
                <a:cs typeface="Arial"/>
              </a:rPr>
              <a:t> les enfants sous-</a:t>
            </a:r>
            <a:r>
              <a:rPr lang="en-US" sz="2000" err="1">
                <a:latin typeface="Arial"/>
                <a:cs typeface="Arial"/>
              </a:rPr>
              <a:t>vaccinés</a:t>
            </a:r>
            <a:r>
              <a:rPr lang="en-US" sz="2000">
                <a:latin typeface="Arial"/>
                <a:cs typeface="Arial"/>
              </a:rPr>
              <a:t> et non </a:t>
            </a:r>
            <a:r>
              <a:rPr lang="en-US" sz="2000" err="1">
                <a:latin typeface="Arial"/>
                <a:cs typeface="Arial"/>
              </a:rPr>
              <a:t>vaccinés</a:t>
            </a:r>
            <a:r>
              <a:rPr lang="en-US" sz="2000">
                <a:latin typeface="Arial"/>
                <a:cs typeface="Arial"/>
              </a:rPr>
              <a:t> ;</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Appuyer</a:t>
            </a:r>
            <a:r>
              <a:rPr lang="en-US" sz="2000">
                <a:latin typeface="Arial"/>
                <a:cs typeface="Arial"/>
              </a:rPr>
              <a:t> la documentation des </a:t>
            </a:r>
            <a:r>
              <a:rPr lang="en-US" sz="2000" err="1">
                <a:latin typeface="Arial"/>
                <a:cs typeface="Arial"/>
              </a:rPr>
              <a:t>bonnes</a:t>
            </a:r>
            <a:r>
              <a:rPr lang="en-US" sz="2000">
                <a:latin typeface="Arial"/>
                <a:cs typeface="Arial"/>
              </a:rPr>
              <a:t> pratiques, le partage des </a:t>
            </a:r>
            <a:r>
              <a:rPr lang="en-US" sz="2000" err="1">
                <a:latin typeface="Arial"/>
                <a:cs typeface="Arial"/>
              </a:rPr>
              <a:t>leçons</a:t>
            </a:r>
            <a:r>
              <a:rPr lang="en-US" sz="2000">
                <a:latin typeface="Arial"/>
                <a:cs typeface="Arial"/>
              </a:rPr>
              <a:t> apprises et des </a:t>
            </a:r>
            <a:r>
              <a:rPr lang="en-US" sz="2000" err="1">
                <a:latin typeface="Arial"/>
                <a:cs typeface="Arial"/>
              </a:rPr>
              <a:t>résultats</a:t>
            </a:r>
            <a:r>
              <a:rPr lang="en-US" sz="2000">
                <a:latin typeface="Arial"/>
                <a:cs typeface="Arial"/>
              </a:rPr>
              <a:t> </a:t>
            </a:r>
            <a:r>
              <a:rPr lang="en-US" sz="2000" err="1">
                <a:latin typeface="Arial"/>
                <a:cs typeface="Arial"/>
              </a:rPr>
              <a:t>clés</a:t>
            </a:r>
            <a:r>
              <a:rPr lang="en-US" sz="2000">
                <a:latin typeface="Arial"/>
                <a:cs typeface="Arial"/>
              </a:rPr>
              <a:t> </a:t>
            </a:r>
            <a:r>
              <a:rPr lang="en-US" sz="2000" err="1">
                <a:latin typeface="Arial"/>
                <a:cs typeface="Arial"/>
              </a:rPr>
              <a:t>obtenus</a:t>
            </a:r>
            <a:r>
              <a:rPr lang="en-US" sz="2000">
                <a:latin typeface="Arial"/>
                <a:cs typeface="Arial"/>
              </a:rPr>
              <a:t> par le PEV.</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et engagements pour 2026 (</a:t>
            </a:r>
            <a:r>
              <a:rPr lang="fr-BE" sz="2700">
                <a:solidFill>
                  <a:srgbClr val="1155CC"/>
                </a:solidFill>
                <a:latin typeface="Times New Roman" panose="02020603050405020304"/>
                <a:cs typeface="Times New Roman" panose="02020603050405020304"/>
              </a:rPr>
              <a:t>ZDLA HCD) </a:t>
            </a: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3AF75C01-2B04-5FF3-0F7C-8DA49845D684}"/>
              </a:ext>
            </a:extLst>
          </p:cNvPr>
          <p:cNvSpPr txBox="1"/>
          <p:nvPr/>
        </p:nvSpPr>
        <p:spPr>
          <a:xfrm>
            <a:off x="386080" y="1049641"/>
            <a:ext cx="10922000" cy="4401205"/>
          </a:xfrm>
          <a:prstGeom prst="rect">
            <a:avLst/>
          </a:prstGeom>
          <a:noFill/>
        </p:spPr>
        <p:txBody>
          <a:bodyPr wrap="square" rtlCol="0">
            <a:spAutoFit/>
          </a:bodyPr>
          <a:lstStyle/>
          <a:p>
            <a:pPr marL="342900" indent="-342900">
              <a:lnSpc>
                <a:spcPct val="150000"/>
              </a:lnSpc>
              <a:spcBef>
                <a:spcPts val="600"/>
              </a:spcBef>
              <a:buFont typeface="Wingdings" panose="05000000000000000000" pitchFamily="2" charset="2"/>
              <a:buChar char="§"/>
            </a:pPr>
            <a:r>
              <a:rPr lang="fr-BE" sz="2400">
                <a:latin typeface="Arial" panose="020B0604020202020204" pitchFamily="34" charset="0"/>
                <a:cs typeface="Arial" panose="020B0604020202020204" pitchFamily="34" charset="0"/>
              </a:rPr>
              <a:t>Procéder à la consolidation des interventions mures pour le passage à l’échelle ;</a:t>
            </a:r>
            <a:endParaRPr lang="en-US" sz="2400">
              <a:latin typeface="Arial" panose="020B0604020202020204" pitchFamily="34" charset="0"/>
              <a:cs typeface="Arial" panose="020B0604020202020204" pitchFamily="34" charset="0"/>
            </a:endParaRPr>
          </a:p>
          <a:p>
            <a:pPr marL="342900" indent="-342900">
              <a:lnSpc>
                <a:spcPct val="150000"/>
              </a:lnSpc>
              <a:spcBef>
                <a:spcPts val="600"/>
              </a:spcBef>
              <a:buFont typeface="Wingdings" panose="05000000000000000000" pitchFamily="2" charset="2"/>
              <a:buChar char="§"/>
            </a:pPr>
            <a:r>
              <a:rPr lang="fr-FR" sz="2400">
                <a:latin typeface="Arial" panose="020B0604020202020204" pitchFamily="34" charset="0"/>
                <a:cs typeface="Arial" panose="020B0604020202020204" pitchFamily="34" charset="0"/>
              </a:rPr>
              <a:t>L’apprentissage sur les processus HCD-Living </a:t>
            </a:r>
            <a:r>
              <a:rPr lang="fr-FR" sz="2400" err="1">
                <a:latin typeface="Arial" panose="020B0604020202020204" pitchFamily="34" charset="0"/>
                <a:cs typeface="Arial" panose="020B0604020202020204" pitchFamily="34" charset="0"/>
              </a:rPr>
              <a:t>labs</a:t>
            </a:r>
            <a:r>
              <a:rPr lang="fr-FR" sz="2400">
                <a:latin typeface="Arial" panose="020B0604020202020204" pitchFamily="34" charset="0"/>
                <a:cs typeface="Arial" panose="020B0604020202020204" pitchFamily="34" charset="0"/>
              </a:rPr>
              <a:t> sur la programmation des activités de vaccination en routine ;</a:t>
            </a:r>
            <a:endParaRPr lang="en-US" sz="2400">
              <a:latin typeface="Arial" panose="020B0604020202020204" pitchFamily="34" charset="0"/>
              <a:cs typeface="Arial" panose="020B0604020202020204" pitchFamily="34" charset="0"/>
            </a:endParaRPr>
          </a:p>
          <a:p>
            <a:pPr marL="342900" indent="-342900">
              <a:lnSpc>
                <a:spcPct val="150000"/>
              </a:lnSpc>
              <a:spcBef>
                <a:spcPts val="600"/>
              </a:spcBef>
              <a:buFont typeface="Wingdings" panose="05000000000000000000" pitchFamily="2" charset="2"/>
              <a:buChar char="§"/>
            </a:pPr>
            <a:r>
              <a:rPr lang="fr-BE" sz="2400">
                <a:latin typeface="Arial" panose="020B0604020202020204" pitchFamily="34" charset="0"/>
                <a:cs typeface="Arial" panose="020B0604020202020204" pitchFamily="34" charset="0"/>
              </a:rPr>
              <a:t>Mise en échelle dans le contexte de site additionnel présentant les mêmes caractéristiques des causes profondes liées à la persistance des enfants zéro dose ;</a:t>
            </a:r>
            <a:endParaRPr lang="en-US" sz="2400">
              <a:latin typeface="Arial" panose="020B0604020202020204" pitchFamily="34" charset="0"/>
              <a:cs typeface="Arial" panose="020B0604020202020204" pitchFamily="34" charset="0"/>
            </a:endParaRPr>
          </a:p>
          <a:p>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ADC6C2E-8717-D42B-17F0-04DE498A6FE8}"/>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354E4C93-0E49-AE41-8D34-43FB3A016A3C}"/>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400" b="0" i="0" u="none" strike="noStrike" cap="none" err="1">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Priorités</a:t>
            </a:r>
            <a:r>
              <a:rPr lang="en-US" sz="2400" b="0" i="0" u="none" strike="noStrike" cap="none">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 et engagements pour 2026</a:t>
            </a:r>
            <a:r>
              <a:rPr lang="en-US" sz="2400">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 </a:t>
            </a:r>
            <a:r>
              <a:rPr lang="en-US" sz="2400">
                <a:solidFill>
                  <a:srgbClr val="1155CC"/>
                </a:solidFill>
                <a:latin typeface="Arial" panose="020B0604020202020204" pitchFamily="34" charset="0"/>
                <a:cs typeface="Arial" panose="020B0604020202020204" pitchFamily="34" charset="0"/>
                <a:sym typeface="Times New Roman" panose="02020603050405020304"/>
              </a:rPr>
              <a:t>(Plaidoyer et communication </a:t>
            </a:r>
            <a:r>
              <a:rPr lang="en-US" sz="2400" err="1">
                <a:solidFill>
                  <a:srgbClr val="1155CC"/>
                </a:solidFill>
                <a:latin typeface="Arial" panose="020B0604020202020204" pitchFamily="34" charset="0"/>
                <a:cs typeface="Arial" panose="020B0604020202020204" pitchFamily="34" charset="0"/>
                <a:sym typeface="Times New Roman" panose="02020603050405020304"/>
              </a:rPr>
              <a:t>en</a:t>
            </a:r>
            <a:r>
              <a:rPr lang="en-US" sz="2400">
                <a:solidFill>
                  <a:srgbClr val="1155CC"/>
                </a:solidFill>
                <a:latin typeface="Arial" panose="020B0604020202020204" pitchFamily="34" charset="0"/>
                <a:cs typeface="Arial" panose="020B0604020202020204" pitchFamily="34" charset="0"/>
                <a:sym typeface="Times New Roman" panose="02020603050405020304"/>
              </a:rPr>
              <a:t> </a:t>
            </a:r>
            <a:r>
              <a:rPr lang="en-US" sz="2400" err="1">
                <a:solidFill>
                  <a:srgbClr val="1155CC"/>
                </a:solidFill>
                <a:latin typeface="Arial" panose="020B0604020202020204" pitchFamily="34" charset="0"/>
                <a:cs typeface="Arial" panose="020B0604020202020204" pitchFamily="34" charset="0"/>
                <a:sym typeface="Times New Roman" panose="02020603050405020304"/>
              </a:rPr>
              <a:t>faveur</a:t>
            </a:r>
            <a:r>
              <a:rPr lang="en-US" sz="2400">
                <a:solidFill>
                  <a:srgbClr val="1155CC"/>
                </a:solidFill>
                <a:latin typeface="Arial" panose="020B0604020202020204" pitchFamily="34" charset="0"/>
                <a:cs typeface="Arial" panose="020B0604020202020204" pitchFamily="34" charset="0"/>
                <a:sym typeface="Times New Roman" panose="02020603050405020304"/>
              </a:rPr>
              <a:t> de la vaccination)</a:t>
            </a:r>
          </a:p>
          <a:p>
            <a:pPr marL="0" marR="0" lvl="0" indent="0" algn="l" rtl="0">
              <a:lnSpc>
                <a:spcPct val="100000"/>
              </a:lnSpc>
              <a:spcBef>
                <a:spcPts val="0"/>
              </a:spcBef>
              <a:spcAft>
                <a:spcPts val="0"/>
              </a:spcAft>
              <a:buClr>
                <a:schemeClr val="dk1"/>
              </a:buClr>
              <a:buSzPts val="1500"/>
              <a:buFont typeface="Arial" panose="020B0604020202020204"/>
              <a:buNone/>
            </a:pPr>
            <a:endParaRPr sz="2400" b="0" i="0" u="none" strike="noStrike" cap="none">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
        <p:nvSpPr>
          <p:cNvPr id="177" name="Google Shape;177;g3aabd3d1b2d_0_290">
            <a:extLst>
              <a:ext uri="{FF2B5EF4-FFF2-40B4-BE49-F238E27FC236}">
                <a16:creationId xmlns:a16="http://schemas.microsoft.com/office/drawing/2014/main" id="{DD056F3C-2E54-37C2-C3AB-0E10B24E735E}"/>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C3BB8F70-8D16-D088-9A91-FB683D28915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8B5146B4-B9ED-A3F7-26AD-324F261096B4}"/>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56CE3FEB-FF19-3558-3F7A-2C7A3AD5D184}"/>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3" name="TextBox 2">
            <a:extLst>
              <a:ext uri="{FF2B5EF4-FFF2-40B4-BE49-F238E27FC236}">
                <a16:creationId xmlns:a16="http://schemas.microsoft.com/office/drawing/2014/main" id="{16320542-4709-51A8-5F60-9DA5E5E22932}"/>
              </a:ext>
            </a:extLst>
          </p:cNvPr>
          <p:cNvSpPr txBox="1"/>
          <p:nvPr/>
        </p:nvSpPr>
        <p:spPr>
          <a:xfrm>
            <a:off x="538480" y="1209040"/>
            <a:ext cx="9794240" cy="4770537"/>
          </a:xfrm>
          <a:prstGeom prst="rect">
            <a:avLst/>
          </a:prstGeom>
          <a:noFill/>
        </p:spPr>
        <p:txBody>
          <a:bodyPr wrap="square" rtlCol="0">
            <a:spAutoFit/>
          </a:bodyPr>
          <a:lstStyle/>
          <a:p>
            <a:pPr marL="285750" indent="-285750" fontAlgn="t">
              <a:spcBef>
                <a:spcPts val="600"/>
              </a:spcBef>
              <a:buFont typeface="Arial" panose="020B0604020202020204" pitchFamily="34" charset="0"/>
              <a:buChar char="•"/>
            </a:pPr>
            <a:r>
              <a:rPr lang="fr-FR" sz="2000" b="1">
                <a:latin typeface="Arial" panose="020B0604020202020204" pitchFamily="34" charset="0"/>
                <a:cs typeface="Arial" panose="020B0604020202020204" pitchFamily="34" charset="0"/>
              </a:rPr>
              <a:t>Renforcement du plaidoyer et des partenariats</a:t>
            </a:r>
          </a:p>
          <a:p>
            <a:pPr marL="742950" lvl="1"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Mobiliser les influenceurs clés (épouses des gouverneurs, femmes leaders) pour soutenir la vaccination.</a:t>
            </a:r>
          </a:p>
          <a:p>
            <a:pPr marL="742950" lvl="1"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Assurer la mise en œuvre de la feuille de route REPACAV et le suivi des engagements provinciaux (</a:t>
            </a:r>
            <a:r>
              <a:rPr lang="fr-FR" sz="2000" err="1">
                <a:latin typeface="Arial" panose="020B0604020202020204" pitchFamily="34" charset="0"/>
                <a:cs typeface="Arial" panose="020B0604020202020204" pitchFamily="34" charset="0"/>
              </a:rPr>
              <a:t>MoU</a:t>
            </a:r>
            <a:r>
              <a:rPr lang="fr-FR" sz="2000">
                <a:latin typeface="Arial" panose="020B0604020202020204" pitchFamily="34" charset="0"/>
                <a:cs typeface="Arial" panose="020B0604020202020204" pitchFamily="34" charset="0"/>
              </a:rPr>
              <a:t>)</a:t>
            </a:r>
          </a:p>
          <a:p>
            <a:pPr lvl="1" fontAlgn="t">
              <a:spcBef>
                <a:spcPts val="600"/>
              </a:spcBef>
            </a:pPr>
            <a:endParaRPr lang="fr-FR" sz="2000">
              <a:latin typeface="Arial" panose="020B0604020202020204" pitchFamily="34" charset="0"/>
              <a:cs typeface="Arial" panose="020B0604020202020204" pitchFamily="34" charset="0"/>
            </a:endParaRPr>
          </a:p>
          <a:p>
            <a:pPr marL="285750" indent="-285750" fontAlgn="t">
              <a:spcBef>
                <a:spcPts val="600"/>
              </a:spcBef>
              <a:buFont typeface="Arial" panose="020B0604020202020204" pitchFamily="34" charset="0"/>
              <a:buChar char="•"/>
            </a:pPr>
            <a:r>
              <a:rPr lang="fr-FR" sz="2000" b="1">
                <a:latin typeface="Arial" panose="020B0604020202020204" pitchFamily="34" charset="0"/>
                <a:cs typeface="Arial" panose="020B0604020202020204" pitchFamily="34" charset="0"/>
              </a:rPr>
              <a:t>Digitalisation et capitalisation: </a:t>
            </a:r>
            <a:r>
              <a:rPr lang="fr-FR" sz="2000">
                <a:latin typeface="Arial" panose="020B0604020202020204" pitchFamily="34" charset="0"/>
                <a:cs typeface="Arial" panose="020B0604020202020204" pitchFamily="34" charset="0"/>
              </a:rPr>
              <a:t>Développer une stratégie digitale intégrée (campagnes ciblées, outils de communication, animation des pages).</a:t>
            </a:r>
          </a:p>
          <a:p>
            <a:pPr marL="285750" indent="-285750" fontAlgn="t">
              <a:spcBef>
                <a:spcPts val="600"/>
              </a:spcBef>
              <a:buFont typeface="Arial" panose="020B0604020202020204" pitchFamily="34" charset="0"/>
              <a:buChar char="•"/>
            </a:pPr>
            <a:endParaRPr lang="fr-FR" sz="2000">
              <a:latin typeface="Arial" panose="020B0604020202020204" pitchFamily="34" charset="0"/>
              <a:cs typeface="Arial" panose="020B0604020202020204" pitchFamily="34" charset="0"/>
            </a:endParaRPr>
          </a:p>
          <a:p>
            <a:pPr marL="285750"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Appuyer préparer et exécuter le plan de visibilité du 5e Forum national (avant, pendant, après), avec couverture médiatique en temps réel.</a:t>
            </a:r>
          </a:p>
          <a:p>
            <a:pPr lvl="0">
              <a:buClr>
                <a:schemeClr val="dk1"/>
              </a:buClr>
              <a:buSzPts val="1200"/>
            </a:pPr>
            <a:endParaRPr lang="fr-FR"/>
          </a:p>
          <a:p>
            <a:pPr marL="742950" lvl="1" indent="-285750" fontAlgn="t">
              <a:buFont typeface="Arial" panose="020B0604020202020204" pitchFamily="34" charset="0"/>
              <a:buChar char="•"/>
            </a:pPr>
            <a:endParaRPr lang="fr-FR">
              <a:latin typeface="Arial" panose="020B0604020202020204" pitchFamily="34" charset="0"/>
              <a:cs typeface="Arial" panose="020B0604020202020204" pitchFamily="34" charset="0"/>
            </a:endParaRPr>
          </a:p>
          <a:p>
            <a:endParaRPr lang="fr-FR"/>
          </a:p>
        </p:txBody>
      </p:sp>
    </p:spTree>
    <p:extLst>
      <p:ext uri="{BB962C8B-B14F-4D97-AF65-F5344CB8AC3E}">
        <p14:creationId xmlns:p14="http://schemas.microsoft.com/office/powerpoint/2010/main" val="3118767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A26E340F-102F-C644-1F3D-2EA08152A8CC}"/>
              </a:ext>
            </a:extLst>
          </p:cNvPr>
          <p:cNvSpPr txBox="1"/>
          <p:nvPr/>
        </p:nvSpPr>
        <p:spPr>
          <a:xfrm>
            <a:off x="458592" y="1049641"/>
            <a:ext cx="11274816" cy="5240665"/>
          </a:xfrm>
          <a:prstGeom prst="rect">
            <a:avLst/>
          </a:prstGeom>
          <a:noFill/>
        </p:spPr>
        <p:txBody>
          <a:bodyPr wrap="square" rtlCol="0">
            <a:spAutoFit/>
          </a:bodyPr>
          <a:lstStyle/>
          <a:p>
            <a:pPr lvl="0"/>
            <a:r>
              <a:rPr lang="fr-FR" altLang="en-US">
                <a:latin typeface="Arial"/>
                <a:ea typeface="Times New Roman" panose="02020603050405020304"/>
                <a:cs typeface="Times New Roman" panose="02020603050405020304"/>
                <a:sym typeface="Times New Roman" panose="02020603050405020304"/>
              </a:rPr>
              <a:t>Au Ministère de la santé  et au PEV</a:t>
            </a:r>
            <a:endParaRPr lang="fr-FR" altLang="en-US">
              <a:latin typeface="Arial"/>
              <a:ea typeface="Times New Roman" panose="02020603050405020304"/>
              <a:cs typeface="Times New Roman" panose="02020603050405020304"/>
            </a:endParaRPr>
          </a:p>
          <a:p>
            <a:endParaRPr lang="fr-FR" altLang="en-US">
              <a:latin typeface="Arial"/>
              <a:ea typeface="Times New Roman" panose="02020603050405020304"/>
              <a:cs typeface="Times New Roman" panose="02020603050405020304"/>
            </a:endParaRPr>
          </a:p>
          <a:p>
            <a:pPr marL="285750" indent="-285750">
              <a:lnSpc>
                <a:spcPct val="150000"/>
              </a:lnSpc>
              <a:spcBef>
                <a:spcPts val="600"/>
              </a:spcBef>
              <a:buFont typeface="Arial"/>
              <a:buChar char="•"/>
            </a:pPr>
            <a:r>
              <a:rPr lang="fr-FR" altLang="en-US" sz="2400">
                <a:latin typeface="Arial"/>
                <a:ea typeface="Times New Roman" panose="02020603050405020304"/>
                <a:cs typeface="Times New Roman" panose="02020603050405020304"/>
              </a:rPr>
              <a:t>Maintenir les mécanismes et efforts de coordination des acteurs du VAP des niveaux national et provincial jusqu'au terme des introductions dans les provinces concernées (y compris les micro-planifications des antennes PEV).</a:t>
            </a:r>
          </a:p>
          <a:p>
            <a:pPr marL="285750" indent="-285750">
              <a:lnSpc>
                <a:spcPct val="150000"/>
              </a:lnSpc>
              <a:spcBef>
                <a:spcPts val="600"/>
              </a:spcBef>
              <a:buFont typeface="Arial"/>
              <a:buChar char="•"/>
            </a:pPr>
            <a:r>
              <a:rPr lang="fr-FR" altLang="en-US" sz="2400">
                <a:latin typeface="Arial"/>
                <a:ea typeface="Times New Roman" panose="02020603050405020304"/>
                <a:cs typeface="Times New Roman" panose="02020603050405020304"/>
              </a:rPr>
              <a:t>Assurer l'utilisation des données d'impact obtenues par les activités de promotion de la demande en </a:t>
            </a:r>
            <a:r>
              <a:rPr lang="fr-FR" altLang="en-US" sz="2400">
                <a:latin typeface="Arial"/>
                <a:cs typeface="Times New Roman" panose="02020603050405020304"/>
              </a:rPr>
              <a:t>province dans les analyses nationales.</a:t>
            </a:r>
          </a:p>
          <a:p>
            <a:pPr marL="285750" indent="-285750">
              <a:lnSpc>
                <a:spcPct val="150000"/>
              </a:lnSpc>
              <a:spcBef>
                <a:spcPts val="600"/>
              </a:spcBef>
              <a:buFont typeface="Arial"/>
              <a:buChar char="•"/>
            </a:pPr>
            <a:r>
              <a:rPr lang="fr-FR" sz="2400">
                <a:latin typeface="Arial"/>
                <a:cs typeface="Times New Roman" panose="02020603050405020304"/>
              </a:rPr>
              <a:t>Faciliter l'intégration de l'approche de Conception Centrée sur l’humain (HCD) et l'apprentissage continue dans les pratiques de programmation des activités de PEV</a:t>
            </a:r>
            <a:endParaRPr lang="en-US" sz="2400">
              <a:latin typeface="Arial"/>
              <a:cs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50" y="86402"/>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413864793"/>
              </p:ext>
            </p:extLst>
          </p:nvPr>
        </p:nvGraphicFramePr>
        <p:xfrm>
          <a:off x="458550" y="593175"/>
          <a:ext cx="11049717" cy="5713963"/>
        </p:xfrm>
        <a:graphic>
          <a:graphicData uri="http://schemas.openxmlformats.org/drawingml/2006/table">
            <a:tbl>
              <a:tblPr firstRow="1" bandRow="1">
                <a:tableStyleId>{5C22544A-7EE6-4342-B048-85BDC9FD1C3A}</a:tableStyleId>
              </a:tblPr>
              <a:tblGrid>
                <a:gridCol w="4695969">
                  <a:extLst>
                    <a:ext uri="{9D8B030D-6E8A-4147-A177-3AD203B41FA5}">
                      <a16:colId xmlns:a16="http://schemas.microsoft.com/office/drawing/2014/main" val="20000"/>
                    </a:ext>
                  </a:extLst>
                </a:gridCol>
                <a:gridCol w="1531294">
                  <a:extLst>
                    <a:ext uri="{9D8B030D-6E8A-4147-A177-3AD203B41FA5}">
                      <a16:colId xmlns:a16="http://schemas.microsoft.com/office/drawing/2014/main" val="20001"/>
                    </a:ext>
                  </a:extLst>
                </a:gridCol>
                <a:gridCol w="1735467">
                  <a:extLst>
                    <a:ext uri="{9D8B030D-6E8A-4147-A177-3AD203B41FA5}">
                      <a16:colId xmlns:a16="http://schemas.microsoft.com/office/drawing/2014/main" val="20002"/>
                    </a:ext>
                  </a:extLst>
                </a:gridCol>
                <a:gridCol w="1582337">
                  <a:extLst>
                    <a:ext uri="{9D8B030D-6E8A-4147-A177-3AD203B41FA5}">
                      <a16:colId xmlns:a16="http://schemas.microsoft.com/office/drawing/2014/main" val="20003"/>
                    </a:ext>
                  </a:extLst>
                </a:gridCol>
                <a:gridCol w="1504650">
                  <a:extLst>
                    <a:ext uri="{9D8B030D-6E8A-4147-A177-3AD203B41FA5}">
                      <a16:colId xmlns:a16="http://schemas.microsoft.com/office/drawing/2014/main" val="20004"/>
                    </a:ext>
                  </a:extLst>
                </a:gridCol>
              </a:tblGrid>
              <a:tr h="588824">
                <a:tc>
                  <a:txBody>
                    <a:bodyPr/>
                    <a:lstStyle/>
                    <a:p>
                      <a:pPr>
                        <a:buNone/>
                      </a:pPr>
                      <a:r>
                        <a:rPr lang="fr-FR" altLang="en-US" sz="1600">
                          <a:latin typeface="Arial"/>
                          <a:cs typeface="Arial"/>
                        </a:rPr>
                        <a:t>Activités </a:t>
                      </a:r>
                    </a:p>
                  </a:txBody>
                  <a:tcPr anchor="ctr"/>
                </a:tc>
                <a:tc>
                  <a:txBody>
                    <a:bodyPr/>
                    <a:lstStyle/>
                    <a:p>
                      <a:pPr>
                        <a:buNone/>
                      </a:pPr>
                      <a:r>
                        <a:rPr lang="fr-FR" altLang="en-US" sz="1600">
                          <a:latin typeface="Arial"/>
                          <a:cs typeface="Arial"/>
                        </a:rPr>
                        <a:t>Budget Prévu </a:t>
                      </a:r>
                    </a:p>
                  </a:txBody>
                  <a:tcPr anchor="ctr"/>
                </a:tc>
                <a:tc>
                  <a:txBody>
                    <a:bodyPr/>
                    <a:lstStyle/>
                    <a:p>
                      <a:pPr>
                        <a:buNone/>
                      </a:pPr>
                      <a:r>
                        <a:rPr lang="fr-FR" altLang="en-US" sz="1600">
                          <a:latin typeface="Arial"/>
                          <a:cs typeface="Arial"/>
                        </a:rPr>
                        <a:t>Budget décaissé </a:t>
                      </a:r>
                    </a:p>
                  </a:txBody>
                  <a:tcPr anchor="ctr"/>
                </a:tc>
                <a:tc>
                  <a:txBody>
                    <a:bodyPr/>
                    <a:lstStyle/>
                    <a:p>
                      <a:pPr>
                        <a:buNone/>
                      </a:pPr>
                      <a:r>
                        <a:rPr lang="fr-FR" altLang="en-US" sz="1600">
                          <a:latin typeface="Arial"/>
                          <a:cs typeface="Arial"/>
                        </a:rPr>
                        <a:t>Taux de décaissement </a:t>
                      </a:r>
                    </a:p>
                  </a:txBody>
                  <a:tcPr anchor="ctr"/>
                </a:tc>
                <a:tc>
                  <a:txBody>
                    <a:bodyPr/>
                    <a:lstStyle/>
                    <a:p>
                      <a:pPr>
                        <a:buNone/>
                      </a:pPr>
                      <a:r>
                        <a:rPr lang="fr-FR" altLang="en-US" sz="1600">
                          <a:latin typeface="Arial"/>
                          <a:cs typeface="Arial"/>
                        </a:rPr>
                        <a:t>Source de financement </a:t>
                      </a:r>
                    </a:p>
                  </a:txBody>
                  <a:tcPr anchor="ctr"/>
                </a:tc>
                <a:extLst>
                  <a:ext uri="{0D108BD9-81ED-4DB2-BD59-A6C34878D82A}">
                    <a16:rowId xmlns:a16="http://schemas.microsoft.com/office/drawing/2014/main" val="10000"/>
                  </a:ext>
                </a:extLst>
              </a:tr>
              <a:tr h="316364">
                <a:tc>
                  <a:txBody>
                    <a:bodyPr/>
                    <a:lstStyle/>
                    <a:p>
                      <a:pPr algn="l" fontAlgn="b">
                        <a:buNone/>
                      </a:pPr>
                      <a:r>
                        <a:rPr lang="fr-FR" sz="1000" b="0" i="0" u="none" strike="noStrike">
                          <a:solidFill>
                            <a:srgbClr val="000000"/>
                          </a:solidFill>
                          <a:effectLst/>
                          <a:latin typeface="Arial" panose="020B0604020202020204" pitchFamily="34" charset="0"/>
                        </a:rPr>
                        <a:t>Assistance Technique pour Appui a l'introduction du Vaccin anti-malaria (VAP) en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$1,973,780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$1,763,840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89%</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10001"/>
                  </a:ext>
                </a:extLst>
              </a:tr>
              <a:tr h="316364">
                <a:tc>
                  <a:txBody>
                    <a:bodyPr/>
                    <a:lstStyle/>
                    <a:p>
                      <a:pPr algn="l" fontAlgn="b">
                        <a:buNone/>
                      </a:pPr>
                      <a:r>
                        <a:rPr lang="fr-FR" sz="1000" b="0" i="0" u="none" strike="noStrike">
                          <a:solidFill>
                            <a:srgbClr val="000000"/>
                          </a:solidFill>
                          <a:effectLst/>
                          <a:latin typeface="Arial" panose="020B0604020202020204" pitchFamily="34" charset="0"/>
                        </a:rPr>
                        <a:t>Assistance Technique pour Appui a l'introduction du Vaccin anti-malaria (VAP) en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$1,600,000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$1,381,335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GiveWell</a:t>
                      </a:r>
                    </a:p>
                  </a:txBody>
                  <a:tcPr marL="6350" marR="6350" marT="6350" marB="0" anchor="ctr"/>
                </a:tc>
                <a:extLst>
                  <a:ext uri="{0D108BD9-81ED-4DB2-BD59-A6C34878D82A}">
                    <a16:rowId xmlns:a16="http://schemas.microsoft.com/office/drawing/2014/main" val="10002"/>
                  </a:ext>
                </a:extLst>
              </a:tr>
              <a:tr h="274071">
                <a:tc>
                  <a:txBody>
                    <a:bodyPr/>
                    <a:lstStyle/>
                    <a:p>
                      <a:pPr algn="l" fontAlgn="b">
                        <a:buNone/>
                      </a:pPr>
                      <a:r>
                        <a:rPr lang="fr-FR" sz="1000" b="0" i="0" u="none" strike="noStrike">
                          <a:solidFill>
                            <a:srgbClr val="000000"/>
                          </a:solidFill>
                          <a:effectLst/>
                          <a:latin typeface="Arial" panose="020B0604020202020204" pitchFamily="34" charset="0"/>
                        </a:rPr>
                        <a:t>Assistance Technique pour les Fonds Accélérateur pour l’Equité (FAE)</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$90,075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$90,075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10003"/>
                  </a:ext>
                </a:extLst>
              </a:tr>
              <a:tr h="274071">
                <a:tc>
                  <a:txBody>
                    <a:bodyPr/>
                    <a:lstStyle/>
                    <a:p>
                      <a:pPr algn="l" fontAlgn="b">
                        <a:buNone/>
                      </a:pPr>
                      <a:r>
                        <a:rPr lang="fr-FR" sz="1000" b="0" i="0" u="none" strike="noStrike" dirty="0">
                          <a:solidFill>
                            <a:srgbClr val="000000"/>
                          </a:solidFill>
                          <a:effectLst/>
                          <a:latin typeface="Arial" panose="020B0604020202020204" pitchFamily="34" charset="0"/>
                        </a:rPr>
                        <a:t>Appui au plaidoyer pour les activités de HPV a travers le Projet HAPPI(</a:t>
                      </a:r>
                      <a:r>
                        <a:rPr lang="fr-FR" sz="1000" b="0" i="0" u="none" strike="noStrike" dirty="0">
                          <a:solidFill>
                            <a:srgbClr val="000000"/>
                          </a:solidFill>
                          <a:effectLst/>
                          <a:highlight>
                            <a:srgbClr val="00FFFF"/>
                          </a:highlight>
                          <a:latin typeface="Arial" panose="020B0604020202020204" pitchFamily="34" charset="0"/>
                        </a:rPr>
                        <a:t>Clôturé en février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$67,393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$67,393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JSI/BMGF</a:t>
                      </a:r>
                    </a:p>
                  </a:txBody>
                  <a:tcPr marL="6350" marR="6350" marT="6350" marB="0" anchor="ctr"/>
                </a:tc>
                <a:extLst>
                  <a:ext uri="{0D108BD9-81ED-4DB2-BD59-A6C34878D82A}">
                    <a16:rowId xmlns:a16="http://schemas.microsoft.com/office/drawing/2014/main" val="10004"/>
                  </a:ext>
                </a:extLst>
              </a:tr>
              <a:tr h="274071">
                <a:tc>
                  <a:txBody>
                    <a:bodyPr/>
                    <a:lstStyle/>
                    <a:p>
                      <a:pPr algn="l" fontAlgn="b">
                        <a:buNone/>
                      </a:pPr>
                      <a:r>
                        <a:rPr lang="en-US" sz="1000" b="0" i="0" u="none" strike="noStrike" dirty="0">
                          <a:solidFill>
                            <a:srgbClr val="000000"/>
                          </a:solidFill>
                          <a:effectLst/>
                          <a:latin typeface="Arial" panose="020B0604020202020204" pitchFamily="34" charset="0"/>
                        </a:rPr>
                        <a:t>M-RITE USAID(</a:t>
                      </a:r>
                      <a:r>
                        <a:rPr lang="fr-FR" sz="1000" b="0" i="0" u="none" strike="noStrike" dirty="0">
                          <a:solidFill>
                            <a:srgbClr val="000000"/>
                          </a:solidFill>
                          <a:effectLst/>
                          <a:highlight>
                            <a:srgbClr val="00FFFF"/>
                          </a:highlight>
                          <a:latin typeface="Arial" panose="020B0604020202020204" pitchFamily="34" charset="0"/>
                        </a:rPr>
                        <a:t>Clôturé</a:t>
                      </a:r>
                      <a:r>
                        <a:rPr lang="en-US" sz="1000" b="0" i="0" u="none" strike="noStrike" dirty="0">
                          <a:solidFill>
                            <a:srgbClr val="000000"/>
                          </a:solidFill>
                          <a:effectLst/>
                          <a:highlight>
                            <a:srgbClr val="00FFFF"/>
                          </a:highlight>
                          <a:latin typeface="Arial" panose="020B0604020202020204" pitchFamily="34" charset="0"/>
                        </a:rPr>
                        <a:t> </a:t>
                      </a:r>
                      <a:r>
                        <a:rPr lang="en-US" sz="1000" b="0" i="0" u="none" strike="noStrike" dirty="0" err="1">
                          <a:solidFill>
                            <a:srgbClr val="000000"/>
                          </a:solidFill>
                          <a:effectLst/>
                          <a:highlight>
                            <a:srgbClr val="00FFFF"/>
                          </a:highlight>
                          <a:latin typeface="Arial" panose="020B0604020202020204" pitchFamily="34" charset="0"/>
                        </a:rPr>
                        <a:t>en</a:t>
                      </a:r>
                      <a:r>
                        <a:rPr lang="en-US" sz="1000" b="0" i="0" u="none" strike="noStrike" dirty="0">
                          <a:solidFill>
                            <a:srgbClr val="000000"/>
                          </a:solidFill>
                          <a:effectLst/>
                          <a:highlight>
                            <a:srgbClr val="00FFFF"/>
                          </a:highlight>
                          <a:latin typeface="Arial" panose="020B0604020202020204" pitchFamily="34" charset="0"/>
                        </a:rPr>
                        <a:t> mars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$68,997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$68,997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JSI/USAID</a:t>
                      </a:r>
                    </a:p>
                  </a:txBody>
                  <a:tcPr marL="6350" marR="6350" marT="6350" marB="0" anchor="ctr"/>
                </a:tc>
                <a:extLst>
                  <a:ext uri="{0D108BD9-81ED-4DB2-BD59-A6C34878D82A}">
                    <a16:rowId xmlns:a16="http://schemas.microsoft.com/office/drawing/2014/main" val="10005"/>
                  </a:ext>
                </a:extLst>
              </a:tr>
              <a:tr h="299432">
                <a:tc>
                  <a:txBody>
                    <a:bodyPr/>
                    <a:lstStyle/>
                    <a:p>
                      <a:pPr algn="l" fontAlgn="b">
                        <a:buNone/>
                      </a:pPr>
                      <a:r>
                        <a:rPr lang="es-ES" sz="1000" b="0" i="0" u="none" strike="noStrike">
                          <a:solidFill>
                            <a:srgbClr val="000000"/>
                          </a:solidFill>
                          <a:effectLst/>
                          <a:latin typeface="Arial" panose="020B0604020202020204" pitchFamily="34" charset="0"/>
                        </a:rPr>
                        <a:t>Zero-</a:t>
                      </a:r>
                      <a:r>
                        <a:rPr lang="es-ES" sz="1000" b="0" i="0" u="none" strike="noStrike" err="1">
                          <a:solidFill>
                            <a:srgbClr val="000000"/>
                          </a:solidFill>
                          <a:effectLst/>
                          <a:latin typeface="Arial" panose="020B0604020202020204" pitchFamily="34" charset="0"/>
                        </a:rPr>
                        <a:t>dose</a:t>
                      </a:r>
                      <a:r>
                        <a:rPr lang="es-ES" sz="1000" b="0" i="0" u="none" strike="noStrike">
                          <a:solidFill>
                            <a:srgbClr val="000000"/>
                          </a:solidFill>
                          <a:effectLst/>
                          <a:latin typeface="Arial" panose="020B0604020202020204" pitchFamily="34" charset="0"/>
                        </a:rPr>
                        <a:t> HCD Local </a:t>
                      </a:r>
                      <a:r>
                        <a:rPr lang="es-ES" sz="1000" b="0" i="0" u="none" strike="noStrike" err="1">
                          <a:solidFill>
                            <a:srgbClr val="000000"/>
                          </a:solidFill>
                          <a:effectLst/>
                          <a:latin typeface="Arial" panose="020B0604020202020204" pitchFamily="34" charset="0"/>
                        </a:rPr>
                        <a:t>Solution</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Design</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dans</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Tshopo</a:t>
                      </a:r>
                      <a:endParaRPr lang="es-ES" sz="10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$1,149,396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$940,470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82%</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6"/>
                  </a:ext>
                </a:extLst>
              </a:tr>
              <a:tr h="316364">
                <a:tc>
                  <a:txBody>
                    <a:bodyPr/>
                    <a:lstStyle/>
                    <a:p>
                      <a:pPr algn="l" fontAlgn="b">
                        <a:buNone/>
                      </a:pPr>
                      <a:r>
                        <a:rPr lang="fr-FR" sz="1000" b="0" i="0" u="none" strike="noStrike" dirty="0">
                          <a:solidFill>
                            <a:srgbClr val="000000"/>
                          </a:solidFill>
                          <a:effectLst/>
                          <a:latin typeface="Arial" panose="020B0604020202020204" pitchFamily="34" charset="0"/>
                        </a:rPr>
                        <a:t>DRC Community-</a:t>
                      </a:r>
                      <a:r>
                        <a:rPr lang="fr-FR" sz="1000" b="0" i="0" u="none" strike="noStrike" dirty="0" err="1">
                          <a:solidFill>
                            <a:srgbClr val="000000"/>
                          </a:solidFill>
                          <a:effectLst/>
                          <a:latin typeface="Arial" panose="020B0604020202020204" pitchFamily="34" charset="0"/>
                        </a:rPr>
                        <a:t>Based</a:t>
                      </a:r>
                      <a:r>
                        <a:rPr lang="fr-FR" sz="1000" b="0" i="0" u="none" strike="noStrike" dirty="0">
                          <a:solidFill>
                            <a:srgbClr val="000000"/>
                          </a:solidFill>
                          <a:effectLst/>
                          <a:latin typeface="Arial" panose="020B0604020202020204" pitchFamily="34" charset="0"/>
                        </a:rPr>
                        <a:t> Surveillance for polio in four provinces (Surveillance communautaire de la poliomyélite en RDC dans quatre  Provinces: Lualaba, </a:t>
                      </a:r>
                      <a:r>
                        <a:rPr lang="fr-FR" sz="1000" b="0" i="0" u="none" strike="noStrike" dirty="0" err="1">
                          <a:solidFill>
                            <a:srgbClr val="000000"/>
                          </a:solidFill>
                          <a:effectLst/>
                          <a:latin typeface="Arial" panose="020B0604020202020204" pitchFamily="34" charset="0"/>
                        </a:rPr>
                        <a:t>maniema</a:t>
                      </a:r>
                      <a:r>
                        <a:rPr lang="fr-FR" sz="1000" b="0" i="0" u="none" strike="noStrike" dirty="0">
                          <a:solidFill>
                            <a:srgbClr val="000000"/>
                          </a:solidFill>
                          <a:effectLst/>
                          <a:latin typeface="Arial" panose="020B0604020202020204" pitchFamily="34" charset="0"/>
                        </a:rPr>
                        <a:t>, Tanganyika et Haut-Lomami) </a:t>
                      </a:r>
                      <a:r>
                        <a:rPr lang="fr-FR" sz="1000" b="0" i="0" u="none" strike="noStrike" dirty="0">
                          <a:solidFill>
                            <a:srgbClr val="000000"/>
                          </a:solidFill>
                          <a:effectLst/>
                          <a:highlight>
                            <a:srgbClr val="00FFFF"/>
                          </a:highlight>
                          <a:latin typeface="Arial" panose="020B0604020202020204" pitchFamily="34" charset="0"/>
                        </a:rPr>
                        <a:t>Clôturé en juillet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$391,074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$391,074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7"/>
                  </a:ext>
                </a:extLst>
              </a:tr>
              <a:tr h="316364">
                <a:tc>
                  <a:txBody>
                    <a:bodyPr/>
                    <a:lstStyle/>
                    <a:p>
                      <a:pPr algn="l" fontAlgn="b">
                        <a:buNone/>
                      </a:pPr>
                      <a:r>
                        <a:rPr lang="fr-FR" sz="1000" b="0" i="0" u="none" strike="noStrike">
                          <a:solidFill>
                            <a:srgbClr val="000000"/>
                          </a:solidFill>
                          <a:effectLst/>
                          <a:latin typeface="Arial" panose="020B0604020202020204" pitchFamily="34" charset="0"/>
                        </a:rPr>
                        <a:t>Support DRC National Plan for Polio Surveillance (Soutenir le plan national de surveillance de la poliomyélite de la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$272,663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$272,663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3967647107"/>
                  </a:ext>
                </a:extLst>
              </a:tr>
              <a:tr h="316364">
                <a:tc>
                  <a:txBody>
                    <a:bodyPr/>
                    <a:lstStyle/>
                    <a:p>
                      <a:pPr algn="l" fontAlgn="b">
                        <a:buNone/>
                      </a:pPr>
                      <a:r>
                        <a:rPr lang="fr-FR" sz="1000" b="0" i="0" u="none" strike="noStrike">
                          <a:solidFill>
                            <a:srgbClr val="000000"/>
                          </a:solidFill>
                          <a:effectLst/>
                          <a:latin typeface="Arial" panose="020B0604020202020204" pitchFamily="34" charset="0"/>
                        </a:rPr>
                        <a:t>DRC Provincial Polio EOC </a:t>
                      </a:r>
                      <a:r>
                        <a:rPr lang="fr-FR" sz="1000" b="0" i="0" u="none" strike="noStrike" err="1">
                          <a:solidFill>
                            <a:srgbClr val="000000"/>
                          </a:solidFill>
                          <a:effectLst/>
                          <a:latin typeface="Arial" panose="020B0604020202020204" pitchFamily="34" charset="0"/>
                        </a:rPr>
                        <a:t>Operational</a:t>
                      </a:r>
                      <a:r>
                        <a:rPr lang="fr-FR" sz="1000" b="0" i="0" u="none" strike="noStrike">
                          <a:solidFill>
                            <a:srgbClr val="000000"/>
                          </a:solidFill>
                          <a:effectLst/>
                          <a:latin typeface="Arial" panose="020B0604020202020204" pitchFamily="34" charset="0"/>
                        </a:rPr>
                        <a:t> support (Soutien opérationnel du COUP Polio provincial de la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$741,126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$643,126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87%</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3037989688"/>
                  </a:ext>
                </a:extLst>
              </a:tr>
              <a:tr h="471318">
                <a:tc>
                  <a:txBody>
                    <a:bodyPr/>
                    <a:lstStyle/>
                    <a:p>
                      <a:pPr algn="l" fontAlgn="b">
                        <a:buNone/>
                      </a:pPr>
                      <a:r>
                        <a:rPr lang="fr-FR" sz="1000" b="0" i="0" u="none" strike="noStrike" dirty="0">
                          <a:solidFill>
                            <a:srgbClr val="000000"/>
                          </a:solidFill>
                          <a:effectLst/>
                          <a:latin typeface="Arial" panose="020B0604020202020204" pitchFamily="34" charset="0"/>
                        </a:rPr>
                        <a:t>Support to Vaccination of populations in </a:t>
                      </a:r>
                      <a:r>
                        <a:rPr lang="fr-FR" sz="1000" b="0" i="0" u="none" strike="noStrike" dirty="0" err="1">
                          <a:solidFill>
                            <a:srgbClr val="000000"/>
                          </a:solidFill>
                          <a:effectLst/>
                          <a:latin typeface="Arial" panose="020B0604020202020204" pitchFamily="34" charset="0"/>
                        </a:rPr>
                        <a:t>islands</a:t>
                      </a:r>
                      <a:r>
                        <a:rPr lang="fr-FR" sz="1000" b="0" i="0" u="none" strike="noStrike" dirty="0">
                          <a:solidFill>
                            <a:srgbClr val="000000"/>
                          </a:solidFill>
                          <a:effectLst/>
                          <a:latin typeface="Arial" panose="020B0604020202020204" pitchFamily="34" charset="0"/>
                        </a:rPr>
                        <a:t> and </a:t>
                      </a:r>
                      <a:r>
                        <a:rPr lang="fr-FR" sz="1000" b="0" i="0" u="none" strike="noStrike" dirty="0" err="1">
                          <a:solidFill>
                            <a:srgbClr val="000000"/>
                          </a:solidFill>
                          <a:effectLst/>
                          <a:latin typeface="Arial" panose="020B0604020202020204" pitchFamily="34" charset="0"/>
                        </a:rPr>
                        <a:t>riverine</a:t>
                      </a:r>
                      <a:r>
                        <a:rPr lang="fr-FR" sz="1000" b="0" i="0" u="none" strike="noStrike" dirty="0">
                          <a:solidFill>
                            <a:srgbClr val="000000"/>
                          </a:solidFill>
                          <a:effectLst/>
                          <a:latin typeface="Arial" panose="020B0604020202020204" pitchFamily="34" charset="0"/>
                        </a:rPr>
                        <a:t> areas in DRC (Appui a la Vaccination a travers les </a:t>
                      </a:r>
                      <a:r>
                        <a:rPr lang="fr-FR" sz="1000" b="0" i="0" u="none" strike="noStrike" dirty="0" err="1">
                          <a:solidFill>
                            <a:srgbClr val="000000"/>
                          </a:solidFill>
                          <a:effectLst/>
                          <a:latin typeface="Arial" panose="020B0604020202020204" pitchFamily="34" charset="0"/>
                        </a:rPr>
                        <a:t>strategies</a:t>
                      </a:r>
                      <a:r>
                        <a:rPr lang="fr-FR" sz="1000" b="0" i="0" u="none" strike="noStrike" dirty="0">
                          <a:solidFill>
                            <a:srgbClr val="000000"/>
                          </a:solidFill>
                          <a:effectLst/>
                          <a:latin typeface="Arial" panose="020B0604020202020204" pitchFamily="34" charset="0"/>
                        </a:rPr>
                        <a:t> </a:t>
                      </a:r>
                      <a:r>
                        <a:rPr lang="fr-FR" sz="1000" b="0" i="0" u="none" strike="noStrike" dirty="0" err="1">
                          <a:solidFill>
                            <a:srgbClr val="000000"/>
                          </a:solidFill>
                          <a:effectLst/>
                          <a:latin typeface="Arial" panose="020B0604020202020204" pitchFamily="34" charset="0"/>
                        </a:rPr>
                        <a:t>speciales</a:t>
                      </a:r>
                      <a:r>
                        <a:rPr lang="fr-FR" sz="1000" b="0" i="0" u="none" strike="noStrike" dirty="0">
                          <a:solidFill>
                            <a:srgbClr val="000000"/>
                          </a:solidFill>
                          <a:effectLst/>
                          <a:latin typeface="Arial" panose="020B0604020202020204" pitchFamily="34" charset="0"/>
                        </a:rPr>
                        <a:t> sur les ilots et dans les populations riveraines en RDC): Haut-Lomami </a:t>
                      </a:r>
                      <a:r>
                        <a:rPr lang="fr-FR" sz="1000" b="0" i="0" u="none" strike="noStrike" dirty="0">
                          <a:solidFill>
                            <a:srgbClr val="000000"/>
                          </a:solidFill>
                          <a:effectLst/>
                          <a:highlight>
                            <a:srgbClr val="FFFF00"/>
                          </a:highlight>
                          <a:latin typeface="Arial" panose="020B0604020202020204" pitchFamily="34" charset="0"/>
                        </a:rPr>
                        <a:t>(</a:t>
                      </a:r>
                      <a:r>
                        <a:rPr lang="fr-FR" sz="1000" b="0" i="0" u="none" strike="noStrike" dirty="0">
                          <a:solidFill>
                            <a:srgbClr val="000000"/>
                          </a:solidFill>
                          <a:effectLst/>
                          <a:highlight>
                            <a:srgbClr val="00FFFF"/>
                          </a:highlight>
                          <a:latin typeface="Arial" panose="020B0604020202020204" pitchFamily="34" charset="0"/>
                        </a:rPr>
                        <a:t>Clôturé en avril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$240,643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$240,643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2233227595"/>
                  </a:ext>
                </a:extLst>
              </a:tr>
              <a:tr h="274071">
                <a:tc>
                  <a:txBody>
                    <a:bodyPr/>
                    <a:lstStyle/>
                    <a:p>
                      <a:pPr algn="l" fontAlgn="b">
                        <a:buNone/>
                      </a:pPr>
                      <a:r>
                        <a:rPr lang="en-US" sz="1000" b="0" i="0" u="none" strike="noStrike">
                          <a:solidFill>
                            <a:srgbClr val="000000"/>
                          </a:solidFill>
                          <a:effectLst/>
                          <a:latin typeface="Arial" panose="020B0604020202020204" pitchFamily="34" charset="0"/>
                        </a:rPr>
                        <a:t>DRC EOC P2 - Polio</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$119,343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$119,343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2827398339"/>
                  </a:ext>
                </a:extLst>
              </a:tr>
              <a:tr h="274071">
                <a:tc>
                  <a:txBody>
                    <a:bodyPr/>
                    <a:lstStyle/>
                    <a:p>
                      <a:pPr algn="l" fontAlgn="b">
                        <a:buNone/>
                      </a:pPr>
                      <a:r>
                        <a:rPr lang="en-US" sz="1000" b="0" i="0" u="none" strike="noStrike" dirty="0">
                          <a:solidFill>
                            <a:srgbClr val="000000"/>
                          </a:solidFill>
                          <a:effectLst/>
                          <a:latin typeface="Arial" panose="020B0604020202020204" pitchFamily="34" charset="0"/>
                        </a:rPr>
                        <a:t>Polio Legacy Challenge </a:t>
                      </a:r>
                      <a:r>
                        <a:rPr lang="en-US" sz="1000" b="0" i="0" u="none" strike="noStrike" dirty="0">
                          <a:solidFill>
                            <a:srgbClr val="000000"/>
                          </a:solidFill>
                          <a:effectLst/>
                          <a:highlight>
                            <a:srgbClr val="FFFF00"/>
                          </a:highlight>
                          <a:latin typeface="Arial" panose="020B0604020202020204" pitchFamily="34" charset="0"/>
                        </a:rPr>
                        <a:t>(</a:t>
                      </a:r>
                      <a:r>
                        <a:rPr lang="en-US" sz="1000" b="0" i="0" u="none" strike="noStrike" dirty="0">
                          <a:solidFill>
                            <a:srgbClr val="000000"/>
                          </a:solidFill>
                          <a:effectLst/>
                          <a:highlight>
                            <a:srgbClr val="00FFFF"/>
                          </a:highlight>
                          <a:latin typeface="Arial" panose="020B0604020202020204" pitchFamily="34" charset="0"/>
                        </a:rPr>
                        <a:t>Nouveau </a:t>
                      </a:r>
                      <a:r>
                        <a:rPr lang="en-US" sz="1000" b="0" i="0" u="none" strike="noStrike" dirty="0" err="1">
                          <a:solidFill>
                            <a:srgbClr val="000000"/>
                          </a:solidFill>
                          <a:effectLst/>
                          <a:highlight>
                            <a:srgbClr val="00FFFF"/>
                          </a:highlight>
                          <a:latin typeface="Arial" panose="020B0604020202020204" pitchFamily="34" charset="0"/>
                        </a:rPr>
                        <a:t>projet</a:t>
                      </a:r>
                      <a:r>
                        <a:rPr lang="en-US" sz="1000" b="0" i="0" u="none" strike="noStrike" dirty="0">
                          <a:solidFill>
                            <a:srgbClr val="000000"/>
                          </a:solidFill>
                          <a:effectLst/>
                          <a:highlight>
                            <a:srgbClr val="00FFFF"/>
                          </a:highlight>
                          <a:latin typeface="Arial" panose="020B0604020202020204" pitchFamily="34" charset="0"/>
                        </a:rPr>
                        <a:t>, continue </a:t>
                      </a:r>
                      <a:r>
                        <a:rPr lang="en-US" sz="1000" b="0" i="0" u="none" strike="noStrike" dirty="0" err="1">
                          <a:solidFill>
                            <a:srgbClr val="000000"/>
                          </a:solidFill>
                          <a:effectLst/>
                          <a:highlight>
                            <a:srgbClr val="00FFFF"/>
                          </a:highlight>
                          <a:latin typeface="Arial" panose="020B0604020202020204" pitchFamily="34" charset="0"/>
                        </a:rPr>
                        <a:t>en</a:t>
                      </a:r>
                      <a:r>
                        <a:rPr lang="en-US" sz="1000" b="0" i="0" u="none" strike="noStrike" dirty="0">
                          <a:solidFill>
                            <a:srgbClr val="000000"/>
                          </a:solidFill>
                          <a:effectLst/>
                          <a:highlight>
                            <a:srgbClr val="00FFFF"/>
                          </a:highlight>
                          <a:latin typeface="Arial" panose="020B0604020202020204" pitchFamily="34" charset="0"/>
                        </a:rPr>
                        <a:t> 2026)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$999,986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$346,849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51750538"/>
                  </a:ext>
                </a:extLst>
              </a:tr>
              <a:tr h="316364">
                <a:tc>
                  <a:txBody>
                    <a:bodyPr/>
                    <a:lstStyle/>
                    <a:p>
                      <a:pPr algn="l" fontAlgn="b">
                        <a:buNone/>
                      </a:pPr>
                      <a:r>
                        <a:rPr lang="en-US" sz="1000" b="0" i="0" u="none" strike="noStrike">
                          <a:solidFill>
                            <a:srgbClr val="000000"/>
                          </a:solidFill>
                          <a:effectLst/>
                          <a:latin typeface="Arial" panose="020B0604020202020204" pitchFamily="34" charset="0"/>
                        </a:rPr>
                        <a:t>Logistics Support from PATH to DRC for the 4th National Forum on Immunization and Polio Eradication</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$433,867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$433,867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213502860"/>
                  </a:ext>
                </a:extLst>
              </a:tr>
              <a:tr h="274071">
                <a:tc>
                  <a:txBody>
                    <a:bodyPr/>
                    <a:lstStyle/>
                    <a:p>
                      <a:pPr algn="l" fontAlgn="ctr">
                        <a:buNone/>
                      </a:pPr>
                      <a:r>
                        <a:rPr lang="fr-FR" sz="1000" b="0" i="0" u="none" strike="noStrike" dirty="0">
                          <a:solidFill>
                            <a:srgbClr val="000000"/>
                          </a:solidFill>
                          <a:effectLst/>
                          <a:latin typeface="Arial" panose="020B0604020202020204" pitchFamily="34" charset="0"/>
                        </a:rPr>
                        <a:t>RISP (Appui a la mobilisation des ressources domestiques pour renforcer  la vaccination de routine dans 3 provinces </a:t>
                      </a:r>
                      <a:r>
                        <a:rPr lang="fr-FR" sz="1000" b="0" i="0" u="none" strike="noStrike" dirty="0" err="1">
                          <a:solidFill>
                            <a:srgbClr val="000000"/>
                          </a:solidFill>
                          <a:effectLst/>
                          <a:latin typeface="Arial" panose="020B0604020202020204" pitchFamily="34" charset="0"/>
                        </a:rPr>
                        <a:t>MoU</a:t>
                      </a:r>
                      <a:r>
                        <a:rPr lang="fr-FR" sz="1000" b="0" i="0" u="none" strike="noStrike" dirty="0">
                          <a:solidFill>
                            <a:srgbClr val="000000"/>
                          </a:solidFill>
                          <a:effectLst/>
                          <a:latin typeface="Arial" panose="020B0604020202020204" pitchFamily="34" charset="0"/>
                        </a:rPr>
                        <a:t>) </a:t>
                      </a:r>
                      <a:r>
                        <a:rPr lang="fr-FR" sz="1000" b="0" i="0" u="none" strike="noStrike" dirty="0">
                          <a:solidFill>
                            <a:srgbClr val="000000"/>
                          </a:solidFill>
                          <a:effectLst/>
                          <a:highlight>
                            <a:srgbClr val="00FFFF"/>
                          </a:highlight>
                          <a:latin typeface="Arial" panose="020B0604020202020204" pitchFamily="34" charset="0"/>
                        </a:rPr>
                        <a:t>Tanganyika, Lualaba, Haut-Lomami</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$1,055,468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$1,010,951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8"/>
                  </a:ext>
                </a:extLst>
              </a:tr>
              <a:tr h="316364">
                <a:tc>
                  <a:txBody>
                    <a:bodyPr/>
                    <a:lstStyle/>
                    <a:p>
                      <a:pPr algn="l" fontAlgn="b">
                        <a:buNone/>
                      </a:pPr>
                      <a:r>
                        <a:rPr lang="fr-FR" sz="1000" b="0" i="0" u="none" strike="noStrike">
                          <a:solidFill>
                            <a:srgbClr val="000000"/>
                          </a:solidFill>
                          <a:effectLst/>
                          <a:latin typeface="Arial" panose="020B0604020202020204" pitchFamily="34" charset="0"/>
                        </a:rPr>
                        <a:t>Plaidoyer et Communication (Mashako 3.0, </a:t>
                      </a:r>
                      <a:r>
                        <a:rPr lang="fr-FR" sz="1000" b="0" i="0" u="none" strike="noStrike" err="1">
                          <a:solidFill>
                            <a:srgbClr val="000000"/>
                          </a:solidFill>
                          <a:effectLst/>
                          <a:latin typeface="Arial" panose="020B0604020202020204" pitchFamily="34" charset="0"/>
                        </a:rPr>
                        <a:t>MoU</a:t>
                      </a:r>
                      <a:r>
                        <a:rPr lang="fr-FR" sz="1000" b="0" i="0" u="none" strike="noStrike">
                          <a:solidFill>
                            <a:srgbClr val="000000"/>
                          </a:solidFill>
                          <a:effectLst/>
                          <a:latin typeface="Arial" panose="020B0604020202020204" pitchFamily="34" charset="0"/>
                        </a:rPr>
                        <a:t>, Appui au REPACAV, Sensibilisations </a:t>
                      </a:r>
                      <a:r>
                        <a:rPr lang="fr-FR" sz="1000" b="0" i="0" u="none" strike="noStrike" err="1">
                          <a:solidFill>
                            <a:srgbClr val="000000"/>
                          </a:solidFill>
                          <a:effectLst/>
                          <a:latin typeface="Arial" panose="020B0604020202020204" pitchFamily="34" charset="0"/>
                        </a:rPr>
                        <a:t>visibilite</a:t>
                      </a:r>
                      <a:r>
                        <a:rPr lang="fr-FR" sz="1000" b="0" i="0" u="none" strike="noStrike">
                          <a:solidFill>
                            <a:srgbClr val="000000"/>
                          </a:solidFill>
                          <a:effectLst/>
                          <a:latin typeface="Arial" panose="020B0604020202020204" pitchFamily="34" charset="0"/>
                        </a:rPr>
                        <a:t> du PEV)</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$1,586,000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$1,584,018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9"/>
                  </a:ext>
                </a:extLst>
              </a:tr>
              <a:tr h="274071">
                <a:tc>
                  <a:txBody>
                    <a:bodyPr/>
                    <a:lstStyle/>
                    <a:p>
                      <a:pPr algn="l" fontAlgn="b">
                        <a:buNone/>
                      </a:pPr>
                      <a:r>
                        <a:rPr lang="en-US" sz="1000" b="1" i="0" u="none" strike="noStrike">
                          <a:solidFill>
                            <a:srgbClr val="000000"/>
                          </a:solidFill>
                          <a:effectLst/>
                          <a:latin typeface="Arial" panose="020B0604020202020204" pitchFamily="34" charset="0"/>
                        </a:rPr>
                        <a:t>TOTAL GENERAL</a:t>
                      </a:r>
                    </a:p>
                  </a:txBody>
                  <a:tcPr marL="6350" marR="6350" marT="6350" marB="0" anchor="ctr"/>
                </a:tc>
                <a:tc>
                  <a:txBody>
                    <a:bodyPr/>
                    <a:lstStyle/>
                    <a:p>
                      <a:pPr algn="ctr" rtl="0" fontAlgn="ctr">
                        <a:buNone/>
                      </a:pPr>
                      <a:r>
                        <a:rPr lang="en-US" sz="1000" b="1" i="0" u="none" strike="noStrike">
                          <a:solidFill>
                            <a:srgbClr val="000000"/>
                          </a:solidFill>
                          <a:effectLst/>
                          <a:latin typeface="Arial" panose="020B0604020202020204" pitchFamily="34" charset="0"/>
                        </a:rPr>
                        <a:t>$10,789,811 </a:t>
                      </a:r>
                    </a:p>
                  </a:txBody>
                  <a:tcPr marL="6350" marR="6350" marT="6350" marB="0" anchor="ctr"/>
                </a:tc>
                <a:tc>
                  <a:txBody>
                    <a:bodyPr/>
                    <a:lstStyle/>
                    <a:p>
                      <a:pPr algn="ctr" rtl="0" fontAlgn="ctr">
                        <a:buNone/>
                      </a:pPr>
                      <a:r>
                        <a:rPr lang="en-US" sz="1000" b="1" i="0" u="none" strike="noStrike">
                          <a:solidFill>
                            <a:srgbClr val="000000"/>
                          </a:solidFill>
                          <a:effectLst/>
                          <a:latin typeface="Arial" panose="020B0604020202020204" pitchFamily="34" charset="0"/>
                        </a:rPr>
                        <a:t>$9,354,644 </a:t>
                      </a:r>
                    </a:p>
                  </a:txBody>
                  <a:tcPr marL="6350" marR="6350" marT="6350" marB="0" anchor="ctr"/>
                </a:tc>
                <a:tc>
                  <a:txBody>
                    <a:bodyPr/>
                    <a:lstStyle/>
                    <a:p>
                      <a:pPr algn="ctr" fontAlgn="ctr">
                        <a:buNone/>
                      </a:pPr>
                      <a:r>
                        <a:rPr lang="en-US" sz="1000" b="1" i="0" u="none" strike="noStrike">
                          <a:solidFill>
                            <a:srgbClr val="000000"/>
                          </a:solidFill>
                          <a:effectLst/>
                          <a:latin typeface="Arial" panose="020B0604020202020204" pitchFamily="34" charset="0"/>
                        </a:rPr>
                        <a:t>87%</a:t>
                      </a:r>
                    </a:p>
                  </a:txBody>
                  <a:tcPr marL="6350" marR="6350" marT="6350" marB="0" anchor="ctr"/>
                </a:tc>
                <a:tc>
                  <a:txBody>
                    <a:bodyPr/>
                    <a:lstStyle/>
                    <a:p>
                      <a:pPr algn="ctr" fontAlgn="ctr">
                        <a:buNone/>
                      </a:pPr>
                      <a:endParaRPr lang="en-US" sz="10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06440379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4498</Words>
  <Application>Microsoft Office PowerPoint</Application>
  <PresentationFormat>Widescreen</PresentationFormat>
  <Paragraphs>459</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Arial,Sans-Serif</vt:lpstr>
      <vt:lpstr>微软雅黑</vt: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Valeur ajoutée - Innovations - Bonnes pratiques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Constant Kingongo</dc:creator>
  <cp:lastModifiedBy>Constant Kingongo</cp:lastModifiedBy>
  <cp:revision>28</cp:revision>
  <dcterms:created xsi:type="dcterms:W3CDTF">2025-07-23T00:59:00Z</dcterms:created>
  <dcterms:modified xsi:type="dcterms:W3CDTF">2025-12-16T08:47:54Z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