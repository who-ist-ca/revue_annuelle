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2"/>
  </p:sldMasterIdLst>
  <p:notesMasterIdLst>
    <p:notesMasterId r:id="rId18"/>
  </p:notesMasterIdLst>
  <p:sldIdLst>
    <p:sldId id="256" r:id="rId3"/>
    <p:sldId id="257" r:id="rId4"/>
    <p:sldId id="258" r:id="rId5"/>
    <p:sldId id="273" r:id="rId6"/>
    <p:sldId id="259" r:id="rId7"/>
    <p:sldId id="278" r:id="rId8"/>
    <p:sldId id="274" r:id="rId9"/>
    <p:sldId id="276" r:id="rId10"/>
    <p:sldId id="279" r:id="rId11"/>
    <p:sldId id="281" r:id="rId12"/>
    <p:sldId id="277" r:id="rId13"/>
    <p:sldId id="265" r:id="rId14"/>
    <p:sldId id="280" r:id="rId15"/>
    <p:sldId id="268" r:id="rId16"/>
    <p:sldId id="269" r:id="rId17"/>
  </p:sldIdLst>
  <p:sldSz cx="12192000" cy="6858000"/>
  <p:notesSz cx="6858000" cy="9144000"/>
  <p:embeddedFontLst>
    <p:embeddedFont>
      <p:font typeface="Play" panose="020B0604020202020204" charset="0"/>
      <p:regular r:id="rId19"/>
    </p:embeddedFont>
    <p:embeddedFont>
      <p:font typeface="Source Serif Pro" panose="02040603050405020204" pitchFamily="18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6042B85-2813-40D6-8C08-B53CA4025A3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628BBFD1-A734-4757-B910-67CC1CD1593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abc9d920d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2738" y="652463"/>
            <a:ext cx="5805487" cy="3267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45" name="Google Shape;145;g3aabc9d920d_0_191:notes"/>
          <p:cNvSpPr txBox="1">
            <a:spLocks noGrp="1"/>
          </p:cNvSpPr>
          <p:nvPr>
            <p:ph type="body" idx="1"/>
          </p:nvPr>
        </p:nvSpPr>
        <p:spPr>
          <a:xfrm>
            <a:off x="642938" y="4136571"/>
            <a:ext cx="5143500" cy="39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75" tIns="86275" rIns="86275" bIns="86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 panose="020B0604020202020204"/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abc9d920d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g3aabc9d920d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abc9d920d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g3aabc9d920d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>
          <a:extLst>
            <a:ext uri="{FF2B5EF4-FFF2-40B4-BE49-F238E27FC236}">
              <a16:creationId xmlns:a16="http://schemas.microsoft.com/office/drawing/2014/main" id="{A92F7B07-2D8D-9E90-5E42-454BBA91C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abc9d920d_0_207:notes">
            <a:extLst>
              <a:ext uri="{FF2B5EF4-FFF2-40B4-BE49-F238E27FC236}">
                <a16:creationId xmlns:a16="http://schemas.microsoft.com/office/drawing/2014/main" id="{F1D6A93D-314C-AAA1-FDAA-60AA58F11C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g3aabc9d920d_0_207:notes">
            <a:extLst>
              <a:ext uri="{FF2B5EF4-FFF2-40B4-BE49-F238E27FC236}">
                <a16:creationId xmlns:a16="http://schemas.microsoft.com/office/drawing/2014/main" id="{51D7883B-429B-CB36-2769-10C28E9EC4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9791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abc9d920d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3aabc9d920d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>
          <a:extLst>
            <a:ext uri="{FF2B5EF4-FFF2-40B4-BE49-F238E27FC236}">
              <a16:creationId xmlns:a16="http://schemas.microsoft.com/office/drawing/2014/main" id="{99908A71-963C-ADDF-DF5F-0B63C7AAE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abc9d920d_0_419:notes">
            <a:extLst>
              <a:ext uri="{FF2B5EF4-FFF2-40B4-BE49-F238E27FC236}">
                <a16:creationId xmlns:a16="http://schemas.microsoft.com/office/drawing/2014/main" id="{52EB1581-C2FE-0D50-6C32-DCD0F8F989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g3aabc9d920d_0_419:notes">
            <a:extLst>
              <a:ext uri="{FF2B5EF4-FFF2-40B4-BE49-F238E27FC236}">
                <a16:creationId xmlns:a16="http://schemas.microsoft.com/office/drawing/2014/main" id="{3A136B40-1B07-8938-F245-73440E3B25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58175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>
          <a:extLst>
            <a:ext uri="{FF2B5EF4-FFF2-40B4-BE49-F238E27FC236}">
              <a16:creationId xmlns:a16="http://schemas.microsoft.com/office/drawing/2014/main" id="{696C9EC4-E337-4B9D-B5A2-C91C9C504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abc9d920d_0_419:notes">
            <a:extLst>
              <a:ext uri="{FF2B5EF4-FFF2-40B4-BE49-F238E27FC236}">
                <a16:creationId xmlns:a16="http://schemas.microsoft.com/office/drawing/2014/main" id="{63AE91BC-395C-EB8D-E424-BF02A3D88D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g3aabc9d920d_0_419:notes">
            <a:extLst>
              <a:ext uri="{FF2B5EF4-FFF2-40B4-BE49-F238E27FC236}">
                <a16:creationId xmlns:a16="http://schemas.microsoft.com/office/drawing/2014/main" id="{56B49CB7-52A8-D924-50AD-BC10539FF8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69189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>
          <a:extLst>
            <a:ext uri="{FF2B5EF4-FFF2-40B4-BE49-F238E27FC236}">
              <a16:creationId xmlns:a16="http://schemas.microsoft.com/office/drawing/2014/main" id="{F38425DD-38B6-7DF8-A6CD-2FEA274A6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abc9d920d_0_419:notes">
            <a:extLst>
              <a:ext uri="{FF2B5EF4-FFF2-40B4-BE49-F238E27FC236}">
                <a16:creationId xmlns:a16="http://schemas.microsoft.com/office/drawing/2014/main" id="{850D35DD-9FC7-93BE-EE30-B53F0F4AAA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g3aabc9d920d_0_419:notes">
            <a:extLst>
              <a:ext uri="{FF2B5EF4-FFF2-40B4-BE49-F238E27FC236}">
                <a16:creationId xmlns:a16="http://schemas.microsoft.com/office/drawing/2014/main" id="{5528EDCB-632F-D2C7-965C-62BC09CE13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91324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>
          <a:extLst>
            <a:ext uri="{FF2B5EF4-FFF2-40B4-BE49-F238E27FC236}">
              <a16:creationId xmlns:a16="http://schemas.microsoft.com/office/drawing/2014/main" id="{8E22548D-47C3-AB1C-BFD2-FFC534889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abc9d920d_0_419:notes">
            <a:extLst>
              <a:ext uri="{FF2B5EF4-FFF2-40B4-BE49-F238E27FC236}">
                <a16:creationId xmlns:a16="http://schemas.microsoft.com/office/drawing/2014/main" id="{80F8AEF8-D8A7-85BB-5464-2237D471A7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g3aabc9d920d_0_419:notes">
            <a:extLst>
              <a:ext uri="{FF2B5EF4-FFF2-40B4-BE49-F238E27FC236}">
                <a16:creationId xmlns:a16="http://schemas.microsoft.com/office/drawing/2014/main" id="{E7D17998-423B-A6F2-93C4-FD61BB1011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52703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>
          <a:extLst>
            <a:ext uri="{FF2B5EF4-FFF2-40B4-BE49-F238E27FC236}">
              <a16:creationId xmlns:a16="http://schemas.microsoft.com/office/drawing/2014/main" id="{BB23D707-ED13-F62A-F1EF-1A3D61084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abc9d920d_0_419:notes">
            <a:extLst>
              <a:ext uri="{FF2B5EF4-FFF2-40B4-BE49-F238E27FC236}">
                <a16:creationId xmlns:a16="http://schemas.microsoft.com/office/drawing/2014/main" id="{A32A4D6E-F559-43C4-11A5-60B9118269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g3aabc9d920d_0_419:notes">
            <a:extLst>
              <a:ext uri="{FF2B5EF4-FFF2-40B4-BE49-F238E27FC236}">
                <a16:creationId xmlns:a16="http://schemas.microsoft.com/office/drawing/2014/main" id="{E3983F44-AAB6-8837-DFF8-6F9D92E9BB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18050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abc9d920d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aabc9d920d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60D35894-E24D-D82D-6520-1659AB8B9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abc9d920d_0_234:notes">
            <a:extLst>
              <a:ext uri="{FF2B5EF4-FFF2-40B4-BE49-F238E27FC236}">
                <a16:creationId xmlns:a16="http://schemas.microsoft.com/office/drawing/2014/main" id="{2C687E6F-C6C2-E0DC-F57D-E866FD03BE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aabc9d920d_0_234:notes">
            <a:extLst>
              <a:ext uri="{FF2B5EF4-FFF2-40B4-BE49-F238E27FC236}">
                <a16:creationId xmlns:a16="http://schemas.microsoft.com/office/drawing/2014/main" id="{8C21932C-E326-03E2-8278-19390609F4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86525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aabc9d920d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g3aabc9d920d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aabc9d920d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g3aabc9d920d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e de titre">
  <p:cSld name="1_Diapositive de titr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ctrTitle"/>
          </p:nvPr>
        </p:nvSpPr>
        <p:spPr>
          <a:xfrm>
            <a:off x="3385430" y="3768780"/>
            <a:ext cx="8572500" cy="2341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3041"/>
              </a:buClr>
              <a:buSzPts val="3600"/>
              <a:buFont typeface="Play" panose="00000500000000000000"/>
              <a:buNone/>
              <a:defRPr sz="3600">
                <a:solidFill>
                  <a:srgbClr val="0A304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  <p:pic>
        <p:nvPicPr>
          <p:cNvPr id="18" name="Google Shape;18;p1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23811" y="0"/>
            <a:ext cx="12215811" cy="3717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 panose="00000500000000000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 panose="00000500000000000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2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 panose="000005000000000000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 panose="000005000000000000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3" name="Google Shape;73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abc9d920d_0_27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94" name="Google Shape;94;g3aabc9d920d_0_27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95" name="Google Shape;95;g3aabc9d920d_0_27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abc9d920d_0_276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98" name="Google Shape;98;g3aabc9d920d_0_27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abc9d920d_0_27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g3aabc9d920d_0_27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g3aabc9d920d_0_27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abc9d920d_0_28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g3aabc9d920d_0_28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06" name="Google Shape;106;g3aabc9d920d_0_283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07" name="Google Shape;107;g3aabc9d920d_0_28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abc9d920d_0_28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g3aabc9d920d_0_28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abc9d920d_0_291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13" name="Google Shape;113;g3aabc9d920d_0_291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14" name="Google Shape;114;g3aabc9d920d_0_29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abc9d920d_0_295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117" name="Google Shape;117;g3aabc9d920d_0_29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abc9d920d_0_298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0" name="Google Shape;120;g3aabc9d920d_0_298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121" name="Google Shape;121;g3aabc9d920d_0_298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2" name="Google Shape;122;g3aabc9d920d_0_298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23" name="Google Shape;123;g3aabc9d920d_0_29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abc9d920d_0_304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126" name="Google Shape;126;g3aabc9d920d_0_30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abc9d920d_0_307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29" name="Google Shape;129;g3aabc9d920d_0_307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g3aabc9d920d_0_30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abc9d920d_0_3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abc9d920d_0_313"/>
          <p:cNvSpPr txBox="1">
            <a:spLocks noGrp="1"/>
          </p:cNvSpPr>
          <p:nvPr>
            <p:ph type="body" idx="1"/>
          </p:nvPr>
        </p:nvSpPr>
        <p:spPr>
          <a:xfrm>
            <a:off x="609600" y="457200"/>
            <a:ext cx="4876800" cy="57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35" name="Google Shape;135;g3aabc9d920d_0_313"/>
          <p:cNvSpPr txBox="1">
            <a:spLocks noGrp="1"/>
          </p:cNvSpPr>
          <p:nvPr>
            <p:ph type="title"/>
          </p:nvPr>
        </p:nvSpPr>
        <p:spPr>
          <a:xfrm>
            <a:off x="6502400" y="457200"/>
            <a:ext cx="3759300" cy="57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g3aabc9d920d_0_313"/>
          <p:cNvSpPr txBox="1">
            <a:spLocks noGrp="1"/>
          </p:cNvSpPr>
          <p:nvPr>
            <p:ph type="dt" idx="10"/>
          </p:nvPr>
        </p:nvSpPr>
        <p:spPr>
          <a:xfrm>
            <a:off x="6502401" y="6426201"/>
            <a:ext cx="3759300" cy="1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37" name="Google Shape;137;g3aabc9d920d_0_313"/>
          <p:cNvSpPr txBox="1">
            <a:spLocks noGrp="1"/>
          </p:cNvSpPr>
          <p:nvPr>
            <p:ph type="sldNum" idx="12"/>
          </p:nvPr>
        </p:nvSpPr>
        <p:spPr>
          <a:xfrm>
            <a:off x="10363200" y="6400800"/>
            <a:ext cx="7113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 fontScale="25000" lnSpcReduction="20000"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  <p:sp>
        <p:nvSpPr>
          <p:cNvPr id="138" name="Google Shape;138;g3aabc9d920d_0_313"/>
          <p:cNvSpPr txBox="1">
            <a:spLocks noGrp="1"/>
          </p:cNvSpPr>
          <p:nvPr>
            <p:ph type="ftr" idx="11"/>
          </p:nvPr>
        </p:nvSpPr>
        <p:spPr>
          <a:xfrm>
            <a:off x="6500284" y="6296248"/>
            <a:ext cx="37611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b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 1 1">
  <p:cSld name="CUSTOM_1_1_1_3_2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abc9d920d_0_319"/>
          <p:cNvSpPr txBox="1"/>
          <p:nvPr/>
        </p:nvSpPr>
        <p:spPr>
          <a:xfrm>
            <a:off x="0" y="0"/>
            <a:ext cx="3495900" cy="68580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3aabc9d920d_0_319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buNone/>
              <a:defRPr sz="1700"/>
            </a:lvl1pPr>
            <a:lvl2pPr lvl="1">
              <a:buNone/>
              <a:defRPr sz="1700"/>
            </a:lvl2pPr>
            <a:lvl3pPr lvl="2">
              <a:buNone/>
              <a:defRPr sz="1700"/>
            </a:lvl3pPr>
            <a:lvl4pPr lvl="3">
              <a:buNone/>
              <a:defRPr sz="1700"/>
            </a:lvl4pPr>
            <a:lvl5pPr lvl="4">
              <a:buNone/>
              <a:defRPr sz="1700"/>
            </a:lvl5pPr>
            <a:lvl6pPr lvl="5">
              <a:buNone/>
              <a:defRPr sz="1700"/>
            </a:lvl6pPr>
            <a:lvl7pPr lvl="6">
              <a:buNone/>
              <a:defRPr sz="1700"/>
            </a:lvl7pPr>
            <a:lvl8pPr lvl="7">
              <a:buNone/>
              <a:defRPr sz="1700"/>
            </a:lvl8pPr>
            <a:lvl9pPr lvl="8">
              <a:buNone/>
              <a:defRPr sz="17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  <p:sp>
        <p:nvSpPr>
          <p:cNvPr id="142" name="Google Shape;142;g3aabc9d920d_0_319"/>
          <p:cNvSpPr txBox="1">
            <a:spLocks noGrp="1"/>
          </p:cNvSpPr>
          <p:nvPr>
            <p:ph type="title"/>
          </p:nvPr>
        </p:nvSpPr>
        <p:spPr>
          <a:xfrm>
            <a:off x="325667" y="2918467"/>
            <a:ext cx="2844900" cy="763500"/>
          </a:xfrm>
          <a:prstGeom prst="rect">
            <a:avLst/>
          </a:prstGeom>
        </p:spPr>
        <p:txBody>
          <a:bodyPr spcFirstLastPara="1" wrap="square" lIns="0" tIns="0" rIns="12190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 panose="00000500000000000000"/>
              <a:buNone/>
              <a:defRPr sz="4400" b="0" i="0" u="none" strike="noStrike" cap="none">
                <a:solidFill>
                  <a:schemeClr val="dk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abc9d920d_0_26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0" name="Google Shape;90;g3aabc9d920d_0_26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 panose="020B0604020202020204"/>
              <a:buChar char="●"/>
              <a:defRPr sz="2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○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■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●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○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■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●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○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■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1" name="Google Shape;91;g3aabc9d920d_0_26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g3aabc9d920d_0_191"/>
          <p:cNvPicPr preferRelativeResize="0"/>
          <p:nvPr/>
        </p:nvPicPr>
        <p:blipFill rotWithShape="1">
          <a:blip r:embed="rId3"/>
          <a:srcRect l="-17785"/>
          <a:stretch>
            <a:fillRect/>
          </a:stretch>
        </p:blipFill>
        <p:spPr>
          <a:xfrm>
            <a:off x="-681739" y="1646127"/>
            <a:ext cx="4525279" cy="370309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aabc9d920d_0_191"/>
          <p:cNvSpPr txBox="1"/>
          <p:nvPr/>
        </p:nvSpPr>
        <p:spPr>
          <a:xfrm>
            <a:off x="4210333" y="1516433"/>
            <a:ext cx="7894800" cy="18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4300" b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Revue </a:t>
            </a:r>
            <a:r>
              <a:rPr lang="en-US" sz="4300" b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annuelle</a:t>
            </a:r>
            <a:r>
              <a:rPr lang="en-US" sz="4300" b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2025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endParaRPr lang="en-US" sz="4300" b="1" i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endParaRPr sz="2400" i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endParaRPr lang="" altLang="en-US" sz="4300" b="1" i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" altLang="en-US" sz="4300" b="1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Présentation P</a:t>
            </a:r>
            <a:r>
              <a:rPr lang="en-US" sz="4300" b="1" i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rovince</a:t>
            </a:r>
            <a:r>
              <a:rPr lang="" altLang="en-US" sz="4300" b="1" i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du Haut-Uele</a:t>
            </a:r>
          </a:p>
        </p:txBody>
      </p:sp>
      <p:sp>
        <p:nvSpPr>
          <p:cNvPr id="149" name="Google Shape;149;g3aabc9d920d_0_191"/>
          <p:cNvSpPr/>
          <p:nvPr/>
        </p:nvSpPr>
        <p:spPr>
          <a:xfrm>
            <a:off x="3661467" y="1516428"/>
            <a:ext cx="373500" cy="1867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0" name="Google Shape;150;g3aabc9d920d_0_191"/>
          <p:cNvSpPr/>
          <p:nvPr/>
        </p:nvSpPr>
        <p:spPr>
          <a:xfrm>
            <a:off x="3659879" y="1516428"/>
            <a:ext cx="373500" cy="1867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1" name="Google Shape;151;g3aabc9d920d_0_191"/>
          <p:cNvSpPr txBox="1"/>
          <p:nvPr/>
        </p:nvSpPr>
        <p:spPr>
          <a:xfrm>
            <a:off x="4717875" y="6162200"/>
            <a:ext cx="45252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2000" b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Decembre 2025</a:t>
            </a:r>
            <a:endParaRPr sz="2000" b="1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abc9d920d_0_199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b="1" i="0" u="none" strike="noStrike" cap="none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Agenda</a:t>
            </a: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7" name="Google Shape;157;g3aabc9d920d_0_199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8" name="Google Shape;158;g3aabc9d920d_0_19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9" name="Google Shape;159;g3aabc9d920d_0_199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0" name="Google Shape;160;g3aabc9d920d_0_199"/>
          <p:cNvSpPr txBox="1"/>
          <p:nvPr/>
        </p:nvSpPr>
        <p:spPr>
          <a:xfrm>
            <a:off x="458592" y="1059900"/>
            <a:ext cx="10714500" cy="4985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600" marR="0" lvl="0" indent="-476250" algn="l" rtl="0">
              <a:lnSpc>
                <a:spcPct val="15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Présentation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 la Province</a:t>
            </a:r>
            <a:endParaRPr sz="27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5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Presentation des </a:t>
            </a: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activités</a:t>
            </a:r>
            <a:endParaRPr sz="27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5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obtenus</a:t>
            </a:r>
            <a:endParaRPr sz="27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5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Facteurs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 succès</a:t>
            </a:r>
            <a:endParaRPr sz="27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5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Défis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rencontrés</a:t>
            </a:r>
            <a:endParaRPr sz="27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5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Recommandations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pour 2026</a:t>
            </a:r>
            <a:endParaRPr sz="27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abc9d920d_0_207"/>
          <p:cNvSpPr txBox="1"/>
          <p:nvPr/>
        </p:nvSpPr>
        <p:spPr>
          <a:xfrm>
            <a:off x="458592" y="317941"/>
            <a:ext cx="11274900" cy="549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3200" b="1" dirty="0" err="1">
                <a:solidFill>
                  <a:srgbClr val="1155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Profil</a:t>
            </a:r>
            <a:r>
              <a:rPr lang="en-US" sz="3200" b="1" dirty="0">
                <a:solidFill>
                  <a:srgbClr val="1155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 des </a:t>
            </a:r>
            <a:r>
              <a:rPr lang="en-US" sz="3200" b="1" dirty="0" err="1">
                <a:solidFill>
                  <a:srgbClr val="1155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antennes</a:t>
            </a:r>
            <a:endParaRPr sz="3200" b="1" i="0" u="none" strike="noStrike" cap="none" dirty="0">
              <a:solidFill>
                <a:srgbClr val="1155C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6" name="Google Shape;166;g3aabc9d920d_0_207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7" name="Google Shape;167;g3aabc9d920d_0_207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8" name="Google Shape;168;g3aabc9d920d_0_207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69" name="Google Shape;169;g3aabc9d920d_0_207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" name="Google Shape;115;p16">
            <a:extLst>
              <a:ext uri="{FF2B5EF4-FFF2-40B4-BE49-F238E27FC236}">
                <a16:creationId xmlns:a16="http://schemas.microsoft.com/office/drawing/2014/main" id="{0D1A110F-3E10-E57D-49A8-4D59278E549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413359" y="927441"/>
            <a:ext cx="5610633" cy="5357471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" name="Google Shape;117;p16">
            <a:extLst>
              <a:ext uri="{FF2B5EF4-FFF2-40B4-BE49-F238E27FC236}">
                <a16:creationId xmlns:a16="http://schemas.microsoft.com/office/drawing/2014/main" id="{91211C3E-2FF8-6887-3AD1-A9F9F0859C3C}"/>
              </a:ext>
            </a:extLst>
          </p:cNvPr>
          <p:cNvSpPr txBox="1"/>
          <p:nvPr/>
        </p:nvSpPr>
        <p:spPr>
          <a:xfrm>
            <a:off x="2351314" y="1621972"/>
            <a:ext cx="1834487" cy="307736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>
            <a:sp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Rép Soudan du sud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Google Shape;118;p16">
            <a:extLst>
              <a:ext uri="{FF2B5EF4-FFF2-40B4-BE49-F238E27FC236}">
                <a16:creationId xmlns:a16="http://schemas.microsoft.com/office/drawing/2014/main" id="{753FAFFF-2C73-8382-F208-61F4B43E7434}"/>
              </a:ext>
            </a:extLst>
          </p:cNvPr>
          <p:cNvSpPr txBox="1"/>
          <p:nvPr/>
        </p:nvSpPr>
        <p:spPr>
          <a:xfrm rot="19835910">
            <a:off x="486952" y="1240160"/>
            <a:ext cx="757200" cy="345351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>
            <a:sp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RCA</a:t>
            </a:r>
            <a:endParaRPr sz="1600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Google Shape;119;p16">
            <a:extLst>
              <a:ext uri="{FF2B5EF4-FFF2-40B4-BE49-F238E27FC236}">
                <a16:creationId xmlns:a16="http://schemas.microsoft.com/office/drawing/2014/main" id="{6DA2A368-6ADA-4304-5EDC-D9F65614C04F}"/>
              </a:ext>
            </a:extLst>
          </p:cNvPr>
          <p:cNvSpPr txBox="1"/>
          <p:nvPr/>
        </p:nvSpPr>
        <p:spPr>
          <a:xfrm>
            <a:off x="413359" y="3160492"/>
            <a:ext cx="1025170" cy="338554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>
            <a:sp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Bas Uele</a:t>
            </a:r>
            <a:endParaRPr sz="1600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Google Shape;120;p16">
            <a:extLst>
              <a:ext uri="{FF2B5EF4-FFF2-40B4-BE49-F238E27FC236}">
                <a16:creationId xmlns:a16="http://schemas.microsoft.com/office/drawing/2014/main" id="{F63C1CED-2AD5-CA41-BB23-BB23E2A3A1E4}"/>
              </a:ext>
            </a:extLst>
          </p:cNvPr>
          <p:cNvSpPr txBox="1"/>
          <p:nvPr/>
        </p:nvSpPr>
        <p:spPr>
          <a:xfrm>
            <a:off x="5124451" y="3939057"/>
            <a:ext cx="804150" cy="338554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>
            <a:sp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Ituri</a:t>
            </a:r>
            <a:endParaRPr sz="1600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Google Shape;121;p16">
            <a:extLst>
              <a:ext uri="{FF2B5EF4-FFF2-40B4-BE49-F238E27FC236}">
                <a16:creationId xmlns:a16="http://schemas.microsoft.com/office/drawing/2014/main" id="{8A26AFA3-7DBA-FB2A-2FBC-9A436F1C778B}"/>
              </a:ext>
            </a:extLst>
          </p:cNvPr>
          <p:cNvSpPr txBox="1"/>
          <p:nvPr/>
        </p:nvSpPr>
        <p:spPr>
          <a:xfrm>
            <a:off x="3506901" y="5192305"/>
            <a:ext cx="1025170" cy="338554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>
            <a:sp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Tshopo</a:t>
            </a:r>
            <a:endParaRPr sz="1600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Google Shape;122;p16">
            <a:extLst>
              <a:ext uri="{FF2B5EF4-FFF2-40B4-BE49-F238E27FC236}">
                <a16:creationId xmlns:a16="http://schemas.microsoft.com/office/drawing/2014/main" id="{88FF7F68-BF12-9FB2-18B8-12A2AC339806}"/>
              </a:ext>
            </a:extLst>
          </p:cNvPr>
          <p:cNvSpPr/>
          <p:nvPr/>
        </p:nvSpPr>
        <p:spPr>
          <a:xfrm>
            <a:off x="5053338" y="1524160"/>
            <a:ext cx="479363" cy="707886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>
            <a:noAutofit/>
          </a:bodyPr>
          <a:lstStyle/>
          <a:p>
            <a: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 panose="020B0604020202020204" pitchFamily="34" charset="0"/>
              <a:buNone/>
            </a:pPr>
            <a:r>
              <a:rPr lang="en-US" sz="4000" b="1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N</a:t>
            </a:r>
          </a:p>
        </p:txBody>
      </p:sp>
      <p:sp>
        <p:nvSpPr>
          <p:cNvPr id="10" name="Google Shape;123;p16">
            <a:extLst>
              <a:ext uri="{FF2B5EF4-FFF2-40B4-BE49-F238E27FC236}">
                <a16:creationId xmlns:a16="http://schemas.microsoft.com/office/drawing/2014/main" id="{7ABE80F9-B8CC-E514-2E4B-E87EB0CF28AE}"/>
              </a:ext>
            </a:extLst>
          </p:cNvPr>
          <p:cNvSpPr/>
          <p:nvPr/>
        </p:nvSpPr>
        <p:spPr>
          <a:xfrm>
            <a:off x="5276850" y="1563208"/>
            <a:ext cx="74406" cy="559996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wrap="square" lIns="91425" tIns="45700" rIns="91425" bIns="45700" anchor="ctr">
            <a:noAutofit/>
          </a:bodyPr>
          <a:lstStyle/>
          <a:p>
            <a: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1758AFB-5DCE-F624-2BB9-55C4B6A3FDB2}"/>
              </a:ext>
            </a:extLst>
          </p:cNvPr>
          <p:cNvSpPr txBox="1"/>
          <p:nvPr/>
        </p:nvSpPr>
        <p:spPr>
          <a:xfrm>
            <a:off x="1883229" y="3309257"/>
            <a:ext cx="9470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Niangara</a:t>
            </a:r>
          </a:p>
        </p:txBody>
      </p:sp>
      <p:graphicFrame>
        <p:nvGraphicFramePr>
          <p:cNvPr id="13" name="Google Shape;111;p16">
            <a:extLst>
              <a:ext uri="{FF2B5EF4-FFF2-40B4-BE49-F238E27FC236}">
                <a16:creationId xmlns:a16="http://schemas.microsoft.com/office/drawing/2014/main" id="{0B81982E-C5BF-9FB0-90D2-FE0A9452DB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93602395"/>
              </p:ext>
            </p:extLst>
          </p:nvPr>
        </p:nvGraphicFramePr>
        <p:xfrm>
          <a:off x="6168010" y="927442"/>
          <a:ext cx="5728019" cy="5152079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955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2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5536">
                <a:tc>
                  <a:txBody>
                    <a:bodyPr/>
                    <a:lstStyle/>
                    <a:p>
                      <a:pPr marL="0"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 panose="020F0502020204030204"/>
                        <a:buNone/>
                      </a:pPr>
                      <a:r>
                        <a:rPr lang="en-US" sz="2400" b="1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Items</a:t>
                      </a:r>
                      <a:endParaRPr sz="2400" b="1" i="0" u="none" strike="noStrike" cap="none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 panose="020B0604020202020204" pitchFamily="34" charset="0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 panose="020B0604020202020204" pitchFamily="34" charset="0"/>
                        <a:buNone/>
                      </a:pPr>
                      <a:r>
                        <a:rPr lang="en-US" sz="2400" b="1" i="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 panose="020B0604020202020204" pitchFamily="34" charset="0"/>
                        </a:rPr>
                        <a:t>Nombre</a:t>
                      </a:r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81">
                <a:tc>
                  <a:txBody>
                    <a:bodyPr/>
                    <a:lstStyle/>
                    <a:p>
                      <a:pPr marL="0" marR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 panose="020B0604020202020204" pitchFamily="34" charset="0"/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 panose="020B0604020202020204" pitchFamily="34" charset="0"/>
                        </a:rPr>
                        <a:t>Antennes</a:t>
                      </a: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 panose="020B0604020202020204" pitchFamily="34" charset="0"/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 panose="020B0604020202020204" pitchFamily="34" charset="0"/>
                        </a:rPr>
                        <a:t>2</a:t>
                      </a:r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2312">
                <a:tc>
                  <a:txBody>
                    <a:bodyPr/>
                    <a:lstStyle/>
                    <a:p>
                      <a:pPr marL="0" marR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 panose="020F0502020204030204"/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alibri" panose="020F0502020204030204"/>
                        </a:rPr>
                        <a:t>Nombre Zones de santé</a:t>
                      </a:r>
                      <a:endParaRPr sz="2400" b="0" i="0" u="none" strike="noStrike" cap="none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 panose="020B0604020202020204" pitchFamily="34" charset="0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 panose="020B0604020202020204" pitchFamily="34" charset="0"/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 panose="020B0604020202020204" pitchFamily="34" charset="0"/>
                        </a:rPr>
                        <a:t>13</a:t>
                      </a:r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972">
                <a:tc>
                  <a:txBody>
                    <a:bodyPr/>
                    <a:lstStyle/>
                    <a:p>
                      <a:pPr marL="0" marR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 panose="020F0502020204030204"/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alibri" panose="020F0502020204030204"/>
                        </a:rPr>
                        <a:t>Nombre d’aires de santé</a:t>
                      </a:r>
                      <a:endParaRPr sz="2400" b="0" i="0" u="none" strike="noStrike" cap="none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 panose="020B0604020202020204" pitchFamily="34" charset="0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 panose="020B0604020202020204" pitchFamily="34" charset="0"/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 panose="020B0604020202020204" pitchFamily="34" charset="0"/>
                        </a:rPr>
                        <a:t>213</a:t>
                      </a:r>
                      <a:endParaRPr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972">
                <a:tc>
                  <a:txBody>
                    <a:bodyPr/>
                    <a:lstStyle/>
                    <a:p>
                      <a:pPr marL="0" marR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 panose="020F0502020204030204"/>
                        <a:buNone/>
                      </a:pPr>
                      <a:r>
                        <a:rPr lang="fr-FR" sz="2400" b="0" i="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 panose="020B0604020202020204" pitchFamily="34" charset="0"/>
                        </a:rPr>
                        <a:t>ESS qui vaccinent</a:t>
                      </a:r>
                      <a:endParaRPr sz="2400" b="0" i="0" u="none" strike="noStrike" cap="none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 panose="020B0604020202020204" pitchFamily="34" charset="0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 panose="020B0604020202020204" pitchFamily="34" charset="0"/>
                        <a:buNone/>
                      </a:pPr>
                      <a:r>
                        <a:rPr lang="fr-FR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551/682</a:t>
                      </a:r>
                      <a:endParaRPr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3011570940"/>
                  </a:ext>
                </a:extLst>
              </a:tr>
              <a:tr h="497281">
                <a:tc>
                  <a:txBody>
                    <a:bodyPr/>
                    <a:lstStyle/>
                    <a:p>
                      <a:pPr marL="0" marR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 panose="020B0604020202020204" pitchFamily="34" charset="0"/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 panose="020B0604020202020204" pitchFamily="34" charset="0"/>
                        </a:rPr>
                        <a:t>Population totale</a:t>
                      </a: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 panose="020B0604020202020204" pitchFamily="34" charset="0"/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 panose="020B0604020202020204" pitchFamily="34" charset="0"/>
                        </a:rPr>
                        <a:t>2 885 191</a:t>
                      </a:r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19">
                <a:tc>
                  <a:txBody>
                    <a:bodyPr/>
                    <a:lstStyle/>
                    <a:p>
                      <a:pPr marL="0" marR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 panose="020B0604020202020204" pitchFamily="34" charset="0"/>
                        <a:buNone/>
                      </a:pPr>
                      <a:r>
                        <a:rPr lang="fr-FR" sz="2400" b="0" i="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 panose="020B0604020202020204" pitchFamily="34" charset="0"/>
                        </a:rPr>
                        <a:t>Pop  de 0-11 mois</a:t>
                      </a:r>
                      <a:endParaRPr sz="2400" b="0" i="0" u="none" strike="noStrike" cap="none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 panose="020B0604020202020204" pitchFamily="34" charset="0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 panose="020B0604020202020204" pitchFamily="34" charset="0"/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 panose="020B0604020202020204" pitchFamily="34" charset="0"/>
                        </a:rPr>
                        <a:t>100 693</a:t>
                      </a:r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5853">
                <a:tc>
                  <a:txBody>
                    <a:bodyPr/>
                    <a:lstStyle/>
                    <a:p>
                      <a:pPr marL="0" marR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 panose="020B0604020202020204" pitchFamily="34" charset="0"/>
                        <a:buNone/>
                      </a:pPr>
                      <a:r>
                        <a:rPr lang="fr-FR" sz="2400" b="0" i="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 panose="020B0604020202020204" pitchFamily="34" charset="0"/>
                        </a:rPr>
                        <a:t>Pop de 12 – 23 mois</a:t>
                      </a:r>
                      <a:endParaRPr sz="2400" b="0" i="0" u="none" strike="noStrike" cap="none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 panose="020B0604020202020204" pitchFamily="34" charset="0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 panose="020B0604020202020204" pitchFamily="34" charset="0"/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 panose="020B0604020202020204" pitchFamily="34" charset="0"/>
                        </a:rPr>
                        <a:t>54 818</a:t>
                      </a:r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65853">
                <a:tc>
                  <a:txBody>
                    <a:bodyPr/>
                    <a:lstStyle/>
                    <a:p>
                      <a:pPr marL="0" marR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 panose="020B0604020202020204" pitchFamily="34" charset="0"/>
                        <a:buNone/>
                      </a:pPr>
                      <a:r>
                        <a:rPr lang="fr-FR" sz="2400" b="0" i="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 panose="020B0604020202020204" pitchFamily="34" charset="0"/>
                        </a:rPr>
                        <a:t>Pop de 0 – 59 mois</a:t>
                      </a:r>
                      <a:endParaRPr sz="2400" b="0" i="0" u="none" strike="noStrike" cap="none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 panose="020B0604020202020204" pitchFamily="34" charset="0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 panose="020B0604020202020204" pitchFamily="34" charset="0"/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 panose="020B0604020202020204" pitchFamily="34" charset="0"/>
                        </a:rPr>
                        <a:t>545 301</a:t>
                      </a:r>
                      <a:endParaRPr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>
          <a:extLst>
            <a:ext uri="{FF2B5EF4-FFF2-40B4-BE49-F238E27FC236}">
              <a16:creationId xmlns:a16="http://schemas.microsoft.com/office/drawing/2014/main" id="{C536F6A5-5EB5-BC40-9A5C-AF87072E4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abc9d920d_0_207">
            <a:extLst>
              <a:ext uri="{FF2B5EF4-FFF2-40B4-BE49-F238E27FC236}">
                <a16:creationId xmlns:a16="http://schemas.microsoft.com/office/drawing/2014/main" id="{8D9E85D9-0815-E484-918D-9B61BFA054CB}"/>
              </a:ext>
            </a:extLst>
          </p:cNvPr>
          <p:cNvSpPr txBox="1"/>
          <p:nvPr/>
        </p:nvSpPr>
        <p:spPr>
          <a:xfrm>
            <a:off x="407500" y="155043"/>
            <a:ext cx="11274900" cy="549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3200" b="1" dirty="0" err="1">
                <a:solidFill>
                  <a:srgbClr val="1155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Profil</a:t>
            </a:r>
            <a:r>
              <a:rPr lang="en-US" sz="3200" b="1" dirty="0">
                <a:solidFill>
                  <a:srgbClr val="1155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 des </a:t>
            </a:r>
            <a:r>
              <a:rPr lang="en-US" sz="3200" b="1" dirty="0" err="1">
                <a:solidFill>
                  <a:srgbClr val="1155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antennes</a:t>
            </a:r>
            <a:endParaRPr sz="3200" b="1" i="0" u="none" strike="noStrike" cap="none" dirty="0">
              <a:solidFill>
                <a:srgbClr val="1155C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6" name="Google Shape;166;g3aabc9d920d_0_207">
            <a:extLst>
              <a:ext uri="{FF2B5EF4-FFF2-40B4-BE49-F238E27FC236}">
                <a16:creationId xmlns:a16="http://schemas.microsoft.com/office/drawing/2014/main" id="{D2630F91-F411-9EE5-0F18-141242C1E71D}"/>
              </a:ext>
            </a:extLst>
          </p:cNvPr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7" name="Google Shape;167;g3aabc9d920d_0_207">
            <a:extLst>
              <a:ext uri="{FF2B5EF4-FFF2-40B4-BE49-F238E27FC236}">
                <a16:creationId xmlns:a16="http://schemas.microsoft.com/office/drawing/2014/main" id="{5F7164D5-73D1-8727-1368-D3129C6843EB}"/>
              </a:ext>
            </a:extLst>
          </p:cNvPr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8" name="Google Shape;168;g3aabc9d920d_0_207">
            <a:extLst>
              <a:ext uri="{FF2B5EF4-FFF2-40B4-BE49-F238E27FC236}">
                <a16:creationId xmlns:a16="http://schemas.microsoft.com/office/drawing/2014/main" id="{86B3C258-6A7F-4C24-3130-E542B60B2DB1}"/>
              </a:ext>
            </a:extLst>
          </p:cNvPr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69" name="Google Shape;169;g3aabc9d920d_0_207">
            <a:extLst>
              <a:ext uri="{FF2B5EF4-FFF2-40B4-BE49-F238E27FC236}">
                <a16:creationId xmlns:a16="http://schemas.microsoft.com/office/drawing/2014/main" id="{5F2CA970-C9DF-F574-15A3-468DF8E6615A}"/>
              </a:ext>
            </a:extLst>
          </p:cNvPr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" name="Google Shape;115;p16">
            <a:extLst>
              <a:ext uri="{FF2B5EF4-FFF2-40B4-BE49-F238E27FC236}">
                <a16:creationId xmlns:a16="http://schemas.microsoft.com/office/drawing/2014/main" id="{38196472-320D-0EEE-A1AA-06D1CFF4128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413359" y="927441"/>
            <a:ext cx="5610633" cy="5357471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" name="Google Shape;117;p16">
            <a:extLst>
              <a:ext uri="{FF2B5EF4-FFF2-40B4-BE49-F238E27FC236}">
                <a16:creationId xmlns:a16="http://schemas.microsoft.com/office/drawing/2014/main" id="{4999BB92-55B1-3425-A7BB-ED580F5B1D1C}"/>
              </a:ext>
            </a:extLst>
          </p:cNvPr>
          <p:cNvSpPr txBox="1"/>
          <p:nvPr/>
        </p:nvSpPr>
        <p:spPr>
          <a:xfrm>
            <a:off x="2351314" y="1621972"/>
            <a:ext cx="1834487" cy="307736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>
            <a:sp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Rép Soudan du sud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Google Shape;118;p16">
            <a:extLst>
              <a:ext uri="{FF2B5EF4-FFF2-40B4-BE49-F238E27FC236}">
                <a16:creationId xmlns:a16="http://schemas.microsoft.com/office/drawing/2014/main" id="{7662702F-088B-06F0-65A1-7F1994F0A930}"/>
              </a:ext>
            </a:extLst>
          </p:cNvPr>
          <p:cNvSpPr txBox="1"/>
          <p:nvPr/>
        </p:nvSpPr>
        <p:spPr>
          <a:xfrm rot="19835910">
            <a:off x="486952" y="1240160"/>
            <a:ext cx="757200" cy="345351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>
            <a:sp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RCA</a:t>
            </a:r>
            <a:endParaRPr sz="1600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Google Shape;119;p16">
            <a:extLst>
              <a:ext uri="{FF2B5EF4-FFF2-40B4-BE49-F238E27FC236}">
                <a16:creationId xmlns:a16="http://schemas.microsoft.com/office/drawing/2014/main" id="{3FD31ED6-7773-5DFD-D516-A94CB7E8966A}"/>
              </a:ext>
            </a:extLst>
          </p:cNvPr>
          <p:cNvSpPr txBox="1"/>
          <p:nvPr/>
        </p:nvSpPr>
        <p:spPr>
          <a:xfrm>
            <a:off x="413359" y="3160492"/>
            <a:ext cx="1025170" cy="338554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>
            <a:sp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Bas Uele</a:t>
            </a:r>
            <a:endParaRPr sz="1600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Google Shape;120;p16">
            <a:extLst>
              <a:ext uri="{FF2B5EF4-FFF2-40B4-BE49-F238E27FC236}">
                <a16:creationId xmlns:a16="http://schemas.microsoft.com/office/drawing/2014/main" id="{EAD0A0B2-9FB2-9A8B-F821-D10B8CAC7B3E}"/>
              </a:ext>
            </a:extLst>
          </p:cNvPr>
          <p:cNvSpPr txBox="1"/>
          <p:nvPr/>
        </p:nvSpPr>
        <p:spPr>
          <a:xfrm>
            <a:off x="5124451" y="3939057"/>
            <a:ext cx="804150" cy="338554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>
            <a:sp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Ituri</a:t>
            </a:r>
            <a:endParaRPr sz="1600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Google Shape;121;p16">
            <a:extLst>
              <a:ext uri="{FF2B5EF4-FFF2-40B4-BE49-F238E27FC236}">
                <a16:creationId xmlns:a16="http://schemas.microsoft.com/office/drawing/2014/main" id="{0875C5E5-EF8E-26F8-5E69-FCF03DE941C2}"/>
              </a:ext>
            </a:extLst>
          </p:cNvPr>
          <p:cNvSpPr txBox="1"/>
          <p:nvPr/>
        </p:nvSpPr>
        <p:spPr>
          <a:xfrm>
            <a:off x="3506901" y="5192305"/>
            <a:ext cx="1025170" cy="338554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>
            <a:sp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Tshopo</a:t>
            </a:r>
            <a:endParaRPr sz="1600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Google Shape;122;p16">
            <a:extLst>
              <a:ext uri="{FF2B5EF4-FFF2-40B4-BE49-F238E27FC236}">
                <a16:creationId xmlns:a16="http://schemas.microsoft.com/office/drawing/2014/main" id="{261DAE58-5E94-26B3-4A93-7EBBF571CC17}"/>
              </a:ext>
            </a:extLst>
          </p:cNvPr>
          <p:cNvSpPr/>
          <p:nvPr/>
        </p:nvSpPr>
        <p:spPr>
          <a:xfrm>
            <a:off x="5053338" y="1524160"/>
            <a:ext cx="479363" cy="707886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>
            <a:noAutofit/>
          </a:bodyPr>
          <a:lstStyle/>
          <a:p>
            <a: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 panose="020B0604020202020204" pitchFamily="34" charset="0"/>
              <a:buNone/>
            </a:pPr>
            <a:r>
              <a:rPr lang="en-US" sz="4000" b="1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N</a:t>
            </a:r>
          </a:p>
        </p:txBody>
      </p:sp>
      <p:sp>
        <p:nvSpPr>
          <p:cNvPr id="10" name="Google Shape;123;p16">
            <a:extLst>
              <a:ext uri="{FF2B5EF4-FFF2-40B4-BE49-F238E27FC236}">
                <a16:creationId xmlns:a16="http://schemas.microsoft.com/office/drawing/2014/main" id="{093E3B7C-7B49-F6BE-55FB-CD2FC59AFB4B}"/>
              </a:ext>
            </a:extLst>
          </p:cNvPr>
          <p:cNvSpPr/>
          <p:nvPr/>
        </p:nvSpPr>
        <p:spPr>
          <a:xfrm>
            <a:off x="5276850" y="1563208"/>
            <a:ext cx="74406" cy="559996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00000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wrap="square" lIns="91425" tIns="45700" rIns="91425" bIns="45700" anchor="ctr">
            <a:noAutofit/>
          </a:bodyPr>
          <a:lstStyle/>
          <a:p>
            <a:pPr marL="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230CDDD-BDCA-FCD4-0C56-678411F97459}"/>
              </a:ext>
            </a:extLst>
          </p:cNvPr>
          <p:cNvSpPr txBox="1"/>
          <p:nvPr/>
        </p:nvSpPr>
        <p:spPr>
          <a:xfrm>
            <a:off x="1883229" y="3309257"/>
            <a:ext cx="9470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Niangara</a:t>
            </a:r>
          </a:p>
        </p:txBody>
      </p:sp>
      <p:graphicFrame>
        <p:nvGraphicFramePr>
          <p:cNvPr id="13" name="Google Shape;111;p16">
            <a:extLst>
              <a:ext uri="{FF2B5EF4-FFF2-40B4-BE49-F238E27FC236}">
                <a16:creationId xmlns:a16="http://schemas.microsoft.com/office/drawing/2014/main" id="{F976C19D-9D70-8A10-5FCD-3E659B6220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0196621"/>
              </p:ext>
            </p:extLst>
          </p:nvPr>
        </p:nvGraphicFramePr>
        <p:xfrm>
          <a:off x="6168010" y="927442"/>
          <a:ext cx="5728019" cy="5365172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955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2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9951">
                <a:tc>
                  <a:txBody>
                    <a:bodyPr/>
                    <a:lstStyle/>
                    <a:p>
                      <a:pPr marL="0"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 panose="020F0502020204030204"/>
                        <a:buNone/>
                      </a:pPr>
                      <a:r>
                        <a:rPr lang="en-US" sz="2400" b="1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Items</a:t>
                      </a:r>
                      <a:endParaRPr sz="2400" b="1" i="0" u="none" strike="noStrike" cap="none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 panose="020B0604020202020204" pitchFamily="34" charset="0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 panose="020B0604020202020204" pitchFamily="34" charset="0"/>
                        <a:buNone/>
                      </a:pPr>
                      <a:r>
                        <a:rPr lang="en-US" sz="2400" b="1" i="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 panose="020B0604020202020204" pitchFamily="34" charset="0"/>
                        </a:rPr>
                        <a:t>Nombre</a:t>
                      </a:r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550">
                <a:tc>
                  <a:txBody>
                    <a:bodyPr/>
                    <a:lstStyle/>
                    <a:p>
                      <a:pPr marL="0" marR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 panose="020B0604020202020204" pitchFamily="34" charset="0"/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 panose="020B0604020202020204" pitchFamily="34" charset="0"/>
                        </a:rPr>
                        <a:t>Couvertures </a:t>
                      </a:r>
                      <a:r>
                        <a:rPr lang="en-US" sz="2400" b="0" i="0" u="none" strike="noStrike" cap="none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 panose="020B0604020202020204" pitchFamily="34" charset="0"/>
                        </a:rPr>
                        <a:t>en</a:t>
                      </a:r>
                      <a:r>
                        <a:rPr lang="en-US" sz="2400" b="0" i="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 panose="020B0604020202020204" pitchFamily="34" charset="0"/>
                        </a:rPr>
                        <a:t> ECF</a:t>
                      </a: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 panose="020B0604020202020204" pitchFamily="34" charset="0"/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 panose="020B0604020202020204" pitchFamily="34" charset="0"/>
                        </a:rPr>
                        <a:t>95 % (AS)</a:t>
                      </a:r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4048">
                <a:tc>
                  <a:txBody>
                    <a:bodyPr/>
                    <a:lstStyle/>
                    <a:p>
                      <a:pPr marL="0" marR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 panose="020F0502020204030204"/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alibri" panose="020F0502020204030204"/>
                        </a:rPr>
                        <a:t>Séances de vaccination </a:t>
                      </a:r>
                      <a:r>
                        <a:rPr lang="en-US" sz="2400" b="0" i="0" u="none" strike="noStrike" cap="none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alibri" panose="020F0502020204030204"/>
                        </a:rPr>
                        <a:t>planifiées</a:t>
                      </a:r>
                      <a:endParaRPr sz="2400" b="0" i="0" u="none" strike="noStrike" cap="none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 panose="020B0604020202020204" pitchFamily="34" charset="0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 panose="020B0604020202020204" pitchFamily="34" charset="0"/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 panose="020B0604020202020204" pitchFamily="34" charset="0"/>
                        </a:rPr>
                        <a:t>F = 11 920</a:t>
                      </a:r>
                    </a:p>
                    <a:p>
                      <a:pPr marL="0" marR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 panose="020B0604020202020204" pitchFamily="34" charset="0"/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 panose="020B0604020202020204" pitchFamily="34" charset="0"/>
                        </a:rPr>
                        <a:t>A = 8 110 </a:t>
                      </a:r>
                    </a:p>
                    <a:p>
                      <a:pPr marL="0" marR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 panose="020B0604020202020204" pitchFamily="34" charset="0"/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 panose="020B0604020202020204" pitchFamily="34" charset="0"/>
                        </a:rPr>
                        <a:t>M = 60</a:t>
                      </a:r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3298">
                <a:tc gridSpan="2">
                  <a:txBody>
                    <a:bodyPr/>
                    <a:lstStyle/>
                    <a:p>
                      <a:pPr marL="0" marR="0" lvl="2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ourier New" panose="02070309020205020404" pitchFamily="49" charset="0"/>
                        <a:buNone/>
                      </a:pPr>
                      <a:r>
                        <a:rPr lang="fr-FR" sz="2400" b="0" i="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 panose="020B0604020202020204" pitchFamily="34" charset="0"/>
                        </a:rPr>
                        <a:t>Létalité  de la rougeole : 1 % en 2023; 0,9 % en 2024; 0,4 % en 2025</a:t>
                      </a:r>
                    </a:p>
                    <a:p>
                      <a:pPr marL="0" marR="0" lvl="2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ourier New" panose="02070309020205020404" pitchFamily="49" charset="0"/>
                        <a:buNone/>
                      </a:pPr>
                      <a:r>
                        <a:rPr lang="fr-FR" sz="2400" b="0" i="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 panose="020B0604020202020204" pitchFamily="34" charset="0"/>
                        </a:rPr>
                        <a:t>Nombre cas plus élevé en 2024 (11 958) avec 5 ZS en épidémie</a:t>
                      </a:r>
                    </a:p>
                    <a:p>
                      <a:pPr marL="0" marR="0" lvl="2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ourier New" panose="02070309020205020404" pitchFamily="49" charset="0"/>
                        <a:buNone/>
                      </a:pPr>
                      <a:r>
                        <a:rPr lang="fr-FR" sz="2400" b="0" i="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 panose="020B0604020202020204" pitchFamily="34" charset="0"/>
                        </a:rPr>
                        <a:t>Paludisme, 1ere cause de morbidité et de mortalité chez les moins de 5 ans; incidence = 313 cas/ 1000; létalité hospitalière 1,34 %</a:t>
                      </a:r>
                      <a:endParaRPr sz="2400" b="0" i="0" u="none" strike="noStrike" cap="none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 panose="020B0604020202020204" pitchFamily="34" charset="0"/>
                      </a:endParaRPr>
                    </a:p>
                  </a:txBody>
                  <a:tcPr marL="91450" marR="91450" marT="45700" marB="45700"/>
                </a:tc>
                <a:tc hMerge="1">
                  <a:txBody>
                    <a:bodyPr/>
                    <a:lstStyle/>
                    <a:p>
                      <a:pPr marL="0"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 panose="020B0604020202020204" pitchFamily="34" charset="0"/>
                        <a:buNone/>
                      </a:pPr>
                      <a:endParaRPr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1450" marR="91450"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588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abc9d920d_0_226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Presentation des </a:t>
            </a: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activités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7" name="Google Shape;177;g3aabc9d920d_0_226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8" name="Google Shape;178;g3aabc9d920d_0_226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9" name="Google Shape;179;g3aabc9d920d_0_226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5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80" name="Google Shape;180;g3aabc9d920d_0_226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" name="Image 1">
            <a:extLst>
              <a:ext uri="{FF2B5EF4-FFF2-40B4-BE49-F238E27FC236}">
                <a16:creationId xmlns:a16="http://schemas.microsoft.com/office/drawing/2014/main" id="{B956CC44-4DB3-C8C4-8DF4-9D2E6D7B9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08" y="803275"/>
            <a:ext cx="11080349" cy="5251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>
          <a:extLst>
            <a:ext uri="{FF2B5EF4-FFF2-40B4-BE49-F238E27FC236}">
              <a16:creationId xmlns:a16="http://schemas.microsoft.com/office/drawing/2014/main" id="{3F5B00C9-E0C8-9157-BDFF-C1DF9DB1E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abc9d920d_0_419">
            <a:extLst>
              <a:ext uri="{FF2B5EF4-FFF2-40B4-BE49-F238E27FC236}">
                <a16:creationId xmlns:a16="http://schemas.microsoft.com/office/drawing/2014/main" id="{3833EFA7-EB5C-3392-14DF-6E23C4B14BC4}"/>
              </a:ext>
            </a:extLst>
          </p:cNvPr>
          <p:cNvSpPr txBox="1"/>
          <p:nvPr/>
        </p:nvSpPr>
        <p:spPr>
          <a:xfrm>
            <a:off x="450400" y="19613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3200" dirty="0" err="1">
                <a:solidFill>
                  <a:srgbClr val="1155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Résultats</a:t>
            </a:r>
            <a:r>
              <a:rPr lang="en-US" sz="3200" dirty="0">
                <a:solidFill>
                  <a:srgbClr val="1155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 </a:t>
            </a:r>
            <a:r>
              <a:rPr lang="en-US" sz="3200" dirty="0" err="1">
                <a:solidFill>
                  <a:srgbClr val="1155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obtenus</a:t>
            </a:r>
            <a:r>
              <a:rPr lang="en-US" sz="3200" dirty="0">
                <a:solidFill>
                  <a:srgbClr val="1155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 Introduction VAP</a:t>
            </a:r>
            <a:endParaRPr sz="3200" dirty="0">
              <a:solidFill>
                <a:srgbClr val="1155C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7" name="Google Shape;217;g3aabc9d920d_0_419">
            <a:extLst>
              <a:ext uri="{FF2B5EF4-FFF2-40B4-BE49-F238E27FC236}">
                <a16:creationId xmlns:a16="http://schemas.microsoft.com/office/drawing/2014/main" id="{37A19B60-4134-B0E0-E10B-CA229D0B86B2}"/>
              </a:ext>
            </a:extLst>
          </p:cNvPr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8" name="Google Shape;218;g3aabc9d920d_0_419">
            <a:extLst>
              <a:ext uri="{FF2B5EF4-FFF2-40B4-BE49-F238E27FC236}">
                <a16:creationId xmlns:a16="http://schemas.microsoft.com/office/drawing/2014/main" id="{4950B70A-5314-6EA8-341E-D1BC6CAA0A79}"/>
              </a:ext>
            </a:extLst>
          </p:cNvPr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9" name="Google Shape;219;g3aabc9d920d_0_419">
            <a:extLst>
              <a:ext uri="{FF2B5EF4-FFF2-40B4-BE49-F238E27FC236}">
                <a16:creationId xmlns:a16="http://schemas.microsoft.com/office/drawing/2014/main" id="{7B20046A-54D3-ACE0-E1C6-998EBB6EFE67}"/>
              </a:ext>
            </a:extLst>
          </p:cNvPr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6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20" name="Google Shape;220;g3aabc9d920d_0_419">
            <a:extLst>
              <a:ext uri="{FF2B5EF4-FFF2-40B4-BE49-F238E27FC236}">
                <a16:creationId xmlns:a16="http://schemas.microsoft.com/office/drawing/2014/main" id="{A1D0D7E4-F523-D287-D433-FBB096D40962}"/>
              </a:ext>
            </a:extLst>
          </p:cNvPr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514D8916-57AA-DAA7-544F-5B281E94807F}"/>
              </a:ext>
            </a:extLst>
          </p:cNvPr>
          <p:cNvSpPr txBox="1"/>
          <p:nvPr/>
        </p:nvSpPr>
        <p:spPr>
          <a:xfrm>
            <a:off x="293870" y="5619197"/>
            <a:ext cx="11490780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r-FR" sz="1800" dirty="0"/>
              <a:t>Vaccination des enfants de plus de 11 mois sous pression communautaire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r-FR" sz="1800" dirty="0"/>
              <a:t>Difficultés de collecte des données faute d’outils appropriés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4C7C2FA1-303E-8B2C-AE56-1F89E0011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610" y="772888"/>
            <a:ext cx="5658304" cy="491070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4FEA8A6C-A3B0-BEE3-1E65-81F2A1048A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5624" y="772888"/>
            <a:ext cx="5601276" cy="3645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246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>
          <a:extLst>
            <a:ext uri="{FF2B5EF4-FFF2-40B4-BE49-F238E27FC236}">
              <a16:creationId xmlns:a16="http://schemas.microsoft.com/office/drawing/2014/main" id="{A89787EC-8B8C-3CEB-76BF-CAF87A8E0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abc9d920d_0_419">
            <a:extLst>
              <a:ext uri="{FF2B5EF4-FFF2-40B4-BE49-F238E27FC236}">
                <a16:creationId xmlns:a16="http://schemas.microsoft.com/office/drawing/2014/main" id="{DE2E07D8-25B6-7AFA-0B0B-46F4ABA5C687}"/>
              </a:ext>
            </a:extLst>
          </p:cNvPr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3200" dirty="0" err="1">
                <a:solidFill>
                  <a:srgbClr val="1155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Résultats</a:t>
            </a:r>
            <a:r>
              <a:rPr lang="en-US" sz="3200" dirty="0">
                <a:solidFill>
                  <a:srgbClr val="1155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 </a:t>
            </a:r>
            <a:r>
              <a:rPr lang="en-US" sz="3200" dirty="0" err="1">
                <a:solidFill>
                  <a:srgbClr val="1155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obtenus</a:t>
            </a:r>
            <a:r>
              <a:rPr lang="en-US" sz="3200" dirty="0">
                <a:solidFill>
                  <a:srgbClr val="1155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 Introduction RR/</a:t>
            </a:r>
            <a:r>
              <a:rPr lang="en-US" sz="3200" dirty="0" err="1">
                <a:solidFill>
                  <a:srgbClr val="1155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campagne</a:t>
            </a:r>
            <a:r>
              <a:rPr lang="en-US" sz="3200" dirty="0">
                <a:solidFill>
                  <a:srgbClr val="1155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 de </a:t>
            </a:r>
            <a:r>
              <a:rPr lang="en-US" sz="3200" dirty="0" err="1">
                <a:solidFill>
                  <a:srgbClr val="1155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rattrapage</a:t>
            </a:r>
            <a:endParaRPr sz="3200" dirty="0">
              <a:solidFill>
                <a:srgbClr val="1155C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7" name="Google Shape;217;g3aabc9d920d_0_419">
            <a:extLst>
              <a:ext uri="{FF2B5EF4-FFF2-40B4-BE49-F238E27FC236}">
                <a16:creationId xmlns:a16="http://schemas.microsoft.com/office/drawing/2014/main" id="{493E986D-A678-380D-937E-8F78295F91C8}"/>
              </a:ext>
            </a:extLst>
          </p:cNvPr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8" name="Google Shape;218;g3aabc9d920d_0_419">
            <a:extLst>
              <a:ext uri="{FF2B5EF4-FFF2-40B4-BE49-F238E27FC236}">
                <a16:creationId xmlns:a16="http://schemas.microsoft.com/office/drawing/2014/main" id="{C92AE24E-822B-3D49-EE02-8BE584B21704}"/>
              </a:ext>
            </a:extLst>
          </p:cNvPr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9" name="Google Shape;219;g3aabc9d920d_0_419">
            <a:extLst>
              <a:ext uri="{FF2B5EF4-FFF2-40B4-BE49-F238E27FC236}">
                <a16:creationId xmlns:a16="http://schemas.microsoft.com/office/drawing/2014/main" id="{61319CC9-700B-E7D9-C7A8-77924C932F8A}"/>
              </a:ext>
            </a:extLst>
          </p:cNvPr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7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20" name="Google Shape;220;g3aabc9d920d_0_419">
            <a:extLst>
              <a:ext uri="{FF2B5EF4-FFF2-40B4-BE49-F238E27FC236}">
                <a16:creationId xmlns:a16="http://schemas.microsoft.com/office/drawing/2014/main" id="{161D5981-1366-112E-AA04-E1108B9E1043}"/>
              </a:ext>
            </a:extLst>
          </p:cNvPr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" name="Image 1">
            <a:extLst>
              <a:ext uri="{FF2B5EF4-FFF2-40B4-BE49-F238E27FC236}">
                <a16:creationId xmlns:a16="http://schemas.microsoft.com/office/drawing/2014/main" id="{21BA1840-5ED5-9B78-7609-41F131F31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08" y="946149"/>
            <a:ext cx="11025921" cy="541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714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>
          <a:extLst>
            <a:ext uri="{FF2B5EF4-FFF2-40B4-BE49-F238E27FC236}">
              <a16:creationId xmlns:a16="http://schemas.microsoft.com/office/drawing/2014/main" id="{F4F52656-0C78-C43A-8E9C-FA728C296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abc9d920d_0_419">
            <a:extLst>
              <a:ext uri="{FF2B5EF4-FFF2-40B4-BE49-F238E27FC236}">
                <a16:creationId xmlns:a16="http://schemas.microsoft.com/office/drawing/2014/main" id="{6A649F37-9C84-8A38-2D73-B92F39FADB34}"/>
              </a:ext>
            </a:extLst>
          </p:cNvPr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3200" dirty="0" err="1">
                <a:solidFill>
                  <a:srgbClr val="1155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Résultats</a:t>
            </a:r>
            <a:r>
              <a:rPr lang="en-US" sz="3200" dirty="0">
                <a:solidFill>
                  <a:srgbClr val="1155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 </a:t>
            </a:r>
            <a:r>
              <a:rPr lang="en-US" sz="3200" dirty="0" err="1">
                <a:solidFill>
                  <a:srgbClr val="1155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obtenus</a:t>
            </a:r>
            <a:r>
              <a:rPr lang="en-US" sz="3200" dirty="0">
                <a:solidFill>
                  <a:srgbClr val="1155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 Introduction RR/</a:t>
            </a:r>
            <a:r>
              <a:rPr lang="en-US" sz="3200" dirty="0" err="1">
                <a:solidFill>
                  <a:srgbClr val="1155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campagne</a:t>
            </a:r>
            <a:r>
              <a:rPr lang="en-US" sz="3200" dirty="0">
                <a:solidFill>
                  <a:srgbClr val="1155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 de </a:t>
            </a:r>
            <a:r>
              <a:rPr lang="en-US" sz="3200" dirty="0" err="1">
                <a:solidFill>
                  <a:srgbClr val="1155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rattrapage</a:t>
            </a:r>
            <a:endParaRPr sz="3200" dirty="0">
              <a:solidFill>
                <a:srgbClr val="1155C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7" name="Google Shape;217;g3aabc9d920d_0_419">
            <a:extLst>
              <a:ext uri="{FF2B5EF4-FFF2-40B4-BE49-F238E27FC236}">
                <a16:creationId xmlns:a16="http://schemas.microsoft.com/office/drawing/2014/main" id="{D4EE3464-DBAE-A257-BEDD-EFF89BA73951}"/>
              </a:ext>
            </a:extLst>
          </p:cNvPr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8" name="Google Shape;218;g3aabc9d920d_0_419">
            <a:extLst>
              <a:ext uri="{FF2B5EF4-FFF2-40B4-BE49-F238E27FC236}">
                <a16:creationId xmlns:a16="http://schemas.microsoft.com/office/drawing/2014/main" id="{6531447C-946C-627B-D67D-A332B646842B}"/>
              </a:ext>
            </a:extLst>
          </p:cNvPr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9" name="Google Shape;219;g3aabc9d920d_0_419">
            <a:extLst>
              <a:ext uri="{FF2B5EF4-FFF2-40B4-BE49-F238E27FC236}">
                <a16:creationId xmlns:a16="http://schemas.microsoft.com/office/drawing/2014/main" id="{9B343346-BFC1-9A4A-4453-CABF5F9E0861}"/>
              </a:ext>
            </a:extLst>
          </p:cNvPr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8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20" name="Google Shape;220;g3aabc9d920d_0_419">
            <a:extLst>
              <a:ext uri="{FF2B5EF4-FFF2-40B4-BE49-F238E27FC236}">
                <a16:creationId xmlns:a16="http://schemas.microsoft.com/office/drawing/2014/main" id="{2A0C89CB-2397-CC26-9763-E78ECC531B5F}"/>
              </a:ext>
            </a:extLst>
          </p:cNvPr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" name="Image 2">
            <a:extLst>
              <a:ext uri="{FF2B5EF4-FFF2-40B4-BE49-F238E27FC236}">
                <a16:creationId xmlns:a16="http://schemas.microsoft.com/office/drawing/2014/main" id="{308CDAB2-F0BC-5481-212E-D404EB83D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00" y="927441"/>
            <a:ext cx="11274900" cy="5233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882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>
          <a:extLst>
            <a:ext uri="{FF2B5EF4-FFF2-40B4-BE49-F238E27FC236}">
              <a16:creationId xmlns:a16="http://schemas.microsoft.com/office/drawing/2014/main" id="{FF1F3517-181B-B38A-8379-D402CB392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abc9d920d_0_419">
            <a:extLst>
              <a:ext uri="{FF2B5EF4-FFF2-40B4-BE49-F238E27FC236}">
                <a16:creationId xmlns:a16="http://schemas.microsoft.com/office/drawing/2014/main" id="{D32AFF35-B70B-514C-DEA5-F953680C0895}"/>
              </a:ext>
            </a:extLst>
          </p:cNvPr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3200" dirty="0" err="1">
                <a:solidFill>
                  <a:srgbClr val="1155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Résultats</a:t>
            </a:r>
            <a:r>
              <a:rPr lang="en-US" sz="3200" dirty="0">
                <a:solidFill>
                  <a:srgbClr val="1155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 </a:t>
            </a:r>
            <a:r>
              <a:rPr lang="en-US" sz="3200" dirty="0" err="1">
                <a:solidFill>
                  <a:srgbClr val="1155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obtenus</a:t>
            </a:r>
            <a:r>
              <a:rPr lang="en-US" sz="3200" dirty="0">
                <a:solidFill>
                  <a:srgbClr val="1155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 Introduction RR/</a:t>
            </a:r>
            <a:r>
              <a:rPr lang="en-US" sz="3200" dirty="0" err="1">
                <a:solidFill>
                  <a:srgbClr val="1155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campagne</a:t>
            </a:r>
            <a:r>
              <a:rPr lang="en-US" sz="3200" dirty="0">
                <a:solidFill>
                  <a:srgbClr val="1155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 de </a:t>
            </a:r>
            <a:r>
              <a:rPr lang="en-US" sz="3200" dirty="0" err="1">
                <a:solidFill>
                  <a:srgbClr val="1155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rattrapage</a:t>
            </a:r>
            <a:endParaRPr sz="3200" dirty="0">
              <a:solidFill>
                <a:srgbClr val="1155C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7" name="Google Shape;217;g3aabc9d920d_0_419">
            <a:extLst>
              <a:ext uri="{FF2B5EF4-FFF2-40B4-BE49-F238E27FC236}">
                <a16:creationId xmlns:a16="http://schemas.microsoft.com/office/drawing/2014/main" id="{2D9472E3-7D7F-7A4A-9C55-EBDB3FE5EF00}"/>
              </a:ext>
            </a:extLst>
          </p:cNvPr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8" name="Google Shape;218;g3aabc9d920d_0_419">
            <a:extLst>
              <a:ext uri="{FF2B5EF4-FFF2-40B4-BE49-F238E27FC236}">
                <a16:creationId xmlns:a16="http://schemas.microsoft.com/office/drawing/2014/main" id="{484298FB-D063-CC2E-1DD2-356E1B6AD208}"/>
              </a:ext>
            </a:extLst>
          </p:cNvPr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9" name="Google Shape;219;g3aabc9d920d_0_419">
            <a:extLst>
              <a:ext uri="{FF2B5EF4-FFF2-40B4-BE49-F238E27FC236}">
                <a16:creationId xmlns:a16="http://schemas.microsoft.com/office/drawing/2014/main" id="{AF24F6CD-762A-85D8-687E-516FF99908C9}"/>
              </a:ext>
            </a:extLst>
          </p:cNvPr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9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20" name="Google Shape;220;g3aabc9d920d_0_419">
            <a:extLst>
              <a:ext uri="{FF2B5EF4-FFF2-40B4-BE49-F238E27FC236}">
                <a16:creationId xmlns:a16="http://schemas.microsoft.com/office/drawing/2014/main" id="{FCD48A73-DAA0-1C22-4CC7-5BACE106B4AE}"/>
              </a:ext>
            </a:extLst>
          </p:cNvPr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" name="Image 3">
            <a:extLst>
              <a:ext uri="{FF2B5EF4-FFF2-40B4-BE49-F238E27FC236}">
                <a16:creationId xmlns:a16="http://schemas.microsoft.com/office/drawing/2014/main" id="{65F45C85-2BCC-7A42-E6A6-EEE42A415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08" y="927441"/>
            <a:ext cx="7016750" cy="5413034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F42DBFB7-5885-33EB-BB4A-084950D959E2}"/>
              </a:ext>
            </a:extLst>
          </p:cNvPr>
          <p:cNvSpPr txBox="1"/>
          <p:nvPr/>
        </p:nvSpPr>
        <p:spPr>
          <a:xfrm>
            <a:off x="7761514" y="1049641"/>
            <a:ext cx="3971894" cy="5425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300000"/>
              </a:lnSpc>
              <a:buFont typeface="Courier New" panose="02070309020205020404" pitchFamily="49" charset="0"/>
              <a:buChar char="o"/>
            </a:pPr>
            <a:r>
              <a:rPr lang="fr-FR" sz="2400" dirty="0"/>
              <a:t>Eruptions cutanées généralisées; Bouffissure de la face</a:t>
            </a:r>
          </a:p>
          <a:p>
            <a:pPr marL="285750" indent="-285750">
              <a:lnSpc>
                <a:spcPct val="300000"/>
              </a:lnSpc>
              <a:buFont typeface="Courier New" panose="02070309020205020404" pitchFamily="49" charset="0"/>
              <a:buChar char="o"/>
            </a:pPr>
            <a:r>
              <a:rPr lang="fr-FR" sz="2400" dirty="0"/>
              <a:t>Bonne évolution</a:t>
            </a:r>
          </a:p>
          <a:p>
            <a:pPr>
              <a:lnSpc>
                <a:spcPct val="300000"/>
              </a:lnSpc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664839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>
          <a:extLst>
            <a:ext uri="{FF2B5EF4-FFF2-40B4-BE49-F238E27FC236}">
              <a16:creationId xmlns:a16="http://schemas.microsoft.com/office/drawing/2014/main" id="{1387A442-0B23-8DDC-699E-216CD7334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abc9d920d_0_419">
            <a:extLst>
              <a:ext uri="{FF2B5EF4-FFF2-40B4-BE49-F238E27FC236}">
                <a16:creationId xmlns:a16="http://schemas.microsoft.com/office/drawing/2014/main" id="{7B03F1E7-3D90-AA41-6BEA-A18AAC9AC238}"/>
              </a:ext>
            </a:extLst>
          </p:cNvPr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3200" dirty="0" err="1">
                <a:solidFill>
                  <a:srgbClr val="1155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Résultats</a:t>
            </a:r>
            <a:r>
              <a:rPr lang="en-US" sz="3200" dirty="0">
                <a:solidFill>
                  <a:srgbClr val="1155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 </a:t>
            </a:r>
            <a:r>
              <a:rPr lang="en-US" sz="3200" dirty="0" err="1">
                <a:solidFill>
                  <a:srgbClr val="1155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obtenus</a:t>
            </a:r>
            <a:r>
              <a:rPr lang="en-US" sz="3200" dirty="0">
                <a:solidFill>
                  <a:srgbClr val="1155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 Introduction RR/</a:t>
            </a:r>
            <a:r>
              <a:rPr lang="en-US" sz="3200" dirty="0" err="1">
                <a:solidFill>
                  <a:srgbClr val="1155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campagne</a:t>
            </a:r>
            <a:r>
              <a:rPr lang="en-US" sz="3200" dirty="0">
                <a:solidFill>
                  <a:srgbClr val="1155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 de </a:t>
            </a:r>
            <a:r>
              <a:rPr lang="en-US" sz="3200" dirty="0" err="1">
                <a:solidFill>
                  <a:srgbClr val="1155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rattrapage</a:t>
            </a:r>
            <a:endParaRPr sz="3200" dirty="0">
              <a:solidFill>
                <a:srgbClr val="1155CC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7" name="Google Shape;217;g3aabc9d920d_0_419">
            <a:extLst>
              <a:ext uri="{FF2B5EF4-FFF2-40B4-BE49-F238E27FC236}">
                <a16:creationId xmlns:a16="http://schemas.microsoft.com/office/drawing/2014/main" id="{790857E4-5C47-EECA-8FD1-DF2BCE123F32}"/>
              </a:ext>
            </a:extLst>
          </p:cNvPr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8" name="Google Shape;218;g3aabc9d920d_0_419">
            <a:extLst>
              <a:ext uri="{FF2B5EF4-FFF2-40B4-BE49-F238E27FC236}">
                <a16:creationId xmlns:a16="http://schemas.microsoft.com/office/drawing/2014/main" id="{38128C48-F4F4-D51E-4034-8AB93E0A947A}"/>
              </a:ext>
            </a:extLst>
          </p:cNvPr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9" name="Google Shape;219;g3aabc9d920d_0_419">
            <a:extLst>
              <a:ext uri="{FF2B5EF4-FFF2-40B4-BE49-F238E27FC236}">
                <a16:creationId xmlns:a16="http://schemas.microsoft.com/office/drawing/2014/main" id="{4E3A89C1-EFF6-707C-799E-0DB2E8015889}"/>
              </a:ext>
            </a:extLst>
          </p:cNvPr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10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20" name="Google Shape;220;g3aabc9d920d_0_419">
            <a:extLst>
              <a:ext uri="{FF2B5EF4-FFF2-40B4-BE49-F238E27FC236}">
                <a16:creationId xmlns:a16="http://schemas.microsoft.com/office/drawing/2014/main" id="{F4947B20-07C9-F3E9-F8E1-DFDE0A198F75}"/>
              </a:ext>
            </a:extLst>
          </p:cNvPr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7FDCA047-2A37-9739-C266-33FCCE87FDDC}"/>
              </a:ext>
            </a:extLst>
          </p:cNvPr>
          <p:cNvSpPr txBox="1"/>
          <p:nvPr/>
        </p:nvSpPr>
        <p:spPr>
          <a:xfrm>
            <a:off x="458508" y="1049641"/>
            <a:ext cx="11274900" cy="4871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300000"/>
              </a:lnSpc>
              <a:buFont typeface="Courier New" panose="02070309020205020404" pitchFamily="49" charset="0"/>
              <a:buChar char="o"/>
            </a:pPr>
            <a:r>
              <a:rPr lang="fr-FR" sz="2800" dirty="0"/>
              <a:t>Taux de perte : 4 %</a:t>
            </a:r>
          </a:p>
          <a:p>
            <a:pPr marL="285750" indent="-285750">
              <a:lnSpc>
                <a:spcPct val="300000"/>
              </a:lnSpc>
              <a:buFont typeface="Courier New" panose="02070309020205020404" pitchFamily="49" charset="0"/>
              <a:buChar char="o"/>
            </a:pPr>
            <a:r>
              <a:rPr lang="fr-FR" sz="2800" dirty="0"/>
              <a:t>Solde RR : 45 610 doses</a:t>
            </a:r>
          </a:p>
          <a:p>
            <a:pPr marL="285750" indent="-285750">
              <a:lnSpc>
                <a:spcPct val="300000"/>
              </a:lnSpc>
              <a:buFont typeface="Courier New" panose="02070309020205020404" pitchFamily="49" charset="0"/>
              <a:buChar char="o"/>
            </a:pPr>
            <a:r>
              <a:rPr lang="fr-FR" sz="2800" dirty="0"/>
              <a:t>Switch VAR-RR : 63 115 doses de VAR à Isiro</a:t>
            </a:r>
          </a:p>
          <a:p>
            <a:pPr>
              <a:lnSpc>
                <a:spcPct val="300000"/>
              </a:lnSpc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155232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D30C12C-B87E-F13B-F064-966A515A4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049640"/>
            <a:ext cx="11360700" cy="527495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r-FR" dirty="0"/>
              <a:t>Implication des autorités politico-administratives dans la sensibilisation (gouverneur de Province depuis l’introduction VAP)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r-FR" dirty="0"/>
              <a:t>Implication du ministère de l’éducation nationale et nouvelle citoyenneté ( Ministre provincial, </a:t>
            </a:r>
            <a:r>
              <a:rPr lang="fr-FR" dirty="0" err="1"/>
              <a:t>Proved</a:t>
            </a:r>
            <a:r>
              <a:rPr lang="fr-FR" dirty="0"/>
              <a:t> : note circulaire aux écoles)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r-FR" dirty="0"/>
              <a:t>Sensibilisation des parents par l’ANAPECO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r-FR" dirty="0"/>
              <a:t>Antécédents d’épidémie de rougeole avec forte létalité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r-FR" dirty="0"/>
              <a:t>Achat ouate et prise en charge de la cérémonie de lancement officiel RR  par le </a:t>
            </a:r>
            <a:r>
              <a:rPr lang="fr-FR" dirty="0" err="1"/>
              <a:t>GouPro</a:t>
            </a:r>
            <a:endParaRPr lang="fr-FR" dirty="0"/>
          </a:p>
        </p:txBody>
      </p:sp>
      <p:sp>
        <p:nvSpPr>
          <p:cNvPr id="4" name="Google Shape;226;g3aabc9d920d_0_217">
            <a:extLst>
              <a:ext uri="{FF2B5EF4-FFF2-40B4-BE49-F238E27FC236}">
                <a16:creationId xmlns:a16="http://schemas.microsoft.com/office/drawing/2014/main" id="{81C43D42-9A19-E8F8-923C-47070EF19445}"/>
              </a:ext>
            </a:extLst>
          </p:cNvPr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3200" b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Facteurs</a:t>
            </a:r>
            <a:r>
              <a:rPr lang="en-US" sz="3200" b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3200" b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expliquant</a:t>
            </a:r>
            <a:r>
              <a:rPr lang="en-US" sz="3200" b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la performance </a:t>
            </a:r>
            <a:endParaRPr sz="3200" b="1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" name="Google Shape;227;g3aabc9d920d_0_217">
            <a:extLst>
              <a:ext uri="{FF2B5EF4-FFF2-40B4-BE49-F238E27FC236}">
                <a16:creationId xmlns:a16="http://schemas.microsoft.com/office/drawing/2014/main" id="{78F4BC8A-3FCB-91D7-477F-667E0B4A059A}"/>
              </a:ext>
            </a:extLst>
          </p:cNvPr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178444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abc9d920d_0_234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Défis</a:t>
            </a: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rencontrés</a:t>
            </a: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(1)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7" name="Google Shape;237;g3aabc9d920d_0_234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8" name="Google Shape;238;g3aabc9d920d_0_234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9" name="Google Shape;239;g3aabc9d920d_0_234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12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40" name="Google Shape;240;g3aabc9d920d_0_234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ZoneTexte 1">
            <a:extLst>
              <a:ext uri="{FF2B5EF4-FFF2-40B4-BE49-F238E27FC236}">
                <a16:creationId xmlns:a16="http://schemas.microsoft.com/office/drawing/2014/main" id="{6CF89AEE-CA65-4CB5-B47A-96A74736F1D1}"/>
              </a:ext>
            </a:extLst>
          </p:cNvPr>
          <p:cNvSpPr txBox="1"/>
          <p:nvPr/>
        </p:nvSpPr>
        <p:spPr>
          <a:xfrm>
            <a:off x="587829" y="927441"/>
            <a:ext cx="10820400" cy="46405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fr-FR" sz="2400" b="1" dirty="0"/>
              <a:t>VACCIN ANTIPALUDIQUE </a:t>
            </a:r>
          </a:p>
          <a:p>
            <a:pPr marL="285750" lvl="8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400" dirty="0"/>
              <a:t>Antenne Watsa n’avait pas reçu le vaccin . La quantité de l’antenne Isiro a été distribuée aux 13 ZS de la Province</a:t>
            </a:r>
          </a:p>
          <a:p>
            <a:pPr marL="285750" lvl="8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400" dirty="0"/>
              <a:t>1</a:t>
            </a:r>
            <a:r>
              <a:rPr lang="fr-FR" sz="2400" baseline="30000" dirty="0"/>
              <a:t>er</a:t>
            </a:r>
            <a:r>
              <a:rPr lang="fr-FR" sz="2400" dirty="0"/>
              <a:t> approvisionnement en VAP antenne Watsa : fin septembre 2025</a:t>
            </a:r>
          </a:p>
          <a:p>
            <a:pPr marL="285750" lvl="8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400" dirty="0"/>
              <a:t>Rupture VAP niveau antenne Isiro : 45 jours</a:t>
            </a:r>
          </a:p>
          <a:p>
            <a:pPr marL="285750" lvl="4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400" dirty="0"/>
              <a:t>Registre de vaccination, carte CPS, fiche de pointage actualisés non disponibles lors de l’introduction : Adaptation des outils pour permettre la collecte des données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6885894C-5969-98AC-AC00-370B7FAC6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abc9d920d_0_234">
            <a:extLst>
              <a:ext uri="{FF2B5EF4-FFF2-40B4-BE49-F238E27FC236}">
                <a16:creationId xmlns:a16="http://schemas.microsoft.com/office/drawing/2014/main" id="{7E3D6DCD-6A5D-D1BB-A451-2A7AB6C60BF6}"/>
              </a:ext>
            </a:extLst>
          </p:cNvPr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Défis</a:t>
            </a: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rencontrés</a:t>
            </a: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(2)</a:t>
            </a: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7" name="Google Shape;237;g3aabc9d920d_0_234">
            <a:extLst>
              <a:ext uri="{FF2B5EF4-FFF2-40B4-BE49-F238E27FC236}">
                <a16:creationId xmlns:a16="http://schemas.microsoft.com/office/drawing/2014/main" id="{26E8E3A4-3DF9-A19E-D444-E283A8B93320}"/>
              </a:ext>
            </a:extLst>
          </p:cNvPr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8" name="Google Shape;238;g3aabc9d920d_0_234">
            <a:extLst>
              <a:ext uri="{FF2B5EF4-FFF2-40B4-BE49-F238E27FC236}">
                <a16:creationId xmlns:a16="http://schemas.microsoft.com/office/drawing/2014/main" id="{B5CC66D4-090F-2A79-2320-79C3595918A9}"/>
              </a:ext>
            </a:extLst>
          </p:cNvPr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9" name="Google Shape;239;g3aabc9d920d_0_234">
            <a:extLst>
              <a:ext uri="{FF2B5EF4-FFF2-40B4-BE49-F238E27FC236}">
                <a16:creationId xmlns:a16="http://schemas.microsoft.com/office/drawing/2014/main" id="{A506B483-5513-3949-2BFB-9950BFDD293E}"/>
              </a:ext>
            </a:extLst>
          </p:cNvPr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13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40" name="Google Shape;240;g3aabc9d920d_0_234">
            <a:extLst>
              <a:ext uri="{FF2B5EF4-FFF2-40B4-BE49-F238E27FC236}">
                <a16:creationId xmlns:a16="http://schemas.microsoft.com/office/drawing/2014/main" id="{C98DCAC4-87DB-FEEF-A24A-71264A50C88C}"/>
              </a:ext>
            </a:extLst>
          </p:cNvPr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ZoneTexte 1">
            <a:extLst>
              <a:ext uri="{FF2B5EF4-FFF2-40B4-BE49-F238E27FC236}">
                <a16:creationId xmlns:a16="http://schemas.microsoft.com/office/drawing/2014/main" id="{76B25D01-3C90-C1B6-1B7C-6E70FDAC2A20}"/>
              </a:ext>
            </a:extLst>
          </p:cNvPr>
          <p:cNvSpPr txBox="1"/>
          <p:nvPr/>
        </p:nvSpPr>
        <p:spPr>
          <a:xfrm>
            <a:off x="587829" y="927441"/>
            <a:ext cx="10820400" cy="4649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fr-FR" sz="2400" b="1" dirty="0"/>
              <a:t>VACCIN ANTIROUGEOLEUX-ANTIRUBEOLEUX</a:t>
            </a:r>
          </a:p>
          <a:p>
            <a:pPr marL="285750" lvl="8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400" dirty="0"/>
              <a:t>Ouate et cérémonie lancement officiel non prévues dans le </a:t>
            </a:r>
            <a:r>
              <a:rPr lang="fr-FR" sz="2400" dirty="0" err="1"/>
              <a:t>macroplan</a:t>
            </a:r>
            <a:r>
              <a:rPr lang="fr-FR" sz="2400" dirty="0"/>
              <a:t> : solution financement Gouvernement provincial</a:t>
            </a:r>
          </a:p>
          <a:p>
            <a:pPr marL="285750" lvl="4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400" dirty="0"/>
              <a:t>Arrivée des intrants en plusieurs vagues d’o</a:t>
            </a: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ù augmentation coût de transport et retard d’approvisionnement des ZS</a:t>
            </a:r>
          </a:p>
          <a:p>
            <a:pPr marL="285750" lvl="4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Réception des supports de la communication en Tshiluba, Kikongo ; langues moins parlées dans la Province</a:t>
            </a:r>
          </a:p>
          <a:p>
            <a:pPr marL="285750" lvl="4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Mauvais colisage des jetons (quantités non égales dans les paquets)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446709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abc9d920d_0_242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Recommandation pour 2026</a:t>
            </a: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6" name="Google Shape;266;g3aabc9d920d_0_242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7" name="Google Shape;267;g3aabc9d920d_0_242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8" name="Google Shape;268;g3aabc9d920d_0_242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14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69" name="Google Shape;269;g3aabc9d920d_0_242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ZoneTexte 1">
            <a:extLst>
              <a:ext uri="{FF2B5EF4-FFF2-40B4-BE49-F238E27FC236}">
                <a16:creationId xmlns:a16="http://schemas.microsoft.com/office/drawing/2014/main" id="{9FC14C7D-E583-FCF4-6F6B-2303BD69DDF7}"/>
              </a:ext>
            </a:extLst>
          </p:cNvPr>
          <p:cNvSpPr txBox="1"/>
          <p:nvPr/>
        </p:nvSpPr>
        <p:spPr>
          <a:xfrm>
            <a:off x="576943" y="1049641"/>
            <a:ext cx="10744200" cy="5290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fr-FR" sz="2800" dirty="0"/>
              <a:t>Approvisionner les Zones d’intervention en outils actualisés avant la mise en œuvre de l’activité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fr-FR" sz="2800" dirty="0"/>
              <a:t>Promouvoir la production des outils dans les Provinces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fr-FR" sz="2800" dirty="0"/>
              <a:t>Respecter le principe de </a:t>
            </a:r>
            <a:r>
              <a:rPr lang="fr-FR" sz="2800" dirty="0" err="1"/>
              <a:t>bundling</a:t>
            </a:r>
            <a:r>
              <a:rPr lang="fr-FR" sz="2800" dirty="0"/>
              <a:t> dans l’approvisionnement des Zones d’intervention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aabc9d920d_0_262"/>
          <p:cNvSpPr txBox="1"/>
          <p:nvPr/>
        </p:nvSpPr>
        <p:spPr>
          <a:xfrm>
            <a:off x="733100" y="1202135"/>
            <a:ext cx="10707600" cy="3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3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Merci</a:t>
            </a:r>
            <a:endParaRPr sz="3200" b="1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75" name="Google Shape;275;g3aabc9d920d_0_262"/>
          <p:cNvSpPr/>
          <p:nvPr/>
        </p:nvSpPr>
        <p:spPr>
          <a:xfrm>
            <a:off x="1588" y="2654952"/>
            <a:ext cx="4500900" cy="654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sz="15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76" name="Google Shape;276;g3aabc9d920d_0_262"/>
          <p:cNvSpPr/>
          <p:nvPr/>
        </p:nvSpPr>
        <p:spPr>
          <a:xfrm>
            <a:off x="7689667" y="2654952"/>
            <a:ext cx="4501500" cy="654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sz="15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2EDB4A0D-74B4-891D-7B50-51E47C0413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27" t="25000" r="14021"/>
          <a:stretch>
            <a:fillRect/>
          </a:stretch>
        </p:blipFill>
        <p:spPr>
          <a:xfrm>
            <a:off x="2645228" y="3548149"/>
            <a:ext cx="5900057" cy="2928851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9BA75F3F-2777-5E84-E0F8-433FE13BD88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904" t="15238" r="10595"/>
          <a:stretch>
            <a:fillRect/>
          </a:stretch>
        </p:blipFill>
        <p:spPr>
          <a:xfrm>
            <a:off x="456262" y="129466"/>
            <a:ext cx="4046072" cy="2525486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27349B0A-B329-7439-C230-B20A97591B7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477" r="5132" b="5555"/>
          <a:stretch>
            <a:fillRect/>
          </a:stretch>
        </p:blipFill>
        <p:spPr>
          <a:xfrm>
            <a:off x="7689667" y="173008"/>
            <a:ext cx="3653247" cy="24819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3301</TotalTime>
  <Words>532</Words>
  <Application>Microsoft Office PowerPoint</Application>
  <PresentationFormat>Grand écran</PresentationFormat>
  <Paragraphs>135</Paragraphs>
  <Slides>15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15</vt:i4>
      </vt:variant>
    </vt:vector>
  </HeadingPairs>
  <TitlesOfParts>
    <vt:vector size="24" baseType="lpstr">
      <vt:lpstr>Courier New</vt:lpstr>
      <vt:lpstr>Source Serif Pro</vt:lpstr>
      <vt:lpstr>Arial</vt:lpstr>
      <vt:lpstr>Play</vt:lpstr>
      <vt:lpstr>Wingdings</vt:lpstr>
      <vt:lpstr>Times New Roman</vt:lpstr>
      <vt:lpstr>Calibri</vt:lpstr>
      <vt:lpstr>Thème Office</vt:lpstr>
      <vt:lpstr>Simple Light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Aimé CIKOMOLA</dc:creator>
  <cp:lastModifiedBy>VENANT ATAFO</cp:lastModifiedBy>
  <cp:revision>11</cp:revision>
  <dcterms:created xsi:type="dcterms:W3CDTF">2025-11-28T20:10:05Z</dcterms:created>
  <dcterms:modified xsi:type="dcterms:W3CDTF">2025-12-13T10:35:46Z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93DF6B1B20AE4EE791A0860C13F9B9CC_13</vt:lpwstr>
  </property>
  <property fmtid="{D5CDD505-2E9C-101B-9397-08002B2CF9AE}" pid="3" name="KSOProductBuildVer">
    <vt:lpwstr>3084-12.2.0.23155</vt:lpwstr>
  </property>
</Properties>
</file>