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6"/>
    <p:sldMasterId id="2147483670" r:id="rId7"/>
    <p:sldMasterId id="2147483679" r:id="rId8"/>
    <p:sldMasterId id="2147483691" r:id="rId9"/>
  </p:sldMasterIdLst>
  <p:notesMasterIdLst>
    <p:notesMasterId r:id="rId40"/>
  </p:notesMasterIdLst>
  <p:sldIdLst>
    <p:sldId id="1154106652" r:id="rId10"/>
    <p:sldId id="1154106763" r:id="rId11"/>
    <p:sldId id="1154106741" r:id="rId12"/>
    <p:sldId id="1154106758" r:id="rId13"/>
    <p:sldId id="1154106755" r:id="rId14"/>
    <p:sldId id="1154106708" r:id="rId15"/>
    <p:sldId id="1154106735" r:id="rId16"/>
    <p:sldId id="1154106753" r:id="rId17"/>
    <p:sldId id="1154106754" r:id="rId18"/>
    <p:sldId id="1154106717" r:id="rId19"/>
    <p:sldId id="1154106764" r:id="rId20"/>
    <p:sldId id="1154106762" r:id="rId21"/>
    <p:sldId id="1154106728" r:id="rId22"/>
    <p:sldId id="1154106761" r:id="rId23"/>
    <p:sldId id="1154106722" r:id="rId24"/>
    <p:sldId id="1154106739" r:id="rId25"/>
    <p:sldId id="1154106738" r:id="rId26"/>
    <p:sldId id="1154106760" r:id="rId27"/>
    <p:sldId id="1154106756" r:id="rId28"/>
    <p:sldId id="1154106757" r:id="rId29"/>
    <p:sldId id="1154106653" r:id="rId30"/>
    <p:sldId id="1154106742" r:id="rId31"/>
    <p:sldId id="1154106743" r:id="rId32"/>
    <p:sldId id="1154106744" r:id="rId33"/>
    <p:sldId id="1154106745" r:id="rId34"/>
    <p:sldId id="1154106746" r:id="rId35"/>
    <p:sldId id="1154106747" r:id="rId36"/>
    <p:sldId id="1154106748" r:id="rId37"/>
    <p:sldId id="1154106749" r:id="rId38"/>
    <p:sldId id="1154106752" r:id="rId39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41"/>
      <p:bold r:id="rId42"/>
      <p:italic r:id="rId43"/>
      <p:boldItalic r:id="rId44"/>
    </p:embeddedFont>
    <p:embeddedFont>
      <p:font typeface="Bodoni MT" panose="02070603080606020203" pitchFamily="18" charset="0"/>
      <p:regular r:id="rId45"/>
      <p:bold r:id="rId46"/>
      <p:italic r:id="rId47"/>
      <p:boldItalic r:id="rId48"/>
    </p:embeddedFont>
    <p:embeddedFont>
      <p:font typeface="Maiandra GD" panose="020E0502030308020204" pitchFamily="34" charset="0"/>
      <p:regular r:id="rId49"/>
    </p:embeddedFont>
    <p:embeddedFont>
      <p:font typeface="Tahoma" panose="020B0604030504040204" pitchFamily="34" charset="0"/>
      <p:regular r:id="rId50"/>
      <p:bold r:id="rId51"/>
    </p:embeddedFont>
    <p:embeddedFont>
      <p:font typeface="Tenorite" panose="000005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A2F763-1189-20DE-8D24-A1404887423E}" name="Julien Saleh" initials="JS" userId="S::julien.saleh@cagmsp.cd::c6950cc7-0f4f-485f-98bf-75209af523e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D2"/>
    <a:srgbClr val="D9D9D9"/>
    <a:srgbClr val="FFFF99"/>
    <a:srgbClr val="FFFFCC"/>
    <a:srgbClr val="00B050"/>
    <a:srgbClr val="002878"/>
    <a:srgbClr val="66CCFF"/>
    <a:srgbClr val="699BFF"/>
    <a:srgbClr val="A6A6A6"/>
    <a:srgbClr val="C9D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FA57D3-2268-4D48-B53E-8B72623F598B}">
  <a:tblStyle styleId="{ECFA57D3-2268-4D48-B53E-8B72623F5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viewProps" Target="viewProps.xml"/><Relationship Id="rId5" Type="http://schemas.openxmlformats.org/officeDocument/2006/relationships/customXml" Target="../customXml/item5.xml"/><Relationship Id="rId61" Type="http://schemas.microsoft.com/office/2018/10/relationships/authors" Target="authors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commentAuthors" Target="commentAuthors.xml"/><Relationship Id="rId8" Type="http://schemas.openxmlformats.org/officeDocument/2006/relationships/slideMaster" Target="slideMasters/slideMaster3.xml"/><Relationship Id="rId51" Type="http://schemas.openxmlformats.org/officeDocument/2006/relationships/font" Target="fonts/font1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font" Target="fonts/font6.fntdata"/><Relationship Id="rId59" Type="http://schemas.openxmlformats.org/officeDocument/2006/relationships/theme" Target="theme/theme1.xml"/><Relationship Id="rId20" Type="http://schemas.openxmlformats.org/officeDocument/2006/relationships/slide" Target="slides/slide11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font" Target="fonts/font9.fntdata"/><Relationship Id="rId57" Type="http://schemas.openxmlformats.org/officeDocument/2006/relationships/presProps" Target="presProps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42867908838128"/>
          <c:y val="3.551354757403908E-2"/>
          <c:w val="0.80167862061796735"/>
          <c:h val="0.9094981369294811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C-4DC5-BA3C-B731D1CBB530}"/>
              </c:ext>
            </c:extLst>
          </c:dPt>
          <c:dPt>
            <c:idx val="2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91C-4DC5-BA3C-B731D1CBB5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'MATURITE (3)'!$A$4:$A$29</c:f>
              <c:strCache>
                <c:ptCount val="26"/>
                <c:pt idx="0">
                  <c:v>TSHUAPA</c:v>
                </c:pt>
                <c:pt idx="1">
                  <c:v>ITURI</c:v>
                </c:pt>
                <c:pt idx="2">
                  <c:v>EQUATEUR</c:v>
                </c:pt>
                <c:pt idx="3">
                  <c:v>SUD-UBANGI</c:v>
                </c:pt>
                <c:pt idx="4">
                  <c:v>KINSHASA</c:v>
                </c:pt>
                <c:pt idx="5">
                  <c:v>MANIEMA</c:v>
                </c:pt>
                <c:pt idx="6">
                  <c:v>MONGALA</c:v>
                </c:pt>
                <c:pt idx="7">
                  <c:v>HAUT-KATANGA</c:v>
                </c:pt>
                <c:pt idx="8">
                  <c:v>MAINDOMBE</c:v>
                </c:pt>
                <c:pt idx="9">
                  <c:v>KWILU</c:v>
                </c:pt>
                <c:pt idx="10">
                  <c:v>SANKURU</c:v>
                </c:pt>
                <c:pt idx="11">
                  <c:v>TSHOPO</c:v>
                </c:pt>
                <c:pt idx="12">
                  <c:v>LUALABA</c:v>
                </c:pt>
                <c:pt idx="13">
                  <c:v>TANGANYIKA</c:v>
                </c:pt>
                <c:pt idx="14">
                  <c:v>KASAI ORIENTAL</c:v>
                </c:pt>
                <c:pt idx="15">
                  <c:v>KASAI</c:v>
                </c:pt>
                <c:pt idx="16">
                  <c:v>NORD-UBANGI</c:v>
                </c:pt>
                <c:pt idx="17">
                  <c:v>BAS-UELE</c:v>
                </c:pt>
                <c:pt idx="18">
                  <c:v>LOMAMI</c:v>
                </c:pt>
                <c:pt idx="19">
                  <c:v>KWANGO</c:v>
                </c:pt>
                <c:pt idx="20">
                  <c:v>KASAI CENTRAL</c:v>
                </c:pt>
                <c:pt idx="21">
                  <c:v>NORD-KIVU</c:v>
                </c:pt>
                <c:pt idx="22">
                  <c:v>HAUT-LOMAMI</c:v>
                </c:pt>
                <c:pt idx="23">
                  <c:v>KONGO CENTRAL</c:v>
                </c:pt>
                <c:pt idx="24">
                  <c:v>HAUT-UELE</c:v>
                </c:pt>
                <c:pt idx="25">
                  <c:v>SUD-KIVU</c:v>
                </c:pt>
              </c:strCache>
            </c:strRef>
          </c:cat>
          <c:val>
            <c:numRef>
              <c:f>'MATURITE (3)'!$H$4:$H$29</c:f>
              <c:numCache>
                <c:formatCode>_(* #,##0.00_);_(* \(#,##0.00\);_(* "-"??_);_(@_)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10046.050000000001</c:v>
                </c:pt>
                <c:pt idx="4">
                  <c:v>10201.64</c:v>
                </c:pt>
                <c:pt idx="5">
                  <c:v>17426.712068965542</c:v>
                </c:pt>
                <c:pt idx="6">
                  <c:v>19152.599999999999</c:v>
                </c:pt>
                <c:pt idx="7">
                  <c:v>27377.11</c:v>
                </c:pt>
                <c:pt idx="8">
                  <c:v>29255.579999999991</c:v>
                </c:pt>
                <c:pt idx="9">
                  <c:v>37221.499999999993</c:v>
                </c:pt>
                <c:pt idx="10">
                  <c:v>41614.199999999815</c:v>
                </c:pt>
                <c:pt idx="11">
                  <c:v>60255.040000000023</c:v>
                </c:pt>
                <c:pt idx="12">
                  <c:v>61844.75</c:v>
                </c:pt>
                <c:pt idx="13">
                  <c:v>62015.65</c:v>
                </c:pt>
                <c:pt idx="14">
                  <c:v>67731.75</c:v>
                </c:pt>
                <c:pt idx="15">
                  <c:v>83925.240000000034</c:v>
                </c:pt>
                <c:pt idx="16">
                  <c:v>96755.489999999991</c:v>
                </c:pt>
                <c:pt idx="17">
                  <c:v>102866.11999999998</c:v>
                </c:pt>
                <c:pt idx="18">
                  <c:v>106725.83</c:v>
                </c:pt>
                <c:pt idx="19">
                  <c:v>112291.42999999998</c:v>
                </c:pt>
                <c:pt idx="20">
                  <c:v>115826.76</c:v>
                </c:pt>
                <c:pt idx="21">
                  <c:v>118679.59</c:v>
                </c:pt>
                <c:pt idx="22">
                  <c:v>126684.9</c:v>
                </c:pt>
                <c:pt idx="23">
                  <c:v>127093</c:v>
                </c:pt>
                <c:pt idx="24">
                  <c:v>152840.21999999997</c:v>
                </c:pt>
                <c:pt idx="25">
                  <c:v>326030.52000000014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1C-4DC5-BA3C-B731D1CBB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63778719"/>
        <c:axId val="1663763839"/>
      </c:barChart>
      <c:catAx>
        <c:axId val="1663778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63763839"/>
        <c:crosses val="autoZero"/>
        <c:auto val="1"/>
        <c:lblAlgn val="ctr"/>
        <c:lblOffset val="100"/>
        <c:noMultiLvlLbl val="0"/>
      </c:catAx>
      <c:valAx>
        <c:axId val="16637638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63778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24423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36748fcf4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e36748fcf4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89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e36748fcf4_2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ge36748fcf4_2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630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28" y="744575"/>
            <a:ext cx="8521169" cy="205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20" y="2834125"/>
            <a:ext cx="8521169" cy="7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20" y="445025"/>
            <a:ext cx="8521169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20" y="1152475"/>
            <a:ext cx="852116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311720" y="555600"/>
            <a:ext cx="2808281" cy="7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311720" y="1389600"/>
            <a:ext cx="2808281" cy="31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490281" y="450150"/>
            <a:ext cx="6368259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/>
        </p:nvSpPr>
        <p:spPr>
          <a:xfrm>
            <a:off x="4572291" y="-125"/>
            <a:ext cx="4572291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265517" y="1233175"/>
            <a:ext cx="404542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265517" y="2803075"/>
            <a:ext cx="4045429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2"/>
          </p:nvPr>
        </p:nvSpPr>
        <p:spPr>
          <a:xfrm>
            <a:off x="4939814" y="724075"/>
            <a:ext cx="3837249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311720" y="4230575"/>
            <a:ext cx="5999162" cy="60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 hasCustomPrompt="1"/>
          </p:nvPr>
        </p:nvSpPr>
        <p:spPr>
          <a:xfrm>
            <a:off x="311720" y="1106125"/>
            <a:ext cx="8521169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1"/>
          </p:nvPr>
        </p:nvSpPr>
        <p:spPr>
          <a:xfrm>
            <a:off x="311720" y="3152225"/>
            <a:ext cx="8521169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29" y="744575"/>
            <a:ext cx="8521169" cy="205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21" y="2834126"/>
            <a:ext cx="8521169" cy="7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1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21" y="445025"/>
            <a:ext cx="8521169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21" y="1152475"/>
            <a:ext cx="852116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5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311721" y="555601"/>
            <a:ext cx="2808281" cy="7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311721" y="1389601"/>
            <a:ext cx="2808281" cy="31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6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490282" y="450151"/>
            <a:ext cx="6368259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319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/>
        </p:nvSpPr>
        <p:spPr>
          <a:xfrm>
            <a:off x="4572292" y="-125"/>
            <a:ext cx="4572291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265518" y="1233175"/>
            <a:ext cx="404542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265518" y="2803075"/>
            <a:ext cx="4045429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2"/>
          </p:nvPr>
        </p:nvSpPr>
        <p:spPr>
          <a:xfrm>
            <a:off x="4939814" y="724076"/>
            <a:ext cx="3837249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69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311721" y="4230575"/>
            <a:ext cx="5999162" cy="60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65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 hasCustomPrompt="1"/>
          </p:nvPr>
        </p:nvSpPr>
        <p:spPr>
          <a:xfrm>
            <a:off x="311721" y="1106126"/>
            <a:ext cx="8521169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1"/>
          </p:nvPr>
        </p:nvSpPr>
        <p:spPr>
          <a:xfrm>
            <a:off x="311721" y="3152225"/>
            <a:ext cx="8521169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312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50301B-9B4E-E08D-E468-B0AD7F52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FE5801A-B430-401E-B5DD-10F987106A20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3D9D00-D87C-0FE8-E11B-82E8FE6A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2953B3-15FB-5821-47CE-77012C3F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87538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C14EA-5B7E-469C-0D3D-20BA262F2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C62C7B-F5CB-16C8-8B58-299B5E7E0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C1991-00AC-BE9C-89BF-71F2DAF7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49A579-EAAE-A7F5-87DD-5D5511C1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2851BC-862A-7A98-5CC4-B1456BF4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98394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24718-679F-3602-F4CE-B9ACBD6E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5369A0-FA52-0363-5BEB-3FECBCDD9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958EC5-7A09-DE18-E34E-53B63255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5885E0-BCCE-C4DD-C06A-8527DD45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CE8339-56F2-6836-B2C4-92DFD114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99314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3DF081-9ECD-4935-0ED1-2DEA2317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EDE568-492F-15F8-96F2-0D0086B18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0C31CA-F341-E36A-3B93-E2B58A3C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DFB09F-15E9-9888-81EE-D5794812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8AB7E8-7494-C9F2-093C-291D9E0B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978960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C1646-3FE1-0C5D-15CE-B3D88A58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AA29D2-0FAE-36B3-1F5D-F49A1E192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5D88BD-1392-BEA3-FEAF-7BC0E7B12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F6A71D-16DA-B38C-7215-DBD4022F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BB15FC-CB7C-92B4-5C6C-79786C7A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F2BB86-EA7F-F2E4-7850-7E0947D7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140120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8FBA97-1140-E86E-912A-93DD808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84AE9B-3AF2-E477-8A21-040DDE9C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7B43BB-6355-49D3-403A-F218F9817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A81C88-F33B-A988-73E4-C466666DB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8A7F50C-1507-A526-B5B3-782AEF9A0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015E3F-FF0B-2D40-DC31-0A79C54D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A543B3F-F3BA-053C-0F90-60053438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F2CB16B-ADD3-F1FC-46A3-8F4A2FE0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646757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280A6-C6E5-7BB5-1968-BFA4E9AB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864953-00EB-52CF-DE27-3B738FB8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026D282-FE39-A806-8027-3F452099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A59761-C369-4708-D00B-E201519A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252112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1F5910-A98D-ACD4-38AB-942FB85A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47ED7C-B8F2-486D-338C-6B6E08B90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517232-5A88-E609-66EC-B86794EF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454677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33D26-9FDB-E641-CB40-2F7A6EA3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372EEA-61AA-A66B-4226-9E6D814AA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2523CC-188A-3A89-7260-A08FB5568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64B076-145A-8D37-BF60-21985882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136B5B-B686-9C19-9843-9C9398A4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E21A7F-3918-7D17-71B2-FBFAACD3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836206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7FD39-84F2-EDA5-AAD7-88D4468A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92C945-63B3-3769-9F5F-D1FC33127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43EAF3-6434-FA41-1B94-1807E4DF4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9E3F9B-269A-7FC7-3745-EFE61067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4A7604-112A-5074-C179-DF74C584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03D715-C1AE-CFDB-9F77-F026212B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72303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86FD9-6660-F7C3-D35C-0D945030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B9F708-DD57-4234-4DDA-6372C85B4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DC30A6-6BF2-27C5-E904-ADA1B97E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44CD35-3640-D3AA-9066-967176EB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B97E0D-428F-1BF5-DEB6-5157B92F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8256746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CD9570-1EBF-78BB-604B-6F5C44E41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07E5EA-DBF7-C5D4-3CE5-9F6F3B308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2C83F0-1ED2-7657-1D28-D43BF1F4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4265D-A33F-11C4-E224-DE812AEB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8D3C9F-04AB-A8F0-388D-D4E436AF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1628451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36C34-A798-D54B-0EAA-D720A0761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A7AE94-3C4D-6EF7-51A8-CB10DD9E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DBE577-F309-8CDC-EF86-953AF9B8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810C8-0749-9FD1-0166-B967B2DE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F2FEE5-B313-7226-CF54-80D4A67B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180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4FC181-600D-B3C0-2077-C28AF723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EB928-0BD1-65D6-52BA-0C0205649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572C48-BC51-889D-4634-5C32B927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100AA5-AC8F-FD0F-0328-B1D36CCF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DF2E28-1608-E69D-823E-19BD72AF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648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048C4-E34C-2E41-14CF-FCE05D78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16C4C1-BA12-2A33-B068-C7E480658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DE8DBC-AC57-7A70-6213-BE726D3B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8D80DE-5C44-285D-BCFC-E5D4EF9E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F3EDDA-1E46-D2C6-0E69-4F2FB14B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757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B9941-F5FB-E4F3-B0EA-16587A1F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043E54-57F3-AF6F-EA8D-C808B20E4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82460A-171C-91D0-CB31-40A916574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43A872-D43A-1442-7FB2-38683263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4A9524-1812-E8CA-AE94-24ECCF15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626989-60E2-19F7-3225-8FA750AF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469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3DFD7-6F9C-1E92-2E80-4F4E07A7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B22A55-0964-D49A-433B-7F90B09CA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9D1CB8-7535-2359-6E21-9AA1B37D5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73E2631-318E-9262-48C0-6B9D5029A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9FD151-512B-47BF-192C-2C53DA6D2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8D5EA25-9F46-03BA-E50C-FE1B4FEB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45CBD51-3881-17D5-C23B-4A50DCCB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C00B92-B650-31E9-1526-0E336E06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7358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734B1-BDE0-0C54-C94B-90880AA7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2BC946-08A8-2FBB-BE68-4C2FEEC7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38F21F-4408-115B-330E-0F522E14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E37684-8E6F-C176-B983-376742D8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019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C9A6BA-DCF9-79C5-CA4F-3475CEEC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2F58B6-844A-AECC-425C-4341A76D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8E54CD-0DBB-260E-B38E-708C25BC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759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95AC2-BF64-5163-BB25-1CB1D4D8B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4D1663-2FEC-2255-05C0-D24EF7F94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ECCDAB-4622-1E7E-B008-296BC5E21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56F97A-7920-539F-6151-774AD2AF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4C2543-C5EE-7397-4DF4-DA571E7D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74582D-5965-085F-32F9-A9164CA1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3485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7FF1FB-E28A-FB6B-F37D-543DF21F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FEB0482-FA54-4970-FA44-167C46E00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589D66-8A17-7036-F651-8BF94CC7C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2E8AD6-C550-8CF6-5A66-C2481F66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61172C-2CAC-7D5B-FEF2-1563C49E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16F78F-5CB5-9458-3D5B-47869DC5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46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09D8A9-FD15-A440-CC1A-E43CDC68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84A50B-E944-D4F2-B273-890AADDCB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445058-FB5C-970C-A931-F07AA59F4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AF4C75-17F2-AAA9-4B09-44EFCC33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C7D674-778A-1AA1-DAF1-BA1EF9C7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9119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D043C1-A641-370B-D7C8-2610EA865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14E312-FC7E-588E-298B-36497C897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6FF677-5F54-77F3-684B-4F65F65E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131792-2BC5-17C0-2042-4A1F5848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2BAA0A-14B2-A47D-4B0C-287AE370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2176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21" y="445025"/>
            <a:ext cx="8521169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21" y="1152475"/>
            <a:ext cx="852116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659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659" algn="l">
              <a:lnSpc>
                <a:spcPct val="115000"/>
              </a:lnSpc>
              <a:spcBef>
                <a:spcPts val="1601"/>
              </a:spcBef>
              <a:spcAft>
                <a:spcPts val="1601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1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fld id="{00000000-1234-1234-1234-12341234123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76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20" y="445025"/>
            <a:ext cx="8521169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20" y="1152475"/>
            <a:ext cx="852116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997" y="4663216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21" y="445025"/>
            <a:ext cx="8521169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21" y="1152475"/>
            <a:ext cx="852116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998" y="4663217"/>
            <a:ext cx="548693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019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22DFCB-E2A9-F4C5-E0EE-C0CFF2E8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F20C8-8089-C2F7-AED9-4BBF64A70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02BDC4-62F4-C157-E05F-0C8F3FEDC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A2536-347B-4766-ADFE-15BE28C496B6}" type="datetimeFigureOut">
              <a:rPr lang="fr-CD" smtClean="0"/>
              <a:t>15/12/2025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7CA0B9-9668-88F5-0A36-58D19DF08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4A61AC-2E72-1681-0056-074A5D24F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5C39A-5D6A-40F5-ACD1-F34F3A942FE7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0603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7DA65F-B400-F89B-8281-E55FE44C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7BE517-AFC5-FBD2-E717-5067CB725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B44C38-FFC8-DA82-91E7-77C2A1AA1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FBBF2-42EA-49E1-A710-D6A3D887B9B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FF9DF1-EBAF-B810-1EAF-B7CB0FB52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449BF4-870C-039D-CC01-313ADB121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86839-EDE4-4605-A943-29ABC7B60E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78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 l="-17785"/>
          <a:stretch/>
        </p:blipFill>
        <p:spPr>
          <a:xfrm>
            <a:off x="-512627" y="1234832"/>
            <a:ext cx="3394840" cy="277736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/>
          <p:nvPr/>
        </p:nvSpPr>
        <p:spPr>
          <a:xfrm>
            <a:off x="3395586" y="1234832"/>
            <a:ext cx="5489749" cy="29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2400"/>
            </a:pPr>
            <a:r>
              <a:rPr lang="fr-FR" sz="2400" b="1" dirty="0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- PEV-RDC</a:t>
            </a:r>
            <a:endParaRPr lang="fr-FR" sz="12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fr-FR" sz="2400" b="1" i="0" u="none" strike="noStrike" cap="none" dirty="0">
              <a:solidFill>
                <a:schemeClr val="accent2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1" i="0" u="none" strike="noStrike" cap="none" dirty="0">
                <a:solidFill>
                  <a:srgbClr val="00B050"/>
                </a:solidFill>
                <a:latin typeface="+mn-lt"/>
                <a:ea typeface="Times New Roman"/>
                <a:cs typeface="Times New Roman"/>
                <a:sym typeface="Times New Roman"/>
              </a:rPr>
              <a:t>PRESENTATION DES SUBVENTIONS GAVI/MSP/CAGF</a:t>
            </a:r>
            <a:endParaRPr lang="fr-FR" sz="1100" dirty="0">
              <a:solidFill>
                <a:srgbClr val="00B050"/>
              </a:solidFill>
              <a:latin typeface="+mn-l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 b="1" i="0" u="none" strike="noStrike" cap="none" dirty="0">
                <a:solidFill>
                  <a:schemeClr val="accent2"/>
                </a:solidFill>
                <a:latin typeface="+mn-lt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0" algn="ctr">
              <a:buSzPts val="1500"/>
            </a:pPr>
            <a:r>
              <a:rPr lang="fr-FR" sz="1600" b="1" dirty="0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Matadi, du 15 au 20 décembre 2025</a:t>
            </a:r>
            <a:r>
              <a:rPr lang="fr-FR" sz="1500" b="1" i="0" u="none" strike="noStrike" cap="none" dirty="0">
                <a:solidFill>
                  <a:schemeClr val="accent2"/>
                </a:solidFill>
                <a:latin typeface="+mn-lt"/>
                <a:ea typeface="Times New Roman"/>
                <a:cs typeface="Times New Roman"/>
                <a:sym typeface="Times New Roman"/>
              </a:rPr>
              <a:t>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 b="1" dirty="0">
                <a:solidFill>
                  <a:schemeClr val="accent2"/>
                </a:solidFill>
                <a:latin typeface="+mn-lt"/>
                <a:ea typeface="Times New Roman"/>
                <a:cs typeface="Times New Roman"/>
                <a:sym typeface="Times New Roman"/>
              </a:rPr>
              <a:t>                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 b="1" i="0" u="none" strike="noStrike" cap="none" dirty="0">
                <a:solidFill>
                  <a:schemeClr val="accent2"/>
                </a:solidFill>
                <a:latin typeface="+mn-lt"/>
                <a:ea typeface="Times New Roman"/>
                <a:cs typeface="Times New Roman"/>
                <a:sym typeface="Times New Roman"/>
              </a:rPr>
              <a:t> </a:t>
            </a:r>
            <a:endParaRPr lang="fr-FR" sz="1100" dirty="0">
              <a:latin typeface="+mn-lt"/>
            </a:endParaRPr>
          </a:p>
        </p:txBody>
      </p:sp>
      <p:sp>
        <p:nvSpPr>
          <p:cNvPr id="93" name="Google Shape;93;p22"/>
          <p:cNvSpPr/>
          <p:nvPr/>
        </p:nvSpPr>
        <p:spPr>
          <a:xfrm>
            <a:off x="2745621" y="1137300"/>
            <a:ext cx="280198" cy="14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Image 1">
            <a:extLst>
              <a:ext uri="{FF2B5EF4-FFF2-40B4-BE49-F238E27FC236}">
                <a16:creationId xmlns:a16="http://schemas.microsoft.com/office/drawing/2014/main" id="{308C5679-DCE4-3184-54EB-5571B4DAC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514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537AF35-AEB6-D791-A775-D9A4409836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006" y="7904"/>
            <a:ext cx="1295400" cy="7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5148-6883-B88B-7E9C-008C1218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42220-974E-76AD-1C3A-1E236ECF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  <a:solidFill>
            <a:srgbClr val="0046D2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UTILISATION DES FONDS ET GESTION DES AVANCES </a:t>
            </a:r>
          </a:p>
        </p:txBody>
      </p:sp>
    </p:spTree>
    <p:extLst>
      <p:ext uri="{BB962C8B-B14F-4D97-AF65-F5344CB8AC3E}">
        <p14:creationId xmlns:p14="http://schemas.microsoft.com/office/powerpoint/2010/main" val="15064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5D0A-2820-E531-772F-348DC1E6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66E6-7754-F290-1A98-3BFC1DBF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45026"/>
            <a:ext cx="8368583" cy="509132"/>
          </a:xfrm>
        </p:spPr>
        <p:txBody>
          <a:bodyPr anchor="ctr"/>
          <a:lstStyle/>
          <a:p>
            <a:pPr algn="ctr"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sym typeface="Arial"/>
              </a:rPr>
              <a:t>SYNTHESE DES SUBVENTIONS GAVI ACTIVES,</a:t>
            </a:r>
            <a:b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sym typeface="Arial"/>
              </a:rPr>
            </a:b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sym typeface="Arial"/>
              </a:rPr>
              <a:t>2025</a:t>
            </a:r>
            <a:endParaRPr lang="en-US" sz="2400" b="1" dirty="0">
              <a:solidFill>
                <a:srgbClr val="FF0000"/>
              </a:solidFill>
              <a:latin typeface="Tenorite" panose="00000500000000000000" pitchFamily="2" charset="0"/>
              <a:sym typeface="Arial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8C4D2CC-0230-5323-DF5D-C14324D2C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267413"/>
              </p:ext>
            </p:extLst>
          </p:nvPr>
        </p:nvGraphicFramePr>
        <p:xfrm>
          <a:off x="361950" y="1113183"/>
          <a:ext cx="8368583" cy="3506532"/>
        </p:xfrm>
        <a:graphic>
          <a:graphicData uri="http://schemas.openxmlformats.org/drawingml/2006/table">
            <a:tbl>
              <a:tblPr/>
              <a:tblGrid>
                <a:gridCol w="201958">
                  <a:extLst>
                    <a:ext uri="{9D8B030D-6E8A-4147-A177-3AD203B41FA5}">
                      <a16:colId xmlns:a16="http://schemas.microsoft.com/office/drawing/2014/main" val="2087462826"/>
                    </a:ext>
                  </a:extLst>
                </a:gridCol>
                <a:gridCol w="1060272">
                  <a:extLst>
                    <a:ext uri="{9D8B030D-6E8A-4147-A177-3AD203B41FA5}">
                      <a16:colId xmlns:a16="http://schemas.microsoft.com/office/drawing/2014/main" val="190521670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2475234963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691372938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3306574145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3476930582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1229102456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4270041569"/>
                    </a:ext>
                  </a:extLst>
                </a:gridCol>
                <a:gridCol w="757338">
                  <a:extLst>
                    <a:ext uri="{9D8B030D-6E8A-4147-A177-3AD203B41FA5}">
                      <a16:colId xmlns:a16="http://schemas.microsoft.com/office/drawing/2014/main" val="1966228949"/>
                    </a:ext>
                  </a:extLst>
                </a:gridCol>
                <a:gridCol w="997161">
                  <a:extLst>
                    <a:ext uri="{9D8B030D-6E8A-4147-A177-3AD203B41FA5}">
                      <a16:colId xmlns:a16="http://schemas.microsoft.com/office/drawing/2014/main" val="2787688760"/>
                    </a:ext>
                  </a:extLst>
                </a:gridCol>
                <a:gridCol w="807826">
                  <a:extLst>
                    <a:ext uri="{9D8B030D-6E8A-4147-A177-3AD203B41FA5}">
                      <a16:colId xmlns:a16="http://schemas.microsoft.com/office/drawing/2014/main" val="272898966"/>
                    </a:ext>
                  </a:extLst>
                </a:gridCol>
              </a:tblGrid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SUBVENTIONS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MSP/CAGF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OIM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UNICEF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SANRU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UNOPS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ACCASUS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VILLAGE REACH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3472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FAE 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$6 786 274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$695 084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$2 094 923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$852 208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$6 120 150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$1 287 274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$17 835 913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89402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RSS3 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$10 464 116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$3 576 715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$2 842 966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$1 708 423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$726 712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$19 318 932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229328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MPOX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$2 756 634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$143 366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$2 900 000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01848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CDS/ BCU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$2 480 731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$1 500 000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$2 232 699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$6 213 430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548876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CDS/ Autres Réal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$3 105 960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$125 000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$249 733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$249 733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$3 730 426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94253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FJ B6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$5 959 398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$1 911 303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$121 940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$165 000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$8 157 641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917936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$26 584 841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$8 506 002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$4 596 049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$39 686 892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260168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$7 204 222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$2 956 774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$792 781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$10 953 777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22161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SWITCH ROTA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$854 169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$209 316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$49 140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$1 112 625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103578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MALARIA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$2 453 365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$399 629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$64 252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$2 917 246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859437"/>
                  </a:ext>
                </a:extLst>
              </a:tr>
              <a:tr h="29221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$68 649 710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$695 084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$21 298 028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$11 552 035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$7 828 573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$2 303 986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$249 733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$249 733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$112 826 882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0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3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4A06-FF14-E75C-DA3F-760C2EA7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3863-2BA4-65BF-58C0-9C8E9631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12" y="135160"/>
            <a:ext cx="8070572" cy="381674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fr-FR" sz="2000" b="1" dirty="0">
                <a:solidFill>
                  <a:srgbClr val="145ABE"/>
                </a:solidFill>
                <a:latin typeface="Tenorite" panose="00000500000000000000" pitchFamily="2" charset="0"/>
                <a:sym typeface="Times New Roman"/>
              </a:rPr>
              <a:t>UTILISATION DES FONDS VS SOLDE DE TRESORERIE, 30/11/2025 </a:t>
            </a:r>
            <a:endParaRPr lang="en-US" sz="2000" b="1" dirty="0">
              <a:latin typeface="Tenorite" panose="00000500000000000000" pitchFamily="2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0F69EAAF-D184-3AB0-6004-87B572F7B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730422"/>
              </p:ext>
            </p:extLst>
          </p:nvPr>
        </p:nvGraphicFramePr>
        <p:xfrm>
          <a:off x="536711" y="636103"/>
          <a:ext cx="8070572" cy="4155153"/>
        </p:xfrm>
        <a:graphic>
          <a:graphicData uri="http://schemas.openxmlformats.org/drawingml/2006/table">
            <a:tbl>
              <a:tblPr/>
              <a:tblGrid>
                <a:gridCol w="2323725">
                  <a:extLst>
                    <a:ext uri="{9D8B030D-6E8A-4147-A177-3AD203B41FA5}">
                      <a16:colId xmlns:a16="http://schemas.microsoft.com/office/drawing/2014/main" val="1794888980"/>
                    </a:ext>
                  </a:extLst>
                </a:gridCol>
                <a:gridCol w="1948931">
                  <a:extLst>
                    <a:ext uri="{9D8B030D-6E8A-4147-A177-3AD203B41FA5}">
                      <a16:colId xmlns:a16="http://schemas.microsoft.com/office/drawing/2014/main" val="2761849210"/>
                    </a:ext>
                  </a:extLst>
                </a:gridCol>
                <a:gridCol w="2098849">
                  <a:extLst>
                    <a:ext uri="{9D8B030D-6E8A-4147-A177-3AD203B41FA5}">
                      <a16:colId xmlns:a16="http://schemas.microsoft.com/office/drawing/2014/main" val="2765083054"/>
                    </a:ext>
                  </a:extLst>
                </a:gridCol>
                <a:gridCol w="1699067">
                  <a:extLst>
                    <a:ext uri="{9D8B030D-6E8A-4147-A177-3AD203B41FA5}">
                      <a16:colId xmlns:a16="http://schemas.microsoft.com/office/drawing/2014/main" val="2235887788"/>
                    </a:ext>
                  </a:extLst>
                </a:gridCol>
              </a:tblGrid>
              <a:tr h="4333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SUBVENTION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FONDS RECUS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DECAISSEMENTS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SOLDE TRES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746993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11 480 265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9 676 886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1 803 379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82170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5 549 891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5 017 800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532 091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10266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MALARIA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2 002 152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1 238 735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763 417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297956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FJ-BLOC5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480961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FJ-BLOC6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6 351 033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4 599 550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1 751 483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521827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ROUG-RUBEOLE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7 409 918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4 409 285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3 000 633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813950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SWITCH ROTA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854 169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510 147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344 022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215123"/>
                  </a:ext>
                </a:extLst>
              </a:tr>
              <a:tr h="4083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CDS-2/3 (</a:t>
                      </a:r>
                      <a:r>
                        <a:rPr lang="fr-F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Mpox&amp;BCU</a:t>
                      </a: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4 588 455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1 240 679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3 347 776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65940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MPOX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1 731 768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1 731 728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327154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CHOLERA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924 259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34692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71 666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78591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VPI2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359891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CAVAR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118 298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973532"/>
                  </a:ext>
                </a:extLst>
              </a:tr>
              <a:tr h="241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60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00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39 967 650,63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00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26 693 121,63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14 421 719,00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3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43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7447D-F295-3773-4FFA-791DAD6B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0" y="282228"/>
            <a:ext cx="8521169" cy="572625"/>
          </a:xfrm>
        </p:spPr>
        <p:txBody>
          <a:bodyPr anchor="ctr"/>
          <a:lstStyle/>
          <a:p>
            <a:pPr algn="ctr" defTabSz="685800">
              <a:buClr>
                <a:srgbClr val="000000"/>
              </a:buClr>
              <a:buSzPts val="2399"/>
              <a:defRPr/>
            </a:pPr>
            <a:r>
              <a:rPr lang="fr-FR" sz="32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EVOLUTION DE LA SITUATION DES AVANCES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154A152-992D-9BB3-BBC4-6B64FEE5A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10294"/>
              </p:ext>
            </p:extLst>
          </p:nvPr>
        </p:nvGraphicFramePr>
        <p:xfrm>
          <a:off x="311720" y="1017651"/>
          <a:ext cx="5906200" cy="3870595"/>
        </p:xfrm>
        <a:graphic>
          <a:graphicData uri="http://schemas.openxmlformats.org/drawingml/2006/table">
            <a:tbl>
              <a:tblPr/>
              <a:tblGrid>
                <a:gridCol w="218209">
                  <a:extLst>
                    <a:ext uri="{9D8B030D-6E8A-4147-A177-3AD203B41FA5}">
                      <a16:colId xmlns:a16="http://schemas.microsoft.com/office/drawing/2014/main" val="2458997727"/>
                    </a:ext>
                  </a:extLst>
                </a:gridCol>
                <a:gridCol w="1290920">
                  <a:extLst>
                    <a:ext uri="{9D8B030D-6E8A-4147-A177-3AD203B41FA5}">
                      <a16:colId xmlns:a16="http://schemas.microsoft.com/office/drawing/2014/main" val="3419957889"/>
                    </a:ext>
                  </a:extLst>
                </a:gridCol>
                <a:gridCol w="1160890">
                  <a:extLst>
                    <a:ext uri="{9D8B030D-6E8A-4147-A177-3AD203B41FA5}">
                      <a16:colId xmlns:a16="http://schemas.microsoft.com/office/drawing/2014/main" val="3820007225"/>
                    </a:ext>
                  </a:extLst>
                </a:gridCol>
                <a:gridCol w="1301391">
                  <a:extLst>
                    <a:ext uri="{9D8B030D-6E8A-4147-A177-3AD203B41FA5}">
                      <a16:colId xmlns:a16="http://schemas.microsoft.com/office/drawing/2014/main" val="3987576356"/>
                    </a:ext>
                  </a:extLst>
                </a:gridCol>
                <a:gridCol w="1211221">
                  <a:extLst>
                    <a:ext uri="{9D8B030D-6E8A-4147-A177-3AD203B41FA5}">
                      <a16:colId xmlns:a16="http://schemas.microsoft.com/office/drawing/2014/main" val="2189648783"/>
                    </a:ext>
                  </a:extLst>
                </a:gridCol>
                <a:gridCol w="723569">
                  <a:extLst>
                    <a:ext uri="{9D8B030D-6E8A-4147-A177-3AD203B41FA5}">
                      <a16:colId xmlns:a16="http://schemas.microsoft.com/office/drawing/2014/main" val="4181891535"/>
                    </a:ext>
                  </a:extLst>
                </a:gridCol>
              </a:tblGrid>
              <a:tr h="21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N°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SUBVENTIONS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31/10/2025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30/11/2025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Evolution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% Evol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999557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2 557 250,56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2 871 659,73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314 409,17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204761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2 206 429,00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3 417 811,97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1 211 382,97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917515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FJ-BLOC3&amp;4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139 871,78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139 871,78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955237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FJ-BLOC5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450 882,40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411 377,00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-39 505,40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393933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FJ-BLOC6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4 608 106,76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4 608 106,76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910108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ROUGEOLE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242 417,86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242 417,86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288816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ROUG-RUBEOLE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16 800,00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4 137 209,00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4 120 409,00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813580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SWITCH ROTA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489 708,00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498 309,00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8 601,00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4218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CDS-2 (Mpox&amp;BCU)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504 146,09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165 331,00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-338 815,09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254334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CDS-3 (BCU)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473 136,00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3 577 735,67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3 104 599,67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80068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VAR2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55 765,25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55 765,25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660371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VPI-2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25 322,28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25 322,28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883104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MPOX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#DIV/0!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07651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CHOLERA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#DIV/0!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008034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MALARIA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724 422,00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848 277,97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123 855,97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184838"/>
                  </a:ext>
                </a:extLst>
              </a:tr>
              <a:tr h="2267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Bodoni MT" panose="02070603080606020203" pitchFamily="18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7 886 151,22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20 999 195,27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13 113 044,06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81893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61B6859-E3F0-131E-51D6-A15BDF8FFB22}"/>
              </a:ext>
            </a:extLst>
          </p:cNvPr>
          <p:cNvSpPr/>
          <p:nvPr/>
        </p:nvSpPr>
        <p:spPr>
          <a:xfrm>
            <a:off x="6261956" y="1351722"/>
            <a:ext cx="2526896" cy="1887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/>
              <a:t>COMMENATAIRES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Orientations </a:t>
            </a:r>
            <a:r>
              <a:rPr lang="fr-FR" dirty="0" err="1"/>
              <a:t>Mashako</a:t>
            </a:r>
            <a:r>
              <a:rPr lang="fr-FR" dirty="0"/>
              <a:t>, Micro-planification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Campagne RR/ B1 (7 DPS)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Campagne FJ B6 (4 DPS)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PTT4 RSS3/ FAE</a:t>
            </a:r>
          </a:p>
        </p:txBody>
      </p:sp>
    </p:spTree>
    <p:extLst>
      <p:ext uri="{BB962C8B-B14F-4D97-AF65-F5344CB8AC3E}">
        <p14:creationId xmlns:p14="http://schemas.microsoft.com/office/powerpoint/2010/main" val="18929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BAA90-30CC-F107-D96B-F04991A7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15" y="126973"/>
            <a:ext cx="8521169" cy="572625"/>
          </a:xfrm>
        </p:spPr>
        <p:txBody>
          <a:bodyPr anchor="ctr"/>
          <a:lstStyle/>
          <a:p>
            <a:pPr algn="ctr" defTabSz="685800">
              <a:buClr>
                <a:srgbClr val="000000"/>
              </a:buClr>
              <a:buSzPts val="2399"/>
              <a:defRPr/>
            </a:pPr>
            <a:r>
              <a:rPr lang="fr-FR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Balance générale des avances ouvertes, </a:t>
            </a:r>
            <a:br>
              <a:rPr lang="fr-FR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</a:br>
            <a:r>
              <a:rPr lang="fr-FR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31/10/2025, RFSR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B7673D0-FA1C-BCD2-117E-674E9F7AF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567184"/>
              </p:ext>
            </p:extLst>
          </p:nvPr>
        </p:nvGraphicFramePr>
        <p:xfrm>
          <a:off x="755376" y="834887"/>
          <a:ext cx="7665054" cy="3538318"/>
        </p:xfrm>
        <a:graphic>
          <a:graphicData uri="http://schemas.openxmlformats.org/drawingml/2006/table">
            <a:tbl>
              <a:tblPr/>
              <a:tblGrid>
                <a:gridCol w="335083">
                  <a:extLst>
                    <a:ext uri="{9D8B030D-6E8A-4147-A177-3AD203B41FA5}">
                      <a16:colId xmlns:a16="http://schemas.microsoft.com/office/drawing/2014/main" val="2844785697"/>
                    </a:ext>
                  </a:extLst>
                </a:gridCol>
                <a:gridCol w="1947679">
                  <a:extLst>
                    <a:ext uri="{9D8B030D-6E8A-4147-A177-3AD203B41FA5}">
                      <a16:colId xmlns:a16="http://schemas.microsoft.com/office/drawing/2014/main" val="1376356695"/>
                    </a:ext>
                  </a:extLst>
                </a:gridCol>
                <a:gridCol w="1424108">
                  <a:extLst>
                    <a:ext uri="{9D8B030D-6E8A-4147-A177-3AD203B41FA5}">
                      <a16:colId xmlns:a16="http://schemas.microsoft.com/office/drawing/2014/main" val="1651073407"/>
                    </a:ext>
                  </a:extLst>
                </a:gridCol>
                <a:gridCol w="1277510">
                  <a:extLst>
                    <a:ext uri="{9D8B030D-6E8A-4147-A177-3AD203B41FA5}">
                      <a16:colId xmlns:a16="http://schemas.microsoft.com/office/drawing/2014/main" val="1318072689"/>
                    </a:ext>
                  </a:extLst>
                </a:gridCol>
                <a:gridCol w="1424108">
                  <a:extLst>
                    <a:ext uri="{9D8B030D-6E8A-4147-A177-3AD203B41FA5}">
                      <a16:colId xmlns:a16="http://schemas.microsoft.com/office/drawing/2014/main" val="3354489852"/>
                    </a:ext>
                  </a:extLst>
                </a:gridCol>
                <a:gridCol w="1256566">
                  <a:extLst>
                    <a:ext uri="{9D8B030D-6E8A-4147-A177-3AD203B41FA5}">
                      <a16:colId xmlns:a16="http://schemas.microsoft.com/office/drawing/2014/main" val="3875145920"/>
                    </a:ext>
                  </a:extLst>
                </a:gridCol>
              </a:tblGrid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SUBVENTIONS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23514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GAVI-RR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-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16 800,00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16 800,00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785272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GAVI-VPI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25 322,28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-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25 322,28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630780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GAVI-VAR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55 765,25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-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55 765,25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676957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GAVI-FJ Bloc 3&amp;4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14 831,78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125 040,00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139 871,78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988992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GAVI-CAVAR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224 075,86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18 342,00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242 417,86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851436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GAVI-FJ Bloc 5&amp;6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216 082,00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234 800,40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450 882,40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44777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GAVI-BCU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426 309,00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46 827,00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473 136,00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946881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GAVI-SWITCH ROTA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489 708,00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-  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489 708,00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439682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GAVI-CDS2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473 700,39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30 445,70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504 146,09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041843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GAVI-VAP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682 828,00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41 594,00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724 422,00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540237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GAVI-FAE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2 205 095,00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1 334,00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2 206 429,00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403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GAVI-RSS3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2 498 359,76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58 890,80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2 557 250,56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69113"/>
                  </a:ext>
                </a:extLst>
              </a:tr>
              <a:tr h="2527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général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7 312 077,32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574 073,90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7 886 151,22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712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00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95B7-56CE-294B-41A2-A0449784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F158D-7D61-A71C-5056-DDF1152449AC}"/>
              </a:ext>
            </a:extLst>
          </p:cNvPr>
          <p:cNvSpPr txBox="1">
            <a:spLocks/>
          </p:cNvSpPr>
          <p:nvPr/>
        </p:nvSpPr>
        <p:spPr>
          <a:xfrm>
            <a:off x="906448" y="174020"/>
            <a:ext cx="7506031" cy="6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>
              <a:buClr>
                <a:srgbClr val="000000"/>
              </a:buClr>
              <a:buSzPts val="2399"/>
              <a:defRPr/>
            </a:pPr>
            <a:r>
              <a:rPr lang="fr-FR" sz="20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  <a:sym typeface="Arial"/>
              </a:rPr>
              <a:t>BALANCE DES AVANCES AGEES DE PLUS DE 6 MOIS PAR ENTITE, 31.10.2025, RFSR</a:t>
            </a:r>
            <a:endParaRPr lang="fr-FR" sz="2000" b="1" kern="1200" dirty="0">
              <a:solidFill>
                <a:srgbClr val="145ABE"/>
              </a:solidFill>
              <a:latin typeface="Tenorite" panose="00000500000000000000" pitchFamily="2" charset="0"/>
              <a:ea typeface="+mj-ea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4C670F2-8A2D-10F7-579B-B957EB5E7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289774"/>
              </p:ext>
            </p:extLst>
          </p:nvPr>
        </p:nvGraphicFramePr>
        <p:xfrm>
          <a:off x="906448" y="871539"/>
          <a:ext cx="7506031" cy="3286993"/>
        </p:xfrm>
        <a:graphic>
          <a:graphicData uri="http://schemas.openxmlformats.org/drawingml/2006/table">
            <a:tbl>
              <a:tblPr/>
              <a:tblGrid>
                <a:gridCol w="1573315">
                  <a:extLst>
                    <a:ext uri="{9D8B030D-6E8A-4147-A177-3AD203B41FA5}">
                      <a16:colId xmlns:a16="http://schemas.microsoft.com/office/drawing/2014/main" val="909338675"/>
                    </a:ext>
                  </a:extLst>
                </a:gridCol>
                <a:gridCol w="1966646">
                  <a:extLst>
                    <a:ext uri="{9D8B030D-6E8A-4147-A177-3AD203B41FA5}">
                      <a16:colId xmlns:a16="http://schemas.microsoft.com/office/drawing/2014/main" val="1474853351"/>
                    </a:ext>
                  </a:extLst>
                </a:gridCol>
                <a:gridCol w="1946980">
                  <a:extLst>
                    <a:ext uri="{9D8B030D-6E8A-4147-A177-3AD203B41FA5}">
                      <a16:colId xmlns:a16="http://schemas.microsoft.com/office/drawing/2014/main" val="1205357616"/>
                    </a:ext>
                  </a:extLst>
                </a:gridCol>
                <a:gridCol w="2019090">
                  <a:extLst>
                    <a:ext uri="{9D8B030D-6E8A-4147-A177-3AD203B41FA5}">
                      <a16:colId xmlns:a16="http://schemas.microsoft.com/office/drawing/2014/main" val="4268833289"/>
                    </a:ext>
                  </a:extLst>
                </a:gridCol>
              </a:tblGrid>
              <a:tr h="774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Balance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435592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6_12 Mois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802 660,03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287 100,40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1 089 760,43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52404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12_18 Mois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232 330,11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10 717,20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243 047,31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78823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18_24 Mois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390 659,65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24 143,00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414 802,65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70594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 24 Mois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488 212,89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83 461,50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571 674,39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659277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1 913 862,68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405 422,10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2 319 284,78 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589817"/>
                  </a:ext>
                </a:extLst>
              </a:tr>
              <a:tr h="4187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92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57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252B-5177-8957-9B56-C7538087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672E78-A9E3-1219-9198-E3F22817E84F}"/>
              </a:ext>
            </a:extLst>
          </p:cNvPr>
          <p:cNvSpPr txBox="1">
            <a:spLocks/>
          </p:cNvSpPr>
          <p:nvPr/>
        </p:nvSpPr>
        <p:spPr>
          <a:xfrm>
            <a:off x="469126" y="174020"/>
            <a:ext cx="8229603" cy="6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>
              <a:buClr>
                <a:srgbClr val="000000"/>
              </a:buClr>
              <a:buSzPts val="2399"/>
              <a:defRPr/>
            </a:pPr>
            <a:r>
              <a:rPr lang="fr-FR" sz="20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  <a:sym typeface="Arial"/>
              </a:rPr>
              <a:t>BALANCE GENERALE DES AVANCES PAR DPS, 31.10.2025, RFSR</a:t>
            </a:r>
            <a:endParaRPr lang="fr-FR" sz="2000" b="1" kern="1200" dirty="0">
              <a:solidFill>
                <a:srgbClr val="145ABE"/>
              </a:solidFill>
              <a:latin typeface="Tenorite" panose="00000500000000000000" pitchFamily="2" charset="0"/>
              <a:ea typeface="+mj-ea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9ED92D9-B061-C000-9414-DBE2108C6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26104"/>
              </p:ext>
            </p:extLst>
          </p:nvPr>
        </p:nvGraphicFramePr>
        <p:xfrm>
          <a:off x="469126" y="882595"/>
          <a:ext cx="8229603" cy="3633744"/>
        </p:xfrm>
        <a:graphic>
          <a:graphicData uri="http://schemas.openxmlformats.org/drawingml/2006/table">
            <a:tbl>
              <a:tblPr/>
              <a:tblGrid>
                <a:gridCol w="232229">
                  <a:extLst>
                    <a:ext uri="{9D8B030D-6E8A-4147-A177-3AD203B41FA5}">
                      <a16:colId xmlns:a16="http://schemas.microsoft.com/office/drawing/2014/main" val="183534753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427333293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16550767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9705981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688970736"/>
                    </a:ext>
                  </a:extLst>
                </a:gridCol>
                <a:gridCol w="1074058">
                  <a:extLst>
                    <a:ext uri="{9D8B030D-6E8A-4147-A177-3AD203B41FA5}">
                      <a16:colId xmlns:a16="http://schemas.microsoft.com/office/drawing/2014/main" val="3729922530"/>
                    </a:ext>
                  </a:extLst>
                </a:gridCol>
                <a:gridCol w="1074058">
                  <a:extLst>
                    <a:ext uri="{9D8B030D-6E8A-4147-A177-3AD203B41FA5}">
                      <a16:colId xmlns:a16="http://schemas.microsoft.com/office/drawing/2014/main" val="2578124789"/>
                    </a:ext>
                  </a:extLst>
                </a:gridCol>
                <a:gridCol w="1204686">
                  <a:extLst>
                    <a:ext uri="{9D8B030D-6E8A-4147-A177-3AD203B41FA5}">
                      <a16:colId xmlns:a16="http://schemas.microsoft.com/office/drawing/2014/main" val="338780121"/>
                    </a:ext>
                  </a:extLst>
                </a:gridCol>
              </a:tblGrid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&lt; 6 Mois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6 - 11 Mois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12 - 17 Mois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18- 23 Mois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 24 Mois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039814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TSHOPO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781 084,64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27 560,33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2 011,45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28 192,00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2 491,26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841 339,68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483427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ITURI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593 435,00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593 435,00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063623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 ORIENTAL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434 176,64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60 284,50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564,88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6 882,37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501 908,39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80010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MONGALA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400 320,01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7 848,00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11 245,60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59,00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419 472,61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968398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HAUT-KATANGA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386 141,00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2 039,00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10 400,38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14 937,73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413 518,11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854314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MAINDOMBE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344 142,44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17 346,84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11 908,74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373 398,02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449707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348 226,73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17 426,71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365 653,45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543414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SUD-KIVU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182 953,04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25 003,00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22 277,34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95 797,14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326 030,52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15062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 CENTRAL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195 328,28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52 292,35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45 828,93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17 705,48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311 155,04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322025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TSHUAPA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309 717,15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309 717,15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45458"/>
                  </a:ext>
                </a:extLst>
              </a:tr>
              <a:tr h="3028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SOUS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3 792 571,89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367 750,77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37 979,71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119 452,61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137 872,98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4 455 627,97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38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89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E018-9F3D-D380-0E46-C7BB9181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75F1D-C606-29D2-D920-35EBE23214C8}"/>
              </a:ext>
            </a:extLst>
          </p:cNvPr>
          <p:cNvSpPr txBox="1">
            <a:spLocks/>
          </p:cNvSpPr>
          <p:nvPr/>
        </p:nvSpPr>
        <p:spPr>
          <a:xfrm>
            <a:off x="508884" y="54749"/>
            <a:ext cx="8126231" cy="6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>
              <a:buClr>
                <a:srgbClr val="000000"/>
              </a:buClr>
              <a:buSzPts val="2399"/>
              <a:defRPr/>
            </a:pPr>
            <a:r>
              <a:rPr lang="fr-FR" sz="20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  <a:sym typeface="Arial"/>
              </a:rPr>
              <a:t>BALANCE GENERALE DES AVANCES PAR DPS, 31.10.2025, RFSR</a:t>
            </a:r>
            <a:endParaRPr lang="fr-FR" sz="2000" b="1" kern="1200" dirty="0">
              <a:solidFill>
                <a:srgbClr val="145ABE"/>
              </a:solidFill>
              <a:latin typeface="Tenorite" panose="00000500000000000000" pitchFamily="2" charset="0"/>
              <a:ea typeface="+mj-ea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9FA3C72-282E-3631-51DC-DA1D5E409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46112"/>
              </p:ext>
            </p:extLst>
          </p:nvPr>
        </p:nvGraphicFramePr>
        <p:xfrm>
          <a:off x="508884" y="683810"/>
          <a:ext cx="8126231" cy="3975660"/>
        </p:xfrm>
        <a:graphic>
          <a:graphicData uri="http://schemas.openxmlformats.org/drawingml/2006/table">
            <a:tbl>
              <a:tblPr/>
              <a:tblGrid>
                <a:gridCol w="227705">
                  <a:extLst>
                    <a:ext uri="{9D8B030D-6E8A-4147-A177-3AD203B41FA5}">
                      <a16:colId xmlns:a16="http://schemas.microsoft.com/office/drawing/2014/main" val="4018280625"/>
                    </a:ext>
                  </a:extLst>
                </a:gridCol>
                <a:gridCol w="1238147">
                  <a:extLst>
                    <a:ext uri="{9D8B030D-6E8A-4147-A177-3AD203B41FA5}">
                      <a16:colId xmlns:a16="http://schemas.microsoft.com/office/drawing/2014/main" val="4075635901"/>
                    </a:ext>
                  </a:extLst>
                </a:gridCol>
                <a:gridCol w="1238147">
                  <a:extLst>
                    <a:ext uri="{9D8B030D-6E8A-4147-A177-3AD203B41FA5}">
                      <a16:colId xmlns:a16="http://schemas.microsoft.com/office/drawing/2014/main" val="1440103557"/>
                    </a:ext>
                  </a:extLst>
                </a:gridCol>
                <a:gridCol w="1095831">
                  <a:extLst>
                    <a:ext uri="{9D8B030D-6E8A-4147-A177-3AD203B41FA5}">
                      <a16:colId xmlns:a16="http://schemas.microsoft.com/office/drawing/2014/main" val="1195724458"/>
                    </a:ext>
                  </a:extLst>
                </a:gridCol>
                <a:gridCol w="1053137">
                  <a:extLst>
                    <a:ext uri="{9D8B030D-6E8A-4147-A177-3AD203B41FA5}">
                      <a16:colId xmlns:a16="http://schemas.microsoft.com/office/drawing/2014/main" val="2007307774"/>
                    </a:ext>
                  </a:extLst>
                </a:gridCol>
                <a:gridCol w="1053137">
                  <a:extLst>
                    <a:ext uri="{9D8B030D-6E8A-4147-A177-3AD203B41FA5}">
                      <a16:colId xmlns:a16="http://schemas.microsoft.com/office/drawing/2014/main" val="357215553"/>
                    </a:ext>
                  </a:extLst>
                </a:gridCol>
                <a:gridCol w="1053137">
                  <a:extLst>
                    <a:ext uri="{9D8B030D-6E8A-4147-A177-3AD203B41FA5}">
                      <a16:colId xmlns:a16="http://schemas.microsoft.com/office/drawing/2014/main" val="2014427340"/>
                    </a:ext>
                  </a:extLst>
                </a:gridCol>
                <a:gridCol w="1166990">
                  <a:extLst>
                    <a:ext uri="{9D8B030D-6E8A-4147-A177-3AD203B41FA5}">
                      <a16:colId xmlns:a16="http://schemas.microsoft.com/office/drawing/2014/main" val="554074384"/>
                    </a:ext>
                  </a:extLst>
                </a:gridCol>
              </a:tblGrid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&lt; 6 Mois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6 - 11 Mois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12 - 17 Mois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18- 23 Mois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 24 Mois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416848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LUALABA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232 370,00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14 701,02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23 220,00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23 923,73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294 214,75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154304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KWILU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248 367,00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36 159,39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1 062,11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285 588,50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884558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SUD-UBANGI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245 125,50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2 836,00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375,00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6 835,05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255 171,55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67351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KONGO CENTRA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111 390,00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127 093,00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238 483,00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521657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HAUT-LOMAMI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102 884,00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33 039,00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57 279,40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36 366,50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229 568,90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942767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HAUT-UELE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73 125,00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4 520,40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98 433,90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23 538,00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26 347,92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225 965,22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735214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121 723,97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30 803,63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18 717,49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29 268,62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5 135,50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205 649,21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78005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LOMAMI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87 941,66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81 241,84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3 103,24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19 503,80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2 876,95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194 667,49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592354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BAS-UELE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91 281,50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20 947,70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72 990,34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8 928,08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194 147,62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53106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KINSHASA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129 813,00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10 201,64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140 014,64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61052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KWANGO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19 786,00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24 210,06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22 883,54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29 855,57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35 342,26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132 077,43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26267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NORD-KIVU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12 645,13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5 339,06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100 695,40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118 679,59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7316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NORD-UBANGI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16 014,00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36 991,32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31 177,38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28 586,79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112 769,49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592232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25 046,00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20 872,50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7 014,72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10 212,25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23 916,18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87 061,65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53091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SANKURU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42 588,61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1 493,40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40 120,80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84 202,81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33774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58 186,50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1,00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58 187,50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40877"/>
                  </a:ext>
                </a:extLst>
              </a:tr>
              <a:tr h="220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1 605 642,74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434 909,26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194 350,40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271 207,04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350 339,91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2 856 449,35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67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88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C561-C151-110A-F078-BA7C86DA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B775E-2678-76AC-F40B-6DC51127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15" y="94942"/>
            <a:ext cx="8521169" cy="572625"/>
          </a:xfrm>
        </p:spPr>
        <p:txBody>
          <a:bodyPr anchor="ctr"/>
          <a:lstStyle/>
          <a:p>
            <a:pPr algn="ctr" defTabSz="685800">
              <a:buClr>
                <a:srgbClr val="000000"/>
              </a:buClr>
              <a:buSzPts val="2399"/>
            </a:pPr>
            <a:r>
              <a:rPr lang="fr-FR" sz="18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1 469 719 $ d’avances ouvertes de plus de 6 mois dans les DPS, au 31.10.2025, RFSR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E8B9F38C-2B32-30C7-C792-E482BA04AFF5}"/>
              </a:ext>
            </a:extLst>
          </p:cNvPr>
          <p:cNvGraphicFramePr>
            <a:graphicFrameLocks noGrp="1"/>
          </p:cNvGraphicFramePr>
          <p:nvPr/>
        </p:nvGraphicFramePr>
        <p:xfrm>
          <a:off x="787267" y="491026"/>
          <a:ext cx="6138635" cy="4557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8BB7D3A-1135-7D4A-7311-36E6A70A3635}"/>
              </a:ext>
            </a:extLst>
          </p:cNvPr>
          <p:cNvCxnSpPr>
            <a:cxnSpLocks/>
          </p:cNvCxnSpPr>
          <p:nvPr/>
        </p:nvCxnSpPr>
        <p:spPr>
          <a:xfrm>
            <a:off x="900112" y="2339920"/>
            <a:ext cx="585787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809285A7-07E9-004B-1E8D-91CA1050030A}"/>
              </a:ext>
            </a:extLst>
          </p:cNvPr>
          <p:cNvSpPr/>
          <p:nvPr/>
        </p:nvSpPr>
        <p:spPr>
          <a:xfrm>
            <a:off x="6749414" y="585756"/>
            <a:ext cx="330767" cy="1754164"/>
          </a:xfrm>
          <a:prstGeom prst="rightBrace">
            <a:avLst>
              <a:gd name="adj1" fmla="val 8333"/>
              <a:gd name="adj2" fmla="val 4762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fr-CD" sz="1350" kern="1200">
              <a:solidFill>
                <a:srgbClr val="414141"/>
              </a:solidFill>
              <a:latin typeface="Arial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539A310-02B9-AEDD-4522-55DC1CF10967}"/>
              </a:ext>
            </a:extLst>
          </p:cNvPr>
          <p:cNvSpPr/>
          <p:nvPr/>
        </p:nvSpPr>
        <p:spPr>
          <a:xfrm>
            <a:off x="7088754" y="555039"/>
            <a:ext cx="1906682" cy="23667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43" indent="-285743" defTabSz="914378">
              <a:buFont typeface="Wingdings" panose="05000000000000000000" pitchFamily="2" charset="2"/>
              <a:buChar char="§"/>
              <a:defRPr/>
            </a:pPr>
            <a:r>
              <a:rPr lang="fr-FR" sz="1200" dirty="0">
                <a:solidFill>
                  <a:srgbClr val="595959"/>
                </a:solidFill>
                <a:latin typeface="Arial"/>
              </a:rPr>
              <a:t>77% des avances &gt; 6 mois sont concentrés dans 11 DPS</a:t>
            </a:r>
          </a:p>
          <a:p>
            <a:pPr marL="285743" indent="-285743" defTabSz="914378">
              <a:buFont typeface="Wingdings" panose="05000000000000000000" pitchFamily="2" charset="2"/>
              <a:buChar char="§"/>
              <a:defRPr/>
            </a:pPr>
            <a:r>
              <a:rPr lang="fr-FR" sz="1200" dirty="0">
                <a:solidFill>
                  <a:srgbClr val="595959"/>
                </a:solidFill>
                <a:latin typeface="Arial"/>
              </a:rPr>
              <a:t>2 DPS en pleine guerre concentrent 23% de ces avances (NK &amp; SK)</a:t>
            </a:r>
          </a:p>
          <a:p>
            <a:pPr marL="285743" indent="-285743" defTabSz="914378">
              <a:buFont typeface="Wingdings" panose="05000000000000000000" pitchFamily="2" charset="2"/>
              <a:buChar char="§"/>
              <a:defRPr/>
            </a:pPr>
            <a:endParaRPr lang="fr-FR" dirty="0">
              <a:solidFill>
                <a:srgbClr val="41414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2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A6D201-051B-4299-71F2-B3B27E8E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 defTabSz="685800">
              <a:buClr>
                <a:srgbClr val="000000"/>
              </a:buClr>
              <a:buSzPts val="2399"/>
            </a:pPr>
            <a:r>
              <a:rPr lang="fr-FR" sz="24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PHASES DE COLLECTE ACTIVE DES PIECES PAR DPS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55A27CB-5D09-9736-E06C-E923DCDB4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93653"/>
              </p:ext>
            </p:extLst>
          </p:nvPr>
        </p:nvGraphicFramePr>
        <p:xfrm>
          <a:off x="311721" y="1396034"/>
          <a:ext cx="4465393" cy="2886324"/>
        </p:xfrm>
        <a:graphic>
          <a:graphicData uri="http://schemas.openxmlformats.org/drawingml/2006/table">
            <a:tbl>
              <a:tblPr/>
              <a:tblGrid>
                <a:gridCol w="337011">
                  <a:extLst>
                    <a:ext uri="{9D8B030D-6E8A-4147-A177-3AD203B41FA5}">
                      <a16:colId xmlns:a16="http://schemas.microsoft.com/office/drawing/2014/main" val="3610348241"/>
                    </a:ext>
                  </a:extLst>
                </a:gridCol>
                <a:gridCol w="2380139">
                  <a:extLst>
                    <a:ext uri="{9D8B030D-6E8A-4147-A177-3AD203B41FA5}">
                      <a16:colId xmlns:a16="http://schemas.microsoft.com/office/drawing/2014/main" val="4171659257"/>
                    </a:ext>
                  </a:extLst>
                </a:gridCol>
                <a:gridCol w="1748243">
                  <a:extLst>
                    <a:ext uri="{9D8B030D-6E8A-4147-A177-3AD203B41FA5}">
                      <a16:colId xmlns:a16="http://schemas.microsoft.com/office/drawing/2014/main" val="4242922791"/>
                    </a:ext>
                  </a:extLst>
                </a:gridCol>
              </a:tblGrid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327744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TSHOPO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841 340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441562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ITURI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593 435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773591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KASAI ORIENTAL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501 908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106774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MONGALA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419 473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484053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HAUT-KATANGA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413 518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65169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MANIEMA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365 653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19132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KASAI CENTRAL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311 155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660705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SUD-UBANGI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255 172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06103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KONGO CENTRAL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238 483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335297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KINSHASA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140 015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443849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Sous-Total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4 080 151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689685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9939C1A-EBE2-3958-9C23-9587A1DDD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36072"/>
              </p:ext>
            </p:extLst>
          </p:nvPr>
        </p:nvGraphicFramePr>
        <p:xfrm>
          <a:off x="4905953" y="1396033"/>
          <a:ext cx="3926326" cy="3438352"/>
        </p:xfrm>
        <a:graphic>
          <a:graphicData uri="http://schemas.openxmlformats.org/drawingml/2006/table">
            <a:tbl>
              <a:tblPr/>
              <a:tblGrid>
                <a:gridCol w="259592">
                  <a:extLst>
                    <a:ext uri="{9D8B030D-6E8A-4147-A177-3AD203B41FA5}">
                      <a16:colId xmlns:a16="http://schemas.microsoft.com/office/drawing/2014/main" val="1768505552"/>
                    </a:ext>
                  </a:extLst>
                </a:gridCol>
                <a:gridCol w="1833367">
                  <a:extLst>
                    <a:ext uri="{9D8B030D-6E8A-4147-A177-3AD203B41FA5}">
                      <a16:colId xmlns:a16="http://schemas.microsoft.com/office/drawing/2014/main" val="2388687924"/>
                    </a:ext>
                  </a:extLst>
                </a:gridCol>
                <a:gridCol w="1833367">
                  <a:extLst>
                    <a:ext uri="{9D8B030D-6E8A-4147-A177-3AD203B41FA5}">
                      <a16:colId xmlns:a16="http://schemas.microsoft.com/office/drawing/2014/main" val="4186159222"/>
                    </a:ext>
                  </a:extLst>
                </a:gridCol>
              </a:tblGrid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56006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MAINDOMBE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373 398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26100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TSHUAPA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309 717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082457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LUALABA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294 215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02275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KWILU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285 589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608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HAUT-LOMAMI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229 569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81432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HAUT-UELE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225 965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6687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KASAI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205 649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877105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LOMAMI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194 667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497758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BAS-UELE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194 148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154165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KWANGO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132 077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43462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NORD-UBANGI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112 769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463767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TANGANYIKA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87 062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511794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SANKURU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84 203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08468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DPS EQUATEUR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58 188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91424"/>
                  </a:ext>
                </a:extLst>
              </a:tr>
              <a:tr h="2148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3366"/>
                          </a:solidFill>
                          <a:effectLst/>
                          <a:latin typeface="Arial" panose="020B0604020202020204" pitchFamily="34" charset="0"/>
                        </a:rPr>
                        <a:t>2 787 216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9521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C75802-66EF-38AC-7E11-D93927B41FE5}"/>
              </a:ext>
            </a:extLst>
          </p:cNvPr>
          <p:cNvSpPr/>
          <p:nvPr/>
        </p:nvSpPr>
        <p:spPr>
          <a:xfrm>
            <a:off x="311110" y="954158"/>
            <a:ext cx="4465393" cy="381662"/>
          </a:xfrm>
          <a:prstGeom prst="rect">
            <a:avLst/>
          </a:prstGeom>
          <a:solidFill>
            <a:srgbClr val="0046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PHASE 1 : DEC/25 – 15 JANV/ 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DC373-3A56-6DA1-A05E-9D93A9443A18}"/>
              </a:ext>
            </a:extLst>
          </p:cNvPr>
          <p:cNvSpPr/>
          <p:nvPr/>
        </p:nvSpPr>
        <p:spPr>
          <a:xfrm>
            <a:off x="4905953" y="954158"/>
            <a:ext cx="3926326" cy="381662"/>
          </a:xfrm>
          <a:prstGeom prst="rect">
            <a:avLst/>
          </a:prstGeom>
          <a:solidFill>
            <a:srgbClr val="0046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PHASE 2 : 18 JANV – 29 JANV/ 26</a:t>
            </a:r>
          </a:p>
        </p:txBody>
      </p:sp>
    </p:spTree>
    <p:extLst>
      <p:ext uri="{BB962C8B-B14F-4D97-AF65-F5344CB8AC3E}">
        <p14:creationId xmlns:p14="http://schemas.microsoft.com/office/powerpoint/2010/main" val="246775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81C9C-1AFB-476E-5C27-8A0A15C8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F073D4-6C5C-0D77-210C-B72F9146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  <a:solidFill>
            <a:srgbClr val="0046D2"/>
          </a:solidFill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SUBVENTIONS A CLOTURER</a:t>
            </a:r>
          </a:p>
        </p:txBody>
      </p:sp>
    </p:spTree>
    <p:extLst>
      <p:ext uri="{BB962C8B-B14F-4D97-AF65-F5344CB8AC3E}">
        <p14:creationId xmlns:p14="http://schemas.microsoft.com/office/powerpoint/2010/main" val="3309126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D121-021E-7DFF-2180-DD9B39FD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18882B8-88FC-AF26-0AB3-69090B6E1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47" y="263071"/>
            <a:ext cx="7468505" cy="563865"/>
          </a:xfrm>
          <a:ln>
            <a:solidFill>
              <a:srgbClr val="C00000"/>
            </a:solidFill>
          </a:ln>
        </p:spPr>
        <p:txBody>
          <a:bodyPr anchor="ctr"/>
          <a:lstStyle/>
          <a:p>
            <a:pPr algn="ctr" defTabSz="685800">
              <a:buClr>
                <a:srgbClr val="000000"/>
              </a:buClr>
              <a:buSzPts val="2399"/>
            </a:pPr>
            <a:r>
              <a:rPr lang="fr-FR" sz="3200" b="1" kern="1200" dirty="0">
                <a:solidFill>
                  <a:srgbClr val="145ABE"/>
                </a:solidFill>
                <a:latin typeface="Tenorite" panose="00000500000000000000" pitchFamily="2" charset="0"/>
                <a:ea typeface="+mj-ea"/>
              </a:rPr>
              <a:t>SUBVENTIONS A CLOTURER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97C0FA6-1F1B-6E47-420E-1C140B3ED270}"/>
              </a:ext>
            </a:extLst>
          </p:cNvPr>
          <p:cNvGraphicFramePr>
            <a:graphicFrameLocks noGrp="1"/>
          </p:cNvGraphicFramePr>
          <p:nvPr/>
        </p:nvGraphicFramePr>
        <p:xfrm>
          <a:off x="837746" y="917030"/>
          <a:ext cx="7468505" cy="3546260"/>
        </p:xfrm>
        <a:graphic>
          <a:graphicData uri="http://schemas.openxmlformats.org/drawingml/2006/table">
            <a:tbl>
              <a:tblPr/>
              <a:tblGrid>
                <a:gridCol w="1375016">
                  <a:extLst>
                    <a:ext uri="{9D8B030D-6E8A-4147-A177-3AD203B41FA5}">
                      <a16:colId xmlns:a16="http://schemas.microsoft.com/office/drawing/2014/main" val="2276346763"/>
                    </a:ext>
                  </a:extLst>
                </a:gridCol>
                <a:gridCol w="1214605">
                  <a:extLst>
                    <a:ext uri="{9D8B030D-6E8A-4147-A177-3AD203B41FA5}">
                      <a16:colId xmlns:a16="http://schemas.microsoft.com/office/drawing/2014/main" val="732061740"/>
                    </a:ext>
                  </a:extLst>
                </a:gridCol>
                <a:gridCol w="1188054">
                  <a:extLst>
                    <a:ext uri="{9D8B030D-6E8A-4147-A177-3AD203B41FA5}">
                      <a16:colId xmlns:a16="http://schemas.microsoft.com/office/drawing/2014/main" val="4201969514"/>
                    </a:ext>
                  </a:extLst>
                </a:gridCol>
                <a:gridCol w="1389489">
                  <a:extLst>
                    <a:ext uri="{9D8B030D-6E8A-4147-A177-3AD203B41FA5}">
                      <a16:colId xmlns:a16="http://schemas.microsoft.com/office/drawing/2014/main" val="1017389761"/>
                    </a:ext>
                  </a:extLst>
                </a:gridCol>
                <a:gridCol w="1389489">
                  <a:extLst>
                    <a:ext uri="{9D8B030D-6E8A-4147-A177-3AD203B41FA5}">
                      <a16:colId xmlns:a16="http://schemas.microsoft.com/office/drawing/2014/main" val="450768385"/>
                    </a:ext>
                  </a:extLst>
                </a:gridCol>
                <a:gridCol w="911852">
                  <a:extLst>
                    <a:ext uri="{9D8B030D-6E8A-4147-A177-3AD203B41FA5}">
                      <a16:colId xmlns:a16="http://schemas.microsoft.com/office/drawing/2014/main" val="200551924"/>
                    </a:ext>
                  </a:extLst>
                </a:gridCol>
              </a:tblGrid>
              <a:tr h="42694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SUBVENTION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Date clôture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Fonds Reçu de Gavi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Décaissé par la CAGF (</a:t>
                      </a:r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Aptos" panose="020B0004020202020204"/>
                        </a:rPr>
                        <a:t>a</a:t>
                      </a:r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Aptos" panose="020B0004020202020204"/>
                        </a:rPr>
                        <a:t>)</a:t>
                      </a:r>
                      <a:endParaRPr lang="fr-FR" sz="1400" b="1" i="0" u="none" strike="noStrike">
                        <a:solidFill>
                          <a:srgbClr val="0070C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Justification (</a:t>
                      </a:r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/>
                        </a:rPr>
                        <a:t>b</a:t>
                      </a:r>
                      <a:r>
                        <a:rPr lang="fr-F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ptos" panose="020B0004020202020204"/>
                        </a:rPr>
                        <a:t>)</a:t>
                      </a:r>
                      <a:endParaRPr lang="fr-FR" sz="1400" b="1" i="0" u="none" strike="noStrike" dirty="0">
                        <a:solidFill>
                          <a:srgbClr val="0070C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Taux/justif. (</a:t>
                      </a:r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Aptos" panose="020B0004020202020204"/>
                        </a:rPr>
                        <a:t>b/a</a:t>
                      </a:r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Aptos" panose="020B0004020202020204"/>
                        </a:rPr>
                        <a:t>)</a:t>
                      </a:r>
                      <a:endParaRPr lang="fr-FR" sz="1400" b="1" i="0" u="none" strike="noStrike">
                        <a:solidFill>
                          <a:srgbClr val="0070C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254537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RSS3 </a:t>
                      </a:r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(2020-2025)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30/06/2026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40 422 503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38 640 336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34 216 683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89%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06011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FAE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30/06/2026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10 289 771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9 741 323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6 327 726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65%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52847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FJ-BLOC3&amp;4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31/12/2025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14 160 416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12 152 081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12 033 969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35057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FJ-BLOC5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31/12/2025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4 203 681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5 257 727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4 761 965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722541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ROUGEOLE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31/12/2025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10 263 190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10 086 311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9 706 867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80067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VAR2 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31/12/2025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923 387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804 527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663 981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83%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788052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VPI-2 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31/12/2025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313 133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284 391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236 247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83%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56894"/>
                  </a:ext>
                </a:extLst>
              </a:tr>
              <a:tr h="3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TOTAL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 </a:t>
                      </a:r>
                    </a:p>
                  </a:txBody>
                  <a:tcPr marL="18288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80 576 081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76 966 696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fr-FR" sz="1400" b="1" i="0" u="none" strike="noStrike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67 947 438</a:t>
                      </a:r>
                    </a:p>
                  </a:txBody>
                  <a:tcPr marL="7620" marR="18288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Maiandra GD" panose="020E0502030308020204" pitchFamily="34" charset="0"/>
                        </a:rPr>
                        <a:t>88%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29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70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C056-69B2-92D9-B1A0-775045D4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715028-EFE8-C007-65B8-9CECBBEB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  <a:solidFill>
            <a:srgbClr val="0046D2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PILOTE DE LA DECENTRALISATION FINANCIERE</a:t>
            </a:r>
          </a:p>
        </p:txBody>
      </p:sp>
    </p:spTree>
    <p:extLst>
      <p:ext uri="{BB962C8B-B14F-4D97-AF65-F5344CB8AC3E}">
        <p14:creationId xmlns:p14="http://schemas.microsoft.com/office/powerpoint/2010/main" val="382088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D04EF-8F67-58E1-FE3F-718469F3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cs typeface="Times New Roman"/>
              </a:rPr>
              <a:t>PILOTE DECENTRALISATION FINANCIERE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7DF52CD8-9C4E-1A3F-6268-2B6B747A4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168936"/>
              </p:ext>
            </p:extLst>
          </p:nvPr>
        </p:nvGraphicFramePr>
        <p:xfrm>
          <a:off x="425396" y="1147377"/>
          <a:ext cx="8293208" cy="3580830"/>
        </p:xfrm>
        <a:graphic>
          <a:graphicData uri="http://schemas.openxmlformats.org/drawingml/2006/table">
            <a:tbl>
              <a:tblPr firstRow="1" bandRow="1">
                <a:tableStyleId>{ECFA57D3-2268-4D48-B53E-8B72623F598B}</a:tableStyleId>
              </a:tblPr>
              <a:tblGrid>
                <a:gridCol w="1391478">
                  <a:extLst>
                    <a:ext uri="{9D8B030D-6E8A-4147-A177-3AD203B41FA5}">
                      <a16:colId xmlns:a16="http://schemas.microsoft.com/office/drawing/2014/main" val="2966907765"/>
                    </a:ext>
                  </a:extLst>
                </a:gridCol>
                <a:gridCol w="1375576">
                  <a:extLst>
                    <a:ext uri="{9D8B030D-6E8A-4147-A177-3AD203B41FA5}">
                      <a16:colId xmlns:a16="http://schemas.microsoft.com/office/drawing/2014/main" val="3180634381"/>
                    </a:ext>
                  </a:extLst>
                </a:gridCol>
                <a:gridCol w="723568">
                  <a:extLst>
                    <a:ext uri="{9D8B030D-6E8A-4147-A177-3AD203B41FA5}">
                      <a16:colId xmlns:a16="http://schemas.microsoft.com/office/drawing/2014/main" val="3935203261"/>
                    </a:ext>
                  </a:extLst>
                </a:gridCol>
                <a:gridCol w="691764">
                  <a:extLst>
                    <a:ext uri="{9D8B030D-6E8A-4147-A177-3AD203B41FA5}">
                      <a16:colId xmlns:a16="http://schemas.microsoft.com/office/drawing/2014/main" val="1128237641"/>
                    </a:ext>
                  </a:extLst>
                </a:gridCol>
                <a:gridCol w="1000869">
                  <a:extLst>
                    <a:ext uri="{9D8B030D-6E8A-4147-A177-3AD203B41FA5}">
                      <a16:colId xmlns:a16="http://schemas.microsoft.com/office/drawing/2014/main" val="1099362845"/>
                    </a:ext>
                  </a:extLst>
                </a:gridCol>
                <a:gridCol w="1036651">
                  <a:extLst>
                    <a:ext uri="{9D8B030D-6E8A-4147-A177-3AD203B41FA5}">
                      <a16:colId xmlns:a16="http://schemas.microsoft.com/office/drawing/2014/main" val="836546342"/>
                    </a:ext>
                  </a:extLst>
                </a:gridCol>
                <a:gridCol w="1036651">
                  <a:extLst>
                    <a:ext uri="{9D8B030D-6E8A-4147-A177-3AD203B41FA5}">
                      <a16:colId xmlns:a16="http://schemas.microsoft.com/office/drawing/2014/main" val="2770109523"/>
                    </a:ext>
                  </a:extLst>
                </a:gridCol>
                <a:gridCol w="1036651">
                  <a:extLst>
                    <a:ext uri="{9D8B030D-6E8A-4147-A177-3AD203B41FA5}">
                      <a16:colId xmlns:a16="http://schemas.microsoft.com/office/drawing/2014/main" val="3699375130"/>
                    </a:ext>
                  </a:extLst>
                </a:gridCol>
              </a:tblGrid>
              <a:tr h="371585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Mai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Juin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Juillet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Août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Sept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Octobre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Novembre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Décembre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70814"/>
                  </a:ext>
                </a:extLst>
              </a:tr>
              <a:tr h="476815">
                <a:tc>
                  <a:txBody>
                    <a:bodyPr/>
                    <a:lstStyle/>
                    <a:p>
                      <a:r>
                        <a:rPr lang="fr-FR" sz="1100" b="1" dirty="0">
                          <a:solidFill>
                            <a:schemeClr val="bg1"/>
                          </a:solidFill>
                        </a:rPr>
                        <a:t>ETAT DES LIEUX</a:t>
                      </a:r>
                    </a:p>
                  </a:txBody>
                  <a:tcPr anchor="ctr">
                    <a:solidFill>
                      <a:srgbClr val="0046D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548916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EQUIPEMENTS</a:t>
                      </a:r>
                    </a:p>
                  </a:txBody>
                  <a:tcPr anchor="ctr">
                    <a:solidFill>
                      <a:srgbClr val="0046D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913068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Simplification </a:t>
                      </a:r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Tompro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6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46D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58056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Formation</a:t>
                      </a:r>
                    </a:p>
                  </a:txBody>
                  <a:tcPr anchor="ctr">
                    <a:solidFill>
                      <a:srgbClr val="0046D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747753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fr-FR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Simplification procédures</a:t>
                      </a:r>
                    </a:p>
                  </a:txBody>
                  <a:tcPr anchor="ctr">
                    <a:solidFill>
                      <a:srgbClr val="0046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97689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Mise en place du copil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610044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Notification par le SG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19370"/>
                  </a:ext>
                </a:extLst>
              </a:tr>
              <a:tr h="37158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Suivi et évaluation des provinces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38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22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04D-E844-462A-216E-22D043CF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5F183-8DF7-1FCC-83AB-BD63AFD8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33" y="273844"/>
            <a:ext cx="8564524" cy="59284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cs typeface="Times New Roman"/>
              </a:rPr>
              <a:t>PLAN DECENTRALISATION FINANCIERE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3E2F51B-72D1-7C57-E116-B9FCBB88D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95698"/>
              </p:ext>
            </p:extLst>
          </p:nvPr>
        </p:nvGraphicFramePr>
        <p:xfrm>
          <a:off x="866691" y="1251833"/>
          <a:ext cx="7410617" cy="2639833"/>
        </p:xfrm>
        <a:graphic>
          <a:graphicData uri="http://schemas.openxmlformats.org/drawingml/2006/table">
            <a:tbl>
              <a:tblPr/>
              <a:tblGrid>
                <a:gridCol w="440780">
                  <a:extLst>
                    <a:ext uri="{9D8B030D-6E8A-4147-A177-3AD203B41FA5}">
                      <a16:colId xmlns:a16="http://schemas.microsoft.com/office/drawing/2014/main" val="969435191"/>
                    </a:ext>
                  </a:extLst>
                </a:gridCol>
                <a:gridCol w="2286547">
                  <a:extLst>
                    <a:ext uri="{9D8B030D-6E8A-4147-A177-3AD203B41FA5}">
                      <a16:colId xmlns:a16="http://schemas.microsoft.com/office/drawing/2014/main" val="3439791306"/>
                    </a:ext>
                  </a:extLst>
                </a:gridCol>
                <a:gridCol w="2424291">
                  <a:extLst>
                    <a:ext uri="{9D8B030D-6E8A-4147-A177-3AD203B41FA5}">
                      <a16:colId xmlns:a16="http://schemas.microsoft.com/office/drawing/2014/main" val="2470589855"/>
                    </a:ext>
                  </a:extLst>
                </a:gridCol>
                <a:gridCol w="2258999">
                  <a:extLst>
                    <a:ext uri="{9D8B030D-6E8A-4147-A177-3AD203B41FA5}">
                      <a16:colId xmlns:a16="http://schemas.microsoft.com/office/drawing/2014/main" val="2420431638"/>
                    </a:ext>
                  </a:extLst>
                </a:gridCol>
              </a:tblGrid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BUDGET MENSUEL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BUDGET ANNUEL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972735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KINSHASA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076685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KONGO CENTRAL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643958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MANIEMA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00918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KWILU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40045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ITURI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3670"/>
                  </a:ext>
                </a:extLst>
              </a:tr>
              <a:tr h="377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60 000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774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546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145F-C8DF-CB9F-BF5E-83D945DA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0FDF4-FA2B-46FA-93F7-5AE40D9E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cs typeface="Times New Roman"/>
                <a:sym typeface="Times New Roman"/>
              </a:rPr>
              <a:t>PROCHAINES ETAPES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BAD581-215B-230A-A1AE-CF33DEC5C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Mise en place du comité de pilotage</a:t>
            </a:r>
          </a:p>
          <a:p>
            <a:r>
              <a:rPr lang="fr-FR" dirty="0"/>
              <a:t>Evaluation de l’approche</a:t>
            </a:r>
          </a:p>
          <a:p>
            <a:r>
              <a:rPr lang="fr-FR" dirty="0"/>
              <a:t>Passage à l’</a:t>
            </a:r>
            <a:r>
              <a:rPr lang="fr-FR" dirty="0" err="1"/>
              <a:t>echele</a:t>
            </a:r>
            <a:r>
              <a:rPr lang="fr-FR" dirty="0"/>
              <a:t> de manière progressive de l’approche</a:t>
            </a:r>
          </a:p>
        </p:txBody>
      </p:sp>
    </p:spTree>
    <p:extLst>
      <p:ext uri="{BB962C8B-B14F-4D97-AF65-F5344CB8AC3E}">
        <p14:creationId xmlns:p14="http://schemas.microsoft.com/office/powerpoint/2010/main" val="2928615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AC6A6-FCA0-9427-4ECC-0F62DB23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  <a:solidFill>
            <a:srgbClr val="0046D2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PREVISIONS BUDGETAIRES 2026 PAR DPS EN  2026</a:t>
            </a:r>
          </a:p>
        </p:txBody>
      </p:sp>
    </p:spTree>
    <p:extLst>
      <p:ext uri="{BB962C8B-B14F-4D97-AF65-F5344CB8AC3E}">
        <p14:creationId xmlns:p14="http://schemas.microsoft.com/office/powerpoint/2010/main" val="223326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9601-5B47-1C18-2BBA-A617BE0F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6BAB-0679-08C5-FAAB-85870864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3" y="126974"/>
            <a:ext cx="8368583" cy="509132"/>
          </a:xfrm>
        </p:spPr>
        <p:txBody>
          <a:bodyPr anchor="ctr"/>
          <a:lstStyle/>
          <a:p>
            <a:pPr algn="ctr"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sym typeface="Arial"/>
              </a:rPr>
              <a:t>SYNTHESE DES SUBVENTIONS GAVI EN 2026</a:t>
            </a:r>
            <a:endParaRPr lang="en-US" sz="2400" b="1" dirty="0">
              <a:solidFill>
                <a:srgbClr val="FF0000"/>
              </a:solidFill>
              <a:latin typeface="Tenorite" panose="00000500000000000000" pitchFamily="2" charset="0"/>
              <a:sym typeface="Arial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F2CDE80-B102-89B4-23B1-86FB01F69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033983"/>
              </p:ext>
            </p:extLst>
          </p:nvPr>
        </p:nvGraphicFramePr>
        <p:xfrm>
          <a:off x="413468" y="699593"/>
          <a:ext cx="8368579" cy="4365074"/>
        </p:xfrm>
        <a:graphic>
          <a:graphicData uri="http://schemas.openxmlformats.org/drawingml/2006/table">
            <a:tbl>
              <a:tblPr/>
              <a:tblGrid>
                <a:gridCol w="222421">
                  <a:extLst>
                    <a:ext uri="{9D8B030D-6E8A-4147-A177-3AD203B41FA5}">
                      <a16:colId xmlns:a16="http://schemas.microsoft.com/office/drawing/2014/main" val="2655048507"/>
                    </a:ext>
                  </a:extLst>
                </a:gridCol>
                <a:gridCol w="1153805">
                  <a:extLst>
                    <a:ext uri="{9D8B030D-6E8A-4147-A177-3AD203B41FA5}">
                      <a16:colId xmlns:a16="http://schemas.microsoft.com/office/drawing/2014/main" val="1332437559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636993463"/>
                    </a:ext>
                  </a:extLst>
                </a:gridCol>
                <a:gridCol w="930461">
                  <a:extLst>
                    <a:ext uri="{9D8B030D-6E8A-4147-A177-3AD203B41FA5}">
                      <a16:colId xmlns:a16="http://schemas.microsoft.com/office/drawing/2014/main" val="3298565100"/>
                    </a:ext>
                  </a:extLst>
                </a:gridCol>
                <a:gridCol w="932312">
                  <a:extLst>
                    <a:ext uri="{9D8B030D-6E8A-4147-A177-3AD203B41FA5}">
                      <a16:colId xmlns:a16="http://schemas.microsoft.com/office/drawing/2014/main" val="958331901"/>
                    </a:ext>
                  </a:extLst>
                </a:gridCol>
                <a:gridCol w="959190">
                  <a:extLst>
                    <a:ext uri="{9D8B030D-6E8A-4147-A177-3AD203B41FA5}">
                      <a16:colId xmlns:a16="http://schemas.microsoft.com/office/drawing/2014/main" val="3015413992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10977873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04284937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100640768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128183554"/>
                    </a:ext>
                  </a:extLst>
                </a:gridCol>
              </a:tblGrid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ENTITE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ROUTINE RR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CAMP RR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VAP B3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CDS (REVUES)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FJ B7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RSS4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OCV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04794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BAS UELE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46 894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16 593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51 788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115 274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51788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EQUATEUR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72 615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679 557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24 710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67 060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335 382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1 179 323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89651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 KATANGA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107 976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164 152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303 723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2 199 973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2 775 825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68085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 LOMAMI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75 276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82 229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2 704 103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2 861 607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560354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 UELE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60 478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20 816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63 032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144 327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02054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ITURI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141 941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200 422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2 584 793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115 598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1 063 421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4 106 175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693783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84 060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1 077 917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139 583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85 597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271 771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1 658 928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365744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 CENTRAL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107 744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1 156 033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35 286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95 377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1 394 441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888836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 ORIENTAL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77 493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864 352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126 885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225 581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1 294 311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453026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KINSHASA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136 352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1 516 113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161 207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17 480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189 974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2 021 126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382495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KONGO CENTRAL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124 618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1 095 679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46 946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99 988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263 809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1 631 041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732196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KWANGO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60 665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667 589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77 324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805 577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299462"/>
                  </a:ext>
                </a:extLst>
              </a:tr>
              <a:tr h="291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KWILU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104 857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1 266 521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36 719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116 712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1 524 808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51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30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FB034-A297-E7E0-1547-95277C1D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0960-24B5-ED45-E53C-665D887C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45026"/>
            <a:ext cx="8368583" cy="509132"/>
          </a:xfrm>
        </p:spPr>
        <p:txBody>
          <a:bodyPr anchor="ctr"/>
          <a:lstStyle/>
          <a:p>
            <a:pPr algn="ctr">
              <a:buClr>
                <a:srgbClr val="000000"/>
              </a:buClr>
              <a:buSzPts val="2399"/>
            </a:pPr>
            <a:r>
              <a:rPr lang="fr-FR" sz="3200" b="1" dirty="0">
                <a:solidFill>
                  <a:srgbClr val="145ABE"/>
                </a:solidFill>
                <a:latin typeface="Tenorite" panose="00000500000000000000" pitchFamily="2" charset="0"/>
                <a:sym typeface="Arial"/>
              </a:rPr>
              <a:t>SYNTHESE DES SUBVENTIONS GAVI EN 2026</a:t>
            </a:r>
            <a:endParaRPr lang="en-US" sz="2400" b="1" dirty="0">
              <a:solidFill>
                <a:srgbClr val="FF0000"/>
              </a:solidFill>
              <a:latin typeface="Tenorite" panose="00000500000000000000" pitchFamily="2" charset="0"/>
              <a:sym typeface="Arial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362F330-92CA-3FC2-9209-40A70C461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23152"/>
              </p:ext>
            </p:extLst>
          </p:nvPr>
        </p:nvGraphicFramePr>
        <p:xfrm>
          <a:off x="413468" y="954157"/>
          <a:ext cx="8368580" cy="3925621"/>
        </p:xfrm>
        <a:graphic>
          <a:graphicData uri="http://schemas.openxmlformats.org/drawingml/2006/table">
            <a:tbl>
              <a:tblPr/>
              <a:tblGrid>
                <a:gridCol w="222421">
                  <a:extLst>
                    <a:ext uri="{9D8B030D-6E8A-4147-A177-3AD203B41FA5}">
                      <a16:colId xmlns:a16="http://schemas.microsoft.com/office/drawing/2014/main" val="2655048507"/>
                    </a:ext>
                  </a:extLst>
                </a:gridCol>
                <a:gridCol w="1153806">
                  <a:extLst>
                    <a:ext uri="{9D8B030D-6E8A-4147-A177-3AD203B41FA5}">
                      <a16:colId xmlns:a16="http://schemas.microsoft.com/office/drawing/2014/main" val="1332437559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636993463"/>
                    </a:ext>
                  </a:extLst>
                </a:gridCol>
                <a:gridCol w="1028695">
                  <a:extLst>
                    <a:ext uri="{9D8B030D-6E8A-4147-A177-3AD203B41FA5}">
                      <a16:colId xmlns:a16="http://schemas.microsoft.com/office/drawing/2014/main" val="329856510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958331901"/>
                    </a:ext>
                  </a:extLst>
                </a:gridCol>
                <a:gridCol w="959190">
                  <a:extLst>
                    <a:ext uri="{9D8B030D-6E8A-4147-A177-3AD203B41FA5}">
                      <a16:colId xmlns:a16="http://schemas.microsoft.com/office/drawing/2014/main" val="3015413992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10977873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04284937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1006407680"/>
                    </a:ext>
                  </a:extLst>
                </a:gridCol>
                <a:gridCol w="834078">
                  <a:extLst>
                    <a:ext uri="{9D8B030D-6E8A-4147-A177-3AD203B41FA5}">
                      <a16:colId xmlns:a16="http://schemas.microsoft.com/office/drawing/2014/main" val="3128183554"/>
                    </a:ext>
                  </a:extLst>
                </a:gridCol>
              </a:tblGrid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N°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ENTITE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ROUTINE RR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CAMPAGNE RR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VAP B3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CDS (REVUES)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FJ B7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RSS4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OCV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04794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LOMAMI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68 801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891 755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75 259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1 035 814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3068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LUALABA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64 384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106 861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67 791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239 037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286787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MAINDOMBE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68 544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586 925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22 230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203 824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449 209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1 330 732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292574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MANIEMA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77 901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704 812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124 041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495 901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1 402 654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26957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MONGALA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62 191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668 908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19 402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192 563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943 065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383652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 - KIVU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137 587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1 839 267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212 448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46 610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3 330 391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121 148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2 769 259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8 456 710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519288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 UBANGI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47 272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422 897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16 593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52 095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538 857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9862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SANKURU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65 127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627 242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104 868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68 289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222 465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1 087 990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128893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KIVU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140 450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1 684 575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208 944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47 675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128 102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4 299 052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6 508 798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148365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UBANGI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65 019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723 745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23 663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70 457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882 884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64143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TANGANYIKA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58 069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98 651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67 455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2 329 168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2 553 343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409716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TSHOPO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98 944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897 879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31 045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283 775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504 622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1 816 264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386966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TSHUAPA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53 933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553 425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19 402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188 189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814 949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523241"/>
                  </a:ext>
                </a:extLst>
              </a:tr>
              <a:tr h="249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2 209 191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17 925 190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1 524 020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425 169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5 915 185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3 216 970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17 908 134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49 123 859</a:t>
                      </a:r>
                    </a:p>
                  </a:txBody>
                  <a:tcPr marL="4207" marR="4207" marT="4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66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292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"/>
          <p:cNvSpPr txBox="1"/>
          <p:nvPr/>
        </p:nvSpPr>
        <p:spPr>
          <a:xfrm>
            <a:off x="548787" y="2053031"/>
            <a:ext cx="8032792" cy="32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imes New Roman"/>
              </a:rPr>
              <a:t>Merci !</a:t>
            </a:r>
            <a:endParaRPr sz="2400" b="1" i="0" u="none" strike="noStrike" cap="none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765" name="Google Shape;765;p38"/>
          <p:cNvSpPr/>
          <p:nvPr/>
        </p:nvSpPr>
        <p:spPr>
          <a:xfrm>
            <a:off x="0" y="1991063"/>
            <a:ext cx="3787736" cy="49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5356845" y="1991063"/>
            <a:ext cx="3787736" cy="49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38"/>
          <p:cNvSpPr txBox="1"/>
          <p:nvPr/>
        </p:nvSpPr>
        <p:spPr>
          <a:xfrm>
            <a:off x="3264700" y="4297594"/>
            <a:ext cx="2615181" cy="32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</a:t>
            </a:r>
            <a:r>
              <a:rPr lang="en-GB" sz="11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 b="0" i="0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c'est</a:t>
            </a:r>
            <a:r>
              <a:rPr lang="en-GB" sz="11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 b="1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aimer,</a:t>
            </a:r>
            <a:r>
              <a:rPr lang="en-GB" sz="11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 b="0" i="0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</a:t>
            </a:r>
            <a:r>
              <a:rPr lang="en-GB" sz="11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 b="0" i="0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c'est</a:t>
            </a:r>
            <a:r>
              <a:rPr lang="en-GB" sz="11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 b="1" i="0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protéger</a:t>
            </a:r>
            <a:endParaRPr sz="1100" b="1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BD78D7C-56F6-2248-6C3A-DC6F8B875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01704"/>
              </p:ext>
            </p:extLst>
          </p:nvPr>
        </p:nvGraphicFramePr>
        <p:xfrm>
          <a:off x="1221739" y="1196973"/>
          <a:ext cx="7106919" cy="3818257"/>
        </p:xfrm>
        <a:graphic>
          <a:graphicData uri="http://schemas.openxmlformats.org/drawingml/2006/table">
            <a:tbl>
              <a:tblPr/>
              <a:tblGrid>
                <a:gridCol w="974843">
                  <a:extLst>
                    <a:ext uri="{9D8B030D-6E8A-4147-A177-3AD203B41FA5}">
                      <a16:colId xmlns:a16="http://schemas.microsoft.com/office/drawing/2014/main" val="224022052"/>
                    </a:ext>
                  </a:extLst>
                </a:gridCol>
                <a:gridCol w="1918239">
                  <a:extLst>
                    <a:ext uri="{9D8B030D-6E8A-4147-A177-3AD203B41FA5}">
                      <a16:colId xmlns:a16="http://schemas.microsoft.com/office/drawing/2014/main" val="2902094421"/>
                    </a:ext>
                  </a:extLst>
                </a:gridCol>
                <a:gridCol w="1100629">
                  <a:extLst>
                    <a:ext uri="{9D8B030D-6E8A-4147-A177-3AD203B41FA5}">
                      <a16:colId xmlns:a16="http://schemas.microsoft.com/office/drawing/2014/main" val="1827802752"/>
                    </a:ext>
                  </a:extLst>
                </a:gridCol>
                <a:gridCol w="1345369">
                  <a:extLst>
                    <a:ext uri="{9D8B030D-6E8A-4147-A177-3AD203B41FA5}">
                      <a16:colId xmlns:a16="http://schemas.microsoft.com/office/drawing/2014/main" val="32203455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91099307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692437183"/>
                    </a:ext>
                  </a:extLst>
                </a:gridCol>
              </a:tblGrid>
              <a:tr h="556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CODE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EMO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DECAISSE CAGF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JUSTIFICATION EMO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AVANCES OUVERTES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Exécution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9193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KASAI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1 276 590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1 276 590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-0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33285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LOMAMI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1 186 871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1 188 071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-1 200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252722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KASAI CENTRAL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1 897 593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1 897 615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-22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692226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SUD-KIVU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2 603 696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2 603 899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-204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302798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KASAI ORIENTAL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1 164 275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1 165 913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-1 638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649813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SANKURU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1 137 331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1 122 541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14 790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823249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471122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DPS MANIEMA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188 256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188 529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-274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03036"/>
                  </a:ext>
                </a:extLst>
              </a:tr>
              <a:tr h="407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CD" sz="1400" b="0" i="0" u="none" strike="noStrike">
                        <a:solidFill>
                          <a:srgbClr val="00000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TOTAL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9 454 611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9 443 158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11 452 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26713"/>
                  </a:ext>
                </a:extLst>
              </a:tr>
            </a:tbl>
          </a:graphicData>
        </a:graphic>
      </p:graphicFrame>
      <p:sp>
        <p:nvSpPr>
          <p:cNvPr id="7" name="Titre 1">
            <a:extLst>
              <a:ext uri="{FF2B5EF4-FFF2-40B4-BE49-F238E27FC236}">
                <a16:creationId xmlns:a16="http://schemas.microsoft.com/office/drawing/2014/main" id="{C7771BCC-D445-9D04-577C-5C30759F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40" y="237109"/>
            <a:ext cx="7106919" cy="486792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fr-FR" sz="2400" b="1" dirty="0">
                <a:solidFill>
                  <a:srgbClr val="002060"/>
                </a:solidFill>
                <a:latin typeface="Aptos" panose="020B0004020202020204" pitchFamily="34" charset="0"/>
              </a:rPr>
              <a:t>EXECUTION DES CAMPAGNES AU 30/11/2025</a:t>
            </a:r>
            <a:endParaRPr lang="fr-CD" sz="2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8" name="Zone de texte 1">
            <a:extLst>
              <a:ext uri="{FF2B5EF4-FFF2-40B4-BE49-F238E27FC236}">
                <a16:creationId xmlns:a16="http://schemas.microsoft.com/office/drawing/2014/main" id="{E745DC56-B1CD-0067-B16D-9311DA9DE967}"/>
              </a:ext>
            </a:extLst>
          </p:cNvPr>
          <p:cNvSpPr txBox="1"/>
          <p:nvPr/>
        </p:nvSpPr>
        <p:spPr>
          <a:xfrm>
            <a:off x="1221740" y="801052"/>
            <a:ext cx="2181225" cy="31877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FIEVRE JAUNE BLOC 3&amp;4</a:t>
            </a:r>
            <a:endParaRPr kumimoji="0" lang="fr-CD" sz="11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39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CFBB74-878E-26C1-F8EC-2F9940503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56582"/>
              </p:ext>
            </p:extLst>
          </p:nvPr>
        </p:nvGraphicFramePr>
        <p:xfrm>
          <a:off x="994046" y="1110976"/>
          <a:ext cx="7845879" cy="3621240"/>
        </p:xfrm>
        <a:graphic>
          <a:graphicData uri="http://schemas.openxmlformats.org/drawingml/2006/table">
            <a:tbl>
              <a:tblPr/>
              <a:tblGrid>
                <a:gridCol w="1149987">
                  <a:extLst>
                    <a:ext uri="{9D8B030D-6E8A-4147-A177-3AD203B41FA5}">
                      <a16:colId xmlns:a16="http://schemas.microsoft.com/office/drawing/2014/main" val="3860421007"/>
                    </a:ext>
                  </a:extLst>
                </a:gridCol>
                <a:gridCol w="2040300">
                  <a:extLst>
                    <a:ext uri="{9D8B030D-6E8A-4147-A177-3AD203B41FA5}">
                      <a16:colId xmlns:a16="http://schemas.microsoft.com/office/drawing/2014/main" val="923227033"/>
                    </a:ext>
                  </a:extLst>
                </a:gridCol>
                <a:gridCol w="1168535">
                  <a:extLst>
                    <a:ext uri="{9D8B030D-6E8A-4147-A177-3AD203B41FA5}">
                      <a16:colId xmlns:a16="http://schemas.microsoft.com/office/drawing/2014/main" val="889515384"/>
                    </a:ext>
                  </a:extLst>
                </a:gridCol>
                <a:gridCol w="1428932">
                  <a:extLst>
                    <a:ext uri="{9D8B030D-6E8A-4147-A177-3AD203B41FA5}">
                      <a16:colId xmlns:a16="http://schemas.microsoft.com/office/drawing/2014/main" val="2067974700"/>
                    </a:ext>
                  </a:extLst>
                </a:gridCol>
                <a:gridCol w="908138">
                  <a:extLst>
                    <a:ext uri="{9D8B030D-6E8A-4147-A177-3AD203B41FA5}">
                      <a16:colId xmlns:a16="http://schemas.microsoft.com/office/drawing/2014/main" val="2624407342"/>
                    </a:ext>
                  </a:extLst>
                </a:gridCol>
                <a:gridCol w="1149987">
                  <a:extLst>
                    <a:ext uri="{9D8B030D-6E8A-4147-A177-3AD203B41FA5}">
                      <a16:colId xmlns:a16="http://schemas.microsoft.com/office/drawing/2014/main" val="2739950706"/>
                    </a:ext>
                  </a:extLst>
                </a:gridCol>
              </a:tblGrid>
              <a:tr h="550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EMO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DECAISSE CAGF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JUSTIFICATION EMO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AVANCES OUVERTES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Exécution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594327"/>
                  </a:ext>
                </a:extLst>
              </a:tr>
              <a:tr h="6045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471 105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MAINDOMBE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870 008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870 764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-756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706046"/>
                  </a:ext>
                </a:extLst>
              </a:tr>
              <a:tr h="6045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471 106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LUALABA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216 082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216 082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600548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471 109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KONGO CENTRAL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1 034 960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1 034 797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245819"/>
                  </a:ext>
                </a:extLst>
              </a:tr>
              <a:tr h="6045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471 116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KWILU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1 824 585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1 629 290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195 295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0751"/>
                  </a:ext>
                </a:extLst>
              </a:tr>
              <a:tr h="43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CD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TOTAL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3 945 636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3 534 851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410 785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885048"/>
                  </a:ext>
                </a:extLst>
              </a:tr>
            </a:tbl>
          </a:graphicData>
        </a:graphic>
      </p:graphicFrame>
      <p:sp>
        <p:nvSpPr>
          <p:cNvPr id="5" name="Zone de texte 1">
            <a:extLst>
              <a:ext uri="{FF2B5EF4-FFF2-40B4-BE49-F238E27FC236}">
                <a16:creationId xmlns:a16="http://schemas.microsoft.com/office/drawing/2014/main" id="{B3D1E580-6218-1A1C-87DC-3D2830F15B53}"/>
              </a:ext>
            </a:extLst>
          </p:cNvPr>
          <p:cNvSpPr txBox="1"/>
          <p:nvPr/>
        </p:nvSpPr>
        <p:spPr>
          <a:xfrm>
            <a:off x="994046" y="519112"/>
            <a:ext cx="2181225" cy="31877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FIEVRE JAUNE BLOC 5</a:t>
            </a:r>
            <a:endParaRPr kumimoji="0" lang="fr-CD" sz="11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76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56EE6B3-67AD-1F95-CA03-0A6DEC848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23547"/>
              </p:ext>
            </p:extLst>
          </p:nvPr>
        </p:nvGraphicFramePr>
        <p:xfrm>
          <a:off x="916940" y="1226729"/>
          <a:ext cx="7984406" cy="3409132"/>
        </p:xfrm>
        <a:graphic>
          <a:graphicData uri="http://schemas.openxmlformats.org/drawingml/2006/table">
            <a:tbl>
              <a:tblPr/>
              <a:tblGrid>
                <a:gridCol w="1170291">
                  <a:extLst>
                    <a:ext uri="{9D8B030D-6E8A-4147-A177-3AD203B41FA5}">
                      <a16:colId xmlns:a16="http://schemas.microsoft.com/office/drawing/2014/main" val="4030837391"/>
                    </a:ext>
                  </a:extLst>
                </a:gridCol>
                <a:gridCol w="2076323">
                  <a:extLst>
                    <a:ext uri="{9D8B030D-6E8A-4147-A177-3AD203B41FA5}">
                      <a16:colId xmlns:a16="http://schemas.microsoft.com/office/drawing/2014/main" val="1844665226"/>
                    </a:ext>
                  </a:extLst>
                </a:gridCol>
                <a:gridCol w="1189167">
                  <a:extLst>
                    <a:ext uri="{9D8B030D-6E8A-4147-A177-3AD203B41FA5}">
                      <a16:colId xmlns:a16="http://schemas.microsoft.com/office/drawing/2014/main" val="2597543701"/>
                    </a:ext>
                  </a:extLst>
                </a:gridCol>
                <a:gridCol w="1370841">
                  <a:extLst>
                    <a:ext uri="{9D8B030D-6E8A-4147-A177-3AD203B41FA5}">
                      <a16:colId xmlns:a16="http://schemas.microsoft.com/office/drawing/2014/main" val="253566964"/>
                    </a:ext>
                  </a:extLst>
                </a:gridCol>
                <a:gridCol w="1007493">
                  <a:extLst>
                    <a:ext uri="{9D8B030D-6E8A-4147-A177-3AD203B41FA5}">
                      <a16:colId xmlns:a16="http://schemas.microsoft.com/office/drawing/2014/main" val="1998702476"/>
                    </a:ext>
                  </a:extLst>
                </a:gridCol>
                <a:gridCol w="1170291">
                  <a:extLst>
                    <a:ext uri="{9D8B030D-6E8A-4147-A177-3AD203B41FA5}">
                      <a16:colId xmlns:a16="http://schemas.microsoft.com/office/drawing/2014/main" val="1967816249"/>
                    </a:ext>
                  </a:extLst>
                </a:gridCol>
              </a:tblGrid>
              <a:tr h="6445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EMO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DECAISSE CAGF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JUSTIFICATION EMO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AVANCES OUVERTES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Exécution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779840"/>
                  </a:ext>
                </a:extLst>
              </a:tr>
              <a:tr h="515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471 106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DPS LUALABA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653 273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653 273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596954"/>
                  </a:ext>
                </a:extLst>
              </a:tr>
              <a:tr h="515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471 107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DPS HAUT LOMAMI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1 362 152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1 362 152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606765"/>
                  </a:ext>
                </a:extLst>
              </a:tr>
              <a:tr h="701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471 108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DPS HAUT KATANGA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1 608 789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1 608 789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83840"/>
                  </a:ext>
                </a:extLst>
              </a:tr>
              <a:tr h="515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471 115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DPS TANGANYIKA 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983 892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983 892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040590"/>
                  </a:ext>
                </a:extLst>
              </a:tr>
              <a:tr h="515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CD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TOTAL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4 608 107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4 608 107</a:t>
                      </a:r>
                    </a:p>
                  </a:txBody>
                  <a:tcPr marL="7620" marR="13716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192289"/>
                  </a:ext>
                </a:extLst>
              </a:tr>
            </a:tbl>
          </a:graphicData>
        </a:graphic>
      </p:graphicFrame>
      <p:sp>
        <p:nvSpPr>
          <p:cNvPr id="5" name="Zone de texte 1">
            <a:extLst>
              <a:ext uri="{FF2B5EF4-FFF2-40B4-BE49-F238E27FC236}">
                <a16:creationId xmlns:a16="http://schemas.microsoft.com/office/drawing/2014/main" id="{CD5385C4-C30F-004A-80DA-24096328BCE9}"/>
              </a:ext>
            </a:extLst>
          </p:cNvPr>
          <p:cNvSpPr txBox="1"/>
          <p:nvPr/>
        </p:nvSpPr>
        <p:spPr>
          <a:xfrm>
            <a:off x="916940" y="618172"/>
            <a:ext cx="2181225" cy="31877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FIEVRE JAUNE BLOC 6</a:t>
            </a:r>
            <a:endParaRPr kumimoji="0" lang="fr-CD" sz="11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358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A7057A7-4204-F56C-54EE-10FA947FE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323445"/>
              </p:ext>
            </p:extLst>
          </p:nvPr>
        </p:nvGraphicFramePr>
        <p:xfrm>
          <a:off x="1845177" y="283518"/>
          <a:ext cx="6899679" cy="4709397"/>
        </p:xfrm>
        <a:graphic>
          <a:graphicData uri="http://schemas.openxmlformats.org/drawingml/2006/table">
            <a:tbl>
              <a:tblPr/>
              <a:tblGrid>
                <a:gridCol w="830673">
                  <a:extLst>
                    <a:ext uri="{9D8B030D-6E8A-4147-A177-3AD203B41FA5}">
                      <a16:colId xmlns:a16="http://schemas.microsoft.com/office/drawing/2014/main" val="646381240"/>
                    </a:ext>
                  </a:extLst>
                </a:gridCol>
                <a:gridCol w="1864778">
                  <a:extLst>
                    <a:ext uri="{9D8B030D-6E8A-4147-A177-3AD203B41FA5}">
                      <a16:colId xmlns:a16="http://schemas.microsoft.com/office/drawing/2014/main" val="1841287226"/>
                    </a:ext>
                  </a:extLst>
                </a:gridCol>
                <a:gridCol w="949342">
                  <a:extLst>
                    <a:ext uri="{9D8B030D-6E8A-4147-A177-3AD203B41FA5}">
                      <a16:colId xmlns:a16="http://schemas.microsoft.com/office/drawing/2014/main" val="3539554535"/>
                    </a:ext>
                  </a:extLst>
                </a:gridCol>
                <a:gridCol w="1203630">
                  <a:extLst>
                    <a:ext uri="{9D8B030D-6E8A-4147-A177-3AD203B41FA5}">
                      <a16:colId xmlns:a16="http://schemas.microsoft.com/office/drawing/2014/main" val="1510317280"/>
                    </a:ext>
                  </a:extLst>
                </a:gridCol>
                <a:gridCol w="1084962">
                  <a:extLst>
                    <a:ext uri="{9D8B030D-6E8A-4147-A177-3AD203B41FA5}">
                      <a16:colId xmlns:a16="http://schemas.microsoft.com/office/drawing/2014/main" val="1588214189"/>
                    </a:ext>
                  </a:extLst>
                </a:gridCol>
                <a:gridCol w="966294">
                  <a:extLst>
                    <a:ext uri="{9D8B030D-6E8A-4147-A177-3AD203B41FA5}">
                      <a16:colId xmlns:a16="http://schemas.microsoft.com/office/drawing/2014/main" val="1558801643"/>
                    </a:ext>
                  </a:extLst>
                </a:gridCol>
              </a:tblGrid>
              <a:tr h="3186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DECAISSE CAGF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JUSTIFICATION EMO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OUVERTES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Exécution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78814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471100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245 029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245 191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-162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037504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471101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TSHOPO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430 622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433 289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-2 667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863696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471102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LOMAMI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182 810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182 807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651400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471103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BAS-UELE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195 383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200 383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-5 000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372276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471104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CENTRAL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184 929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180 457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4 472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808035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471105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MAINDOMBE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105 520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105 520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641444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471106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LUALABA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290 676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283 123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7 553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298012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471107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HAUT-LOMAMI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396 323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394 835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1 488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717966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471108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HAUT-KATANGA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508 026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503 393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4 633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150453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471109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KONGO CENTRAL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208 831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208 831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89283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471110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KINSHASA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536 738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521 756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14 982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37187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471111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HAUT-UELE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252 435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229 161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23 274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243902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471112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SUD-UBANGI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323 535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316 920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6 615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79242"/>
                  </a:ext>
                </a:extLst>
              </a:tr>
              <a:tr h="1822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471113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EQUATEUR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366 354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366 353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9689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 471114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SUD-KIVU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672 628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579 263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93 365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86%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98766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471115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TANGANYIKA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284 286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300 860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-16 574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253482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471116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KWILU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175 424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175 424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67325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471117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TSHUAPA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264 069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264 069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892737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471118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ITURI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633 105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612 756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20 349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084757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471119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ORIENTAL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366 510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366 510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512947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471120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SANKURU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327 151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327 151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671945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 471121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 - KIVU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723 591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568 641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154 950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79%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5321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471122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MANIEMA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329 401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324 538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4 863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049352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471123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KWANGO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248 518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239 129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9 389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536770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471124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NORD-UBANGI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204 838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200 928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3 910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743485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471125 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MONGALA 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261 892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261 833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49065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108000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8 718 624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8 393 120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325 503</a:t>
                      </a:r>
                    </a:p>
                  </a:txBody>
                  <a:tcPr marL="4894" marR="216000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96%</a:t>
                      </a:r>
                    </a:p>
                  </a:txBody>
                  <a:tcPr marL="4894" marR="4894" marT="48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18476"/>
                  </a:ext>
                </a:extLst>
              </a:tr>
            </a:tbl>
          </a:graphicData>
        </a:graphic>
      </p:graphicFrame>
      <p:sp>
        <p:nvSpPr>
          <p:cNvPr id="7" name="Zone de texte 1">
            <a:extLst>
              <a:ext uri="{FF2B5EF4-FFF2-40B4-BE49-F238E27FC236}">
                <a16:creationId xmlns:a16="http://schemas.microsoft.com/office/drawing/2014/main" id="{310C987E-88CA-5799-6504-9FB28FB61088}"/>
              </a:ext>
            </a:extLst>
          </p:cNvPr>
          <p:cNvSpPr txBox="1"/>
          <p:nvPr/>
        </p:nvSpPr>
        <p:spPr>
          <a:xfrm>
            <a:off x="170181" y="283518"/>
            <a:ext cx="1536699" cy="3794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ROUGEOLE</a:t>
            </a:r>
            <a:endParaRPr kumimoji="0" lang="fr-CD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41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BECB44B-0919-8B58-44D5-A741512D1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41032"/>
              </p:ext>
            </p:extLst>
          </p:nvPr>
        </p:nvGraphicFramePr>
        <p:xfrm>
          <a:off x="2091768" y="207644"/>
          <a:ext cx="6671232" cy="4867282"/>
        </p:xfrm>
        <a:graphic>
          <a:graphicData uri="http://schemas.openxmlformats.org/drawingml/2006/table">
            <a:tbl>
              <a:tblPr/>
              <a:tblGrid>
                <a:gridCol w="863901">
                  <a:extLst>
                    <a:ext uri="{9D8B030D-6E8A-4147-A177-3AD203B41FA5}">
                      <a16:colId xmlns:a16="http://schemas.microsoft.com/office/drawing/2014/main" val="2944885284"/>
                    </a:ext>
                  </a:extLst>
                </a:gridCol>
                <a:gridCol w="1903781">
                  <a:extLst>
                    <a:ext uri="{9D8B030D-6E8A-4147-A177-3AD203B41FA5}">
                      <a16:colId xmlns:a16="http://schemas.microsoft.com/office/drawing/2014/main" val="31284413"/>
                    </a:ext>
                  </a:extLst>
                </a:gridCol>
                <a:gridCol w="991886">
                  <a:extLst>
                    <a:ext uri="{9D8B030D-6E8A-4147-A177-3AD203B41FA5}">
                      <a16:colId xmlns:a16="http://schemas.microsoft.com/office/drawing/2014/main" val="3952249172"/>
                    </a:ext>
                  </a:extLst>
                </a:gridCol>
                <a:gridCol w="991886">
                  <a:extLst>
                    <a:ext uri="{9D8B030D-6E8A-4147-A177-3AD203B41FA5}">
                      <a16:colId xmlns:a16="http://schemas.microsoft.com/office/drawing/2014/main" val="3523943757"/>
                    </a:ext>
                  </a:extLst>
                </a:gridCol>
                <a:gridCol w="959889">
                  <a:extLst>
                    <a:ext uri="{9D8B030D-6E8A-4147-A177-3AD203B41FA5}">
                      <a16:colId xmlns:a16="http://schemas.microsoft.com/office/drawing/2014/main" val="3575649557"/>
                    </a:ext>
                  </a:extLst>
                </a:gridCol>
                <a:gridCol w="959889">
                  <a:extLst>
                    <a:ext uri="{9D8B030D-6E8A-4147-A177-3AD203B41FA5}">
                      <a16:colId xmlns:a16="http://schemas.microsoft.com/office/drawing/2014/main" val="3339084245"/>
                    </a:ext>
                  </a:extLst>
                </a:gridCol>
              </a:tblGrid>
              <a:tr h="322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88607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DECAISSE CAGF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JUSTIFICATION EMO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OUVERTES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Exécution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790028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25 415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25 415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572272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TSHOPO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24 888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23 643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1 245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48562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LOMAMI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19 777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19 601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49256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BAS-UELE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7 912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7 912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792617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CENTRAL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32 245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22 516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9 729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1280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MAINDOMBE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20 274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20 274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668100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471106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LUALABA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13 669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10 262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3 407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0613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471107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HAUT-LOMAMI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20 693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6 260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14 433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79524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471108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HAUT-KATANGA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27 589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20 328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7 261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040468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471109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KONGO CENTRAL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29 678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29 678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488297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KINSHASA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25 818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24 940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663113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HAUT-UELE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9 815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3 080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6 735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39812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SUD-UBANGI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20 524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20 304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015336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EQUATEUR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13 795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13 795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617489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SUD-KIVU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40 647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37 076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3 571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20866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TANGANYIKA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11 651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3 575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8 076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271174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471116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KWILU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32 271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31 884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349398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471117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TSHUAPA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16 773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16 472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71216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471118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ITURI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31 314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31 000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296156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471119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ORIENTAL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15 049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14 895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72304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SANKURU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20 345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18 414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1 931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676177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 - KIVU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27 381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5 813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21 568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78013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MANIEMA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24 259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23 741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104868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KWANGO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20 563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12 356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8 207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156349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NORD-UBANGI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14 323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14 323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57323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MONGALA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18 170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17 730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45828"/>
                  </a:ext>
                </a:extLst>
              </a:tr>
              <a:tr h="168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C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TOTAL 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564 838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475 286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89 551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18098"/>
                  </a:ext>
                </a:extLst>
              </a:tr>
            </a:tbl>
          </a:graphicData>
        </a:graphic>
      </p:graphicFrame>
      <p:sp>
        <p:nvSpPr>
          <p:cNvPr id="6" name="Zone de texte 1">
            <a:extLst>
              <a:ext uri="{FF2B5EF4-FFF2-40B4-BE49-F238E27FC236}">
                <a16:creationId xmlns:a16="http://schemas.microsoft.com/office/drawing/2014/main" id="{A2F4B75F-11E7-9532-AAD8-C6005F95D2A5}"/>
              </a:ext>
            </a:extLst>
          </p:cNvPr>
          <p:cNvSpPr txBox="1"/>
          <p:nvPr/>
        </p:nvSpPr>
        <p:spPr>
          <a:xfrm>
            <a:off x="520701" y="207644"/>
            <a:ext cx="1239519" cy="37180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100" dirty="0"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VAR-2</a:t>
            </a:r>
            <a:endParaRPr kumimoji="0" lang="fr-CD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83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7745B7F-5FBA-18F9-4D61-2548C7A92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182122"/>
              </p:ext>
            </p:extLst>
          </p:nvPr>
        </p:nvGraphicFramePr>
        <p:xfrm>
          <a:off x="1760018" y="226530"/>
          <a:ext cx="6591502" cy="4690440"/>
        </p:xfrm>
        <a:graphic>
          <a:graphicData uri="http://schemas.openxmlformats.org/drawingml/2006/table">
            <a:tbl>
              <a:tblPr/>
              <a:tblGrid>
                <a:gridCol w="990947">
                  <a:extLst>
                    <a:ext uri="{9D8B030D-6E8A-4147-A177-3AD203B41FA5}">
                      <a16:colId xmlns:a16="http://schemas.microsoft.com/office/drawing/2014/main" val="2248458952"/>
                    </a:ext>
                  </a:extLst>
                </a:gridCol>
                <a:gridCol w="1531475">
                  <a:extLst>
                    <a:ext uri="{9D8B030D-6E8A-4147-A177-3AD203B41FA5}">
                      <a16:colId xmlns:a16="http://schemas.microsoft.com/office/drawing/2014/main" val="3982555034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1511929255"/>
                    </a:ext>
                  </a:extLst>
                </a:gridCol>
                <a:gridCol w="1248985">
                  <a:extLst>
                    <a:ext uri="{9D8B030D-6E8A-4147-A177-3AD203B41FA5}">
                      <a16:colId xmlns:a16="http://schemas.microsoft.com/office/drawing/2014/main" val="806229429"/>
                    </a:ext>
                  </a:extLst>
                </a:gridCol>
                <a:gridCol w="762695">
                  <a:extLst>
                    <a:ext uri="{9D8B030D-6E8A-4147-A177-3AD203B41FA5}">
                      <a16:colId xmlns:a16="http://schemas.microsoft.com/office/drawing/2014/main" val="248637205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345148033"/>
                    </a:ext>
                  </a:extLst>
                </a:gridCol>
              </a:tblGrid>
              <a:tr h="3187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DECAISSE CAGF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JUSTIFICATION EMO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OUVERTES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Exécution</a:t>
                      </a:r>
                    </a:p>
                  </a:txBody>
                  <a:tcPr marL="4923" marR="4923" marT="49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02757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4 960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4 960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649961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TSHOPO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5 216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3 570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1 646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363854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LOMAMI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3 869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4 007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-138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066735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BAS-UELE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1 984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1 984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03859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CENTRAL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5 376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2 943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2 433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255927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MAINDOMBE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3 790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3 790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1612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471106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LUALABA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2 972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2 972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742781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471107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HAUT-LOMAMI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4 019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4 019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07085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471108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HAUT-KATANGA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4 881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1 837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3 044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4702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471109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KONGO CENTRAL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4 929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43584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KINSHASA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4 992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944499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HAUT-UELE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2 636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2 030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91677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SUD-UBANGI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3 022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3 022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226618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EQUATEUR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3 478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3 478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555895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SUD-KIVU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7 917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7 917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892904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TANGANYIKA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3 284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2 541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107024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471116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KWILU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7 896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7 221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46370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471117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TSHUAPA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3 224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3 194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94071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471118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ITURI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7 028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7 028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779781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471119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ORIENTAL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3 843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2 811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1 032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12370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471120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SANKURU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3 076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022435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471121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 - KIVU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7 064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1 725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5 339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8481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471122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MANIEMA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3 463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3 463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200398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471123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KWANGO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3 844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3 167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677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706946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471124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NORD-UBANGI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2 128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2 128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08883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471125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MONGALA </a:t>
                      </a:r>
                    </a:p>
                  </a:txBody>
                  <a:tcPr marL="88607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3 620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3 620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883090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C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TOTAL 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112 622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77 726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34 896 </a:t>
                      </a:r>
                    </a:p>
                  </a:txBody>
                  <a:tcPr marL="4923" marR="88607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69%</a:t>
                      </a:r>
                    </a:p>
                  </a:txBody>
                  <a:tcPr marL="4923" marR="4923" marT="49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867417"/>
                  </a:ext>
                </a:extLst>
              </a:tr>
            </a:tbl>
          </a:graphicData>
        </a:graphic>
      </p:graphicFrame>
      <p:sp>
        <p:nvSpPr>
          <p:cNvPr id="5" name="Zone de texte 1">
            <a:extLst>
              <a:ext uri="{FF2B5EF4-FFF2-40B4-BE49-F238E27FC236}">
                <a16:creationId xmlns:a16="http://schemas.microsoft.com/office/drawing/2014/main" id="{7D2B19E9-30E1-98A7-7B6F-71799EC4001A}"/>
              </a:ext>
            </a:extLst>
          </p:cNvPr>
          <p:cNvSpPr txBox="1"/>
          <p:nvPr/>
        </p:nvSpPr>
        <p:spPr>
          <a:xfrm>
            <a:off x="520701" y="207644"/>
            <a:ext cx="1239519" cy="37180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100" dirty="0"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VPI-2</a:t>
            </a:r>
            <a:endParaRPr kumimoji="0" lang="fr-CD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816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B3F4C76-EAA4-371F-90D4-97D3BF7D3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118705"/>
              </p:ext>
            </p:extLst>
          </p:nvPr>
        </p:nvGraphicFramePr>
        <p:xfrm>
          <a:off x="2178277" y="231270"/>
          <a:ext cx="6455183" cy="4691728"/>
        </p:xfrm>
        <a:graphic>
          <a:graphicData uri="http://schemas.openxmlformats.org/drawingml/2006/table">
            <a:tbl>
              <a:tblPr/>
              <a:tblGrid>
                <a:gridCol w="955182">
                  <a:extLst>
                    <a:ext uri="{9D8B030D-6E8A-4147-A177-3AD203B41FA5}">
                      <a16:colId xmlns:a16="http://schemas.microsoft.com/office/drawing/2014/main" val="286122064"/>
                    </a:ext>
                  </a:extLst>
                </a:gridCol>
                <a:gridCol w="1679273">
                  <a:extLst>
                    <a:ext uri="{9D8B030D-6E8A-4147-A177-3AD203B41FA5}">
                      <a16:colId xmlns:a16="http://schemas.microsoft.com/office/drawing/2014/main" val="734498022"/>
                    </a:ext>
                  </a:extLst>
                </a:gridCol>
                <a:gridCol w="955182">
                  <a:extLst>
                    <a:ext uri="{9D8B030D-6E8A-4147-A177-3AD203B41FA5}">
                      <a16:colId xmlns:a16="http://schemas.microsoft.com/office/drawing/2014/main" val="1457430252"/>
                    </a:ext>
                  </a:extLst>
                </a:gridCol>
                <a:gridCol w="955182">
                  <a:extLst>
                    <a:ext uri="{9D8B030D-6E8A-4147-A177-3AD203B41FA5}">
                      <a16:colId xmlns:a16="http://schemas.microsoft.com/office/drawing/2014/main" val="2705180678"/>
                    </a:ext>
                  </a:extLst>
                </a:gridCol>
                <a:gridCol w="955182">
                  <a:extLst>
                    <a:ext uri="{9D8B030D-6E8A-4147-A177-3AD203B41FA5}">
                      <a16:colId xmlns:a16="http://schemas.microsoft.com/office/drawing/2014/main" val="3648438499"/>
                    </a:ext>
                  </a:extLst>
                </a:gridCol>
                <a:gridCol w="955182">
                  <a:extLst>
                    <a:ext uri="{9D8B030D-6E8A-4147-A177-3AD203B41FA5}">
                      <a16:colId xmlns:a16="http://schemas.microsoft.com/office/drawing/2014/main" val="481352388"/>
                    </a:ext>
                  </a:extLst>
                </a:gridCol>
              </a:tblGrid>
              <a:tr h="363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EMO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DECAISSE CAGF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JUSTIFICATION EMO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OUVERTES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Exécution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9653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471100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4 920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6 056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-1 136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251082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471101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TSHOPO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196 732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54 767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141 965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622608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471102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LOMAMI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19 930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19 934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837280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471103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BAS-UELE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85 511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84 896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622381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471104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CENTRAL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13 859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1 683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12 176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847715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471105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MAINDOMBE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380 275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359 770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20 506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85832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471106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LUALABA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14 048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11 564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2 484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13966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471108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HAUT-KATANGA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561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561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8517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471109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KONGO CENTRAL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1 730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1 730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087355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471112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SUD-UBANGI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74 723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31 237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43 486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5000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471113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EQUATEUR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157 176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75 461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81 715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7577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471114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SUD-KIVU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231 276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88 135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143 141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085724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471115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TANGANYIKA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143 105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118 015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25 090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734847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471116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KWILU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3 510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3 510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727658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471117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TSHUAPA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94 017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95 852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-1 835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726350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471118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ITURI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2 880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2 880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622205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471119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KASAI ORIENTAL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3 765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3 765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669433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471120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SANKURU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573 733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544 583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29 150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084344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471121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 - KIVU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76 864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62 038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14 826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102955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471122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MANIEMA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12 946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11 630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1 316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58367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471123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KWANGO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260 655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237 459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23 197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58220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471124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NORD-UBANGI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149 798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146 893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2 905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173265"/>
                  </a:ext>
                </a:extLst>
              </a:tr>
              <a:tr h="1569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471125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DPS MONGALA 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106 498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54 302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52 196</a:t>
                      </a:r>
                    </a:p>
                  </a:txBody>
                  <a:tcPr marL="5372" marR="96688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51%</a:t>
                      </a:r>
                    </a:p>
                  </a:txBody>
                  <a:tcPr marL="5372" marR="5372" marT="5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99665"/>
                  </a:ext>
                </a:extLst>
              </a:tr>
              <a:tr h="181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CD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72" marR="5372" marT="537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2 608 512</a:t>
                      </a:r>
                    </a:p>
                  </a:txBody>
                  <a:tcPr marL="5372" marR="96688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2 016 721</a:t>
                      </a:r>
                    </a:p>
                  </a:txBody>
                  <a:tcPr marL="5372" marR="96688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CD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591 791</a:t>
                      </a:r>
                    </a:p>
                  </a:txBody>
                  <a:tcPr marL="5372" marR="96688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77%</a:t>
                      </a:r>
                    </a:p>
                  </a:txBody>
                  <a:tcPr marL="5372" marR="5372" marT="53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336029"/>
                  </a:ext>
                </a:extLst>
              </a:tr>
            </a:tbl>
          </a:graphicData>
        </a:graphic>
      </p:graphicFrame>
      <p:sp>
        <p:nvSpPr>
          <p:cNvPr id="5" name="Zone de texte 1">
            <a:extLst>
              <a:ext uri="{FF2B5EF4-FFF2-40B4-BE49-F238E27FC236}">
                <a16:creationId xmlns:a16="http://schemas.microsoft.com/office/drawing/2014/main" id="{5E00AEDF-7247-8CF3-963F-E0F345903AE1}"/>
              </a:ext>
            </a:extLst>
          </p:cNvPr>
          <p:cNvSpPr txBox="1"/>
          <p:nvPr/>
        </p:nvSpPr>
        <p:spPr>
          <a:xfrm>
            <a:off x="848361" y="231270"/>
            <a:ext cx="1239519" cy="37180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100" dirty="0"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CDS-2</a:t>
            </a:r>
            <a:endParaRPr kumimoji="0" lang="fr-CD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69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517221B-5BAC-0934-CAFA-0D0CD139D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71229"/>
              </p:ext>
            </p:extLst>
          </p:nvPr>
        </p:nvGraphicFramePr>
        <p:xfrm>
          <a:off x="1758724" y="282831"/>
          <a:ext cx="6585174" cy="4577838"/>
        </p:xfrm>
        <a:graphic>
          <a:graphicData uri="http://schemas.openxmlformats.org/drawingml/2006/table">
            <a:tbl>
              <a:tblPr/>
              <a:tblGrid>
                <a:gridCol w="894472">
                  <a:extLst>
                    <a:ext uri="{9D8B030D-6E8A-4147-A177-3AD203B41FA5}">
                      <a16:colId xmlns:a16="http://schemas.microsoft.com/office/drawing/2014/main" val="2932862023"/>
                    </a:ext>
                  </a:extLst>
                </a:gridCol>
                <a:gridCol w="1588461">
                  <a:extLst>
                    <a:ext uri="{9D8B030D-6E8A-4147-A177-3AD203B41FA5}">
                      <a16:colId xmlns:a16="http://schemas.microsoft.com/office/drawing/2014/main" val="235150294"/>
                    </a:ext>
                  </a:extLst>
                </a:gridCol>
                <a:gridCol w="1141225">
                  <a:extLst>
                    <a:ext uri="{9D8B030D-6E8A-4147-A177-3AD203B41FA5}">
                      <a16:colId xmlns:a16="http://schemas.microsoft.com/office/drawing/2014/main" val="1481802647"/>
                    </a:ext>
                  </a:extLst>
                </a:gridCol>
                <a:gridCol w="1048693">
                  <a:extLst>
                    <a:ext uri="{9D8B030D-6E8A-4147-A177-3AD203B41FA5}">
                      <a16:colId xmlns:a16="http://schemas.microsoft.com/office/drawing/2014/main" val="1513589442"/>
                    </a:ext>
                  </a:extLst>
                </a:gridCol>
                <a:gridCol w="1048693">
                  <a:extLst>
                    <a:ext uri="{9D8B030D-6E8A-4147-A177-3AD203B41FA5}">
                      <a16:colId xmlns:a16="http://schemas.microsoft.com/office/drawing/2014/main" val="740678776"/>
                    </a:ext>
                  </a:extLst>
                </a:gridCol>
                <a:gridCol w="863630">
                  <a:extLst>
                    <a:ext uri="{9D8B030D-6E8A-4147-A177-3AD203B41FA5}">
                      <a16:colId xmlns:a16="http://schemas.microsoft.com/office/drawing/2014/main" val="187898485"/>
                    </a:ext>
                  </a:extLst>
                </a:gridCol>
              </a:tblGrid>
              <a:tr h="3155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DECAISSE CAGF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JUSTIFICATION EMO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AVANCES OUVERTES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Exécution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389461"/>
                  </a:ext>
                </a:extLst>
              </a:tr>
              <a:tr h="1769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471101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TSHOPO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100 603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100 603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93465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471102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LOMAMI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72 948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72 948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039865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471103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BAS-UELE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49 045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49 045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909688"/>
                  </a:ext>
                </a:extLst>
              </a:tr>
              <a:tr h="1769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471104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KASAI CENTRAL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109 730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109 730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077823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471105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MAINDOMBE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64 466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64 466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66573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471107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HAUT-LOMAMI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80 452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80 452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628487"/>
                  </a:ext>
                </a:extLst>
              </a:tr>
              <a:tr h="1769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471109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KONGO CENTRAL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128 997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125 835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3 162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458260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471111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HAUT-UELE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58 127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58 127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06094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471112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SUD-UBANGI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76 084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42 048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34 036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124844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471113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EQUATEUR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76 240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61 595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14 645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7285"/>
                  </a:ext>
                </a:extLst>
              </a:tr>
              <a:tr h="1769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471116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KWILU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127 010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127 010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745381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471117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TSHUAPA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62 497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11 465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51 032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645453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471122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MANIEMA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76 984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76 984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633643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471123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KWANGO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72 510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72 510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497483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471124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NORD-UBANGI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49 835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46 921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2 914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292289"/>
                  </a:ext>
                </a:extLst>
              </a:tr>
              <a:tr h="271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471125</a:t>
                      </a:r>
                    </a:p>
                  </a:txBody>
                  <a:tcPr marL="7525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DPS MONGALA</a:t>
                      </a:r>
                    </a:p>
                  </a:txBody>
                  <a:tcPr marL="135448" marR="7525" marT="7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59 611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-  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59 611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25731"/>
                  </a:ext>
                </a:extLst>
              </a:tr>
              <a:tr h="1769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CD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25" marR="7525" marT="7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Total  </a:t>
                      </a:r>
                    </a:p>
                  </a:txBody>
                  <a:tcPr marL="135448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1 265 139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287 864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977 275 </a:t>
                      </a:r>
                    </a:p>
                  </a:txBody>
                  <a:tcPr marL="7525" marR="135448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23%</a:t>
                      </a:r>
                    </a:p>
                  </a:txBody>
                  <a:tcPr marL="7525" marR="7525" marT="7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008634"/>
                  </a:ext>
                </a:extLst>
              </a:tr>
            </a:tbl>
          </a:graphicData>
        </a:graphic>
      </p:graphicFrame>
      <p:sp>
        <p:nvSpPr>
          <p:cNvPr id="6" name="Zone de texte 1">
            <a:extLst>
              <a:ext uri="{FF2B5EF4-FFF2-40B4-BE49-F238E27FC236}">
                <a16:creationId xmlns:a16="http://schemas.microsoft.com/office/drawing/2014/main" id="{FD1E09EC-F251-76B8-3EE6-9E0D3E56E126}"/>
              </a:ext>
            </a:extLst>
          </p:cNvPr>
          <p:cNvSpPr txBox="1"/>
          <p:nvPr/>
        </p:nvSpPr>
        <p:spPr>
          <a:xfrm>
            <a:off x="358141" y="282831"/>
            <a:ext cx="1242060" cy="37180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r-FR" sz="2000" b="1" kern="100" dirty="0"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MALARIA</a:t>
            </a:r>
            <a:endParaRPr kumimoji="0" lang="fr-CD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50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689C092-442A-0093-9AEB-817A49098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94917"/>
              </p:ext>
            </p:extLst>
          </p:nvPr>
        </p:nvGraphicFramePr>
        <p:xfrm>
          <a:off x="1182915" y="1099679"/>
          <a:ext cx="6538686" cy="3605625"/>
        </p:xfrm>
        <a:graphic>
          <a:graphicData uri="http://schemas.openxmlformats.org/drawingml/2006/table">
            <a:tbl>
              <a:tblPr/>
              <a:tblGrid>
                <a:gridCol w="1186626">
                  <a:extLst>
                    <a:ext uri="{9D8B030D-6E8A-4147-A177-3AD203B41FA5}">
                      <a16:colId xmlns:a16="http://schemas.microsoft.com/office/drawing/2014/main" val="34019374"/>
                    </a:ext>
                  </a:extLst>
                </a:gridCol>
                <a:gridCol w="2973366">
                  <a:extLst>
                    <a:ext uri="{9D8B030D-6E8A-4147-A177-3AD203B41FA5}">
                      <a16:colId xmlns:a16="http://schemas.microsoft.com/office/drawing/2014/main" val="3344558452"/>
                    </a:ext>
                  </a:extLst>
                </a:gridCol>
                <a:gridCol w="1189347">
                  <a:extLst>
                    <a:ext uri="{9D8B030D-6E8A-4147-A177-3AD203B41FA5}">
                      <a16:colId xmlns:a16="http://schemas.microsoft.com/office/drawing/2014/main" val="4000576010"/>
                    </a:ext>
                  </a:extLst>
                </a:gridCol>
                <a:gridCol w="1189347">
                  <a:extLst>
                    <a:ext uri="{9D8B030D-6E8A-4147-A177-3AD203B41FA5}">
                      <a16:colId xmlns:a16="http://schemas.microsoft.com/office/drawing/2014/main" val="2825388916"/>
                    </a:ext>
                  </a:extLst>
                </a:gridCol>
              </a:tblGrid>
              <a:tr h="425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EMO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MONTANT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PROPORTION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373626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TSHOPO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718 104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402036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BAS-UELE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130 820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83605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KASAI CENTRAL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379 617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130170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KONGO CENTRAL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359 657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40089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KINSHASA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81 135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822421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HAUT-UELE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174 273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84492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SUD-UBANGI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261 143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01196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TANGANYIKA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41 595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064411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ITURI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388 913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656058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KASAI ORIENTAL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336 520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780908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SANKURU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570 262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473545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MANIEMA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53 843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23569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471123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D" sz="1400" b="0" i="0" u="none" strike="noStrike">
                          <a:solidFill>
                            <a:srgbClr val="0E2841"/>
                          </a:solidFill>
                          <a:effectLst/>
                          <a:latin typeface="Arial" panose="020B0604020202020204" pitchFamily="34" charset="0"/>
                        </a:rPr>
                        <a:t>DPS KWANGO</a:t>
                      </a:r>
                    </a:p>
                  </a:txBody>
                  <a:tcPr marL="13716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221 344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730369"/>
                  </a:ext>
                </a:extLst>
              </a:tr>
              <a:tr h="22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CD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D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D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3 717 226</a:t>
                      </a:r>
                    </a:p>
                  </a:txBody>
                  <a:tcPr marL="7620" marR="13716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C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6712"/>
                  </a:ext>
                </a:extLst>
              </a:tr>
            </a:tbl>
          </a:graphicData>
        </a:graphic>
      </p:graphicFrame>
      <p:sp>
        <p:nvSpPr>
          <p:cNvPr id="5" name="Zone de texte 1">
            <a:extLst>
              <a:ext uri="{FF2B5EF4-FFF2-40B4-BE49-F238E27FC236}">
                <a16:creationId xmlns:a16="http://schemas.microsoft.com/office/drawing/2014/main" id="{B3EEF7EF-A521-3D90-6D04-4D9EDE3C3983}"/>
              </a:ext>
            </a:extLst>
          </p:cNvPr>
          <p:cNvSpPr txBox="1"/>
          <p:nvPr/>
        </p:nvSpPr>
        <p:spPr>
          <a:xfrm>
            <a:off x="1182915" y="438196"/>
            <a:ext cx="2327004" cy="38186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CDS-3 BCU (Big Catch Up)</a:t>
            </a:r>
            <a:endParaRPr kumimoji="0" lang="fr-CD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638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414141"/>
      </a:dk1>
      <a:lt1>
        <a:srgbClr val="FFFFFF"/>
      </a:lt1>
      <a:dk2>
        <a:srgbClr val="595959"/>
      </a:dk2>
      <a:lt2>
        <a:srgbClr val="EEEEEE"/>
      </a:lt2>
      <a:accent1>
        <a:srgbClr val="002878"/>
      </a:accent1>
      <a:accent2>
        <a:srgbClr val="145ABE"/>
      </a:accent2>
      <a:accent3>
        <a:srgbClr val="3C8CF0"/>
      </a:accent3>
      <a:accent4>
        <a:srgbClr val="50AAFA"/>
      </a:accent4>
      <a:accent5>
        <a:srgbClr val="64C8FA"/>
      </a:accent5>
      <a:accent6>
        <a:srgbClr val="FFFFFF"/>
      </a:accent6>
      <a:hlink>
        <a:srgbClr val="64C8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414141"/>
      </a:dk1>
      <a:lt1>
        <a:srgbClr val="FFFFFF"/>
      </a:lt1>
      <a:dk2>
        <a:srgbClr val="595959"/>
      </a:dk2>
      <a:lt2>
        <a:srgbClr val="EEEEEE"/>
      </a:lt2>
      <a:accent1>
        <a:srgbClr val="002878"/>
      </a:accent1>
      <a:accent2>
        <a:srgbClr val="145ABE"/>
      </a:accent2>
      <a:accent3>
        <a:srgbClr val="3C8CF0"/>
      </a:accent3>
      <a:accent4>
        <a:srgbClr val="50AAFA"/>
      </a:accent4>
      <a:accent5>
        <a:srgbClr val="64C8FA"/>
      </a:accent5>
      <a:accent6>
        <a:srgbClr val="FFFFFF"/>
      </a:accent6>
      <a:hlink>
        <a:srgbClr val="64C8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700359ba-e36c-422a-9925-ddada98091a9">GAVI-1412322964-1026302</_dlc_DocId>
    <lcf76f155ced4ddcb4097134ff3c332f xmlns="a0d399e1-4586-4335-9383-7d9098bfc9ba">
      <Terms xmlns="http://schemas.microsoft.com/office/infopath/2007/PartnerControls"/>
    </lcf76f155ced4ddcb4097134ff3c332f>
    <TaxCatchAll xmlns="d0706217-df7c-4bf4-936d-b09aa3b837af" xsi:nil="true"/>
    <_Flow_SignoffStatus xmlns="a0d399e1-4586-4335-9383-7d9098bfc9ba" xsi:nil="true"/>
    <_dlc_DocIdUrl xmlns="700359ba-e36c-422a-9925-ddada98091a9">
      <Url>https://gavinet.sharepoint.com/teams/COP/_layouts/15/DocIdRedir.aspx?ID=GAVI-1412322964-1026302</Url>
      <Description>GAVI-1412322964-1026302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Gavi Document" ma:contentTypeID="0x0101009954897F3EE3CC4ABB9FB9EDAC9CDEBC00829077562E4B4F4F98F681ADDADB1D0F" ma:contentTypeVersion="167" ma:contentTypeDescription="Gavi Document content type " ma:contentTypeScope="" ma:versionID="748aa00a0358d6dd6c6070dbb2f20ec0">
  <xsd:schema xmlns:xsd="http://www.w3.org/2001/XMLSchema" xmlns:xs="http://www.w3.org/2001/XMLSchema" xmlns:p="http://schemas.microsoft.com/office/2006/metadata/properties" xmlns:ns2="700359ba-e36c-422a-9925-ddada98091a9" xmlns:ns3="d0706217-df7c-4bf4-936d-b09aa3b837af" xmlns:ns4="a0d399e1-4586-4335-9383-7d9098bfc9ba" targetNamespace="http://schemas.microsoft.com/office/2006/metadata/properties" ma:root="true" ma:fieldsID="acdd2ed57b707b6114df85176da0f45d" ns2:_="" ns3:_="" ns4:_="">
    <xsd:import namespace="700359ba-e36c-422a-9925-ddada98091a9"/>
    <xsd:import namespace="d0706217-df7c-4bf4-936d-b09aa3b837af"/>
    <xsd:import namespace="a0d399e1-4586-4335-9383-7d9098bfc9b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xCatchAll" minOccurs="0"/>
                <xsd:element ref="ns3:TaxCatchAllLabel" minOccurs="0"/>
                <xsd:element ref="ns4:MediaServiceAutoKeyPoints" minOccurs="0"/>
                <xsd:element ref="ns4:MediaServiceKeyPoints" minOccurs="0"/>
                <xsd:element ref="ns4:_Flow_SignoffStatus" minOccurs="0"/>
                <xsd:element ref="ns4:MediaLengthInSeconds" minOccurs="0"/>
                <xsd:element ref="ns4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359ba-e36c-422a-9925-ddada98091a9" elementFormDefault="qualified">
    <xsd:import namespace="http://schemas.microsoft.com/office/2006/documentManagement/types"/>
    <xsd:import namespace="http://schemas.microsoft.com/office/infopath/2007/PartnerControls"/>
    <xsd:element name="_dlc_DocId" ma:index="3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4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5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06217-df7c-4bf4-936d-b09aa3b837a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be8d0b83-5287-4986-bb7f-bce56a97355c}" ma:internalName="TaxCatchAll" ma:showField="CatchAllData" ma:web="700359ba-e36c-422a-9925-ddada98091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description="" ma:hidden="true" ma:list="{be8d0b83-5287-4986-bb7f-bce56a97355c}" ma:internalName="TaxCatchAllLabel" ma:readOnly="true" ma:showField="CatchAllDataLabel" ma:web="700359ba-e36c-422a-9925-ddada98091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399e1-4586-4335-9383-7d9098bfc9ba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5" nillable="true" ma:displayName="Sign-off status" ma:internalName="Sign_x002d_off_x0020_status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3cb0222-e980-4273-ad97-85dba3159c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93cb0222-e980-4273-ad97-85dba3159c09" ContentTypeId="0x0101009954897F3EE3CC4ABB9FB9EDAC9CDEBC" PreviousValue="false"/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EF98D8-4FFF-4191-8A55-5654E80B3979}">
  <ds:schemaRefs>
    <ds:schemaRef ds:uri="http://purl.org/dc/dcmitype/"/>
    <ds:schemaRef ds:uri="a0d399e1-4586-4335-9383-7d9098bfc9ba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d0706217-df7c-4bf4-936d-b09aa3b837af"/>
    <ds:schemaRef ds:uri="http://schemas.openxmlformats.org/package/2006/metadata/core-properties"/>
    <ds:schemaRef ds:uri="700359ba-e36c-422a-9925-ddada98091a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EBFF297-E57C-4BCD-8580-92412653C9F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82ABD3A-0BE0-4066-ABE5-C5CF4A718A6D}">
  <ds:schemaRefs>
    <ds:schemaRef ds:uri="700359ba-e36c-422a-9925-ddada98091a9"/>
    <ds:schemaRef ds:uri="a0d399e1-4586-4335-9383-7d9098bfc9ba"/>
    <ds:schemaRef ds:uri="d0706217-df7c-4bf4-936d-b09aa3b837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F42C073A-CC09-4B83-8949-335D8D108AC2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EA7685F7-39AD-431D-870C-9B333F7A5C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7207</TotalTime>
  <Words>4591</Words>
  <Application>Microsoft Office PowerPoint</Application>
  <PresentationFormat>Affichage à l'écran (16:9)</PresentationFormat>
  <Paragraphs>2107</Paragraphs>
  <Slides>30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30</vt:i4>
      </vt:variant>
    </vt:vector>
  </HeadingPairs>
  <TitlesOfParts>
    <vt:vector size="45" baseType="lpstr">
      <vt:lpstr>Times New Roman</vt:lpstr>
      <vt:lpstr>Tenorite</vt:lpstr>
      <vt:lpstr>Aptos Display</vt:lpstr>
      <vt:lpstr>Calibri</vt:lpstr>
      <vt:lpstr>Arial</vt:lpstr>
      <vt:lpstr>Aptos</vt:lpstr>
      <vt:lpstr>Bodoni MT</vt:lpstr>
      <vt:lpstr>Wingdings</vt:lpstr>
      <vt:lpstr>Maiandra GD</vt:lpstr>
      <vt:lpstr>Aptos Narrow</vt:lpstr>
      <vt:lpstr>Tahoma</vt:lpstr>
      <vt:lpstr>Simple Light</vt:lpstr>
      <vt:lpstr>1_Simple Light</vt:lpstr>
      <vt:lpstr>Thème Office</vt:lpstr>
      <vt:lpstr>1_Thème Office</vt:lpstr>
      <vt:lpstr>Présentation PowerPoint</vt:lpstr>
      <vt:lpstr>UTILISATION DES FONDS ET GESTION DES AVANCES </vt:lpstr>
      <vt:lpstr>SYNTHESE DES SUBVENTIONS GAVI ACTIVES, 2025</vt:lpstr>
      <vt:lpstr>UTILISATION DES FONDS VS SOLDE DE TRESORERIE, 30/11/2025 </vt:lpstr>
      <vt:lpstr>EVOLUTION DE LA SITUATION DES AVANCES </vt:lpstr>
      <vt:lpstr>Balance générale des avances ouvertes,  31/10/2025, RFSR</vt:lpstr>
      <vt:lpstr>Présentation PowerPoint</vt:lpstr>
      <vt:lpstr>Présentation PowerPoint</vt:lpstr>
      <vt:lpstr>Présentation PowerPoint</vt:lpstr>
      <vt:lpstr>1 469 719 $ d’avances ouvertes de plus de 6 mois dans les DPS, au 31.10.2025, RFSR</vt:lpstr>
      <vt:lpstr>PHASES DE COLLECTE ACTIVE DES PIECES PAR DPS</vt:lpstr>
      <vt:lpstr>SUBVENTIONS A CLOTURER</vt:lpstr>
      <vt:lpstr>SUBVENTIONS A CLOTURER</vt:lpstr>
      <vt:lpstr>PILOTE DE LA DECENTRALISATION FINANCIERE</vt:lpstr>
      <vt:lpstr>PILOTE DECENTRALISATION FINANCIERE</vt:lpstr>
      <vt:lpstr>PLAN DECENTRALISATION FINANCIERE</vt:lpstr>
      <vt:lpstr>PROCHAINES ETAPES</vt:lpstr>
      <vt:lpstr>PREVISIONS BUDGETAIRES 2026 PAR DPS EN  2026</vt:lpstr>
      <vt:lpstr>SYNTHESE DES SUBVENTIONS GAVI EN 2026</vt:lpstr>
      <vt:lpstr>SYNTHESE DES SUBVENTIONS GAVI EN 2026</vt:lpstr>
      <vt:lpstr>Présentation PowerPoint</vt:lpstr>
      <vt:lpstr>EXECUTION DES CAMPAGNES AU 30/11/2025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Florian Guiod</dc:creator>
  <cp:lastModifiedBy>Julien Saleh</cp:lastModifiedBy>
  <cp:revision>115</cp:revision>
  <dcterms:modified xsi:type="dcterms:W3CDTF">2025-12-15T20:30:06Z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36a5b677-3dab-45e3-b8dc-47ab95ef5ec8</vt:lpwstr>
  </property>
  <property fmtid="{D5CDD505-2E9C-101B-9397-08002B2CF9AE}" pid="3" name="MediaServiceImageTags">
    <vt:lpwstr/>
  </property>
  <property fmtid="{D5CDD505-2E9C-101B-9397-08002B2CF9AE}" pid="4" name="Test">
    <vt:lpwstr/>
  </property>
  <property fmtid="{D5CDD505-2E9C-101B-9397-08002B2CF9AE}" pid="5" name="kfa83adfad8641678ddaedda80d7e126">
    <vt:lpwstr/>
  </property>
  <property fmtid="{D5CDD505-2E9C-101B-9397-08002B2CF9AE}" pid="6" name="ContentTypeId">
    <vt:lpwstr>0x0101009954897F3EE3CC4ABB9FB9EDAC9CDEBC00829077562E4B4F4F98F681ADDADB1D0F</vt:lpwstr>
  </property>
  <property fmtid="{D5CDD505-2E9C-101B-9397-08002B2CF9AE}" pid="7" name="MSIP_Label_0a957285-7815-485a-9751-5b273b784ad5_Enabled">
    <vt:lpwstr>true</vt:lpwstr>
  </property>
  <property fmtid="{D5CDD505-2E9C-101B-9397-08002B2CF9AE}" pid="8" name="MSIP_Label_0a957285-7815-485a-9751-5b273b784ad5_SetDate">
    <vt:lpwstr>2022-11-09T16:28:44Z</vt:lpwstr>
  </property>
  <property fmtid="{D5CDD505-2E9C-101B-9397-08002B2CF9AE}" pid="9" name="MSIP_Label_0a957285-7815-485a-9751-5b273b784ad5_Method">
    <vt:lpwstr>Privileged</vt:lpwstr>
  </property>
  <property fmtid="{D5CDD505-2E9C-101B-9397-08002B2CF9AE}" pid="10" name="MSIP_Label_0a957285-7815-485a-9751-5b273b784ad5_Name">
    <vt:lpwstr>0a957285-7815-485a-9751-5b273b784ad5</vt:lpwstr>
  </property>
  <property fmtid="{D5CDD505-2E9C-101B-9397-08002B2CF9AE}" pid="11" name="MSIP_Label_0a957285-7815-485a-9751-5b273b784ad5_SiteId">
    <vt:lpwstr>1de6d9f3-0daf-4df6-b9d6-5959f16f6118</vt:lpwstr>
  </property>
  <property fmtid="{D5CDD505-2E9C-101B-9397-08002B2CF9AE}" pid="12" name="MSIP_Label_0a957285-7815-485a-9751-5b273b784ad5_ActionId">
    <vt:lpwstr>414270a7-ef7c-4485-ad31-0000c6f78a23</vt:lpwstr>
  </property>
  <property fmtid="{D5CDD505-2E9C-101B-9397-08002B2CF9AE}" pid="13" name="MSIP_Label_0a957285-7815-485a-9751-5b273b784ad5_ContentBits">
    <vt:lpwstr>0</vt:lpwstr>
  </property>
</Properties>
</file>