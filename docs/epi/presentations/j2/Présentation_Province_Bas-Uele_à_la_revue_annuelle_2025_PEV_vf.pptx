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257" r:id="rId4"/>
    <p:sldId id="258" r:id="rId5"/>
    <p:sldId id="271" r:id="rId6"/>
    <p:sldId id="259" r:id="rId7"/>
    <p:sldId id="272" r:id="rId8"/>
    <p:sldId id="270" r:id="rId9"/>
    <p:sldId id="4265" r:id="rId10"/>
    <p:sldId id="4264" r:id="rId11"/>
    <p:sldId id="4271" r:id="rId12"/>
    <p:sldId id="4266" r:id="rId13"/>
    <p:sldId id="4267" r:id="rId14"/>
    <p:sldId id="347" r:id="rId15"/>
    <p:sldId id="4268" r:id="rId16"/>
    <p:sldId id="4269" r:id="rId17"/>
    <p:sldId id="4270" r:id="rId18"/>
    <p:sldId id="268" r:id="rId19"/>
    <p:sldId id="4272" r:id="rId20"/>
  </p:sldIdLst>
  <p:sldSz cx="12192000" cy="6858000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Play" panose="020B0604020202020204" charset="0"/>
      <p:regular r:id="rId23"/>
    </p:embeddedFont>
    <p:embeddedFont>
      <p:font typeface="Source Serif Pro" panose="020B0604020202020204" charset="0"/>
      <p:regular r:id="rId24"/>
      <p:bold r:id="rId25"/>
      <p:italic r:id="rId26"/>
      <p:boldItalic r:id="rId27"/>
    </p:embeddedFont>
    <p:embeddedFont>
      <p:font typeface="Arial Unicode MS" panose="020B0604020202020204" pitchFamily="34" charset="-128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ＭＳ Ｐゴシック" panose="020B0600070205080204" pitchFamily="34" charset="-128"/>
      <p:regular r:id="rId33"/>
    </p:embeddedFont>
    <p:embeddedFont>
      <p:font typeface="Arial Narrow" panose="020B0606020202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es\Documents\DPS%20BUE\PEV\2025\OVM\BasUele%20BD%20OVM%2008072025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GRAPHIQUE ANTIGENES</a:t>
            </a:r>
          </a:p>
        </c:rich>
      </c:tx>
      <c:overlay val="0"/>
      <c:spPr>
        <a:solidFill>
          <a:schemeClr val="accent6">
            <a:lumMod val="40000"/>
            <a:lumOff val="6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Graphique!$C$2</c:f>
              <c:strCache>
                <c:ptCount val="1"/>
                <c:pt idx="0">
                  <c:v>Nombre de doses à administrer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Graphique!$B$3:$B$22</c:f>
              <c:strCache>
                <c:ptCount val="20"/>
                <c:pt idx="0">
                  <c:v>BCG</c:v>
                </c:pt>
                <c:pt idx="1">
                  <c:v>VPO1</c:v>
                </c:pt>
                <c:pt idx="2">
                  <c:v>VPO2</c:v>
                </c:pt>
                <c:pt idx="3">
                  <c:v>VPO3</c:v>
                </c:pt>
                <c:pt idx="4">
                  <c:v>VPI1</c:v>
                </c:pt>
                <c:pt idx="5">
                  <c:v>VPI2</c:v>
                </c:pt>
                <c:pt idx="6">
                  <c:v>Penta1</c:v>
                </c:pt>
                <c:pt idx="7">
                  <c:v>Penta2</c:v>
                </c:pt>
                <c:pt idx="8">
                  <c:v>Penta3</c:v>
                </c:pt>
                <c:pt idx="9">
                  <c:v>PCV1</c:v>
                </c:pt>
                <c:pt idx="10">
                  <c:v>PCV2</c:v>
                </c:pt>
                <c:pt idx="11">
                  <c:v>PCV3</c:v>
                </c:pt>
                <c:pt idx="12">
                  <c:v>ROTA1</c:v>
                </c:pt>
                <c:pt idx="13">
                  <c:v>ROTA2</c:v>
                </c:pt>
                <c:pt idx="14">
                  <c:v>ROTA3</c:v>
                </c:pt>
                <c:pt idx="15">
                  <c:v>VAR1</c:v>
                </c:pt>
                <c:pt idx="16">
                  <c:v>VAR2</c:v>
                </c:pt>
                <c:pt idx="17">
                  <c:v>VAA</c:v>
                </c:pt>
                <c:pt idx="18">
                  <c:v>VAT1</c:v>
                </c:pt>
                <c:pt idx="19">
                  <c:v>VAT2+</c:v>
                </c:pt>
              </c:strCache>
            </c:strRef>
          </c:cat>
          <c:val>
            <c:numRef>
              <c:f>Graphique!$C$3:$C$22</c:f>
              <c:numCache>
                <c:formatCode>General</c:formatCode>
                <c:ptCount val="20"/>
                <c:pt idx="0">
                  <c:v>2281</c:v>
                </c:pt>
                <c:pt idx="1">
                  <c:v>2379</c:v>
                </c:pt>
                <c:pt idx="2">
                  <c:v>1818</c:v>
                </c:pt>
                <c:pt idx="3">
                  <c:v>2310</c:v>
                </c:pt>
                <c:pt idx="4">
                  <c:v>2311</c:v>
                </c:pt>
                <c:pt idx="5">
                  <c:v>1791</c:v>
                </c:pt>
                <c:pt idx="6">
                  <c:v>2436</c:v>
                </c:pt>
                <c:pt idx="7">
                  <c:v>1844</c:v>
                </c:pt>
                <c:pt idx="8">
                  <c:v>2345</c:v>
                </c:pt>
                <c:pt idx="9">
                  <c:v>2401</c:v>
                </c:pt>
                <c:pt idx="10">
                  <c:v>1842</c:v>
                </c:pt>
                <c:pt idx="11">
                  <c:v>2291</c:v>
                </c:pt>
                <c:pt idx="12">
                  <c:v>2375</c:v>
                </c:pt>
                <c:pt idx="13">
                  <c:v>1884</c:v>
                </c:pt>
                <c:pt idx="14">
                  <c:v>2291</c:v>
                </c:pt>
                <c:pt idx="15">
                  <c:v>2573</c:v>
                </c:pt>
                <c:pt idx="16">
                  <c:v>1695</c:v>
                </c:pt>
                <c:pt idx="17">
                  <c:v>2356</c:v>
                </c:pt>
                <c:pt idx="18">
                  <c:v>1576</c:v>
                </c:pt>
                <c:pt idx="19">
                  <c:v>2192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C5-4DF3-AB3C-DFFA0C4FA24F}"/>
            </c:ext>
          </c:extLst>
        </c:ser>
        <c:ser>
          <c:idx val="1"/>
          <c:order val="1"/>
          <c:tx>
            <c:strRef>
              <c:f>Graphique!$D$2</c:f>
              <c:strCache>
                <c:ptCount val="1"/>
                <c:pt idx="0">
                  <c:v>Nombre de doses 
effectivement administrées</c:v>
                </c:pt>
              </c:strCache>
            </c:strRef>
          </c:tx>
          <c:spPr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Graphique!$B$3:$B$22</c:f>
              <c:strCache>
                <c:ptCount val="20"/>
                <c:pt idx="0">
                  <c:v>BCG</c:v>
                </c:pt>
                <c:pt idx="1">
                  <c:v>VPO1</c:v>
                </c:pt>
                <c:pt idx="2">
                  <c:v>VPO2</c:v>
                </c:pt>
                <c:pt idx="3">
                  <c:v>VPO3</c:v>
                </c:pt>
                <c:pt idx="4">
                  <c:v>VPI1</c:v>
                </c:pt>
                <c:pt idx="5">
                  <c:v>VPI2</c:v>
                </c:pt>
                <c:pt idx="6">
                  <c:v>Penta1</c:v>
                </c:pt>
                <c:pt idx="7">
                  <c:v>Penta2</c:v>
                </c:pt>
                <c:pt idx="8">
                  <c:v>Penta3</c:v>
                </c:pt>
                <c:pt idx="9">
                  <c:v>PCV1</c:v>
                </c:pt>
                <c:pt idx="10">
                  <c:v>PCV2</c:v>
                </c:pt>
                <c:pt idx="11">
                  <c:v>PCV3</c:v>
                </c:pt>
                <c:pt idx="12">
                  <c:v>ROTA1</c:v>
                </c:pt>
                <c:pt idx="13">
                  <c:v>ROTA2</c:v>
                </c:pt>
                <c:pt idx="14">
                  <c:v>ROTA3</c:v>
                </c:pt>
                <c:pt idx="15">
                  <c:v>VAR1</c:v>
                </c:pt>
                <c:pt idx="16">
                  <c:v>VAR2</c:v>
                </c:pt>
                <c:pt idx="17">
                  <c:v>VAA</c:v>
                </c:pt>
                <c:pt idx="18">
                  <c:v>VAT1</c:v>
                </c:pt>
                <c:pt idx="19">
                  <c:v>VAT2+</c:v>
                </c:pt>
              </c:strCache>
            </c:strRef>
          </c:cat>
          <c:val>
            <c:numRef>
              <c:f>Graphique!$D$3:$D$22</c:f>
              <c:numCache>
                <c:formatCode>General</c:formatCode>
                <c:ptCount val="20"/>
                <c:pt idx="0">
                  <c:v>1757</c:v>
                </c:pt>
                <c:pt idx="1">
                  <c:v>1883</c:v>
                </c:pt>
                <c:pt idx="2">
                  <c:v>1439</c:v>
                </c:pt>
                <c:pt idx="3">
                  <c:v>1876</c:v>
                </c:pt>
                <c:pt idx="4">
                  <c:v>1844</c:v>
                </c:pt>
                <c:pt idx="5">
                  <c:v>1246</c:v>
                </c:pt>
                <c:pt idx="6">
                  <c:v>1931</c:v>
                </c:pt>
                <c:pt idx="7">
                  <c:v>1473</c:v>
                </c:pt>
                <c:pt idx="8">
                  <c:v>1931</c:v>
                </c:pt>
                <c:pt idx="9">
                  <c:v>1885</c:v>
                </c:pt>
                <c:pt idx="10">
                  <c:v>1461</c:v>
                </c:pt>
                <c:pt idx="11">
                  <c:v>1857</c:v>
                </c:pt>
                <c:pt idx="12">
                  <c:v>1886</c:v>
                </c:pt>
                <c:pt idx="13">
                  <c:v>1511</c:v>
                </c:pt>
                <c:pt idx="14">
                  <c:v>1862</c:v>
                </c:pt>
                <c:pt idx="15">
                  <c:v>1961</c:v>
                </c:pt>
                <c:pt idx="16">
                  <c:v>1275</c:v>
                </c:pt>
                <c:pt idx="17">
                  <c:v>1837</c:v>
                </c:pt>
                <c:pt idx="18">
                  <c:v>1255</c:v>
                </c:pt>
                <c:pt idx="19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7C5-4DF3-AB3C-DFFA0C4FA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5275712"/>
        <c:axId val="335275384"/>
      </c:barChart>
      <c:catAx>
        <c:axId val="33527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35275384"/>
        <c:crosses val="autoZero"/>
        <c:auto val="1"/>
        <c:lblAlgn val="ctr"/>
        <c:lblOffset val="100"/>
        <c:noMultiLvlLbl val="0"/>
      </c:catAx>
      <c:valAx>
        <c:axId val="3352753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527571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2.1786519712924352E-2"/>
          <c:y val="0.8748832762911124"/>
          <c:w val="0.42365268705098563"/>
          <c:h val="0.125116703349113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 sz="1100"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Enfants</a:t>
            </a:r>
            <a:r>
              <a:rPr lang="en-US" baseline="0"/>
              <a:t> récupérés par service</a:t>
            </a:r>
            <a:endParaRPr lang="en-US"/>
          </a:p>
        </c:rich>
      </c:tx>
      <c:layout>
        <c:manualLayout>
          <c:xMode val="edge"/>
          <c:yMode val="edge"/>
          <c:x val="0.21928476821192053"/>
          <c:y val="4.7169811320754715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9154716587578869E-2"/>
          <c:y val="0.10711967018273659"/>
          <c:w val="0.49979141680137656"/>
          <c:h val="0.88995877284207381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E1-4CDC-9449-81638960A3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E1-4CDC-9449-81638960A3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E1-4CDC-9449-81638960A3B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E1-4CDC-9449-81638960A3B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2E1-4CDC-9449-81638960A3BF}"/>
              </c:ext>
            </c:extLst>
          </c:dPt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Synthese!$B$155:$B$159</c:f>
              <c:strCache>
                <c:ptCount val="5"/>
                <c:pt idx="0">
                  <c:v>Consultation médicale</c:v>
                </c:pt>
                <c:pt idx="1">
                  <c:v>Vaccination</c:v>
                </c:pt>
                <c:pt idx="2">
                  <c:v>Accompagnement</c:v>
                </c:pt>
                <c:pt idx="3">
                  <c:v>Hospitalisation</c:v>
                </c:pt>
                <c:pt idx="4">
                  <c:v>Autres</c:v>
                </c:pt>
              </c:strCache>
            </c:strRef>
          </c:cat>
          <c:val>
            <c:numRef>
              <c:f>Synthese!$AW$155:$AW$159</c:f>
              <c:numCache>
                <c:formatCode>General</c:formatCode>
                <c:ptCount val="5"/>
                <c:pt idx="0">
                  <c:v>10858</c:v>
                </c:pt>
                <c:pt idx="1">
                  <c:v>15685</c:v>
                </c:pt>
                <c:pt idx="2">
                  <c:v>3419</c:v>
                </c:pt>
                <c:pt idx="3">
                  <c:v>1991</c:v>
                </c:pt>
                <c:pt idx="4">
                  <c:v>2050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E1-4CDC-9449-81638960A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571267664389631"/>
          <c:y val="0.57612056158074576"/>
          <c:w val="0.3397544975752203"/>
          <c:h val="0.423646560689347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Total Getons Reçus, Distribués et récupérés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2.9139072847682121E-2"/>
          <c:y val="0.17333333333333337"/>
          <c:w val="0.94172185430463573"/>
          <c:h val="0.6756618562611413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A0-42AA-82E5-C4B06322BA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0A0-42AA-82E5-C4B06322BA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0A0-42AA-82E5-C4B06322BA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Synthese!$D$164:$D$166</c:f>
              <c:strCache>
                <c:ptCount val="3"/>
                <c:pt idx="0">
                  <c:v>Nombre jetons reçus au debut du mois</c:v>
                </c:pt>
                <c:pt idx="1">
                  <c:v>Nombre Jetons distribués</c:v>
                </c:pt>
                <c:pt idx="2">
                  <c:v>Nombre Jetons récupérés</c:v>
                </c:pt>
              </c:strCache>
            </c:strRef>
          </c:cat>
          <c:val>
            <c:numRef>
              <c:f>Synthese!$I$164:$I$166</c:f>
              <c:numCache>
                <c:formatCode>General</c:formatCode>
                <c:ptCount val="3"/>
                <c:pt idx="0">
                  <c:v>27597</c:v>
                </c:pt>
                <c:pt idx="1">
                  <c:v>11501</c:v>
                </c:pt>
                <c:pt idx="2">
                  <c:v>9640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E-4329-B26D-A7281699FB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1503840"/>
        <c:axId val="1841513920"/>
      </c:barChart>
      <c:catAx>
        <c:axId val="1841503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841513920"/>
        <c:crosses val="autoZero"/>
        <c:auto val="1"/>
        <c:lblAlgn val="ctr"/>
        <c:lblOffset val="100"/>
        <c:noMultiLvlLbl val="0"/>
      </c:catAx>
      <c:valAx>
        <c:axId val="18415139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1503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Feuil1!$F$6</c:f>
              <c:strCache>
                <c:ptCount val="1"/>
                <c:pt idx="0">
                  <c:v>VAP1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solidFill>
                  <a:schemeClr val="tx1"/>
                </a:solidFill>
              </a:ln>
              <a:effectLst/>
            </c:spPr>
            <c:txPr>
              <a:bodyPr rot="-5400000" spcFirstLastPara="1" vertOverflow="overflow" horzOverflow="overflow" vert="horz" wrap="square" lIns="38100" tIns="19050" rIns="38100" bIns="19050" anchor="b" anchorCtr="0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Feuil1!$E$7:$E$18</c:f>
              <c:strCache>
                <c:ptCount val="12"/>
                <c:pt idx="0">
                  <c:v>Aketi </c:v>
                </c:pt>
                <c:pt idx="1">
                  <c:v>Ango </c:v>
                </c:pt>
                <c:pt idx="2">
                  <c:v>Bili </c:v>
                </c:pt>
                <c:pt idx="3">
                  <c:v>Bondo </c:v>
                </c:pt>
                <c:pt idx="4">
                  <c:v>Buta </c:v>
                </c:pt>
                <c:pt idx="5">
                  <c:v>Ganga </c:v>
                </c:pt>
                <c:pt idx="6">
                  <c:v>Likati </c:v>
                </c:pt>
                <c:pt idx="7">
                  <c:v>Monga </c:v>
                </c:pt>
                <c:pt idx="8">
                  <c:v>Poko </c:v>
                </c:pt>
                <c:pt idx="9">
                  <c:v>Titule </c:v>
                </c:pt>
                <c:pt idx="10">
                  <c:v>Viadana </c:v>
                </c:pt>
                <c:pt idx="11">
                  <c:v>DPS  BUE</c:v>
                </c:pt>
              </c:strCache>
            </c:strRef>
          </c:cat>
          <c:val>
            <c:numRef>
              <c:f>Feuil1!$F$7:$F$18</c:f>
              <c:numCache>
                <c:formatCode>0.0</c:formatCode>
                <c:ptCount val="12"/>
                <c:pt idx="0">
                  <c:v>25.73681504221717</c:v>
                </c:pt>
                <c:pt idx="1">
                  <c:v>16.349059779034132</c:v>
                </c:pt>
                <c:pt idx="2">
                  <c:v>20.680294988381874</c:v>
                </c:pt>
                <c:pt idx="3">
                  <c:v>14.363790624408457</c:v>
                </c:pt>
                <c:pt idx="4">
                  <c:v>16.902508260561451</c:v>
                </c:pt>
                <c:pt idx="5">
                  <c:v>23.879232581406185</c:v>
                </c:pt>
                <c:pt idx="6">
                  <c:v>22.839926074174706</c:v>
                </c:pt>
                <c:pt idx="7">
                  <c:v>18.513797316198978</c:v>
                </c:pt>
                <c:pt idx="8">
                  <c:v>21.803152595611124</c:v>
                </c:pt>
                <c:pt idx="9">
                  <c:v>25.754944435756428</c:v>
                </c:pt>
                <c:pt idx="10">
                  <c:v>25.190119371252091</c:v>
                </c:pt>
                <c:pt idx="11">
                  <c:v>20.427873378433254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C-479D-9E5C-C7A96EC05EB7}"/>
            </c:ext>
          </c:extLst>
        </c:ser>
        <c:ser>
          <c:idx val="1"/>
          <c:order val="1"/>
          <c:tx>
            <c:strRef>
              <c:f>Feuil1!$G$6</c:f>
              <c:strCache>
                <c:ptCount val="1"/>
                <c:pt idx="0">
                  <c:v>VAP2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Feuil1!$E$7:$E$18</c:f>
              <c:strCache>
                <c:ptCount val="12"/>
                <c:pt idx="0">
                  <c:v>Aketi </c:v>
                </c:pt>
                <c:pt idx="1">
                  <c:v>Ango </c:v>
                </c:pt>
                <c:pt idx="2">
                  <c:v>Bili </c:v>
                </c:pt>
                <c:pt idx="3">
                  <c:v>Bondo </c:v>
                </c:pt>
                <c:pt idx="4">
                  <c:v>Buta </c:v>
                </c:pt>
                <c:pt idx="5">
                  <c:v>Ganga </c:v>
                </c:pt>
                <c:pt idx="6">
                  <c:v>Likati </c:v>
                </c:pt>
                <c:pt idx="7">
                  <c:v>Monga </c:v>
                </c:pt>
                <c:pt idx="8">
                  <c:v>Poko </c:v>
                </c:pt>
                <c:pt idx="9">
                  <c:v>Titule </c:v>
                </c:pt>
                <c:pt idx="10">
                  <c:v>Viadana </c:v>
                </c:pt>
                <c:pt idx="11">
                  <c:v>DPS  BUE</c:v>
                </c:pt>
              </c:strCache>
            </c:strRef>
          </c:cat>
          <c:val>
            <c:numRef>
              <c:f>Feuil1!$G$7:$G$18</c:f>
              <c:numCache>
                <c:formatCode>0.0</c:formatCode>
                <c:ptCount val="12"/>
                <c:pt idx="0">
                  <c:v>9.8532158006814701</c:v>
                </c:pt>
                <c:pt idx="1">
                  <c:v>4.1197035554312196</c:v>
                </c:pt>
                <c:pt idx="2">
                  <c:v>7.2776197331726022</c:v>
                </c:pt>
                <c:pt idx="3">
                  <c:v>4.7987748971693032</c:v>
                </c:pt>
                <c:pt idx="4">
                  <c:v>5.4401607753599039</c:v>
                </c:pt>
                <c:pt idx="5">
                  <c:v>9.4972008962723873</c:v>
                </c:pt>
                <c:pt idx="6">
                  <c:v>10.493212109993875</c:v>
                </c:pt>
                <c:pt idx="7">
                  <c:v>11.61928352922455</c:v>
                </c:pt>
                <c:pt idx="8">
                  <c:v>7.0764618073474699</c:v>
                </c:pt>
                <c:pt idx="9">
                  <c:v>8.2907593471284464</c:v>
                </c:pt>
                <c:pt idx="10">
                  <c:v>8.5829688008525302</c:v>
                </c:pt>
                <c:pt idx="11">
                  <c:v>7.5606859758615155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AC-479D-9E5C-C7A96EC05EB7}"/>
            </c:ext>
          </c:extLst>
        </c:ser>
        <c:ser>
          <c:idx val="2"/>
          <c:order val="2"/>
          <c:tx>
            <c:strRef>
              <c:f>Feuil1!$H$6</c:f>
              <c:strCache>
                <c:ptCount val="1"/>
                <c:pt idx="0">
                  <c:v>VAP3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Feuil1!$E$7:$E$18</c:f>
              <c:strCache>
                <c:ptCount val="12"/>
                <c:pt idx="0">
                  <c:v>Aketi </c:v>
                </c:pt>
                <c:pt idx="1">
                  <c:v>Ango </c:v>
                </c:pt>
                <c:pt idx="2">
                  <c:v>Bili </c:v>
                </c:pt>
                <c:pt idx="3">
                  <c:v>Bondo </c:v>
                </c:pt>
                <c:pt idx="4">
                  <c:v>Buta </c:v>
                </c:pt>
                <c:pt idx="5">
                  <c:v>Ganga </c:v>
                </c:pt>
                <c:pt idx="6">
                  <c:v>Likati </c:v>
                </c:pt>
                <c:pt idx="7">
                  <c:v>Monga </c:v>
                </c:pt>
                <c:pt idx="8">
                  <c:v>Poko </c:v>
                </c:pt>
                <c:pt idx="9">
                  <c:v>Titule </c:v>
                </c:pt>
                <c:pt idx="10">
                  <c:v>Viadana </c:v>
                </c:pt>
                <c:pt idx="11">
                  <c:v>DPS  BUE</c:v>
                </c:pt>
              </c:strCache>
            </c:strRef>
          </c:cat>
          <c:val>
            <c:numRef>
              <c:f>Feuil1!$H$7:$H$18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1.5147986774929398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4.5422679067125635</c:v>
                </c:pt>
                <c:pt idx="8">
                  <c:v>0</c:v>
                </c:pt>
                <c:pt idx="9">
                  <c:v>0</c:v>
                </c:pt>
                <c:pt idx="10">
                  <c:v>2.5480688627530954</c:v>
                </c:pt>
                <c:pt idx="11">
                  <c:v>0.69027660835254911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AC-479D-9E5C-C7A96EC05EB7}"/>
            </c:ext>
          </c:extLst>
        </c:ser>
        <c:ser>
          <c:idx val="3"/>
          <c:order val="3"/>
          <c:tx>
            <c:strRef>
              <c:f>Feuil1!$I$6</c:f>
              <c:strCache>
                <c:ptCount val="1"/>
                <c:pt idx="0">
                  <c:v>VAP4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Feuil1!$E$7:$E$18</c:f>
              <c:strCache>
                <c:ptCount val="12"/>
                <c:pt idx="0">
                  <c:v>Aketi </c:v>
                </c:pt>
                <c:pt idx="1">
                  <c:v>Ango </c:v>
                </c:pt>
                <c:pt idx="2">
                  <c:v>Bili </c:v>
                </c:pt>
                <c:pt idx="3">
                  <c:v>Bondo </c:v>
                </c:pt>
                <c:pt idx="4">
                  <c:v>Buta </c:v>
                </c:pt>
                <c:pt idx="5">
                  <c:v>Ganga </c:v>
                </c:pt>
                <c:pt idx="6">
                  <c:v>Likati </c:v>
                </c:pt>
                <c:pt idx="7">
                  <c:v>Monga </c:v>
                </c:pt>
                <c:pt idx="8">
                  <c:v>Poko </c:v>
                </c:pt>
                <c:pt idx="9">
                  <c:v>Titule </c:v>
                </c:pt>
                <c:pt idx="10">
                  <c:v>Viadana </c:v>
                </c:pt>
                <c:pt idx="11">
                  <c:v>DPS  BUE</c:v>
                </c:pt>
              </c:strCache>
            </c:strRef>
          </c:cat>
          <c:val>
            <c:numRef>
              <c:f>Feuil1!$I$7:$I$18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AC-479D-9E5C-C7A96EC05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331754367"/>
        <c:axId val="331751007"/>
      </c:barChart>
      <c:catAx>
        <c:axId val="331754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fr-FR"/>
          </a:p>
        </c:txPr>
        <c:crossAx val="331751007"/>
        <c:crosses val="autoZero"/>
        <c:auto val="1"/>
        <c:lblAlgn val="ctr"/>
        <c:lblOffset val="100"/>
        <c:noMultiLvlLbl val="0"/>
      </c:catAx>
      <c:valAx>
        <c:axId val="331751007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31754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A781E09B-2056-BD00-1EDF-AA6A0A64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>
            <a:extLst>
              <a:ext uri="{FF2B5EF4-FFF2-40B4-BE49-F238E27FC236}">
                <a16:creationId xmlns:a16="http://schemas.microsoft.com/office/drawing/2014/main" id="{FB02FEB0-ACB5-F3E3-6653-4735B091A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>
            <a:extLst>
              <a:ext uri="{FF2B5EF4-FFF2-40B4-BE49-F238E27FC236}">
                <a16:creationId xmlns:a16="http://schemas.microsoft.com/office/drawing/2014/main" id="{2DF3A7B0-2FDE-4CAB-2877-D58E988F1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463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6A928C1E-71A0-E76E-AC61-9D81E7FB5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>
            <a:extLst>
              <a:ext uri="{FF2B5EF4-FFF2-40B4-BE49-F238E27FC236}">
                <a16:creationId xmlns:a16="http://schemas.microsoft.com/office/drawing/2014/main" id="{6BBA3816-8D93-5B71-8701-57C610691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>
            <a:extLst>
              <a:ext uri="{FF2B5EF4-FFF2-40B4-BE49-F238E27FC236}">
                <a16:creationId xmlns:a16="http://schemas.microsoft.com/office/drawing/2014/main" id="{71AAC274-0866-1CD6-70DD-3DA0E3348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790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78D89C7A-607C-D2E2-52BD-85D95D06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>
            <a:extLst>
              <a:ext uri="{FF2B5EF4-FFF2-40B4-BE49-F238E27FC236}">
                <a16:creationId xmlns:a16="http://schemas.microsoft.com/office/drawing/2014/main" id="{AB777CD6-9681-5361-C4A3-B790D5328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>
            <a:extLst>
              <a:ext uri="{FF2B5EF4-FFF2-40B4-BE49-F238E27FC236}">
                <a16:creationId xmlns:a16="http://schemas.microsoft.com/office/drawing/2014/main" id="{D381B8B9-2702-EE1A-0EF4-DD3740D53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2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8FB6ACCC-7FC0-D604-8F70-192477B3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>
            <a:extLst>
              <a:ext uri="{FF2B5EF4-FFF2-40B4-BE49-F238E27FC236}">
                <a16:creationId xmlns:a16="http://schemas.microsoft.com/office/drawing/2014/main" id="{3A4AB7DC-2FC4-F9B9-D424-DEECBA86F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>
            <a:extLst>
              <a:ext uri="{FF2B5EF4-FFF2-40B4-BE49-F238E27FC236}">
                <a16:creationId xmlns:a16="http://schemas.microsoft.com/office/drawing/2014/main" id="{A22B815D-7D12-538C-53DD-38DFD9CD8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607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2550E00-6C86-0924-F2EA-73703014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>
            <a:extLst>
              <a:ext uri="{FF2B5EF4-FFF2-40B4-BE49-F238E27FC236}">
                <a16:creationId xmlns:a16="http://schemas.microsoft.com/office/drawing/2014/main" id="{5DFA2252-015C-4BFC-8778-5DB9B1B8C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>
            <a:extLst>
              <a:ext uri="{FF2B5EF4-FFF2-40B4-BE49-F238E27FC236}">
                <a16:creationId xmlns:a16="http://schemas.microsoft.com/office/drawing/2014/main" id="{C4042038-1D68-2011-2F80-7D04FF63E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1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31DDBA19-AC3F-A957-66F2-F41D354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>
            <a:extLst>
              <a:ext uri="{FF2B5EF4-FFF2-40B4-BE49-F238E27FC236}">
                <a16:creationId xmlns:a16="http://schemas.microsoft.com/office/drawing/2014/main" id="{479C9F00-9717-1501-2364-536B02865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>
            <a:extLst>
              <a:ext uri="{FF2B5EF4-FFF2-40B4-BE49-F238E27FC236}">
                <a16:creationId xmlns:a16="http://schemas.microsoft.com/office/drawing/2014/main" id="{E04E2C70-9A2B-FED7-4628-9B54EF77E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4924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fr-FR" sz="4300" b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fr-FR" sz="2400" b="1" i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fr-FR" sz="2400" i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anevas de provinces ayant organisés des activités spécifiques ou approches innovantes: FAE, IPVS, stratégies spéciales et introduction des nouveaux vaccins (VAP, RR, </a:t>
            </a:r>
            <a:r>
              <a:rPr lang="fr-FR" sz="2400" i="1" noProof="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etc</a:t>
            </a:r>
            <a:r>
              <a:rPr lang="fr-FR" sz="2400" i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fr-FR" sz="4300" b="1" i="1" noProof="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fr-FR" sz="4300" b="1" i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Province du Bas-Uélé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lang="fr-FR" sz="1700" b="0" i="0" u="none" strike="noStrike" cap="none" noProof="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lang="fr-FR" sz="1700" b="0" i="0" u="none" strike="noStrike" cap="none" noProof="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fr-FR" sz="2000" b="1" noProof="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617800" y="1213042"/>
            <a:ext cx="10714500" cy="490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(zones couvertes, impact sur la couverture)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succès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A515C732-27BC-70FE-6FC4-6CE084D0BDD5}"/>
              </a:ext>
            </a:extLst>
          </p:cNvPr>
          <p:cNvPicPr/>
          <p:nvPr/>
        </p:nvPicPr>
        <p:blipFill>
          <a:blip r:embed="rId3"/>
          <a:srcRect l="5131" t="3833"/>
          <a:stretch>
            <a:fillRect/>
          </a:stretch>
        </p:blipFill>
        <p:spPr>
          <a:xfrm>
            <a:off x="235500" y="971530"/>
            <a:ext cx="6915313" cy="5388338"/>
          </a:xfrm>
          <a:prstGeom prst="rect">
            <a:avLst/>
          </a:prstGeom>
          <a:noFill/>
          <a:ln w="9528">
            <a:solidFill>
              <a:srgbClr val="000000"/>
            </a:solidFill>
            <a:prstDash val="solid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61FD90E9-08E7-3F41-DA2D-CC33A9C2A8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5324" y="1082831"/>
                <a:ext cx="4173276" cy="529027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Sup: 148.331Km²</a:t>
                </a:r>
              </a:p>
              <a:p>
                <a:pPr marL="171450" indent="-171450" defTabSz="685800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Pop: 1 912 775 ha</a:t>
                </a: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Densité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fr-FR" sz="2000" b="1" dirty="0">
                    <a:ea typeface="Arial Unicode MS" panose="020B0604020202020204" pitchFamily="34" charset="-128"/>
                  </a:rPr>
                  <a:t> 13 </a:t>
                </a:r>
                <a:r>
                  <a:rPr lang="fr-BE" sz="2000" b="1" dirty="0" err="1">
                    <a:ea typeface="Arial Unicode MS" panose="020B0604020202020204" pitchFamily="34" charset="-128"/>
                  </a:rPr>
                  <a:t>hab</a:t>
                </a:r>
                <a:r>
                  <a:rPr lang="fr-BE" sz="2000" b="1" dirty="0">
                    <a:ea typeface="Arial Unicode MS" panose="020B0604020202020204" pitchFamily="34" charset="-128"/>
                  </a:rPr>
                  <a:t>/km² </a:t>
                </a:r>
                <a:endParaRPr lang="fr-FR" sz="2000" b="1" dirty="0">
                  <a:ea typeface="Arial Unicode MS" panose="020B0604020202020204" pitchFamily="34" charset="-128"/>
                </a:endParaRP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ZS: 11</a:t>
                </a: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AS  : 182</a:t>
                </a: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CS  </a:t>
                </a:r>
                <a:r>
                  <a:rPr lang="fr-FR" sz="2000" b="1" dirty="0" err="1">
                    <a:ea typeface="Arial Unicode MS" panose="020B0604020202020204" pitchFamily="34" charset="-128"/>
                  </a:rPr>
                  <a:t>opér</a:t>
                </a:r>
                <a:r>
                  <a:rPr lang="fr-FR" sz="2000" b="1" dirty="0">
                    <a:ea typeface="Arial Unicode MS" panose="020B0604020202020204" pitchFamily="34" charset="-128"/>
                  </a:rPr>
                  <a:t> en PEV :182</a:t>
                </a:r>
              </a:p>
              <a:p>
                <a:pPr marL="171450" indent="-171450" defTabSz="685800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Cible 4%:  76 511 </a:t>
                </a: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Cible 3,49%:  66 7565</a:t>
                </a: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fr-FR" sz="2000" b="1" dirty="0">
                    <a:ea typeface="Arial Unicode MS" panose="020B0604020202020204" pitchFamily="34" charset="-128"/>
                  </a:rPr>
                  <a:t>ZS avec Pop spéciale: Ango, Bili, Bondo, Monga et Poko (Eleveurs MBORORO et Réfugiés RCA)</a:t>
                </a:r>
              </a:p>
              <a:p>
                <a:pPr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defRPr/>
                </a:pPr>
                <a:endParaRPr lang="fr-FR" sz="2000" b="1" i="1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endParaRPr lang="fr-FR" sz="20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171450" indent="-171450" defTabSz="685800" eaLnBrk="1" fontAlgn="auto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endParaRPr lang="fr-FR" sz="20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61FD90E9-08E7-3F41-DA2D-CC33A9C2A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324" y="1082831"/>
                <a:ext cx="4173276" cy="5290273"/>
              </a:xfrm>
              <a:prstGeom prst="rect">
                <a:avLst/>
              </a:prstGeom>
              <a:blipFill>
                <a:blip r:embed="rId4"/>
                <a:stretch>
                  <a:fillRect l="-1014" t="-91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47215C91-6229-8628-D5C3-146F284D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>
            <a:extLst>
              <a:ext uri="{FF2B5EF4-FFF2-40B4-BE49-F238E27FC236}">
                <a16:creationId xmlns:a16="http://schemas.microsoft.com/office/drawing/2014/main" id="{43E6CD56-74C3-312B-0CB7-79159D065F3D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32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>
            <a:extLst>
              <a:ext uri="{FF2B5EF4-FFF2-40B4-BE49-F238E27FC236}">
                <a16:creationId xmlns:a16="http://schemas.microsoft.com/office/drawing/2014/main" id="{F96F4B28-54D4-B0E6-9896-F9C2A0FC57F2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>
            <a:extLst>
              <a:ext uri="{FF2B5EF4-FFF2-40B4-BE49-F238E27FC236}">
                <a16:creationId xmlns:a16="http://schemas.microsoft.com/office/drawing/2014/main" id="{9614CE9F-74FC-EE3D-43BA-4754AF6EE253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>
            <a:extLst>
              <a:ext uri="{FF2B5EF4-FFF2-40B4-BE49-F238E27FC236}">
                <a16:creationId xmlns:a16="http://schemas.microsoft.com/office/drawing/2014/main" id="{FFE3506E-7910-15FB-6E80-678AFC3FC5F4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>
            <a:extLst>
              <a:ext uri="{FF2B5EF4-FFF2-40B4-BE49-F238E27FC236}">
                <a16:creationId xmlns:a16="http://schemas.microsoft.com/office/drawing/2014/main" id="{B8212437-83DF-3180-E62B-A3E6E42EA014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C3A037E-6378-75CC-25D0-BE6DEAB5D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59026"/>
              </p:ext>
            </p:extLst>
          </p:nvPr>
        </p:nvGraphicFramePr>
        <p:xfrm>
          <a:off x="206184" y="1055899"/>
          <a:ext cx="11680716" cy="4684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93">
                  <a:extLst>
                    <a:ext uri="{9D8B030D-6E8A-4147-A177-3AD203B41FA5}">
                      <a16:colId xmlns:a16="http://schemas.microsoft.com/office/drawing/2014/main" val="317877808"/>
                    </a:ext>
                  </a:extLst>
                </a:gridCol>
                <a:gridCol w="962106">
                  <a:extLst>
                    <a:ext uri="{9D8B030D-6E8A-4147-A177-3AD203B41FA5}">
                      <a16:colId xmlns:a16="http://schemas.microsoft.com/office/drawing/2014/main" val="3361244533"/>
                    </a:ext>
                  </a:extLst>
                </a:gridCol>
                <a:gridCol w="994452">
                  <a:extLst>
                    <a:ext uri="{9D8B030D-6E8A-4147-A177-3AD203B41FA5}">
                      <a16:colId xmlns:a16="http://schemas.microsoft.com/office/drawing/2014/main" val="1450070397"/>
                    </a:ext>
                  </a:extLst>
                </a:gridCol>
                <a:gridCol w="963621">
                  <a:extLst>
                    <a:ext uri="{9D8B030D-6E8A-4147-A177-3AD203B41FA5}">
                      <a16:colId xmlns:a16="http://schemas.microsoft.com/office/drawing/2014/main" val="3660085741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893857806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988569218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971372826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414443685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1455235874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714680829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148399429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27011440"/>
                    </a:ext>
                  </a:extLst>
                </a:gridCol>
              </a:tblGrid>
              <a:tr h="7561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Province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Nbre Antenne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ZS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Nbre 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Nbre 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Nbre ESS vacc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Pop </a:t>
                      </a:r>
                      <a:r>
                        <a:rPr lang="fr-FR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Tot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Pop de 0-11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mois</a:t>
                      </a:r>
                      <a:endParaRPr lang="en-US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Pop de 12-23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mois</a:t>
                      </a:r>
                      <a:endParaRPr lang="en-US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Pop de 0-59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mois</a:t>
                      </a:r>
                      <a:endParaRPr lang="en-US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Couv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en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ECF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Intégration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FAE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588818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Aketi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191580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7663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6897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36209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825874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Ango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211994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8480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7632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40067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70,8%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  <a:endParaRPr lang="fr-FR" sz="1400" b="0" i="0" u="none" strike="noStrike" cap="non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667154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Bili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104414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4177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3759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19734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973684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Bondo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211372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8455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7609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39949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84087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289474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11579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54711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94,7%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609602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Ganga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176677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7067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6360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33392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476680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Likati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115015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4601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4141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21738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392104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Monga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169563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6783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6104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32047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50081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Poko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179780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7191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6472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33978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24099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Titule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109073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4363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3927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20615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100,0%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074820"/>
                  </a:ext>
                </a:extLst>
              </a:tr>
              <a:tr h="315058"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Viadana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153833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6153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5538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29074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93,3%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400" b="0" i="0" u="none" strike="noStrike" cap="non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329844"/>
                  </a:ext>
                </a:extLst>
              </a:tr>
              <a:tr h="462724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Bas-Uélé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Buta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DPS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241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1 912 775</a:t>
                      </a:r>
                      <a:endParaRPr lang="fr-FR" sz="1600" b="1" i="0" u="none" strike="noStrike" cap="non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76511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68 860</a:t>
                      </a:r>
                      <a:endParaRPr lang="fr-FR" sz="1600" b="1" i="0" u="none" strike="noStrike" cap="non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361 514</a:t>
                      </a:r>
                      <a:endParaRPr lang="fr-FR" sz="1600" b="1" i="0" u="none" strike="noStrike" cap="non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95,1%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600" b="1" i="0" u="none" strike="noStrike" cap="none" noProof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  <a:sym typeface="Arial" panose="020B0604020202020204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8608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30C165A-AC44-C618-9914-F9C62CD100E1}"/>
              </a:ext>
            </a:extLst>
          </p:cNvPr>
          <p:cNvSpPr/>
          <p:nvPr/>
        </p:nvSpPr>
        <p:spPr>
          <a:xfrm>
            <a:off x="105880" y="5857731"/>
            <a:ext cx="11802120" cy="6320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province n’est pas concernée par le projet FAE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8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0400" y="1"/>
            <a:ext cx="11274900" cy="58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4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34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4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 </a:t>
            </a:r>
            <a:r>
              <a:rPr lang="en-US" sz="34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3537606297"/>
              </p:ext>
            </p:extLst>
          </p:nvPr>
        </p:nvGraphicFramePr>
        <p:xfrm>
          <a:off x="235500" y="685800"/>
          <a:ext cx="11651400" cy="6076481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9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69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noProof="0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Périmètre</a:t>
                      </a:r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1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Réduction des Occasions de Vaccination Manqués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Une activité qui consistance à </a:t>
                      </a: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vérifier 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 statut vaccinal de l’enfant à tout contact et l’orienter vers la vaccination pour compléter son calendrier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 d’enfants identifiés récupérés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ZS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2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AVS Riposte Polio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Riposte vaccinale au tour de </a:t>
                      </a: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l’</a:t>
                      </a:r>
                      <a:r>
                        <a:rPr lang="fr-FR" sz="1600" noProof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épidémie</a:t>
                      </a: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 Poliovirus circulant de souche vaccinale 2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 d’enfants de 0 à 59 mois vaccinés en nVPO2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ZS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61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Intégration RR en PEV de routine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Switcher le VAR et intégrer le nouveau vaccin </a:t>
                      </a:r>
                      <a:r>
                        <a:rPr lang="fr-FR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comibiné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anti Rougeoleux et anti rubéoleux en PEV de routine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95% d’enfants de 6 mois  à 14 ans vaccinés en RR suivi de son intégration en PEV de routine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ZS</a:t>
                      </a:r>
                      <a:endParaRPr kumimoji="0" lang="fr-FR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10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de Vaccins Anti Paludique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Introduire le nouveau vaccin anti paludique en PEV de routine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Vacciner d’ici fin de l’année au moins </a:t>
                      </a:r>
                    </a:p>
                    <a:p>
                      <a:pPr marL="285750" lvl="0" indent="-2857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 d’enfants en VAP1</a:t>
                      </a:r>
                    </a:p>
                    <a:p>
                      <a:pPr marL="285750" lvl="0" indent="-2857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62% en VAP 2</a:t>
                      </a:r>
                    </a:p>
                    <a:p>
                      <a:pPr marL="285750" lvl="0" indent="-2857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60% en VAP3</a:t>
                      </a:r>
                    </a:p>
                    <a:p>
                      <a:pPr marL="285750" lvl="0" indent="-2857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50% en VAP 4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ZS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383CA921-9B36-46D5-4E80-0D01091F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>
            <a:extLst>
              <a:ext uri="{FF2B5EF4-FFF2-40B4-BE49-F238E27FC236}">
                <a16:creationId xmlns:a16="http://schemas.microsoft.com/office/drawing/2014/main" id="{06C3FEA7-9A6A-BB31-764A-B1E93A9BE2E3}"/>
              </a:ext>
            </a:extLst>
          </p:cNvPr>
          <p:cNvSpPr txBox="1"/>
          <p:nvPr/>
        </p:nvSpPr>
        <p:spPr>
          <a:xfrm>
            <a:off x="450400" y="2722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3400" b="1" dirty="0" err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3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4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>
            <a:extLst>
              <a:ext uri="{FF2B5EF4-FFF2-40B4-BE49-F238E27FC236}">
                <a16:creationId xmlns:a16="http://schemas.microsoft.com/office/drawing/2014/main" id="{32287A2C-A381-D311-E989-010D63BFF254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>
            <a:extLst>
              <a:ext uri="{FF2B5EF4-FFF2-40B4-BE49-F238E27FC236}">
                <a16:creationId xmlns:a16="http://schemas.microsoft.com/office/drawing/2014/main" id="{A3E2BB4B-BD79-1FCC-57DD-34A64C198095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>
            <a:extLst>
              <a:ext uri="{FF2B5EF4-FFF2-40B4-BE49-F238E27FC236}">
                <a16:creationId xmlns:a16="http://schemas.microsoft.com/office/drawing/2014/main" id="{C2444079-8DD3-9614-B9C6-B37AF723A768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>
            <a:extLst>
              <a:ext uri="{FF2B5EF4-FFF2-40B4-BE49-F238E27FC236}">
                <a16:creationId xmlns:a16="http://schemas.microsoft.com/office/drawing/2014/main" id="{6FD6ADE5-6FFC-DA61-8DE0-ECDF50ACA51F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>
            <a:extLst>
              <a:ext uri="{FF2B5EF4-FFF2-40B4-BE49-F238E27FC236}">
                <a16:creationId xmlns:a16="http://schemas.microsoft.com/office/drawing/2014/main" id="{CD457484-C80D-CE8E-6403-3334D01BC5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477216"/>
              </p:ext>
            </p:extLst>
          </p:nvPr>
        </p:nvGraphicFramePr>
        <p:xfrm>
          <a:off x="407500" y="1308741"/>
          <a:ext cx="11274900" cy="286497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81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441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Périmètre</a:t>
                      </a:r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Switch </a:t>
                      </a:r>
                      <a:r>
                        <a:rPr lang="fr-FR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Rotasil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– </a:t>
                      </a:r>
                      <a:r>
                        <a:rPr lang="fr-FR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Rotarix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Remplacer le vaccins </a:t>
                      </a:r>
                      <a:r>
                        <a:rPr lang="fr-FR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Rotasil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par le vaccin </a:t>
                      </a:r>
                      <a:r>
                        <a:rPr lang="fr-FR" sz="1600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Rotarix</a:t>
                      </a: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 PEV de routin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ZS doivent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vacciner 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avec le nouveau type de </a:t>
                      </a: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 </a:t>
                      </a:r>
                      <a:r>
                        <a:rPr lang="fr-FR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Rotarix</a:t>
                      </a:r>
                      <a:r>
                        <a:rPr lang="fr-FR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6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 ZS/11 </a:t>
                      </a:r>
                      <a:endParaRPr kumimoji="0" lang="fr-FR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30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0" y="2835792"/>
            <a:ext cx="12192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32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</a:t>
            </a: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367991" y="2835792"/>
            <a:ext cx="3155794" cy="65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37;g3aabc9d920d_0_234">
            <a:extLst>
              <a:ext uri="{FF2B5EF4-FFF2-40B4-BE49-F238E27FC236}">
                <a16:creationId xmlns:a16="http://schemas.microsoft.com/office/drawing/2014/main" id="{37DC7CD7-3545-6101-D0EA-3ADFB2F68916}"/>
              </a:ext>
            </a:extLst>
          </p:cNvPr>
          <p:cNvSpPr/>
          <p:nvPr/>
        </p:nvSpPr>
        <p:spPr>
          <a:xfrm>
            <a:off x="8502806" y="2747715"/>
            <a:ext cx="3155794" cy="65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AF5976BB-7CED-2CE7-7B2B-79AAE7AB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>
            <a:extLst>
              <a:ext uri="{FF2B5EF4-FFF2-40B4-BE49-F238E27FC236}">
                <a16:creationId xmlns:a16="http://schemas.microsoft.com/office/drawing/2014/main" id="{E1724E14-A8D0-096D-73E5-E85DD29BD157}"/>
              </a:ext>
            </a:extLst>
          </p:cNvPr>
          <p:cNvSpPr txBox="1"/>
          <p:nvPr/>
        </p:nvSpPr>
        <p:spPr>
          <a:xfrm>
            <a:off x="407500" y="196033"/>
            <a:ext cx="11274900" cy="40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sz="32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Résultats PEV de routine Janvier –Octobre 2025</a:t>
            </a:r>
            <a:endParaRPr lang="fr-FR"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>
            <a:extLst>
              <a:ext uri="{FF2B5EF4-FFF2-40B4-BE49-F238E27FC236}">
                <a16:creationId xmlns:a16="http://schemas.microsoft.com/office/drawing/2014/main" id="{B0800E72-57AB-5D32-272D-9A795A848903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>
            <a:extLst>
              <a:ext uri="{FF2B5EF4-FFF2-40B4-BE49-F238E27FC236}">
                <a16:creationId xmlns:a16="http://schemas.microsoft.com/office/drawing/2014/main" id="{7CBD6F78-9E92-D65F-6CD7-C36867781251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>
            <a:extLst>
              <a:ext uri="{FF2B5EF4-FFF2-40B4-BE49-F238E27FC236}">
                <a16:creationId xmlns:a16="http://schemas.microsoft.com/office/drawing/2014/main" id="{DE475DE4-CA4A-EDBB-C445-83F72B6970DE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>
            <a:extLst>
              <a:ext uri="{FF2B5EF4-FFF2-40B4-BE49-F238E27FC236}">
                <a16:creationId xmlns:a16="http://schemas.microsoft.com/office/drawing/2014/main" id="{D6D20097-0AAE-9017-27CF-6738F21D421A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1A48223-3699-F96D-B0EA-7CEAECA608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4293364"/>
              </p:ext>
            </p:extLst>
          </p:nvPr>
        </p:nvGraphicFramePr>
        <p:xfrm>
          <a:off x="305100" y="745290"/>
          <a:ext cx="11665296" cy="6080634"/>
        </p:xfrm>
        <a:graphic>
          <a:graphicData uri="http://schemas.openxmlformats.org/drawingml/2006/table">
            <a:tbl>
              <a:tblPr firstRow="1" bandRow="1"/>
              <a:tblGrid>
                <a:gridCol w="2614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3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ANTIGENE</a:t>
                      </a:r>
                    </a:p>
                  </a:txBody>
                  <a:tcPr marT="45717" marB="45717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fr-FR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OBJECTIF (%)</a:t>
                      </a:r>
                    </a:p>
                  </a:txBody>
                  <a:tcPr marT="45717" marB="45717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fr-FR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CIBLE Janv-</a:t>
                      </a:r>
                      <a:r>
                        <a:rPr lang="fr-FR" sz="13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</a:t>
                      </a:r>
                      <a:r>
                        <a:rPr lang="fr-FR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</a:p>
                  </a:txBody>
                  <a:tcPr marT="45717" marB="45717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fr-FR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 </a:t>
                      </a:r>
                    </a:p>
                  </a:txBody>
                  <a:tcPr marT="45717" marB="45717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1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CV  (%)</a:t>
                      </a:r>
                    </a:p>
                  </a:txBody>
                  <a:tcPr marT="45717" marB="45717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BCG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300" b="0" i="0" u="none" strike="noStrike" kern="1200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75 234</a:t>
                      </a:r>
                    </a:p>
                  </a:txBody>
                  <a:tcPr marL="0" marR="0" marT="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kern="1200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48 584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64,6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VPO1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fr-FR" sz="1300" kern="120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55 630</a:t>
                      </a:r>
                      <a:endParaRPr lang="fr-FR" sz="13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51 070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91,8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VPO3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47955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86,2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PENTA 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51133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91,9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PENTA 3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48332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86,9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 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49 980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89,8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338072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</a:t>
                      </a:r>
                      <a:r>
                        <a:rPr lang="fr-FR" sz="13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  <a:endParaRPr lang="fr-FR" sz="13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47 477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85,3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64763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Rota 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49 581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89,1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254373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Rota 3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46 749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84,0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97179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VPI 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48 009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86,3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VPI 2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41 930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75,4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36324"/>
                  </a:ext>
                </a:extLst>
              </a:tr>
              <a:tr h="278117">
                <a:tc>
                  <a:txBody>
                    <a:bodyPr/>
                    <a:lstStyle/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VAP1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11 364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20,4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940240"/>
                  </a:ext>
                </a:extLst>
              </a:tr>
              <a:tr h="278117">
                <a:tc>
                  <a:txBody>
                    <a:bodyPr/>
                    <a:lstStyle/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VAP2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4 206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7,6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19701"/>
                  </a:ext>
                </a:extLst>
              </a:tr>
              <a:tr h="278117">
                <a:tc>
                  <a:txBody>
                    <a:bodyPr/>
                    <a:lstStyle/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VAP3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0,7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540365"/>
                  </a:ext>
                </a:extLst>
              </a:tr>
              <a:tr h="278117">
                <a:tc>
                  <a:txBody>
                    <a:bodyPr/>
                    <a:lstStyle/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VAP4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0,0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98870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VAA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46 124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82,9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  <a:endParaRPr kumimoji="0" lang="fr-F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44 024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79,1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91130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2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55 630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34 969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62,9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613349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Td1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75 234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48 340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3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64,3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299209"/>
                  </a:ext>
                </a:extLst>
              </a:tr>
              <a:tr h="27811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r>
                        <a:rPr lang="fr-FR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Td2+</a:t>
                      </a:r>
                    </a:p>
                  </a:txBody>
                  <a:tcPr marT="45717" marB="45717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75 234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59 346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b"/>
                      <a:r>
                        <a:rPr lang="fr-FR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78,9</a:t>
                      </a:r>
                    </a:p>
                  </a:txBody>
                  <a:tcPr marL="6350" marR="6350" marT="6350" marB="0" anchor="b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43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26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35EE-2F81-DDDB-CC0D-51B5A4E5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28FBF-CD71-4B04-2029-A43AF8B8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1280-86C2-426A-AEFC-6C58FDD0CC12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3CE78C-191C-9956-0387-7CE467844FC9}"/>
              </a:ext>
            </a:extLst>
          </p:cNvPr>
          <p:cNvSpPr/>
          <p:nvPr/>
        </p:nvSpPr>
        <p:spPr>
          <a:xfrm>
            <a:off x="119336" y="5589240"/>
            <a:ext cx="11881320" cy="6320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signale l’intégration de stratégie de réduction des OVM dans toutes les 11 ZS depuis décembre 2024 avec l’appui de l’OMS 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8BB45825-950E-45A4-953C-D8F7344A55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165491"/>
              </p:ext>
            </p:extLst>
          </p:nvPr>
        </p:nvGraphicFramePr>
        <p:xfrm>
          <a:off x="119336" y="908721"/>
          <a:ext cx="11881320" cy="2520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6">
            <a:extLst>
              <a:ext uri="{FF2B5EF4-FFF2-40B4-BE49-F238E27FC236}">
                <a16:creationId xmlns:a16="http://schemas.microsoft.com/office/drawing/2014/main" id="{181C39B4-6B4F-4AD7-8D4B-B4A476D4DADF}"/>
              </a:ext>
            </a:extLst>
          </p:cNvPr>
          <p:cNvGraphicFramePr>
            <a:graphicFrameLocks/>
          </p:cNvGraphicFramePr>
          <p:nvPr/>
        </p:nvGraphicFramePr>
        <p:xfrm>
          <a:off x="119336" y="3501010"/>
          <a:ext cx="5040560" cy="1953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7">
            <a:extLst>
              <a:ext uri="{FF2B5EF4-FFF2-40B4-BE49-F238E27FC236}">
                <a16:creationId xmlns:a16="http://schemas.microsoft.com/office/drawing/2014/main" id="{8BE4F271-8DEF-73B6-9357-902EBCF5FB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2544157"/>
              </p:ext>
            </p:extLst>
          </p:nvPr>
        </p:nvGraphicFramePr>
        <p:xfrm>
          <a:off x="6816080" y="3429000"/>
          <a:ext cx="5181890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176;g3aabc9d920d_0_226">
            <a:extLst>
              <a:ext uri="{FF2B5EF4-FFF2-40B4-BE49-F238E27FC236}">
                <a16:creationId xmlns:a16="http://schemas.microsoft.com/office/drawing/2014/main" id="{4CECB28F-A84B-A9D2-0AFE-5B10D42C53FE}"/>
              </a:ext>
            </a:extLst>
          </p:cNvPr>
          <p:cNvSpPr txBox="1"/>
          <p:nvPr/>
        </p:nvSpPr>
        <p:spPr>
          <a:xfrm>
            <a:off x="458550" y="17702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fr-FR" sz="3200" b="1" dirty="0">
                <a:solidFill>
                  <a:schemeClr val="accent1">
                    <a:lumMod val="75000"/>
                  </a:schemeClr>
                </a:solidFill>
              </a:rPr>
              <a:t>Résultats de stratégie de réduction des OVM S1 2025</a:t>
            </a:r>
            <a:endParaRPr sz="3200" b="1" i="0" u="none" strike="noStrike" cap="none" dirty="0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177;g3aabc9d920d_0_226">
            <a:extLst>
              <a:ext uri="{FF2B5EF4-FFF2-40B4-BE49-F238E27FC236}">
                <a16:creationId xmlns:a16="http://schemas.microsoft.com/office/drawing/2014/main" id="{A8467DCF-7F49-6696-C6AC-C00F822BAF3F}"/>
              </a:ext>
            </a:extLst>
          </p:cNvPr>
          <p:cNvSpPr/>
          <p:nvPr/>
        </p:nvSpPr>
        <p:spPr>
          <a:xfrm>
            <a:off x="8150" y="17702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3753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9CCD0FDD-52CB-972D-B96B-024DBC77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>
            <a:extLst>
              <a:ext uri="{FF2B5EF4-FFF2-40B4-BE49-F238E27FC236}">
                <a16:creationId xmlns:a16="http://schemas.microsoft.com/office/drawing/2014/main" id="{A197A5B4-B101-F034-3F24-885DA7888B15}"/>
              </a:ext>
            </a:extLst>
          </p:cNvPr>
          <p:cNvSpPr txBox="1"/>
          <p:nvPr/>
        </p:nvSpPr>
        <p:spPr>
          <a:xfrm>
            <a:off x="450400" y="2722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AVS Riposte Polio </a:t>
            </a: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Aout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>
            <a:extLst>
              <a:ext uri="{FF2B5EF4-FFF2-40B4-BE49-F238E27FC236}">
                <a16:creationId xmlns:a16="http://schemas.microsoft.com/office/drawing/2014/main" id="{550FE786-C434-0401-2B05-726B3AF198CE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>
            <a:extLst>
              <a:ext uri="{FF2B5EF4-FFF2-40B4-BE49-F238E27FC236}">
                <a16:creationId xmlns:a16="http://schemas.microsoft.com/office/drawing/2014/main" id="{179E090F-5370-EC92-E05F-C6183DFBAA17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>
            <a:extLst>
              <a:ext uri="{FF2B5EF4-FFF2-40B4-BE49-F238E27FC236}">
                <a16:creationId xmlns:a16="http://schemas.microsoft.com/office/drawing/2014/main" id="{28A22C6E-2EA5-2267-F062-22D1420D94DA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>
            <a:extLst>
              <a:ext uri="{FF2B5EF4-FFF2-40B4-BE49-F238E27FC236}">
                <a16:creationId xmlns:a16="http://schemas.microsoft.com/office/drawing/2014/main" id="{852AD10B-78BF-FD7C-C56D-A00C8238FCC8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Espace réservé du contenu 4">
            <a:extLst>
              <a:ext uri="{FF2B5EF4-FFF2-40B4-BE49-F238E27FC236}">
                <a16:creationId xmlns:a16="http://schemas.microsoft.com/office/drawing/2014/main" id="{9B083A1B-3E75-3DE7-6EFF-EA1AA6FD1328}"/>
              </a:ext>
            </a:extLst>
          </p:cNvPr>
          <p:cNvGraphicFramePr>
            <a:graphicFrameLocks/>
          </p:cNvGraphicFramePr>
          <p:nvPr/>
        </p:nvGraphicFramePr>
        <p:xfrm>
          <a:off x="55041" y="1093537"/>
          <a:ext cx="11831859" cy="52448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88013">
                  <a:extLst>
                    <a:ext uri="{9D8B030D-6E8A-4147-A177-3AD203B41FA5}">
                      <a16:colId xmlns:a16="http://schemas.microsoft.com/office/drawing/2014/main" val="826592832"/>
                    </a:ext>
                  </a:extLst>
                </a:gridCol>
                <a:gridCol w="959706">
                  <a:extLst>
                    <a:ext uri="{9D8B030D-6E8A-4147-A177-3AD203B41FA5}">
                      <a16:colId xmlns:a16="http://schemas.microsoft.com/office/drawing/2014/main" val="2871743189"/>
                    </a:ext>
                  </a:extLst>
                </a:gridCol>
                <a:gridCol w="959706">
                  <a:extLst>
                    <a:ext uri="{9D8B030D-6E8A-4147-A177-3AD203B41FA5}">
                      <a16:colId xmlns:a16="http://schemas.microsoft.com/office/drawing/2014/main" val="1730985651"/>
                    </a:ext>
                  </a:extLst>
                </a:gridCol>
                <a:gridCol w="959706">
                  <a:extLst>
                    <a:ext uri="{9D8B030D-6E8A-4147-A177-3AD203B41FA5}">
                      <a16:colId xmlns:a16="http://schemas.microsoft.com/office/drawing/2014/main" val="279966348"/>
                    </a:ext>
                  </a:extLst>
                </a:gridCol>
                <a:gridCol w="959706">
                  <a:extLst>
                    <a:ext uri="{9D8B030D-6E8A-4147-A177-3AD203B41FA5}">
                      <a16:colId xmlns:a16="http://schemas.microsoft.com/office/drawing/2014/main" val="1088490330"/>
                    </a:ext>
                  </a:extLst>
                </a:gridCol>
                <a:gridCol w="1002290">
                  <a:extLst>
                    <a:ext uri="{9D8B030D-6E8A-4147-A177-3AD203B41FA5}">
                      <a16:colId xmlns:a16="http://schemas.microsoft.com/office/drawing/2014/main" val="577469284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3574376187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3860005192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1627010829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1445113290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3722454093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3482551084"/>
                    </a:ext>
                  </a:extLst>
                </a:gridCol>
              </a:tblGrid>
              <a:tr h="593916"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ZS</a:t>
                      </a:r>
                    </a:p>
                  </a:txBody>
                  <a:tcPr marL="8988" marR="8988" marT="8988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Cible 0 – 59 mois </a:t>
                      </a:r>
                    </a:p>
                  </a:txBody>
                  <a:tcPr marL="8988" marR="8988" marT="8988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 0 – 11 mois</a:t>
                      </a:r>
                    </a:p>
                  </a:txBody>
                  <a:tcPr marL="8988" marR="8988" marT="8988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algn="ctr" rtl="0" fontAlgn="t" hangingPunct="1"/>
                      <a:endParaRPr lang="fr-FR" sz="1400" b="1" u="none" strike="noStrik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988" marR="8988" marT="8988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 12 – 59 mois</a:t>
                      </a:r>
                    </a:p>
                  </a:txBody>
                  <a:tcPr marL="8988" marR="8988" marT="8988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algn="ctr" rtl="0" fontAlgn="t" hangingPunct="1"/>
                      <a:endParaRPr lang="fr-FR" sz="1400" b="1" u="none" strike="noStrik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988" marR="8988" marT="8988" marB="0" anchor="ctr"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fr-FR" sz="16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Efts</a:t>
                      </a:r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Vaccinés</a:t>
                      </a:r>
                    </a:p>
                  </a:txBody>
                  <a:tcPr marL="8988" marR="8988" marT="8988" marB="0" vert="vert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CV Cible Pop </a:t>
                      </a:r>
                      <a:r>
                        <a:rPr lang="fr-FR" sz="16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</a:t>
                      </a:r>
                      <a:endParaRPr lang="fr-FR" sz="1600" b="1" u="none" strike="noStrik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988" marR="8988" marT="8988" marB="0" vert="vert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CV Cible Enf Vacc Décembre 2024</a:t>
                      </a:r>
                    </a:p>
                  </a:txBody>
                  <a:tcPr marL="8988" marR="8988" marT="8988" marB="0" vert="vert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algn="ctr" rtl="0" fontAlgn="t" hangingPunct="1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CV Enfants dénombrés</a:t>
                      </a:r>
                    </a:p>
                  </a:txBody>
                  <a:tcPr marL="8988" marR="8988" marT="8988" marB="0" vert="vert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121784"/>
                  </a:ext>
                </a:extLst>
              </a:tr>
              <a:tr h="60630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dose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dose plus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dose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dose plus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806861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AKETI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35109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6135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28467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28469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35111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102,6%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104,8%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065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50936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41992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41996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53008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104,1%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130,4%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60883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19713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15862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15862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19345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617729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BONDO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39343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31497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31497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39923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8050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51423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54744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106,5%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102,8%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88653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GANGA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32692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32597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740453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LIKATI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19551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15521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15521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19804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108,1%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174452"/>
                  </a:ext>
                </a:extLst>
              </a:tr>
              <a:tr h="376415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26010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32011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123,1%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105,3%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626664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31814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6103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6888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25464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25464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32352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87362"/>
                  </a:ext>
                </a:extLst>
              </a:tr>
              <a:tr h="319106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20559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4328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16058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16061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20389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102,3%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87222"/>
                  </a:ext>
                </a:extLst>
              </a:tr>
              <a:tr h="435522">
                <a:tc>
                  <a:txBody>
                    <a:bodyPr/>
                    <a:lstStyle/>
                    <a:p>
                      <a:pPr algn="ctr"/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VIADANA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28277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22622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22622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27952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462578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algn="ctr"/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35 5425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8205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65769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73974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293245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293262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367236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103,3%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106,1%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98,6%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544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97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CBBF683E-E1A9-075E-0189-0F4F301B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>
            <a:extLst>
              <a:ext uri="{FF2B5EF4-FFF2-40B4-BE49-F238E27FC236}">
                <a16:creationId xmlns:a16="http://schemas.microsoft.com/office/drawing/2014/main" id="{A438B368-D83D-E12F-0F99-C50C78125CED}"/>
              </a:ext>
            </a:extLst>
          </p:cNvPr>
          <p:cNvSpPr txBox="1"/>
          <p:nvPr/>
        </p:nvSpPr>
        <p:spPr>
          <a:xfrm>
            <a:off x="450400" y="2722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AVS Riposte Polio </a:t>
            </a: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Aout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>
            <a:extLst>
              <a:ext uri="{FF2B5EF4-FFF2-40B4-BE49-F238E27FC236}">
                <a16:creationId xmlns:a16="http://schemas.microsoft.com/office/drawing/2014/main" id="{B78E6FDC-0AB2-E59C-E147-DAC9CFD64E93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>
            <a:extLst>
              <a:ext uri="{FF2B5EF4-FFF2-40B4-BE49-F238E27FC236}">
                <a16:creationId xmlns:a16="http://schemas.microsoft.com/office/drawing/2014/main" id="{4295AC95-B036-3ED5-994C-E18217C69B6D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>
            <a:extLst>
              <a:ext uri="{FF2B5EF4-FFF2-40B4-BE49-F238E27FC236}">
                <a16:creationId xmlns:a16="http://schemas.microsoft.com/office/drawing/2014/main" id="{603349C2-4324-1FB0-23F7-AAEC3B6C1D3B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>
            <a:extLst>
              <a:ext uri="{FF2B5EF4-FFF2-40B4-BE49-F238E27FC236}">
                <a16:creationId xmlns:a16="http://schemas.microsoft.com/office/drawing/2014/main" id="{D974DD0E-5A08-71EC-3FEA-A61BD76D1CE2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99E52A78-B32D-07C0-41D2-CAC3AE49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4" y="1203535"/>
            <a:ext cx="11650466" cy="46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9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A2B50BCC-53A2-0BF5-7398-95C48B3C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>
            <a:extLst>
              <a:ext uri="{FF2B5EF4-FFF2-40B4-BE49-F238E27FC236}">
                <a16:creationId xmlns:a16="http://schemas.microsoft.com/office/drawing/2014/main" id="{904687F6-4E56-4251-3F61-78D32393C44F}"/>
              </a:ext>
            </a:extLst>
          </p:cNvPr>
          <p:cNvSpPr txBox="1"/>
          <p:nvPr/>
        </p:nvSpPr>
        <p:spPr>
          <a:xfrm>
            <a:off x="450400" y="2722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Couverture VAP jusqu’au mois d’octobre </a:t>
            </a:r>
            <a:r>
              <a:rPr lang="fr-FR" sz="34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2025 (%)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>
            <a:extLst>
              <a:ext uri="{FF2B5EF4-FFF2-40B4-BE49-F238E27FC236}">
                <a16:creationId xmlns:a16="http://schemas.microsoft.com/office/drawing/2014/main" id="{260B1AD8-5A35-E0AD-558A-DEB7104AEA94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>
            <a:extLst>
              <a:ext uri="{FF2B5EF4-FFF2-40B4-BE49-F238E27FC236}">
                <a16:creationId xmlns:a16="http://schemas.microsoft.com/office/drawing/2014/main" id="{8E926838-78AF-0D4F-4CDD-21BEC1FCD483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>
            <a:extLst>
              <a:ext uri="{FF2B5EF4-FFF2-40B4-BE49-F238E27FC236}">
                <a16:creationId xmlns:a16="http://schemas.microsoft.com/office/drawing/2014/main" id="{800B1674-BBF2-B28F-828D-835F0056659A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>
            <a:extLst>
              <a:ext uri="{FF2B5EF4-FFF2-40B4-BE49-F238E27FC236}">
                <a16:creationId xmlns:a16="http://schemas.microsoft.com/office/drawing/2014/main" id="{05320781-17BE-8A1E-F284-14D8D59CEAF9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4AE9F4A1-53AF-991C-D2C6-95974B3B8C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890909"/>
              </p:ext>
            </p:extLst>
          </p:nvPr>
        </p:nvGraphicFramePr>
        <p:xfrm>
          <a:off x="246600" y="1148581"/>
          <a:ext cx="11700000" cy="4650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5399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E6BD1280-86C2-426A-AEFC-6C58FDD0CC12}" type="slidenum">
              <a:rPr lang="fr-FR" sz="1600">
                <a:solidFill>
                  <a:prstClr val="black">
                    <a:tint val="75000"/>
                  </a:prstClr>
                </a:solidFill>
              </a:rPr>
              <a:pPr algn="ctr"/>
              <a:t>13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contenu 1"/>
          <p:cNvSpPr txBox="1">
            <a:spLocks/>
          </p:cNvSpPr>
          <p:nvPr/>
        </p:nvSpPr>
        <p:spPr>
          <a:xfrm>
            <a:off x="227348" y="1132228"/>
            <a:ext cx="11737304" cy="50901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Rupture de certains intrants au niveau de l’antenne,  approvisionnement non régulier de la part du niveau central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Non allocation à temps des ressources financières pour des activités de vaccination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Insuffisance des moyens financiers alloués par les partenaires pour le transport des vaccins et intrants de l’Antenne vers les ZS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Faible tenue des réunions de </a:t>
            </a:r>
            <a:r>
              <a:rPr lang="fr-FR" sz="28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CCPeV </a:t>
            </a:r>
            <a:r>
              <a:rPr lang="fr-FR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suite au conflit d’agenda de l’autorité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Google Shape;177;g3aabc9d920d_0_226">
            <a:extLst>
              <a:ext uri="{FF2B5EF4-FFF2-40B4-BE49-F238E27FC236}">
                <a16:creationId xmlns:a16="http://schemas.microsoft.com/office/drawing/2014/main" id="{98759F40-F30D-0248-97AD-C0FF3A3C90B3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76;g3aabc9d920d_0_226">
            <a:extLst>
              <a:ext uri="{FF2B5EF4-FFF2-40B4-BE49-F238E27FC236}">
                <a16:creationId xmlns:a16="http://schemas.microsoft.com/office/drawing/2014/main" id="{06190B75-E814-DF74-4319-27CBFBA05375}"/>
              </a:ext>
            </a:extLst>
          </p:cNvPr>
          <p:cNvSpPr txBox="1"/>
          <p:nvPr/>
        </p:nvSpPr>
        <p:spPr>
          <a:xfrm>
            <a:off x="450400" y="2722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alt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</a:rPr>
              <a:t>DIFFICULTES RENCONTREES</a:t>
            </a:r>
            <a:endParaRPr lang="fr-FR" sz="3400" b="1" dirty="0">
              <a:solidFill>
                <a:srgbClr val="1155CC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25326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E022-D81C-46F0-1533-9E2B03DC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D94312-B202-1D62-CD4D-D6B12129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E6BD1280-86C2-426A-AEFC-6C58FDD0CC12}" type="slidenum">
              <a:rPr lang="fr-FR" sz="1600">
                <a:solidFill>
                  <a:prstClr val="black">
                    <a:tint val="75000"/>
                  </a:prstClr>
                </a:solidFill>
              </a:rPr>
              <a:pPr algn="ctr"/>
              <a:t>14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Google Shape;177;g3aabc9d920d_0_226">
            <a:extLst>
              <a:ext uri="{FF2B5EF4-FFF2-40B4-BE49-F238E27FC236}">
                <a16:creationId xmlns:a16="http://schemas.microsoft.com/office/drawing/2014/main" id="{F7406071-D635-943D-5380-3812F3236A13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76;g3aabc9d920d_0_226">
            <a:extLst>
              <a:ext uri="{FF2B5EF4-FFF2-40B4-BE49-F238E27FC236}">
                <a16:creationId xmlns:a16="http://schemas.microsoft.com/office/drawing/2014/main" id="{7813EEFD-462C-47DD-D366-5DEA834A4196}"/>
              </a:ext>
            </a:extLst>
          </p:cNvPr>
          <p:cNvSpPr txBox="1"/>
          <p:nvPr/>
        </p:nvSpPr>
        <p:spPr>
          <a:xfrm>
            <a:off x="450400" y="272241"/>
            <a:ext cx="112749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alt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</a:rPr>
              <a:t>DIFFICULTES RENCONTREES</a:t>
            </a: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5" name="Espace réservé du contenu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822900"/>
              </p:ext>
            </p:extLst>
          </p:nvPr>
        </p:nvGraphicFramePr>
        <p:xfrm>
          <a:off x="191344" y="996239"/>
          <a:ext cx="11809312" cy="55240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8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9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846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COMPOSANTES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FORCES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FAIBLESSES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OPPORTUINITES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MENACES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31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Prestation de service</a:t>
                      </a:r>
                      <a:endParaRPr lang="fr-FR" sz="14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Toutes les 11 ZS vaccinent en fixe et avancée.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Faible planification de nombre minimum de séances requises pour certaines ZS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Faible réalisation de supervision de qualité à tous les niveaux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Faible rapportage des réunions de suivi fonctionnelle dans les ZS.</a:t>
                      </a:r>
                      <a:endParaRPr lang="fr-FR" sz="14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PTF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4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54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Approvisionnement en vaccins de qualité</a:t>
                      </a:r>
                      <a:endParaRPr lang="fr-FR" sz="1400" b="1" dirty="0">
                        <a:effectLst/>
                        <a:latin typeface="Calibri" panose="020F0502020204030204" pitchFamily="34" charset="0"/>
                        <a:ea typeface="Arial Unicode MS" panose="020B0604020202020204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Financement de transport des vaccins et autres intrants de l’Antenne-BCZ et BCZ-AS par l’UNICEF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Arial Unicode MS" panose="020B0604020202020204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Non allocation </a:t>
                      </a:r>
                      <a:r>
                        <a:rPr lang="fr-FR" sz="14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à temps de </a:t>
                      </a: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fonds </a:t>
                      </a:r>
                      <a:r>
                        <a:rPr lang="fr-FR" sz="14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lié </a:t>
                      </a: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au transport de vaccins par UNICEF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Insuffisance de moyens financiers </a:t>
                      </a:r>
                      <a:r>
                        <a:rPr lang="fr-FR" sz="14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 alloués </a:t>
                      </a: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au transport des intrants</a:t>
                      </a:r>
                      <a:endParaRPr lang="fr-FR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 Unicode MS" panose="020B0604020202020204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AVS Polio Aout 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Mauvais état des routes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/>
                          <a:cs typeface="Times New Roman" panose="02020603050405020304" pitchFamily="18" charset="0"/>
                        </a:rPr>
                        <a:t>Période pluvieuse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636049"/>
                  </a:ext>
                </a:extLst>
              </a:tr>
              <a:tr h="6002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Logistique</a:t>
                      </a:r>
                      <a:endParaRPr lang="fr-FR" sz="1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Solarisation de la chambre froide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 AS </a:t>
                      </a:r>
                      <a:r>
                        <a:rPr lang="fr-FR" sz="14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sans </a:t>
                      </a:r>
                      <a:r>
                        <a:rPr lang="fr-FR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MCF </a:t>
                      </a:r>
                      <a:endParaRPr lang="fr-FR" sz="1400" b="1" baseline="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4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 MCF en</a:t>
                      </a:r>
                      <a:r>
                        <a:rPr lang="fr-FR" sz="1400" b="1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pannes </a:t>
                      </a:r>
                      <a:endParaRPr lang="fr-FR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10293"/>
                  </a:ext>
                </a:extLst>
              </a:tr>
              <a:tr h="14248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 Epidémiologique</a:t>
                      </a:r>
                      <a:endParaRPr lang="fr-FR" sz="1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Aucune ZS n’est restée silencieuse quant à la notification de cas PFA.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Intégration </a:t>
                      </a:r>
                      <a:r>
                        <a:rPr lang="fr-FR" sz="14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eSurv</a:t>
                      </a:r>
                      <a:r>
                        <a:rPr lang="fr-FR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Companion dans la DPS BUE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Longue durée de délai de transmission des échantillons vers l’INRB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Retard dans la réception de </a:t>
                      </a:r>
                      <a:r>
                        <a:rPr lang="fr-FR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résultats du </a:t>
                      </a: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Laboratoire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supervision de sites avec </a:t>
                      </a:r>
                      <a:r>
                        <a:rPr lang="fr-FR" sz="14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e-Surv</a:t>
                      </a: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4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companio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Consultant OMS, </a:t>
                      </a:r>
                    </a:p>
                    <a:p>
                      <a:pPr marL="177800" marR="0" lvl="0" indent="-17780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AVS Polio</a:t>
                      </a:r>
                      <a:endParaRPr lang="fr-FR" sz="14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49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71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40C6-3C3C-452E-DBBB-1EC96B2C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B6455A-3686-29D4-C104-09D9EAF5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E6BD1280-86C2-426A-AEFC-6C58FDD0CC12}" type="slidenum">
              <a:rPr lang="fr-FR" sz="1600">
                <a:solidFill>
                  <a:prstClr val="black">
                    <a:tint val="75000"/>
                  </a:prstClr>
                </a:solidFill>
              </a:rPr>
              <a:pPr algn="ctr"/>
              <a:t>15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Google Shape;177;g3aabc9d920d_0_226">
            <a:extLst>
              <a:ext uri="{FF2B5EF4-FFF2-40B4-BE49-F238E27FC236}">
                <a16:creationId xmlns:a16="http://schemas.microsoft.com/office/drawing/2014/main" id="{D6F016C8-978D-A9F8-43D3-FF0D4E5CC159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76;g3aabc9d920d_0_226">
            <a:extLst>
              <a:ext uri="{FF2B5EF4-FFF2-40B4-BE49-F238E27FC236}">
                <a16:creationId xmlns:a16="http://schemas.microsoft.com/office/drawing/2014/main" id="{AD1A0175-7E15-F8BE-72E4-CDA49B3EFD65}"/>
              </a:ext>
            </a:extLst>
          </p:cNvPr>
          <p:cNvSpPr txBox="1"/>
          <p:nvPr/>
        </p:nvSpPr>
        <p:spPr>
          <a:xfrm>
            <a:off x="450400" y="272241"/>
            <a:ext cx="112749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alt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</a:rPr>
              <a:t>DIFFICULTES RENCONTREES</a:t>
            </a: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5" name="Espace réservé du contenu 3">
            <a:extLst>
              <a:ext uri="{FF2B5EF4-FFF2-40B4-BE49-F238E27FC236}">
                <a16:creationId xmlns:a16="http://schemas.microsoft.com/office/drawing/2014/main" id="{DC379E9F-3D64-F48E-D3FD-07EF77C0CE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239862"/>
              </p:ext>
            </p:extLst>
          </p:nvPr>
        </p:nvGraphicFramePr>
        <p:xfrm>
          <a:off x="191344" y="996239"/>
          <a:ext cx="11809312" cy="1923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8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9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846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COMPOSANTES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FORCES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FAIBLESSES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OPPORTUINITES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MENACES</a:t>
                      </a:r>
                    </a:p>
                  </a:txBody>
                  <a:tcPr marT="45723" marB="45723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31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Présence de la Task </a:t>
                      </a:r>
                      <a:r>
                        <a:rPr lang="fr-FR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</a:t>
                      </a: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communication au niveau de la DPS;</a:t>
                      </a:r>
                      <a:endParaRPr lang="fr-FR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supervision des activités de communication par les membres des ECZ dans les AS</a:t>
                      </a:r>
                      <a:endParaRPr lang="fr-FR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Présence de radios communautaires dans la province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RAS</a:t>
                      </a:r>
                      <a:endParaRPr lang="fr-FR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929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EA7C-F65D-E6BD-A663-0B7EF9E9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B04D2-F97E-383B-2FA2-5B346102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E6BD1280-86C2-426A-AEFC-6C58FDD0CC12}" type="slidenum">
              <a:rPr lang="fr-FR" sz="1600">
                <a:solidFill>
                  <a:prstClr val="black">
                    <a:tint val="75000"/>
                  </a:prstClr>
                </a:solidFill>
              </a:rPr>
              <a:pPr algn="ctr"/>
              <a:t>16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Google Shape;177;g3aabc9d920d_0_226">
            <a:extLst>
              <a:ext uri="{FF2B5EF4-FFF2-40B4-BE49-F238E27FC236}">
                <a16:creationId xmlns:a16="http://schemas.microsoft.com/office/drawing/2014/main" id="{0941E8F1-050E-7EB6-1CCB-31FF2E484A3B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76;g3aabc9d920d_0_226">
            <a:extLst>
              <a:ext uri="{FF2B5EF4-FFF2-40B4-BE49-F238E27FC236}">
                <a16:creationId xmlns:a16="http://schemas.microsoft.com/office/drawing/2014/main" id="{72C08C2B-BCB4-7D9A-53E2-3EECF165F7B9}"/>
              </a:ext>
            </a:extLst>
          </p:cNvPr>
          <p:cNvSpPr txBox="1"/>
          <p:nvPr/>
        </p:nvSpPr>
        <p:spPr>
          <a:xfrm>
            <a:off x="450400" y="272241"/>
            <a:ext cx="112749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fr-FR" altLang="fr-FR" sz="3400" b="1" dirty="0">
                <a:solidFill>
                  <a:srgbClr val="1155CC"/>
                </a:solidFill>
                <a:latin typeface="Times New Roman" panose="02020603050405020304"/>
                <a:cs typeface="Times New Roman" panose="02020603050405020304"/>
              </a:rPr>
              <a:t>Perspectives/Défis</a:t>
            </a:r>
            <a:endParaRPr lang="fr-FR" sz="3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3F5C9D1-BA41-8A90-4BC1-DBBCFE8ECDE2}"/>
              </a:ext>
            </a:extLst>
          </p:cNvPr>
          <p:cNvSpPr txBox="1">
            <a:spLocks/>
          </p:cNvSpPr>
          <p:nvPr/>
        </p:nvSpPr>
        <p:spPr>
          <a:xfrm>
            <a:off x="450400" y="1783080"/>
            <a:ext cx="11274900" cy="4215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fr-FR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Suivi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l’analyse mensuelle des données PEV de routine à tous les niveaux(AS, ZS et Antenne)</a:t>
            </a:r>
          </a:p>
          <a:p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en place des activités de grands rattrapages (Big catch up</a:t>
            </a:r>
            <a:r>
              <a:rPr lang="fr-FR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et des IPVS </a:t>
            </a: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Suivi post </a:t>
            </a:r>
            <a:r>
              <a:rPr lang="fr-FR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de VAP et RR</a:t>
            </a: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Suivi de l’intégration de 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E-Surv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Companion </a:t>
            </a:r>
          </a:p>
          <a:p>
            <a:pPr marL="0" indent="0">
              <a:buFont typeface="Arial" panose="020B0604020202020204"/>
              <a:buNone/>
            </a:pP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64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DB5CCC7-9070-38DC-5428-474F8CB22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51146"/>
              </p:ext>
            </p:extLst>
          </p:nvPr>
        </p:nvGraphicFramePr>
        <p:xfrm>
          <a:off x="0" y="877709"/>
          <a:ext cx="11953327" cy="55502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20598">
                  <a:extLst>
                    <a:ext uri="{9D8B030D-6E8A-4147-A177-3AD203B41FA5}">
                      <a16:colId xmlns:a16="http://schemas.microsoft.com/office/drawing/2014/main" val="3628086451"/>
                    </a:ext>
                  </a:extLst>
                </a:gridCol>
                <a:gridCol w="3126212">
                  <a:extLst>
                    <a:ext uri="{9D8B030D-6E8A-4147-A177-3AD203B41FA5}">
                      <a16:colId xmlns:a16="http://schemas.microsoft.com/office/drawing/2014/main" val="399254843"/>
                    </a:ext>
                  </a:extLst>
                </a:gridCol>
                <a:gridCol w="4148253">
                  <a:extLst>
                    <a:ext uri="{9D8B030D-6E8A-4147-A177-3AD203B41FA5}">
                      <a16:colId xmlns:a16="http://schemas.microsoft.com/office/drawing/2014/main" val="900689422"/>
                    </a:ext>
                  </a:extLst>
                </a:gridCol>
                <a:gridCol w="1547575">
                  <a:extLst>
                    <a:ext uri="{9D8B030D-6E8A-4147-A177-3AD203B41FA5}">
                      <a16:colId xmlns:a16="http://schemas.microsoft.com/office/drawing/2014/main" val="3001653140"/>
                    </a:ext>
                  </a:extLst>
                </a:gridCol>
                <a:gridCol w="1151936">
                  <a:extLst>
                    <a:ext uri="{9D8B030D-6E8A-4147-A177-3AD203B41FA5}">
                      <a16:colId xmlns:a16="http://schemas.microsoft.com/office/drawing/2014/main" val="2918405065"/>
                    </a:ext>
                  </a:extLst>
                </a:gridCol>
                <a:gridCol w="1358753">
                  <a:extLst>
                    <a:ext uri="{9D8B030D-6E8A-4147-A177-3AD203B41FA5}">
                      <a16:colId xmlns:a16="http://schemas.microsoft.com/office/drawing/2014/main" val="3098559694"/>
                    </a:ext>
                  </a:extLst>
                </a:gridCol>
              </a:tblGrid>
              <a:tr h="759075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Problèmes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Récommandations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Chargé d’exécution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Chargé de suivi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Echéance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92249"/>
                  </a:ext>
                </a:extLst>
              </a:tr>
              <a:tr h="1064288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Approvisionnement non régulier des vaccins et intrants de la part du niveau central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Approvisionner régulièrement l’antenne en vaccins et intrants selon la fréquence trimestrielle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CD Logistique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Directeur PEV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Permanant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158842"/>
                  </a:ext>
                </a:extLst>
              </a:tr>
              <a:tr h="1278526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financement des activités de vaccination dans la Province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Rappeler le Gouverneur de la Province les engagements pris en faveur de la vaccination (1$ par enfant cible du PEV par an) afin de combler le gap des ressources mobilisées par le Partenaire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MINISTRE SPHPS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Immédiat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3533"/>
                  </a:ext>
                </a:extLst>
              </a:tr>
              <a:tr h="901381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Existence de nombreux enfants zéro dose et sous vaccinés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Faire un plaidoyer auprès de PTF pour l’organisation des IPVS et de Big Catch-up dans la DPS Bas-Uélé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Directeur PEV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SG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 2026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454844"/>
                  </a:ext>
                </a:extLst>
              </a:tr>
              <a:tr h="804309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tenue de réunion de 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CCPeV </a:t>
                      </a: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suite à l’agenda 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chargé </a:t>
                      </a: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 l’Autorité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Tenir régulièrement les réunions 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CCPeV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Ministre  </a:t>
                      </a:r>
                      <a:r>
                        <a:rPr lang="fr-FR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SPHPS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Permanente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129881"/>
                  </a:ext>
                </a:extLst>
              </a:tr>
              <a:tr h="742679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supervision de la DPS vers les ZS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Mettre à la disposition de l’antenne  de fonds  sécurisé pour un </a:t>
                      </a:r>
                      <a:r>
                        <a:rPr lang="fr-FR" sz="140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accompagnement régulier 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 ZS/ AS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Directeur PEV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SG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 </a:t>
                      </a:r>
                      <a:r>
                        <a:rPr lang="fr-FR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205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50F591-8DF9-C851-0210-F8080430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1280-86C2-426A-AEFC-6C58FDD0CC12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ADA12A-C54B-0D93-C6FB-649D74CB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916832"/>
            <a:ext cx="4069640" cy="1356547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06C5AA47-00F4-9285-FC4A-7E3559E31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79316"/>
            <a:ext cx="990600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buClr>
                <a:schemeClr val="tx1"/>
              </a:buClr>
              <a:buSzPct val="7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buClr>
                <a:schemeClr val="tx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buClr>
                <a:schemeClr val="tx1"/>
              </a:buClr>
              <a:buSzPct val="9000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fr-BE" altLang="fr-FR" sz="4000" b="1" dirty="0">
                <a:solidFill>
                  <a:srgbClr val="2F4D8E"/>
                </a:solidFill>
              </a:rPr>
              <a:t>Merci pour votre attention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E7BC93A-78BC-15F7-73E1-65E759A0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6729"/>
            <a:ext cx="12000656" cy="576114"/>
          </a:xfr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A1CB181-8F3A-D204-574E-660AFAB62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5" t="13855" r="49208" b="11581"/>
          <a:stretch/>
        </p:blipFill>
        <p:spPr>
          <a:xfrm>
            <a:off x="5648256" y="4273079"/>
            <a:ext cx="895488" cy="1343232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9D56C6EC-15A8-8010-FABF-AEB65CC66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50" y="5401100"/>
            <a:ext cx="990600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buClr>
                <a:schemeClr val="tx1"/>
              </a:buClr>
              <a:buSzPct val="7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buClr>
                <a:schemeClr val="tx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buClr>
                <a:schemeClr val="tx1"/>
              </a:buClr>
              <a:buSzPct val="9000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fr-BE" altLang="fr-FR" sz="2800" b="1" dirty="0">
                <a:solidFill>
                  <a:srgbClr val="2F4D8E"/>
                </a:solidFill>
                <a:latin typeface="Arial Narrow" panose="020B0606020202030204" pitchFamily="34" charset="0"/>
              </a:rPr>
              <a:t>La vaccination sauve des vies</a:t>
            </a:r>
          </a:p>
        </p:txBody>
      </p:sp>
    </p:spTree>
    <p:extLst>
      <p:ext uri="{BB962C8B-B14F-4D97-AF65-F5344CB8AC3E}">
        <p14:creationId xmlns:p14="http://schemas.microsoft.com/office/powerpoint/2010/main" val="40651884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5668</TotalTime>
  <Words>1528</Words>
  <Application>Microsoft Office PowerPoint</Application>
  <PresentationFormat>Grand écran</PresentationFormat>
  <Paragraphs>626</Paragraphs>
  <Slides>18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9" baseType="lpstr">
      <vt:lpstr>Cambria Math</vt:lpstr>
      <vt:lpstr>Play</vt:lpstr>
      <vt:lpstr>Times New Roman</vt:lpstr>
      <vt:lpstr>Source Serif Pro</vt:lpstr>
      <vt:lpstr>Arial</vt:lpstr>
      <vt:lpstr>Arial Unicode MS</vt:lpstr>
      <vt:lpstr>Calibri</vt:lpstr>
      <vt:lpstr>ＭＳ Ｐゴシック</vt:lpstr>
      <vt:lpstr>Arial Narrow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Moise Gimiko</dc:creator>
  <cp:lastModifiedBy>hp</cp:lastModifiedBy>
  <cp:revision>23</cp:revision>
  <dcterms:created xsi:type="dcterms:W3CDTF">2025-11-28T20:10:05Z</dcterms:created>
  <dcterms:modified xsi:type="dcterms:W3CDTF">2025-12-15T22:19:45Z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