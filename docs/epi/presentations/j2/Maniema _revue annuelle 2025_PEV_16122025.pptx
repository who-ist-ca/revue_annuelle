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5" r:id="rId3"/>
    <p:sldMasterId id="2147483693" r:id="rId4"/>
    <p:sldMasterId id="2147483711" r:id="rId5"/>
    <p:sldMasterId id="2147483724" r:id="rId6"/>
  </p:sldMasterIdLst>
  <p:notesMasterIdLst>
    <p:notesMasterId r:id="rId32"/>
  </p:notesMasterIdLst>
  <p:sldIdLst>
    <p:sldId id="256" r:id="rId7"/>
    <p:sldId id="257" r:id="rId8"/>
    <p:sldId id="561" r:id="rId9"/>
    <p:sldId id="562" r:id="rId10"/>
    <p:sldId id="569" r:id="rId11"/>
    <p:sldId id="570" r:id="rId12"/>
    <p:sldId id="261" r:id="rId13"/>
    <p:sldId id="567" r:id="rId14"/>
    <p:sldId id="16774975" r:id="rId15"/>
    <p:sldId id="16774973" r:id="rId16"/>
    <p:sldId id="16774974" r:id="rId17"/>
    <p:sldId id="16774971" r:id="rId18"/>
    <p:sldId id="16774972" r:id="rId19"/>
    <p:sldId id="16774976" r:id="rId20"/>
    <p:sldId id="16774977" r:id="rId21"/>
    <p:sldId id="16766018" r:id="rId22"/>
    <p:sldId id="266" r:id="rId23"/>
    <p:sldId id="16766019" r:id="rId24"/>
    <p:sldId id="267" r:id="rId25"/>
    <p:sldId id="565" r:id="rId26"/>
    <p:sldId id="16765969" r:id="rId27"/>
    <p:sldId id="16765974" r:id="rId28"/>
    <p:sldId id="16766016" r:id="rId29"/>
    <p:sldId id="268" r:id="rId30"/>
    <p:sldId id="269" r:id="rId31"/>
  </p:sldIdLst>
  <p:sldSz cx="12192000" cy="6858000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Franklin Gothic Book" panose="020B0503020102020204" pitchFamily="34" charset="0"/>
      <p:regular r:id="rId37"/>
      <p:italic r:id="rId38"/>
    </p:embeddedFont>
    <p:embeddedFont>
      <p:font typeface="Play" panose="020B0604020202020204" charset="0"/>
      <p:regular r:id="rId39"/>
    </p:embeddedFont>
    <p:embeddedFont>
      <p:font typeface="Source Serif Pro" panose="02040603050405020204" pitchFamily="18" charset="0"/>
      <p:regular r:id="rId40"/>
      <p:bold r:id="rId41"/>
      <p:italic r:id="rId42"/>
      <p:boldItalic r:id="rId43"/>
    </p:embeddedFont>
    <p:embeddedFont>
      <p:font typeface="Wingdings 3" panose="05040102010807070707" pitchFamily="18" charset="2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7.fntdata"/><Relationship Id="rId21" Type="http://schemas.openxmlformats.org/officeDocument/2006/relationships/slide" Target="slides/slide15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4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15-4088-BD7E-2D00B6EC8B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15-4088-BD7E-2D00B6EC8B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15-4088-BD7E-2D00B6EC8BA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15-4088-BD7E-2D00B6EC8BA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915-4088-BD7E-2D00B6EC8BA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915-4088-BD7E-2D00B6EC8BA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915-4088-BD7E-2D00B6EC8BA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915-4088-BD7E-2D00B6EC8BA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915-4088-BD7E-2D00B6EC8BA7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915-4088-BD7E-2D00B6EC8BA7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915-4088-BD7E-2D00B6EC8BA7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3915-4088-BD7E-2D00B6EC8BA7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3915-4088-BD7E-2D00B6EC8BA7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3915-4088-BD7E-2D00B6EC8BA7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3915-4088-BD7E-2D00B6EC8BA7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3915-4088-BD7E-2D00B6EC8BA7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3915-4088-BD7E-2D00B6EC8B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fr-FR"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'Raisons de non vaccination'!$B$2:$B$18</c:f>
              <c:strCache>
                <c:ptCount val="17"/>
                <c:pt idx="0">
                  <c:v>Négligence</c:v>
                </c:pt>
                <c:pt idx="1">
                  <c:v>Ignorance</c:v>
                </c:pt>
                <c:pt idx="2">
                  <c:v>Peur des effets secondaires</c:v>
                </c:pt>
                <c:pt idx="3">
                  <c:v>Mère occupée</c:v>
                </c:pt>
                <c:pt idx="4">
                  <c:v>Pas moi qui décide</c:v>
                </c:pt>
                <c:pt idx="5">
                  <c:v>Peur des vaccins</c:v>
                </c:pt>
                <c:pt idx="6">
                  <c:v>Croyances relifgieuses</c:v>
                </c:pt>
                <c:pt idx="7">
                  <c:v>Enfant absent</c:v>
                </c:pt>
                <c:pt idx="8">
                  <c:v>Fréquentation d'une structure qui ne vaccine pas</c:v>
                </c:pt>
                <c:pt idx="9">
                  <c:v>Mauvaise organisation de service</c:v>
                </c:pt>
                <c:pt idx="10">
                  <c:v>Carte payante</c:v>
                </c:pt>
                <c:pt idx="11">
                  <c:v>Refus de la moustiquaire</c:v>
                </c:pt>
                <c:pt idx="12">
                  <c:v>Site de vaccination éloigné</c:v>
                </c:pt>
                <c:pt idx="13">
                  <c:v>Enfant malade</c:v>
                </c:pt>
                <c:pt idx="14">
                  <c:v>Parent non informé</c:v>
                </c:pt>
                <c:pt idx="15">
                  <c:v>Plusieurs vaccination</c:v>
                </c:pt>
                <c:pt idx="16">
                  <c:v>Refus de réponse</c:v>
                </c:pt>
              </c:strCache>
            </c:strRef>
          </c:cat>
          <c:val>
            <c:numRef>
              <c:f>'Raisons de non vaccination'!$C$2:$C$18</c:f>
              <c:numCache>
                <c:formatCode>0%</c:formatCode>
                <c:ptCount val="17"/>
                <c:pt idx="0">
                  <c:v>0.26373626373626402</c:v>
                </c:pt>
                <c:pt idx="1">
                  <c:v>0.14285714285714299</c:v>
                </c:pt>
                <c:pt idx="2">
                  <c:v>0.120879120879121</c:v>
                </c:pt>
                <c:pt idx="3">
                  <c:v>0.10989010989011</c:v>
                </c:pt>
                <c:pt idx="4">
                  <c:v>6.5934065934065894E-2</c:v>
                </c:pt>
                <c:pt idx="5">
                  <c:v>6.5934065934065894E-2</c:v>
                </c:pt>
                <c:pt idx="6">
                  <c:v>4.3956043956044001E-2</c:v>
                </c:pt>
                <c:pt idx="7">
                  <c:v>4.3956043956044001E-2</c:v>
                </c:pt>
                <c:pt idx="8">
                  <c:v>3.2967032967033003E-2</c:v>
                </c:pt>
                <c:pt idx="9">
                  <c:v>3.2967032967033003E-2</c:v>
                </c:pt>
                <c:pt idx="10">
                  <c:v>1.0989010989011E-2</c:v>
                </c:pt>
                <c:pt idx="11">
                  <c:v>1.0989010989011E-2</c:v>
                </c:pt>
                <c:pt idx="12">
                  <c:v>1.0989010989011E-2</c:v>
                </c:pt>
                <c:pt idx="13">
                  <c:v>1.0989010989011E-2</c:v>
                </c:pt>
                <c:pt idx="14">
                  <c:v>1.0989010989011E-2</c:v>
                </c:pt>
                <c:pt idx="15">
                  <c:v>1.0989010989011E-2</c:v>
                </c:pt>
                <c:pt idx="16">
                  <c:v>1.0989010989011E-2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3915-4088-BD7E-2D00B6EC8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314715275673002"/>
          <c:y val="2.1730123056077501E-2"/>
          <c:w val="0.39787420131006801"/>
          <c:h val="0.97812226425912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622113f-26a5-407f-b59b-0da4538d3c7d}"/>
      </c:ext>
    </c:extLst>
  </c:chart>
  <c:spPr>
    <a:noFill/>
    <a:ln>
      <a:noFill/>
    </a:ln>
    <a:effectLst/>
  </c:spPr>
  <c:txPr>
    <a:bodyPr/>
    <a:lstStyle/>
    <a:p>
      <a:pPr>
        <a:defRPr lang="fr-FR"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[ipvs.xlsx]Feuille2!$D$2</c:f>
              <c:strCache>
                <c:ptCount val="1"/>
                <c:pt idx="0">
                  <c:v>CV VAP1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fr-FR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[ipvs.xlsx]Feuille2!$C$3:$C$21</c:f>
              <c:strCache>
                <c:ptCount val="19"/>
                <c:pt idx="0">
                  <c:v>Kabambare</c:v>
                </c:pt>
                <c:pt idx="1">
                  <c:v>Kampene</c:v>
                </c:pt>
                <c:pt idx="2">
                  <c:v>Kasongo</c:v>
                </c:pt>
                <c:pt idx="3">
                  <c:v>Kibombo</c:v>
                </c:pt>
                <c:pt idx="4">
                  <c:v>Kunda</c:v>
                </c:pt>
                <c:pt idx="5">
                  <c:v>Lusangi</c:v>
                </c:pt>
                <c:pt idx="6">
                  <c:v>Samba</c:v>
                </c:pt>
                <c:pt idx="7">
                  <c:v>Saramabila</c:v>
                </c:pt>
                <c:pt idx="8">
                  <c:v>Tunda</c:v>
                </c:pt>
                <c:pt idx="9">
                  <c:v>Alunguli</c:v>
                </c:pt>
                <c:pt idx="10">
                  <c:v>Ferekeni</c:v>
                </c:pt>
                <c:pt idx="11">
                  <c:v>Kailo</c:v>
                </c:pt>
                <c:pt idx="12">
                  <c:v>Kalima</c:v>
                </c:pt>
                <c:pt idx="13">
                  <c:v>Kindu</c:v>
                </c:pt>
                <c:pt idx="14">
                  <c:v>Lubutu</c:v>
                </c:pt>
                <c:pt idx="15">
                  <c:v>Obokote</c:v>
                </c:pt>
                <c:pt idx="16">
                  <c:v>Pangi</c:v>
                </c:pt>
                <c:pt idx="17">
                  <c:v>Punia</c:v>
                </c:pt>
                <c:pt idx="18">
                  <c:v>Province Maniema</c:v>
                </c:pt>
              </c:strCache>
            </c:strRef>
          </c:cat>
          <c:val>
            <c:numRef>
              <c:f>[ipvs.xlsx]Feuille2!$D$3:$D$21</c:f>
              <c:numCache>
                <c:formatCode>0%</c:formatCode>
                <c:ptCount val="19"/>
                <c:pt idx="0">
                  <c:v>0.52121027824235999</c:v>
                </c:pt>
                <c:pt idx="1">
                  <c:v>0.75668228162028095</c:v>
                </c:pt>
                <c:pt idx="2">
                  <c:v>0.72</c:v>
                </c:pt>
                <c:pt idx="3">
                  <c:v>0.852173913043478</c:v>
                </c:pt>
                <c:pt idx="4">
                  <c:v>0.85916648028032505</c:v>
                </c:pt>
                <c:pt idx="5">
                  <c:v>0.69616368286444996</c:v>
                </c:pt>
                <c:pt idx="6">
                  <c:v>0.88</c:v>
                </c:pt>
                <c:pt idx="7">
                  <c:v>0.48750902527075801</c:v>
                </c:pt>
                <c:pt idx="8">
                  <c:v>0.78</c:v>
                </c:pt>
                <c:pt idx="9">
                  <c:v>0.70967741935483897</c:v>
                </c:pt>
                <c:pt idx="10">
                  <c:v>0.480761602538675</c:v>
                </c:pt>
                <c:pt idx="11">
                  <c:v>0.88895104895104904</c:v>
                </c:pt>
                <c:pt idx="12">
                  <c:v>0.66575881373884105</c:v>
                </c:pt>
                <c:pt idx="13">
                  <c:v>0.71214028022485099</c:v>
                </c:pt>
                <c:pt idx="14">
                  <c:v>0.97127937336814596</c:v>
                </c:pt>
                <c:pt idx="15">
                  <c:v>0.82817381425731296</c:v>
                </c:pt>
                <c:pt idx="16">
                  <c:v>0.98465829846582997</c:v>
                </c:pt>
                <c:pt idx="17">
                  <c:v>0.83637691745799903</c:v>
                </c:pt>
                <c:pt idx="18">
                  <c:v>0.78373376404872497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A6-40AE-8417-7A1A59584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98355881"/>
        <c:axId val="930345706"/>
      </c:barChart>
      <c:catAx>
        <c:axId val="59835588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30345706"/>
        <c:crosses val="autoZero"/>
        <c:auto val="1"/>
        <c:lblAlgn val="ctr"/>
        <c:lblOffset val="100"/>
        <c:noMultiLvlLbl val="0"/>
      </c:catAx>
      <c:valAx>
        <c:axId val="93034570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835588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fr-FR" sz="2000"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37A47-2A31-4CEA-8471-4B3FF97133E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4DC921CC-04D4-563B-87E4-A1C8A9DF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>
            <a:extLst>
              <a:ext uri="{FF2B5EF4-FFF2-40B4-BE49-F238E27FC236}">
                <a16:creationId xmlns:a16="http://schemas.microsoft.com/office/drawing/2014/main" id="{AE1B767C-6AC4-92DF-AED8-55AADDD44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3" name="Google Shape;243;g3aabc9d920d_0_428:notes">
            <a:extLst>
              <a:ext uri="{FF2B5EF4-FFF2-40B4-BE49-F238E27FC236}">
                <a16:creationId xmlns:a16="http://schemas.microsoft.com/office/drawing/2014/main" id="{6F67419A-E4DF-1706-F51C-60FD61A0A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466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bc9d920d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3" name="Google Shape;253;g3aabc9d920d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0ED2E-9A61-4DA4-9DE0-6B07709FE107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826D-46B9-4577-8767-0C8874C57B5A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C9F9C-3F1B-426B-A144-2125443BB9A9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E92A-7CC3-40A0-B33D-455E25C6C605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B8A4-A89C-4849-807E-7FA5AA980D88}" type="datetime1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F6E3-C3B8-4081-8762-720A85ACBEB5}" type="datetime1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0AC8-D685-406B-B961-E95010CE1D14}" type="datetime1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2086-FB97-4F2A-952D-4BC60B1F79A8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852E-7F2D-4F9C-BF2E-2149B05E9940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3978E-99E6-4CC3-BB53-E777117AD26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DB2A-4005-4768-AF68-C13184F77FA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DD53-95FA-4718-90CB-C2C49ACC125E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BC7E-9FA1-4CE0-9260-D5F7A7B61F4D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389B-E7A3-4098-A676-72674F02976F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03BB-FE4C-44ED-9D34-3269E7A8EDC4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EFD6-534D-4BBA-A356-0176B209997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9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3813" y="1"/>
            <a:ext cx="12215813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0A8C52-9F48-4F56-B7F6-40015D4D6335}" type="slidenum">
              <a:rPr lang="fr-FR" altLang="fr-FR"/>
              <a:t>‹N°›</a:t>
            </a:fld>
            <a:endParaRPr lang="fr-FR" alt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0ED2E-9A61-4DA4-9DE0-6B07709FE107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081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826D-46B9-4577-8767-0C8874C57B5A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2623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C9F9C-3F1B-426B-A144-2125443BB9A9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671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E92A-7CC3-40A0-B33D-455E25C6C605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290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B8A4-A89C-4849-807E-7FA5AA980D88}" type="datetime1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302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F6E3-C3B8-4081-8762-720A85ACBEB5}" type="datetime1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619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0AC8-D685-406B-B961-E95010CE1D14}" type="datetime1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701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D2086-FB97-4F2A-952D-4BC60B1F79A8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992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852E-7F2D-4F9C-BF2E-2149B05E9940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019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3978E-99E6-4CC3-BB53-E777117AD26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344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DB2A-4005-4768-AF68-C13184F77FA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459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DD53-95FA-4718-90CB-C2C49ACC125E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64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BC7E-9FA1-4CE0-9260-D5F7A7B61F4D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3097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389B-E7A3-4098-A676-72674F02976F}" type="datetime1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037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03BB-FE4C-44ED-9D34-3269E7A8EDC4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430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EFD6-534D-4BBA-A356-0176B209997B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908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9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3813" y="1"/>
            <a:ext cx="12215813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0A8C52-9F48-4F56-B7F6-40015D4D6335}" type="slidenum">
              <a:rPr lang="fr-FR" altLang="fr-FR"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72897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56062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577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9267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334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06717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8374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00647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3245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935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9300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8713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1293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639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167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929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0057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3357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54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201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718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833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605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203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2B76-F560-42E2-8FA6-4A19089CE311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2B76-F560-42E2-8FA6-4A19089CE311}" type="datetime1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/>
              <a:t>Approches sélective ou globale, verticale ou intégrée - Groupe 4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E7D88A-0A00-4DD6-BEE2-4EF1457D88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16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E977C-90AE-4D55-BC26-903E7398BC6A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AEB96-DC54-494D-BD4F-6CD05F9719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54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AE95C-0969-4016-9E63-FCDF866C3C67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3F85F-EF3A-4EFA-979B-8C80EA0018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01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2"/>
            <a:ext cx="7894800" cy="383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MANIEMA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16/12/ 2025</a:t>
            </a:r>
            <a:endParaRPr sz="28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2857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b="1" dirty="0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 de </a:t>
            </a:r>
            <a:r>
              <a:rPr lang="en-US" sz="3600" b="1" dirty="0" err="1">
                <a:solidFill>
                  <a:srgbClr val="1155CC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endParaRPr sz="3600" b="0" i="0" u="none" strike="noStrike" cap="none" dirty="0">
              <a:solidFill>
                <a:srgbClr val="1155CC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305100" y="1092940"/>
            <a:ext cx="11573731" cy="5486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(IPVS, FAE )</a:t>
            </a: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monitorage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monitorage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post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IPVS:Bonne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pratique </a:t>
            </a: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introduction VAP</a:t>
            </a:r>
          </a:p>
          <a:p>
            <a:pPr marL="609600" indent="-476250">
              <a:spcBef>
                <a:spcPts val="1300"/>
              </a:spcBef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</a:t>
            </a: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Leçons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apprises</a:t>
            </a:r>
          </a:p>
          <a:p>
            <a:pPr marL="609600" indent="-476250">
              <a:spcBef>
                <a:spcPts val="1300"/>
              </a:spcBef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91440" tIns="45720" rIns="91440" bIns="45720" numCol="1" rtlCol="0" anchor="ctr" anchorCtr="0" compatLnSpc="1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063727-D63E-4DF6-8444-4011C74F9B3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474934"/>
              </p:ext>
            </p:extLst>
          </p:nvPr>
        </p:nvGraphicFramePr>
        <p:xfrm>
          <a:off x="223284" y="599659"/>
          <a:ext cx="6338111" cy="6264219"/>
        </p:xfrm>
        <a:graphic>
          <a:graphicData uri="http://schemas.openxmlformats.org/drawingml/2006/table">
            <a:tbl>
              <a:tblPr/>
              <a:tblGrid>
                <a:gridCol w="172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8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Antennes</a:t>
                      </a: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Kasongo (9ZS) </a:t>
                      </a:r>
                    </a:p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Kindu (5ZS)</a:t>
                      </a:r>
                    </a:p>
                    <a:p>
                      <a:pPr algn="l" fontAlgn="ctr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Lubutu (4ZS)</a:t>
                      </a: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9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Zones de santé</a:t>
                      </a: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18 BCZS et </a:t>
                      </a:r>
                      <a:r>
                        <a:rPr lang="fr-BE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282 CS</a:t>
                      </a: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algn="l" fontAlgn="t"/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PEV</a:t>
                      </a:r>
                    </a:p>
                  </a:txBody>
                  <a:tcPr marL="9527" marR="9527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-     MEO de vaccination en avancée</a:t>
                      </a:r>
                      <a:endParaRPr lang="fr-F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 CF de la coordination</a:t>
                      </a: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 Kasongo</a:t>
                      </a: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</a:t>
                      </a:r>
                      <a:r>
                        <a:rPr lang="fr-FR" sz="2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Lubutu</a:t>
                      </a: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 chambre froide solaire de Kindu</a:t>
                      </a: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Couverture en MCF : 80 %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alt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Interruption de la circulation du PVS 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algn="l" eaLnBrk="1" hangingPunct="1">
                        <a:lnSpc>
                          <a:spcPct val="90000"/>
                        </a:lnSpc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-     42% ECV (EDS 2014), 7% (MICS 2018)          et  </a:t>
                      </a:r>
                      <a:r>
                        <a:rPr lang="fr-F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13% ECV (ESP/UNIKIN 2022/2023 </a:t>
                      </a:r>
                    </a:p>
                    <a:p>
                      <a:pPr marL="342900" indent="-342900" algn="l" eaLnBrk="1" hangingPunct="1">
                        <a:lnSpc>
                          <a:spcPct val="90000"/>
                        </a:lnSpc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Villages insuffisamment couverts en PEV systématique </a:t>
                      </a:r>
                    </a:p>
                    <a:p>
                      <a:pPr marL="342900" marR="0" lvl="1" indent="-34290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defRPr/>
                      </a:pPr>
                      <a:r>
                        <a:rPr lang="fr-FR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Epidémies de rougeole</a:t>
                      </a: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fr-F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Poliovirus circulant 2</a:t>
                      </a:r>
                      <a:r>
                        <a:rPr lang="fr-FR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/Choléra/</a:t>
                      </a:r>
                      <a:r>
                        <a:rPr lang="fr-FR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Mpox</a:t>
                      </a: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marL="9527" marR="9527" marT="952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0" y="0"/>
            <a:ext cx="12191999" cy="5732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cap="flat">
            <a:solidFill>
              <a:srgbClr val="003399"/>
            </a:solidFill>
            <a:miter lim="800000"/>
          </a:ln>
        </p:spPr>
        <p:txBody>
          <a:bodyPr vert="horz" lIns="92075" tIns="46038" rIns="92075" bIns="46038" rtlCol="0" anchor="ctr">
            <a:noAutofit/>
          </a:bodyPr>
          <a:lstStyle>
            <a:lvl1pPr defTabSz="457200">
              <a:spcBef>
                <a:spcPct val="0"/>
              </a:spcBef>
              <a:buNone/>
              <a:defRPr sz="4000" b="1">
                <a:solidFill>
                  <a:schemeClr val="bg1"/>
                </a:solidFill>
                <a:latin typeface="Tempus Sans ITC" panose="04020404030D07020202" pitchFamily="82" charset="0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fr-FR" sz="36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Présentation de la Province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(1/3)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1E9794E-19EE-0459-4744-41D86772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568" y="1037690"/>
            <a:ext cx="5554335" cy="5001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74024" y="573207"/>
            <a:ext cx="7117975" cy="6284793"/>
          </a:xfrm>
          <a:ln w="38100">
            <a:solidFill>
              <a:srgbClr val="92D050"/>
            </a:solidFill>
          </a:ln>
        </p:spPr>
        <p:txBody>
          <a:bodyPr>
            <a:normAutofit fontScale="25000" lnSpcReduction="20000"/>
          </a:bodyPr>
          <a:lstStyle/>
          <a:p>
            <a:pPr marL="5651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Rupture de certains antigènes pendant les IPVS </a:t>
            </a:r>
          </a:p>
          <a:p>
            <a:pPr marL="5651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Absence de réfrigérateurs  dans 20% de CS et 100% des PS stratégiques  (102)</a:t>
            </a:r>
          </a:p>
          <a:p>
            <a:pPr marL="5651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Persistance du grand nombre d'enfants non ou insuffisamment vaccinés,</a:t>
            </a:r>
          </a:p>
          <a:p>
            <a:pPr marL="5080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Absence de Kits MAPI pour la vaccination avec plusieurs injections reste une difficulté majeure</a:t>
            </a:r>
          </a:p>
          <a:p>
            <a:pPr marL="5080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Barrières sociales et culturelles : ex. Sectes réfractaires aux interventions de santé (</a:t>
            </a:r>
            <a:r>
              <a:rPr lang="fr-FR" sz="80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Postolo</a:t>
            </a: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)</a:t>
            </a:r>
          </a:p>
          <a:p>
            <a:pPr marL="5080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Accessibilité géographique et physique très difficiles: Populations vivant sur les cours d’eau, dans les îlots, dans les campements, forets … </a:t>
            </a:r>
          </a:p>
          <a:p>
            <a:pPr marL="5080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Conflit armé persistant dans l’antenne de </a:t>
            </a:r>
            <a:r>
              <a:rPr lang="fr-FR" sz="80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Lubutu</a:t>
            </a:r>
            <a:endParaRPr lang="fr-FR" sz="80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marL="5080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fr-FR" sz="8000" dirty="0">
                <a:solidFill>
                  <a:schemeClr val="tx1"/>
                </a:solidFill>
                <a:latin typeface="Franklin Gothic Book" panose="020B0503020102020204" pitchFamily="34" charset="0"/>
              </a:rPr>
              <a:t>La grande majorité des mères soit 81%  ne connaissent pas le calendrier vaccinal selon l’enquête CAP de Harvard </a:t>
            </a:r>
            <a:r>
              <a:rPr lang="fr-FR" sz="8000" dirty="0" err="1">
                <a:solidFill>
                  <a:schemeClr val="tx1"/>
                </a:solidFill>
                <a:latin typeface="Franklin Gothic Book" panose="020B0503020102020204" pitchFamily="34" charset="0"/>
              </a:rPr>
              <a:t>University</a:t>
            </a:r>
            <a:r>
              <a:rPr lang="fr-FR" sz="8000" dirty="0">
                <a:solidFill>
                  <a:schemeClr val="tx1"/>
                </a:solidFill>
                <a:latin typeface="Franklin Gothic Book" panose="020B0503020102020204" pitchFamily="34" charset="0"/>
              </a:rPr>
              <a:t> (2015)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fr-FR" sz="5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0" y="0"/>
            <a:ext cx="12191999" cy="5732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cap="flat">
            <a:solidFill>
              <a:srgbClr val="003399"/>
            </a:solidFill>
            <a:miter lim="800000"/>
          </a:ln>
        </p:spPr>
        <p:txBody>
          <a:bodyPr vert="horz" lIns="92075" tIns="46038" rIns="92075" bIns="46038" rtlCol="0" anchor="ctr">
            <a:noAutofit/>
          </a:bodyPr>
          <a:lstStyle>
            <a:lvl1pPr defTabSz="457200">
              <a:spcBef>
                <a:spcPct val="0"/>
              </a:spcBef>
              <a:buNone/>
              <a:defRPr sz="4000" b="1">
                <a:solidFill>
                  <a:schemeClr val="bg1"/>
                </a:solidFill>
                <a:latin typeface="Tempus Sans ITC" panose="04020404030D07020202" pitchFamily="82" charset="0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fr-FR" sz="36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Présentation de la Province 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(2/3)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3E0CF48-B781-2B7A-817A-B5BEBB28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6" y="1435395"/>
            <a:ext cx="4853481" cy="4242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96493"/>
            <a:ext cx="11274900" cy="5237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chemeClr val="dk1"/>
              </a:buClr>
              <a:buSzPts val="1500"/>
            </a:pPr>
            <a:r>
              <a:rPr lang="fr-FR" sz="36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1. Présentation de la Province  (3/3)</a:t>
            </a:r>
            <a:r>
              <a:rPr lang="en-US" sz="3600" b="0" i="0" u="none" strike="noStrike" cap="none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600" b="0" i="0" u="none" strike="noStrike" cap="none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g3aabc9d920d_0_207"/>
          <p:cNvSpPr/>
          <p:nvPr/>
        </p:nvSpPr>
        <p:spPr>
          <a:xfrm>
            <a:off x="6096635" y="688340"/>
            <a:ext cx="5636895" cy="580771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PEV: 3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18  ,           FAE : 12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282,            FAE : 200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d’ESS:386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200 , FAE (12 )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3 406 065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136 243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643746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ECF: 81 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(…),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point de concentration (…), OVM (…)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DPS: OUI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dans le PAO : 100 %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688340"/>
            <a:ext cx="5901690" cy="5519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2.Résultats </a:t>
            </a:r>
            <a:r>
              <a:rPr lang="en-US" sz="36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 2025</a:t>
            </a: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74580"/>
              </p:ext>
            </p:extLst>
          </p:nvPr>
        </p:nvGraphicFramePr>
        <p:xfrm>
          <a:off x="51370" y="1181927"/>
          <a:ext cx="12099536" cy="5340261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28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2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6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6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36709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</a:t>
                      </a:r>
                      <a:r>
                        <a:rPr lang="en-US" sz="2400" b="1" u="none" strike="noStrike" cap="none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identifié</a:t>
                      </a:r>
                      <a:endParaRPr lang="en-US" sz="24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</a:t>
                      </a:r>
                      <a:r>
                        <a:rPr lang="en-US" sz="2400" b="1" u="none" strike="noStrike" cap="none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récupéré</a:t>
                      </a:r>
                      <a:endParaRPr lang="en-US" sz="24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90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4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</a:t>
                      </a:r>
                      <a:r>
                        <a:rPr lang="en-US" sz="2400" b="1" dirty="0" err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</a:t>
                      </a:r>
                      <a:endParaRPr lang="en-US" sz="2400" b="1" dirty="0"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+mj-lt"/>
                        </a:rPr>
                        <a:t>20215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Arial" panose="020B0604020202020204" pitchFamily="34" charset="0"/>
                        </a:rPr>
                        <a:t>43612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31321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41201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8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+mj-lt"/>
                        </a:rPr>
                        <a:t>8120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effectLst/>
                          <a:latin typeface="Arial" panose="020B0604020202020204" pitchFamily="34" charset="0"/>
                        </a:rPr>
                        <a:t>12196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8713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11542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4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OMV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effectLst/>
                          <a:latin typeface="+mj-lt"/>
                        </a:rPr>
                        <a:t>412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1671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243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effectLst/>
                          <a:latin typeface="+mj-lt"/>
                        </a:rPr>
                        <a:t>7205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effectLst/>
                          <a:latin typeface="Arial" panose="020B0604020202020204" pitchFamily="34" charset="0"/>
                        </a:rPr>
                        <a:t>9587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8257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4627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4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+mj-lt"/>
                        </a:rPr>
                        <a:t>35952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effectLst/>
                          <a:latin typeface="Arial" panose="020B0604020202020204" pitchFamily="34" charset="0"/>
                        </a:rPr>
                        <a:t>65595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49962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57613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102187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2.Résultats </a:t>
            </a:r>
            <a:r>
              <a:rPr lang="en-US" sz="36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IPVS</a:t>
            </a: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68605" y="928370"/>
          <a:ext cx="11618595" cy="548386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4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2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527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Enfants récupérés  12-23 mois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N°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ZONE DE SANTE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1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3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1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2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KABAMBARE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2112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1340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2185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1551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2148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2203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1558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KAMPENE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1193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1534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1514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1499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1296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KASONGO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2060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3566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3102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2697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2292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1142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KIBOMBO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1323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1280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1992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1346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1303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KUNDA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1818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1960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4288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4392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1060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3353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3186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SAMBA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912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1683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1820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SARAMABILA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2040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1659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1698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OBOKOTE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1858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1307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2076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1179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1754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1029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KAILO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2809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1154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1521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1015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KALIMA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1614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2935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1936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1482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KINDU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545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PUNIA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1721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1250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2992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1750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1889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1488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17864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13338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27565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20859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19771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16052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18981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16043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58592" y="102743"/>
            <a:ext cx="11274900" cy="554804"/>
          </a:xfrm>
          <a:prstGeom prst="rect">
            <a:avLst/>
          </a:prstGeom>
          <a:solidFill>
            <a:schemeClr val="tx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2.Résultats </a:t>
            </a:r>
            <a:r>
              <a:rPr lang="en-US" sz="36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IPVS</a:t>
            </a: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0" name="Google Shape;200;g3aabc9d920d_0_40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367030" y="805180"/>
          <a:ext cx="11541760" cy="5554345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9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6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85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Enfants récupérés  24-59 mois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N°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ZONE DE SANTE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1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DTC 3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1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VAR 2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Cible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Vacciné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CV</a:t>
                      </a:r>
                    </a:p>
                  </a:txBody>
                  <a:tcPr marL="6667" marR="6667" marT="6667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KABAMBARE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2036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1318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1932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1257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2862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1686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1888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KAMPENE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952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KASONGO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2390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1742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3029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2826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2327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1953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KIBOMBO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1111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1471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1941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1869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KUNDA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617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1789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669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1844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2094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SAMBA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863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1625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1360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928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3086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3340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SARAMABILA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2229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2327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104%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2728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1999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2220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1953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3021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3108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OBOKOTE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2137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1109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1804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704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1704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820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1518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1210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KAILO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1374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1713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1371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1189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1381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116%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1643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1263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KALIMA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1494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697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2260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829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1948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1075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3773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2964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KINDU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681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552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81%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454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379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83%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PUNIA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1087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537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49%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1390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672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</a:p>
                  </a:txBody>
                  <a:tcPr marL="6667" marR="6667" marT="6667" marB="0" anchor="b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15638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12272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21543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15605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18658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14625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78%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23187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20778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90%</a:t>
                      </a:r>
                    </a:p>
                  </a:txBody>
                  <a:tcPr marL="6667" marR="6667" marT="6667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-1" y="998070"/>
          <a:ext cx="12191999" cy="5755154"/>
        </p:xfrm>
        <a:graphic>
          <a:graphicData uri="http://schemas.openxmlformats.org/drawingml/2006/table">
            <a:tbl>
              <a:tblPr/>
              <a:tblGrid>
                <a:gridCol w="2152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59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7699"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Cicatrice BCG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699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325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BCG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32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19,1%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80,9%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32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1" y="998070"/>
          <a:ext cx="12192001" cy="5877108"/>
        </p:xfrm>
        <a:graphic>
          <a:graphicData uri="http://schemas.openxmlformats.org/drawingml/2006/table">
            <a:tbl>
              <a:tblPr/>
              <a:tblGrid>
                <a:gridCol w="3553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9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87"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Effectifs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Carte de vaccination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6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BASOKO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63,6%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36,4%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Z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11,8%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88,2%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BRAZZA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2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25,6%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74,4%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I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LIBENGA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53,3%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46,7%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LUMBULUMBU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LWAMA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72,7%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27,3%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MIKELENGE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TOKOLOTE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32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51,6%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48,4%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0" y="998070"/>
          <a:ext cx="12192001" cy="5747937"/>
        </p:xfrm>
        <a:graphic>
          <a:graphicData uri="http://schemas.openxmlformats.org/drawingml/2006/table">
            <a:tbl>
              <a:tblPr/>
              <a:tblGrid>
                <a:gridCol w="526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62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Effectifs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Cicatrice BCG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BASOKO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Z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11,8%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88,2%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BRAZZA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2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33,3%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I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LIBENGA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LUMBULUMBU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LWAMA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59,1%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40,9%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MIKELENGE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37,3%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62,7%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TOKOLOTE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23,5%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7134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690" marR="3690" marT="36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52,2%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47,8%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690" marR="3690" marT="36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0" y="998070"/>
          <a:ext cx="12120879" cy="5859934"/>
        </p:xfrm>
        <a:graphic>
          <a:graphicData uri="http://schemas.openxmlformats.org/drawingml/2006/table">
            <a:tbl>
              <a:tblPr/>
              <a:tblGrid>
                <a:gridCol w="3479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0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65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STATUT VACC 6 A 11 MOIS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8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EZD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ESV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BASOKO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2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15,4%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Z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BRAZZA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I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LIBENGA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355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LUMBULUMBU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LWAMA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MIKELENGE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36,4%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61,9%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TOKOLOTE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6583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0" y="998070"/>
          <a:ext cx="12191998" cy="5955208"/>
        </p:xfrm>
        <a:graphic>
          <a:graphicData uri="http://schemas.openxmlformats.org/drawingml/2006/table">
            <a:tbl>
              <a:tblPr/>
              <a:tblGrid>
                <a:gridCol w="359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9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68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STATUT VACC 12 A 23 MOIS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16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EZD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ESV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ECV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Z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22,2%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BASOKO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61,5%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BRAZZA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42,9%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42,9%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14,3%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2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I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LIBENGA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LUMBULUMBU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LWAMA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44,4%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MIKELENGE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48,3%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51,7%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33,3%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46,7%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TOKOLOTE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35,7%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7,1%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9684">
                <a:tc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37,6%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44,6%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17,8%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3556" marR="3556" marT="35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0" y="998070"/>
          <a:ext cx="12192000" cy="5859927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1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45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Effectifs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STATUT VACC 15 A 23 MOIS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99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EZD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ESV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ECVVAR2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BASOKO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Z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BRAZZA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2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KASUKU I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LIBENGA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LUMBULUMBU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61,1%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38,9%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LWAMA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35,7%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7,1%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MIKELENGE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56,5%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TOKOLOTE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77,8%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456">
                <a:tc>
                  <a:txBody>
                    <a:bodyPr/>
                    <a:lstStyle/>
                    <a:p>
                      <a:pPr algn="l" fontAlgn="t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53,3%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13,2%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100,0%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98071"/>
          </a:xfrm>
          <a:solidFill>
            <a:srgbClr val="002060"/>
          </a:soli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D966"/>
              </a:buClr>
              <a:buSzPct val="100000"/>
              <a:buFont typeface="Calibri" panose="020F0502020204030204"/>
            </a:pP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3.Résultats du monitorage interne après la mise en œuvre du 2</a:t>
            </a:r>
            <a:r>
              <a:rPr lang="fr-FR" sz="3200" b="1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ième</a:t>
            </a:r>
            <a:r>
              <a:rPr lang="fr-FR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 passage des IPVS dans la ZS </a:t>
            </a:r>
            <a:r>
              <a:rPr lang="fr-FR" sz="32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  <a:sym typeface="Overlock"/>
              </a:rPr>
              <a:t>Kindu_RDC</a:t>
            </a:r>
            <a:endParaRPr lang="fr-FR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Overlock"/>
            </a:endParaRPr>
          </a:p>
        </p:txBody>
      </p:sp>
      <p:graphicFrame>
        <p:nvGraphicFramePr>
          <p:cNvPr id="6" name="Graphique 5"/>
          <p:cNvGraphicFramePr/>
          <p:nvPr/>
        </p:nvGraphicFramePr>
        <p:xfrm>
          <a:off x="0" y="998070"/>
          <a:ext cx="12125325" cy="5859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754B0-B3D6-2169-FBCD-A3FD2AC5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" y="114903"/>
            <a:ext cx="12010489" cy="763500"/>
          </a:xfrm>
          <a:solidFill>
            <a:schemeClr val="tx2">
              <a:lumMod val="90000"/>
            </a:schemeClr>
          </a:solidFill>
          <a:ln w="28575"/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4.Résultats </a:t>
            </a:r>
            <a:r>
              <a:rPr lang="en-US" altLang="en-US" sz="40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altLang="en-US" sz="40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Couverture </a:t>
            </a:r>
            <a:r>
              <a:rPr lang="en-US" altLang="en-US" sz="40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altLang="en-US" sz="40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VAP1  par ZS </a:t>
            </a:r>
            <a:endParaRPr lang="fr-FR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54796DCF-7E95-A032-B08B-7F42B2C2B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8912361"/>
              </p:ext>
            </p:extLst>
          </p:nvPr>
        </p:nvGraphicFramePr>
        <p:xfrm>
          <a:off x="71918" y="967563"/>
          <a:ext cx="11928297" cy="577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52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61090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2857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2572833492"/>
              </p:ext>
            </p:extLst>
          </p:nvPr>
        </p:nvGraphicFramePr>
        <p:xfrm>
          <a:off x="93212" y="1551397"/>
          <a:ext cx="11974741" cy="5062395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256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0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068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2800" b="1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 ne place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d’une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coordination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dynamique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alt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 en disponibilité tardive 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outils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collecte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données </a:t>
                      </a:r>
                      <a:r>
                        <a:rPr lang="fr-FR" alt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integrant les stratégies novatices 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organisées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2025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16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Mise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oeuvre effective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stratégies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innovantes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Retard dans la retro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saisie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données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dû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la dotation tardive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téléphones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la formation des prestataires 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06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Appui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technique des partenaires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Rupture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vaccins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satisfaction des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commandes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506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Mise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palce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plates forms des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usagers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des couples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modèles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Mise à disposition tardive de fonds pour la mise 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oeuvre des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j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0ED52785-5173-5284-0CAD-66C2DF5A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abc9d920d_0_428">
            <a:extLst>
              <a:ext uri="{FF2B5EF4-FFF2-40B4-BE49-F238E27FC236}">
                <a16:creationId xmlns:a16="http://schemas.microsoft.com/office/drawing/2014/main" id="{B58CE8B4-7E62-A02F-7602-76D65E784286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>
            <a:extLst>
              <a:ext uri="{FF2B5EF4-FFF2-40B4-BE49-F238E27FC236}">
                <a16:creationId xmlns:a16="http://schemas.microsoft.com/office/drawing/2014/main" id="{6835B200-0F65-CCCC-ED27-5B1B54DFF228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>
            <a:extLst>
              <a:ext uri="{FF2B5EF4-FFF2-40B4-BE49-F238E27FC236}">
                <a16:creationId xmlns:a16="http://schemas.microsoft.com/office/drawing/2014/main" id="{B77E61FF-5BC8-2820-F2C1-73090D37FEAF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>
            <a:extLst>
              <a:ext uri="{FF2B5EF4-FFF2-40B4-BE49-F238E27FC236}">
                <a16:creationId xmlns:a16="http://schemas.microsoft.com/office/drawing/2014/main" id="{2C846D3B-E60D-7626-4B99-D1060F36C164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>
            <a:extLst>
              <a:ext uri="{FF2B5EF4-FFF2-40B4-BE49-F238E27FC236}">
                <a16:creationId xmlns:a16="http://schemas.microsoft.com/office/drawing/2014/main" id="{605E1FE3-CE9B-191A-5184-72C344DF62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45669"/>
              </p:ext>
            </p:extLst>
          </p:nvPr>
        </p:nvGraphicFramePr>
        <p:xfrm>
          <a:off x="93212" y="1047962"/>
          <a:ext cx="11974741" cy="5406212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256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7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068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2800" b="1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Sensibilisation des jeunes filles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Mineures avec grossesse précoce /filles mères sur l’importance de la vaccination de leurs enfants  et pour arrêter les barrières genre et inclusion sociale  dans deux Zones de Santé : 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Kailo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(2 AS ) et Kindu (2AS 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endParaRPr lang="fr-FR" altLang="en-US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16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Sensibilisation des papas pour qu’ils accompagnent leurs enfants à la vaccination en cas d’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empechement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de leurs mamans 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06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+mj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245;g3aabc9d920d_0_428">
            <a:extLst>
              <a:ext uri="{FF2B5EF4-FFF2-40B4-BE49-F238E27FC236}">
                <a16:creationId xmlns:a16="http://schemas.microsoft.com/office/drawing/2014/main" id="{4301B35A-BF7F-571F-01D7-E81179937B68}"/>
              </a:ext>
            </a:extLst>
          </p:cNvPr>
          <p:cNvSpPr txBox="1"/>
          <p:nvPr/>
        </p:nvSpPr>
        <p:spPr>
          <a:xfrm>
            <a:off x="458592" y="112460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2857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35972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>
            <p:extLst>
              <p:ext uri="{D42A27DB-BD31-4B8C-83A1-F6EECF244321}">
                <p14:modId xmlns:p14="http://schemas.microsoft.com/office/powerpoint/2010/main" val="980074840"/>
              </p:ext>
            </p:extLst>
          </p:nvPr>
        </p:nvGraphicFramePr>
        <p:xfrm>
          <a:off x="235501" y="1025265"/>
          <a:ext cx="11821820" cy="5539604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82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4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40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983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1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 IPVS</a:t>
                      </a:r>
                      <a:endParaRPr sz="3200" b="0" i="1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Mise en place d’une coordination des activités au niveau provincial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Insuffisance de coordination des activités IPVS dans certaines Zones</a:t>
                      </a:r>
                    </a:p>
                    <a:p>
                      <a:pPr marL="0" lvl="0" indent="0">
                        <a:lnSpc>
                          <a:spcPct val="107000"/>
                        </a:lnSpc>
                        <a:buFont typeface="Wingdings" panose="05000000000000000000" pitchFamily="2" charset="2"/>
                        <a:buNone/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Organisation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des AVS Polio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22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Bonne couverture de 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l’aire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de santé par les sites de vaccination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Démarrage tardif de la mise en œuvre des IPVS par rapport au dénombrement réalisé (plus de 4 mois d’intervalle entre le dénombrement et mise en œuvre des IPVS )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298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Appui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technique des partenaires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Changement de base de collecte des données entrainant parfois la difficulté de calcul des indicateurs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245;g3aabc9d920d_0_428">
            <a:extLst>
              <a:ext uri="{FF2B5EF4-FFF2-40B4-BE49-F238E27FC236}">
                <a16:creationId xmlns:a16="http://schemas.microsoft.com/office/drawing/2014/main" id="{2F12394B-6AC6-126D-423A-A2E0FFBE1C9F}"/>
              </a:ext>
            </a:extLst>
          </p:cNvPr>
          <p:cNvSpPr txBox="1"/>
          <p:nvPr/>
        </p:nvSpPr>
        <p:spPr>
          <a:xfrm>
            <a:off x="458592" y="122734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2857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bc9d920d_0_4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7" name="Google Shape;257;g3aabc9d920d_0_4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8" name="Google Shape;258;g3aabc9d920d_0_4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9" name="Google Shape;259;g3aabc9d920d_0_4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g3aabc9d920d_0_437"/>
          <p:cNvGraphicFramePr/>
          <p:nvPr>
            <p:extLst>
              <p:ext uri="{D42A27DB-BD31-4B8C-83A1-F6EECF244321}">
                <p14:modId xmlns:p14="http://schemas.microsoft.com/office/powerpoint/2010/main" val="4248108796"/>
              </p:ext>
            </p:extLst>
          </p:nvPr>
        </p:nvGraphicFramePr>
        <p:xfrm>
          <a:off x="235501" y="1410336"/>
          <a:ext cx="11498023" cy="4559571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202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2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67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Activités spécifiques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101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1. IPVS</a:t>
                      </a:r>
                      <a:endParaRPr sz="1600" b="0" i="1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 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Identification systématique des enfants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"/>
                        <a:defRPr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 promptitude dans le rapportage journalier des données 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06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Faible réalisation de monitorage interne par les superviseurs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245;g3aabc9d920d_0_428">
            <a:extLst>
              <a:ext uri="{FF2B5EF4-FFF2-40B4-BE49-F238E27FC236}">
                <a16:creationId xmlns:a16="http://schemas.microsoft.com/office/drawing/2014/main" id="{70A65337-3FA7-29DD-B77E-8252222D5D1E}"/>
              </a:ext>
            </a:extLst>
          </p:cNvPr>
          <p:cNvSpPr txBox="1"/>
          <p:nvPr/>
        </p:nvSpPr>
        <p:spPr>
          <a:xfrm>
            <a:off x="458592" y="122734"/>
            <a:ext cx="11274900" cy="731700"/>
          </a:xfrm>
          <a:prstGeom prst="rect">
            <a:avLst/>
          </a:prstGeom>
          <a:solidFill>
            <a:schemeClr val="tx2">
              <a:lumMod val="90000"/>
            </a:schemeClr>
          </a:solidFill>
          <a:ln w="2857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5.Analyse FFOM</a:t>
            </a: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4281" y="116732"/>
            <a:ext cx="11916383" cy="515566"/>
          </a:xfr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100000"/>
              <a:buFont typeface="Calibri" panose="020F0502020204030204"/>
            </a:pPr>
            <a:r>
              <a:rPr lang="fr-FR" sz="3600" b="1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6</a:t>
            </a:r>
            <a:r>
              <a:rPr lang="fr-FR" sz="36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. Bonnes pratiques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4281" y="885222"/>
            <a:ext cx="11916383" cy="58560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mise en place d’une coordination efficace a facilité  la resolution de certains problèmes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recrutement local des appuis </a:t>
            </a:r>
            <a:endParaRPr lang="fr-FR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Mise en place de la base de données en ligne par le niveau intermédiaire a permis d’améliorer la promptitude et la disponibilité des données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FR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reproduction locale de tous les outils de gestion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FR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conduite de monitorage interne post IPVS a permis d’identifier un certain nombre des problèmes 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554" y="102579"/>
            <a:ext cx="11896927" cy="578458"/>
          </a:xfr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100000"/>
              <a:buFont typeface="Calibri" panose="020F0502020204030204"/>
            </a:pPr>
            <a:r>
              <a:rPr lang="fr-FR" sz="36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7. Leçons apprises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4553" y="894945"/>
            <a:ext cx="11896928" cy="5749046"/>
          </a:xfrm>
        </p:spPr>
        <p:txBody>
          <a:bodyPr>
            <a:normAutofit fontScale="95000"/>
          </a:bodyPr>
          <a:lstStyle/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long moment ecoulé entre le denombrement et la recupération des enfants (plus de quatre mois ) n’a pas permis de maitriser le dénominateur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L’utilisation du masque de saisie en ligne a amélioré la promptitude et la complétude des données;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L’implication et l’engagement des APA et autres leaders pendant la mise en œuvre des activités a été un facteur de succès ;</a:t>
            </a:r>
            <a:endParaRPr lang="fr-FR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77800" y="1222625"/>
            <a:ext cx="11835764" cy="4954655"/>
          </a:xfrm>
        </p:spPr>
        <p:txBody>
          <a:bodyPr>
            <a:normAutofit/>
          </a:bodyPr>
          <a:lstStyle/>
          <a:p>
            <a:r>
              <a:rPr lang="fr-FR" altLang="en-US" sz="3200" dirty="0"/>
              <a:t>Insuffisance de personnel maitrisant la gestion technique PEV</a:t>
            </a:r>
          </a:p>
          <a:p>
            <a:pPr marL="0" indent="0">
              <a:buNone/>
            </a:pPr>
            <a:endParaRPr lang="fr-FR" altLang="en-US" sz="3200" dirty="0"/>
          </a:p>
          <a:p>
            <a:r>
              <a:rPr lang="fr-FR" altLang="en-US" sz="3200" dirty="0"/>
              <a:t>Non maitrise du calendrier vaccinal par certains  RECO </a:t>
            </a:r>
          </a:p>
          <a:p>
            <a:pPr marL="0" indent="0">
              <a:buNone/>
            </a:pPr>
            <a:endParaRPr lang="fr-FR" altLang="en-US" sz="3200" dirty="0"/>
          </a:p>
          <a:p>
            <a:r>
              <a:rPr lang="fr-FR" altLang="en-US" sz="3200" dirty="0"/>
              <a:t>La problématique de l’élaboration des listes des enfants zéro dose et sous vaccinés  </a:t>
            </a:r>
          </a:p>
          <a:p>
            <a:pPr marL="0" indent="0">
              <a:buNone/>
            </a:pPr>
            <a:endParaRPr lang="fr-FR" altLang="en-US" sz="3200" dirty="0"/>
          </a:p>
          <a:p>
            <a:r>
              <a:rPr lang="fr-FR" altLang="en-US" sz="3200" dirty="0"/>
              <a:t>Les hésitations à faire vacciner les enfants , les refus   </a:t>
            </a:r>
          </a:p>
          <a:p>
            <a:endParaRPr lang="fr-FR" altLang="en-US" sz="3200" dirty="0"/>
          </a:p>
        </p:txBody>
      </p:sp>
      <p:sp>
        <p:nvSpPr>
          <p:cNvPr id="500" name="Google Shape;500;p45"/>
          <p:cNvSpPr txBox="1"/>
          <p:nvPr>
            <p:custDataLst>
              <p:tags r:id="rId1"/>
            </p:custDataLst>
          </p:nvPr>
        </p:nvSpPr>
        <p:spPr>
          <a:xfrm>
            <a:off x="177800" y="226695"/>
            <a:ext cx="11835765" cy="669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 panose="020F0502020204030204"/>
              <a:buNone/>
              <a:defRPr sz="3600" b="1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00000"/>
              <a:buFont typeface="Calibri" panose="020F0502020204030204"/>
              <a:buNone/>
              <a:tabLst/>
              <a:defRPr/>
            </a:pPr>
            <a:r>
              <a:rPr lang="fr-FR" kern="1200" dirty="0">
                <a:solidFill>
                  <a:prstClr val="black"/>
                </a:solidFill>
                <a:sym typeface="Calibri" panose="020F0502020204030204"/>
              </a:rPr>
              <a:t>8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. Quelques défis 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9. </a:t>
            </a:r>
            <a:r>
              <a:rPr lang="en-US" sz="3600" dirty="0" err="1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r>
              <a:rPr lang="fr-FR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Doter la province en réfrigérateur 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r>
              <a:rPr lang="fr-FR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Appuyer la maintenance curative</a:t>
            </a:r>
          </a:p>
          <a:p>
            <a:pPr marL="45720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r>
              <a:rPr lang="fr-FR" sz="3600" dirty="0">
                <a:solidFill>
                  <a:schemeClr val="tx1"/>
                </a:solidFill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Améliorer la satisfaction des commandes </a:t>
            </a:r>
            <a:endParaRPr lang="fr-FR"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r>
              <a:rPr lang="fr-FR" sz="3600" dirty="0">
                <a:solidFill>
                  <a:schemeClr val="tx1"/>
                </a:solidFill>
                <a:latin typeface="+mj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Faire un plaidoyer pour la mobilisation de fonds afin d’assurer la motivation des RECO dans l’identification et la récupération continue des EZD et SV</a:t>
            </a: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endParaRPr lang="fr-FR"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endParaRPr lang="fr-FR" sz="3600" dirty="0">
              <a:solidFill>
                <a:schemeClr val="tx1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ü"/>
            </a:pPr>
            <a:endParaRPr sz="3600" dirty="0">
              <a:solidFill>
                <a:srgbClr val="1155CC"/>
              </a:solidFill>
              <a:latin typeface="+mj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284"/>
  <p:tag name="TABLE_ENDDRAG_RECT" val="26*105*877*2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4*431"/>
  <p:tag name="TABLE_ENDDRAG_RECT" val="21*73*914*43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08*452"/>
  <p:tag name="TABLE_ENDDRAG_RECT" val="28*48*908*45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2418</Words>
  <Application>Microsoft Office PowerPoint</Application>
  <PresentationFormat>Grand écran</PresentationFormat>
  <Paragraphs>1066</Paragraphs>
  <Slides>25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25</vt:i4>
      </vt:variant>
    </vt:vector>
  </HeadingPairs>
  <TitlesOfParts>
    <vt:vector size="43" baseType="lpstr">
      <vt:lpstr>Wingdings 3</vt:lpstr>
      <vt:lpstr>Play</vt:lpstr>
      <vt:lpstr>Calibri Light</vt:lpstr>
      <vt:lpstr>Aptos</vt:lpstr>
      <vt:lpstr>Century Gothic</vt:lpstr>
      <vt:lpstr>Wingdings</vt:lpstr>
      <vt:lpstr>Franklin Gothic Book</vt:lpstr>
      <vt:lpstr>Times New Roman</vt:lpstr>
      <vt:lpstr>Calibri</vt:lpstr>
      <vt:lpstr>Arial</vt:lpstr>
      <vt:lpstr>Source Serif Pro</vt:lpstr>
      <vt:lpstr>Aptos Display</vt:lpstr>
      <vt:lpstr>Thème Office</vt:lpstr>
      <vt:lpstr>Simple Light</vt:lpstr>
      <vt:lpstr>Brin</vt:lpstr>
      <vt:lpstr>1_Brin</vt:lpstr>
      <vt:lpstr>1_Thème Office</vt:lpstr>
      <vt:lpstr>2_Thème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3.Résultats du monitorage interne après la mise en œuvre du 2ième passage des IPVS dans la ZS Kindu_RDC</vt:lpstr>
      <vt:lpstr>4.Résultats obtenus : Couverture en VAP1  par ZS </vt:lpstr>
      <vt:lpstr>Présentation PowerPoint</vt:lpstr>
      <vt:lpstr>Présentation PowerPoint</vt:lpstr>
      <vt:lpstr>Présentation PowerPoint</vt:lpstr>
      <vt:lpstr>Présentation PowerPoint</vt:lpstr>
      <vt:lpstr>6. Bonnes pratiques </vt:lpstr>
      <vt:lpstr>7. Leçons apprises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Aimé CIKOMOLA</dc:creator>
  <cp:lastModifiedBy>LENOVO</cp:lastModifiedBy>
  <cp:revision>12</cp:revision>
  <dcterms:created xsi:type="dcterms:W3CDTF">2025-11-28T20:10:00Z</dcterms:created>
  <dcterms:modified xsi:type="dcterms:W3CDTF">2025-12-16T06:58:01Z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1036-12.2.0.23155</vt:lpwstr>
  </property>
</Properties>
</file>