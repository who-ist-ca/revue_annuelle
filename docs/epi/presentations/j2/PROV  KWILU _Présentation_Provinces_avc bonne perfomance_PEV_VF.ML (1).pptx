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2.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61" r:id="rId2"/>
  </p:sldMasterIdLst>
  <p:notesMasterIdLst>
    <p:notesMasterId r:id="rId27"/>
  </p:notesMasterIdLst>
  <p:sldIdLst>
    <p:sldId id="256" r:id="rId3"/>
    <p:sldId id="257" r:id="rId4"/>
    <p:sldId id="258" r:id="rId5"/>
    <p:sldId id="272" r:id="rId6"/>
    <p:sldId id="266" r:id="rId7"/>
    <p:sldId id="282" r:id="rId8"/>
    <p:sldId id="286" r:id="rId9"/>
    <p:sldId id="281" r:id="rId10"/>
    <p:sldId id="288" r:id="rId11"/>
    <p:sldId id="289" r:id="rId12"/>
    <p:sldId id="16766107" r:id="rId13"/>
    <p:sldId id="273" r:id="rId14"/>
    <p:sldId id="16766109" r:id="rId15"/>
    <p:sldId id="274" r:id="rId16"/>
    <p:sldId id="16766104" r:id="rId17"/>
    <p:sldId id="16766073" r:id="rId18"/>
    <p:sldId id="16766004" r:id="rId19"/>
    <p:sldId id="16766105" r:id="rId20"/>
    <p:sldId id="261" r:id="rId21"/>
    <p:sldId id="287" r:id="rId22"/>
    <p:sldId id="262" r:id="rId23"/>
    <p:sldId id="271" r:id="rId24"/>
    <p:sldId id="283" r:id="rId25"/>
    <p:sldId id="264" r:id="rId26"/>
  </p:sldIdLst>
  <p:sldSz cx="12192000" cy="6858000"/>
  <p:notesSz cx="6858000" cy="9144000"/>
  <p:embeddedFontLst>
    <p:embeddedFont>
      <p:font typeface="MS PGothic" panose="020B0600070205080204" pitchFamily="34" charset="-128"/>
      <p:regular r:id="rId28"/>
    </p:embeddedFont>
    <p:embeddedFont>
      <p:font typeface="Calibri Light" panose="020F0302020204030204" pitchFamily="34" charset="0"/>
      <p:regular r:id="rId29"/>
      <p:italic r:id="rId30"/>
    </p:embeddedFont>
    <p:embeddedFont>
      <p:font typeface="Source Serif Pro" panose="020B0604020202020204" charset="0"/>
      <p:regular r:id="rId31"/>
      <p:bold r:id="rId32"/>
      <p:italic r:id="rId33"/>
      <p:boldItalic r:id="rId34"/>
    </p:embeddedFont>
    <p:embeddedFont>
      <p:font typeface="Calibri" panose="020F0502020204030204" pitchFamily="34" charset="0"/>
      <p:regular r:id="rId35"/>
      <p:bold r:id="rId36"/>
      <p:italic r:id="rId37"/>
      <p:boldItalic r:id="rId38"/>
    </p:embeddedFont>
    <p:embeddedFont>
      <p:font typeface="Maiandra GD" panose="020E0502030308020204" pitchFamily="34" charset="0"/>
      <p:regular r:id="rId39"/>
    </p:embeddedFont>
    <p:embeddedFont>
      <p:font typeface="Play" panose="020B0604020202020204" charset="0"/>
      <p:regular r:id="rId40"/>
    </p:embeddedFont>
    <p:embeddedFont>
      <p:font typeface="Segoe UI Light" panose="020B0502040204020203" pitchFamily="34" charset="0"/>
      <p:regular r:id="rId41"/>
      <p: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Style léger 3 - Accentuation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81" d="100"/>
          <a:sy n="81" d="100"/>
        </p:scale>
        <p:origin x="60" y="16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12.fnt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font" Target="fonts/font7.fntdata"/><Relationship Id="rId42" Type="http://schemas.openxmlformats.org/officeDocument/2006/relationships/font" Target="fonts/font15.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2.fntdata"/><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4.fntdata"/><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5" Type="http://schemas.openxmlformats.org/officeDocument/2006/relationships/chartUserShapes" Target="../drawings/drawing1.xml"/><Relationship Id="rId4" Type="http://schemas.openxmlformats.org/officeDocument/2006/relationships/package" Target="../embeddings/Feuille_de_calcul_Microsoft_Excel1.xlsx"/></Relationships>
</file>

<file path=ppt/charts/_rels/chart2.xml.rels><?xml version="1.0" encoding="UTF-8" standalone="yes"?>
<Relationships xmlns="http://schemas.openxmlformats.org/package/2006/relationships"><Relationship Id="rId3" Type="http://schemas.openxmlformats.org/officeDocument/2006/relationships/package" Target="../embeddings/Feuille_de_calcul_Microsoft_Excel2.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3.xml"/><Relationship Id="rId1" Type="http://schemas.microsoft.com/office/2011/relationships/chartStyle" Target="style3.xml"/><Relationship Id="rId5" Type="http://schemas.openxmlformats.org/officeDocument/2006/relationships/package" Target="../embeddings/Feuille_de_calcul_Microsoft_Excel3.xlsx"/><Relationship Id="rId4" Type="http://schemas.openxmlformats.org/officeDocument/2006/relationships/image" Target="../media/image7.jpeg"/></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'Feuil1 (4)'!$D$3</c:f>
              <c:strCache>
                <c:ptCount val="1"/>
                <c:pt idx="0">
                  <c:v>Antenne PEV Bandundu</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lt1"/>
                    </a:solidFill>
                    <a:latin typeface="+mn-lt"/>
                    <a:ea typeface="+mn-ea"/>
                    <a:cs typeface="+mn-cs"/>
                  </a:defRPr>
                </a:pPr>
                <a:endParaRPr lang="fr-FR"/>
              </a:p>
            </c:txPr>
            <c:dLblPos val="in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'Feuil1 (4)'!$E$2:$P$2</c:f>
              <c:strCache>
                <c:ptCount val="12"/>
                <c:pt idx="0">
                  <c:v>BCG</c:v>
                </c:pt>
                <c:pt idx="1">
                  <c:v> DTC-HepB Hib 1</c:v>
                </c:pt>
                <c:pt idx="2">
                  <c:v>DTC-HepB Hib 3</c:v>
                </c:pt>
                <c:pt idx="3">
                  <c:v>PCV-13 (3)</c:v>
                </c:pt>
                <c:pt idx="4">
                  <c:v> Rota 3</c:v>
                </c:pt>
                <c:pt idx="5">
                  <c:v>VAA</c:v>
                </c:pt>
                <c:pt idx="6">
                  <c:v> VAR 1</c:v>
                </c:pt>
                <c:pt idx="7">
                  <c:v>VAR 2/RR 2</c:v>
                </c:pt>
                <c:pt idx="8">
                  <c:v> VPO 3</c:v>
                </c:pt>
                <c:pt idx="9">
                  <c:v> VPI 1</c:v>
                </c:pt>
                <c:pt idx="10">
                  <c:v>VPI 2</c:v>
                </c:pt>
                <c:pt idx="11">
                  <c:v> ECV</c:v>
                </c:pt>
              </c:strCache>
            </c:strRef>
          </c:cat>
          <c:val>
            <c:numRef>
              <c:f>'Feuil1 (4)'!$E$3:$P$3</c:f>
              <c:numCache>
                <c:formatCode>General</c:formatCode>
                <c:ptCount val="12"/>
                <c:pt idx="0">
                  <c:v>98</c:v>
                </c:pt>
                <c:pt idx="1">
                  <c:v>100</c:v>
                </c:pt>
                <c:pt idx="2">
                  <c:v>97</c:v>
                </c:pt>
                <c:pt idx="3">
                  <c:v>96</c:v>
                </c:pt>
                <c:pt idx="4">
                  <c:v>96</c:v>
                </c:pt>
                <c:pt idx="5">
                  <c:v>98</c:v>
                </c:pt>
                <c:pt idx="6">
                  <c:v>98</c:v>
                </c:pt>
                <c:pt idx="7">
                  <c:v>96</c:v>
                </c:pt>
                <c:pt idx="8">
                  <c:v>97</c:v>
                </c:pt>
                <c:pt idx="9">
                  <c:v>97</c:v>
                </c:pt>
                <c:pt idx="10">
                  <c:v>97</c:v>
                </c:pt>
                <c:pt idx="11">
                  <c:v>92</c:v>
                </c:pt>
              </c:numCache>
            </c:numRef>
          </c:val>
          <c:extLst xmlns:c16r2="http://schemas.microsoft.com/office/drawing/2015/06/chart">
            <c:ext xmlns:c16="http://schemas.microsoft.com/office/drawing/2014/chart" uri="{C3380CC4-5D6E-409C-BE32-E72D297353CC}">
              <c16:uniqueId val="{00000000-789F-4B83-A755-F54B099AAFD8}"/>
            </c:ext>
          </c:extLst>
        </c:ser>
        <c:ser>
          <c:idx val="1"/>
          <c:order val="1"/>
          <c:tx>
            <c:strRef>
              <c:f>'Feuil1 (4)'!$D$4</c:f>
              <c:strCache>
                <c:ptCount val="1"/>
                <c:pt idx="0">
                  <c:v>Antenne PEV Kikwit</c:v>
                </c:pt>
              </c:strCache>
            </c:strRef>
          </c:tx>
          <c:spPr>
            <a:solidFill>
              <a:srgbClr val="0097A7">
                <a:lumMod val="40000"/>
                <a:lumOff val="60000"/>
              </a:srgb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accent1">
                        <a:lumMod val="75000"/>
                      </a:schemeClr>
                    </a:solidFill>
                    <a:latin typeface="+mn-lt"/>
                    <a:ea typeface="+mn-ea"/>
                    <a:cs typeface="+mn-cs"/>
                  </a:defRPr>
                </a:pPr>
                <a:endParaRPr lang="fr-FR"/>
              </a:p>
            </c:txPr>
            <c:dLblPos val="in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'Feuil1 (4)'!$E$2:$P$2</c:f>
              <c:strCache>
                <c:ptCount val="12"/>
                <c:pt idx="0">
                  <c:v>BCG</c:v>
                </c:pt>
                <c:pt idx="1">
                  <c:v> DTC-HepB Hib 1</c:v>
                </c:pt>
                <c:pt idx="2">
                  <c:v>DTC-HepB Hib 3</c:v>
                </c:pt>
                <c:pt idx="3">
                  <c:v>PCV-13 (3)</c:v>
                </c:pt>
                <c:pt idx="4">
                  <c:v> Rota 3</c:v>
                </c:pt>
                <c:pt idx="5">
                  <c:v>VAA</c:v>
                </c:pt>
                <c:pt idx="6">
                  <c:v> VAR 1</c:v>
                </c:pt>
                <c:pt idx="7">
                  <c:v>VAR 2/RR 2</c:v>
                </c:pt>
                <c:pt idx="8">
                  <c:v> VPO 3</c:v>
                </c:pt>
                <c:pt idx="9">
                  <c:v> VPI 1</c:v>
                </c:pt>
                <c:pt idx="10">
                  <c:v>VPI 2</c:v>
                </c:pt>
                <c:pt idx="11">
                  <c:v> ECV</c:v>
                </c:pt>
              </c:strCache>
            </c:strRef>
          </c:cat>
          <c:val>
            <c:numRef>
              <c:f>'Feuil1 (4)'!$E$4:$P$4</c:f>
              <c:numCache>
                <c:formatCode>General</c:formatCode>
                <c:ptCount val="12"/>
                <c:pt idx="0">
                  <c:v>98</c:v>
                </c:pt>
                <c:pt idx="1">
                  <c:v>100</c:v>
                </c:pt>
                <c:pt idx="2">
                  <c:v>97</c:v>
                </c:pt>
                <c:pt idx="3">
                  <c:v>97</c:v>
                </c:pt>
                <c:pt idx="4">
                  <c:v>94</c:v>
                </c:pt>
                <c:pt idx="5">
                  <c:v>96</c:v>
                </c:pt>
                <c:pt idx="6">
                  <c:v>97</c:v>
                </c:pt>
                <c:pt idx="7">
                  <c:v>92</c:v>
                </c:pt>
                <c:pt idx="8">
                  <c:v>96</c:v>
                </c:pt>
                <c:pt idx="9">
                  <c:v>96</c:v>
                </c:pt>
                <c:pt idx="10">
                  <c:v>94</c:v>
                </c:pt>
                <c:pt idx="11">
                  <c:v>87</c:v>
                </c:pt>
              </c:numCache>
            </c:numRef>
          </c:val>
          <c:extLst xmlns:c16r2="http://schemas.microsoft.com/office/drawing/2015/06/chart">
            <c:ext xmlns:c16="http://schemas.microsoft.com/office/drawing/2014/chart" uri="{C3380CC4-5D6E-409C-BE32-E72D297353CC}">
              <c16:uniqueId val="{00000001-789F-4B83-A755-F54B099AAFD8}"/>
            </c:ext>
          </c:extLst>
        </c:ser>
        <c:ser>
          <c:idx val="2"/>
          <c:order val="2"/>
          <c:tx>
            <c:strRef>
              <c:f>'Feuil1 (4)'!$D$5</c:f>
              <c:strCache>
                <c:ptCount val="1"/>
                <c:pt idx="0">
                  <c:v>kl Kwilu Province</c:v>
                </c:pt>
              </c:strCache>
            </c:strRef>
          </c:tx>
          <c:spPr>
            <a:solidFill>
              <a:srgbClr val="EEFF41"/>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accent6">
                        <a:lumMod val="40000"/>
                        <a:lumOff val="60000"/>
                      </a:schemeClr>
                    </a:solidFill>
                    <a:latin typeface="+mn-lt"/>
                    <a:ea typeface="+mn-ea"/>
                    <a:cs typeface="+mn-cs"/>
                  </a:defRPr>
                </a:pPr>
                <a:endParaRPr lang="fr-FR"/>
              </a:p>
            </c:txPr>
            <c:dLblPos val="in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'Feuil1 (4)'!$E$2:$P$2</c:f>
              <c:strCache>
                <c:ptCount val="12"/>
                <c:pt idx="0">
                  <c:v>BCG</c:v>
                </c:pt>
                <c:pt idx="1">
                  <c:v> DTC-HepB Hib 1</c:v>
                </c:pt>
                <c:pt idx="2">
                  <c:v>DTC-HepB Hib 3</c:v>
                </c:pt>
                <c:pt idx="3">
                  <c:v>PCV-13 (3)</c:v>
                </c:pt>
                <c:pt idx="4">
                  <c:v> Rota 3</c:v>
                </c:pt>
                <c:pt idx="5">
                  <c:v>VAA</c:v>
                </c:pt>
                <c:pt idx="6">
                  <c:v> VAR 1</c:v>
                </c:pt>
                <c:pt idx="7">
                  <c:v>VAR 2/RR 2</c:v>
                </c:pt>
                <c:pt idx="8">
                  <c:v> VPO 3</c:v>
                </c:pt>
                <c:pt idx="9">
                  <c:v> VPI 1</c:v>
                </c:pt>
                <c:pt idx="10">
                  <c:v>VPI 2</c:v>
                </c:pt>
                <c:pt idx="11">
                  <c:v> ECV</c:v>
                </c:pt>
              </c:strCache>
            </c:strRef>
          </c:cat>
          <c:val>
            <c:numRef>
              <c:f>'Feuil1 (4)'!$E$5:$P$5</c:f>
              <c:numCache>
                <c:formatCode>General</c:formatCode>
                <c:ptCount val="12"/>
                <c:pt idx="0">
                  <c:v>98</c:v>
                </c:pt>
                <c:pt idx="1">
                  <c:v>100</c:v>
                </c:pt>
                <c:pt idx="2">
                  <c:v>97</c:v>
                </c:pt>
                <c:pt idx="3">
                  <c:v>97</c:v>
                </c:pt>
                <c:pt idx="4">
                  <c:v>95</c:v>
                </c:pt>
                <c:pt idx="5">
                  <c:v>96</c:v>
                </c:pt>
                <c:pt idx="6">
                  <c:v>97</c:v>
                </c:pt>
                <c:pt idx="7">
                  <c:v>93</c:v>
                </c:pt>
                <c:pt idx="8">
                  <c:v>96</c:v>
                </c:pt>
                <c:pt idx="9">
                  <c:v>96</c:v>
                </c:pt>
                <c:pt idx="10">
                  <c:v>95</c:v>
                </c:pt>
                <c:pt idx="11">
                  <c:v>88</c:v>
                </c:pt>
              </c:numCache>
            </c:numRef>
          </c:val>
          <c:extLst xmlns:c16r2="http://schemas.microsoft.com/office/drawing/2015/06/chart">
            <c:ext xmlns:c16="http://schemas.microsoft.com/office/drawing/2014/chart" uri="{C3380CC4-5D6E-409C-BE32-E72D297353CC}">
              <c16:uniqueId val="{00000002-789F-4B83-A755-F54B099AAFD8}"/>
            </c:ext>
          </c:extLst>
        </c:ser>
        <c:dLbls>
          <c:dLblPos val="inEnd"/>
          <c:showLegendKey val="0"/>
          <c:showVal val="1"/>
          <c:showCatName val="0"/>
          <c:showSerName val="0"/>
          <c:showPercent val="0"/>
          <c:showBubbleSize val="0"/>
        </c:dLbls>
        <c:gapWidth val="65"/>
        <c:axId val="284073960"/>
        <c:axId val="284068080"/>
      </c:barChart>
      <c:catAx>
        <c:axId val="284073960"/>
        <c:scaling>
          <c:orientation val="minMax"/>
        </c:scaling>
        <c:delete val="0"/>
        <c:axPos val="b"/>
        <c:numFmt formatCode="General" sourceLinked="1"/>
        <c:majorTickMark val="none"/>
        <c:minorTickMark val="none"/>
        <c:tickLblPos val="nextTo"/>
        <c:spPr>
          <a:pattFill prst="pct5">
            <a:fgClr>
              <a:srgbClr val="4285F4"/>
            </a:fgClr>
            <a:bgClr>
              <a:srgbClr val="FFFFFF"/>
            </a:bgClr>
          </a:patt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600" b="0" i="0" u="none" strike="noStrike" kern="1200" cap="all" baseline="0">
                <a:solidFill>
                  <a:schemeClr val="dk1">
                    <a:lumMod val="75000"/>
                    <a:lumOff val="25000"/>
                  </a:schemeClr>
                </a:solidFill>
                <a:latin typeface="+mn-lt"/>
                <a:ea typeface="+mn-ea"/>
                <a:cs typeface="+mn-cs"/>
              </a:defRPr>
            </a:pPr>
            <a:endParaRPr lang="fr-FR"/>
          </a:p>
        </c:txPr>
        <c:crossAx val="284068080"/>
        <c:crosses val="autoZero"/>
        <c:auto val="1"/>
        <c:lblAlgn val="ctr"/>
        <c:lblOffset val="100"/>
        <c:noMultiLvlLbl val="0"/>
      </c:catAx>
      <c:valAx>
        <c:axId val="284068080"/>
        <c:scaling>
          <c:orientation val="minMax"/>
          <c:min val="0"/>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crossAx val="284073960"/>
        <c:crosses val="autoZero"/>
        <c:crossBetween val="between"/>
      </c:valAx>
      <c:spPr>
        <a:pattFill prst="pct5">
          <a:fgClr>
            <a:srgbClr val="FFFFFF"/>
          </a:fgClr>
          <a:bgClr>
            <a:srgbClr val="FFFFFF"/>
          </a:bgClr>
        </a:pattFill>
        <a:ln>
          <a:noFill/>
        </a:ln>
        <a:effectLst/>
      </c:spPr>
    </c:plotArea>
    <c:legend>
      <c:legendPos val="b"/>
      <c:layout/>
      <c:overlay val="0"/>
      <c:spPr>
        <a:pattFill prst="pct5">
          <a:fgClr>
            <a:srgbClr val="4285F4"/>
          </a:fgClr>
          <a:bgClr>
            <a:srgbClr val="FFFFFF"/>
          </a:bgClr>
        </a:pattFill>
        <a:ln>
          <a:noFill/>
        </a:ln>
        <a:effectLst/>
      </c:spPr>
      <c:txPr>
        <a:bodyPr rot="0" spcFirstLastPara="1" vertOverflow="ellipsis" vert="horz" wrap="square" anchor="ctr" anchorCtr="1"/>
        <a:lstStyle/>
        <a:p>
          <a:pPr>
            <a:defRPr sz="1800" b="0" i="0" u="none" strike="noStrike" kern="1200" baseline="0">
              <a:solidFill>
                <a:schemeClr val="dk1">
                  <a:lumMod val="75000"/>
                  <a:lumOff val="25000"/>
                </a:schemeClr>
              </a:solidFill>
              <a:latin typeface="+mn-lt"/>
              <a:ea typeface="+mn-ea"/>
              <a:cs typeface="+mn-cs"/>
            </a:defRPr>
          </a:pPr>
          <a:endParaRPr lang="fr-FR"/>
        </a:p>
      </c:txPr>
    </c:legend>
    <c:plotVisOnly val="1"/>
    <c:dispBlanksAs val="gap"/>
    <c:showDLblsOverMax val="0"/>
  </c:chart>
  <c:spPr>
    <a:gradFill flip="none" rotWithShape="1">
      <a:gsLst>
        <a:gs pos="0">
          <a:srgbClr val="4285F4">
            <a:lumMod val="5000"/>
            <a:lumOff val="95000"/>
          </a:srgbClr>
        </a:gs>
        <a:gs pos="74000">
          <a:srgbClr val="4285F4">
            <a:lumMod val="45000"/>
            <a:lumOff val="55000"/>
          </a:srgbClr>
        </a:gs>
        <a:gs pos="83000">
          <a:srgbClr val="4285F4">
            <a:lumMod val="45000"/>
            <a:lumOff val="55000"/>
          </a:srgbClr>
        </a:gs>
        <a:gs pos="100000">
          <a:srgbClr val="4285F4">
            <a:lumMod val="30000"/>
            <a:lumOff val="70000"/>
          </a:srgbClr>
        </a:gs>
      </a:gsLst>
      <a:lin ang="5400000" scaled="1"/>
      <a:tileRect/>
    </a:gradFill>
    <a:ln w="9525" cap="flat" cmpd="sng" algn="ctr">
      <a:solidFill>
        <a:schemeClr val="dk1">
          <a:lumMod val="25000"/>
          <a:lumOff val="75000"/>
        </a:schemeClr>
      </a:solidFill>
      <a:round/>
    </a:ln>
    <a:effectLst/>
  </c:spPr>
  <c:txPr>
    <a:bodyPr/>
    <a:lstStyle/>
    <a:p>
      <a:pPr>
        <a:defRPr/>
      </a:pPr>
      <a:endParaRPr lang="fr-FR"/>
    </a:p>
  </c:txPr>
  <c:externalData r:id="rId4">
    <c:autoUpdate val="0"/>
  </c:externalData>
  <c:userShapes r:id="rId5"/>
</c:chartSpace>
</file>

<file path=ppt/charts/chart2.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'Janvier 2025, Février 2025, (3)'!$A$4</c:f>
              <c:strCache>
                <c:ptCount val="1"/>
                <c:pt idx="0">
                  <c:v>2021</c:v>
                </c:pt>
              </c:strCache>
            </c:strRef>
          </c:tx>
          <c:spPr>
            <a:solidFill>
              <a:schemeClr val="accent1">
                <a:alpha val="85000"/>
              </a:schemeClr>
            </a:solidFill>
            <a:ln w="9525" cap="flat" cmpd="sng" algn="ctr">
              <a:solidFill>
                <a:schemeClr val="lt1">
                  <a:alpha val="50000"/>
                </a:schemeClr>
              </a:solidFill>
              <a:round/>
            </a:ln>
            <a:effectLst/>
          </c:spPr>
          <c:invertIfNegative val="0"/>
          <c:dLbls>
            <c:dLbl>
              <c:idx val="0"/>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fr-FR"/>
                </a:p>
              </c:txPr>
              <c:dLblPos val="inEnd"/>
              <c:showLegendKey val="0"/>
              <c:showVal val="1"/>
              <c:showCatName val="0"/>
              <c:showSerName val="0"/>
              <c:showPercent val="0"/>
              <c:showBubbleSize val="0"/>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fr-FR"/>
              </a:p>
            </c:txPr>
            <c:dLblPos val="in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'Janvier 2025, Février 2025, (3)'!$B$3:$I$3</c:f>
              <c:strCache>
                <c:ptCount val="4"/>
                <c:pt idx="0">
                  <c:v> DTC-HepB Hib 1</c:v>
                </c:pt>
                <c:pt idx="1">
                  <c:v>DTC-HepB Hib 3</c:v>
                </c:pt>
                <c:pt idx="2">
                  <c:v>VAA</c:v>
                </c:pt>
                <c:pt idx="3">
                  <c:v>VPI 1</c:v>
                </c:pt>
              </c:strCache>
            </c:strRef>
          </c:cat>
          <c:val>
            <c:numRef>
              <c:f>'Janvier 2025, Février 2025, (3)'!$B$4:$I$4</c:f>
              <c:numCache>
                <c:formatCode>#,##0</c:formatCode>
                <c:ptCount val="4"/>
                <c:pt idx="0">
                  <c:v>87.3471370220349</c:v>
                </c:pt>
                <c:pt idx="1">
                  <c:v>84.223621949627827</c:v>
                </c:pt>
                <c:pt idx="2">
                  <c:v>84.624132047054673</c:v>
                </c:pt>
                <c:pt idx="3">
                  <c:v>83.280597451055499</c:v>
                </c:pt>
              </c:numCache>
            </c:numRef>
          </c:val>
          <c:extLst xmlns:c16r2="http://schemas.microsoft.com/office/drawing/2015/06/chart">
            <c:ext xmlns:c16="http://schemas.microsoft.com/office/drawing/2014/chart" uri="{C3380CC4-5D6E-409C-BE32-E72D297353CC}">
              <c16:uniqueId val="{00000000-7250-49BC-A916-D9D4DC79168A}"/>
            </c:ext>
          </c:extLst>
        </c:ser>
        <c:ser>
          <c:idx val="1"/>
          <c:order val="1"/>
          <c:tx>
            <c:strRef>
              <c:f>'Janvier 2025, Février 2025, (3)'!$A$5</c:f>
              <c:strCache>
                <c:ptCount val="1"/>
                <c:pt idx="0">
                  <c:v>2022</c:v>
                </c:pt>
              </c:strCache>
            </c:strRef>
          </c:tx>
          <c:spPr>
            <a:solidFill>
              <a:schemeClr val="accent6">
                <a:lumMod val="40000"/>
                <a:lumOff val="60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fr-FR"/>
              </a:p>
            </c:txPr>
            <c:dLblPos val="in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'Janvier 2025, Février 2025, (3)'!$B$3:$I$3</c:f>
              <c:strCache>
                <c:ptCount val="4"/>
                <c:pt idx="0">
                  <c:v> DTC-HepB Hib 1</c:v>
                </c:pt>
                <c:pt idx="1">
                  <c:v>DTC-HepB Hib 3</c:v>
                </c:pt>
                <c:pt idx="2">
                  <c:v>VAA</c:v>
                </c:pt>
                <c:pt idx="3">
                  <c:v>VPI 1</c:v>
                </c:pt>
              </c:strCache>
            </c:strRef>
          </c:cat>
          <c:val>
            <c:numRef>
              <c:f>'Janvier 2025, Février 2025, (3)'!$B$5:$I$5</c:f>
              <c:numCache>
                <c:formatCode>#,##0</c:formatCode>
                <c:ptCount val="4"/>
                <c:pt idx="0">
                  <c:v>99.702479000754337</c:v>
                </c:pt>
                <c:pt idx="1">
                  <c:v>95.572490526351146</c:v>
                </c:pt>
                <c:pt idx="2">
                  <c:v>97.434118434537311</c:v>
                </c:pt>
                <c:pt idx="3">
                  <c:v>95.461977731311947</c:v>
                </c:pt>
              </c:numCache>
            </c:numRef>
          </c:val>
          <c:extLst xmlns:c16r2="http://schemas.microsoft.com/office/drawing/2015/06/chart">
            <c:ext xmlns:c16="http://schemas.microsoft.com/office/drawing/2014/chart" uri="{C3380CC4-5D6E-409C-BE32-E72D297353CC}">
              <c16:uniqueId val="{00000001-7250-49BC-A916-D9D4DC79168A}"/>
            </c:ext>
          </c:extLst>
        </c:ser>
        <c:ser>
          <c:idx val="2"/>
          <c:order val="2"/>
          <c:tx>
            <c:strRef>
              <c:f>'Janvier 2025, Février 2025, (3)'!$A$6</c:f>
              <c:strCache>
                <c:ptCount val="1"/>
                <c:pt idx="0">
                  <c:v>2023</c:v>
                </c:pt>
              </c:strCache>
            </c:strRef>
          </c:tx>
          <c:spPr>
            <a:solidFill>
              <a:schemeClr val="accent3">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fr-FR"/>
              </a:p>
            </c:txPr>
            <c:dLblPos val="in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'Janvier 2025, Février 2025, (3)'!$B$3:$I$3</c:f>
              <c:strCache>
                <c:ptCount val="4"/>
                <c:pt idx="0">
                  <c:v> DTC-HepB Hib 1</c:v>
                </c:pt>
                <c:pt idx="1">
                  <c:v>DTC-HepB Hib 3</c:v>
                </c:pt>
                <c:pt idx="2">
                  <c:v>VAA</c:v>
                </c:pt>
                <c:pt idx="3">
                  <c:v>VPI 1</c:v>
                </c:pt>
              </c:strCache>
            </c:strRef>
          </c:cat>
          <c:val>
            <c:numRef>
              <c:f>'Janvier 2025, Février 2025, (3)'!$B$6:$I$6</c:f>
              <c:numCache>
                <c:formatCode>#,##0</c:formatCode>
                <c:ptCount val="4"/>
                <c:pt idx="0">
                  <c:v>89.544311478563969</c:v>
                </c:pt>
                <c:pt idx="1">
                  <c:v>85.383814434600353</c:v>
                </c:pt>
                <c:pt idx="2">
                  <c:v>84.496315597792147</c:v>
                </c:pt>
                <c:pt idx="3">
                  <c:v>89.85731824685152</c:v>
                </c:pt>
              </c:numCache>
            </c:numRef>
          </c:val>
          <c:extLst xmlns:c16r2="http://schemas.microsoft.com/office/drawing/2015/06/chart">
            <c:ext xmlns:c16="http://schemas.microsoft.com/office/drawing/2014/chart" uri="{C3380CC4-5D6E-409C-BE32-E72D297353CC}">
              <c16:uniqueId val="{00000002-7250-49BC-A916-D9D4DC79168A}"/>
            </c:ext>
          </c:extLst>
        </c:ser>
        <c:ser>
          <c:idx val="3"/>
          <c:order val="3"/>
          <c:tx>
            <c:strRef>
              <c:f>'Janvier 2025, Février 2025, (3)'!$A$7</c:f>
              <c:strCache>
                <c:ptCount val="1"/>
                <c:pt idx="0">
                  <c:v>2024</c:v>
                </c:pt>
              </c:strCache>
            </c:strRef>
          </c:tx>
          <c:spPr>
            <a:solidFill>
              <a:schemeClr val="accent5">
                <a:lumMod val="60000"/>
                <a:lumOff val="40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fr-FR"/>
              </a:p>
            </c:txPr>
            <c:dLblPos val="in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'Janvier 2025, Février 2025, (3)'!$B$3:$I$3</c:f>
              <c:strCache>
                <c:ptCount val="4"/>
                <c:pt idx="0">
                  <c:v> DTC-HepB Hib 1</c:v>
                </c:pt>
                <c:pt idx="1">
                  <c:v>DTC-HepB Hib 3</c:v>
                </c:pt>
                <c:pt idx="2">
                  <c:v>VAA</c:v>
                </c:pt>
                <c:pt idx="3">
                  <c:v>VPI 1</c:v>
                </c:pt>
              </c:strCache>
            </c:strRef>
          </c:cat>
          <c:val>
            <c:numRef>
              <c:f>'Janvier 2025, Février 2025, (3)'!$B$7:$I$7</c:f>
              <c:numCache>
                <c:formatCode>#,##0</c:formatCode>
                <c:ptCount val="4"/>
                <c:pt idx="0">
                  <c:v>102.6245688495012</c:v>
                </c:pt>
                <c:pt idx="1">
                  <c:v>99.030766780267172</c:v>
                </c:pt>
                <c:pt idx="2">
                  <c:v>99.448788368260395</c:v>
                </c:pt>
                <c:pt idx="3">
                  <c:v>101.08213912906795</c:v>
                </c:pt>
              </c:numCache>
            </c:numRef>
          </c:val>
          <c:extLst xmlns:c16r2="http://schemas.microsoft.com/office/drawing/2015/06/chart">
            <c:ext xmlns:c16="http://schemas.microsoft.com/office/drawing/2014/chart" uri="{C3380CC4-5D6E-409C-BE32-E72D297353CC}">
              <c16:uniqueId val="{00000003-7250-49BC-A916-D9D4DC79168A}"/>
            </c:ext>
          </c:extLst>
        </c:ser>
        <c:ser>
          <c:idx val="4"/>
          <c:order val="4"/>
          <c:tx>
            <c:strRef>
              <c:f>'Janvier 2025, Février 2025, (3)'!$A$8</c:f>
              <c:strCache>
                <c:ptCount val="1"/>
                <c:pt idx="0">
                  <c:v>2025</c:v>
                </c:pt>
              </c:strCache>
            </c:strRef>
          </c:tx>
          <c:spPr>
            <a:solidFill>
              <a:srgbClr val="92D050"/>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fr-FR"/>
              </a:p>
            </c:txPr>
            <c:dLblPos val="in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'Janvier 2025, Février 2025, (3)'!$B$3:$I$3</c:f>
              <c:strCache>
                <c:ptCount val="4"/>
                <c:pt idx="0">
                  <c:v> DTC-HepB Hib 1</c:v>
                </c:pt>
                <c:pt idx="1">
                  <c:v>DTC-HepB Hib 3</c:v>
                </c:pt>
                <c:pt idx="2">
                  <c:v>VAA</c:v>
                </c:pt>
                <c:pt idx="3">
                  <c:v>VPI 1</c:v>
                </c:pt>
              </c:strCache>
            </c:strRef>
          </c:cat>
          <c:val>
            <c:numRef>
              <c:f>'Janvier 2025, Février 2025, (3)'!$B$8:$I$8</c:f>
              <c:numCache>
                <c:formatCode>#,##0</c:formatCode>
                <c:ptCount val="4"/>
                <c:pt idx="0">
                  <c:v>99.807324320024009</c:v>
                </c:pt>
                <c:pt idx="1">
                  <c:v>96.677406900986156</c:v>
                </c:pt>
                <c:pt idx="2">
                  <c:v>96.223433855183984</c:v>
                </c:pt>
                <c:pt idx="3">
                  <c:v>96.358963406456013</c:v>
                </c:pt>
              </c:numCache>
            </c:numRef>
          </c:val>
          <c:extLst xmlns:c16r2="http://schemas.microsoft.com/office/drawing/2015/06/chart">
            <c:ext xmlns:c16="http://schemas.microsoft.com/office/drawing/2014/chart" uri="{C3380CC4-5D6E-409C-BE32-E72D297353CC}">
              <c16:uniqueId val="{00000004-7250-49BC-A916-D9D4DC79168A}"/>
            </c:ext>
          </c:extLst>
        </c:ser>
        <c:dLbls>
          <c:dLblPos val="inEnd"/>
          <c:showLegendKey val="0"/>
          <c:showVal val="1"/>
          <c:showCatName val="0"/>
          <c:showSerName val="0"/>
          <c:showPercent val="0"/>
          <c:showBubbleSize val="0"/>
        </c:dLbls>
        <c:gapWidth val="65"/>
        <c:axId val="286703728"/>
        <c:axId val="286702552"/>
      </c:barChart>
      <c:catAx>
        <c:axId val="286703728"/>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800" b="0" i="0" u="none" strike="noStrike" kern="1200" cap="all" baseline="0">
                <a:solidFill>
                  <a:schemeClr val="dk1">
                    <a:lumMod val="75000"/>
                    <a:lumOff val="25000"/>
                  </a:schemeClr>
                </a:solidFill>
                <a:latin typeface="+mn-lt"/>
                <a:ea typeface="+mn-ea"/>
                <a:cs typeface="+mn-cs"/>
              </a:defRPr>
            </a:pPr>
            <a:endParaRPr lang="fr-FR"/>
          </a:p>
        </c:txPr>
        <c:crossAx val="286702552"/>
        <c:crosses val="autoZero"/>
        <c:auto val="1"/>
        <c:lblAlgn val="ctr"/>
        <c:lblOffset val="100"/>
        <c:noMultiLvlLbl val="0"/>
      </c:catAx>
      <c:valAx>
        <c:axId val="286702552"/>
        <c:scaling>
          <c:orientation val="minMax"/>
        </c:scaling>
        <c:delete val="1"/>
        <c:axPos val="l"/>
        <c:numFmt formatCode="#,##0" sourceLinked="1"/>
        <c:majorTickMark val="none"/>
        <c:minorTickMark val="none"/>
        <c:tickLblPos val="nextTo"/>
        <c:crossAx val="286703728"/>
        <c:crosses val="autoZero"/>
        <c:crossBetween val="between"/>
      </c:valAx>
      <c:spPr>
        <a:solidFill>
          <a:schemeClr val="lt1"/>
        </a:solidFill>
        <a:ln>
          <a:noFill/>
        </a:ln>
        <a:effectLst/>
      </c:spPr>
    </c:plotArea>
    <c:legend>
      <c:legendPos val="b"/>
      <c:layout/>
      <c:overlay val="0"/>
      <c:spPr>
        <a:pattFill prst="pct5">
          <a:fgClr>
            <a:schemeClr val="accent1"/>
          </a:fgClr>
          <a:bgClr>
            <a:schemeClr val="bg1"/>
          </a:bgClr>
        </a:pattFill>
        <a:ln>
          <a:noFill/>
        </a:ln>
        <a:effectLst/>
      </c:spPr>
      <c:txPr>
        <a:bodyPr rot="0" spcFirstLastPara="1" vertOverflow="ellipsis" vert="horz" wrap="square" anchor="ctr" anchorCtr="1"/>
        <a:lstStyle/>
        <a:p>
          <a:pPr>
            <a:defRPr sz="2000" b="0" i="0" u="none" strike="noStrike" kern="1200" baseline="0">
              <a:solidFill>
                <a:schemeClr val="dk1">
                  <a:lumMod val="75000"/>
                  <a:lumOff val="25000"/>
                </a:schemeClr>
              </a:solidFill>
              <a:latin typeface="+mn-lt"/>
              <a:ea typeface="+mn-ea"/>
              <a:cs typeface="+mn-cs"/>
            </a:defRPr>
          </a:pPr>
          <a:endParaRPr lang="fr-FR"/>
        </a:p>
      </c:txPr>
    </c:legend>
    <c:plotVisOnly val="1"/>
    <c:dispBlanksAs val="gap"/>
    <c:showDLblsOverMax val="0"/>
  </c:chart>
  <c:spPr>
    <a:solidFill>
      <a:schemeClr val="lt1"/>
    </a:solidFill>
    <a:ln w="9525" cap="flat" cmpd="sng" algn="ctr">
      <a:solidFill>
        <a:schemeClr val="dk1">
          <a:lumMod val="25000"/>
          <a:lumOff val="75000"/>
        </a:schemeClr>
      </a:solidFill>
      <a:round/>
    </a:ln>
    <a:effectLst/>
  </c:spPr>
  <c:txPr>
    <a:bodyPr/>
    <a:lstStyle/>
    <a:p>
      <a:pPr>
        <a:defRPr/>
      </a:pPr>
      <a:endParaRPr lang="fr-F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invertIfNegative val="0"/>
          <c:dPt>
            <c:idx val="0"/>
            <c:invertIfNegative val="0"/>
            <c:bubble3D val="0"/>
            <c:spPr>
              <a:solidFill>
                <a:srgbClr val="E7F2A2"/>
              </a:solidFill>
              <a:ln>
                <a:noFill/>
              </a:ln>
              <a:effectLst>
                <a:outerShdw blurRad="76200" dir="18900000" sy="23000" kx="-1200000" algn="bl" rotWithShape="0">
                  <a:prstClr val="black">
                    <a:alpha val="20000"/>
                  </a:prstClr>
                </a:outerShdw>
              </a:effectLst>
            </c:spPr>
            <c:extLst xmlns:c16r2="http://schemas.microsoft.com/office/drawing/2015/06/chart">
              <c:ext xmlns:c16="http://schemas.microsoft.com/office/drawing/2014/chart" uri="{C3380CC4-5D6E-409C-BE32-E72D297353CC}">
                <c16:uniqueId val="{00000001-CDB2-4330-9BCB-131E65824898}"/>
              </c:ext>
            </c:extLst>
          </c:dPt>
          <c:dPt>
            <c:idx val="1"/>
            <c:invertIfNegative val="0"/>
            <c:bubble3D val="0"/>
            <c:spPr>
              <a:solidFill>
                <a:srgbClr val="00B050"/>
              </a:solidFill>
              <a:ln>
                <a:noFill/>
              </a:ln>
              <a:effectLst>
                <a:outerShdw blurRad="76200" dir="18900000" sy="23000" kx="-1200000" algn="bl" rotWithShape="0">
                  <a:prstClr val="black">
                    <a:alpha val="20000"/>
                  </a:prstClr>
                </a:outerShdw>
              </a:effectLst>
            </c:spPr>
            <c:extLst xmlns:c16r2="http://schemas.microsoft.com/office/drawing/2015/06/chart">
              <c:ext xmlns:c16="http://schemas.microsoft.com/office/drawing/2014/chart" uri="{C3380CC4-5D6E-409C-BE32-E72D297353CC}">
                <c16:uniqueId val="{00000003-CDB2-4330-9BCB-131E65824898}"/>
              </c:ext>
            </c:extLst>
          </c:dPt>
          <c:dLbls>
            <c:spPr>
              <a:noFill/>
              <a:ln>
                <a:noFill/>
              </a:ln>
              <a:effectLst/>
            </c:spPr>
            <c:txPr>
              <a:bodyPr rot="0" spcFirstLastPara="1" vertOverflow="ellipsis" vert="horz" wrap="square" lIns="38100" tIns="19050" rIns="38100" bIns="19050" anchor="ctr" anchorCtr="1">
                <a:spAutoFit/>
              </a:bodyPr>
              <a:lstStyle/>
              <a:p>
                <a:pPr>
                  <a:defRPr sz="2400" b="1" i="0" u="none" strike="noStrike" kern="1200" baseline="0">
                    <a:solidFill>
                      <a:schemeClr val="lt1"/>
                    </a:solidFill>
                    <a:latin typeface="+mn-lt"/>
                    <a:ea typeface="+mn-ea"/>
                    <a:cs typeface="+mn-cs"/>
                  </a:defRPr>
                </a:pPr>
                <a:endParaRPr lang="fr-FR"/>
              </a:p>
            </c:txPr>
            <c:dLblPos val="in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Feuil1!$D$3:$D$4</c:f>
              <c:strCache>
                <c:ptCount val="2"/>
                <c:pt idx="0">
                  <c:v>AVS Polio d'août 2025</c:v>
                </c:pt>
                <c:pt idx="1">
                  <c:v>AVS Polio novembre 2025</c:v>
                </c:pt>
              </c:strCache>
            </c:strRef>
          </c:cat>
          <c:val>
            <c:numRef>
              <c:f>Feuil1!$E$3:$E$4</c:f>
              <c:numCache>
                <c:formatCode>General</c:formatCode>
                <c:ptCount val="2"/>
                <c:pt idx="0">
                  <c:v>101</c:v>
                </c:pt>
                <c:pt idx="1">
                  <c:v>102</c:v>
                </c:pt>
              </c:numCache>
            </c:numRef>
          </c:val>
          <c:extLst xmlns:c16r2="http://schemas.microsoft.com/office/drawing/2015/06/chart">
            <c:ext xmlns:c16="http://schemas.microsoft.com/office/drawing/2014/chart" uri="{C3380CC4-5D6E-409C-BE32-E72D297353CC}">
              <c16:uniqueId val="{00000004-CDB2-4330-9BCB-131E65824898}"/>
            </c:ext>
          </c:extLst>
        </c:ser>
        <c:dLbls>
          <c:dLblPos val="inEnd"/>
          <c:showLegendKey val="0"/>
          <c:showVal val="1"/>
          <c:showCatName val="0"/>
          <c:showSerName val="0"/>
          <c:showPercent val="0"/>
          <c:showBubbleSize val="0"/>
        </c:dLbls>
        <c:gapWidth val="41"/>
        <c:axId val="286700592"/>
        <c:axId val="286702160"/>
      </c:barChart>
      <c:catAx>
        <c:axId val="286700592"/>
        <c:scaling>
          <c:orientation val="minMax"/>
        </c:scaling>
        <c:delete val="0"/>
        <c:axPos val="b"/>
        <c:numFmt formatCode="General" sourceLinked="1"/>
        <c:majorTickMark val="none"/>
        <c:minorTickMark val="none"/>
        <c:tickLblPos val="nextTo"/>
        <c:spPr>
          <a:blipFill>
            <a:blip xmlns:r="http://schemas.openxmlformats.org/officeDocument/2006/relationships" r:embed="rId4"/>
            <a:tile tx="0" ty="0" sx="100000" sy="100000" flip="none" algn="tl"/>
          </a:blipFill>
          <a:ln>
            <a:noFill/>
          </a:ln>
          <a:effectLst/>
        </c:spPr>
        <c:txPr>
          <a:bodyPr rot="-60000000" spcFirstLastPara="1" vertOverflow="ellipsis" vert="horz" wrap="square" anchor="ctr" anchorCtr="1"/>
          <a:lstStyle/>
          <a:p>
            <a:pPr>
              <a:defRPr sz="2800" b="0" i="0" u="none" strike="noStrike" kern="1200" baseline="0">
                <a:solidFill>
                  <a:schemeClr val="dk1">
                    <a:lumMod val="65000"/>
                    <a:lumOff val="35000"/>
                  </a:schemeClr>
                </a:solidFill>
                <a:effectLst/>
                <a:latin typeface="+mn-lt"/>
                <a:ea typeface="+mn-ea"/>
                <a:cs typeface="+mn-cs"/>
              </a:defRPr>
            </a:pPr>
            <a:endParaRPr lang="fr-FR"/>
          </a:p>
        </c:txPr>
        <c:crossAx val="286702160"/>
        <c:crosses val="autoZero"/>
        <c:auto val="1"/>
        <c:lblAlgn val="ctr"/>
        <c:lblOffset val="100"/>
        <c:noMultiLvlLbl val="0"/>
      </c:catAx>
      <c:valAx>
        <c:axId val="286702160"/>
        <c:scaling>
          <c:orientation val="minMax"/>
          <c:min val="0.4"/>
        </c:scaling>
        <c:delete val="1"/>
        <c:axPos val="l"/>
        <c:numFmt formatCode="General" sourceLinked="1"/>
        <c:majorTickMark val="none"/>
        <c:minorTickMark val="none"/>
        <c:tickLblPos val="nextTo"/>
        <c:crossAx val="286700592"/>
        <c:crosses val="autoZero"/>
        <c:crossBetween val="between"/>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a:pPr>
      <a:endParaRPr lang="fr-FR"/>
    </a:p>
  </c:txPr>
  <c:externalData r:id="rId5">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drawings/drawing1.xml><?xml version="1.0" encoding="utf-8"?>
<c:userShapes xmlns:c="http://schemas.openxmlformats.org/drawingml/2006/chart">
  <cdr:relSizeAnchor xmlns:cdr="http://schemas.openxmlformats.org/drawingml/2006/chartDrawing">
    <cdr:from>
      <cdr:x>0.01323</cdr:x>
      <cdr:y>0.18912</cdr:y>
    </cdr:from>
    <cdr:to>
      <cdr:x>0.96687</cdr:x>
      <cdr:y>0.18912</cdr:y>
    </cdr:to>
    <cdr:cxnSp macro="">
      <cdr:nvCxnSpPr>
        <cdr:cNvPr id="5" name="Connecteur droit avec flèche 4">
          <a:extLst xmlns:a="http://schemas.openxmlformats.org/drawingml/2006/main">
            <a:ext uri="{FF2B5EF4-FFF2-40B4-BE49-F238E27FC236}">
              <a16:creationId xmlns="" xmlns:a16="http://schemas.microsoft.com/office/drawing/2014/main" id="{E069C75A-0809-451D-8A7D-A678BC0F39A4}"/>
            </a:ext>
          </a:extLst>
        </cdr:cNvPr>
        <cdr:cNvCxnSpPr/>
      </cdr:nvCxnSpPr>
      <cdr:spPr>
        <a:xfrm xmlns:a="http://schemas.openxmlformats.org/drawingml/2006/main">
          <a:off x="152364" y="947865"/>
          <a:ext cx="10979231" cy="0"/>
        </a:xfrm>
        <a:prstGeom xmlns:a="http://schemas.openxmlformats.org/drawingml/2006/main" prst="straightConnector1">
          <a:avLst/>
        </a:prstGeom>
        <a:ln xmlns:a="http://schemas.openxmlformats.org/drawingml/2006/main">
          <a:headEnd type="none" w="med" len="med"/>
          <a:tailEnd type="arrow" w="med" len="med"/>
        </a:ln>
      </cdr:spPr>
      <cdr:style>
        <a:lnRef xmlns:a="http://schemas.openxmlformats.org/drawingml/2006/main" idx="3">
          <a:schemeClr val="accent4"/>
        </a:lnRef>
        <a:fillRef xmlns:a="http://schemas.openxmlformats.org/drawingml/2006/main" idx="0">
          <a:schemeClr val="accent4"/>
        </a:fillRef>
        <a:effectRef xmlns:a="http://schemas.openxmlformats.org/drawingml/2006/main" idx="2">
          <a:schemeClr val="accent4"/>
        </a:effectRef>
        <a:fontRef xmlns:a="http://schemas.openxmlformats.org/drawingml/2006/main" idx="minor">
          <a:schemeClr val="tx1"/>
        </a:fontRef>
      </cdr:style>
    </cdr:cxnSp>
  </cdr:relSizeAnchor>
  <cdr:relSizeAnchor xmlns:cdr="http://schemas.openxmlformats.org/drawingml/2006/chartDrawing">
    <cdr:from>
      <cdr:x>0.84238</cdr:x>
      <cdr:y>0.03821</cdr:y>
    </cdr:from>
    <cdr:to>
      <cdr:x>0.9218</cdr:x>
      <cdr:y>0.16045</cdr:y>
    </cdr:to>
    <cdr:sp macro="" textlink="">
      <cdr:nvSpPr>
        <cdr:cNvPr id="6" name="Bulle narrative : ronde 5">
          <a:extLst xmlns:a="http://schemas.openxmlformats.org/drawingml/2006/main">
            <a:ext uri="{FF2B5EF4-FFF2-40B4-BE49-F238E27FC236}">
              <a16:creationId xmlns="" xmlns:a16="http://schemas.microsoft.com/office/drawing/2014/main" id="{59CE8FE9-4F06-468E-B4A8-476D28C886B5}"/>
            </a:ext>
          </a:extLst>
        </cdr:cNvPr>
        <cdr:cNvSpPr/>
      </cdr:nvSpPr>
      <cdr:spPr>
        <a:xfrm xmlns:a="http://schemas.openxmlformats.org/drawingml/2006/main">
          <a:off x="9698345" y="191519"/>
          <a:ext cx="914400" cy="612648"/>
        </a:xfrm>
        <a:prstGeom xmlns:a="http://schemas.openxmlformats.org/drawingml/2006/main" prst="wedgeEllipseCallout">
          <a:avLst/>
        </a:prstGeom>
        <a:solidFill xmlns:a="http://schemas.openxmlformats.org/drawingml/2006/main">
          <a:srgbClr val="FFFFCC"/>
        </a:solidFill>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fr-FR" dirty="0">
              <a:solidFill>
                <a:srgbClr val="FF0000"/>
              </a:solidFill>
            </a:rPr>
            <a:t>Objectif</a:t>
          </a:r>
        </a:p>
        <a:p xmlns:a="http://schemas.openxmlformats.org/drawingml/2006/main">
          <a:r>
            <a:rPr lang="fr-FR" dirty="0">
              <a:solidFill>
                <a:srgbClr val="FF0000"/>
              </a:solidFill>
            </a:rPr>
            <a:t>2025</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rPr>
              <a:t>‹N°›</a:t>
            </a:fld>
            <a:endParaRPr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240064983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aabd3d1b2d_0_149:notes"/>
          <p:cNvSpPr>
            <a:spLocks noGrp="1" noRot="1" noChangeAspect="1"/>
          </p:cNvSpPr>
          <p:nvPr>
            <p:ph type="sldImg" idx="2"/>
          </p:nvPr>
        </p:nvSpPr>
        <p:spPr>
          <a:xfrm>
            <a:off x="312738" y="652463"/>
            <a:ext cx="5805487" cy="32670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lt1"/>
            </a:solidFill>
            <a:prstDash val="solid"/>
            <a:miter lim="8000"/>
            <a:headEnd type="none" w="sm" len="sm"/>
            <a:tailEnd type="none" w="sm" len="sm"/>
          </a:ln>
        </p:spPr>
      </p:sp>
      <p:sp>
        <p:nvSpPr>
          <p:cNvPr id="145" name="Google Shape;145;g3aabd3d1b2d_0_149:notes"/>
          <p:cNvSpPr txBox="1">
            <a:spLocks noGrp="1"/>
          </p:cNvSpPr>
          <p:nvPr>
            <p:ph type="body" idx="1"/>
          </p:nvPr>
        </p:nvSpPr>
        <p:spPr>
          <a:xfrm>
            <a:off x="642938" y="4136571"/>
            <a:ext cx="5143500" cy="3918900"/>
          </a:xfrm>
          <a:prstGeom prst="rect">
            <a:avLst/>
          </a:prstGeom>
          <a:noFill/>
          <a:ln>
            <a:noFill/>
          </a:ln>
        </p:spPr>
        <p:txBody>
          <a:bodyPr spcFirstLastPara="1" wrap="square" lIns="86275" tIns="86275" rIns="86275" bIns="86275" anchor="t" anchorCtr="0">
            <a:noAutofit/>
          </a:bodyPr>
          <a:lstStyle/>
          <a:p>
            <a:pPr marL="0" lvl="0" indent="0" algn="l" rtl="0">
              <a:lnSpc>
                <a:spcPct val="100000"/>
              </a:lnSpc>
              <a:spcBef>
                <a:spcPts val="0"/>
              </a:spcBef>
              <a:spcAft>
                <a:spcPts val="0"/>
              </a:spcAft>
              <a:buClr>
                <a:schemeClr val="dk1"/>
              </a:buClr>
              <a:buSzPts val="1300"/>
              <a:buFont typeface="Arial" panose="020B0604020202020204"/>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7217977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aabd3d1b2d_0_156: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g3aabd3d1b2d_0_156: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191789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aabd3d1b2d_0_1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g3aabd3d1b2d_0_164: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21804955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529242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aabd3d1b2d_0_309: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3aabd3d1b2d_0_309: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661659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aabd3d1b2d_0_31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 name="Google Shape;202;g3aabd3d1b2d_0_317: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4169977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aabd3d1b2d_0_325: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g3aabd3d1b2d_0_325: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481069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aabd3d1b2d_0_178:notes"/>
          <p:cNvSpPr>
            <a:spLocks noGrp="1" noRot="1" noChangeAspect="1"/>
          </p:cNvSpPr>
          <p:nvPr>
            <p:ph type="sldImg" idx="2"/>
          </p:nvPr>
        </p:nvSpPr>
        <p:spPr>
          <a:xfrm>
            <a:off x="382588"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0" name="Google Shape;220;g3aabd3d1b2d_0_178: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103139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Diapositive de titre">
  <p:cSld name="1_Diapositive de titre">
    <p:spTree>
      <p:nvGrpSpPr>
        <p:cNvPr id="1" name="Shape 15"/>
        <p:cNvGrpSpPr/>
        <p:nvPr/>
      </p:nvGrpSpPr>
      <p:grpSpPr>
        <a:xfrm>
          <a:off x="0" y="0"/>
          <a:ext cx="0" cy="0"/>
          <a:chOff x="0" y="0"/>
          <a:chExt cx="0" cy="0"/>
        </a:xfrm>
      </p:grpSpPr>
      <p:sp>
        <p:nvSpPr>
          <p:cNvPr id="16" name="Google Shape;16;p12"/>
          <p:cNvSpPr txBox="1">
            <a:spLocks noGrp="1"/>
          </p:cNvSpPr>
          <p:nvPr>
            <p:ph type="ctrTitle"/>
          </p:nvPr>
        </p:nvSpPr>
        <p:spPr>
          <a:xfrm>
            <a:off x="3385430" y="3768780"/>
            <a:ext cx="8572500" cy="2341563"/>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A3041"/>
              </a:buClr>
              <a:buSzPts val="3600"/>
              <a:buFont typeface="Play" panose="00000500000000000000"/>
              <a:buNone/>
              <a:defRPr sz="3600">
                <a:solidFill>
                  <a:srgbClr val="0A304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‹N°›</a:t>
            </a:fld>
            <a:endParaRPr lang="en-US"/>
          </a:p>
        </p:txBody>
      </p:sp>
      <p:pic>
        <p:nvPicPr>
          <p:cNvPr id="18" name="Google Shape;18;p12"/>
          <p:cNvPicPr preferRelativeResize="0"/>
          <p:nvPr/>
        </p:nvPicPr>
        <p:blipFill rotWithShape="1">
          <a:blip r:embed="rId2"/>
          <a:srcRect/>
          <a:stretch>
            <a:fillRect/>
          </a:stretch>
        </p:blipFill>
        <p:spPr>
          <a:xfrm>
            <a:off x="-23811" y="0"/>
            <a:ext cx="12215811" cy="371797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19"/>
        <p:cNvGrpSpPr/>
        <p:nvPr/>
      </p:nvGrpSpPr>
      <p:grpSpPr>
        <a:xfrm>
          <a:off x="0" y="0"/>
          <a:ext cx="0" cy="0"/>
          <a:chOff x="0" y="0"/>
          <a:chExt cx="0" cy="0"/>
        </a:xfrm>
      </p:grpSpPr>
      <p:sp>
        <p:nvSpPr>
          <p:cNvPr id="20" name="Google Shape;2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25"/>
        <p:cNvGrpSpPr/>
        <p:nvPr/>
      </p:nvGrpSpPr>
      <p:grpSpPr>
        <a:xfrm>
          <a:off x="0" y="0"/>
          <a:ext cx="0" cy="0"/>
          <a:chOff x="0" y="0"/>
          <a:chExt cx="0" cy="0"/>
        </a:xfrm>
      </p:grpSpPr>
      <p:sp>
        <p:nvSpPr>
          <p:cNvPr id="26" name="Google Shape;26;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29"/>
        <p:cNvGrpSpPr/>
        <p:nvPr/>
      </p:nvGrpSpPr>
      <p:grpSpPr>
        <a:xfrm>
          <a:off x="0" y="0"/>
          <a:ext cx="0" cy="0"/>
          <a:chOff x="0" y="0"/>
          <a:chExt cx="0" cy="0"/>
        </a:xfrm>
      </p:grpSpPr>
      <p:sp>
        <p:nvSpPr>
          <p:cNvPr id="30" name="Google Shape;30;p1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panose="00000500000000000000"/>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2" name="Google Shape;32;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re de section" type="secHead">
  <p:cSld name="SECTION_HEADER">
    <p:spTree>
      <p:nvGrpSpPr>
        <p:cNvPr id="1" name="Shape 35"/>
        <p:cNvGrpSpPr/>
        <p:nvPr/>
      </p:nvGrpSpPr>
      <p:grpSpPr>
        <a:xfrm>
          <a:off x="0" y="0"/>
          <a:ext cx="0" cy="0"/>
          <a:chOff x="0" y="0"/>
          <a:chExt cx="0" cy="0"/>
        </a:xfrm>
      </p:grpSpPr>
      <p:sp>
        <p:nvSpPr>
          <p:cNvPr id="36" name="Google Shape;36;p1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panose="00000500000000000000"/>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8" name="Google Shape;3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41"/>
        <p:cNvGrpSpPr/>
        <p:nvPr/>
      </p:nvGrpSpPr>
      <p:grpSpPr>
        <a:xfrm>
          <a:off x="0" y="0"/>
          <a:ext cx="0" cy="0"/>
          <a:chOff x="0" y="0"/>
          <a:chExt cx="0" cy="0"/>
        </a:xfrm>
      </p:grpSpPr>
      <p:sp>
        <p:nvSpPr>
          <p:cNvPr id="42" name="Google Shape;42;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1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48"/>
        <p:cNvGrpSpPr/>
        <p:nvPr/>
      </p:nvGrpSpPr>
      <p:grpSpPr>
        <a:xfrm>
          <a:off x="0" y="0"/>
          <a:ext cx="0" cy="0"/>
          <a:chOff x="0" y="0"/>
          <a:chExt cx="0" cy="0"/>
        </a:xfrm>
      </p:grpSpPr>
      <p:sp>
        <p:nvSpPr>
          <p:cNvPr id="49" name="Google Shape;49;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1" name="Google Shape;51;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57"/>
        <p:cNvGrpSpPr/>
        <p:nvPr/>
      </p:nvGrpSpPr>
      <p:grpSpPr>
        <a:xfrm>
          <a:off x="0" y="0"/>
          <a:ext cx="0" cy="0"/>
          <a:chOff x="0" y="0"/>
          <a:chExt cx="0" cy="0"/>
        </a:xfrm>
      </p:grpSpPr>
      <p:sp>
        <p:nvSpPr>
          <p:cNvPr id="58" name="Google Shape;58;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62"/>
        <p:cNvGrpSpPr/>
        <p:nvPr/>
      </p:nvGrpSpPr>
      <p:grpSpPr>
        <a:xfrm>
          <a:off x="0" y="0"/>
          <a:ext cx="0" cy="0"/>
          <a:chOff x="0" y="0"/>
          <a:chExt cx="0" cy="0"/>
        </a:xfrm>
      </p:grpSpPr>
      <p:sp>
        <p:nvSpPr>
          <p:cNvPr id="63" name="Google Shape;63;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panose="00000500000000000000"/>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5" name="Google Shape;65;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6" name="Google Shape;6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69"/>
        <p:cNvGrpSpPr/>
        <p:nvPr/>
      </p:nvGrpSpPr>
      <p:grpSpPr>
        <a:xfrm>
          <a:off x="0" y="0"/>
          <a:ext cx="0" cy="0"/>
          <a:chOff x="0" y="0"/>
          <a:chExt cx="0" cy="0"/>
        </a:xfrm>
      </p:grpSpPr>
      <p:sp>
        <p:nvSpPr>
          <p:cNvPr id="70" name="Google Shape;70;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panose="00000500000000000000"/>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23"/>
          <p:cNvSpPr>
            <a:spLocks noGrp="1"/>
          </p:cNvSpPr>
          <p:nvPr>
            <p:ph type="pic" idx="2"/>
          </p:nvPr>
        </p:nvSpPr>
        <p:spPr>
          <a:xfrm>
            <a:off x="5183188" y="987425"/>
            <a:ext cx="6172200" cy="4873625"/>
          </a:xfrm>
          <a:prstGeom prst="rect">
            <a:avLst/>
          </a:prstGeom>
          <a:noFill/>
          <a:ln>
            <a:noFill/>
          </a:ln>
        </p:spPr>
      </p:sp>
      <p:sp>
        <p:nvSpPr>
          <p:cNvPr id="72" name="Google Shape;72;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3" name="Google Shape;7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76"/>
        <p:cNvGrpSpPr/>
        <p:nvPr/>
      </p:nvGrpSpPr>
      <p:grpSpPr>
        <a:xfrm>
          <a:off x="0" y="0"/>
          <a:ext cx="0" cy="0"/>
          <a:chOff x="0" y="0"/>
          <a:chExt cx="0" cy="0"/>
        </a:xfrm>
      </p:grpSpPr>
      <p:sp>
        <p:nvSpPr>
          <p:cNvPr id="77" name="Google Shape;77;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82"/>
        <p:cNvGrpSpPr/>
        <p:nvPr/>
      </p:nvGrpSpPr>
      <p:grpSpPr>
        <a:xfrm>
          <a:off x="0" y="0"/>
          <a:ext cx="0" cy="0"/>
          <a:chOff x="0" y="0"/>
          <a:chExt cx="0" cy="0"/>
        </a:xfrm>
      </p:grpSpPr>
      <p:sp>
        <p:nvSpPr>
          <p:cNvPr id="83" name="Google Shape;83;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2"/>
        <p:cNvGrpSpPr/>
        <p:nvPr/>
      </p:nvGrpSpPr>
      <p:grpSpPr>
        <a:xfrm>
          <a:off x="0" y="0"/>
          <a:ext cx="0" cy="0"/>
          <a:chOff x="0" y="0"/>
          <a:chExt cx="0" cy="0"/>
        </a:xfrm>
      </p:grpSpPr>
      <p:sp>
        <p:nvSpPr>
          <p:cNvPr id="93" name="Google Shape;93;g3aabd3d1b2d_0_188"/>
          <p:cNvSpPr txBox="1">
            <a:spLocks noGrp="1"/>
          </p:cNvSpPr>
          <p:nvPr>
            <p:ph type="ctrTitle"/>
          </p:nvPr>
        </p:nvSpPr>
        <p:spPr>
          <a:xfrm>
            <a:off x="415611" y="992767"/>
            <a:ext cx="11360700" cy="27369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a:endParaRPr/>
          </a:p>
        </p:txBody>
      </p:sp>
      <p:sp>
        <p:nvSpPr>
          <p:cNvPr id="94" name="Google Shape;94;g3aabd3d1b2d_0_188"/>
          <p:cNvSpPr txBox="1">
            <a:spLocks noGrp="1"/>
          </p:cNvSpPr>
          <p:nvPr>
            <p:ph type="subTitle" idx="1"/>
          </p:nvPr>
        </p:nvSpPr>
        <p:spPr>
          <a:xfrm>
            <a:off x="415600" y="3778833"/>
            <a:ext cx="11360700" cy="10569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95" name="Google Shape;95;g3aabd3d1b2d_0_188"/>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6"/>
        <p:cNvGrpSpPr/>
        <p:nvPr/>
      </p:nvGrpSpPr>
      <p:grpSpPr>
        <a:xfrm>
          <a:off x="0" y="0"/>
          <a:ext cx="0" cy="0"/>
          <a:chOff x="0" y="0"/>
          <a:chExt cx="0" cy="0"/>
        </a:xfrm>
      </p:grpSpPr>
      <p:sp>
        <p:nvSpPr>
          <p:cNvPr id="97" name="Google Shape;97;g3aabd3d1b2d_0_192"/>
          <p:cNvSpPr txBox="1">
            <a:spLocks noGrp="1"/>
          </p:cNvSpPr>
          <p:nvPr>
            <p:ph type="title"/>
          </p:nvPr>
        </p:nvSpPr>
        <p:spPr>
          <a:xfrm>
            <a:off x="415600" y="2867800"/>
            <a:ext cx="11360700" cy="1122300"/>
          </a:xfrm>
          <a:prstGeom prst="rect">
            <a:avLst/>
          </a:prstGeom>
          <a:noFill/>
          <a:ln>
            <a:noFill/>
          </a:ln>
        </p:spPr>
        <p:txBody>
          <a:bodyPr spcFirstLastPara="1" wrap="square" lIns="121900" tIns="121900" rIns="121900" bIns="121900" anchor="ctr" anchorCtr="0">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a:endParaRPr/>
          </a:p>
        </p:txBody>
      </p:sp>
      <p:sp>
        <p:nvSpPr>
          <p:cNvPr id="98" name="Google Shape;98;g3aabd3d1b2d_0_192"/>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9"/>
        <p:cNvGrpSpPr/>
        <p:nvPr/>
      </p:nvGrpSpPr>
      <p:grpSpPr>
        <a:xfrm>
          <a:off x="0" y="0"/>
          <a:ext cx="0" cy="0"/>
          <a:chOff x="0" y="0"/>
          <a:chExt cx="0" cy="0"/>
        </a:xfrm>
      </p:grpSpPr>
      <p:sp>
        <p:nvSpPr>
          <p:cNvPr id="100" name="Google Shape;100;g3aabd3d1b2d_0_195"/>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01" name="Google Shape;101;g3aabd3d1b2d_0_195"/>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102" name="Google Shape;102;g3aabd3d1b2d_0_195"/>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03"/>
        <p:cNvGrpSpPr/>
        <p:nvPr/>
      </p:nvGrpSpPr>
      <p:grpSpPr>
        <a:xfrm>
          <a:off x="0" y="0"/>
          <a:ext cx="0" cy="0"/>
          <a:chOff x="0" y="0"/>
          <a:chExt cx="0" cy="0"/>
        </a:xfrm>
      </p:grpSpPr>
      <p:sp>
        <p:nvSpPr>
          <p:cNvPr id="104" name="Google Shape;104;g3aabd3d1b2d_0_199"/>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05" name="Google Shape;105;g3aabd3d1b2d_0_199"/>
          <p:cNvSpPr txBox="1">
            <a:spLocks noGrp="1"/>
          </p:cNvSpPr>
          <p:nvPr>
            <p:ph type="body" idx="1"/>
          </p:nvPr>
        </p:nvSpPr>
        <p:spPr>
          <a:xfrm>
            <a:off x="415600" y="1536633"/>
            <a:ext cx="5333100" cy="4555200"/>
          </a:xfrm>
          <a:prstGeom prst="rect">
            <a:avLst/>
          </a:prstGeom>
          <a:noFill/>
          <a:ln>
            <a:noFill/>
          </a:ln>
        </p:spPr>
        <p:txBody>
          <a:bodyPr spcFirstLastPara="1" wrap="square" lIns="121900" tIns="121900" rIns="121900" bIns="121900" anchor="t" anchorCtr="0">
            <a:norm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106" name="Google Shape;106;g3aabd3d1b2d_0_199"/>
          <p:cNvSpPr txBox="1">
            <a:spLocks noGrp="1"/>
          </p:cNvSpPr>
          <p:nvPr>
            <p:ph type="body" idx="2"/>
          </p:nvPr>
        </p:nvSpPr>
        <p:spPr>
          <a:xfrm>
            <a:off x="6443200" y="1536633"/>
            <a:ext cx="5333100" cy="4555200"/>
          </a:xfrm>
          <a:prstGeom prst="rect">
            <a:avLst/>
          </a:prstGeom>
          <a:noFill/>
          <a:ln>
            <a:noFill/>
          </a:ln>
        </p:spPr>
        <p:txBody>
          <a:bodyPr spcFirstLastPara="1" wrap="square" lIns="121900" tIns="121900" rIns="121900" bIns="121900" anchor="t" anchorCtr="0">
            <a:norm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107" name="Google Shape;107;g3aabd3d1b2d_0_199"/>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8"/>
        <p:cNvGrpSpPr/>
        <p:nvPr/>
      </p:nvGrpSpPr>
      <p:grpSpPr>
        <a:xfrm>
          <a:off x="0" y="0"/>
          <a:ext cx="0" cy="0"/>
          <a:chOff x="0" y="0"/>
          <a:chExt cx="0" cy="0"/>
        </a:xfrm>
      </p:grpSpPr>
      <p:sp>
        <p:nvSpPr>
          <p:cNvPr id="109" name="Google Shape;109;g3aabd3d1b2d_0_204"/>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10" name="Google Shape;110;g3aabd3d1b2d_0_204"/>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1"/>
        <p:cNvGrpSpPr/>
        <p:nvPr/>
      </p:nvGrpSpPr>
      <p:grpSpPr>
        <a:xfrm>
          <a:off x="0" y="0"/>
          <a:ext cx="0" cy="0"/>
          <a:chOff x="0" y="0"/>
          <a:chExt cx="0" cy="0"/>
        </a:xfrm>
      </p:grpSpPr>
      <p:sp>
        <p:nvSpPr>
          <p:cNvPr id="112" name="Google Shape;112;g3aabd3d1b2d_0_207"/>
          <p:cNvSpPr txBox="1">
            <a:spLocks noGrp="1"/>
          </p:cNvSpPr>
          <p:nvPr>
            <p:ph type="title"/>
          </p:nvPr>
        </p:nvSpPr>
        <p:spPr>
          <a:xfrm>
            <a:off x="415600" y="740800"/>
            <a:ext cx="3744000" cy="1007700"/>
          </a:xfrm>
          <a:prstGeom prst="rect">
            <a:avLst/>
          </a:prstGeom>
          <a:noFill/>
          <a:ln>
            <a:noFill/>
          </a:ln>
        </p:spPr>
        <p:txBody>
          <a:bodyPr spcFirstLastPara="1" wrap="square" lIns="121900" tIns="121900" rIns="121900" bIns="121900" anchor="b" anchorCtr="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a:endParaRPr/>
          </a:p>
        </p:txBody>
      </p:sp>
      <p:sp>
        <p:nvSpPr>
          <p:cNvPr id="113" name="Google Shape;113;g3aabd3d1b2d_0_207"/>
          <p:cNvSpPr txBox="1">
            <a:spLocks noGrp="1"/>
          </p:cNvSpPr>
          <p:nvPr>
            <p:ph type="body" idx="1"/>
          </p:nvPr>
        </p:nvSpPr>
        <p:spPr>
          <a:xfrm>
            <a:off x="415600" y="1852800"/>
            <a:ext cx="3744000" cy="4239300"/>
          </a:xfrm>
          <a:prstGeom prst="rect">
            <a:avLst/>
          </a:prstGeom>
          <a:noFill/>
          <a:ln>
            <a:noFill/>
          </a:ln>
        </p:spPr>
        <p:txBody>
          <a:bodyPr spcFirstLastPara="1" wrap="square" lIns="121900" tIns="121900" rIns="121900" bIns="121900" anchor="t" anchorCtr="0">
            <a:normAutofit/>
          </a:bodyPr>
          <a:lstStyle>
            <a:lvl1pPr marL="457200" lvl="0" indent="-330200" algn="l">
              <a:lnSpc>
                <a:spcPct val="115000"/>
              </a:lnSpc>
              <a:spcBef>
                <a:spcPts val="0"/>
              </a:spcBef>
              <a:spcAft>
                <a:spcPts val="0"/>
              </a:spcAft>
              <a:buSzPts val="1600"/>
              <a:buChar char="●"/>
              <a:defRPr sz="16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114" name="Google Shape;114;g3aabd3d1b2d_0_207"/>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15"/>
        <p:cNvGrpSpPr/>
        <p:nvPr/>
      </p:nvGrpSpPr>
      <p:grpSpPr>
        <a:xfrm>
          <a:off x="0" y="0"/>
          <a:ext cx="0" cy="0"/>
          <a:chOff x="0" y="0"/>
          <a:chExt cx="0" cy="0"/>
        </a:xfrm>
      </p:grpSpPr>
      <p:sp>
        <p:nvSpPr>
          <p:cNvPr id="116" name="Google Shape;116;g3aabd3d1b2d_0_211"/>
          <p:cNvSpPr txBox="1">
            <a:spLocks noGrp="1"/>
          </p:cNvSpPr>
          <p:nvPr>
            <p:ph type="title"/>
          </p:nvPr>
        </p:nvSpPr>
        <p:spPr>
          <a:xfrm>
            <a:off x="653667" y="600200"/>
            <a:ext cx="8490300" cy="5454300"/>
          </a:xfrm>
          <a:prstGeom prst="rect">
            <a:avLst/>
          </a:prstGeom>
          <a:noFill/>
          <a:ln>
            <a:noFill/>
          </a:ln>
        </p:spPr>
        <p:txBody>
          <a:bodyPr spcFirstLastPara="1" wrap="square" lIns="121900" tIns="121900" rIns="121900" bIns="121900" anchor="ctr" anchorCtr="0">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a:endParaRPr/>
          </a:p>
        </p:txBody>
      </p:sp>
      <p:sp>
        <p:nvSpPr>
          <p:cNvPr id="117" name="Google Shape;117;g3aabd3d1b2d_0_211"/>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8"/>
        <p:cNvGrpSpPr/>
        <p:nvPr/>
      </p:nvGrpSpPr>
      <p:grpSpPr>
        <a:xfrm>
          <a:off x="0" y="0"/>
          <a:ext cx="0" cy="0"/>
          <a:chOff x="0" y="0"/>
          <a:chExt cx="0" cy="0"/>
        </a:xfrm>
      </p:grpSpPr>
      <p:sp>
        <p:nvSpPr>
          <p:cNvPr id="119" name="Google Shape;119;g3aabd3d1b2d_0_214"/>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0" name="Google Shape;120;g3aabd3d1b2d_0_214"/>
          <p:cNvSpPr txBox="1">
            <a:spLocks noGrp="1"/>
          </p:cNvSpPr>
          <p:nvPr>
            <p:ph type="title"/>
          </p:nvPr>
        </p:nvSpPr>
        <p:spPr>
          <a:xfrm>
            <a:off x="354000" y="1644233"/>
            <a:ext cx="5393700" cy="19764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a:endParaRPr/>
          </a:p>
        </p:txBody>
      </p:sp>
      <p:sp>
        <p:nvSpPr>
          <p:cNvPr id="121" name="Google Shape;121;g3aabd3d1b2d_0_214"/>
          <p:cNvSpPr txBox="1">
            <a:spLocks noGrp="1"/>
          </p:cNvSpPr>
          <p:nvPr>
            <p:ph type="subTitle" idx="1"/>
          </p:nvPr>
        </p:nvSpPr>
        <p:spPr>
          <a:xfrm>
            <a:off x="354000" y="3737433"/>
            <a:ext cx="5393700" cy="16467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2" name="Google Shape;122;g3aabd3d1b2d_0_214"/>
          <p:cNvSpPr txBox="1">
            <a:spLocks noGrp="1"/>
          </p:cNvSpPr>
          <p:nvPr>
            <p:ph type="body" idx="2"/>
          </p:nvPr>
        </p:nvSpPr>
        <p:spPr>
          <a:xfrm>
            <a:off x="6586000" y="965433"/>
            <a:ext cx="5115900" cy="4926900"/>
          </a:xfrm>
          <a:prstGeom prst="rect">
            <a:avLst/>
          </a:prstGeom>
          <a:noFill/>
          <a:ln>
            <a:noFill/>
          </a:ln>
        </p:spPr>
        <p:txBody>
          <a:bodyPr spcFirstLastPara="1" wrap="square" lIns="121900" tIns="121900" rIns="121900" bIns="121900" anchor="ctr"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123" name="Google Shape;123;g3aabd3d1b2d_0_214"/>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24"/>
        <p:cNvGrpSpPr/>
        <p:nvPr/>
      </p:nvGrpSpPr>
      <p:grpSpPr>
        <a:xfrm>
          <a:off x="0" y="0"/>
          <a:ext cx="0" cy="0"/>
          <a:chOff x="0" y="0"/>
          <a:chExt cx="0" cy="0"/>
        </a:xfrm>
      </p:grpSpPr>
      <p:sp>
        <p:nvSpPr>
          <p:cNvPr id="125" name="Google Shape;125;g3aabd3d1b2d_0_220"/>
          <p:cNvSpPr txBox="1">
            <a:spLocks noGrp="1"/>
          </p:cNvSpPr>
          <p:nvPr>
            <p:ph type="body" idx="1"/>
          </p:nvPr>
        </p:nvSpPr>
        <p:spPr>
          <a:xfrm>
            <a:off x="415600" y="5640767"/>
            <a:ext cx="7998300" cy="806700"/>
          </a:xfrm>
          <a:prstGeom prst="rect">
            <a:avLst/>
          </a:prstGeom>
          <a:noFill/>
          <a:ln>
            <a:noFill/>
          </a:ln>
        </p:spPr>
        <p:txBody>
          <a:bodyPr spcFirstLastPara="1" wrap="square" lIns="121900" tIns="121900" rIns="121900" bIns="121900" anchor="ctr" anchorCtr="0">
            <a:normAutofit/>
          </a:bodyPr>
          <a:lstStyle>
            <a:lvl1pPr marL="457200" lvl="0" indent="-228600" algn="l">
              <a:lnSpc>
                <a:spcPct val="100000"/>
              </a:lnSpc>
              <a:spcBef>
                <a:spcPts val="0"/>
              </a:spcBef>
              <a:spcAft>
                <a:spcPts val="0"/>
              </a:spcAft>
              <a:buSzPts val="2400"/>
              <a:buNone/>
              <a:defRPr/>
            </a:lvl1pPr>
          </a:lstStyle>
          <a:p>
            <a:endParaRPr/>
          </a:p>
        </p:txBody>
      </p:sp>
      <p:sp>
        <p:nvSpPr>
          <p:cNvPr id="126" name="Google Shape;126;g3aabd3d1b2d_0_220"/>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27"/>
        <p:cNvGrpSpPr/>
        <p:nvPr/>
      </p:nvGrpSpPr>
      <p:grpSpPr>
        <a:xfrm>
          <a:off x="0" y="0"/>
          <a:ext cx="0" cy="0"/>
          <a:chOff x="0" y="0"/>
          <a:chExt cx="0" cy="0"/>
        </a:xfrm>
      </p:grpSpPr>
      <p:sp>
        <p:nvSpPr>
          <p:cNvPr id="128" name="Google Shape;128;g3aabd3d1b2d_0_223"/>
          <p:cNvSpPr txBox="1">
            <a:spLocks noGrp="1"/>
          </p:cNvSpPr>
          <p:nvPr>
            <p:ph type="title" hasCustomPrompt="1"/>
          </p:nvPr>
        </p:nvSpPr>
        <p:spPr>
          <a:xfrm>
            <a:off x="415600" y="1474833"/>
            <a:ext cx="11360700" cy="26181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129" name="Google Shape;129;g3aabd3d1b2d_0_223"/>
          <p:cNvSpPr txBox="1">
            <a:spLocks noGrp="1"/>
          </p:cNvSpPr>
          <p:nvPr>
            <p:ph type="body" idx="1"/>
          </p:nvPr>
        </p:nvSpPr>
        <p:spPr>
          <a:xfrm>
            <a:off x="415600" y="4202967"/>
            <a:ext cx="11360700" cy="1734300"/>
          </a:xfrm>
          <a:prstGeom prst="rect">
            <a:avLst/>
          </a:prstGeom>
          <a:noFill/>
          <a:ln>
            <a:noFill/>
          </a:ln>
        </p:spPr>
        <p:txBody>
          <a:bodyPr spcFirstLastPara="1" wrap="square" lIns="121900" tIns="121900" rIns="121900" bIns="121900" anchor="t" anchorCtr="0">
            <a:normAutofit/>
          </a:bodyPr>
          <a:lstStyle>
            <a:lvl1pPr marL="457200" lvl="0" indent="-381000" algn="ctr">
              <a:lnSpc>
                <a:spcPct val="115000"/>
              </a:lnSpc>
              <a:spcBef>
                <a:spcPts val="0"/>
              </a:spcBef>
              <a:spcAft>
                <a:spcPts val="0"/>
              </a:spcAft>
              <a:buSzPts val="2400"/>
              <a:buChar char="●"/>
              <a:defRPr/>
            </a:lvl1pPr>
            <a:lvl2pPr marL="914400" lvl="1" indent="-349250" algn="ctr">
              <a:lnSpc>
                <a:spcPct val="115000"/>
              </a:lnSpc>
              <a:spcBef>
                <a:spcPts val="0"/>
              </a:spcBef>
              <a:spcAft>
                <a:spcPts val="0"/>
              </a:spcAft>
              <a:buSzPts val="1900"/>
              <a:buChar char="○"/>
              <a:defRPr/>
            </a:lvl2pPr>
            <a:lvl3pPr marL="1371600" lvl="2" indent="-349250" algn="ctr">
              <a:lnSpc>
                <a:spcPct val="115000"/>
              </a:lnSpc>
              <a:spcBef>
                <a:spcPts val="0"/>
              </a:spcBef>
              <a:spcAft>
                <a:spcPts val="0"/>
              </a:spcAft>
              <a:buSzPts val="1900"/>
              <a:buChar char="■"/>
              <a:defRPr/>
            </a:lvl3pPr>
            <a:lvl4pPr marL="1828800" lvl="3" indent="-349250" algn="ctr">
              <a:lnSpc>
                <a:spcPct val="115000"/>
              </a:lnSpc>
              <a:spcBef>
                <a:spcPts val="0"/>
              </a:spcBef>
              <a:spcAft>
                <a:spcPts val="0"/>
              </a:spcAft>
              <a:buSzPts val="1900"/>
              <a:buChar char="●"/>
              <a:defRPr/>
            </a:lvl4pPr>
            <a:lvl5pPr marL="2286000" lvl="4" indent="-349250" algn="ctr">
              <a:lnSpc>
                <a:spcPct val="115000"/>
              </a:lnSpc>
              <a:spcBef>
                <a:spcPts val="0"/>
              </a:spcBef>
              <a:spcAft>
                <a:spcPts val="0"/>
              </a:spcAft>
              <a:buSzPts val="1900"/>
              <a:buChar char="○"/>
              <a:defRPr/>
            </a:lvl5pPr>
            <a:lvl6pPr marL="2743200" lvl="5" indent="-349250" algn="ctr">
              <a:lnSpc>
                <a:spcPct val="115000"/>
              </a:lnSpc>
              <a:spcBef>
                <a:spcPts val="0"/>
              </a:spcBef>
              <a:spcAft>
                <a:spcPts val="0"/>
              </a:spcAft>
              <a:buSzPts val="1900"/>
              <a:buChar char="■"/>
              <a:defRPr/>
            </a:lvl6pPr>
            <a:lvl7pPr marL="3200400" lvl="6" indent="-349250" algn="ctr">
              <a:lnSpc>
                <a:spcPct val="115000"/>
              </a:lnSpc>
              <a:spcBef>
                <a:spcPts val="0"/>
              </a:spcBef>
              <a:spcAft>
                <a:spcPts val="0"/>
              </a:spcAft>
              <a:buSzPts val="1900"/>
              <a:buChar char="●"/>
              <a:defRPr/>
            </a:lvl7pPr>
            <a:lvl8pPr marL="3657600" lvl="7" indent="-349250" algn="ctr">
              <a:lnSpc>
                <a:spcPct val="115000"/>
              </a:lnSpc>
              <a:spcBef>
                <a:spcPts val="0"/>
              </a:spcBef>
              <a:spcAft>
                <a:spcPts val="0"/>
              </a:spcAft>
              <a:buSzPts val="1900"/>
              <a:buChar char="○"/>
              <a:defRPr/>
            </a:lvl8pPr>
            <a:lvl9pPr marL="4114800" lvl="8" indent="-349250" algn="ctr">
              <a:lnSpc>
                <a:spcPct val="115000"/>
              </a:lnSpc>
              <a:spcBef>
                <a:spcPts val="0"/>
              </a:spcBef>
              <a:spcAft>
                <a:spcPts val="0"/>
              </a:spcAft>
              <a:buSzPts val="1900"/>
              <a:buChar char="■"/>
              <a:defRPr/>
            </a:lvl9pPr>
          </a:lstStyle>
          <a:p>
            <a:endParaRPr/>
          </a:p>
        </p:txBody>
      </p:sp>
      <p:sp>
        <p:nvSpPr>
          <p:cNvPr id="130" name="Google Shape;130;g3aabd3d1b2d_0_223"/>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1"/>
        <p:cNvGrpSpPr/>
        <p:nvPr/>
      </p:nvGrpSpPr>
      <p:grpSpPr>
        <a:xfrm>
          <a:off x="0" y="0"/>
          <a:ext cx="0" cy="0"/>
          <a:chOff x="0" y="0"/>
          <a:chExt cx="0" cy="0"/>
        </a:xfrm>
      </p:grpSpPr>
      <p:sp>
        <p:nvSpPr>
          <p:cNvPr id="132" name="Google Shape;132;g3aabd3d1b2d_0_227"/>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133"/>
        <p:cNvGrpSpPr/>
        <p:nvPr/>
      </p:nvGrpSpPr>
      <p:grpSpPr>
        <a:xfrm>
          <a:off x="0" y="0"/>
          <a:ext cx="0" cy="0"/>
          <a:chOff x="0" y="0"/>
          <a:chExt cx="0" cy="0"/>
        </a:xfrm>
      </p:grpSpPr>
      <p:sp>
        <p:nvSpPr>
          <p:cNvPr id="134" name="Google Shape;134;g3aabd3d1b2d_0_229"/>
          <p:cNvSpPr txBox="1">
            <a:spLocks noGrp="1"/>
          </p:cNvSpPr>
          <p:nvPr>
            <p:ph type="body" idx="1"/>
          </p:nvPr>
        </p:nvSpPr>
        <p:spPr>
          <a:xfrm>
            <a:off x="609600" y="457200"/>
            <a:ext cx="4876800" cy="5715300"/>
          </a:xfrm>
          <a:prstGeom prst="rect">
            <a:avLst/>
          </a:prstGeom>
          <a:noFill/>
          <a:ln>
            <a:noFill/>
          </a:ln>
        </p:spPr>
        <p:txBody>
          <a:bodyPr spcFirstLastPara="1" wrap="square" lIns="121900" tIns="60925" rIns="121900" bIns="60925" anchor="ctr" anchorCtr="0">
            <a:normAutofit/>
          </a:bodyPr>
          <a:lstStyle>
            <a:lvl1pPr marL="457200" lvl="0" indent="-381000" algn="l">
              <a:lnSpc>
                <a:spcPct val="115000"/>
              </a:lnSpc>
              <a:spcBef>
                <a:spcPts val="500"/>
              </a:spcBef>
              <a:spcAft>
                <a:spcPts val="0"/>
              </a:spcAft>
              <a:buSzPts val="2400"/>
              <a:buChar char="●"/>
              <a:defRPr/>
            </a:lvl1pPr>
            <a:lvl2pPr marL="914400" lvl="1" indent="-381000" algn="l">
              <a:lnSpc>
                <a:spcPct val="115000"/>
              </a:lnSpc>
              <a:spcBef>
                <a:spcPts val="500"/>
              </a:spcBef>
              <a:spcAft>
                <a:spcPts val="0"/>
              </a:spcAft>
              <a:buSzPts val="2400"/>
              <a:buChar char="○"/>
              <a:defRPr/>
            </a:lvl2pPr>
            <a:lvl3pPr marL="1371600" lvl="2" indent="-381000" algn="l">
              <a:lnSpc>
                <a:spcPct val="115000"/>
              </a:lnSpc>
              <a:spcBef>
                <a:spcPts val="500"/>
              </a:spcBef>
              <a:spcAft>
                <a:spcPts val="0"/>
              </a:spcAft>
              <a:buSzPts val="2400"/>
              <a:buChar char="■"/>
              <a:defRPr/>
            </a:lvl3pPr>
            <a:lvl4pPr marL="1828800" lvl="3" indent="-381000" algn="l">
              <a:lnSpc>
                <a:spcPct val="115000"/>
              </a:lnSpc>
              <a:spcBef>
                <a:spcPts val="500"/>
              </a:spcBef>
              <a:spcAft>
                <a:spcPts val="0"/>
              </a:spcAft>
              <a:buSzPts val="2400"/>
              <a:buChar char="●"/>
              <a:defRPr/>
            </a:lvl4pPr>
            <a:lvl5pPr marL="2286000" lvl="4" indent="-349250" algn="l">
              <a:lnSpc>
                <a:spcPct val="115000"/>
              </a:lnSpc>
              <a:spcBef>
                <a:spcPts val="400"/>
              </a:spcBef>
              <a:spcAft>
                <a:spcPts val="0"/>
              </a:spcAft>
              <a:buSzPts val="1900"/>
              <a:buChar char="○"/>
              <a:defRPr/>
            </a:lvl5pPr>
            <a:lvl6pPr marL="2743200" lvl="5" indent="-349250" algn="l">
              <a:lnSpc>
                <a:spcPct val="115000"/>
              </a:lnSpc>
              <a:spcBef>
                <a:spcPts val="400"/>
              </a:spcBef>
              <a:spcAft>
                <a:spcPts val="0"/>
              </a:spcAft>
              <a:buSzPts val="1900"/>
              <a:buChar char="■"/>
              <a:defRPr/>
            </a:lvl6pPr>
            <a:lvl7pPr marL="3200400" lvl="6" indent="-349250" algn="l">
              <a:lnSpc>
                <a:spcPct val="115000"/>
              </a:lnSpc>
              <a:spcBef>
                <a:spcPts val="400"/>
              </a:spcBef>
              <a:spcAft>
                <a:spcPts val="0"/>
              </a:spcAft>
              <a:buSzPts val="1900"/>
              <a:buChar char="●"/>
              <a:defRPr/>
            </a:lvl7pPr>
            <a:lvl8pPr marL="3657600" lvl="7" indent="-349250" algn="l">
              <a:lnSpc>
                <a:spcPct val="115000"/>
              </a:lnSpc>
              <a:spcBef>
                <a:spcPts val="400"/>
              </a:spcBef>
              <a:spcAft>
                <a:spcPts val="0"/>
              </a:spcAft>
              <a:buSzPts val="1900"/>
              <a:buChar char="○"/>
              <a:defRPr/>
            </a:lvl8pPr>
            <a:lvl9pPr marL="4114800" lvl="8" indent="-349250" algn="l">
              <a:lnSpc>
                <a:spcPct val="115000"/>
              </a:lnSpc>
              <a:spcBef>
                <a:spcPts val="400"/>
              </a:spcBef>
              <a:spcAft>
                <a:spcPts val="0"/>
              </a:spcAft>
              <a:buSzPts val="1900"/>
              <a:buChar char="■"/>
              <a:defRPr/>
            </a:lvl9pPr>
          </a:lstStyle>
          <a:p>
            <a:endParaRPr/>
          </a:p>
        </p:txBody>
      </p:sp>
      <p:sp>
        <p:nvSpPr>
          <p:cNvPr id="135" name="Google Shape;135;g3aabd3d1b2d_0_229"/>
          <p:cNvSpPr txBox="1">
            <a:spLocks noGrp="1"/>
          </p:cNvSpPr>
          <p:nvPr>
            <p:ph type="title"/>
          </p:nvPr>
        </p:nvSpPr>
        <p:spPr>
          <a:xfrm>
            <a:off x="6502400" y="457200"/>
            <a:ext cx="3759300" cy="5715300"/>
          </a:xfrm>
          <a:prstGeom prst="rect">
            <a:avLst/>
          </a:prstGeom>
          <a:noFill/>
          <a:ln>
            <a:noFill/>
          </a:ln>
        </p:spPr>
        <p:txBody>
          <a:bodyPr spcFirstLastPara="1" wrap="square" lIns="121900" tIns="60925" rIns="121900" bIns="60925" anchor="ctr" anchorCtr="0">
            <a:normAutofit/>
          </a:bodyPr>
          <a:lstStyle>
            <a:lvl1pPr lvl="0" algn="r">
              <a:lnSpc>
                <a:spcPct val="100000"/>
              </a:lnSpc>
              <a:spcBef>
                <a:spcPts val="0"/>
              </a:spcBef>
              <a:spcAft>
                <a:spcPts val="0"/>
              </a:spcAft>
              <a:buClr>
                <a:schemeClr val="dk1"/>
              </a:buClr>
              <a:buSzPts val="24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36" name="Google Shape;136;g3aabd3d1b2d_0_229"/>
          <p:cNvSpPr txBox="1">
            <a:spLocks noGrp="1"/>
          </p:cNvSpPr>
          <p:nvPr>
            <p:ph type="dt" idx="10"/>
          </p:nvPr>
        </p:nvSpPr>
        <p:spPr>
          <a:xfrm>
            <a:off x="6502401" y="6426201"/>
            <a:ext cx="3759300" cy="126900"/>
          </a:xfrm>
          <a:prstGeom prst="rect">
            <a:avLst/>
          </a:prstGeom>
          <a:noFill/>
          <a:ln>
            <a:noFill/>
          </a:ln>
        </p:spPr>
        <p:txBody>
          <a:bodyPr spcFirstLastPara="1" wrap="square" lIns="121900" tIns="60925" rIns="121900" bIns="60925" anchor="ctr" anchorCtr="0">
            <a:noAutofit/>
          </a:bodyPr>
          <a:lstStyle>
            <a:lvl1pPr marR="0" lvl="0" algn="r">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137" name="Google Shape;137;g3aabd3d1b2d_0_229"/>
          <p:cNvSpPr txBox="1">
            <a:spLocks noGrp="1"/>
          </p:cNvSpPr>
          <p:nvPr>
            <p:ph type="sldNum" idx="12"/>
          </p:nvPr>
        </p:nvSpPr>
        <p:spPr>
          <a:xfrm>
            <a:off x="10363200" y="6400800"/>
            <a:ext cx="711300" cy="152400"/>
          </a:xfrm>
          <a:prstGeom prst="rect">
            <a:avLst/>
          </a:prstGeom>
          <a:noFill/>
          <a:ln>
            <a:noFill/>
          </a:ln>
        </p:spPr>
        <p:txBody>
          <a:bodyPr spcFirstLastPara="1" wrap="square" lIns="121900" tIns="60925" rIns="121900" bIns="60925" anchor="ctr" anchorCtr="0">
            <a:normAutofit fontScale="25000" lnSpcReduction="20000"/>
          </a:bodyPr>
          <a:lstStyle>
            <a:lvl1pPr marL="0" marR="0" lvl="0" indent="0" algn="ctr">
              <a:lnSpc>
                <a:spcPct val="100000"/>
              </a:lnSpc>
              <a:spcBef>
                <a:spcPts val="0"/>
              </a:spcBef>
              <a:spcAft>
                <a:spcPts val="0"/>
              </a:spcAft>
              <a:buClr>
                <a:srgbClr val="000000"/>
              </a:buClr>
              <a:buSzPts val="5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ctr">
              <a:lnSpc>
                <a:spcPct val="100000"/>
              </a:lnSpc>
              <a:spcBef>
                <a:spcPts val="0"/>
              </a:spcBef>
              <a:spcAft>
                <a:spcPts val="0"/>
              </a:spcAft>
              <a:buClr>
                <a:srgbClr val="000000"/>
              </a:buClr>
              <a:buSzPts val="5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ctr">
              <a:lnSpc>
                <a:spcPct val="100000"/>
              </a:lnSpc>
              <a:spcBef>
                <a:spcPts val="0"/>
              </a:spcBef>
              <a:spcAft>
                <a:spcPts val="0"/>
              </a:spcAft>
              <a:buClr>
                <a:srgbClr val="000000"/>
              </a:buClr>
              <a:buSzPts val="5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ctr">
              <a:lnSpc>
                <a:spcPct val="100000"/>
              </a:lnSpc>
              <a:spcBef>
                <a:spcPts val="0"/>
              </a:spcBef>
              <a:spcAft>
                <a:spcPts val="0"/>
              </a:spcAft>
              <a:buClr>
                <a:srgbClr val="000000"/>
              </a:buClr>
              <a:buSzPts val="5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ctr">
              <a:lnSpc>
                <a:spcPct val="100000"/>
              </a:lnSpc>
              <a:spcBef>
                <a:spcPts val="0"/>
              </a:spcBef>
              <a:spcAft>
                <a:spcPts val="0"/>
              </a:spcAft>
              <a:buClr>
                <a:srgbClr val="000000"/>
              </a:buClr>
              <a:buSzPts val="5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ctr">
              <a:lnSpc>
                <a:spcPct val="100000"/>
              </a:lnSpc>
              <a:spcBef>
                <a:spcPts val="0"/>
              </a:spcBef>
              <a:spcAft>
                <a:spcPts val="0"/>
              </a:spcAft>
              <a:buClr>
                <a:srgbClr val="000000"/>
              </a:buClr>
              <a:buSzPts val="5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ctr">
              <a:lnSpc>
                <a:spcPct val="100000"/>
              </a:lnSpc>
              <a:spcBef>
                <a:spcPts val="0"/>
              </a:spcBef>
              <a:spcAft>
                <a:spcPts val="0"/>
              </a:spcAft>
              <a:buClr>
                <a:srgbClr val="000000"/>
              </a:buClr>
              <a:buSzPts val="5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ctr">
              <a:lnSpc>
                <a:spcPct val="100000"/>
              </a:lnSpc>
              <a:spcBef>
                <a:spcPts val="0"/>
              </a:spcBef>
              <a:spcAft>
                <a:spcPts val="0"/>
              </a:spcAft>
              <a:buClr>
                <a:srgbClr val="000000"/>
              </a:buClr>
              <a:buSzPts val="5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ctr">
              <a:lnSpc>
                <a:spcPct val="100000"/>
              </a:lnSpc>
              <a:spcBef>
                <a:spcPts val="0"/>
              </a:spcBef>
              <a:spcAft>
                <a:spcPts val="0"/>
              </a:spcAft>
              <a:buClr>
                <a:srgbClr val="000000"/>
              </a:buClr>
              <a:buSzPts val="5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ctr" rtl="0">
              <a:spcBef>
                <a:spcPts val="0"/>
              </a:spcBef>
              <a:spcAft>
                <a:spcPts val="0"/>
              </a:spcAft>
              <a:buNone/>
            </a:pPr>
            <a:fld id="{00000000-1234-1234-1234-123412341234}" type="slidenum">
              <a:rPr lang="en-US"/>
              <a:t>‹N°›</a:t>
            </a:fld>
            <a:endParaRPr lang="en-US"/>
          </a:p>
        </p:txBody>
      </p:sp>
      <p:sp>
        <p:nvSpPr>
          <p:cNvPr id="138" name="Google Shape;138;g3aabd3d1b2d_0_229"/>
          <p:cNvSpPr txBox="1">
            <a:spLocks noGrp="1"/>
          </p:cNvSpPr>
          <p:nvPr>
            <p:ph type="ftr" idx="11"/>
          </p:nvPr>
        </p:nvSpPr>
        <p:spPr>
          <a:xfrm>
            <a:off x="6500284" y="6296248"/>
            <a:ext cx="3761100" cy="152400"/>
          </a:xfrm>
          <a:prstGeom prst="rect">
            <a:avLst/>
          </a:prstGeom>
          <a:noFill/>
          <a:ln>
            <a:noFill/>
          </a:ln>
        </p:spPr>
        <p:txBody>
          <a:bodyPr spcFirstLastPara="1" wrap="square" lIns="121900" tIns="60925" rIns="121900" bIns="60925" anchor="b" anchorCtr="0">
            <a:noAutofit/>
          </a:bodyPr>
          <a:lstStyle>
            <a:lvl1pPr marR="0" lvl="0" algn="r">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ustom Layout 2 1 1">
  <p:cSld name="CUSTOM_1_1_1_3_2">
    <p:spTree>
      <p:nvGrpSpPr>
        <p:cNvPr id="1" name="Shape 139"/>
        <p:cNvGrpSpPr/>
        <p:nvPr/>
      </p:nvGrpSpPr>
      <p:grpSpPr>
        <a:xfrm>
          <a:off x="0" y="0"/>
          <a:ext cx="0" cy="0"/>
          <a:chOff x="0" y="0"/>
          <a:chExt cx="0" cy="0"/>
        </a:xfrm>
      </p:grpSpPr>
      <p:sp>
        <p:nvSpPr>
          <p:cNvPr id="140" name="Google Shape;140;g3aabd3d1b2d_0_235"/>
          <p:cNvSpPr txBox="1"/>
          <p:nvPr/>
        </p:nvSpPr>
        <p:spPr>
          <a:xfrm>
            <a:off x="0" y="0"/>
            <a:ext cx="3495900" cy="6858000"/>
          </a:xfrm>
          <a:prstGeom prst="rect">
            <a:avLst/>
          </a:prstGeom>
          <a:solidFill>
            <a:srgbClr val="D9D2E9"/>
          </a:solidFill>
          <a:ln>
            <a:noFill/>
          </a:ln>
        </p:spPr>
        <p:txBody>
          <a:bodyPr spcFirstLastPara="1" wrap="square" lIns="121900" tIns="121900" rIns="121900" bIns="121900" anchor="t" anchorCtr="0">
            <a:noAutofit/>
          </a:bodyPr>
          <a:lstStyle/>
          <a:p>
            <a:pPr marL="0" lvl="0" indent="0" algn="l" rtl="0">
              <a:spcBef>
                <a:spcPts val="0"/>
              </a:spcBef>
              <a:spcAft>
                <a:spcPts val="0"/>
              </a:spcAft>
              <a:buNone/>
            </a:pPr>
            <a:endParaRPr/>
          </a:p>
        </p:txBody>
      </p:sp>
      <p:sp>
        <p:nvSpPr>
          <p:cNvPr id="141" name="Google Shape;141;g3aabd3d1b2d_0_235"/>
          <p:cNvSpPr txBox="1">
            <a:spLocks noGrp="1"/>
          </p:cNvSpPr>
          <p:nvPr>
            <p:ph type="sldNum" idx="12"/>
          </p:nvPr>
        </p:nvSpPr>
        <p:spPr>
          <a:xfrm>
            <a:off x="11409045" y="6333134"/>
            <a:ext cx="731700" cy="524700"/>
          </a:xfrm>
          <a:prstGeom prst="rect">
            <a:avLst/>
          </a:prstGeom>
        </p:spPr>
        <p:txBody>
          <a:bodyPr spcFirstLastPara="1" wrap="square" lIns="121900" tIns="121900" rIns="121900" bIns="121900" anchor="t" anchorCtr="0">
            <a:normAutofit/>
          </a:bodyPr>
          <a:lstStyle>
            <a:lvl1pPr lvl="0">
              <a:buNone/>
              <a:defRPr sz="1700"/>
            </a:lvl1pPr>
            <a:lvl2pPr lvl="1">
              <a:buNone/>
              <a:defRPr sz="1700"/>
            </a:lvl2pPr>
            <a:lvl3pPr lvl="2">
              <a:buNone/>
              <a:defRPr sz="1700"/>
            </a:lvl3pPr>
            <a:lvl4pPr lvl="3">
              <a:buNone/>
              <a:defRPr sz="1700"/>
            </a:lvl4pPr>
            <a:lvl5pPr lvl="4">
              <a:buNone/>
              <a:defRPr sz="1700"/>
            </a:lvl5pPr>
            <a:lvl6pPr lvl="5">
              <a:buNone/>
              <a:defRPr sz="1700"/>
            </a:lvl6pPr>
            <a:lvl7pPr lvl="6">
              <a:buNone/>
              <a:defRPr sz="1700"/>
            </a:lvl7pPr>
            <a:lvl8pPr lvl="7">
              <a:buNone/>
              <a:defRPr sz="1700"/>
            </a:lvl8pPr>
            <a:lvl9pPr lvl="8">
              <a:buNone/>
              <a:defRPr sz="1700"/>
            </a:lvl9pPr>
          </a:lstStyle>
          <a:p>
            <a:pPr marL="0" lvl="0" indent="0" algn="r" rtl="0">
              <a:spcBef>
                <a:spcPts val="0"/>
              </a:spcBef>
              <a:spcAft>
                <a:spcPts val="0"/>
              </a:spcAft>
              <a:buNone/>
            </a:pPr>
            <a:fld id="{00000000-1234-1234-1234-123412341234}" type="slidenum">
              <a:rPr lang="en-US"/>
              <a:t>‹N°›</a:t>
            </a:fld>
            <a:endParaRPr lang="en-US"/>
          </a:p>
        </p:txBody>
      </p:sp>
      <p:sp>
        <p:nvSpPr>
          <p:cNvPr id="142" name="Google Shape;142;g3aabd3d1b2d_0_235"/>
          <p:cNvSpPr txBox="1">
            <a:spLocks noGrp="1"/>
          </p:cNvSpPr>
          <p:nvPr>
            <p:ph type="title"/>
          </p:nvPr>
        </p:nvSpPr>
        <p:spPr>
          <a:xfrm>
            <a:off x="325667" y="2918467"/>
            <a:ext cx="2844900" cy="763500"/>
          </a:xfrm>
          <a:prstGeom prst="rect">
            <a:avLst/>
          </a:prstGeom>
        </p:spPr>
        <p:txBody>
          <a:bodyPr spcFirstLastPara="1" wrap="square" lIns="0" tIns="0" rIns="121900" bIns="0" anchor="t" anchorCtr="0">
            <a:spAutoFit/>
          </a:bodyPr>
          <a:lstStyle>
            <a:lvl1pPr lvl="0">
              <a:spcBef>
                <a:spcPts val="0"/>
              </a:spcBef>
              <a:spcAft>
                <a:spcPts val="0"/>
              </a:spcAft>
              <a:buSzPts val="2700"/>
              <a:buFont typeface="Source Serif Pro"/>
              <a:buNone/>
              <a:defRPr sz="2700">
                <a:latin typeface="Source Serif Pro"/>
                <a:ea typeface="Source Serif Pro"/>
                <a:cs typeface="Source Serif Pro"/>
                <a:sym typeface="Source Serif Pro"/>
              </a:defRPr>
            </a:lvl1pPr>
            <a:lvl2pPr lvl="1">
              <a:spcBef>
                <a:spcPts val="0"/>
              </a:spcBef>
              <a:spcAft>
                <a:spcPts val="0"/>
              </a:spcAft>
              <a:buSzPts val="2700"/>
              <a:buFont typeface="Source Serif Pro"/>
              <a:buNone/>
              <a:defRPr sz="2700">
                <a:latin typeface="Source Serif Pro"/>
                <a:ea typeface="Source Serif Pro"/>
                <a:cs typeface="Source Serif Pro"/>
                <a:sym typeface="Source Serif Pro"/>
              </a:defRPr>
            </a:lvl2pPr>
            <a:lvl3pPr lvl="2">
              <a:spcBef>
                <a:spcPts val="0"/>
              </a:spcBef>
              <a:spcAft>
                <a:spcPts val="0"/>
              </a:spcAft>
              <a:buSzPts val="2700"/>
              <a:buFont typeface="Source Serif Pro"/>
              <a:buNone/>
              <a:defRPr sz="2700">
                <a:latin typeface="Source Serif Pro"/>
                <a:ea typeface="Source Serif Pro"/>
                <a:cs typeface="Source Serif Pro"/>
                <a:sym typeface="Source Serif Pro"/>
              </a:defRPr>
            </a:lvl3pPr>
            <a:lvl4pPr lvl="3">
              <a:spcBef>
                <a:spcPts val="0"/>
              </a:spcBef>
              <a:spcAft>
                <a:spcPts val="0"/>
              </a:spcAft>
              <a:buSzPts val="2700"/>
              <a:buFont typeface="Source Serif Pro"/>
              <a:buNone/>
              <a:defRPr sz="2700">
                <a:latin typeface="Source Serif Pro"/>
                <a:ea typeface="Source Serif Pro"/>
                <a:cs typeface="Source Serif Pro"/>
                <a:sym typeface="Source Serif Pro"/>
              </a:defRPr>
            </a:lvl4pPr>
            <a:lvl5pPr lvl="4">
              <a:spcBef>
                <a:spcPts val="0"/>
              </a:spcBef>
              <a:spcAft>
                <a:spcPts val="0"/>
              </a:spcAft>
              <a:buSzPts val="2700"/>
              <a:buFont typeface="Source Serif Pro"/>
              <a:buNone/>
              <a:defRPr sz="2700">
                <a:latin typeface="Source Serif Pro"/>
                <a:ea typeface="Source Serif Pro"/>
                <a:cs typeface="Source Serif Pro"/>
                <a:sym typeface="Source Serif Pro"/>
              </a:defRPr>
            </a:lvl5pPr>
            <a:lvl6pPr lvl="5">
              <a:spcBef>
                <a:spcPts val="0"/>
              </a:spcBef>
              <a:spcAft>
                <a:spcPts val="0"/>
              </a:spcAft>
              <a:buSzPts val="2700"/>
              <a:buFont typeface="Source Serif Pro"/>
              <a:buNone/>
              <a:defRPr sz="2700">
                <a:latin typeface="Source Serif Pro"/>
                <a:ea typeface="Source Serif Pro"/>
                <a:cs typeface="Source Serif Pro"/>
                <a:sym typeface="Source Serif Pro"/>
              </a:defRPr>
            </a:lvl6pPr>
            <a:lvl7pPr lvl="6">
              <a:spcBef>
                <a:spcPts val="0"/>
              </a:spcBef>
              <a:spcAft>
                <a:spcPts val="0"/>
              </a:spcAft>
              <a:buSzPts val="2700"/>
              <a:buFont typeface="Source Serif Pro"/>
              <a:buNone/>
              <a:defRPr sz="2700">
                <a:latin typeface="Source Serif Pro"/>
                <a:ea typeface="Source Serif Pro"/>
                <a:cs typeface="Source Serif Pro"/>
                <a:sym typeface="Source Serif Pro"/>
              </a:defRPr>
            </a:lvl7pPr>
            <a:lvl8pPr lvl="7">
              <a:spcBef>
                <a:spcPts val="0"/>
              </a:spcBef>
              <a:spcAft>
                <a:spcPts val="0"/>
              </a:spcAft>
              <a:buSzPts val="2700"/>
              <a:buFont typeface="Source Serif Pro"/>
              <a:buNone/>
              <a:defRPr sz="2700">
                <a:latin typeface="Source Serif Pro"/>
                <a:ea typeface="Source Serif Pro"/>
                <a:cs typeface="Source Serif Pro"/>
                <a:sym typeface="Source Serif Pro"/>
              </a:defRPr>
            </a:lvl8pPr>
            <a:lvl9pPr lvl="8">
              <a:spcBef>
                <a:spcPts val="0"/>
              </a:spcBef>
              <a:spcAft>
                <a:spcPts val="0"/>
              </a:spcAft>
              <a:buSzPts val="2700"/>
              <a:buFont typeface="Source Serif Pro"/>
              <a:buNone/>
              <a:defRPr sz="2700">
                <a:latin typeface="Source Serif Pro"/>
                <a:ea typeface="Source Serif Pro"/>
                <a:cs typeface="Source Serif Pro"/>
                <a:sym typeface="Source Serif Pro"/>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panose="00000500000000000000"/>
              <a:buNone/>
              <a:defRPr sz="4400" b="0" i="0" u="none" strike="noStrike" cap="none">
                <a:solidFill>
                  <a:schemeClr val="dk1"/>
                </a:solidFill>
                <a:latin typeface="Play" panose="00000500000000000000"/>
                <a:ea typeface="Play" panose="00000500000000000000"/>
                <a:cs typeface="Play" panose="00000500000000000000"/>
                <a:sym typeface="Play" panose="00000500000000000000"/>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2" name="Google Shape;1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3" name="Google Shape;1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4" name="Google Shape;1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
        <p:cNvGrpSpPr/>
        <p:nvPr/>
      </p:nvGrpSpPr>
      <p:grpSpPr>
        <a:xfrm>
          <a:off x="0" y="0"/>
          <a:ext cx="0" cy="0"/>
          <a:chOff x="0" y="0"/>
          <a:chExt cx="0" cy="0"/>
        </a:xfrm>
      </p:grpSpPr>
      <p:sp>
        <p:nvSpPr>
          <p:cNvPr id="89" name="Google Shape;89;g3aabd3d1b2d_0_184"/>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marR="0" lvl="0" algn="l">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0" name="Google Shape;90;g3aabd3d1b2d_0_184"/>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marR="0" lvl="0" indent="-381000" algn="l">
              <a:lnSpc>
                <a:spcPct val="115000"/>
              </a:lnSpc>
              <a:spcBef>
                <a:spcPts val="0"/>
              </a:spcBef>
              <a:spcAft>
                <a:spcPts val="0"/>
              </a:spcAft>
              <a:buClr>
                <a:schemeClr val="dk2"/>
              </a:buClr>
              <a:buSzPts val="2400"/>
              <a:buFont typeface="Arial" panose="020B0604020202020204"/>
              <a:buChar char="●"/>
              <a:defRPr sz="24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914400" marR="0" lvl="1" indent="-349250" algn="l">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49250" algn="l">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49250" algn="l">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49250" algn="l">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49250" algn="l">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49250" algn="l">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49250" algn="l">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49250" algn="l">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endParaRPr/>
          </a:p>
        </p:txBody>
      </p:sp>
      <p:sp>
        <p:nvSpPr>
          <p:cNvPr id="91" name="Google Shape;91;g3aabd3d1b2d_0_184"/>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15.xml"/><Relationship Id="rId4" Type="http://schemas.openxmlformats.org/officeDocument/2006/relationships/image" Target="../media/image10.jp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g3aabd3d1b2d_0_149"/>
          <p:cNvPicPr preferRelativeResize="0"/>
          <p:nvPr/>
        </p:nvPicPr>
        <p:blipFill rotWithShape="1">
          <a:blip r:embed="rId3"/>
          <a:srcRect l="-17785"/>
          <a:stretch>
            <a:fillRect/>
          </a:stretch>
        </p:blipFill>
        <p:spPr>
          <a:xfrm>
            <a:off x="-681739" y="1646127"/>
            <a:ext cx="4525279" cy="3703095"/>
          </a:xfrm>
          <a:prstGeom prst="rect">
            <a:avLst/>
          </a:prstGeom>
          <a:noFill/>
          <a:ln>
            <a:noFill/>
          </a:ln>
        </p:spPr>
      </p:pic>
      <p:sp>
        <p:nvSpPr>
          <p:cNvPr id="148" name="Google Shape;148;g3aabd3d1b2d_0_149"/>
          <p:cNvSpPr txBox="1"/>
          <p:nvPr/>
        </p:nvSpPr>
        <p:spPr>
          <a:xfrm>
            <a:off x="4210333" y="1516432"/>
            <a:ext cx="7704576" cy="351276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3200"/>
              <a:buFont typeface="Arial" panose="020B0604020202020204"/>
              <a:buNone/>
            </a:pPr>
            <a:r>
              <a:rPr lang="en-US" sz="40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t>
            </a:r>
            <a:r>
              <a:rPr lang="en-US" sz="4000" b="1"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annuelle</a:t>
            </a:r>
            <a:r>
              <a:rPr lang="en-US" sz="40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2025</a:t>
            </a:r>
            <a:endParaRPr sz="4000" b="1"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3200"/>
              <a:buFont typeface="Arial" panose="020B0604020202020204"/>
              <a:buNone/>
            </a:pPr>
            <a:r>
              <a:rPr lang="en-US" sz="4000" b="1" i="1"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Présentation</a:t>
            </a:r>
            <a:r>
              <a:rPr lang="en-US" sz="4000" b="1" i="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de la province du Kwilu</a:t>
            </a:r>
            <a:r>
              <a:rPr lang="" altLang="en-US" sz="4000" b="1" i="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avec bonnes performances</a:t>
            </a:r>
            <a:endParaRPr sz="4000" b="1" i="1"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3200"/>
              <a:buFont typeface="Arial" panose="020B0604020202020204"/>
              <a:buNone/>
            </a:pPr>
            <a:endParaRPr lang="" altLang="en-US" sz="4300" b="1" i="1"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g3aabd3d1b2d_0_149"/>
          <p:cNvSpPr/>
          <p:nvPr/>
        </p:nvSpPr>
        <p:spPr>
          <a:xfrm>
            <a:off x="3661467" y="1516428"/>
            <a:ext cx="373500" cy="1867200"/>
          </a:xfrm>
          <a:prstGeom prst="rect">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700"/>
              <a:buFont typeface="Arial" panose="020B0604020202020204"/>
              <a:buNone/>
            </a:pPr>
            <a:endParaRPr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g3aabd3d1b2d_0_149"/>
          <p:cNvSpPr/>
          <p:nvPr/>
        </p:nvSpPr>
        <p:spPr>
          <a:xfrm>
            <a:off x="3659879" y="1516428"/>
            <a:ext cx="373500" cy="1867200"/>
          </a:xfrm>
          <a:prstGeom prst="rect">
            <a:avLst/>
          </a:prstGeom>
          <a:solidFill>
            <a:srgbClr val="1155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700"/>
              <a:buFont typeface="Arial" panose="020B0604020202020204"/>
              <a:buNone/>
            </a:pPr>
            <a:endParaRPr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g3aabd3d1b2d_0_149"/>
          <p:cNvSpPr txBox="1"/>
          <p:nvPr/>
        </p:nvSpPr>
        <p:spPr>
          <a:xfrm>
            <a:off x="4717875" y="6162200"/>
            <a:ext cx="4525200" cy="398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200"/>
              <a:buFont typeface="Arial" panose="020B0604020202020204"/>
              <a:buNone/>
            </a:pPr>
            <a:r>
              <a:rPr lang="en-US" sz="2000" b="1">
                <a:solidFill>
                  <a:srgbClr val="1155CC"/>
                </a:solidFill>
                <a:latin typeface="Times New Roman" panose="02020603050405020304"/>
                <a:ea typeface="Times New Roman" panose="02020603050405020304"/>
                <a:cs typeface="Times New Roman" panose="02020603050405020304"/>
                <a:sym typeface="Times New Roman" panose="02020603050405020304"/>
              </a:rPr>
              <a:t>Decembre 2025</a:t>
            </a:r>
            <a:endParaRPr sz="2000" b="1">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aabd3d1b2d_0_156"/>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Agenda</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7" name="Google Shape;157;g3aabd3d1b2d_0_156"/>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8" name="Google Shape;158;g3aabd3d1b2d_0_156"/>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9" name="Google Shape;159;g3aabd3d1b2d_0_156"/>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2</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sp>
        <p:nvSpPr>
          <p:cNvPr id="160" name="Google Shape;160;g3aabd3d1b2d_0_156"/>
          <p:cNvSpPr txBox="1"/>
          <p:nvPr/>
        </p:nvSpPr>
        <p:spPr>
          <a:xfrm>
            <a:off x="566533" y="1550500"/>
            <a:ext cx="10714500" cy="4737154"/>
          </a:xfrm>
          <a:prstGeom prst="rect">
            <a:avLst/>
          </a:prstGeom>
          <a:noFill/>
          <a:ln>
            <a:noFill/>
          </a:ln>
        </p:spPr>
        <p:txBody>
          <a:bodyPr spcFirstLastPara="1" wrap="square" lIns="121900" tIns="121900" rIns="121900" bIns="121900" anchor="t" anchorCtr="0">
            <a:spAutoFit/>
          </a:bodyPr>
          <a:lstStyle/>
          <a:p>
            <a:pPr marL="704850" marR="0" lvl="0" indent="-571500" algn="l" rtl="0">
              <a:lnSpc>
                <a:spcPct val="100000"/>
              </a:lnSpc>
              <a:spcBef>
                <a:spcPts val="1300"/>
              </a:spcBef>
              <a:spcAft>
                <a:spcPts val="0"/>
              </a:spcAft>
              <a:buClr>
                <a:schemeClr val="dk1"/>
              </a:buClr>
              <a:buSzPts val="2700"/>
              <a:buFont typeface="+mj-lt"/>
              <a:buAutoNum type="romanUcPeriod"/>
            </a:pPr>
            <a:r>
              <a:rPr lang="en-US" sz="27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Présentation</a:t>
            </a:r>
            <a:r>
              <a:rPr lang="en-US" sz="27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de la Province</a:t>
            </a:r>
            <a:endParaRPr sz="27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04850" marR="0" lvl="0" indent="-571500" algn="l" rtl="0">
              <a:lnSpc>
                <a:spcPct val="100000"/>
              </a:lnSpc>
              <a:spcBef>
                <a:spcPts val="1300"/>
              </a:spcBef>
              <a:spcAft>
                <a:spcPts val="0"/>
              </a:spcAft>
              <a:buClr>
                <a:schemeClr val="dk1"/>
              </a:buClr>
              <a:buSzPts val="2700"/>
              <a:buFont typeface="+mj-lt"/>
              <a:buAutoNum type="romanUcPeriod"/>
            </a:pPr>
            <a:r>
              <a:rPr lang="en-US" sz="27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Facteurs</a:t>
            </a:r>
            <a:r>
              <a:rPr lang="en-US" sz="27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7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expliquant</a:t>
            </a:r>
            <a:r>
              <a:rPr lang="en-US" sz="27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la performance (leadership, </a:t>
            </a:r>
            <a:r>
              <a:rPr lang="en-US" sz="27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mobilisation</a:t>
            </a:r>
            <a:r>
              <a:rPr lang="en-US" sz="27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7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communautaire</a:t>
            </a:r>
            <a:r>
              <a:rPr lang="en-US" sz="27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7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intégration</a:t>
            </a:r>
            <a:r>
              <a:rPr lang="en-US" sz="27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supervision)</a:t>
            </a:r>
            <a:endParaRPr sz="27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04850" marR="0" lvl="0" indent="-571500" algn="l" rtl="0">
              <a:lnSpc>
                <a:spcPct val="100000"/>
              </a:lnSpc>
              <a:spcBef>
                <a:spcPts val="1300"/>
              </a:spcBef>
              <a:spcAft>
                <a:spcPts val="0"/>
              </a:spcAft>
              <a:buClr>
                <a:schemeClr val="dk1"/>
              </a:buClr>
              <a:buSzPts val="2700"/>
              <a:buFont typeface="+mj-lt"/>
              <a:buAutoNum type="romanUcPeriod"/>
            </a:pPr>
            <a:r>
              <a:rPr lang="en-US" sz="27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Résultats</a:t>
            </a:r>
            <a:r>
              <a:rPr lang="en-US" sz="27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7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comparés</a:t>
            </a:r>
            <a:r>
              <a:rPr lang="en-US" sz="27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aux </a:t>
            </a:r>
            <a:r>
              <a:rPr lang="en-US" sz="27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cibles</a:t>
            </a:r>
            <a:endParaRPr sz="27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04850" marR="0" lvl="0" indent="-571500" algn="l" rtl="0">
              <a:lnSpc>
                <a:spcPct val="100000"/>
              </a:lnSpc>
              <a:spcBef>
                <a:spcPts val="1300"/>
              </a:spcBef>
              <a:spcAft>
                <a:spcPts val="0"/>
              </a:spcAft>
              <a:buClr>
                <a:schemeClr val="dk1"/>
              </a:buClr>
              <a:buSzPts val="2700"/>
              <a:buFont typeface="+mj-lt"/>
              <a:buAutoNum type="romanUcPeriod"/>
            </a:pPr>
            <a:r>
              <a:rPr lang="en-US" sz="27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Défis</a:t>
            </a:r>
            <a:r>
              <a:rPr lang="en-US" sz="27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persistants malgré les performances</a:t>
            </a:r>
            <a:endParaRPr sz="27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04850" marR="0" lvl="0" indent="-571500" algn="l" rtl="0">
              <a:lnSpc>
                <a:spcPct val="100000"/>
              </a:lnSpc>
              <a:spcBef>
                <a:spcPts val="1300"/>
              </a:spcBef>
              <a:spcAft>
                <a:spcPts val="0"/>
              </a:spcAft>
              <a:buClr>
                <a:schemeClr val="dk1"/>
              </a:buClr>
              <a:buSzPts val="2700"/>
              <a:buFont typeface="+mj-lt"/>
              <a:buAutoNum type="romanUcPeriod"/>
            </a:pPr>
            <a:r>
              <a:rPr lang="en-US" sz="27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Bonnes</a:t>
            </a:r>
            <a:r>
              <a:rPr lang="en-US" sz="27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7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pratiques</a:t>
            </a:r>
            <a:r>
              <a:rPr lang="en-US" sz="27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7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transférables</a:t>
            </a:r>
            <a:endParaRPr sz="27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04850" marR="0" lvl="0" indent="-571500" algn="l" rtl="0">
              <a:lnSpc>
                <a:spcPct val="100000"/>
              </a:lnSpc>
              <a:spcBef>
                <a:spcPts val="1300"/>
              </a:spcBef>
              <a:spcAft>
                <a:spcPts val="0"/>
              </a:spcAft>
              <a:buClr>
                <a:schemeClr val="dk1"/>
              </a:buClr>
              <a:buSzPts val="2700"/>
              <a:buFont typeface="+mj-lt"/>
              <a:buAutoNum type="romanUcPeriod"/>
            </a:pPr>
            <a:r>
              <a:rPr lang="en-US" sz="27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Besoins</a:t>
            </a:r>
            <a:r>
              <a:rPr lang="en-US" sz="27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pour </a:t>
            </a:r>
            <a:r>
              <a:rPr lang="en-US" sz="27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maintenir</a:t>
            </a:r>
            <a:r>
              <a:rPr lang="en-US" sz="27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les </a:t>
            </a:r>
            <a:r>
              <a:rPr lang="en-US" sz="27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acquis</a:t>
            </a:r>
            <a:endParaRPr sz="27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04850" marR="0" lvl="0" indent="-571500" algn="l" rtl="0">
              <a:lnSpc>
                <a:spcPct val="100000"/>
              </a:lnSpc>
              <a:spcBef>
                <a:spcPts val="1300"/>
              </a:spcBef>
              <a:spcAft>
                <a:spcPts val="0"/>
              </a:spcAft>
              <a:buClr>
                <a:schemeClr val="dk1"/>
              </a:buClr>
              <a:buSzPts val="2700"/>
              <a:buFont typeface="+mj-lt"/>
              <a:buAutoNum type="romanUcPeriod"/>
            </a:pPr>
            <a:r>
              <a:rPr lang="en-US" sz="27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Recommandations</a:t>
            </a:r>
            <a:endParaRPr sz="27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Espace réservé du numéro de diapositive 1">
            <a:extLst>
              <a:ext uri="{FF2B5EF4-FFF2-40B4-BE49-F238E27FC236}">
                <a16:creationId xmlns="" xmlns:a16="http://schemas.microsoft.com/office/drawing/2014/main" id="{A5F72A82-06D8-4BF6-ACBF-9D2B80CA4CB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aabd3d1b2d_0_164"/>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I. </a:t>
            </a:r>
            <a:r>
              <a:rPr lang="en-US" sz="2700"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Présentation</a:t>
            </a:r>
            <a:r>
              <a:rPr lang="en-US"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de la DPS du Kwilu</a:t>
            </a: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6" name="Google Shape;166;g3aabd3d1b2d_0_164"/>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7" name="Google Shape;167;g3aabd3d1b2d_0_164"/>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8" name="Google Shape;168;g3aabd3d1b2d_0_164"/>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3</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69" name="Google Shape;169;g3aabd3d1b2d_0_164"/>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170" name="Google Shape;170;g3aabd3d1b2d_0_164"/>
          <p:cNvSpPr/>
          <p:nvPr/>
        </p:nvSpPr>
        <p:spPr>
          <a:xfrm>
            <a:off x="458600" y="1323703"/>
            <a:ext cx="5575200" cy="4764900"/>
          </a:xfrm>
          <a:prstGeom prst="rect">
            <a:avLst/>
          </a:prstGeom>
          <a:solidFill>
            <a:schemeClr val="lt2"/>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marL="0" lvl="0" indent="0" algn="ctr" rtl="0">
              <a:spcBef>
                <a:spcPts val="0"/>
              </a:spcBef>
              <a:spcAft>
                <a:spcPts val="0"/>
              </a:spcAft>
              <a:buNone/>
            </a:pPr>
            <a:r>
              <a:rPr lang="en-US" sz="2000">
                <a:latin typeface="Times New Roman" panose="02020603050405020304"/>
                <a:ea typeface="Times New Roman" panose="02020603050405020304"/>
                <a:cs typeface="Times New Roman" panose="02020603050405020304"/>
                <a:sym typeface="Times New Roman" panose="02020603050405020304"/>
              </a:rPr>
              <a:t>Cartographie de la province avec les antennes</a:t>
            </a:r>
            <a:endParaRPr sz="2000">
              <a:latin typeface="Times New Roman" panose="02020603050405020304"/>
              <a:ea typeface="Times New Roman" panose="02020603050405020304"/>
              <a:cs typeface="Times New Roman" panose="02020603050405020304"/>
              <a:sym typeface="Times New Roman" panose="02020603050405020304"/>
            </a:endParaRPr>
          </a:p>
        </p:txBody>
      </p:sp>
      <p:sp>
        <p:nvSpPr>
          <p:cNvPr id="171" name="Google Shape;171;g3aabd3d1b2d_0_164"/>
          <p:cNvSpPr/>
          <p:nvPr/>
        </p:nvSpPr>
        <p:spPr>
          <a:xfrm>
            <a:off x="6158290" y="1323703"/>
            <a:ext cx="5575200" cy="4764900"/>
          </a:xfrm>
          <a:prstGeom prst="rect">
            <a:avLst/>
          </a:prstGeom>
          <a:solidFill>
            <a:schemeClr val="accent1">
              <a:lumMod val="20000"/>
              <a:lumOff val="80000"/>
            </a:schemeClr>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marL="457200" lvl="0" indent="-323850" algn="l" rtl="0">
              <a:spcBef>
                <a:spcPts val="0"/>
              </a:spcBef>
              <a:spcAft>
                <a:spcPts val="0"/>
              </a:spcAft>
              <a:buClr>
                <a:schemeClr val="dk1"/>
              </a:buClr>
              <a:buSzPts val="1500"/>
              <a:buFont typeface="Times New Roman" panose="02020603050405020304"/>
              <a:buChar char="●"/>
            </a:pPr>
            <a:r>
              <a:rPr lang="en-US" sz="1600" dirty="0" err="1">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Nombre</a:t>
            </a:r>
            <a:r>
              <a:rPr lang="en-US"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 </a:t>
            </a:r>
            <a:r>
              <a:rPr lang="en-US" sz="1600" dirty="0" err="1">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d’antennes</a:t>
            </a:r>
            <a:r>
              <a:rPr lang="en-US"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 PEV: 2 (BANDUNDU et KIKWIT)</a:t>
            </a:r>
            <a:endParaRPr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600" dirty="0" err="1">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Nombre</a:t>
            </a:r>
            <a:r>
              <a:rPr lang="en-US"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 de ZS: Total ( 24), FAE (0)</a:t>
            </a:r>
            <a:endParaRPr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600" dirty="0" err="1">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Nombre</a:t>
            </a:r>
            <a:r>
              <a:rPr lang="en-US"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 </a:t>
            </a:r>
            <a:r>
              <a:rPr lang="en-US" sz="1600" dirty="0" err="1">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d’AS</a:t>
            </a:r>
            <a:r>
              <a:rPr lang="en-US"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 Total (760), FAE (0)</a:t>
            </a:r>
            <a:endParaRPr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600" dirty="0" err="1">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Nombre</a:t>
            </a:r>
            <a:r>
              <a:rPr lang="en-US"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 d’ESS:1610</a:t>
            </a:r>
            <a:endParaRPr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600" dirty="0" err="1">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Nombre</a:t>
            </a:r>
            <a:r>
              <a:rPr lang="en-US"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 </a:t>
            </a:r>
            <a:r>
              <a:rPr lang="en-US" sz="1600" dirty="0" err="1">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d’ESS</a:t>
            </a:r>
            <a:r>
              <a:rPr lang="en-US"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 qui </a:t>
            </a:r>
            <a:r>
              <a:rPr lang="en-US" sz="1600" dirty="0" err="1">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vaccinent</a:t>
            </a:r>
            <a:r>
              <a:rPr lang="en-US"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 Total (1381), FAE (0)</a:t>
            </a:r>
            <a:endParaRPr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endParaRPr>
          </a:p>
          <a:p>
            <a:pPr marL="457200" indent="-323850">
              <a:buClr>
                <a:schemeClr val="dk1"/>
              </a:buClr>
              <a:buSzPts val="1500"/>
              <a:buFont typeface="Times New Roman" panose="02020603050405020304"/>
              <a:buChar char="●"/>
            </a:pPr>
            <a:r>
              <a:rPr lang="en-US"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Pop </a:t>
            </a:r>
            <a:r>
              <a:rPr lang="en-US" sz="1600" dirty="0" err="1">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totale</a:t>
            </a:r>
            <a:r>
              <a:rPr lang="en-US"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 :</a:t>
            </a:r>
            <a:r>
              <a:rPr lang="fr-FR" sz="1800" b="1" dirty="0">
                <a:latin typeface="Maiandra GD" panose="020E0502030308020204" pitchFamily="34" charset="0"/>
              </a:rPr>
              <a:t>6748439</a:t>
            </a:r>
            <a:r>
              <a:rPr lang="fr-FR" sz="1800" dirty="0">
                <a:latin typeface="Maiandra GD" panose="020E0502030308020204" pitchFamily="34" charset="0"/>
              </a:rPr>
              <a:t> </a:t>
            </a:r>
            <a:r>
              <a:rPr lang="fr-FR" sz="1800" dirty="0">
                <a:latin typeface="Maiandra GD" panose="020E0502030308020204" pitchFamily="34" charset="0"/>
                <a:ea typeface="MS PGothic" panose="020B0600070205080204" pitchFamily="34" charset="-128"/>
                <a:cs typeface="Times New Roman" panose="02020603050405020304" pitchFamily="18" charset="0"/>
              </a:rPr>
              <a:t>Hab</a:t>
            </a:r>
            <a:r>
              <a:rPr lang="fr-FR" sz="2000" dirty="0">
                <a:latin typeface="Maiandra GD" panose="020E0502030308020204" pitchFamily="34" charset="0"/>
                <a:ea typeface="MS PGothic" panose="020B0600070205080204" pitchFamily="34" charset="-128"/>
                <a:cs typeface="Times New Roman" panose="02020603050405020304" pitchFamily="18" charset="0"/>
              </a:rPr>
              <a:t>.</a:t>
            </a:r>
            <a:endParaRPr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Pop de 0-11 mois: 269938 habitants</a:t>
            </a:r>
            <a:endParaRPr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Pop de 12-23 </a:t>
            </a:r>
            <a:r>
              <a:rPr lang="en-US" sz="1600" dirty="0" err="1">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mois</a:t>
            </a:r>
            <a:r>
              <a:rPr lang="en-US"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a:t>
            </a:r>
            <a:endParaRPr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Pop de 0-59 mois: 1.275.455 habitants</a:t>
            </a:r>
            <a:endParaRPr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Couverture en ECF : 69% (525/760)</a:t>
            </a:r>
            <a:endParaRPr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Séances de vaccination </a:t>
            </a:r>
            <a:r>
              <a:rPr lang="en-US" sz="1600" dirty="0" err="1">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planifiées</a:t>
            </a:r>
            <a:r>
              <a:rPr lang="en-US"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 fixe (…), </a:t>
            </a:r>
            <a:r>
              <a:rPr lang="en-US" sz="1600" dirty="0" err="1">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avancée</a:t>
            </a:r>
            <a:r>
              <a:rPr lang="en-US"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 (…), </a:t>
            </a:r>
            <a:r>
              <a:rPr lang="en-US" sz="1600" dirty="0" err="1">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porte</a:t>
            </a:r>
            <a:r>
              <a:rPr lang="en-US"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 à </a:t>
            </a:r>
            <a:r>
              <a:rPr lang="en-US" sz="1600" dirty="0" err="1">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porte</a:t>
            </a:r>
            <a:r>
              <a:rPr lang="en-US"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 (…), point de concentration (…), OVM (…)</a:t>
            </a:r>
            <a:endParaRPr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Existence du plan de </a:t>
            </a:r>
            <a:r>
              <a:rPr lang="en-US" sz="1600" dirty="0" err="1">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contextualisation</a:t>
            </a:r>
            <a:r>
              <a:rPr lang="en-US"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 FAE DPS: NA</a:t>
            </a:r>
            <a:endParaRPr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0% des ZS ayant </a:t>
            </a:r>
            <a:r>
              <a:rPr lang="en-US" sz="1600" dirty="0" err="1">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intégré</a:t>
            </a:r>
            <a:r>
              <a:rPr lang="en-US"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rPr>
              <a:t> les activités FAE dans le PAO :NA</a:t>
            </a:r>
            <a:endParaRPr sz="16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Clr>
                <a:schemeClr val="dk1"/>
              </a:buClr>
              <a:buSzPts val="1100"/>
              <a:buFont typeface="Arial" panose="020B0604020202020204"/>
              <a:buNone/>
            </a:pPr>
            <a:endParaRPr sz="2400" dirty="0">
              <a:solidFill>
                <a:schemeClr val="dk1"/>
              </a:solidFill>
              <a:latin typeface="Maiandra GD" panose="020E0502030308020204" pitchFamily="34" charset="0"/>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endParaRPr sz="1200" dirty="0">
              <a:latin typeface="Times New Roman" panose="02020603050405020304"/>
              <a:ea typeface="Times New Roman" panose="02020603050405020304"/>
              <a:cs typeface="Times New Roman" panose="02020603050405020304"/>
              <a:sym typeface="Times New Roman" panose="02020603050405020304"/>
            </a:endParaRPr>
          </a:p>
        </p:txBody>
      </p:sp>
      <p:pic>
        <p:nvPicPr>
          <p:cNvPr id="9" name="Espace réservé du contenu 5"/>
          <p:cNvPicPr>
            <a:picLocks noChangeAspect="1"/>
          </p:cNvPicPr>
          <p:nvPr/>
        </p:nvPicPr>
        <p:blipFill>
          <a:blip r:embed="rId3"/>
          <a:stretch>
            <a:fillRect/>
          </a:stretch>
        </p:blipFill>
        <p:spPr>
          <a:xfrm>
            <a:off x="539262" y="1389005"/>
            <a:ext cx="5886031" cy="4787958"/>
          </a:xfrm>
          <a:prstGeom prst="rect">
            <a:avLst/>
          </a:prstGeom>
        </p:spPr>
      </p:pic>
      <p:sp>
        <p:nvSpPr>
          <p:cNvPr id="2" name="Espace réservé du numéro de diapositive 1">
            <a:extLst>
              <a:ext uri="{FF2B5EF4-FFF2-40B4-BE49-F238E27FC236}">
                <a16:creationId xmlns="" xmlns:a16="http://schemas.microsoft.com/office/drawing/2014/main" id="{CF4C0A35-17DE-4A3F-9459-A4136C6D7DB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600" y="64182"/>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II. </a:t>
            </a:r>
            <a:r>
              <a:rPr lang="en-US" sz="2700"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Facteurs</a:t>
            </a:r>
            <a:r>
              <a:rPr lang="en-US"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2700"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expliquant</a:t>
            </a:r>
            <a:r>
              <a:rPr lang="en-US"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la performance</a:t>
            </a: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4</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au 2">
            <a:extLst>
              <a:ext uri="{FF2B5EF4-FFF2-40B4-BE49-F238E27FC236}">
                <a16:creationId xmlns="" xmlns:a16="http://schemas.microsoft.com/office/drawing/2014/main" id="{0906C725-7B59-4A71-8A3C-4E250C2EA23A}"/>
              </a:ext>
            </a:extLst>
          </p:cNvPr>
          <p:cNvGraphicFramePr>
            <a:graphicFrameLocks noGrp="1"/>
          </p:cNvGraphicFramePr>
          <p:nvPr>
            <p:extLst>
              <p:ext uri="{D42A27DB-BD31-4B8C-83A1-F6EECF244321}">
                <p14:modId xmlns:p14="http://schemas.microsoft.com/office/powerpoint/2010/main" val="3540183218"/>
              </p:ext>
            </p:extLst>
          </p:nvPr>
        </p:nvGraphicFramePr>
        <p:xfrm>
          <a:off x="93100" y="632123"/>
          <a:ext cx="11640300" cy="6395952"/>
        </p:xfrm>
        <a:graphic>
          <a:graphicData uri="http://schemas.openxmlformats.org/drawingml/2006/table">
            <a:tbl>
              <a:tblPr firstRow="1" bandRow="1">
                <a:tableStyleId>{5940675A-B579-460E-94D1-54222C63F5DA}</a:tableStyleId>
              </a:tblPr>
              <a:tblGrid>
                <a:gridCol w="2328060">
                  <a:extLst>
                    <a:ext uri="{9D8B030D-6E8A-4147-A177-3AD203B41FA5}">
                      <a16:colId xmlns="" xmlns:a16="http://schemas.microsoft.com/office/drawing/2014/main" val="1223290622"/>
                    </a:ext>
                  </a:extLst>
                </a:gridCol>
                <a:gridCol w="2328060">
                  <a:extLst>
                    <a:ext uri="{9D8B030D-6E8A-4147-A177-3AD203B41FA5}">
                      <a16:colId xmlns="" xmlns:a16="http://schemas.microsoft.com/office/drawing/2014/main" val="2173297045"/>
                    </a:ext>
                  </a:extLst>
                </a:gridCol>
                <a:gridCol w="2328060">
                  <a:extLst>
                    <a:ext uri="{9D8B030D-6E8A-4147-A177-3AD203B41FA5}">
                      <a16:colId xmlns="" xmlns:a16="http://schemas.microsoft.com/office/drawing/2014/main" val="2970017990"/>
                    </a:ext>
                  </a:extLst>
                </a:gridCol>
                <a:gridCol w="2328060">
                  <a:extLst>
                    <a:ext uri="{9D8B030D-6E8A-4147-A177-3AD203B41FA5}">
                      <a16:colId xmlns="" xmlns:a16="http://schemas.microsoft.com/office/drawing/2014/main" val="2522194536"/>
                    </a:ext>
                  </a:extLst>
                </a:gridCol>
                <a:gridCol w="2328060">
                  <a:extLst>
                    <a:ext uri="{9D8B030D-6E8A-4147-A177-3AD203B41FA5}">
                      <a16:colId xmlns="" xmlns:a16="http://schemas.microsoft.com/office/drawing/2014/main" val="3237225361"/>
                    </a:ext>
                  </a:extLst>
                </a:gridCol>
              </a:tblGrid>
              <a:tr h="879072">
                <a:tc>
                  <a:txBody>
                    <a:bodyPr/>
                    <a:lstStyle/>
                    <a:p>
                      <a:r>
                        <a:rPr lang="fr-FR" sz="1600" dirty="0"/>
                        <a:t>Désignation</a:t>
                      </a:r>
                      <a:endParaRPr lang="fr-CD" sz="16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fr-FR" sz="1600" dirty="0">
                          <a:sym typeface="Times New Roman" panose="02020603050405020304"/>
                        </a:rPr>
                        <a:t>Problème résolu par la bonne pratique</a:t>
                      </a:r>
                      <a:endParaRPr lang="fr-FR" sz="1600" dirty="0">
                        <a:latin typeface="Times New Roman" panose="02020603050405020304"/>
                        <a:ea typeface="Times New Roman" panose="02020603050405020304"/>
                        <a:cs typeface="Times New Roman" panose="02020603050405020304"/>
                        <a:sym typeface="Times New Roman" panose="02020603050405020304"/>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fr-FR" sz="1600" dirty="0">
                          <a:sym typeface="Times New Roman" panose="02020603050405020304"/>
                        </a:rPr>
                        <a:t>Description de la bonne pratique, personnes impliques</a:t>
                      </a:r>
                      <a:endParaRPr lang="fr-FR" sz="1600" dirty="0">
                        <a:latin typeface="Times New Roman" panose="02020603050405020304"/>
                        <a:ea typeface="Times New Roman" panose="02020603050405020304"/>
                        <a:cs typeface="Times New Roman" panose="02020603050405020304"/>
                        <a:sym typeface="Times New Roman" panose="02020603050405020304"/>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fr-FR" sz="1600" dirty="0">
                          <a:sym typeface="Times New Roman" panose="02020603050405020304"/>
                        </a:rPr>
                        <a:t>Résultats de la bonne pratique</a:t>
                      </a:r>
                    </a:p>
                    <a:p>
                      <a:endParaRPr lang="fr-CD" sz="16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US" sz="1600" dirty="0" err="1">
                          <a:sym typeface="Times New Roman" panose="02020603050405020304"/>
                        </a:rPr>
                        <a:t>Recommandation</a:t>
                      </a:r>
                      <a:r>
                        <a:rPr lang="en-US" sz="1600" dirty="0">
                          <a:sym typeface="Times New Roman" panose="02020603050405020304"/>
                        </a:rPr>
                        <a:t> pour la replication</a:t>
                      </a:r>
                    </a:p>
                    <a:p>
                      <a:endParaRPr lang="fr-CD" sz="1600" dirty="0"/>
                    </a:p>
                  </a:txBody>
                  <a:tcPr/>
                </a:tc>
                <a:extLst>
                  <a:ext uri="{0D108BD9-81ED-4DB2-BD59-A6C34878D82A}">
                    <a16:rowId xmlns="" xmlns:a16="http://schemas.microsoft.com/office/drawing/2014/main" val="1200519883"/>
                  </a:ext>
                </a:extLst>
              </a:tr>
              <a:tr h="47864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US" sz="2400" dirty="0">
                          <a:sym typeface="Times New Roman" panose="02020603050405020304"/>
                        </a:rPr>
                        <a:t>Leadership</a:t>
                      </a:r>
                      <a:endParaRPr lang="fr-CD" sz="24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fr-FR" sz="1400" dirty="0">
                          <a:effectLst/>
                        </a:rPr>
                        <a:t>Difficulté de tenir les réunions en présidentiel avec les deux antennes</a:t>
                      </a:r>
                      <a:endParaRPr lang="fr-FR" sz="1100" dirty="0">
                        <a:effectLst/>
                        <a:latin typeface="Maiandra GD" panose="020E0502030308020204" pitchFamily="34" charset="0"/>
                        <a:ea typeface="Calibri" panose="020F050202020403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fr-FR" sz="1400" dirty="0">
                          <a:effectLst/>
                        </a:rPr>
                        <a:t>Création du lien en ligne pour facilité la participation des cadres de l’antenne PEV Kikwit située à 400 Km de Bandundu</a:t>
                      </a:r>
                      <a:endParaRPr lang="fr-FR" sz="1100" dirty="0">
                        <a:effectLst/>
                        <a:latin typeface="Maiandra GD" panose="020E0502030308020204" pitchFamily="34" charset="0"/>
                        <a:ea typeface="Calibri" panose="020F050202020403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fr-FR" sz="1400" dirty="0">
                          <a:effectLst/>
                        </a:rPr>
                        <a:t>Tenue régulière de réunions mensuelles d’analyse des données et de CCPeV en téléconférence avec les antennes, les PTF et les APA</a:t>
                      </a:r>
                      <a:endParaRPr lang="fr-FR" sz="1100" dirty="0">
                        <a:effectLst/>
                      </a:endParaRPr>
                    </a:p>
                    <a:p>
                      <a:endParaRPr lang="fr-CD" dirty="0"/>
                    </a:p>
                  </a:txBody>
                  <a:tcPr/>
                </a:tc>
                <a:tc>
                  <a:txBody>
                    <a:bodyPr/>
                    <a:lstStyle/>
                    <a:p>
                      <a:r>
                        <a:rPr lang="fr-FR" dirty="0"/>
                        <a:t>Respecter le plan d’organisation de réunions avec les 2 antennes PEV</a:t>
                      </a:r>
                      <a:endParaRPr lang="fr-CD" dirty="0"/>
                    </a:p>
                  </a:txBody>
                  <a:tcPr/>
                </a:tc>
                <a:extLst>
                  <a:ext uri="{0D108BD9-81ED-4DB2-BD59-A6C34878D82A}">
                    <a16:rowId xmlns="" xmlns:a16="http://schemas.microsoft.com/office/drawing/2014/main" val="1214426389"/>
                  </a:ext>
                </a:extLst>
              </a:tr>
              <a:tr h="709344">
                <a:tc>
                  <a:txBody>
                    <a:bodyPr/>
                    <a:lstStyle/>
                    <a:p>
                      <a:r>
                        <a:rPr lang="en-US" sz="2400" dirty="0">
                          <a:sym typeface="Times New Roman" panose="02020603050405020304"/>
                        </a:rPr>
                        <a:t>Mobilisation Communautaire</a:t>
                      </a:r>
                      <a:endParaRPr lang="fr-CD" sz="2400" dirty="0"/>
                    </a:p>
                  </a:txBody>
                  <a:tcPr/>
                </a:tc>
                <a:tc>
                  <a:txBody>
                    <a:bodyPr/>
                    <a:lstStyle/>
                    <a:p>
                      <a:r>
                        <a:rPr lang="fr-FR" dirty="0"/>
                        <a:t>Faible récupération des enfants par les en raison de l’absence de leur briefing</a:t>
                      </a:r>
                      <a:endParaRPr lang="fr-CD" dirty="0"/>
                    </a:p>
                  </a:txBody>
                  <a:tcPr/>
                </a:tc>
                <a:tc>
                  <a:txBody>
                    <a:bodyPr/>
                    <a:lstStyle/>
                    <a:p>
                      <a:r>
                        <a:rPr lang="fr-FR" dirty="0"/>
                        <a:t>Intégration de récupération des enfants en conflit avec leur calendrier vaccinal lors de la formation de recos en nutrition</a:t>
                      </a:r>
                      <a:endParaRPr lang="fr-CD" dirty="0"/>
                    </a:p>
                  </a:txBody>
                  <a:tcPr/>
                </a:tc>
                <a:tc>
                  <a:txBody>
                    <a:bodyPr/>
                    <a:lstStyle/>
                    <a:p>
                      <a:r>
                        <a:rPr lang="fr-FR" dirty="0"/>
                        <a:t>Amélioration de la récupération des enfants en conflit avec leur calendrier vaccinal par les CAC</a:t>
                      </a:r>
                      <a:endParaRPr lang="fr-CD" dirty="0"/>
                    </a:p>
                  </a:txBody>
                  <a:tcPr/>
                </a:tc>
                <a:tc>
                  <a:txBody>
                    <a:bodyPr/>
                    <a:lstStyle/>
                    <a:p>
                      <a:r>
                        <a:rPr lang="fr-FR" dirty="0"/>
                        <a:t>Renforcer le système de santé local; (ZS) et stabiliser les MCZ formés</a:t>
                      </a:r>
                      <a:endParaRPr lang="fr-CD" dirty="0"/>
                    </a:p>
                  </a:txBody>
                  <a:tcPr/>
                </a:tc>
                <a:extLst>
                  <a:ext uri="{0D108BD9-81ED-4DB2-BD59-A6C34878D82A}">
                    <a16:rowId xmlns="" xmlns:a16="http://schemas.microsoft.com/office/drawing/2014/main" val="2405550195"/>
                  </a:ext>
                </a:extLst>
              </a:tr>
              <a:tr h="52090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US" sz="2400" dirty="0">
                          <a:sym typeface="Times New Roman" panose="02020603050405020304"/>
                        </a:rPr>
                        <a:t>Integration</a:t>
                      </a:r>
                      <a:endParaRPr lang="en-US" sz="24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txBody>
                  <a:tcPr/>
                </a:tc>
                <a:tc>
                  <a:txBody>
                    <a:bodyPr/>
                    <a:lstStyle/>
                    <a:p>
                      <a:r>
                        <a:rPr lang="fr-FR" dirty="0"/>
                        <a:t>Retard dans la riposte vaccinale autour de cas de rougeole</a:t>
                      </a:r>
                      <a:endParaRPr lang="fr-CD" dirty="0"/>
                    </a:p>
                  </a:txBody>
                  <a:tcPr/>
                </a:tc>
                <a:tc>
                  <a:txBody>
                    <a:bodyPr/>
                    <a:lstStyle/>
                    <a:p>
                      <a:r>
                        <a:rPr lang="fr-FR" dirty="0"/>
                        <a:t>Intégration de la riposte vaccinale autour de cas de rougeole lors de la mission d’investigation</a:t>
                      </a:r>
                      <a:endParaRPr lang="fr-CD" dirty="0"/>
                    </a:p>
                  </a:txBody>
                  <a:tcPr/>
                </a:tc>
                <a:tc>
                  <a:txBody>
                    <a:bodyPr/>
                    <a:lstStyle/>
                    <a:p>
                      <a:r>
                        <a:rPr lang="fr-FR" dirty="0"/>
                        <a:t>Prompte interruption de circulation du virus de rougeole par la riposte rapide vaccinale rapide autour de cas </a:t>
                      </a:r>
                      <a:endParaRPr lang="fr-CD" dirty="0"/>
                    </a:p>
                  </a:txBody>
                  <a:tcPr/>
                </a:tc>
                <a:tc>
                  <a:txBody>
                    <a:bodyPr/>
                    <a:lstStyle/>
                    <a:p>
                      <a:r>
                        <a:rPr lang="fr-FR" dirty="0"/>
                        <a:t>Instruire les MCZ</a:t>
                      </a:r>
                      <a:endParaRPr lang="fr-CD" dirty="0"/>
                    </a:p>
                  </a:txBody>
                  <a:tcPr/>
                </a:tc>
                <a:extLst>
                  <a:ext uri="{0D108BD9-81ED-4DB2-BD59-A6C34878D82A}">
                    <a16:rowId xmlns="" xmlns:a16="http://schemas.microsoft.com/office/drawing/2014/main" val="446443994"/>
                  </a:ext>
                </a:extLst>
              </a:tr>
              <a:tr h="123721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US" sz="2400" dirty="0">
                          <a:sym typeface="Times New Roman" panose="02020603050405020304"/>
                        </a:rPr>
                        <a:t>Supervision</a:t>
                      </a:r>
                      <a:endParaRPr lang="fr-CD" sz="2400" dirty="0"/>
                    </a:p>
                    <a:p>
                      <a:endParaRPr lang="fr-CD" sz="24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fr-FR" sz="1400" dirty="0">
                          <a:effectLst/>
                        </a:rPr>
                        <a:t>Faible accompagnement des ZS, 1 seul jour par ZS pour la supervision de vaccination de routine</a:t>
                      </a:r>
                      <a:endParaRPr lang="fr-FR" sz="1100" dirty="0">
                        <a:effectLst/>
                        <a:latin typeface="Maiandra GD" panose="020E0502030308020204" pitchFamily="34" charset="0"/>
                        <a:ea typeface="Calibri" panose="020F050202020403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fr-FR" sz="1400" dirty="0">
                          <a:effectLst/>
                        </a:rPr>
                        <a:t>Implication des EPP de la DPS de superviser les ECZ en vaccination de routine lors des autres missions</a:t>
                      </a:r>
                      <a:endParaRPr lang="fr-FR" sz="1100" dirty="0">
                        <a:effectLst/>
                      </a:endParaRPr>
                    </a:p>
                    <a:p>
                      <a:endParaRPr lang="fr-CD" dirty="0"/>
                    </a:p>
                  </a:txBody>
                  <a:tcPr/>
                </a:tc>
                <a:tc>
                  <a:txBody>
                    <a:bodyPr/>
                    <a:lstStyle/>
                    <a:p>
                      <a:r>
                        <a:rPr lang="fr-FR" dirty="0"/>
                        <a:t>Supervision de toutes les ECZ</a:t>
                      </a:r>
                      <a:endParaRPr lang="fr-CD" dirty="0"/>
                    </a:p>
                  </a:txBody>
                  <a:tcPr/>
                </a:tc>
                <a:tc>
                  <a:txBody>
                    <a:bodyPr/>
                    <a:lstStyle/>
                    <a:p>
                      <a:r>
                        <a:rPr lang="fr-FR" dirty="0"/>
                        <a:t>Considérer le rythme trimestriel de supervision des ECZ par les EPP et non mensuel</a:t>
                      </a:r>
                      <a:endParaRPr lang="fr-CD" dirty="0"/>
                    </a:p>
                  </a:txBody>
                  <a:tcPr/>
                </a:tc>
                <a:extLst>
                  <a:ext uri="{0D108BD9-81ED-4DB2-BD59-A6C34878D82A}">
                    <a16:rowId xmlns="" xmlns:a16="http://schemas.microsoft.com/office/drawing/2014/main" val="2597071510"/>
                  </a:ext>
                </a:extLst>
              </a:tr>
            </a:tbl>
          </a:graphicData>
        </a:graphic>
      </p:graphicFrame>
      <p:sp>
        <p:nvSpPr>
          <p:cNvPr id="3" name="Espace réservé du numéro de diapositive 2">
            <a:extLst>
              <a:ext uri="{FF2B5EF4-FFF2-40B4-BE49-F238E27FC236}">
                <a16:creationId xmlns="" xmlns:a16="http://schemas.microsoft.com/office/drawing/2014/main" id="{1C394C8A-77C8-4DBF-8F14-60B0E5658D0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15600" y="234462"/>
            <a:ext cx="11360700" cy="6064738"/>
          </a:xfrm>
          <a:solidFill>
            <a:schemeClr val="accent6">
              <a:lumMod val="20000"/>
              <a:lumOff val="80000"/>
            </a:schemeClr>
          </a:solidFill>
          <a:ln>
            <a:solidFill>
              <a:schemeClr val="accent1"/>
            </a:solidFill>
          </a:ln>
        </p:spPr>
        <p:txBody>
          <a:bodyPr/>
          <a:lstStyle/>
          <a:p>
            <a:r>
              <a:rPr lang="fr-FR" dirty="0">
                <a:latin typeface="Maiandra GD" panose="020E0502030308020204" pitchFamily="34" charset="0"/>
              </a:rPr>
              <a:t>III. Résultats compares aux cibles </a:t>
            </a:r>
          </a:p>
        </p:txBody>
      </p:sp>
      <p:sp>
        <p:nvSpPr>
          <p:cNvPr id="3" name="Espace réservé du numéro de diapositive 2">
            <a:extLst>
              <a:ext uri="{FF2B5EF4-FFF2-40B4-BE49-F238E27FC236}">
                <a16:creationId xmlns="" xmlns:a16="http://schemas.microsoft.com/office/drawing/2014/main" id="{688E26A5-C4AC-41ED-8748-88EF9035C4B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extLst>
      <p:ext uri="{BB962C8B-B14F-4D97-AF65-F5344CB8AC3E}">
        <p14:creationId xmlns:p14="http://schemas.microsoft.com/office/powerpoint/2010/main" val="3191763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E21383B9-0CF8-4225-8C5E-F087ACC89A79}"/>
              </a:ext>
            </a:extLst>
          </p:cNvPr>
          <p:cNvSpPr>
            <a:spLocks noGrp="1"/>
          </p:cNvSpPr>
          <p:nvPr>
            <p:ph type="title"/>
          </p:nvPr>
        </p:nvSpPr>
        <p:spPr>
          <a:xfrm>
            <a:off x="415600" y="219294"/>
            <a:ext cx="11360700" cy="763500"/>
          </a:xfrm>
          <a:solidFill>
            <a:schemeClr val="accent5">
              <a:lumMod val="20000"/>
              <a:lumOff val="80000"/>
            </a:schemeClr>
          </a:solidFill>
        </p:spPr>
        <p:txBody>
          <a:bodyPr>
            <a:noAutofit/>
          </a:bodyPr>
          <a:lstStyle/>
          <a:p>
            <a:pPr algn="ctr"/>
            <a:r>
              <a:rPr lang="fr-FR" sz="2400" dirty="0"/>
              <a:t>III.1. </a:t>
            </a:r>
            <a:r>
              <a:rPr lang="fr-FR" sz="2000" dirty="0"/>
              <a:t>Couverture vaccinale des antennes PEV par antigène de janvier à octobre 2025 (DHIS2)</a:t>
            </a:r>
            <a:endParaRPr lang="fr-CD" sz="2400" dirty="0"/>
          </a:p>
        </p:txBody>
      </p:sp>
      <p:sp>
        <p:nvSpPr>
          <p:cNvPr id="3" name="Espace réservé du texte 2">
            <a:extLst>
              <a:ext uri="{FF2B5EF4-FFF2-40B4-BE49-F238E27FC236}">
                <a16:creationId xmlns="" xmlns:a16="http://schemas.microsoft.com/office/drawing/2014/main" id="{DF5E159C-8FD6-43B4-8581-36529F4D3C28}"/>
              </a:ext>
            </a:extLst>
          </p:cNvPr>
          <p:cNvSpPr>
            <a:spLocks noGrp="1"/>
          </p:cNvSpPr>
          <p:nvPr>
            <p:ph type="body" idx="1"/>
          </p:nvPr>
        </p:nvSpPr>
        <p:spPr>
          <a:xfrm>
            <a:off x="415600" y="1163782"/>
            <a:ext cx="11360700" cy="4928051"/>
          </a:xfrm>
        </p:spPr>
        <p:txBody>
          <a:bodyPr/>
          <a:lstStyle/>
          <a:p>
            <a:pPr marL="76200" indent="0">
              <a:buNone/>
            </a:pPr>
            <a:r>
              <a:rPr lang="fr-FR" dirty="0"/>
              <a:t>.</a:t>
            </a:r>
            <a:endParaRPr lang="fr-CD" dirty="0"/>
          </a:p>
        </p:txBody>
      </p:sp>
      <p:graphicFrame>
        <p:nvGraphicFramePr>
          <p:cNvPr id="4" name="Graphique 3">
            <a:extLst>
              <a:ext uri="{FF2B5EF4-FFF2-40B4-BE49-F238E27FC236}">
                <a16:creationId xmlns="" xmlns:a16="http://schemas.microsoft.com/office/drawing/2014/main" id="{E83C338C-9814-42EC-B6FA-A5526920695A}"/>
              </a:ext>
            </a:extLst>
          </p:cNvPr>
          <p:cNvGraphicFramePr>
            <a:graphicFrameLocks/>
          </p:cNvGraphicFramePr>
          <p:nvPr>
            <p:extLst>
              <p:ext uri="{D42A27DB-BD31-4B8C-83A1-F6EECF244321}">
                <p14:modId xmlns:p14="http://schemas.microsoft.com/office/powerpoint/2010/main" val="1204012972"/>
              </p:ext>
            </p:extLst>
          </p:nvPr>
        </p:nvGraphicFramePr>
        <p:xfrm>
          <a:off x="263236" y="1260763"/>
          <a:ext cx="11513064" cy="5012057"/>
        </p:xfrm>
        <a:graphic>
          <a:graphicData uri="http://schemas.openxmlformats.org/drawingml/2006/chart">
            <c:chart xmlns:c="http://schemas.openxmlformats.org/drawingml/2006/chart" xmlns:r="http://schemas.openxmlformats.org/officeDocument/2006/relationships" r:id="rId2"/>
          </a:graphicData>
        </a:graphic>
      </p:graphicFrame>
      <p:sp>
        <p:nvSpPr>
          <p:cNvPr id="5" name="Espace réservé du numéro de diapositive 4">
            <a:extLst>
              <a:ext uri="{FF2B5EF4-FFF2-40B4-BE49-F238E27FC236}">
                <a16:creationId xmlns="" xmlns:a16="http://schemas.microsoft.com/office/drawing/2014/main" id="{1115BC28-F397-455B-AAE3-3A264E1754D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1098678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625C55DB-A4AD-4178-81AC-E8139F4E5946}"/>
              </a:ext>
            </a:extLst>
          </p:cNvPr>
          <p:cNvSpPr>
            <a:spLocks noGrp="1"/>
          </p:cNvSpPr>
          <p:nvPr>
            <p:ph type="title"/>
          </p:nvPr>
        </p:nvSpPr>
        <p:spPr>
          <a:xfrm>
            <a:off x="308729" y="101599"/>
            <a:ext cx="11307913" cy="508001"/>
          </a:xfrm>
          <a:solidFill>
            <a:schemeClr val="accent1">
              <a:lumMod val="20000"/>
              <a:lumOff val="80000"/>
            </a:schemeClr>
          </a:solidFill>
        </p:spPr>
        <p:txBody>
          <a:bodyPr>
            <a:noAutofit/>
          </a:bodyPr>
          <a:lstStyle/>
          <a:p>
            <a:r>
              <a:rPr lang="fr-FR" sz="2000" dirty="0"/>
              <a:t>III.2. Résultats de CV de ZS de janvier à octobre 2025 selon les objectifs de 2025 (DHIS2)</a:t>
            </a:r>
            <a:endParaRPr lang="fr-CD" sz="2000" dirty="0"/>
          </a:p>
        </p:txBody>
      </p:sp>
      <p:sp>
        <p:nvSpPr>
          <p:cNvPr id="3" name="Espace réservé du texte 2">
            <a:extLst>
              <a:ext uri="{FF2B5EF4-FFF2-40B4-BE49-F238E27FC236}">
                <a16:creationId xmlns="" xmlns:a16="http://schemas.microsoft.com/office/drawing/2014/main" id="{52687F92-9C52-42CC-852E-DEA29F22CAC5}"/>
              </a:ext>
            </a:extLst>
          </p:cNvPr>
          <p:cNvSpPr>
            <a:spLocks noGrp="1"/>
          </p:cNvSpPr>
          <p:nvPr>
            <p:ph type="body" idx="1"/>
          </p:nvPr>
        </p:nvSpPr>
        <p:spPr>
          <a:xfrm>
            <a:off x="130629" y="766167"/>
            <a:ext cx="11645671" cy="5325666"/>
          </a:xfrm>
        </p:spPr>
        <p:txBody>
          <a:bodyPr/>
          <a:lstStyle/>
          <a:p>
            <a:pPr marL="76200" indent="0">
              <a:buNone/>
            </a:pPr>
            <a:endParaRPr lang="fr-CD" dirty="0"/>
          </a:p>
        </p:txBody>
      </p:sp>
      <p:pic>
        <p:nvPicPr>
          <p:cNvPr id="5" name="Image 4">
            <a:extLst>
              <a:ext uri="{FF2B5EF4-FFF2-40B4-BE49-F238E27FC236}">
                <a16:creationId xmlns="" xmlns:a16="http://schemas.microsoft.com/office/drawing/2014/main" id="{DD9A4662-6193-4EAE-BEFA-95BF6AF597FC}"/>
              </a:ext>
            </a:extLst>
          </p:cNvPr>
          <p:cNvPicPr>
            <a:picLocks noChangeAspect="1"/>
          </p:cNvPicPr>
          <p:nvPr/>
        </p:nvPicPr>
        <p:blipFill>
          <a:blip r:embed="rId2"/>
          <a:stretch>
            <a:fillRect/>
          </a:stretch>
        </p:blipFill>
        <p:spPr>
          <a:xfrm>
            <a:off x="415700" y="766167"/>
            <a:ext cx="11467570" cy="5883150"/>
          </a:xfrm>
          <a:prstGeom prst="rect">
            <a:avLst/>
          </a:prstGeom>
        </p:spPr>
      </p:pic>
      <p:pic>
        <p:nvPicPr>
          <p:cNvPr id="12" name="Image 11">
            <a:extLst>
              <a:ext uri="{FF2B5EF4-FFF2-40B4-BE49-F238E27FC236}">
                <a16:creationId xmlns="" xmlns:a16="http://schemas.microsoft.com/office/drawing/2014/main" id="{7DAA934B-C5C4-43DC-B862-93E94FDE2821}"/>
              </a:ext>
            </a:extLst>
          </p:cNvPr>
          <p:cNvPicPr>
            <a:picLocks noChangeAspect="1"/>
          </p:cNvPicPr>
          <p:nvPr/>
        </p:nvPicPr>
        <p:blipFill>
          <a:blip r:embed="rId3"/>
          <a:stretch>
            <a:fillRect/>
          </a:stretch>
        </p:blipFill>
        <p:spPr>
          <a:xfrm>
            <a:off x="2609396" y="6582402"/>
            <a:ext cx="7434490" cy="347997"/>
          </a:xfrm>
          <a:prstGeom prst="rect">
            <a:avLst/>
          </a:prstGeom>
        </p:spPr>
      </p:pic>
      <p:sp>
        <p:nvSpPr>
          <p:cNvPr id="4" name="Espace réservé du numéro de diapositive 3">
            <a:extLst>
              <a:ext uri="{FF2B5EF4-FFF2-40B4-BE49-F238E27FC236}">
                <a16:creationId xmlns="" xmlns:a16="http://schemas.microsoft.com/office/drawing/2014/main" id="{829AF1BF-34EA-4B85-B399-F02D1C9C28F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extLst>
      <p:ext uri="{BB962C8B-B14F-4D97-AF65-F5344CB8AC3E}">
        <p14:creationId xmlns:p14="http://schemas.microsoft.com/office/powerpoint/2010/main" val="1563557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3323619E-51E3-41F8-AB18-F5C154D3E887}"/>
              </a:ext>
            </a:extLst>
          </p:cNvPr>
          <p:cNvSpPr>
            <a:spLocks noGrp="1"/>
          </p:cNvSpPr>
          <p:nvPr>
            <p:ph type="title"/>
          </p:nvPr>
        </p:nvSpPr>
        <p:spPr>
          <a:xfrm>
            <a:off x="415650" y="-141962"/>
            <a:ext cx="11360700" cy="522515"/>
          </a:xfrm>
          <a:solidFill>
            <a:schemeClr val="accent5">
              <a:lumMod val="20000"/>
              <a:lumOff val="80000"/>
            </a:schemeClr>
          </a:solidFill>
        </p:spPr>
        <p:txBody>
          <a:bodyPr>
            <a:noAutofit/>
          </a:bodyPr>
          <a:lstStyle/>
          <a:p>
            <a:r>
              <a:rPr lang="fr-FR" sz="2400" dirty="0"/>
              <a:t>III.3. Résultats de CV de VAP de mai à octobre 2025</a:t>
            </a:r>
            <a:endParaRPr lang="fr-CD" sz="2400" dirty="0"/>
          </a:p>
        </p:txBody>
      </p:sp>
      <p:sp>
        <p:nvSpPr>
          <p:cNvPr id="3" name="Espace réservé du texte 2">
            <a:extLst>
              <a:ext uri="{FF2B5EF4-FFF2-40B4-BE49-F238E27FC236}">
                <a16:creationId xmlns="" xmlns:a16="http://schemas.microsoft.com/office/drawing/2014/main" id="{305D9526-6E74-477D-AD64-BFB0311F2E6F}"/>
              </a:ext>
            </a:extLst>
          </p:cNvPr>
          <p:cNvSpPr>
            <a:spLocks noGrp="1"/>
          </p:cNvSpPr>
          <p:nvPr>
            <p:ph type="body" idx="1"/>
          </p:nvPr>
        </p:nvSpPr>
        <p:spPr>
          <a:xfrm>
            <a:off x="104503" y="901337"/>
            <a:ext cx="11671797" cy="5190496"/>
          </a:xfrm>
        </p:spPr>
        <p:txBody>
          <a:bodyPr/>
          <a:lstStyle/>
          <a:p>
            <a:pPr marL="76200" indent="0">
              <a:buNone/>
            </a:pPr>
            <a:r>
              <a:rPr lang="fr-CD" dirty="0"/>
              <a:t>.</a:t>
            </a:r>
          </a:p>
        </p:txBody>
      </p:sp>
      <p:graphicFrame>
        <p:nvGraphicFramePr>
          <p:cNvPr id="4" name="Tableau 3">
            <a:extLst>
              <a:ext uri="{FF2B5EF4-FFF2-40B4-BE49-F238E27FC236}">
                <a16:creationId xmlns="" xmlns:a16="http://schemas.microsoft.com/office/drawing/2014/main" id="{0F9F4BAE-B6A9-4E0D-B5BB-3CF748DA4E1F}"/>
              </a:ext>
            </a:extLst>
          </p:cNvPr>
          <p:cNvGraphicFramePr>
            <a:graphicFrameLocks noGrp="1"/>
          </p:cNvGraphicFramePr>
          <p:nvPr>
            <p:extLst>
              <p:ext uri="{D42A27DB-BD31-4B8C-83A1-F6EECF244321}">
                <p14:modId xmlns:p14="http://schemas.microsoft.com/office/powerpoint/2010/main" val="2099316012"/>
              </p:ext>
            </p:extLst>
          </p:nvPr>
        </p:nvGraphicFramePr>
        <p:xfrm>
          <a:off x="232720" y="454775"/>
          <a:ext cx="10635576" cy="6083620"/>
        </p:xfrm>
        <a:graphic>
          <a:graphicData uri="http://schemas.openxmlformats.org/drawingml/2006/table">
            <a:tbl>
              <a:tblPr/>
              <a:tblGrid>
                <a:gridCol w="4856247">
                  <a:extLst>
                    <a:ext uri="{9D8B030D-6E8A-4147-A177-3AD203B41FA5}">
                      <a16:colId xmlns="" xmlns:a16="http://schemas.microsoft.com/office/drawing/2014/main" val="4266716003"/>
                    </a:ext>
                  </a:extLst>
                </a:gridCol>
                <a:gridCol w="1926443">
                  <a:extLst>
                    <a:ext uri="{9D8B030D-6E8A-4147-A177-3AD203B41FA5}">
                      <a16:colId xmlns="" xmlns:a16="http://schemas.microsoft.com/office/drawing/2014/main" val="2864807879"/>
                    </a:ext>
                  </a:extLst>
                </a:gridCol>
                <a:gridCol w="1926443">
                  <a:extLst>
                    <a:ext uri="{9D8B030D-6E8A-4147-A177-3AD203B41FA5}">
                      <a16:colId xmlns="" xmlns:a16="http://schemas.microsoft.com/office/drawing/2014/main" val="4277474348"/>
                    </a:ext>
                  </a:extLst>
                </a:gridCol>
                <a:gridCol w="1926443">
                  <a:extLst>
                    <a:ext uri="{9D8B030D-6E8A-4147-A177-3AD203B41FA5}">
                      <a16:colId xmlns="" xmlns:a16="http://schemas.microsoft.com/office/drawing/2014/main" val="2787501858"/>
                    </a:ext>
                  </a:extLst>
                </a:gridCol>
              </a:tblGrid>
              <a:tr h="144166">
                <a:tc>
                  <a:txBody>
                    <a:bodyPr/>
                    <a:lstStyle/>
                    <a:p>
                      <a:pPr algn="l" fontAlgn="b"/>
                      <a:r>
                        <a:rPr lang="fr-CD" sz="1100" b="1" i="0" u="none" strike="noStrike" dirty="0" err="1">
                          <a:effectLst/>
                          <a:latin typeface="Arial" panose="020B0604020202020204" pitchFamily="34" charset="0"/>
                        </a:rPr>
                        <a:t>organisationunitname</a:t>
                      </a:r>
                      <a:endParaRPr lang="fr-CD" sz="1100" b="1" i="0" u="none" strike="noStrike" dirty="0">
                        <a:effectLst/>
                        <a:latin typeface="Arial" panose="020B0604020202020204" pitchFamily="34" charset="0"/>
                      </a:endParaRP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1" i="0" u="none" strike="noStrike" dirty="0">
                          <a:effectLst/>
                          <a:latin typeface="Arial" panose="020B0604020202020204" pitchFamily="34" charset="0"/>
                        </a:rPr>
                        <a:t> VAP 1</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100" b="1" i="0" u="none" strike="noStrike">
                          <a:effectLst/>
                          <a:latin typeface="Arial" panose="020B0604020202020204" pitchFamily="34" charset="0"/>
                        </a:rPr>
                        <a:t> VAP 2</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100" b="1" i="0" u="none" strike="noStrike">
                          <a:effectLst/>
                          <a:latin typeface="Arial" panose="020B0604020202020204" pitchFamily="34" charset="0"/>
                        </a:rPr>
                        <a:t> VAP 3</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962938483"/>
                  </a:ext>
                </a:extLst>
              </a:tr>
              <a:tr h="149711">
                <a:tc>
                  <a:txBody>
                    <a:bodyPr/>
                    <a:lstStyle/>
                    <a:p>
                      <a:pPr algn="l" fontAlgn="b"/>
                      <a:r>
                        <a:rPr lang="fr-FR" sz="1100" b="0" i="0" u="none" strike="noStrike" dirty="0">
                          <a:effectLst/>
                          <a:latin typeface="Arial" panose="020B0604020202020204" pitchFamily="34" charset="0"/>
                        </a:rPr>
                        <a:t>kl Bagata Zone de Santé</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dirty="0">
                          <a:effectLst/>
                          <a:latin typeface="Arial" panose="020B0604020202020204" pitchFamily="34" charset="0"/>
                        </a:rPr>
                        <a:t>92</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dirty="0">
                          <a:effectLst/>
                          <a:latin typeface="Arial" panose="020B0604020202020204" pitchFamily="34" charset="0"/>
                        </a:rPr>
                        <a:t>75</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a:effectLst/>
                          <a:latin typeface="Arial" panose="020B0604020202020204" pitchFamily="34" charset="0"/>
                        </a:rPr>
                        <a:t>55</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650846541"/>
                  </a:ext>
                </a:extLst>
              </a:tr>
              <a:tr h="182980">
                <a:tc>
                  <a:txBody>
                    <a:bodyPr/>
                    <a:lstStyle/>
                    <a:p>
                      <a:pPr algn="l" fontAlgn="b"/>
                      <a:r>
                        <a:rPr lang="fr-FR" sz="1100" b="0" i="0" u="none" strike="noStrike">
                          <a:effectLst/>
                          <a:latin typeface="Arial" panose="020B0604020202020204" pitchFamily="34" charset="0"/>
                        </a:rPr>
                        <a:t>kl Bandundu Zone de Santé</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130</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dirty="0">
                          <a:effectLst/>
                          <a:latin typeface="Arial" panose="020B0604020202020204" pitchFamily="34" charset="0"/>
                        </a:rPr>
                        <a:t>102</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a:effectLst/>
                          <a:latin typeface="Arial" panose="020B0604020202020204" pitchFamily="34" charset="0"/>
                        </a:rPr>
                        <a:t>75</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811347557"/>
                  </a:ext>
                </a:extLst>
              </a:tr>
              <a:tr h="149711">
                <a:tc>
                  <a:txBody>
                    <a:bodyPr/>
                    <a:lstStyle/>
                    <a:p>
                      <a:pPr algn="l" fontAlgn="b"/>
                      <a:r>
                        <a:rPr lang="fr-FR" sz="1100" b="0" i="0" u="none" strike="noStrike">
                          <a:effectLst/>
                          <a:latin typeface="Arial" panose="020B0604020202020204" pitchFamily="34" charset="0"/>
                        </a:rPr>
                        <a:t>kl Djuma Zone de Santé</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107</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dirty="0">
                          <a:effectLst/>
                          <a:latin typeface="Arial" panose="020B0604020202020204" pitchFamily="34" charset="0"/>
                        </a:rPr>
                        <a:t>88</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dirty="0">
                          <a:effectLst/>
                          <a:latin typeface="Arial" panose="020B0604020202020204" pitchFamily="34" charset="0"/>
                        </a:rPr>
                        <a:t>72</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905642385"/>
                  </a:ext>
                </a:extLst>
              </a:tr>
              <a:tr h="149711">
                <a:tc>
                  <a:txBody>
                    <a:bodyPr/>
                    <a:lstStyle/>
                    <a:p>
                      <a:pPr algn="l" fontAlgn="b"/>
                      <a:r>
                        <a:rPr lang="fr-FR" sz="1100" b="0" i="0" u="none" strike="noStrike">
                          <a:effectLst/>
                          <a:latin typeface="Arial" panose="020B0604020202020204" pitchFamily="34" charset="0"/>
                        </a:rPr>
                        <a:t>kl Kikongo Zone de Santé</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81</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dirty="0">
                          <a:effectLst/>
                          <a:latin typeface="Arial" panose="020B0604020202020204" pitchFamily="34" charset="0"/>
                        </a:rPr>
                        <a:t>64</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dirty="0">
                          <a:effectLst/>
                          <a:latin typeface="Arial" panose="020B0604020202020204" pitchFamily="34" charset="0"/>
                        </a:rPr>
                        <a:t>49</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4187418438"/>
                  </a:ext>
                </a:extLst>
              </a:tr>
              <a:tr h="149711">
                <a:tc>
                  <a:txBody>
                    <a:bodyPr/>
                    <a:lstStyle/>
                    <a:p>
                      <a:pPr algn="l" fontAlgn="b"/>
                      <a:r>
                        <a:rPr lang="fr-FR" sz="1100" b="0" i="0" u="none" strike="noStrike">
                          <a:effectLst/>
                          <a:latin typeface="Arial" panose="020B0604020202020204" pitchFamily="34" charset="0"/>
                        </a:rPr>
                        <a:t>kl Sia Zone de Santé</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74</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a:effectLst/>
                          <a:latin typeface="Arial" panose="020B0604020202020204" pitchFamily="34" charset="0"/>
                        </a:rPr>
                        <a:t>49</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dirty="0">
                          <a:effectLst/>
                          <a:latin typeface="Arial" panose="020B0604020202020204" pitchFamily="34" charset="0"/>
                        </a:rPr>
                        <a:t>32</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2858723869"/>
                  </a:ext>
                </a:extLst>
              </a:tr>
              <a:tr h="149711">
                <a:tc>
                  <a:txBody>
                    <a:bodyPr/>
                    <a:lstStyle/>
                    <a:p>
                      <a:pPr algn="l" fontAlgn="b"/>
                      <a:r>
                        <a:rPr lang="fr-FR" sz="1100" b="0" i="0" u="none" strike="noStrike">
                          <a:effectLst/>
                          <a:latin typeface="Arial" panose="020B0604020202020204" pitchFamily="34" charset="0"/>
                        </a:rPr>
                        <a:t>kl Vanga Zone de Santé</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113</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a:effectLst/>
                          <a:latin typeface="Arial" panose="020B0604020202020204" pitchFamily="34" charset="0"/>
                        </a:rPr>
                        <a:t>81</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dirty="0">
                          <a:effectLst/>
                          <a:latin typeface="Arial" panose="020B0604020202020204" pitchFamily="34" charset="0"/>
                        </a:rPr>
                        <a:t>55</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724711658"/>
                  </a:ext>
                </a:extLst>
              </a:tr>
              <a:tr h="218467">
                <a:tc>
                  <a:txBody>
                    <a:bodyPr/>
                    <a:lstStyle/>
                    <a:p>
                      <a:pPr algn="l" fontAlgn="b"/>
                      <a:r>
                        <a:rPr lang="fr-CD" sz="1200" b="1" i="0" u="none" strike="noStrike">
                          <a:effectLst/>
                          <a:latin typeface="Arial" panose="020B0604020202020204" pitchFamily="34" charset="0"/>
                        </a:rPr>
                        <a:t>Antenne PEV Bandundu</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tc>
                  <a:txBody>
                    <a:bodyPr/>
                    <a:lstStyle/>
                    <a:p>
                      <a:pPr algn="ctr" fontAlgn="b"/>
                      <a:r>
                        <a:rPr lang="fr-CD" sz="1400" b="0" i="0" u="none" strike="noStrike">
                          <a:effectLst/>
                          <a:latin typeface="Arial" panose="020B0604020202020204" pitchFamily="34" charset="0"/>
                        </a:rPr>
                        <a:t>103</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a:effectLst/>
                          <a:latin typeface="Arial" panose="020B0604020202020204" pitchFamily="34" charset="0"/>
                        </a:rPr>
                        <a:t>79</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dirty="0">
                          <a:effectLst/>
                          <a:latin typeface="Arial" panose="020B0604020202020204" pitchFamily="34" charset="0"/>
                        </a:rPr>
                        <a:t>58</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739199917"/>
                  </a:ext>
                </a:extLst>
              </a:tr>
              <a:tr h="149711">
                <a:tc>
                  <a:txBody>
                    <a:bodyPr/>
                    <a:lstStyle/>
                    <a:p>
                      <a:pPr algn="l" fontAlgn="b"/>
                      <a:r>
                        <a:rPr lang="fr-FR" sz="1100" b="0" i="0" u="none" strike="noStrike">
                          <a:effectLst/>
                          <a:latin typeface="Arial" panose="020B0604020202020204" pitchFamily="34" charset="0"/>
                        </a:rPr>
                        <a:t>kl Bulungu Zone de Santé</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64</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a:effectLst/>
                          <a:latin typeface="Arial" panose="020B0604020202020204" pitchFamily="34" charset="0"/>
                        </a:rPr>
                        <a:t>42</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dirty="0">
                          <a:effectLst/>
                          <a:latin typeface="Arial" panose="020B0604020202020204" pitchFamily="34" charset="0"/>
                        </a:rPr>
                        <a:t>25</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2552313724"/>
                  </a:ext>
                </a:extLst>
              </a:tr>
              <a:tr h="149711">
                <a:tc>
                  <a:txBody>
                    <a:bodyPr/>
                    <a:lstStyle/>
                    <a:p>
                      <a:pPr algn="l" fontAlgn="b"/>
                      <a:r>
                        <a:rPr lang="fr-FR" sz="1100" b="0" i="0" u="none" strike="noStrike">
                          <a:effectLst/>
                          <a:latin typeface="Arial" panose="020B0604020202020204" pitchFamily="34" charset="0"/>
                        </a:rPr>
                        <a:t>kl Gungu Zone de Santé</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85</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a:effectLst/>
                          <a:latin typeface="Arial" panose="020B0604020202020204" pitchFamily="34" charset="0"/>
                        </a:rPr>
                        <a:t>49</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dirty="0">
                          <a:effectLst/>
                          <a:latin typeface="Arial" panose="020B0604020202020204" pitchFamily="34" charset="0"/>
                        </a:rPr>
                        <a:t>29</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3859194700"/>
                  </a:ext>
                </a:extLst>
              </a:tr>
              <a:tr h="149711">
                <a:tc>
                  <a:txBody>
                    <a:bodyPr/>
                    <a:lstStyle/>
                    <a:p>
                      <a:pPr algn="l" fontAlgn="b"/>
                      <a:r>
                        <a:rPr lang="fr-FR" sz="1100" b="0" i="0" u="none" strike="noStrike">
                          <a:effectLst/>
                          <a:latin typeface="Arial" panose="020B0604020202020204" pitchFamily="34" charset="0"/>
                        </a:rPr>
                        <a:t>kl Idiofa Zone de Santé</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70</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a:effectLst/>
                          <a:latin typeface="Arial" panose="020B0604020202020204" pitchFamily="34" charset="0"/>
                        </a:rPr>
                        <a:t>55</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dirty="0">
                          <a:effectLst/>
                          <a:latin typeface="Arial" panose="020B0604020202020204" pitchFamily="34" charset="0"/>
                        </a:rPr>
                        <a:t>39</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364917700"/>
                  </a:ext>
                </a:extLst>
              </a:tr>
              <a:tr h="149711">
                <a:tc>
                  <a:txBody>
                    <a:bodyPr/>
                    <a:lstStyle/>
                    <a:p>
                      <a:pPr algn="l" fontAlgn="b"/>
                      <a:r>
                        <a:rPr lang="fr-FR" sz="1100" b="0" i="0" u="none" strike="noStrike">
                          <a:effectLst/>
                          <a:latin typeface="Arial" panose="020B0604020202020204" pitchFamily="34" charset="0"/>
                        </a:rPr>
                        <a:t>kl Ipamu Zone de Santé</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61</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a:effectLst/>
                          <a:latin typeface="Arial" panose="020B0604020202020204" pitchFamily="34" charset="0"/>
                        </a:rPr>
                        <a:t>38</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a:effectLst/>
                          <a:latin typeface="Arial" panose="020B0604020202020204" pitchFamily="34" charset="0"/>
                        </a:rPr>
                        <a:t>19</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2410643991"/>
                  </a:ext>
                </a:extLst>
              </a:tr>
              <a:tr h="182980">
                <a:tc>
                  <a:txBody>
                    <a:bodyPr/>
                    <a:lstStyle/>
                    <a:p>
                      <a:pPr algn="l" fontAlgn="b"/>
                      <a:r>
                        <a:rPr lang="fr-FR" sz="1100" b="0" i="0" u="none" strike="noStrike">
                          <a:effectLst/>
                          <a:latin typeface="Arial" panose="020B0604020202020204" pitchFamily="34" charset="0"/>
                        </a:rPr>
                        <a:t>kl Kikwit Nord Zone de Santé</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101</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a:effectLst/>
                          <a:latin typeface="Arial" panose="020B0604020202020204" pitchFamily="34" charset="0"/>
                        </a:rPr>
                        <a:t>74</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dirty="0">
                          <a:effectLst/>
                          <a:latin typeface="Arial" panose="020B0604020202020204" pitchFamily="34" charset="0"/>
                        </a:rPr>
                        <a:t>55</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3362445661"/>
                  </a:ext>
                </a:extLst>
              </a:tr>
              <a:tr h="182980">
                <a:tc>
                  <a:txBody>
                    <a:bodyPr/>
                    <a:lstStyle/>
                    <a:p>
                      <a:pPr algn="l" fontAlgn="b"/>
                      <a:r>
                        <a:rPr lang="fr-FR" sz="1100" b="0" i="0" u="none" strike="noStrike">
                          <a:effectLst/>
                          <a:latin typeface="Arial" panose="020B0604020202020204" pitchFamily="34" charset="0"/>
                        </a:rPr>
                        <a:t>kl Kikwit Sud Zone de Santé</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89</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a:effectLst/>
                          <a:latin typeface="Arial" panose="020B0604020202020204" pitchFamily="34" charset="0"/>
                        </a:rPr>
                        <a:t>69</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dirty="0">
                          <a:effectLst/>
                          <a:latin typeface="Arial" panose="020B0604020202020204" pitchFamily="34" charset="0"/>
                        </a:rPr>
                        <a:t>45</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115782225"/>
                  </a:ext>
                </a:extLst>
              </a:tr>
              <a:tr h="149711">
                <a:tc>
                  <a:txBody>
                    <a:bodyPr/>
                    <a:lstStyle/>
                    <a:p>
                      <a:pPr algn="l" fontAlgn="b"/>
                      <a:r>
                        <a:rPr lang="fr-FR" sz="1100" b="0" i="0" u="none" strike="noStrike">
                          <a:effectLst/>
                          <a:latin typeface="Arial" panose="020B0604020202020204" pitchFamily="34" charset="0"/>
                        </a:rPr>
                        <a:t>kl Kimputu Zone de Santé</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71</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a:effectLst/>
                          <a:latin typeface="Arial" panose="020B0604020202020204" pitchFamily="34" charset="0"/>
                        </a:rPr>
                        <a:t>33</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dirty="0">
                          <a:effectLst/>
                          <a:latin typeface="Arial" panose="020B0604020202020204" pitchFamily="34" charset="0"/>
                        </a:rPr>
                        <a:t>14</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408383357"/>
                  </a:ext>
                </a:extLst>
              </a:tr>
              <a:tr h="182980">
                <a:tc>
                  <a:txBody>
                    <a:bodyPr/>
                    <a:lstStyle/>
                    <a:p>
                      <a:pPr algn="l" fontAlgn="b"/>
                      <a:r>
                        <a:rPr lang="fr-FR" sz="1100" b="0" i="0" u="none" strike="noStrike">
                          <a:effectLst/>
                          <a:latin typeface="Arial" panose="020B0604020202020204" pitchFamily="34" charset="0"/>
                        </a:rPr>
                        <a:t>kl Kingandu Zone de Santé</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97</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a:effectLst/>
                          <a:latin typeface="Arial" panose="020B0604020202020204" pitchFamily="34" charset="0"/>
                        </a:rPr>
                        <a:t>58</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dirty="0">
                          <a:effectLst/>
                          <a:latin typeface="Arial" panose="020B0604020202020204" pitchFamily="34" charset="0"/>
                        </a:rPr>
                        <a:t>29</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306491692"/>
                  </a:ext>
                </a:extLst>
              </a:tr>
              <a:tr h="182980">
                <a:tc>
                  <a:txBody>
                    <a:bodyPr/>
                    <a:lstStyle/>
                    <a:p>
                      <a:pPr algn="l" fontAlgn="b"/>
                      <a:r>
                        <a:rPr lang="fr-FR" sz="1100" b="0" i="0" u="none" strike="noStrike">
                          <a:effectLst/>
                          <a:latin typeface="Arial" panose="020B0604020202020204" pitchFamily="34" charset="0"/>
                        </a:rPr>
                        <a:t>kl Koshibanda Zone de Santé</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92</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a:effectLst/>
                          <a:latin typeface="Arial" panose="020B0604020202020204" pitchFamily="34" charset="0"/>
                        </a:rPr>
                        <a:t>57</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a:effectLst/>
                          <a:latin typeface="Arial" panose="020B0604020202020204" pitchFamily="34" charset="0"/>
                        </a:rPr>
                        <a:t>33</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410699811"/>
                  </a:ext>
                </a:extLst>
              </a:tr>
              <a:tr h="149711">
                <a:tc>
                  <a:txBody>
                    <a:bodyPr/>
                    <a:lstStyle/>
                    <a:p>
                      <a:pPr algn="l" fontAlgn="b"/>
                      <a:r>
                        <a:rPr lang="fr-FR" sz="1100" b="0" i="0" u="none" strike="noStrike">
                          <a:effectLst/>
                          <a:latin typeface="Arial" panose="020B0604020202020204" pitchFamily="34" charset="0"/>
                        </a:rPr>
                        <a:t>kl Lusanga Zone de Santé</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127</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a:effectLst/>
                          <a:latin typeface="Arial" panose="020B0604020202020204" pitchFamily="34" charset="0"/>
                        </a:rPr>
                        <a:t>76</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dirty="0">
                          <a:effectLst/>
                          <a:latin typeface="Arial" panose="020B0604020202020204" pitchFamily="34" charset="0"/>
                        </a:rPr>
                        <a:t>44</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542728876"/>
                  </a:ext>
                </a:extLst>
              </a:tr>
              <a:tr h="182980">
                <a:tc>
                  <a:txBody>
                    <a:bodyPr/>
                    <a:lstStyle/>
                    <a:p>
                      <a:pPr algn="l" fontAlgn="b"/>
                      <a:r>
                        <a:rPr lang="fr-CD" sz="1100" b="0" i="0" u="none" strike="noStrike">
                          <a:effectLst/>
                          <a:latin typeface="Arial" panose="020B0604020202020204" pitchFamily="34" charset="0"/>
                        </a:rPr>
                        <a:t>kl Masi Manimba Zone de Santé</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192</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a:effectLst/>
                          <a:latin typeface="Arial" panose="020B0604020202020204" pitchFamily="34" charset="0"/>
                        </a:rPr>
                        <a:t>97</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dirty="0">
                          <a:effectLst/>
                          <a:latin typeface="Arial" panose="020B0604020202020204" pitchFamily="34" charset="0"/>
                        </a:rPr>
                        <a:t>53</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997779084"/>
                  </a:ext>
                </a:extLst>
              </a:tr>
              <a:tr h="149711">
                <a:tc>
                  <a:txBody>
                    <a:bodyPr/>
                    <a:lstStyle/>
                    <a:p>
                      <a:pPr algn="l" fontAlgn="b"/>
                      <a:r>
                        <a:rPr lang="fr-FR" sz="1100" b="0" i="0" u="none" strike="noStrike">
                          <a:effectLst/>
                          <a:latin typeface="Arial" panose="020B0604020202020204" pitchFamily="34" charset="0"/>
                        </a:rPr>
                        <a:t>kl Moanza Zone de Santé</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73</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a:effectLst/>
                          <a:latin typeface="Arial" panose="020B0604020202020204" pitchFamily="34" charset="0"/>
                        </a:rPr>
                        <a:t>69</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dirty="0">
                          <a:effectLst/>
                          <a:latin typeface="Arial" panose="020B0604020202020204" pitchFamily="34" charset="0"/>
                        </a:rPr>
                        <a:t>51</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4196228866"/>
                  </a:ext>
                </a:extLst>
              </a:tr>
              <a:tr h="149711">
                <a:tc>
                  <a:txBody>
                    <a:bodyPr/>
                    <a:lstStyle/>
                    <a:p>
                      <a:pPr algn="l" fontAlgn="b"/>
                      <a:r>
                        <a:rPr lang="fr-FR" sz="1100" b="0" i="0" u="none" strike="noStrike">
                          <a:effectLst/>
                          <a:latin typeface="Arial" panose="020B0604020202020204" pitchFamily="34" charset="0"/>
                        </a:rPr>
                        <a:t>kl Mokala Zone de Santé</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86</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a:effectLst/>
                          <a:latin typeface="Arial" panose="020B0604020202020204" pitchFamily="34" charset="0"/>
                        </a:rPr>
                        <a:t>59</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dirty="0">
                          <a:effectLst/>
                          <a:latin typeface="Arial" panose="020B0604020202020204" pitchFamily="34" charset="0"/>
                        </a:rPr>
                        <a:t>31</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3832490890"/>
                  </a:ext>
                </a:extLst>
              </a:tr>
              <a:tr h="149711">
                <a:tc>
                  <a:txBody>
                    <a:bodyPr/>
                    <a:lstStyle/>
                    <a:p>
                      <a:pPr algn="l" fontAlgn="b"/>
                      <a:r>
                        <a:rPr lang="fr-FR" sz="1100" b="0" i="0" u="none" strike="noStrike">
                          <a:effectLst/>
                          <a:latin typeface="Arial" panose="020B0604020202020204" pitchFamily="34" charset="0"/>
                        </a:rPr>
                        <a:t>kl Mosango Zone de Santé</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93</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a:effectLst/>
                          <a:latin typeface="Arial" panose="020B0604020202020204" pitchFamily="34" charset="0"/>
                        </a:rPr>
                        <a:t>67</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dirty="0">
                          <a:effectLst/>
                          <a:latin typeface="Arial" panose="020B0604020202020204" pitchFamily="34" charset="0"/>
                        </a:rPr>
                        <a:t>48</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855697129"/>
                  </a:ext>
                </a:extLst>
              </a:tr>
              <a:tr h="149711">
                <a:tc>
                  <a:txBody>
                    <a:bodyPr/>
                    <a:lstStyle/>
                    <a:p>
                      <a:pPr algn="l" fontAlgn="b"/>
                      <a:r>
                        <a:rPr lang="fr-FR" sz="1100" b="0" i="0" u="none" strike="noStrike">
                          <a:effectLst/>
                          <a:latin typeface="Arial" panose="020B0604020202020204" pitchFamily="34" charset="0"/>
                        </a:rPr>
                        <a:t>kl Mukedi Zone de Santé</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127</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a:effectLst/>
                          <a:latin typeface="Arial" panose="020B0604020202020204" pitchFamily="34" charset="0"/>
                        </a:rPr>
                        <a:t>59</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dirty="0">
                          <a:effectLst/>
                          <a:latin typeface="Arial" panose="020B0604020202020204" pitchFamily="34" charset="0"/>
                        </a:rPr>
                        <a:t>28</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3639132439"/>
                  </a:ext>
                </a:extLst>
              </a:tr>
              <a:tr h="182980">
                <a:tc>
                  <a:txBody>
                    <a:bodyPr/>
                    <a:lstStyle/>
                    <a:p>
                      <a:pPr algn="l" fontAlgn="b"/>
                      <a:r>
                        <a:rPr lang="fr-FR" sz="1100" b="0" i="0" u="none" strike="noStrike">
                          <a:effectLst/>
                          <a:latin typeface="Arial" panose="020B0604020202020204" pitchFamily="34" charset="0"/>
                        </a:rPr>
                        <a:t>kl Mungindu Zone de Santé</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136</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a:effectLst/>
                          <a:latin typeface="Arial" panose="020B0604020202020204" pitchFamily="34" charset="0"/>
                        </a:rPr>
                        <a:t>99</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dirty="0">
                          <a:effectLst/>
                          <a:latin typeface="Arial" panose="020B0604020202020204" pitchFamily="34" charset="0"/>
                        </a:rPr>
                        <a:t>73</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350725105"/>
                  </a:ext>
                </a:extLst>
              </a:tr>
              <a:tr h="182980">
                <a:tc>
                  <a:txBody>
                    <a:bodyPr/>
                    <a:lstStyle/>
                    <a:p>
                      <a:pPr algn="l" fontAlgn="b"/>
                      <a:r>
                        <a:rPr lang="fr-FR" sz="1100" b="0" i="0" u="none" strike="noStrike">
                          <a:effectLst/>
                          <a:latin typeface="Arial" panose="020B0604020202020204" pitchFamily="34" charset="0"/>
                        </a:rPr>
                        <a:t>kl Pay Kongila Zone de Santé</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67</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a:effectLst/>
                          <a:latin typeface="Arial" panose="020B0604020202020204" pitchFamily="34" charset="0"/>
                        </a:rPr>
                        <a:t>30</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dirty="0">
                          <a:effectLst/>
                          <a:latin typeface="Arial" panose="020B0604020202020204" pitchFamily="34" charset="0"/>
                        </a:rPr>
                        <a:t>2</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941832942"/>
                  </a:ext>
                </a:extLst>
              </a:tr>
              <a:tr h="182980">
                <a:tc>
                  <a:txBody>
                    <a:bodyPr/>
                    <a:lstStyle/>
                    <a:p>
                      <a:pPr algn="l" fontAlgn="b"/>
                      <a:r>
                        <a:rPr lang="fr-FR" sz="1100" b="0" i="0" u="none" strike="noStrike">
                          <a:effectLst/>
                          <a:latin typeface="Arial" panose="020B0604020202020204" pitchFamily="34" charset="0"/>
                        </a:rPr>
                        <a:t>kl Yasa Bonga Zone de Santé</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81</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a:effectLst/>
                          <a:latin typeface="Arial" panose="020B0604020202020204" pitchFamily="34" charset="0"/>
                        </a:rPr>
                        <a:t>66</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dirty="0">
                          <a:effectLst/>
                          <a:latin typeface="Arial" panose="020B0604020202020204" pitchFamily="34" charset="0"/>
                        </a:rPr>
                        <a:t>49</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2502028377"/>
                  </a:ext>
                </a:extLst>
              </a:tr>
              <a:tr h="149711">
                <a:tc>
                  <a:txBody>
                    <a:bodyPr/>
                    <a:lstStyle/>
                    <a:p>
                      <a:pPr algn="l" fontAlgn="b"/>
                      <a:r>
                        <a:rPr lang="fr-CD" sz="1100" b="1" i="0" u="none" strike="noStrike">
                          <a:effectLst/>
                          <a:latin typeface="Arial" panose="020B0604020202020204" pitchFamily="34" charset="0"/>
                        </a:rPr>
                        <a:t>Antenne PEV Kikwit</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b"/>
                      <a:r>
                        <a:rPr lang="fr-CD" sz="1400" b="0" i="0" u="none" strike="noStrike" dirty="0">
                          <a:effectLst/>
                          <a:latin typeface="Arial" panose="020B0604020202020204" pitchFamily="34" charset="0"/>
                        </a:rPr>
                        <a:t>95</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a:effectLst/>
                          <a:latin typeface="Arial" panose="020B0604020202020204" pitchFamily="34" charset="0"/>
                        </a:rPr>
                        <a:t>61</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dirty="0">
                          <a:effectLst/>
                          <a:latin typeface="Arial" panose="020B0604020202020204" pitchFamily="34" charset="0"/>
                        </a:rPr>
                        <a:t>37</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3308303139"/>
                  </a:ext>
                </a:extLst>
              </a:tr>
              <a:tr h="149711">
                <a:tc>
                  <a:txBody>
                    <a:bodyPr/>
                    <a:lstStyle/>
                    <a:p>
                      <a:pPr algn="l" fontAlgn="b"/>
                      <a:r>
                        <a:rPr lang="fr-CD" sz="1100" b="1" i="0" u="none" strike="noStrike">
                          <a:effectLst/>
                          <a:latin typeface="Arial" panose="020B0604020202020204" pitchFamily="34" charset="0"/>
                        </a:rPr>
                        <a:t>kl Kwilu Province</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b"/>
                      <a:r>
                        <a:rPr lang="fr-CD" sz="1400" b="0" i="0" u="none" strike="noStrike" dirty="0">
                          <a:effectLst/>
                          <a:latin typeface="Arial" panose="020B0604020202020204" pitchFamily="34" charset="0"/>
                        </a:rPr>
                        <a:t>97</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dirty="0">
                          <a:effectLst/>
                          <a:latin typeface="Arial" panose="020B0604020202020204" pitchFamily="34" charset="0"/>
                        </a:rPr>
                        <a:t>65</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CD" sz="1400" b="0" i="0" u="none" strike="noStrike" dirty="0">
                          <a:effectLst/>
                          <a:latin typeface="Arial" panose="020B0604020202020204" pitchFamily="34" charset="0"/>
                        </a:rPr>
                        <a:t>42</a:t>
                      </a:r>
                    </a:p>
                  </a:txBody>
                  <a:tcPr marL="5545" marR="5545" marT="55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861950204"/>
                  </a:ext>
                </a:extLst>
              </a:tr>
            </a:tbl>
          </a:graphicData>
        </a:graphic>
      </p:graphicFrame>
      <p:sp>
        <p:nvSpPr>
          <p:cNvPr id="5" name="Espace réservé du numéro de diapositive 4">
            <a:extLst>
              <a:ext uri="{FF2B5EF4-FFF2-40B4-BE49-F238E27FC236}">
                <a16:creationId xmlns="" xmlns:a16="http://schemas.microsoft.com/office/drawing/2014/main" id="{3C64B1FE-0BDC-43D5-80CE-FB1CE4F21BB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extLst>
      <p:ext uri="{BB962C8B-B14F-4D97-AF65-F5344CB8AC3E}">
        <p14:creationId xmlns:p14="http://schemas.microsoft.com/office/powerpoint/2010/main" val="2745521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B9B19FE3-F592-4207-98A5-6586EEE542A4}"/>
              </a:ext>
            </a:extLst>
          </p:cNvPr>
          <p:cNvSpPr>
            <a:spLocks noGrp="1"/>
          </p:cNvSpPr>
          <p:nvPr>
            <p:ph type="title"/>
          </p:nvPr>
        </p:nvSpPr>
        <p:spPr>
          <a:xfrm>
            <a:off x="245783" y="143691"/>
            <a:ext cx="11360700" cy="391058"/>
          </a:xfrm>
          <a:solidFill>
            <a:schemeClr val="accent5">
              <a:lumMod val="20000"/>
              <a:lumOff val="80000"/>
            </a:schemeClr>
          </a:solidFill>
        </p:spPr>
        <p:txBody>
          <a:bodyPr>
            <a:noAutofit/>
          </a:bodyPr>
          <a:lstStyle/>
          <a:p>
            <a:r>
              <a:rPr lang="fr-FR" sz="2000" dirty="0"/>
              <a:t>III.4. Taux d’abandon spécifique, général et catégorisation de ZS en octobre 2025 (DHIS2)</a:t>
            </a:r>
            <a:endParaRPr lang="fr-CD" sz="2000" dirty="0"/>
          </a:p>
        </p:txBody>
      </p:sp>
      <p:sp>
        <p:nvSpPr>
          <p:cNvPr id="3" name="Espace réservé du texte 2">
            <a:extLst>
              <a:ext uri="{FF2B5EF4-FFF2-40B4-BE49-F238E27FC236}">
                <a16:creationId xmlns="" xmlns:a16="http://schemas.microsoft.com/office/drawing/2014/main" id="{DFFA93A0-517C-409E-99F2-C780EFF55AE2}"/>
              </a:ext>
            </a:extLst>
          </p:cNvPr>
          <p:cNvSpPr>
            <a:spLocks noGrp="1"/>
          </p:cNvSpPr>
          <p:nvPr>
            <p:ph type="body" idx="1"/>
          </p:nvPr>
        </p:nvSpPr>
        <p:spPr>
          <a:xfrm>
            <a:off x="245783" y="692331"/>
            <a:ext cx="11530517" cy="5399502"/>
          </a:xfrm>
        </p:spPr>
        <p:txBody>
          <a:bodyPr/>
          <a:lstStyle/>
          <a:p>
            <a:pPr marL="76200" indent="0">
              <a:buNone/>
            </a:pPr>
            <a:r>
              <a:rPr lang="fr-CD" dirty="0"/>
              <a:t>.</a:t>
            </a:r>
          </a:p>
        </p:txBody>
      </p:sp>
      <p:graphicFrame>
        <p:nvGraphicFramePr>
          <p:cNvPr id="4" name="Tableau 3">
            <a:extLst>
              <a:ext uri="{FF2B5EF4-FFF2-40B4-BE49-F238E27FC236}">
                <a16:creationId xmlns="" xmlns:a16="http://schemas.microsoft.com/office/drawing/2014/main" id="{77F0533A-1223-4B7C-9FBD-98198ECDD2B1}"/>
              </a:ext>
            </a:extLst>
          </p:cNvPr>
          <p:cNvGraphicFramePr>
            <a:graphicFrameLocks noGrp="1"/>
          </p:cNvGraphicFramePr>
          <p:nvPr>
            <p:extLst>
              <p:ext uri="{D42A27DB-BD31-4B8C-83A1-F6EECF244321}">
                <p14:modId xmlns:p14="http://schemas.microsoft.com/office/powerpoint/2010/main" val="108365689"/>
              </p:ext>
            </p:extLst>
          </p:nvPr>
        </p:nvGraphicFramePr>
        <p:xfrm>
          <a:off x="415700" y="661664"/>
          <a:ext cx="10363799" cy="5404684"/>
        </p:xfrm>
        <a:graphic>
          <a:graphicData uri="http://schemas.openxmlformats.org/drawingml/2006/table">
            <a:tbl>
              <a:tblPr>
                <a:tableStyleId>{BDBED569-4797-4DF1-A0F4-6AAB3CD982D8}</a:tableStyleId>
              </a:tblPr>
              <a:tblGrid>
                <a:gridCol w="2287312">
                  <a:extLst>
                    <a:ext uri="{9D8B030D-6E8A-4147-A177-3AD203B41FA5}">
                      <a16:colId xmlns="" xmlns:a16="http://schemas.microsoft.com/office/drawing/2014/main" val="1256802541"/>
                    </a:ext>
                  </a:extLst>
                </a:gridCol>
                <a:gridCol w="1800551">
                  <a:extLst>
                    <a:ext uri="{9D8B030D-6E8A-4147-A177-3AD203B41FA5}">
                      <a16:colId xmlns="" xmlns:a16="http://schemas.microsoft.com/office/drawing/2014/main" val="1634503703"/>
                    </a:ext>
                  </a:extLst>
                </a:gridCol>
                <a:gridCol w="2287312">
                  <a:extLst>
                    <a:ext uri="{9D8B030D-6E8A-4147-A177-3AD203B41FA5}">
                      <a16:colId xmlns="" xmlns:a16="http://schemas.microsoft.com/office/drawing/2014/main" val="797789392"/>
                    </a:ext>
                  </a:extLst>
                </a:gridCol>
                <a:gridCol w="2041570">
                  <a:extLst>
                    <a:ext uri="{9D8B030D-6E8A-4147-A177-3AD203B41FA5}">
                      <a16:colId xmlns="" xmlns:a16="http://schemas.microsoft.com/office/drawing/2014/main" val="221291249"/>
                    </a:ext>
                  </a:extLst>
                </a:gridCol>
                <a:gridCol w="1039689">
                  <a:extLst>
                    <a:ext uri="{9D8B030D-6E8A-4147-A177-3AD203B41FA5}">
                      <a16:colId xmlns="" xmlns:a16="http://schemas.microsoft.com/office/drawing/2014/main" val="2517409420"/>
                    </a:ext>
                  </a:extLst>
                </a:gridCol>
                <a:gridCol w="907365">
                  <a:extLst>
                    <a:ext uri="{9D8B030D-6E8A-4147-A177-3AD203B41FA5}">
                      <a16:colId xmlns="" xmlns:a16="http://schemas.microsoft.com/office/drawing/2014/main" val="4153253195"/>
                    </a:ext>
                  </a:extLst>
                </a:gridCol>
              </a:tblGrid>
              <a:tr h="323283">
                <a:tc>
                  <a:txBody>
                    <a:bodyPr/>
                    <a:lstStyle/>
                    <a:p>
                      <a:pPr algn="l" fontAlgn="b"/>
                      <a:r>
                        <a:rPr lang="fr-CD" sz="1200" b="1" u="none" strike="noStrike" dirty="0" err="1">
                          <a:effectLst/>
                        </a:rPr>
                        <a:t>organisationunitname</a:t>
                      </a:r>
                      <a:endParaRPr lang="fr-CD" sz="1200" b="1" i="0" u="none" strike="noStrike" dirty="0">
                        <a:effectLst/>
                        <a:latin typeface="Arial" panose="020B0604020202020204" pitchFamily="34" charset="0"/>
                      </a:endParaRPr>
                    </a:p>
                  </a:txBody>
                  <a:tcPr marL="3613" marR="3613" marT="3613" marB="0" anchor="b"/>
                </a:tc>
                <a:tc>
                  <a:txBody>
                    <a:bodyPr/>
                    <a:lstStyle/>
                    <a:p>
                      <a:pPr algn="ctr" fontAlgn="b"/>
                      <a:r>
                        <a:rPr lang="fr-CD" sz="1100" b="0" u="none" strike="noStrike" dirty="0">
                          <a:effectLst/>
                        </a:rPr>
                        <a:t>Taux d'abandon DTC-HepBHib1-3</a:t>
                      </a:r>
                      <a:endParaRPr lang="fr-CD" sz="1100" b="0" i="0" u="none" strike="noStrike" dirty="0">
                        <a:effectLst/>
                        <a:latin typeface="Arial" panose="020B0604020202020204" pitchFamily="34" charset="0"/>
                      </a:endParaRPr>
                    </a:p>
                  </a:txBody>
                  <a:tcPr marL="3613" marR="3613" marT="3613" marB="0" anchor="b"/>
                </a:tc>
                <a:tc>
                  <a:txBody>
                    <a:bodyPr/>
                    <a:lstStyle/>
                    <a:p>
                      <a:pPr algn="ctr" fontAlgn="b"/>
                      <a:r>
                        <a:rPr lang="fr-FR" sz="1100" b="0" u="none" strike="noStrike" dirty="0">
                          <a:effectLst/>
                        </a:rPr>
                        <a:t>Taux d'abandon DTC-HepBHib1 et VAR2</a:t>
                      </a:r>
                      <a:endParaRPr lang="fr-FR" sz="1100" b="0" i="0" u="none" strike="noStrike" dirty="0">
                        <a:effectLst/>
                        <a:latin typeface="Arial" panose="020B0604020202020204" pitchFamily="34" charset="0"/>
                      </a:endParaRPr>
                    </a:p>
                  </a:txBody>
                  <a:tcPr marL="3613" marR="3613" marT="3613" marB="0" anchor="b"/>
                </a:tc>
                <a:tc>
                  <a:txBody>
                    <a:bodyPr/>
                    <a:lstStyle/>
                    <a:p>
                      <a:pPr algn="ctr" fontAlgn="b"/>
                      <a:r>
                        <a:rPr lang="fr-CD" sz="1100" b="0" u="none" strike="noStrike" dirty="0">
                          <a:effectLst/>
                        </a:rPr>
                        <a:t>BCG et VAR2</a:t>
                      </a:r>
                      <a:endParaRPr lang="fr-CD" sz="1100" b="0" i="0" u="none" strike="noStrike" dirty="0">
                        <a:effectLst/>
                        <a:latin typeface="Arial" panose="020B0604020202020204" pitchFamily="34" charset="0"/>
                      </a:endParaRPr>
                    </a:p>
                  </a:txBody>
                  <a:tcPr marL="3613" marR="3613" marT="3613" marB="0" anchor="b"/>
                </a:tc>
                <a:tc>
                  <a:txBody>
                    <a:bodyPr/>
                    <a:lstStyle/>
                    <a:p>
                      <a:pPr algn="l" fontAlgn="b"/>
                      <a:r>
                        <a:rPr lang="en-US" sz="1100" b="0" u="none" strike="noStrike" dirty="0">
                          <a:effectLst/>
                        </a:rPr>
                        <a:t>B 8.4 DTC-HepB Hib 1</a:t>
                      </a:r>
                      <a:endParaRPr lang="en-US" sz="1100" b="0" i="0" u="none" strike="noStrike" dirty="0">
                        <a:effectLst/>
                        <a:latin typeface="Arial" panose="020B0604020202020204" pitchFamily="34" charset="0"/>
                      </a:endParaRPr>
                    </a:p>
                  </a:txBody>
                  <a:tcPr marL="3613" marR="3613" marT="3613" marB="0" anchor="b"/>
                </a:tc>
                <a:tc>
                  <a:txBody>
                    <a:bodyPr/>
                    <a:lstStyle/>
                    <a:p>
                      <a:pPr algn="l" fontAlgn="b"/>
                      <a:r>
                        <a:rPr lang="fr-CD" sz="1100" b="0" u="none" strike="noStrike" dirty="0">
                          <a:effectLst/>
                        </a:rPr>
                        <a:t>Catégorisation de ZS</a:t>
                      </a:r>
                      <a:endParaRPr lang="fr-CD" sz="1100" b="0" i="0" u="none" strike="noStrike" dirty="0">
                        <a:effectLst/>
                        <a:latin typeface="Arial" panose="020B0604020202020204" pitchFamily="34" charset="0"/>
                      </a:endParaRPr>
                    </a:p>
                  </a:txBody>
                  <a:tcPr marL="3613" marR="3613" marT="3613" marB="0" anchor="b"/>
                </a:tc>
                <a:extLst>
                  <a:ext uri="{0D108BD9-81ED-4DB2-BD59-A6C34878D82A}">
                    <a16:rowId xmlns="" xmlns:a16="http://schemas.microsoft.com/office/drawing/2014/main" val="4041006725"/>
                  </a:ext>
                </a:extLst>
              </a:tr>
              <a:tr h="177903">
                <a:tc>
                  <a:txBody>
                    <a:bodyPr/>
                    <a:lstStyle/>
                    <a:p>
                      <a:pPr algn="l" fontAlgn="b"/>
                      <a:r>
                        <a:rPr lang="fr-FR" sz="1200" b="0" u="none" strike="noStrike">
                          <a:effectLst/>
                        </a:rPr>
                        <a:t>kl Bagata Zone de Santé</a:t>
                      </a:r>
                      <a:endParaRPr lang="fr-FR"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4</a:t>
                      </a:r>
                      <a:endParaRPr lang="fr-CD" sz="1200" b="0" i="0" u="none" strike="noStrike" dirty="0">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7</a:t>
                      </a:r>
                      <a:endParaRPr lang="fr-CD" sz="1200" b="0" i="0" u="none" strike="noStrike" dirty="0">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16</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100</a:t>
                      </a:r>
                      <a:endParaRPr lang="fr-CD" sz="1200" b="0" i="0" u="none" strike="noStrike" dirty="0">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a:t>
                      </a:r>
                      <a:endParaRPr lang="fr-CD" sz="1200" b="0" i="0" u="none" strike="noStrike">
                        <a:effectLst/>
                        <a:latin typeface="Arial" panose="020B0604020202020204" pitchFamily="34" charset="0"/>
                      </a:endParaRPr>
                    </a:p>
                  </a:txBody>
                  <a:tcPr marL="3613" marR="3613" marT="3613" marB="0" anchor="b"/>
                </a:tc>
                <a:extLst>
                  <a:ext uri="{0D108BD9-81ED-4DB2-BD59-A6C34878D82A}">
                    <a16:rowId xmlns="" xmlns:a16="http://schemas.microsoft.com/office/drawing/2014/main" val="1411446514"/>
                  </a:ext>
                </a:extLst>
              </a:tr>
              <a:tr h="177903">
                <a:tc>
                  <a:txBody>
                    <a:bodyPr/>
                    <a:lstStyle/>
                    <a:p>
                      <a:pPr algn="l" fontAlgn="b"/>
                      <a:r>
                        <a:rPr lang="fr-FR" sz="1200" b="0" u="none" strike="noStrike">
                          <a:effectLst/>
                        </a:rPr>
                        <a:t>kl Bandundu Zone de Santé</a:t>
                      </a:r>
                      <a:endParaRPr lang="fr-FR"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4</a:t>
                      </a:r>
                      <a:endParaRPr lang="fr-CD" sz="1200" b="0" i="0" u="none" strike="noStrike" dirty="0">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8</a:t>
                      </a:r>
                      <a:endParaRPr lang="fr-CD" sz="1200" b="0" i="0" u="none" strike="noStrike" dirty="0">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17</a:t>
                      </a:r>
                      <a:endParaRPr lang="fr-CD" sz="1200" b="0" i="0" u="none" strike="noStrike" dirty="0">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110</a:t>
                      </a:r>
                      <a:endParaRPr lang="fr-CD" sz="1200" b="0" i="0" u="none" strike="noStrike" dirty="0">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a:t>
                      </a:r>
                      <a:endParaRPr lang="fr-CD" sz="1200" b="0" i="0" u="none" strike="noStrike">
                        <a:effectLst/>
                        <a:latin typeface="Arial" panose="020B0604020202020204" pitchFamily="34" charset="0"/>
                      </a:endParaRPr>
                    </a:p>
                  </a:txBody>
                  <a:tcPr marL="3613" marR="3613" marT="3613" marB="0" anchor="b"/>
                </a:tc>
                <a:extLst>
                  <a:ext uri="{0D108BD9-81ED-4DB2-BD59-A6C34878D82A}">
                    <a16:rowId xmlns="" xmlns:a16="http://schemas.microsoft.com/office/drawing/2014/main" val="1054117673"/>
                  </a:ext>
                </a:extLst>
              </a:tr>
              <a:tr h="177903">
                <a:tc>
                  <a:txBody>
                    <a:bodyPr/>
                    <a:lstStyle/>
                    <a:p>
                      <a:pPr algn="l" fontAlgn="b"/>
                      <a:r>
                        <a:rPr lang="fr-FR" sz="1200" b="0" u="none" strike="noStrike">
                          <a:effectLst/>
                        </a:rPr>
                        <a:t>kl Djuma Zone de Santé</a:t>
                      </a:r>
                      <a:endParaRPr lang="fr-FR"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0</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-3</a:t>
                      </a:r>
                      <a:endParaRPr lang="fr-CD" sz="1200" b="0" i="0" u="none" strike="noStrike" dirty="0">
                        <a:effectLst/>
                        <a:latin typeface="Arial" panose="020B0604020202020204" pitchFamily="34" charset="0"/>
                      </a:endParaRPr>
                    </a:p>
                  </a:txBody>
                  <a:tcPr marL="3613" marR="3613" marT="3613" marB="0" anchor="b">
                    <a:solidFill>
                      <a:srgbClr val="FFFF00"/>
                    </a:solidFill>
                  </a:tcPr>
                </a:tc>
                <a:tc>
                  <a:txBody>
                    <a:bodyPr/>
                    <a:lstStyle/>
                    <a:p>
                      <a:pPr algn="ctr" fontAlgn="b"/>
                      <a:r>
                        <a:rPr lang="fr-CD" sz="1200" b="0" u="none" strike="noStrike" dirty="0">
                          <a:effectLst/>
                        </a:rPr>
                        <a:t>10</a:t>
                      </a:r>
                      <a:endParaRPr lang="fr-CD" sz="1200" b="0" i="0" u="none" strike="noStrike" dirty="0">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101</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a:t>
                      </a:r>
                      <a:endParaRPr lang="fr-CD" sz="1200" b="0" i="0" u="none" strike="noStrike" dirty="0">
                        <a:effectLst/>
                        <a:latin typeface="Arial" panose="020B0604020202020204" pitchFamily="34" charset="0"/>
                      </a:endParaRPr>
                    </a:p>
                  </a:txBody>
                  <a:tcPr marL="3613" marR="3613" marT="3613" marB="0" anchor="b"/>
                </a:tc>
                <a:extLst>
                  <a:ext uri="{0D108BD9-81ED-4DB2-BD59-A6C34878D82A}">
                    <a16:rowId xmlns="" xmlns:a16="http://schemas.microsoft.com/office/drawing/2014/main" val="222110952"/>
                  </a:ext>
                </a:extLst>
              </a:tr>
              <a:tr h="177903">
                <a:tc>
                  <a:txBody>
                    <a:bodyPr/>
                    <a:lstStyle/>
                    <a:p>
                      <a:pPr algn="l" fontAlgn="b"/>
                      <a:r>
                        <a:rPr lang="fr-FR" sz="1200" b="0" u="none" strike="noStrike" dirty="0">
                          <a:effectLst/>
                        </a:rPr>
                        <a:t>kl Kikongo Zone de Santé</a:t>
                      </a:r>
                      <a:endParaRPr lang="fr-FR" sz="1200" b="0" i="0" u="none" strike="noStrike" dirty="0">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7</a:t>
                      </a:r>
                      <a:endParaRPr lang="fr-CD" sz="1200" b="0" i="0" u="none" strike="noStrike" dirty="0">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17</a:t>
                      </a:r>
                      <a:endParaRPr lang="fr-CD" sz="1200" b="0" i="0" u="none" strike="noStrike" dirty="0">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91</a:t>
                      </a:r>
                      <a:endParaRPr lang="fr-CD" sz="1200" b="0" i="0" u="none" strike="noStrike" dirty="0">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a:t>
                      </a:r>
                      <a:endParaRPr lang="fr-CD" sz="1200" b="0" i="0" u="none" strike="noStrike">
                        <a:effectLst/>
                        <a:latin typeface="Arial" panose="020B0604020202020204" pitchFamily="34" charset="0"/>
                      </a:endParaRPr>
                    </a:p>
                  </a:txBody>
                  <a:tcPr marL="3613" marR="3613" marT="3613" marB="0" anchor="b"/>
                </a:tc>
                <a:extLst>
                  <a:ext uri="{0D108BD9-81ED-4DB2-BD59-A6C34878D82A}">
                    <a16:rowId xmlns="" xmlns:a16="http://schemas.microsoft.com/office/drawing/2014/main" val="2518541333"/>
                  </a:ext>
                </a:extLst>
              </a:tr>
              <a:tr h="177903">
                <a:tc>
                  <a:txBody>
                    <a:bodyPr/>
                    <a:lstStyle/>
                    <a:p>
                      <a:pPr algn="l" fontAlgn="b"/>
                      <a:r>
                        <a:rPr lang="fr-FR" sz="1200" b="0" u="none" strike="noStrike">
                          <a:effectLst/>
                        </a:rPr>
                        <a:t>kl Sia Zone de Santé</a:t>
                      </a:r>
                      <a:endParaRPr lang="fr-FR"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3</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15</a:t>
                      </a:r>
                      <a:endParaRPr lang="fr-CD" sz="1200" b="0" i="0" u="none" strike="noStrike" dirty="0">
                        <a:effectLst/>
                        <a:latin typeface="Arial" panose="020B0604020202020204" pitchFamily="34" charset="0"/>
                      </a:endParaRPr>
                    </a:p>
                  </a:txBody>
                  <a:tcPr marL="3613" marR="3613" marT="3613" marB="0" anchor="b"/>
                </a:tc>
                <a:tc>
                  <a:txBody>
                    <a:bodyPr/>
                    <a:lstStyle/>
                    <a:p>
                      <a:pPr algn="ctr" fontAlgn="b"/>
                      <a:r>
                        <a:rPr lang="fr-CD" sz="1200" b="0" u="none" strike="noStrike">
                          <a:effectLst/>
                        </a:rPr>
                        <a:t>92</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a:t>
                      </a:r>
                      <a:endParaRPr lang="fr-CD" sz="1200" b="0" i="0" u="none" strike="noStrike" dirty="0">
                        <a:effectLst/>
                        <a:latin typeface="Arial" panose="020B0604020202020204" pitchFamily="34" charset="0"/>
                      </a:endParaRPr>
                    </a:p>
                  </a:txBody>
                  <a:tcPr marL="3613" marR="3613" marT="3613" marB="0" anchor="b"/>
                </a:tc>
                <a:extLst>
                  <a:ext uri="{0D108BD9-81ED-4DB2-BD59-A6C34878D82A}">
                    <a16:rowId xmlns="" xmlns:a16="http://schemas.microsoft.com/office/drawing/2014/main" val="3928202408"/>
                  </a:ext>
                </a:extLst>
              </a:tr>
              <a:tr h="177903">
                <a:tc>
                  <a:txBody>
                    <a:bodyPr/>
                    <a:lstStyle/>
                    <a:p>
                      <a:pPr algn="l" fontAlgn="b"/>
                      <a:r>
                        <a:rPr lang="fr-FR" sz="1200" b="0" u="none" strike="noStrike">
                          <a:effectLst/>
                        </a:rPr>
                        <a:t>kl Vanga Zone de Santé</a:t>
                      </a:r>
                      <a:endParaRPr lang="fr-FR"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3</a:t>
                      </a:r>
                      <a:endParaRPr lang="fr-CD" sz="1200" b="0" i="0" u="none" strike="noStrike" dirty="0">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11</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101</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a:t>
                      </a:r>
                      <a:endParaRPr lang="fr-CD" sz="1200" b="0" i="0" u="none" strike="noStrike" dirty="0">
                        <a:effectLst/>
                        <a:latin typeface="Arial" panose="020B0604020202020204" pitchFamily="34" charset="0"/>
                      </a:endParaRPr>
                    </a:p>
                  </a:txBody>
                  <a:tcPr marL="3613" marR="3613" marT="3613" marB="0" anchor="b"/>
                </a:tc>
                <a:extLst>
                  <a:ext uri="{0D108BD9-81ED-4DB2-BD59-A6C34878D82A}">
                    <a16:rowId xmlns="" xmlns:a16="http://schemas.microsoft.com/office/drawing/2014/main" val="3016424237"/>
                  </a:ext>
                </a:extLst>
              </a:tr>
              <a:tr h="177903">
                <a:tc>
                  <a:txBody>
                    <a:bodyPr/>
                    <a:lstStyle/>
                    <a:p>
                      <a:pPr algn="l" fontAlgn="b"/>
                      <a:r>
                        <a:rPr lang="fr-CD" sz="1200" b="1" u="none" strike="noStrike">
                          <a:effectLst/>
                        </a:rPr>
                        <a:t>Antenne PEV Bandundu</a:t>
                      </a:r>
                      <a:endParaRPr lang="fr-CD" sz="1200" b="1"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2</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4</a:t>
                      </a:r>
                      <a:endParaRPr lang="fr-CD" sz="1200" b="0" i="0" u="none" strike="noStrike" dirty="0">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14</a:t>
                      </a:r>
                      <a:endParaRPr lang="fr-CD" sz="1200" b="0" i="0" u="none" strike="noStrike" dirty="0">
                        <a:effectLst/>
                        <a:latin typeface="Arial" panose="020B0604020202020204" pitchFamily="34" charset="0"/>
                      </a:endParaRPr>
                    </a:p>
                  </a:txBody>
                  <a:tcPr marL="3613" marR="3613" marT="3613" marB="0" anchor="b"/>
                </a:tc>
                <a:tc>
                  <a:txBody>
                    <a:bodyPr/>
                    <a:lstStyle/>
                    <a:p>
                      <a:pPr algn="ctr" fontAlgn="b"/>
                      <a:r>
                        <a:rPr lang="fr-CD" sz="1400" b="1" u="none" strike="noStrike">
                          <a:effectLst/>
                        </a:rPr>
                        <a:t>100</a:t>
                      </a:r>
                      <a:endParaRPr lang="fr-CD" sz="1400" b="1"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a:t>
                      </a:r>
                      <a:endParaRPr lang="fr-CD" sz="1200" b="0" i="0" u="none" strike="noStrike" dirty="0">
                        <a:effectLst/>
                        <a:latin typeface="Arial" panose="020B0604020202020204" pitchFamily="34" charset="0"/>
                      </a:endParaRPr>
                    </a:p>
                  </a:txBody>
                  <a:tcPr marL="3613" marR="3613" marT="3613" marB="0" anchor="b"/>
                </a:tc>
                <a:extLst>
                  <a:ext uri="{0D108BD9-81ED-4DB2-BD59-A6C34878D82A}">
                    <a16:rowId xmlns="" xmlns:a16="http://schemas.microsoft.com/office/drawing/2014/main" val="2814269542"/>
                  </a:ext>
                </a:extLst>
              </a:tr>
              <a:tr h="177903">
                <a:tc>
                  <a:txBody>
                    <a:bodyPr/>
                    <a:lstStyle/>
                    <a:p>
                      <a:pPr algn="l" fontAlgn="b"/>
                      <a:r>
                        <a:rPr lang="fr-FR" sz="1200" b="0" u="none" strike="noStrike">
                          <a:effectLst/>
                        </a:rPr>
                        <a:t>kl Bulungu Zone de Santé</a:t>
                      </a:r>
                      <a:endParaRPr lang="fr-FR"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3</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12</a:t>
                      </a:r>
                      <a:endParaRPr lang="fr-CD" sz="1200" b="0" i="0" u="none" strike="noStrike" dirty="0">
                        <a:effectLst/>
                        <a:latin typeface="Arial" panose="020B0604020202020204" pitchFamily="34" charset="0"/>
                      </a:endParaRPr>
                    </a:p>
                  </a:txBody>
                  <a:tcPr marL="3613" marR="3613" marT="3613" marB="0" anchor="b">
                    <a:solidFill>
                      <a:schemeClr val="accent5">
                        <a:lumMod val="40000"/>
                        <a:lumOff val="60000"/>
                      </a:schemeClr>
                    </a:solidFill>
                  </a:tcPr>
                </a:tc>
                <a:tc>
                  <a:txBody>
                    <a:bodyPr/>
                    <a:lstStyle/>
                    <a:p>
                      <a:pPr algn="ctr" fontAlgn="b"/>
                      <a:r>
                        <a:rPr lang="fr-CD" sz="1200" b="0" u="none" strike="noStrike" dirty="0">
                          <a:effectLst/>
                        </a:rPr>
                        <a:t>21</a:t>
                      </a:r>
                      <a:endParaRPr lang="fr-CD" sz="1200" b="0" i="0" u="none" strike="noStrike" dirty="0">
                        <a:effectLst/>
                        <a:latin typeface="Arial" panose="020B0604020202020204" pitchFamily="34" charset="0"/>
                      </a:endParaRPr>
                    </a:p>
                  </a:txBody>
                  <a:tcPr marL="3613" marR="3613" marT="3613" marB="0" anchor="b">
                    <a:solidFill>
                      <a:srgbClr val="FFFF00"/>
                    </a:solidFill>
                  </a:tcPr>
                </a:tc>
                <a:tc>
                  <a:txBody>
                    <a:bodyPr/>
                    <a:lstStyle/>
                    <a:p>
                      <a:pPr algn="ctr" fontAlgn="b"/>
                      <a:r>
                        <a:rPr lang="fr-CD" sz="1200" b="0" u="none" strike="noStrike">
                          <a:effectLst/>
                        </a:rPr>
                        <a:t>105</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a:t>
                      </a:r>
                      <a:endParaRPr lang="fr-CD" sz="1200" b="0" i="0" u="none" strike="noStrike" dirty="0">
                        <a:effectLst/>
                        <a:latin typeface="Arial" panose="020B0604020202020204" pitchFamily="34" charset="0"/>
                      </a:endParaRPr>
                    </a:p>
                  </a:txBody>
                  <a:tcPr marL="3613" marR="3613" marT="3613" marB="0" anchor="b"/>
                </a:tc>
                <a:extLst>
                  <a:ext uri="{0D108BD9-81ED-4DB2-BD59-A6C34878D82A}">
                    <a16:rowId xmlns="" xmlns:a16="http://schemas.microsoft.com/office/drawing/2014/main" val="4198712722"/>
                  </a:ext>
                </a:extLst>
              </a:tr>
              <a:tr h="177903">
                <a:tc>
                  <a:txBody>
                    <a:bodyPr/>
                    <a:lstStyle/>
                    <a:p>
                      <a:pPr algn="l" fontAlgn="b"/>
                      <a:r>
                        <a:rPr lang="fr-FR" sz="1200" b="0" u="none" strike="noStrike">
                          <a:effectLst/>
                        </a:rPr>
                        <a:t>kl Gungu Zone de Santé</a:t>
                      </a:r>
                      <a:endParaRPr lang="fr-FR"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4</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7</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14</a:t>
                      </a:r>
                      <a:endParaRPr lang="fr-CD" sz="1200" b="0" i="0" u="none" strike="noStrike" dirty="0">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104</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a:t>
                      </a:r>
                      <a:endParaRPr lang="fr-CD" sz="1200" b="0" i="0" u="none" strike="noStrike" dirty="0">
                        <a:effectLst/>
                        <a:latin typeface="Arial" panose="020B0604020202020204" pitchFamily="34" charset="0"/>
                      </a:endParaRPr>
                    </a:p>
                  </a:txBody>
                  <a:tcPr marL="3613" marR="3613" marT="3613" marB="0" anchor="b"/>
                </a:tc>
                <a:extLst>
                  <a:ext uri="{0D108BD9-81ED-4DB2-BD59-A6C34878D82A}">
                    <a16:rowId xmlns="" xmlns:a16="http://schemas.microsoft.com/office/drawing/2014/main" val="1148753163"/>
                  </a:ext>
                </a:extLst>
              </a:tr>
              <a:tr h="177903">
                <a:tc>
                  <a:txBody>
                    <a:bodyPr/>
                    <a:lstStyle/>
                    <a:p>
                      <a:pPr algn="l" fontAlgn="b"/>
                      <a:r>
                        <a:rPr lang="fr-FR" sz="1200" b="0" u="none" strike="noStrike">
                          <a:effectLst/>
                        </a:rPr>
                        <a:t>kl Idiofa Zone de Santé</a:t>
                      </a:r>
                      <a:endParaRPr lang="fr-FR"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10</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22</a:t>
                      </a:r>
                      <a:endParaRPr lang="fr-CD" sz="1200" b="0" i="0" u="none" strike="noStrike" dirty="0">
                        <a:effectLst/>
                        <a:latin typeface="Arial" panose="020B0604020202020204" pitchFamily="34" charset="0"/>
                      </a:endParaRPr>
                    </a:p>
                  </a:txBody>
                  <a:tcPr marL="3613" marR="3613" marT="3613" marB="0" anchor="b">
                    <a:solidFill>
                      <a:srgbClr val="FFFF00"/>
                    </a:solidFill>
                  </a:tcPr>
                </a:tc>
                <a:tc>
                  <a:txBody>
                    <a:bodyPr/>
                    <a:lstStyle/>
                    <a:p>
                      <a:pPr algn="ctr" fontAlgn="b"/>
                      <a:r>
                        <a:rPr lang="fr-CD" sz="1200" b="0" u="none" strike="noStrike">
                          <a:effectLst/>
                        </a:rPr>
                        <a:t>97</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a:t>
                      </a:r>
                      <a:endParaRPr lang="fr-CD" sz="1200" b="0" i="0" u="none" strike="noStrike" dirty="0">
                        <a:effectLst/>
                        <a:latin typeface="Arial" panose="020B0604020202020204" pitchFamily="34" charset="0"/>
                      </a:endParaRPr>
                    </a:p>
                  </a:txBody>
                  <a:tcPr marL="3613" marR="3613" marT="3613" marB="0" anchor="b"/>
                </a:tc>
                <a:extLst>
                  <a:ext uri="{0D108BD9-81ED-4DB2-BD59-A6C34878D82A}">
                    <a16:rowId xmlns="" xmlns:a16="http://schemas.microsoft.com/office/drawing/2014/main" val="3603175873"/>
                  </a:ext>
                </a:extLst>
              </a:tr>
              <a:tr h="177903">
                <a:tc>
                  <a:txBody>
                    <a:bodyPr/>
                    <a:lstStyle/>
                    <a:p>
                      <a:pPr algn="l" fontAlgn="b"/>
                      <a:r>
                        <a:rPr lang="fr-FR" sz="1200" b="0" u="none" strike="noStrike">
                          <a:effectLst/>
                        </a:rPr>
                        <a:t>kl Ipamu Zone de Santé</a:t>
                      </a:r>
                      <a:endParaRPr lang="fr-FR"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2</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9</a:t>
                      </a:r>
                      <a:endParaRPr lang="fr-CD" sz="1200" b="0" i="0" u="none" strike="noStrike" dirty="0">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99</a:t>
                      </a:r>
                      <a:endParaRPr lang="fr-CD" sz="1200" b="0" i="0" u="none" strike="noStrike" dirty="0">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a:t>
                      </a:r>
                      <a:endParaRPr lang="fr-CD" sz="1200" b="0" i="0" u="none" strike="noStrike" dirty="0">
                        <a:effectLst/>
                        <a:latin typeface="Arial" panose="020B0604020202020204" pitchFamily="34" charset="0"/>
                      </a:endParaRPr>
                    </a:p>
                  </a:txBody>
                  <a:tcPr marL="3613" marR="3613" marT="3613" marB="0" anchor="b"/>
                </a:tc>
                <a:extLst>
                  <a:ext uri="{0D108BD9-81ED-4DB2-BD59-A6C34878D82A}">
                    <a16:rowId xmlns="" xmlns:a16="http://schemas.microsoft.com/office/drawing/2014/main" val="835542169"/>
                  </a:ext>
                </a:extLst>
              </a:tr>
              <a:tr h="177903">
                <a:tc>
                  <a:txBody>
                    <a:bodyPr/>
                    <a:lstStyle/>
                    <a:p>
                      <a:pPr algn="l" fontAlgn="b"/>
                      <a:r>
                        <a:rPr lang="fr-FR" sz="1200" b="0" u="none" strike="noStrike">
                          <a:effectLst/>
                        </a:rPr>
                        <a:t>kl Kikwit Nord Zone de Santé</a:t>
                      </a:r>
                      <a:endParaRPr lang="fr-FR"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2</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7</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22</a:t>
                      </a:r>
                      <a:endParaRPr lang="fr-CD" sz="1200" b="0" i="0" u="none" strike="noStrike" dirty="0">
                        <a:effectLst/>
                        <a:latin typeface="Arial" panose="020B0604020202020204" pitchFamily="34" charset="0"/>
                      </a:endParaRPr>
                    </a:p>
                  </a:txBody>
                  <a:tcPr marL="3613" marR="3613" marT="3613" marB="0" anchor="b">
                    <a:solidFill>
                      <a:srgbClr val="FFFF00"/>
                    </a:solidFill>
                  </a:tcPr>
                </a:tc>
                <a:tc>
                  <a:txBody>
                    <a:bodyPr/>
                    <a:lstStyle/>
                    <a:p>
                      <a:pPr algn="ctr" fontAlgn="b"/>
                      <a:r>
                        <a:rPr lang="fr-CD" sz="1200" b="0" u="none" strike="noStrike" dirty="0">
                          <a:effectLst/>
                        </a:rPr>
                        <a:t>97</a:t>
                      </a:r>
                      <a:endParaRPr lang="fr-CD" sz="1200" b="0" i="0" u="none" strike="noStrike" dirty="0">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a:t>
                      </a:r>
                      <a:endParaRPr lang="fr-CD" sz="1200" b="0" i="0" u="none" strike="noStrike" dirty="0">
                        <a:effectLst/>
                        <a:latin typeface="Arial" panose="020B0604020202020204" pitchFamily="34" charset="0"/>
                      </a:endParaRPr>
                    </a:p>
                  </a:txBody>
                  <a:tcPr marL="3613" marR="3613" marT="3613" marB="0" anchor="b"/>
                </a:tc>
                <a:extLst>
                  <a:ext uri="{0D108BD9-81ED-4DB2-BD59-A6C34878D82A}">
                    <a16:rowId xmlns="" xmlns:a16="http://schemas.microsoft.com/office/drawing/2014/main" val="2396079513"/>
                  </a:ext>
                </a:extLst>
              </a:tr>
              <a:tr h="177903">
                <a:tc>
                  <a:txBody>
                    <a:bodyPr/>
                    <a:lstStyle/>
                    <a:p>
                      <a:pPr algn="l" fontAlgn="b"/>
                      <a:r>
                        <a:rPr lang="fr-FR" sz="1200" b="0" u="none" strike="noStrike">
                          <a:effectLst/>
                        </a:rPr>
                        <a:t>kl Kikwit Sud Zone de Santé</a:t>
                      </a:r>
                      <a:endParaRPr lang="fr-FR"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0</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6</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15</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98</a:t>
                      </a:r>
                      <a:endParaRPr lang="fr-CD" sz="1200" b="0" i="0" u="none" strike="noStrike" dirty="0">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a:t>
                      </a:r>
                      <a:endParaRPr lang="fr-CD" sz="1200" b="0" i="0" u="none" strike="noStrike" dirty="0">
                        <a:effectLst/>
                        <a:latin typeface="Arial" panose="020B0604020202020204" pitchFamily="34" charset="0"/>
                      </a:endParaRPr>
                    </a:p>
                  </a:txBody>
                  <a:tcPr marL="3613" marR="3613" marT="3613" marB="0" anchor="b"/>
                </a:tc>
                <a:extLst>
                  <a:ext uri="{0D108BD9-81ED-4DB2-BD59-A6C34878D82A}">
                    <a16:rowId xmlns="" xmlns:a16="http://schemas.microsoft.com/office/drawing/2014/main" val="705730488"/>
                  </a:ext>
                </a:extLst>
              </a:tr>
              <a:tr h="177903">
                <a:tc>
                  <a:txBody>
                    <a:bodyPr/>
                    <a:lstStyle/>
                    <a:p>
                      <a:pPr algn="l" fontAlgn="b"/>
                      <a:r>
                        <a:rPr lang="fr-FR" sz="1200" b="0" u="none" strike="noStrike">
                          <a:effectLst/>
                        </a:rPr>
                        <a:t>kl Kimputu Zone de Santé</a:t>
                      </a:r>
                      <a:endParaRPr lang="fr-FR"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2</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12</a:t>
                      </a:r>
                      <a:endParaRPr lang="fr-CD" sz="1200" b="0" i="0" u="none" strike="noStrike" dirty="0">
                        <a:effectLst/>
                        <a:latin typeface="Arial" panose="020B0604020202020204" pitchFamily="34" charset="0"/>
                      </a:endParaRPr>
                    </a:p>
                  </a:txBody>
                  <a:tcPr marL="3613" marR="3613" marT="3613" marB="0" anchor="b">
                    <a:solidFill>
                      <a:schemeClr val="accent5">
                        <a:lumMod val="40000"/>
                        <a:lumOff val="60000"/>
                      </a:schemeClr>
                    </a:solidFill>
                  </a:tcPr>
                </a:tc>
                <a:tc>
                  <a:txBody>
                    <a:bodyPr/>
                    <a:lstStyle/>
                    <a:p>
                      <a:pPr algn="ctr" fontAlgn="b"/>
                      <a:r>
                        <a:rPr lang="fr-CD" sz="1200" b="0" u="none" strike="noStrike" dirty="0">
                          <a:effectLst/>
                        </a:rPr>
                        <a:t>11</a:t>
                      </a:r>
                      <a:endParaRPr lang="fr-CD" sz="1200" b="0" i="0" u="none" strike="noStrike" dirty="0">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101</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a:t>
                      </a:r>
                      <a:endParaRPr lang="fr-CD" sz="1200" b="0" i="0" u="none" strike="noStrike" dirty="0">
                        <a:effectLst/>
                        <a:latin typeface="Arial" panose="020B0604020202020204" pitchFamily="34" charset="0"/>
                      </a:endParaRPr>
                    </a:p>
                  </a:txBody>
                  <a:tcPr marL="3613" marR="3613" marT="3613" marB="0" anchor="b"/>
                </a:tc>
                <a:extLst>
                  <a:ext uri="{0D108BD9-81ED-4DB2-BD59-A6C34878D82A}">
                    <a16:rowId xmlns="" xmlns:a16="http://schemas.microsoft.com/office/drawing/2014/main" val="3819554362"/>
                  </a:ext>
                </a:extLst>
              </a:tr>
              <a:tr h="177903">
                <a:tc>
                  <a:txBody>
                    <a:bodyPr/>
                    <a:lstStyle/>
                    <a:p>
                      <a:pPr algn="l" fontAlgn="b"/>
                      <a:r>
                        <a:rPr lang="fr-FR" sz="1200" b="0" u="none" strike="noStrike">
                          <a:effectLst/>
                        </a:rPr>
                        <a:t>kl Kingandu Zone de Santé</a:t>
                      </a:r>
                      <a:endParaRPr lang="fr-FR"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0</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7</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14</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99</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a:t>
                      </a:r>
                      <a:endParaRPr lang="fr-CD" sz="1200" b="0" i="0" u="none" strike="noStrike" dirty="0">
                        <a:effectLst/>
                        <a:latin typeface="Arial" panose="020B0604020202020204" pitchFamily="34" charset="0"/>
                      </a:endParaRPr>
                    </a:p>
                  </a:txBody>
                  <a:tcPr marL="3613" marR="3613" marT="3613" marB="0" anchor="b"/>
                </a:tc>
                <a:extLst>
                  <a:ext uri="{0D108BD9-81ED-4DB2-BD59-A6C34878D82A}">
                    <a16:rowId xmlns="" xmlns:a16="http://schemas.microsoft.com/office/drawing/2014/main" val="1722788975"/>
                  </a:ext>
                </a:extLst>
              </a:tr>
              <a:tr h="177903">
                <a:tc>
                  <a:txBody>
                    <a:bodyPr/>
                    <a:lstStyle/>
                    <a:p>
                      <a:pPr algn="l" fontAlgn="b"/>
                      <a:r>
                        <a:rPr lang="fr-FR" sz="1200" b="0" u="none" strike="noStrike">
                          <a:effectLst/>
                        </a:rPr>
                        <a:t>kl Koshibanda Zone de Santé</a:t>
                      </a:r>
                      <a:endParaRPr lang="fr-FR"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5</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21</a:t>
                      </a:r>
                      <a:endParaRPr lang="fr-CD" sz="1200" b="0" i="0" u="none" strike="noStrike" dirty="0">
                        <a:effectLst/>
                        <a:latin typeface="Arial" panose="020B0604020202020204" pitchFamily="34" charset="0"/>
                      </a:endParaRPr>
                    </a:p>
                  </a:txBody>
                  <a:tcPr marL="3613" marR="3613" marT="3613" marB="0" anchor="b">
                    <a:solidFill>
                      <a:srgbClr val="FFFF00"/>
                    </a:solidFill>
                  </a:tcPr>
                </a:tc>
                <a:tc>
                  <a:txBody>
                    <a:bodyPr/>
                    <a:lstStyle/>
                    <a:p>
                      <a:pPr algn="ctr" fontAlgn="b"/>
                      <a:r>
                        <a:rPr lang="fr-CD" sz="1200" b="0" u="none" strike="noStrike" dirty="0">
                          <a:effectLst/>
                        </a:rPr>
                        <a:t>95</a:t>
                      </a:r>
                      <a:endParaRPr lang="fr-CD" sz="1200" b="0" i="0" u="none" strike="noStrike" dirty="0">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a:t>
                      </a:r>
                      <a:endParaRPr lang="fr-CD" sz="1200" b="0" i="0" u="none" strike="noStrike" dirty="0">
                        <a:effectLst/>
                        <a:latin typeface="Arial" panose="020B0604020202020204" pitchFamily="34" charset="0"/>
                      </a:endParaRPr>
                    </a:p>
                  </a:txBody>
                  <a:tcPr marL="3613" marR="3613" marT="3613" marB="0" anchor="b"/>
                </a:tc>
                <a:extLst>
                  <a:ext uri="{0D108BD9-81ED-4DB2-BD59-A6C34878D82A}">
                    <a16:rowId xmlns="" xmlns:a16="http://schemas.microsoft.com/office/drawing/2014/main" val="669418958"/>
                  </a:ext>
                </a:extLst>
              </a:tr>
              <a:tr h="177903">
                <a:tc>
                  <a:txBody>
                    <a:bodyPr/>
                    <a:lstStyle/>
                    <a:p>
                      <a:pPr algn="l" fontAlgn="b"/>
                      <a:r>
                        <a:rPr lang="fr-FR" sz="1200" b="0" u="none" strike="noStrike">
                          <a:effectLst/>
                        </a:rPr>
                        <a:t>kl Lusanga Zone de Santé</a:t>
                      </a:r>
                      <a:endParaRPr lang="fr-FR"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3</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6</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17</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103</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a:t>
                      </a:r>
                      <a:endParaRPr lang="fr-CD" sz="1200" b="0" i="0" u="none" strike="noStrike" dirty="0">
                        <a:effectLst/>
                        <a:latin typeface="Arial" panose="020B0604020202020204" pitchFamily="34" charset="0"/>
                      </a:endParaRPr>
                    </a:p>
                  </a:txBody>
                  <a:tcPr marL="3613" marR="3613" marT="3613" marB="0" anchor="b"/>
                </a:tc>
                <a:extLst>
                  <a:ext uri="{0D108BD9-81ED-4DB2-BD59-A6C34878D82A}">
                    <a16:rowId xmlns="" xmlns:a16="http://schemas.microsoft.com/office/drawing/2014/main" val="2012831587"/>
                  </a:ext>
                </a:extLst>
              </a:tr>
              <a:tr h="163365">
                <a:tc>
                  <a:txBody>
                    <a:bodyPr/>
                    <a:lstStyle/>
                    <a:p>
                      <a:pPr algn="l" fontAlgn="b"/>
                      <a:r>
                        <a:rPr lang="fr-CD" sz="1100" b="0" u="none" strike="noStrike" dirty="0">
                          <a:effectLst/>
                        </a:rPr>
                        <a:t>kl Masi Manimba Zone de Santé</a:t>
                      </a:r>
                      <a:endParaRPr lang="fr-CD" sz="1100" b="0" i="0" u="none" strike="noStrike" dirty="0">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5</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18</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100</a:t>
                      </a:r>
                      <a:endParaRPr lang="fr-CD" sz="1200" b="0" i="0" u="none" strike="noStrike" dirty="0">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a:t>
                      </a:r>
                      <a:endParaRPr lang="fr-CD" sz="1200" b="0" i="0" u="none" strike="noStrike" dirty="0">
                        <a:effectLst/>
                        <a:latin typeface="Arial" panose="020B0604020202020204" pitchFamily="34" charset="0"/>
                      </a:endParaRPr>
                    </a:p>
                  </a:txBody>
                  <a:tcPr marL="3613" marR="3613" marT="3613" marB="0" anchor="b"/>
                </a:tc>
                <a:extLst>
                  <a:ext uri="{0D108BD9-81ED-4DB2-BD59-A6C34878D82A}">
                    <a16:rowId xmlns="" xmlns:a16="http://schemas.microsoft.com/office/drawing/2014/main" val="1530347969"/>
                  </a:ext>
                </a:extLst>
              </a:tr>
              <a:tr h="177903">
                <a:tc>
                  <a:txBody>
                    <a:bodyPr/>
                    <a:lstStyle/>
                    <a:p>
                      <a:pPr algn="l" fontAlgn="b"/>
                      <a:r>
                        <a:rPr lang="fr-FR" sz="1200" b="0" u="none" strike="noStrike">
                          <a:effectLst/>
                        </a:rPr>
                        <a:t>kl Moanza Zone de Santé</a:t>
                      </a:r>
                      <a:endParaRPr lang="fr-FR"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3</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10</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21</a:t>
                      </a:r>
                      <a:endParaRPr lang="fr-CD" sz="1200" b="0" i="0" u="none" strike="noStrike" dirty="0">
                        <a:effectLst/>
                        <a:latin typeface="Arial" panose="020B0604020202020204" pitchFamily="34" charset="0"/>
                      </a:endParaRPr>
                    </a:p>
                  </a:txBody>
                  <a:tcPr marL="3613" marR="3613" marT="3613" marB="0" anchor="b">
                    <a:solidFill>
                      <a:srgbClr val="FFFF00"/>
                    </a:solidFill>
                  </a:tcPr>
                </a:tc>
                <a:tc>
                  <a:txBody>
                    <a:bodyPr/>
                    <a:lstStyle/>
                    <a:p>
                      <a:pPr algn="ctr" fontAlgn="b"/>
                      <a:r>
                        <a:rPr lang="fr-CD" sz="1200" b="0" u="none" strike="noStrike" dirty="0">
                          <a:effectLst/>
                        </a:rPr>
                        <a:t>98</a:t>
                      </a:r>
                      <a:endParaRPr lang="fr-CD" sz="1200" b="0" i="0" u="none" strike="noStrike" dirty="0">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a:t>
                      </a:r>
                      <a:endParaRPr lang="fr-CD" sz="1200" b="0" i="0" u="none" strike="noStrike" dirty="0">
                        <a:effectLst/>
                        <a:latin typeface="Arial" panose="020B0604020202020204" pitchFamily="34" charset="0"/>
                      </a:endParaRPr>
                    </a:p>
                  </a:txBody>
                  <a:tcPr marL="3613" marR="3613" marT="3613" marB="0" anchor="b"/>
                </a:tc>
                <a:extLst>
                  <a:ext uri="{0D108BD9-81ED-4DB2-BD59-A6C34878D82A}">
                    <a16:rowId xmlns="" xmlns:a16="http://schemas.microsoft.com/office/drawing/2014/main" val="1535747877"/>
                  </a:ext>
                </a:extLst>
              </a:tr>
              <a:tr h="177903">
                <a:tc>
                  <a:txBody>
                    <a:bodyPr/>
                    <a:lstStyle/>
                    <a:p>
                      <a:pPr algn="l" fontAlgn="b"/>
                      <a:r>
                        <a:rPr lang="fr-FR" sz="1200" b="0" u="none" strike="noStrike">
                          <a:effectLst/>
                        </a:rPr>
                        <a:t>kl Mokala Zone de Santé</a:t>
                      </a:r>
                      <a:endParaRPr lang="fr-FR"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3</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10</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20</a:t>
                      </a:r>
                      <a:endParaRPr lang="fr-CD" sz="1200" b="0" i="0" u="none" strike="noStrike" dirty="0">
                        <a:effectLst/>
                        <a:latin typeface="Arial" panose="020B0604020202020204" pitchFamily="34" charset="0"/>
                      </a:endParaRPr>
                    </a:p>
                  </a:txBody>
                  <a:tcPr marL="3613" marR="3613" marT="3613" marB="0" anchor="b">
                    <a:solidFill>
                      <a:srgbClr val="FFFF00"/>
                    </a:solidFill>
                  </a:tcPr>
                </a:tc>
                <a:tc>
                  <a:txBody>
                    <a:bodyPr/>
                    <a:lstStyle/>
                    <a:p>
                      <a:pPr algn="ctr" fontAlgn="b"/>
                      <a:r>
                        <a:rPr lang="fr-CD" sz="1200" b="0" u="none" strike="noStrike" dirty="0">
                          <a:effectLst/>
                        </a:rPr>
                        <a:t>96</a:t>
                      </a:r>
                      <a:endParaRPr lang="fr-CD" sz="1200" b="0" i="0" u="none" strike="noStrike" dirty="0">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a:t>
                      </a:r>
                      <a:endParaRPr lang="fr-CD" sz="1200" b="0" i="0" u="none" strike="noStrike" dirty="0">
                        <a:effectLst/>
                        <a:latin typeface="Arial" panose="020B0604020202020204" pitchFamily="34" charset="0"/>
                      </a:endParaRPr>
                    </a:p>
                  </a:txBody>
                  <a:tcPr marL="3613" marR="3613" marT="3613" marB="0" anchor="b"/>
                </a:tc>
                <a:extLst>
                  <a:ext uri="{0D108BD9-81ED-4DB2-BD59-A6C34878D82A}">
                    <a16:rowId xmlns="" xmlns:a16="http://schemas.microsoft.com/office/drawing/2014/main" val="3473280010"/>
                  </a:ext>
                </a:extLst>
              </a:tr>
              <a:tr h="177903">
                <a:tc>
                  <a:txBody>
                    <a:bodyPr/>
                    <a:lstStyle/>
                    <a:p>
                      <a:pPr algn="l" fontAlgn="b"/>
                      <a:r>
                        <a:rPr lang="fr-FR" sz="1200" b="0" u="none" strike="noStrike">
                          <a:effectLst/>
                        </a:rPr>
                        <a:t>kl Mosango Zone de Santé</a:t>
                      </a:r>
                      <a:endParaRPr lang="fr-FR"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2</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12</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26</a:t>
                      </a:r>
                      <a:endParaRPr lang="fr-CD" sz="1200" b="0" i="0" u="none" strike="noStrike" dirty="0">
                        <a:effectLst/>
                        <a:latin typeface="Arial" panose="020B0604020202020204" pitchFamily="34" charset="0"/>
                      </a:endParaRPr>
                    </a:p>
                  </a:txBody>
                  <a:tcPr marL="3613" marR="3613" marT="3613" marB="0" anchor="b">
                    <a:solidFill>
                      <a:srgbClr val="FFFF00"/>
                    </a:solidFill>
                  </a:tcPr>
                </a:tc>
                <a:tc>
                  <a:txBody>
                    <a:bodyPr/>
                    <a:lstStyle/>
                    <a:p>
                      <a:pPr algn="ctr" fontAlgn="b"/>
                      <a:r>
                        <a:rPr lang="fr-CD" sz="1200" b="0" u="none" strike="noStrike" dirty="0">
                          <a:effectLst/>
                        </a:rPr>
                        <a:t>105</a:t>
                      </a:r>
                      <a:endParaRPr lang="fr-CD" sz="1200" b="0" i="0" u="none" strike="noStrike" dirty="0">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a:t>
                      </a:r>
                      <a:endParaRPr lang="fr-CD" sz="1200" b="0" i="0" u="none" strike="noStrike" dirty="0">
                        <a:effectLst/>
                        <a:latin typeface="Arial" panose="020B0604020202020204" pitchFamily="34" charset="0"/>
                      </a:endParaRPr>
                    </a:p>
                  </a:txBody>
                  <a:tcPr marL="3613" marR="3613" marT="3613" marB="0" anchor="b"/>
                </a:tc>
                <a:extLst>
                  <a:ext uri="{0D108BD9-81ED-4DB2-BD59-A6C34878D82A}">
                    <a16:rowId xmlns="" xmlns:a16="http://schemas.microsoft.com/office/drawing/2014/main" val="2623278777"/>
                  </a:ext>
                </a:extLst>
              </a:tr>
              <a:tr h="177903">
                <a:tc>
                  <a:txBody>
                    <a:bodyPr/>
                    <a:lstStyle/>
                    <a:p>
                      <a:pPr algn="l" fontAlgn="b"/>
                      <a:r>
                        <a:rPr lang="fr-FR" sz="1200" b="0" u="none" strike="noStrike">
                          <a:effectLst/>
                        </a:rPr>
                        <a:t>kl Mukedi Zone de Santé</a:t>
                      </a:r>
                      <a:endParaRPr lang="fr-FR"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2</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3</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15</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97</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a:t>
                      </a:r>
                      <a:endParaRPr lang="fr-CD" sz="1200" b="0" i="0" u="none" strike="noStrike" dirty="0">
                        <a:effectLst/>
                        <a:latin typeface="Arial" panose="020B0604020202020204" pitchFamily="34" charset="0"/>
                      </a:endParaRPr>
                    </a:p>
                  </a:txBody>
                  <a:tcPr marL="3613" marR="3613" marT="3613" marB="0" anchor="b"/>
                </a:tc>
                <a:extLst>
                  <a:ext uri="{0D108BD9-81ED-4DB2-BD59-A6C34878D82A}">
                    <a16:rowId xmlns="" xmlns:a16="http://schemas.microsoft.com/office/drawing/2014/main" val="4193731757"/>
                  </a:ext>
                </a:extLst>
              </a:tr>
              <a:tr h="177903">
                <a:tc>
                  <a:txBody>
                    <a:bodyPr/>
                    <a:lstStyle/>
                    <a:p>
                      <a:pPr algn="l" fontAlgn="b"/>
                      <a:r>
                        <a:rPr lang="fr-FR" sz="1200" b="0" u="none" strike="noStrike">
                          <a:effectLst/>
                        </a:rPr>
                        <a:t>kl Mungindu Zone de Santé</a:t>
                      </a:r>
                      <a:endParaRPr lang="fr-FR"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8</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13</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98</a:t>
                      </a:r>
                      <a:endParaRPr lang="fr-CD" sz="1200" b="0" i="0" u="none" strike="noStrike" dirty="0">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a:t>
                      </a:r>
                      <a:endParaRPr lang="fr-CD" sz="1200" b="0" i="0" u="none" strike="noStrike" dirty="0">
                        <a:effectLst/>
                        <a:latin typeface="Arial" panose="020B0604020202020204" pitchFamily="34" charset="0"/>
                      </a:endParaRPr>
                    </a:p>
                  </a:txBody>
                  <a:tcPr marL="3613" marR="3613" marT="3613" marB="0" anchor="b"/>
                </a:tc>
                <a:extLst>
                  <a:ext uri="{0D108BD9-81ED-4DB2-BD59-A6C34878D82A}">
                    <a16:rowId xmlns="" xmlns:a16="http://schemas.microsoft.com/office/drawing/2014/main" val="2093734139"/>
                  </a:ext>
                </a:extLst>
              </a:tr>
              <a:tr h="177903">
                <a:tc>
                  <a:txBody>
                    <a:bodyPr/>
                    <a:lstStyle/>
                    <a:p>
                      <a:pPr algn="l" fontAlgn="b"/>
                      <a:r>
                        <a:rPr lang="fr-FR" sz="1200" b="0" u="none" strike="noStrike">
                          <a:effectLst/>
                        </a:rPr>
                        <a:t>kl Pay Kongila Zone de Santé</a:t>
                      </a:r>
                      <a:endParaRPr lang="fr-FR"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3</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14</a:t>
                      </a:r>
                      <a:endParaRPr lang="fr-CD" sz="1200" b="0" i="0" u="none" strike="noStrike" dirty="0">
                        <a:effectLst/>
                        <a:latin typeface="Arial" panose="020B0604020202020204" pitchFamily="34" charset="0"/>
                      </a:endParaRPr>
                    </a:p>
                  </a:txBody>
                  <a:tcPr marL="3613" marR="3613" marT="3613" marB="0" anchor="b">
                    <a:solidFill>
                      <a:schemeClr val="accent5">
                        <a:lumMod val="40000"/>
                        <a:lumOff val="60000"/>
                      </a:schemeClr>
                    </a:solidFill>
                  </a:tcPr>
                </a:tc>
                <a:tc>
                  <a:txBody>
                    <a:bodyPr/>
                    <a:lstStyle/>
                    <a:p>
                      <a:pPr algn="ctr" fontAlgn="b"/>
                      <a:r>
                        <a:rPr lang="fr-CD" sz="1200" b="0" u="none" strike="noStrike" dirty="0">
                          <a:effectLst/>
                        </a:rPr>
                        <a:t>26</a:t>
                      </a:r>
                      <a:endParaRPr lang="fr-CD" sz="1200" b="0" i="0" u="none" strike="noStrike" dirty="0">
                        <a:effectLst/>
                        <a:latin typeface="Arial" panose="020B0604020202020204" pitchFamily="34" charset="0"/>
                      </a:endParaRPr>
                    </a:p>
                  </a:txBody>
                  <a:tcPr marL="3613" marR="3613" marT="3613" marB="0" anchor="b">
                    <a:solidFill>
                      <a:srgbClr val="FFFF00"/>
                    </a:solidFill>
                  </a:tcPr>
                </a:tc>
                <a:tc>
                  <a:txBody>
                    <a:bodyPr/>
                    <a:lstStyle/>
                    <a:p>
                      <a:pPr algn="ctr" fontAlgn="b"/>
                      <a:r>
                        <a:rPr lang="fr-CD" sz="1200" b="0" u="none" strike="noStrike">
                          <a:effectLst/>
                        </a:rPr>
                        <a:t>100</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a:t>
                      </a:r>
                      <a:endParaRPr lang="fr-CD" sz="1200" b="0" i="0" u="none" strike="noStrike" dirty="0">
                        <a:effectLst/>
                        <a:latin typeface="Arial" panose="020B0604020202020204" pitchFamily="34" charset="0"/>
                      </a:endParaRPr>
                    </a:p>
                  </a:txBody>
                  <a:tcPr marL="3613" marR="3613" marT="3613" marB="0" anchor="b"/>
                </a:tc>
                <a:extLst>
                  <a:ext uri="{0D108BD9-81ED-4DB2-BD59-A6C34878D82A}">
                    <a16:rowId xmlns="" xmlns:a16="http://schemas.microsoft.com/office/drawing/2014/main" val="2218027149"/>
                  </a:ext>
                </a:extLst>
              </a:tr>
              <a:tr h="177903">
                <a:tc>
                  <a:txBody>
                    <a:bodyPr/>
                    <a:lstStyle/>
                    <a:p>
                      <a:pPr algn="l" fontAlgn="b"/>
                      <a:r>
                        <a:rPr lang="fr-FR" sz="1200" b="0" u="none" strike="noStrike">
                          <a:effectLst/>
                        </a:rPr>
                        <a:t>kl Yasa Bonga Zone de Santé</a:t>
                      </a:r>
                      <a:endParaRPr lang="fr-FR"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2</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8</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17</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99</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a:t>
                      </a:r>
                      <a:endParaRPr lang="fr-CD" sz="1200" b="0" i="0" u="none" strike="noStrike" dirty="0">
                        <a:effectLst/>
                        <a:latin typeface="Arial" panose="020B0604020202020204" pitchFamily="34" charset="0"/>
                      </a:endParaRPr>
                    </a:p>
                  </a:txBody>
                  <a:tcPr marL="3613" marR="3613" marT="3613" marB="0" anchor="b"/>
                </a:tc>
                <a:extLst>
                  <a:ext uri="{0D108BD9-81ED-4DB2-BD59-A6C34878D82A}">
                    <a16:rowId xmlns="" xmlns:a16="http://schemas.microsoft.com/office/drawing/2014/main" val="1061192289"/>
                  </a:ext>
                </a:extLst>
              </a:tr>
              <a:tr h="177903">
                <a:tc>
                  <a:txBody>
                    <a:bodyPr/>
                    <a:lstStyle/>
                    <a:p>
                      <a:pPr algn="l" fontAlgn="b"/>
                      <a:r>
                        <a:rPr lang="fr-CD" sz="1200" b="1" u="none" strike="noStrike">
                          <a:effectLst/>
                        </a:rPr>
                        <a:t>Antenne PEV Kikwit</a:t>
                      </a:r>
                      <a:endParaRPr lang="fr-CD" sz="1200" b="1"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2</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8</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18</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1" u="none" strike="noStrike">
                          <a:effectLst/>
                        </a:rPr>
                        <a:t>100</a:t>
                      </a:r>
                      <a:endParaRPr lang="fr-CD" sz="1200" b="1"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a:t>
                      </a:r>
                      <a:endParaRPr lang="fr-CD" sz="1200" b="0" i="0" u="none" strike="noStrike" dirty="0">
                        <a:effectLst/>
                        <a:latin typeface="Arial" panose="020B0604020202020204" pitchFamily="34" charset="0"/>
                      </a:endParaRPr>
                    </a:p>
                  </a:txBody>
                  <a:tcPr marL="3613" marR="3613" marT="3613" marB="0" anchor="b"/>
                </a:tc>
                <a:extLst>
                  <a:ext uri="{0D108BD9-81ED-4DB2-BD59-A6C34878D82A}">
                    <a16:rowId xmlns="" xmlns:a16="http://schemas.microsoft.com/office/drawing/2014/main" val="4229531279"/>
                  </a:ext>
                </a:extLst>
              </a:tr>
              <a:tr h="177903">
                <a:tc>
                  <a:txBody>
                    <a:bodyPr/>
                    <a:lstStyle/>
                    <a:p>
                      <a:pPr algn="l" fontAlgn="b"/>
                      <a:r>
                        <a:rPr lang="fr-CD" sz="1200" b="1" u="none" strike="noStrike">
                          <a:effectLst/>
                        </a:rPr>
                        <a:t>kl Kwilu Province</a:t>
                      </a:r>
                      <a:endParaRPr lang="fr-CD" sz="1200" b="1"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2</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7</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a:effectLst/>
                        </a:rPr>
                        <a:t>17</a:t>
                      </a:r>
                      <a:endParaRPr lang="fr-CD" sz="1200" b="0" i="0" u="none" strike="noStrike">
                        <a:effectLst/>
                        <a:latin typeface="Arial" panose="020B0604020202020204" pitchFamily="34" charset="0"/>
                      </a:endParaRPr>
                    </a:p>
                  </a:txBody>
                  <a:tcPr marL="3613" marR="3613" marT="3613" marB="0" anchor="b"/>
                </a:tc>
                <a:tc>
                  <a:txBody>
                    <a:bodyPr/>
                    <a:lstStyle/>
                    <a:p>
                      <a:pPr algn="ctr" fontAlgn="b"/>
                      <a:r>
                        <a:rPr lang="fr-CD" sz="1200" b="1" u="none" strike="noStrike">
                          <a:effectLst/>
                        </a:rPr>
                        <a:t>100</a:t>
                      </a:r>
                      <a:endParaRPr lang="fr-CD" sz="1200" b="1" i="0" u="none" strike="noStrike">
                        <a:effectLst/>
                        <a:latin typeface="Arial" panose="020B0604020202020204" pitchFamily="34" charset="0"/>
                      </a:endParaRPr>
                    </a:p>
                  </a:txBody>
                  <a:tcPr marL="3613" marR="3613" marT="3613" marB="0" anchor="b"/>
                </a:tc>
                <a:tc>
                  <a:txBody>
                    <a:bodyPr/>
                    <a:lstStyle/>
                    <a:p>
                      <a:pPr algn="ctr" fontAlgn="b"/>
                      <a:r>
                        <a:rPr lang="fr-CD" sz="1200" b="0" u="none" strike="noStrike" dirty="0">
                          <a:effectLst/>
                        </a:rPr>
                        <a:t>1</a:t>
                      </a:r>
                      <a:endParaRPr lang="fr-CD" sz="1200" b="0" i="0" u="none" strike="noStrike" dirty="0">
                        <a:effectLst/>
                        <a:latin typeface="Arial" panose="020B0604020202020204" pitchFamily="34" charset="0"/>
                      </a:endParaRPr>
                    </a:p>
                  </a:txBody>
                  <a:tcPr marL="3613" marR="3613" marT="3613" marB="0" anchor="b"/>
                </a:tc>
                <a:extLst>
                  <a:ext uri="{0D108BD9-81ED-4DB2-BD59-A6C34878D82A}">
                    <a16:rowId xmlns="" xmlns:a16="http://schemas.microsoft.com/office/drawing/2014/main" val="772407724"/>
                  </a:ext>
                </a:extLst>
              </a:tr>
            </a:tbl>
          </a:graphicData>
        </a:graphic>
      </p:graphicFrame>
      <p:sp>
        <p:nvSpPr>
          <p:cNvPr id="5" name="Espace réservé du numéro de diapositive 4">
            <a:extLst>
              <a:ext uri="{FF2B5EF4-FFF2-40B4-BE49-F238E27FC236}">
                <a16:creationId xmlns="" xmlns:a16="http://schemas.microsoft.com/office/drawing/2014/main" id="{398E5633-1E26-4AF5-93B0-159ADB69311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2233500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EE2A5958-176A-4C0F-9A28-A9DB7A575E3D}"/>
              </a:ext>
            </a:extLst>
          </p:cNvPr>
          <p:cNvSpPr>
            <a:spLocks noGrp="1"/>
          </p:cNvSpPr>
          <p:nvPr>
            <p:ph type="title"/>
          </p:nvPr>
        </p:nvSpPr>
        <p:spPr>
          <a:xfrm>
            <a:off x="168857" y="58960"/>
            <a:ext cx="11607443" cy="524233"/>
          </a:xfrm>
          <a:solidFill>
            <a:schemeClr val="accent5">
              <a:lumMod val="20000"/>
              <a:lumOff val="80000"/>
            </a:schemeClr>
          </a:solidFill>
        </p:spPr>
        <p:txBody>
          <a:bodyPr>
            <a:noAutofit/>
          </a:bodyPr>
          <a:lstStyle/>
          <a:p>
            <a:r>
              <a:rPr lang="fr-FR" sz="2400" dirty="0"/>
              <a:t>III.5. Proportion des ECV de janvier à octobre 2025 (DHIS2)</a:t>
            </a:r>
            <a:endParaRPr lang="fr-CD" sz="2400" dirty="0"/>
          </a:p>
        </p:txBody>
      </p:sp>
      <p:sp>
        <p:nvSpPr>
          <p:cNvPr id="3" name="Espace réservé du texte 2">
            <a:extLst>
              <a:ext uri="{FF2B5EF4-FFF2-40B4-BE49-F238E27FC236}">
                <a16:creationId xmlns="" xmlns:a16="http://schemas.microsoft.com/office/drawing/2014/main" id="{255561E5-5D29-43B5-B65E-3697A44BCE28}"/>
              </a:ext>
            </a:extLst>
          </p:cNvPr>
          <p:cNvSpPr>
            <a:spLocks noGrp="1"/>
          </p:cNvSpPr>
          <p:nvPr>
            <p:ph type="body" idx="1"/>
          </p:nvPr>
        </p:nvSpPr>
        <p:spPr>
          <a:xfrm>
            <a:off x="0" y="1132114"/>
            <a:ext cx="11776300" cy="4959719"/>
          </a:xfrm>
        </p:spPr>
        <p:txBody>
          <a:bodyPr/>
          <a:lstStyle/>
          <a:p>
            <a:pPr marL="76200" indent="0">
              <a:buNone/>
            </a:pPr>
            <a:r>
              <a:rPr lang="fr-CD" dirty="0"/>
              <a:t>.</a:t>
            </a:r>
          </a:p>
        </p:txBody>
      </p:sp>
      <p:graphicFrame>
        <p:nvGraphicFramePr>
          <p:cNvPr id="4" name="Tableau 3">
            <a:extLst>
              <a:ext uri="{FF2B5EF4-FFF2-40B4-BE49-F238E27FC236}">
                <a16:creationId xmlns="" xmlns:a16="http://schemas.microsoft.com/office/drawing/2014/main" id="{4287DFDB-DB0B-4DFD-B998-B7E24E046CE7}"/>
              </a:ext>
            </a:extLst>
          </p:cNvPr>
          <p:cNvGraphicFramePr>
            <a:graphicFrameLocks noGrp="1"/>
          </p:cNvGraphicFramePr>
          <p:nvPr>
            <p:extLst>
              <p:ext uri="{D42A27DB-BD31-4B8C-83A1-F6EECF244321}">
                <p14:modId xmlns:p14="http://schemas.microsoft.com/office/powerpoint/2010/main" val="119448595"/>
              </p:ext>
            </p:extLst>
          </p:nvPr>
        </p:nvGraphicFramePr>
        <p:xfrm>
          <a:off x="415700" y="583193"/>
          <a:ext cx="11360599" cy="6120966"/>
        </p:xfrm>
        <a:graphic>
          <a:graphicData uri="http://schemas.openxmlformats.org/drawingml/2006/table">
            <a:tbl>
              <a:tblPr/>
              <a:tblGrid>
                <a:gridCol w="6334713">
                  <a:extLst>
                    <a:ext uri="{9D8B030D-6E8A-4147-A177-3AD203B41FA5}">
                      <a16:colId xmlns="" xmlns:a16="http://schemas.microsoft.com/office/drawing/2014/main" val="443255844"/>
                    </a:ext>
                  </a:extLst>
                </a:gridCol>
                <a:gridCol w="2512943">
                  <a:extLst>
                    <a:ext uri="{9D8B030D-6E8A-4147-A177-3AD203B41FA5}">
                      <a16:colId xmlns="" xmlns:a16="http://schemas.microsoft.com/office/drawing/2014/main" val="1447923957"/>
                    </a:ext>
                  </a:extLst>
                </a:gridCol>
                <a:gridCol w="2512943">
                  <a:extLst>
                    <a:ext uri="{9D8B030D-6E8A-4147-A177-3AD203B41FA5}">
                      <a16:colId xmlns="" xmlns:a16="http://schemas.microsoft.com/office/drawing/2014/main" val="1269764096"/>
                    </a:ext>
                  </a:extLst>
                </a:gridCol>
              </a:tblGrid>
              <a:tr h="212880">
                <a:tc>
                  <a:txBody>
                    <a:bodyPr/>
                    <a:lstStyle/>
                    <a:p>
                      <a:pPr algn="l" fontAlgn="b"/>
                      <a:r>
                        <a:rPr lang="fr-CD" sz="1200" b="1" i="0" u="none" strike="noStrike" dirty="0" err="1">
                          <a:effectLst/>
                          <a:latin typeface="Arial" panose="020B0604020202020204" pitchFamily="34" charset="0"/>
                        </a:rPr>
                        <a:t>organisationunitname</a:t>
                      </a:r>
                      <a:endParaRPr lang="fr-CD" sz="1200" b="1" i="0" u="none" strike="noStrike" dirty="0">
                        <a:effectLst/>
                        <a:latin typeface="Arial" panose="020B0604020202020204" pitchFamily="34" charset="0"/>
                      </a:endParaRP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1" i="0" u="none" strike="noStrike" dirty="0">
                          <a:effectLst/>
                          <a:latin typeface="Arial" panose="020B0604020202020204" pitchFamily="34" charset="0"/>
                        </a:rPr>
                        <a:t> VAR 2</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CD" sz="1200" b="1" i="0" u="none" strike="noStrike" dirty="0">
                          <a:effectLst/>
                          <a:latin typeface="Arial" panose="020B0604020202020204" pitchFamily="34" charset="0"/>
                        </a:rPr>
                        <a:t> ECV</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4290935100"/>
                  </a:ext>
                </a:extLst>
              </a:tr>
              <a:tr h="147378">
                <a:tc>
                  <a:txBody>
                    <a:bodyPr/>
                    <a:lstStyle/>
                    <a:p>
                      <a:pPr algn="l" fontAlgn="b"/>
                      <a:r>
                        <a:rPr lang="fr-FR" sz="1200" b="0" i="0" u="none" strike="noStrike" dirty="0">
                          <a:effectLst/>
                          <a:latin typeface="Arial" panose="020B0604020202020204" pitchFamily="34" charset="0"/>
                        </a:rPr>
                        <a:t>kl Bagata Zone de Santé</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dirty="0">
                          <a:effectLst/>
                          <a:latin typeface="Arial" panose="020B0604020202020204" pitchFamily="34" charset="0"/>
                        </a:rPr>
                        <a:t>94</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CD" sz="1200" b="0" i="0" u="none" strike="noStrike" dirty="0">
                          <a:effectLst/>
                          <a:latin typeface="Arial" panose="020B0604020202020204" pitchFamily="34" charset="0"/>
                        </a:rPr>
                        <a:t>64</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525582468"/>
                  </a:ext>
                </a:extLst>
              </a:tr>
              <a:tr h="180129">
                <a:tc>
                  <a:txBody>
                    <a:bodyPr/>
                    <a:lstStyle/>
                    <a:p>
                      <a:pPr algn="l" fontAlgn="b"/>
                      <a:r>
                        <a:rPr lang="fr-FR" sz="1200" b="0" i="0" u="none" strike="noStrike" dirty="0">
                          <a:effectLst/>
                          <a:latin typeface="Arial" panose="020B0604020202020204" pitchFamily="34" charset="0"/>
                        </a:rPr>
                        <a:t>kl Bandundu Zone de Santé</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dirty="0">
                          <a:effectLst/>
                          <a:latin typeface="Arial" panose="020B0604020202020204" pitchFamily="34" charset="0"/>
                        </a:rPr>
                        <a:t>101</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CD" sz="1200" b="0" i="0" u="none" strike="noStrike" dirty="0">
                          <a:effectLst/>
                          <a:latin typeface="Arial" panose="020B0604020202020204" pitchFamily="34" charset="0"/>
                        </a:rPr>
                        <a:t>126</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extLst>
                  <a:ext uri="{0D108BD9-81ED-4DB2-BD59-A6C34878D82A}">
                    <a16:rowId xmlns="" xmlns:a16="http://schemas.microsoft.com/office/drawing/2014/main" val="3675558499"/>
                  </a:ext>
                </a:extLst>
              </a:tr>
              <a:tr h="147378">
                <a:tc>
                  <a:txBody>
                    <a:bodyPr/>
                    <a:lstStyle/>
                    <a:p>
                      <a:pPr algn="l" fontAlgn="b"/>
                      <a:r>
                        <a:rPr lang="fr-FR" sz="1200" b="0" i="0" u="none" strike="noStrike" dirty="0">
                          <a:effectLst/>
                          <a:latin typeface="Arial" panose="020B0604020202020204" pitchFamily="34" charset="0"/>
                        </a:rPr>
                        <a:t>kl Djuma Zone de Santé</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dirty="0">
                          <a:effectLst/>
                          <a:latin typeface="Arial" panose="020B0604020202020204" pitchFamily="34" charset="0"/>
                        </a:rPr>
                        <a:t>104</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CD" sz="1200" b="0" i="0" u="none" strike="noStrike" dirty="0">
                          <a:effectLst/>
                          <a:latin typeface="Arial" panose="020B0604020202020204" pitchFamily="34" charset="0"/>
                        </a:rPr>
                        <a:t>104</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317773359"/>
                  </a:ext>
                </a:extLst>
              </a:tr>
              <a:tr h="147378">
                <a:tc>
                  <a:txBody>
                    <a:bodyPr/>
                    <a:lstStyle/>
                    <a:p>
                      <a:pPr algn="l" fontAlgn="b"/>
                      <a:r>
                        <a:rPr lang="fr-FR" sz="1200" b="0" i="0" u="none" strike="noStrike">
                          <a:effectLst/>
                          <a:latin typeface="Arial" panose="020B0604020202020204" pitchFamily="34" charset="0"/>
                        </a:rPr>
                        <a:t>kl Kikongo Zone de Santé</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85</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CD" sz="1200" b="0" i="0" u="none" strike="noStrike" dirty="0">
                          <a:effectLst/>
                          <a:latin typeface="Arial" panose="020B0604020202020204" pitchFamily="34" charset="0"/>
                        </a:rPr>
                        <a:t>85</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2667535420"/>
                  </a:ext>
                </a:extLst>
              </a:tr>
              <a:tr h="147378">
                <a:tc>
                  <a:txBody>
                    <a:bodyPr/>
                    <a:lstStyle/>
                    <a:p>
                      <a:pPr algn="l" fontAlgn="b"/>
                      <a:r>
                        <a:rPr lang="fr-FR" sz="1200" b="0" i="0" u="none" strike="noStrike" dirty="0">
                          <a:effectLst/>
                          <a:latin typeface="Arial" panose="020B0604020202020204" pitchFamily="34" charset="0"/>
                        </a:rPr>
                        <a:t>kl Sia Zone de Santé</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90</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CD" sz="1200" b="0" i="0" u="none" strike="noStrike" dirty="0">
                          <a:effectLst/>
                          <a:latin typeface="Arial" panose="020B0604020202020204" pitchFamily="34" charset="0"/>
                        </a:rPr>
                        <a:t>89</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3231471115"/>
                  </a:ext>
                </a:extLst>
              </a:tr>
              <a:tr h="147378">
                <a:tc>
                  <a:txBody>
                    <a:bodyPr/>
                    <a:lstStyle/>
                    <a:p>
                      <a:pPr algn="l" fontAlgn="b"/>
                      <a:r>
                        <a:rPr lang="fr-FR" sz="1200" b="0" i="0" u="none" strike="noStrike">
                          <a:effectLst/>
                          <a:latin typeface="Arial" panose="020B0604020202020204" pitchFamily="34" charset="0"/>
                        </a:rPr>
                        <a:t>kl Vanga Zone de Santé</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99</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CD" sz="1200" b="0" i="0" u="none" strike="noStrike" dirty="0">
                          <a:effectLst/>
                          <a:latin typeface="Arial" panose="020B0604020202020204" pitchFamily="34" charset="0"/>
                        </a:rPr>
                        <a:t>85</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4079752491"/>
                  </a:ext>
                </a:extLst>
              </a:tr>
              <a:tr h="215063">
                <a:tc>
                  <a:txBody>
                    <a:bodyPr/>
                    <a:lstStyle/>
                    <a:p>
                      <a:pPr algn="l" fontAlgn="b"/>
                      <a:r>
                        <a:rPr lang="fr-CD" sz="1400" b="1" i="0" u="none" strike="noStrike" dirty="0">
                          <a:effectLst/>
                          <a:latin typeface="Arial" panose="020B0604020202020204" pitchFamily="34" charset="0"/>
                        </a:rPr>
                        <a:t>Antenne PEV Bandundu</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b"/>
                      <a:r>
                        <a:rPr lang="fr-CD" sz="1400" b="0" i="0" u="none" strike="noStrike" dirty="0">
                          <a:effectLst/>
                          <a:latin typeface="Arial" panose="020B0604020202020204" pitchFamily="34" charset="0"/>
                        </a:rPr>
                        <a:t>96</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CD" sz="1200" b="0" i="0" u="none" strike="noStrike" dirty="0">
                          <a:effectLst/>
                          <a:latin typeface="Arial" panose="020B0604020202020204" pitchFamily="34" charset="0"/>
                        </a:rPr>
                        <a:t>92</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2804867174"/>
                  </a:ext>
                </a:extLst>
              </a:tr>
              <a:tr h="147378">
                <a:tc>
                  <a:txBody>
                    <a:bodyPr/>
                    <a:lstStyle/>
                    <a:p>
                      <a:pPr algn="l" fontAlgn="b"/>
                      <a:r>
                        <a:rPr lang="fr-FR" sz="1200" b="0" i="0" u="none" strike="noStrike">
                          <a:effectLst/>
                          <a:latin typeface="Arial" panose="020B0604020202020204" pitchFamily="34" charset="0"/>
                        </a:rPr>
                        <a:t>kl Bulungu Zone de Santé</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dirty="0">
                          <a:effectLst/>
                          <a:latin typeface="Arial" panose="020B0604020202020204" pitchFamily="34" charset="0"/>
                        </a:rPr>
                        <a:t>93</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CD" sz="1200" b="0" i="0" u="none" strike="noStrike" dirty="0">
                          <a:effectLst/>
                          <a:latin typeface="Arial" panose="020B0604020202020204" pitchFamily="34" charset="0"/>
                        </a:rPr>
                        <a:t>92</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3277986150"/>
                  </a:ext>
                </a:extLst>
              </a:tr>
              <a:tr h="147378">
                <a:tc>
                  <a:txBody>
                    <a:bodyPr/>
                    <a:lstStyle/>
                    <a:p>
                      <a:pPr algn="l" fontAlgn="b"/>
                      <a:r>
                        <a:rPr lang="fr-FR" sz="1200" b="0" i="0" u="none" strike="noStrike">
                          <a:effectLst/>
                          <a:latin typeface="Arial" panose="020B0604020202020204" pitchFamily="34" charset="0"/>
                        </a:rPr>
                        <a:t>kl Gungu Zone de Santé</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97</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CD" sz="1200" b="0" i="0" u="none" strike="noStrike" dirty="0">
                          <a:effectLst/>
                          <a:latin typeface="Arial" panose="020B0604020202020204" pitchFamily="34" charset="0"/>
                        </a:rPr>
                        <a:t>96</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3430909241"/>
                  </a:ext>
                </a:extLst>
              </a:tr>
              <a:tr h="147378">
                <a:tc>
                  <a:txBody>
                    <a:bodyPr/>
                    <a:lstStyle/>
                    <a:p>
                      <a:pPr algn="l" fontAlgn="b"/>
                      <a:r>
                        <a:rPr lang="fr-FR" sz="1200" b="0" i="0" u="none" strike="noStrike">
                          <a:effectLst/>
                          <a:latin typeface="Arial" panose="020B0604020202020204" pitchFamily="34" charset="0"/>
                        </a:rPr>
                        <a:t>kl Idiofa Zone de Santé</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87</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CD" sz="1200" b="0" i="0" u="none" strike="noStrike" dirty="0">
                          <a:effectLst/>
                          <a:latin typeface="Arial" panose="020B0604020202020204" pitchFamily="34" charset="0"/>
                        </a:rPr>
                        <a:t>86</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2827580158"/>
                  </a:ext>
                </a:extLst>
              </a:tr>
              <a:tr h="147378">
                <a:tc>
                  <a:txBody>
                    <a:bodyPr/>
                    <a:lstStyle/>
                    <a:p>
                      <a:pPr algn="l" fontAlgn="b"/>
                      <a:r>
                        <a:rPr lang="fr-FR" sz="1200" b="0" i="0" u="none" strike="noStrike">
                          <a:effectLst/>
                          <a:latin typeface="Arial" panose="020B0604020202020204" pitchFamily="34" charset="0"/>
                        </a:rPr>
                        <a:t>kl Ipamu Zone de Santé</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dirty="0">
                          <a:effectLst/>
                          <a:latin typeface="Arial" panose="020B0604020202020204" pitchFamily="34" charset="0"/>
                        </a:rPr>
                        <a:t>98</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CD" sz="1200" b="0" i="0" u="none" strike="noStrike" dirty="0">
                          <a:effectLst/>
                          <a:latin typeface="Arial" panose="020B0604020202020204" pitchFamily="34" charset="0"/>
                        </a:rPr>
                        <a:t>57</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2009726955"/>
                  </a:ext>
                </a:extLst>
              </a:tr>
              <a:tr h="180129">
                <a:tc>
                  <a:txBody>
                    <a:bodyPr/>
                    <a:lstStyle/>
                    <a:p>
                      <a:pPr algn="l" fontAlgn="b"/>
                      <a:r>
                        <a:rPr lang="fr-FR" sz="1200" b="0" i="0" u="none" strike="noStrike" dirty="0">
                          <a:effectLst/>
                          <a:latin typeface="Arial" panose="020B0604020202020204" pitchFamily="34" charset="0"/>
                        </a:rPr>
                        <a:t>kl Kikwit Nord Zone de Santé</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91</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CD" sz="1200" b="0" i="0" u="none" strike="noStrike" dirty="0">
                          <a:effectLst/>
                          <a:latin typeface="Arial" panose="020B0604020202020204" pitchFamily="34" charset="0"/>
                        </a:rPr>
                        <a:t>93</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extLst>
                  <a:ext uri="{0D108BD9-81ED-4DB2-BD59-A6C34878D82A}">
                    <a16:rowId xmlns="" xmlns:a16="http://schemas.microsoft.com/office/drawing/2014/main" val="79612998"/>
                  </a:ext>
                </a:extLst>
              </a:tr>
              <a:tr h="180129">
                <a:tc>
                  <a:txBody>
                    <a:bodyPr/>
                    <a:lstStyle/>
                    <a:p>
                      <a:pPr algn="l" fontAlgn="b"/>
                      <a:r>
                        <a:rPr lang="fr-FR" sz="1200" b="0" i="0" u="none" strike="noStrike">
                          <a:effectLst/>
                          <a:latin typeface="Arial" panose="020B0604020202020204" pitchFamily="34" charset="0"/>
                        </a:rPr>
                        <a:t>kl Kikwit Sud Zone de Santé</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dirty="0">
                          <a:effectLst/>
                          <a:latin typeface="Arial" panose="020B0604020202020204" pitchFamily="34" charset="0"/>
                        </a:rPr>
                        <a:t>92</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CD" sz="1200" b="0" i="0" u="none" strike="noStrike" dirty="0">
                          <a:effectLst/>
                          <a:latin typeface="Arial" panose="020B0604020202020204" pitchFamily="34" charset="0"/>
                        </a:rPr>
                        <a:t>91</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3435885183"/>
                  </a:ext>
                </a:extLst>
              </a:tr>
              <a:tr h="147378">
                <a:tc>
                  <a:txBody>
                    <a:bodyPr/>
                    <a:lstStyle/>
                    <a:p>
                      <a:pPr algn="l" fontAlgn="b"/>
                      <a:r>
                        <a:rPr lang="fr-FR" sz="1200" b="0" i="0" u="none" strike="noStrike">
                          <a:effectLst/>
                          <a:latin typeface="Arial" panose="020B0604020202020204" pitchFamily="34" charset="0"/>
                        </a:rPr>
                        <a:t>kl Kimputu Zone de Santé</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89</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CD" sz="1200" b="0" i="0" u="none" strike="noStrike">
                          <a:effectLst/>
                          <a:latin typeface="Arial" panose="020B0604020202020204" pitchFamily="34" charset="0"/>
                        </a:rPr>
                        <a:t>75</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863160232"/>
                  </a:ext>
                </a:extLst>
              </a:tr>
              <a:tr h="180129">
                <a:tc>
                  <a:txBody>
                    <a:bodyPr/>
                    <a:lstStyle/>
                    <a:p>
                      <a:pPr algn="l" fontAlgn="b"/>
                      <a:r>
                        <a:rPr lang="fr-FR" sz="1200" b="0" i="0" u="none" strike="noStrike">
                          <a:effectLst/>
                          <a:latin typeface="Arial" panose="020B0604020202020204" pitchFamily="34" charset="0"/>
                        </a:rPr>
                        <a:t>kl Kingandu Zone de Santé</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dirty="0">
                          <a:effectLst/>
                          <a:latin typeface="Arial" panose="020B0604020202020204" pitchFamily="34" charset="0"/>
                        </a:rPr>
                        <a:t>92</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CD" sz="1200" b="0" i="0" u="none" strike="noStrike" dirty="0">
                          <a:effectLst/>
                          <a:latin typeface="Arial" panose="020B0604020202020204" pitchFamily="34" charset="0"/>
                        </a:rPr>
                        <a:t>89</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564747299"/>
                  </a:ext>
                </a:extLst>
              </a:tr>
              <a:tr h="180129">
                <a:tc>
                  <a:txBody>
                    <a:bodyPr/>
                    <a:lstStyle/>
                    <a:p>
                      <a:pPr algn="l" fontAlgn="b"/>
                      <a:r>
                        <a:rPr lang="fr-FR" sz="1200" b="0" i="0" u="none" strike="noStrike" dirty="0">
                          <a:effectLst/>
                          <a:latin typeface="Arial" panose="020B0604020202020204" pitchFamily="34" charset="0"/>
                        </a:rPr>
                        <a:t>kl Koshibanda Zone de Santé</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dirty="0">
                          <a:effectLst/>
                          <a:latin typeface="Arial" panose="020B0604020202020204" pitchFamily="34" charset="0"/>
                        </a:rPr>
                        <a:t>90</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CD" sz="1200" b="0" i="0" u="none" strike="noStrike" dirty="0">
                          <a:effectLst/>
                          <a:latin typeface="Arial" panose="020B0604020202020204" pitchFamily="34" charset="0"/>
                        </a:rPr>
                        <a:t>76</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934882297"/>
                  </a:ext>
                </a:extLst>
              </a:tr>
              <a:tr h="147378">
                <a:tc>
                  <a:txBody>
                    <a:bodyPr/>
                    <a:lstStyle/>
                    <a:p>
                      <a:pPr algn="l" fontAlgn="b"/>
                      <a:r>
                        <a:rPr lang="fr-FR" sz="1200" b="0" i="0" u="none" strike="noStrike">
                          <a:effectLst/>
                          <a:latin typeface="Arial" panose="020B0604020202020204" pitchFamily="34" charset="0"/>
                        </a:rPr>
                        <a:t>kl Lusanga Zone de Santé</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dirty="0">
                          <a:effectLst/>
                          <a:latin typeface="Arial" panose="020B0604020202020204" pitchFamily="34" charset="0"/>
                        </a:rPr>
                        <a:t>97</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CD" sz="1200" b="0" i="0" u="none" strike="noStrike" dirty="0">
                          <a:effectLst/>
                          <a:latin typeface="Arial" panose="020B0604020202020204" pitchFamily="34" charset="0"/>
                        </a:rPr>
                        <a:t>91</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2663610157"/>
                  </a:ext>
                </a:extLst>
              </a:tr>
              <a:tr h="180129">
                <a:tc>
                  <a:txBody>
                    <a:bodyPr/>
                    <a:lstStyle/>
                    <a:p>
                      <a:pPr algn="l" fontAlgn="b"/>
                      <a:r>
                        <a:rPr lang="fr-CD" sz="1200" b="0" i="0" u="none" strike="noStrike" dirty="0">
                          <a:effectLst/>
                          <a:latin typeface="Arial" panose="020B0604020202020204" pitchFamily="34" charset="0"/>
                        </a:rPr>
                        <a:t>kl Masi Manimba Zone de Santé</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dirty="0">
                          <a:effectLst/>
                          <a:latin typeface="Arial" panose="020B0604020202020204" pitchFamily="34" charset="0"/>
                        </a:rPr>
                        <a:t>95</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CD" sz="1200" b="0" i="0" u="none" strike="noStrike" dirty="0">
                          <a:effectLst/>
                          <a:latin typeface="Arial" panose="020B0604020202020204" pitchFamily="34" charset="0"/>
                        </a:rPr>
                        <a:t>95</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730158968"/>
                  </a:ext>
                </a:extLst>
              </a:tr>
              <a:tr h="147378">
                <a:tc>
                  <a:txBody>
                    <a:bodyPr/>
                    <a:lstStyle/>
                    <a:p>
                      <a:pPr algn="l" fontAlgn="b"/>
                      <a:r>
                        <a:rPr lang="fr-FR" sz="1200" b="0" i="0" u="none" strike="noStrike">
                          <a:effectLst/>
                          <a:latin typeface="Arial" panose="020B0604020202020204" pitchFamily="34" charset="0"/>
                        </a:rPr>
                        <a:t>kl Moanza Zone de Santé</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dirty="0">
                          <a:effectLst/>
                          <a:latin typeface="Arial" panose="020B0604020202020204" pitchFamily="34" charset="0"/>
                        </a:rPr>
                        <a:t>88</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CD" sz="1200" b="0" i="0" u="none" strike="noStrike" dirty="0">
                          <a:effectLst/>
                          <a:latin typeface="Arial" panose="020B0604020202020204" pitchFamily="34" charset="0"/>
                        </a:rPr>
                        <a:t>84</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341358934"/>
                  </a:ext>
                </a:extLst>
              </a:tr>
              <a:tr h="147378">
                <a:tc>
                  <a:txBody>
                    <a:bodyPr/>
                    <a:lstStyle/>
                    <a:p>
                      <a:pPr algn="l" fontAlgn="b"/>
                      <a:r>
                        <a:rPr lang="fr-FR" sz="1200" b="0" i="0" u="none" strike="noStrike" dirty="0">
                          <a:effectLst/>
                          <a:latin typeface="Arial" panose="020B0604020202020204" pitchFamily="34" charset="0"/>
                        </a:rPr>
                        <a:t>kl Mokala Zone de Santé</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dirty="0">
                          <a:effectLst/>
                          <a:latin typeface="Arial" panose="020B0604020202020204" pitchFamily="34" charset="0"/>
                        </a:rPr>
                        <a:t>86</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CD" sz="1200" b="0" i="0" u="none" strike="noStrike" dirty="0">
                          <a:effectLst/>
                          <a:latin typeface="Arial" panose="020B0604020202020204" pitchFamily="34" charset="0"/>
                        </a:rPr>
                        <a:t>73</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2168979353"/>
                  </a:ext>
                </a:extLst>
              </a:tr>
              <a:tr h="147378">
                <a:tc>
                  <a:txBody>
                    <a:bodyPr/>
                    <a:lstStyle/>
                    <a:p>
                      <a:pPr algn="l" fontAlgn="b"/>
                      <a:r>
                        <a:rPr lang="fr-FR" sz="1200" b="0" i="0" u="none" strike="noStrike">
                          <a:effectLst/>
                          <a:latin typeface="Arial" panose="020B0604020202020204" pitchFamily="34" charset="0"/>
                        </a:rPr>
                        <a:t>kl Mosango Zone de Santé</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a:effectLst/>
                          <a:latin typeface="Arial" panose="020B0604020202020204" pitchFamily="34" charset="0"/>
                        </a:rPr>
                        <a:t>93</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CD" sz="1200" b="0" i="0" u="none" strike="noStrike" dirty="0">
                          <a:effectLst/>
                          <a:latin typeface="Arial" panose="020B0604020202020204" pitchFamily="34" charset="0"/>
                        </a:rPr>
                        <a:t>92</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3147965723"/>
                  </a:ext>
                </a:extLst>
              </a:tr>
              <a:tr h="147378">
                <a:tc>
                  <a:txBody>
                    <a:bodyPr/>
                    <a:lstStyle/>
                    <a:p>
                      <a:pPr algn="l" fontAlgn="b"/>
                      <a:r>
                        <a:rPr lang="fr-FR" sz="1200" b="0" i="0" u="none" strike="noStrike" dirty="0">
                          <a:effectLst/>
                          <a:latin typeface="Arial" panose="020B0604020202020204" pitchFamily="34" charset="0"/>
                        </a:rPr>
                        <a:t>kl Mukedi Zone de Santé</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dirty="0">
                          <a:effectLst/>
                          <a:latin typeface="Arial" panose="020B0604020202020204" pitchFamily="34" charset="0"/>
                        </a:rPr>
                        <a:t>94</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CD" sz="1200" b="0" i="0" u="none" strike="noStrike" dirty="0">
                          <a:effectLst/>
                          <a:latin typeface="Arial" panose="020B0604020202020204" pitchFamily="34" charset="0"/>
                        </a:rPr>
                        <a:t>95</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extLst>
                  <a:ext uri="{0D108BD9-81ED-4DB2-BD59-A6C34878D82A}">
                    <a16:rowId xmlns="" xmlns:a16="http://schemas.microsoft.com/office/drawing/2014/main" val="1900212274"/>
                  </a:ext>
                </a:extLst>
              </a:tr>
              <a:tr h="180129">
                <a:tc>
                  <a:txBody>
                    <a:bodyPr/>
                    <a:lstStyle/>
                    <a:p>
                      <a:pPr algn="l" fontAlgn="b"/>
                      <a:r>
                        <a:rPr lang="fr-FR" sz="1100" b="0" i="0" u="none" strike="noStrike" dirty="0">
                          <a:effectLst/>
                          <a:latin typeface="Arial" panose="020B0604020202020204" pitchFamily="34" charset="0"/>
                        </a:rPr>
                        <a:t>kl Mungindu Zone de Santé</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90</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CD" sz="1100" b="0" i="0" u="none" strike="noStrike" dirty="0">
                          <a:effectLst/>
                          <a:latin typeface="Arial" panose="020B0604020202020204" pitchFamily="34" charset="0"/>
                        </a:rPr>
                        <a:t>89</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43613480"/>
                  </a:ext>
                </a:extLst>
              </a:tr>
              <a:tr h="180129">
                <a:tc>
                  <a:txBody>
                    <a:bodyPr/>
                    <a:lstStyle/>
                    <a:p>
                      <a:pPr algn="l" fontAlgn="b"/>
                      <a:r>
                        <a:rPr lang="fr-FR" sz="1100" b="0" i="0" u="none" strike="noStrike" dirty="0">
                          <a:effectLst/>
                          <a:latin typeface="Arial" panose="020B0604020202020204" pitchFamily="34" charset="0"/>
                        </a:rPr>
                        <a:t>kl Pay Kongila Zone de Santé</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dirty="0">
                          <a:effectLst/>
                          <a:latin typeface="Arial" panose="020B0604020202020204" pitchFamily="34" charset="0"/>
                        </a:rPr>
                        <a:t>86</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CD" sz="1200" b="0" i="0" u="none" strike="noStrike" dirty="0">
                          <a:effectLst/>
                          <a:latin typeface="Arial" panose="020B0604020202020204" pitchFamily="34" charset="0"/>
                        </a:rPr>
                        <a:t>83</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721261347"/>
                  </a:ext>
                </a:extLst>
              </a:tr>
              <a:tr h="180129">
                <a:tc>
                  <a:txBody>
                    <a:bodyPr/>
                    <a:lstStyle/>
                    <a:p>
                      <a:pPr algn="l" fontAlgn="b"/>
                      <a:r>
                        <a:rPr lang="fr-FR" sz="1100" b="0" i="0" u="none" strike="noStrike" dirty="0">
                          <a:effectLst/>
                          <a:latin typeface="Arial" panose="020B0604020202020204" pitchFamily="34" charset="0"/>
                        </a:rPr>
                        <a:t>kl Yasa Bonga Zone de Santé</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400" b="0" i="0" u="none" strike="noStrike" dirty="0">
                          <a:effectLst/>
                          <a:latin typeface="Arial" panose="020B0604020202020204" pitchFamily="34" charset="0"/>
                        </a:rPr>
                        <a:t>91</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CD" sz="1200" b="0" i="0" u="none" strike="noStrike" dirty="0">
                          <a:effectLst/>
                          <a:latin typeface="Arial" panose="020B0604020202020204" pitchFamily="34" charset="0"/>
                        </a:rPr>
                        <a:t>93</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3031124909"/>
                  </a:ext>
                </a:extLst>
              </a:tr>
              <a:tr h="147378">
                <a:tc>
                  <a:txBody>
                    <a:bodyPr/>
                    <a:lstStyle/>
                    <a:p>
                      <a:pPr algn="l" fontAlgn="b"/>
                      <a:r>
                        <a:rPr lang="fr-CD" sz="1100" b="1" i="0" u="none" strike="noStrike" dirty="0">
                          <a:effectLst/>
                          <a:latin typeface="Arial" panose="020B0604020202020204" pitchFamily="34" charset="0"/>
                        </a:rPr>
                        <a:t>Antenne PEV Kikwit</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b"/>
                      <a:r>
                        <a:rPr lang="fr-CD" sz="1400" b="0" i="0" u="none" strike="noStrike">
                          <a:effectLst/>
                          <a:latin typeface="Arial" panose="020B0604020202020204" pitchFamily="34" charset="0"/>
                        </a:rPr>
                        <a:t>92</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CD" sz="1200" b="0" i="0" u="none" strike="noStrike" dirty="0">
                          <a:effectLst/>
                          <a:latin typeface="Arial" panose="020B0604020202020204" pitchFamily="34" charset="0"/>
                        </a:rPr>
                        <a:t>87</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2375627043"/>
                  </a:ext>
                </a:extLst>
              </a:tr>
              <a:tr h="147378">
                <a:tc>
                  <a:txBody>
                    <a:bodyPr/>
                    <a:lstStyle/>
                    <a:p>
                      <a:pPr algn="l" fontAlgn="b"/>
                      <a:r>
                        <a:rPr lang="fr-CD" sz="1100" b="1" i="0" u="none" strike="noStrike">
                          <a:effectLst/>
                          <a:latin typeface="Arial" panose="020B0604020202020204" pitchFamily="34" charset="0"/>
                        </a:rPr>
                        <a:t>kl Kwilu Province</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r" fontAlgn="b"/>
                      <a:r>
                        <a:rPr lang="fr-CD" sz="1600" b="0" i="0" u="none" strike="noStrike">
                          <a:effectLst/>
                          <a:latin typeface="Arial" panose="020B0604020202020204" pitchFamily="34" charset="0"/>
                        </a:rPr>
                        <a:t>93</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b"/>
                      <a:r>
                        <a:rPr lang="fr-CD" sz="1400" b="0" i="0" u="none" strike="noStrike" dirty="0">
                          <a:effectLst/>
                          <a:latin typeface="Arial" panose="020B0604020202020204" pitchFamily="34" charset="0"/>
                        </a:rPr>
                        <a:t>88</a:t>
                      </a:r>
                    </a:p>
                  </a:txBody>
                  <a:tcPr marL="5458" marR="5458" marT="54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2048954218"/>
                  </a:ext>
                </a:extLst>
              </a:tr>
            </a:tbl>
          </a:graphicData>
        </a:graphic>
      </p:graphicFrame>
      <p:sp>
        <p:nvSpPr>
          <p:cNvPr id="5" name="Espace réservé du numéro de diapositive 4">
            <a:extLst>
              <a:ext uri="{FF2B5EF4-FFF2-40B4-BE49-F238E27FC236}">
                <a16:creationId xmlns="" xmlns:a16="http://schemas.microsoft.com/office/drawing/2014/main" id="{28033BC0-FE22-4AE9-B61C-3902C77D310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extLst>
      <p:ext uri="{BB962C8B-B14F-4D97-AF65-F5344CB8AC3E}">
        <p14:creationId xmlns:p14="http://schemas.microsoft.com/office/powerpoint/2010/main" val="2702705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 xmlns:a16="http://schemas.microsoft.com/office/drawing/2014/main" id="{69FC67CF-B4E0-4498-AC5A-066D7D2DA4A2}"/>
              </a:ext>
            </a:extLst>
          </p:cNvPr>
          <p:cNvSpPr>
            <a:spLocks noGrp="1"/>
          </p:cNvSpPr>
          <p:nvPr>
            <p:ph type="body" idx="1"/>
          </p:nvPr>
        </p:nvSpPr>
        <p:spPr>
          <a:xfrm>
            <a:off x="250709" y="1019331"/>
            <a:ext cx="11525591" cy="5072502"/>
          </a:xfrm>
        </p:spPr>
        <p:txBody>
          <a:bodyPr/>
          <a:lstStyle/>
          <a:p>
            <a:pPr marL="76200" indent="0">
              <a:buNone/>
            </a:pPr>
            <a:r>
              <a:rPr lang="fr-FR" dirty="0"/>
              <a:t>.</a:t>
            </a:r>
            <a:endParaRPr lang="fr-CD" dirty="0"/>
          </a:p>
        </p:txBody>
      </p:sp>
      <p:graphicFrame>
        <p:nvGraphicFramePr>
          <p:cNvPr id="4" name="Tableau 3">
            <a:extLst>
              <a:ext uri="{FF2B5EF4-FFF2-40B4-BE49-F238E27FC236}">
                <a16:creationId xmlns="" xmlns:a16="http://schemas.microsoft.com/office/drawing/2014/main" id="{53317F24-7E70-483B-8ABF-7DDE51007EE0}"/>
              </a:ext>
            </a:extLst>
          </p:cNvPr>
          <p:cNvGraphicFramePr>
            <a:graphicFrameLocks noGrp="1"/>
          </p:cNvGraphicFramePr>
          <p:nvPr>
            <p:extLst>
              <p:ext uri="{D42A27DB-BD31-4B8C-83A1-F6EECF244321}">
                <p14:modId xmlns:p14="http://schemas.microsoft.com/office/powerpoint/2010/main" val="2275155153"/>
              </p:ext>
            </p:extLst>
          </p:nvPr>
        </p:nvGraphicFramePr>
        <p:xfrm>
          <a:off x="333203" y="571399"/>
          <a:ext cx="11608085" cy="5994296"/>
        </p:xfrm>
        <a:graphic>
          <a:graphicData uri="http://schemas.openxmlformats.org/drawingml/2006/table">
            <a:tbl>
              <a:tblPr/>
              <a:tblGrid>
                <a:gridCol w="1984842">
                  <a:extLst>
                    <a:ext uri="{9D8B030D-6E8A-4147-A177-3AD203B41FA5}">
                      <a16:colId xmlns="" xmlns:a16="http://schemas.microsoft.com/office/drawing/2014/main" val="1149097049"/>
                    </a:ext>
                  </a:extLst>
                </a:gridCol>
                <a:gridCol w="780921">
                  <a:extLst>
                    <a:ext uri="{9D8B030D-6E8A-4147-A177-3AD203B41FA5}">
                      <a16:colId xmlns="" xmlns:a16="http://schemas.microsoft.com/office/drawing/2014/main" val="3865374344"/>
                    </a:ext>
                  </a:extLst>
                </a:gridCol>
                <a:gridCol w="959883">
                  <a:extLst>
                    <a:ext uri="{9D8B030D-6E8A-4147-A177-3AD203B41FA5}">
                      <a16:colId xmlns="" xmlns:a16="http://schemas.microsoft.com/office/drawing/2014/main" val="2158375642"/>
                    </a:ext>
                  </a:extLst>
                </a:gridCol>
                <a:gridCol w="951750">
                  <a:extLst>
                    <a:ext uri="{9D8B030D-6E8A-4147-A177-3AD203B41FA5}">
                      <a16:colId xmlns="" xmlns:a16="http://schemas.microsoft.com/office/drawing/2014/main" val="968692919"/>
                    </a:ext>
                  </a:extLst>
                </a:gridCol>
                <a:gridCol w="780921">
                  <a:extLst>
                    <a:ext uri="{9D8B030D-6E8A-4147-A177-3AD203B41FA5}">
                      <a16:colId xmlns="" xmlns:a16="http://schemas.microsoft.com/office/drawing/2014/main" val="890277017"/>
                    </a:ext>
                  </a:extLst>
                </a:gridCol>
                <a:gridCol w="768721">
                  <a:extLst>
                    <a:ext uri="{9D8B030D-6E8A-4147-A177-3AD203B41FA5}">
                      <a16:colId xmlns="" xmlns:a16="http://schemas.microsoft.com/office/drawing/2014/main" val="3764213708"/>
                    </a:ext>
                  </a:extLst>
                </a:gridCol>
                <a:gridCol w="768721">
                  <a:extLst>
                    <a:ext uri="{9D8B030D-6E8A-4147-A177-3AD203B41FA5}">
                      <a16:colId xmlns="" xmlns:a16="http://schemas.microsoft.com/office/drawing/2014/main" val="1182334909"/>
                    </a:ext>
                  </a:extLst>
                </a:gridCol>
                <a:gridCol w="768721">
                  <a:extLst>
                    <a:ext uri="{9D8B030D-6E8A-4147-A177-3AD203B41FA5}">
                      <a16:colId xmlns="" xmlns:a16="http://schemas.microsoft.com/office/drawing/2014/main" val="1679337468"/>
                    </a:ext>
                  </a:extLst>
                </a:gridCol>
                <a:gridCol w="768721">
                  <a:extLst>
                    <a:ext uri="{9D8B030D-6E8A-4147-A177-3AD203B41FA5}">
                      <a16:colId xmlns="" xmlns:a16="http://schemas.microsoft.com/office/drawing/2014/main" val="1026076181"/>
                    </a:ext>
                  </a:extLst>
                </a:gridCol>
                <a:gridCol w="768721">
                  <a:extLst>
                    <a:ext uri="{9D8B030D-6E8A-4147-A177-3AD203B41FA5}">
                      <a16:colId xmlns="" xmlns:a16="http://schemas.microsoft.com/office/drawing/2014/main" val="2938436741"/>
                    </a:ext>
                  </a:extLst>
                </a:gridCol>
                <a:gridCol w="768721">
                  <a:extLst>
                    <a:ext uri="{9D8B030D-6E8A-4147-A177-3AD203B41FA5}">
                      <a16:colId xmlns="" xmlns:a16="http://schemas.microsoft.com/office/drawing/2014/main" val="2511599156"/>
                    </a:ext>
                  </a:extLst>
                </a:gridCol>
                <a:gridCol w="768721">
                  <a:extLst>
                    <a:ext uri="{9D8B030D-6E8A-4147-A177-3AD203B41FA5}">
                      <a16:colId xmlns="" xmlns:a16="http://schemas.microsoft.com/office/drawing/2014/main" val="4255566561"/>
                    </a:ext>
                  </a:extLst>
                </a:gridCol>
                <a:gridCol w="768721">
                  <a:extLst>
                    <a:ext uri="{9D8B030D-6E8A-4147-A177-3AD203B41FA5}">
                      <a16:colId xmlns="" xmlns:a16="http://schemas.microsoft.com/office/drawing/2014/main" val="1642067450"/>
                    </a:ext>
                  </a:extLst>
                </a:gridCol>
              </a:tblGrid>
              <a:tr h="211606">
                <a:tc rowSpan="2">
                  <a:txBody>
                    <a:bodyPr/>
                    <a:lstStyle/>
                    <a:p>
                      <a:pPr algn="l" fontAlgn="b"/>
                      <a:r>
                        <a:rPr lang="fr-CD" sz="1800" b="1" i="0" u="none" strike="noStrike" dirty="0" err="1">
                          <a:effectLst/>
                          <a:latin typeface="Arial" panose="020B0604020202020204" pitchFamily="34" charset="0"/>
                        </a:rPr>
                        <a:t>organisationunitname</a:t>
                      </a:r>
                      <a:endParaRPr lang="fr-CD" sz="1800" b="1" i="0" u="none" strike="noStrike" dirty="0">
                        <a:effectLst/>
                        <a:latin typeface="Arial" panose="020B0604020202020204" pitchFamily="34" charset="0"/>
                      </a:endParaRPr>
                    </a:p>
                  </a:txBody>
                  <a:tcPr marL="6975" marR="6975" marT="697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algn="ctr" fontAlgn="b"/>
                      <a:r>
                        <a:rPr lang="fr-CD" sz="1200" b="1" i="0" u="none" strike="noStrike" dirty="0">
                          <a:effectLst/>
                          <a:latin typeface="Arial" panose="020B0604020202020204" pitchFamily="34" charset="0"/>
                        </a:rPr>
                        <a:t>12 A 23 MOIS</a:t>
                      </a:r>
                    </a:p>
                  </a:txBody>
                  <a:tcPr marL="6975" marR="6975" marT="697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fr-CD"/>
                    </a:p>
                  </a:txBody>
                  <a:tcPr/>
                </a:tc>
                <a:tc hMerge="1">
                  <a:txBody>
                    <a:bodyPr/>
                    <a:lstStyle/>
                    <a:p>
                      <a:endParaRPr lang="fr-CD"/>
                    </a:p>
                  </a:txBody>
                  <a:tcPr/>
                </a:tc>
                <a:tc hMerge="1">
                  <a:txBody>
                    <a:bodyPr/>
                    <a:lstStyle/>
                    <a:p>
                      <a:endParaRPr lang="fr-CD"/>
                    </a:p>
                  </a:txBody>
                  <a:tcPr/>
                </a:tc>
                <a:tc gridSpan="4">
                  <a:txBody>
                    <a:bodyPr/>
                    <a:lstStyle/>
                    <a:p>
                      <a:pPr algn="ctr" fontAlgn="b"/>
                      <a:r>
                        <a:rPr lang="fr-CD" sz="1200" b="1" i="0" u="none" strike="noStrike">
                          <a:effectLst/>
                          <a:latin typeface="Arial" panose="020B0604020202020204" pitchFamily="34" charset="0"/>
                        </a:rPr>
                        <a:t>23 A 59 MOIS</a:t>
                      </a:r>
                    </a:p>
                  </a:txBody>
                  <a:tcPr marL="6975" marR="6975" marT="697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fr-CD"/>
                    </a:p>
                  </a:txBody>
                  <a:tcPr/>
                </a:tc>
                <a:tc hMerge="1">
                  <a:txBody>
                    <a:bodyPr/>
                    <a:lstStyle/>
                    <a:p>
                      <a:endParaRPr lang="fr-CD"/>
                    </a:p>
                  </a:txBody>
                  <a:tcPr/>
                </a:tc>
                <a:tc hMerge="1">
                  <a:txBody>
                    <a:bodyPr/>
                    <a:lstStyle/>
                    <a:p>
                      <a:endParaRPr lang="fr-CD"/>
                    </a:p>
                  </a:txBody>
                  <a:tcPr/>
                </a:tc>
                <a:tc gridSpan="4">
                  <a:txBody>
                    <a:bodyPr/>
                    <a:lstStyle/>
                    <a:p>
                      <a:pPr algn="ctr" fontAlgn="b"/>
                      <a:r>
                        <a:rPr lang="fr-CD" sz="1400" b="1" i="0" u="none" strike="noStrike">
                          <a:effectLst/>
                          <a:latin typeface="Arial" panose="020B0604020202020204" pitchFamily="34" charset="0"/>
                        </a:rPr>
                        <a:t>12 A 59 MOIS</a:t>
                      </a:r>
                    </a:p>
                  </a:txBody>
                  <a:tcPr marL="6975" marR="6975" marT="697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fr-CD"/>
                    </a:p>
                  </a:txBody>
                  <a:tcPr/>
                </a:tc>
                <a:tc hMerge="1">
                  <a:txBody>
                    <a:bodyPr/>
                    <a:lstStyle/>
                    <a:p>
                      <a:endParaRPr lang="fr-CD"/>
                    </a:p>
                  </a:txBody>
                  <a:tcPr/>
                </a:tc>
                <a:tc hMerge="1">
                  <a:txBody>
                    <a:bodyPr/>
                    <a:lstStyle/>
                    <a:p>
                      <a:endParaRPr lang="fr-CD"/>
                    </a:p>
                  </a:txBody>
                  <a:tcPr/>
                </a:tc>
                <a:extLst>
                  <a:ext uri="{0D108BD9-81ED-4DB2-BD59-A6C34878D82A}">
                    <a16:rowId xmlns="" xmlns:a16="http://schemas.microsoft.com/office/drawing/2014/main" val="1852625204"/>
                  </a:ext>
                </a:extLst>
              </a:tr>
              <a:tr h="321997">
                <a:tc vMerge="1">
                  <a:txBody>
                    <a:bodyPr/>
                    <a:lstStyle/>
                    <a:p>
                      <a:endParaRPr lang="fr-CD"/>
                    </a:p>
                  </a:txBody>
                  <a:tcPr/>
                </a:tc>
                <a:tc>
                  <a:txBody>
                    <a:bodyPr/>
                    <a:lstStyle/>
                    <a:p>
                      <a:pPr algn="l" fontAlgn="b"/>
                      <a:r>
                        <a:rPr lang="fr-CD" sz="1800" b="1" i="0" u="none" strike="noStrike" dirty="0">
                          <a:effectLst/>
                          <a:latin typeface="Arial" panose="020B0604020202020204" pitchFamily="34" charset="0"/>
                        </a:rPr>
                        <a:t>EZD</a:t>
                      </a:r>
                    </a:p>
                  </a:txBody>
                  <a:tcPr marL="6975" marR="6975" marT="697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CD" sz="1800" b="1" i="0" u="none" strike="noStrike" dirty="0">
                          <a:effectLst/>
                          <a:latin typeface="Arial" panose="020B0604020202020204" pitchFamily="34" charset="0"/>
                        </a:rPr>
                        <a:t>ESV</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CD" sz="1800" b="1" i="0" u="none" strike="noStrike" dirty="0">
                          <a:effectLst/>
                          <a:latin typeface="Arial" panose="020B0604020202020204" pitchFamily="34" charset="0"/>
                        </a:rPr>
                        <a:t>% EZD</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CD" sz="1800" b="1" i="0" u="none" strike="noStrike" dirty="0">
                          <a:effectLst/>
                          <a:latin typeface="Arial" panose="020B0604020202020204" pitchFamily="34" charset="0"/>
                        </a:rPr>
                        <a:t>% ESV</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800" b="1" i="0" u="none" strike="noStrike" dirty="0">
                          <a:effectLst/>
                          <a:latin typeface="Arial" panose="020B0604020202020204" pitchFamily="34" charset="0"/>
                        </a:rPr>
                        <a:t>EZD</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800" b="1" i="0" u="none" strike="noStrike" dirty="0">
                          <a:effectLst/>
                          <a:latin typeface="Arial" panose="020B0604020202020204" pitchFamily="34" charset="0"/>
                        </a:rPr>
                        <a:t>ESV</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800" b="1" i="0" u="none" strike="noStrike" dirty="0">
                          <a:effectLst/>
                          <a:latin typeface="Arial" panose="020B0604020202020204" pitchFamily="34" charset="0"/>
                        </a:rPr>
                        <a:t>% EZD</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CD" sz="1800" b="1" i="0" u="none" strike="noStrike" dirty="0">
                          <a:effectLst/>
                          <a:latin typeface="Arial" panose="020B0604020202020204" pitchFamily="34" charset="0"/>
                        </a:rPr>
                        <a:t>% ESV</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800" b="1" i="0" u="none" strike="noStrike" dirty="0">
                          <a:effectLst/>
                          <a:latin typeface="Arial" panose="020B0604020202020204" pitchFamily="34" charset="0"/>
                        </a:rPr>
                        <a:t>EZD</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800" b="1" i="0" u="none" strike="noStrike" dirty="0">
                          <a:effectLst/>
                          <a:latin typeface="Arial" panose="020B0604020202020204" pitchFamily="34" charset="0"/>
                        </a:rPr>
                        <a:t>ESV</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800" b="1" i="0" u="none" strike="noStrike" dirty="0">
                          <a:effectLst/>
                          <a:latin typeface="Arial" panose="020B0604020202020204" pitchFamily="34" charset="0"/>
                        </a:rPr>
                        <a:t>% EZD</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CD" sz="1800" b="1" i="0" u="none" strike="noStrike" dirty="0">
                          <a:effectLst/>
                          <a:latin typeface="Arial" panose="020B0604020202020204" pitchFamily="34" charset="0"/>
                        </a:rPr>
                        <a:t>% ESV</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199918124"/>
                  </a:ext>
                </a:extLst>
              </a:tr>
              <a:tr h="182370">
                <a:tc>
                  <a:txBody>
                    <a:bodyPr/>
                    <a:lstStyle/>
                    <a:p>
                      <a:pPr algn="l" fontAlgn="b"/>
                      <a:r>
                        <a:rPr lang="fr-FR" sz="1100" b="0" i="0" u="none" strike="noStrike">
                          <a:effectLst/>
                          <a:latin typeface="Arial" panose="020B0604020202020204" pitchFamily="34" charset="0"/>
                        </a:rPr>
                        <a:t>kl Bagata Zone de Santé</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3</a:t>
                      </a: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dirty="0">
                          <a:effectLst/>
                          <a:latin typeface="Arial" panose="020B0604020202020204" pitchFamily="34" charset="0"/>
                        </a:rPr>
                        <a:t>171</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0</a:t>
                      </a: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2,2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-678</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843</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-3</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a:effectLst/>
                          <a:latin typeface="Arial" panose="020B0604020202020204" pitchFamily="34" charset="0"/>
                        </a:rPr>
                        <a:t>4</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-675</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1 014</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dirty="0">
                          <a:effectLst/>
                          <a:latin typeface="Arial" panose="020B0604020202020204" pitchFamily="34" charset="0"/>
                        </a:rPr>
                        <a:t>-2,2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dirty="0">
                          <a:effectLst/>
                          <a:latin typeface="Arial" panose="020B0604020202020204" pitchFamily="34" charset="0"/>
                        </a:rPr>
                        <a:t>3,3</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 xmlns:a16="http://schemas.microsoft.com/office/drawing/2014/main" val="103227053"/>
                  </a:ext>
                </a:extLst>
              </a:tr>
              <a:tr h="221050">
                <a:tc>
                  <a:txBody>
                    <a:bodyPr/>
                    <a:lstStyle/>
                    <a:p>
                      <a:pPr algn="l" fontAlgn="b"/>
                      <a:r>
                        <a:rPr lang="fr-FR" sz="1100" b="0" i="0" u="none" strike="noStrike" dirty="0">
                          <a:effectLst/>
                          <a:latin typeface="Arial" panose="020B0604020202020204" pitchFamily="34" charset="0"/>
                        </a:rPr>
                        <a:t>kl Bandundu Zone de Santé</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200" b="0" i="0" u="none" strike="noStrike" dirty="0">
                          <a:effectLst/>
                          <a:latin typeface="Arial" panose="020B0604020202020204" pitchFamily="34" charset="0"/>
                        </a:rPr>
                        <a:t>0</a:t>
                      </a:r>
                      <a:endParaRPr lang="fr-CD" sz="1200" b="0" i="0" u="none" strike="noStrike" dirty="0">
                        <a:effectLst/>
                        <a:latin typeface="Arial" panose="020B0604020202020204" pitchFamily="34" charset="0"/>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dirty="0">
                          <a:effectLst/>
                          <a:latin typeface="Arial" panose="020B0604020202020204" pitchFamily="34" charset="0"/>
                        </a:rPr>
                        <a:t>668</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0</a:t>
                      </a: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dirty="0">
                          <a:effectLst/>
                          <a:latin typeface="Arial" panose="020B0604020202020204" pitchFamily="34" charset="0"/>
                        </a:rPr>
                        <a:t>6,6</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a:effectLst/>
                          <a:latin typeface="Arial" panose="020B0604020202020204" pitchFamily="34" charset="0"/>
                        </a:rPr>
                        <a:t>3 943</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1 677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dirty="0">
                          <a:effectLst/>
                          <a:latin typeface="Arial" panose="020B0604020202020204" pitchFamily="34" charset="0"/>
                        </a:rPr>
                        <a:t>14</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a:effectLst/>
                          <a:latin typeface="Arial" panose="020B0604020202020204" pitchFamily="34" charset="0"/>
                        </a:rPr>
                        <a:t>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dirty="0">
                          <a:effectLst/>
                          <a:latin typeface="Arial" panose="020B0604020202020204" pitchFamily="34" charset="0"/>
                        </a:rPr>
                        <a:t>3 119</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dirty="0">
                          <a:effectLst/>
                          <a:latin typeface="Arial" panose="020B0604020202020204" pitchFamily="34" charset="0"/>
                        </a:rPr>
                        <a:t>2 345</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dirty="0">
                          <a:effectLst/>
                          <a:latin typeface="Arial" panose="020B0604020202020204" pitchFamily="34" charset="0"/>
                        </a:rPr>
                        <a:t>8,3</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dirty="0">
                          <a:effectLst/>
                          <a:latin typeface="Arial" panose="020B0604020202020204" pitchFamily="34" charset="0"/>
                        </a:rPr>
                        <a:t>6,8</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 xmlns:a16="http://schemas.microsoft.com/office/drawing/2014/main" val="1705543039"/>
                  </a:ext>
                </a:extLst>
              </a:tr>
              <a:tr h="182370">
                <a:tc>
                  <a:txBody>
                    <a:bodyPr/>
                    <a:lstStyle/>
                    <a:p>
                      <a:pPr algn="l" fontAlgn="b"/>
                      <a:r>
                        <a:rPr lang="fr-FR" sz="1100" b="0" i="0" u="none" strike="noStrike">
                          <a:effectLst/>
                          <a:latin typeface="Arial" panose="020B0604020202020204" pitchFamily="34" charset="0"/>
                        </a:rPr>
                        <a:t>kl Djuma Zone de Santé</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FR" sz="1200" b="0" i="0" u="none" strike="noStrike" kern="0" cap="none" spc="0" normalizeH="0" baseline="0" noProof="0">
                          <a:ln>
                            <a:noFill/>
                          </a:ln>
                          <a:solidFill>
                            <a:srgbClr val="000000"/>
                          </a:solidFill>
                          <a:effectLst/>
                          <a:uLnTx/>
                          <a:uFillTx/>
                          <a:latin typeface="Arial" panose="020B0604020202020204" pitchFamily="34" charset="0"/>
                          <a:ea typeface="+mn-ea"/>
                          <a:cs typeface="+mn-cs"/>
                          <a:sym typeface="Arial" panose="020B0604020202020204"/>
                        </a:rPr>
                        <a:t>0</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220</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CD" sz="1200" b="0" i="0" u="none" strike="noStrike" kern="0" cap="none" spc="0" normalizeH="0" baseline="0" noProof="0">
                          <a:ln>
                            <a:noFill/>
                          </a:ln>
                          <a:solidFill>
                            <a:srgbClr val="000000"/>
                          </a:solidFill>
                          <a:effectLst/>
                          <a:uLnTx/>
                          <a:uFillTx/>
                          <a:latin typeface="Arial" panose="020B0604020202020204" pitchFamily="34" charset="0"/>
                          <a:ea typeface="+mn-ea"/>
                          <a:cs typeface="+mn-cs"/>
                          <a:sym typeface="Arial" panose="020B0604020202020204"/>
                        </a:rPr>
                        <a:t>0</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2,2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1 698</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dirty="0">
                          <a:effectLst/>
                          <a:latin typeface="Arial" panose="020B0604020202020204" pitchFamily="34" charset="0"/>
                        </a:rPr>
                        <a:t>239</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6</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dirty="0">
                          <a:effectLst/>
                          <a:latin typeface="Arial" panose="020B0604020202020204" pitchFamily="34" charset="0"/>
                        </a:rPr>
                        <a:t>1</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1 461</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459</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dirty="0">
                          <a:effectLst/>
                          <a:latin typeface="Arial" panose="020B0604020202020204" pitchFamily="34" charset="0"/>
                        </a:rPr>
                        <a:t>3,9</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dirty="0">
                          <a:effectLst/>
                          <a:latin typeface="Arial" panose="020B0604020202020204" pitchFamily="34" charset="0"/>
                        </a:rPr>
                        <a:t>1,3</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 xmlns:a16="http://schemas.microsoft.com/office/drawing/2014/main" val="3715597379"/>
                  </a:ext>
                </a:extLst>
              </a:tr>
              <a:tr h="182370">
                <a:tc>
                  <a:txBody>
                    <a:bodyPr/>
                    <a:lstStyle/>
                    <a:p>
                      <a:pPr algn="l" fontAlgn="b"/>
                      <a:r>
                        <a:rPr lang="fr-FR" sz="1100" b="0" i="0" u="none" strike="noStrike">
                          <a:effectLst/>
                          <a:latin typeface="Arial" panose="020B0604020202020204" pitchFamily="34" charset="0"/>
                        </a:rPr>
                        <a:t>kl Kikongo Zone de Santé</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FR" sz="1200" b="0" i="0" u="none" strike="noStrike" kern="0" cap="none" spc="0" normalizeH="0" baseline="0" noProof="0">
                          <a:ln>
                            <a:noFill/>
                          </a:ln>
                          <a:solidFill>
                            <a:srgbClr val="000000"/>
                          </a:solidFill>
                          <a:effectLst/>
                          <a:uLnTx/>
                          <a:uFillTx/>
                          <a:latin typeface="Arial" panose="020B0604020202020204" pitchFamily="34" charset="0"/>
                          <a:ea typeface="+mn-ea"/>
                          <a:cs typeface="+mn-cs"/>
                          <a:sym typeface="Arial" panose="020B0604020202020204"/>
                        </a:rPr>
                        <a:t>0</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491</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CD" sz="1200" b="0" i="0" u="none" strike="noStrike" kern="0" cap="none" spc="0" normalizeH="0" baseline="0" noProof="0">
                          <a:ln>
                            <a:noFill/>
                          </a:ln>
                          <a:solidFill>
                            <a:srgbClr val="000000"/>
                          </a:solidFill>
                          <a:effectLst/>
                          <a:uLnTx/>
                          <a:uFillTx/>
                          <a:latin typeface="Arial" panose="020B0604020202020204" pitchFamily="34" charset="0"/>
                          <a:ea typeface="+mn-ea"/>
                          <a:cs typeface="+mn-cs"/>
                          <a:sym typeface="Arial" panose="020B0604020202020204"/>
                        </a:rPr>
                        <a:t>0</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5,5</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a:effectLst/>
                          <a:latin typeface="Arial" panose="020B0604020202020204" pitchFamily="34" charset="0"/>
                        </a:rPr>
                        <a:t>1 431</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1 106</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dirty="0">
                          <a:effectLst/>
                          <a:latin typeface="Arial" panose="020B0604020202020204" pitchFamily="34" charset="0"/>
                        </a:rPr>
                        <a:t>6</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dirty="0">
                          <a:effectLst/>
                          <a:latin typeface="Arial" panose="020B0604020202020204" pitchFamily="34" charset="0"/>
                        </a:rPr>
                        <a:t>5</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a:effectLst/>
                          <a:latin typeface="Arial" panose="020B0604020202020204" pitchFamily="34" charset="0"/>
                        </a:rPr>
                        <a:t>873</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1 597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2,7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dirty="0">
                          <a:effectLst/>
                          <a:latin typeface="Arial" panose="020B0604020202020204" pitchFamily="34" charset="0"/>
                        </a:rPr>
                        <a:t>5,1</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 xmlns:a16="http://schemas.microsoft.com/office/drawing/2014/main" val="406127530"/>
                  </a:ext>
                </a:extLst>
              </a:tr>
              <a:tr h="182370">
                <a:tc>
                  <a:txBody>
                    <a:bodyPr/>
                    <a:lstStyle/>
                    <a:p>
                      <a:pPr algn="l" fontAlgn="b"/>
                      <a:r>
                        <a:rPr lang="fr-FR" sz="1100" b="0" i="0" u="none" strike="noStrike">
                          <a:effectLst/>
                          <a:latin typeface="Arial" panose="020B0604020202020204" pitchFamily="34" charset="0"/>
                        </a:rPr>
                        <a:t>kl Sia Zone de Santé</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FR"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0</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134</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CD" sz="1200" b="0" i="0" u="none" strike="noStrike" kern="0" cap="none" spc="0" normalizeH="0" baseline="0" noProof="0">
                          <a:ln>
                            <a:noFill/>
                          </a:ln>
                          <a:solidFill>
                            <a:srgbClr val="000000"/>
                          </a:solidFill>
                          <a:effectLst/>
                          <a:uLnTx/>
                          <a:uFillTx/>
                          <a:latin typeface="Arial" panose="020B0604020202020204" pitchFamily="34" charset="0"/>
                          <a:ea typeface="+mn-ea"/>
                          <a:cs typeface="+mn-cs"/>
                          <a:sym typeface="Arial" panose="020B0604020202020204"/>
                        </a:rPr>
                        <a:t>0</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2,7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1 076</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394</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8</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a:effectLst/>
                          <a:latin typeface="Arial" panose="020B0604020202020204" pitchFamily="34" charset="0"/>
                        </a:rPr>
                        <a:t>3</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996</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528</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dirty="0">
                          <a:effectLst/>
                          <a:latin typeface="Arial" panose="020B0604020202020204" pitchFamily="34" charset="0"/>
                        </a:rPr>
                        <a:t>5,3</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dirty="0">
                          <a:effectLst/>
                          <a:latin typeface="Arial" panose="020B0604020202020204" pitchFamily="34" charset="0"/>
                        </a:rPr>
                        <a:t>3,0</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 xmlns:a16="http://schemas.microsoft.com/office/drawing/2014/main" val="1818820515"/>
                  </a:ext>
                </a:extLst>
              </a:tr>
              <a:tr h="182370">
                <a:tc>
                  <a:txBody>
                    <a:bodyPr/>
                    <a:lstStyle/>
                    <a:p>
                      <a:pPr algn="l" fontAlgn="b"/>
                      <a:r>
                        <a:rPr lang="fr-FR" sz="1100" b="0" i="0" u="none" strike="noStrike">
                          <a:effectLst/>
                          <a:latin typeface="Arial" panose="020B0604020202020204" pitchFamily="34" charset="0"/>
                        </a:rPr>
                        <a:t>kl Vanga Zone de Santé</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FR" sz="1200" b="0" i="0" u="none" strike="noStrike" kern="0" cap="none" spc="0" normalizeH="0" baseline="0" noProof="0">
                          <a:ln>
                            <a:noFill/>
                          </a:ln>
                          <a:solidFill>
                            <a:srgbClr val="000000"/>
                          </a:solidFill>
                          <a:effectLst/>
                          <a:uLnTx/>
                          <a:uFillTx/>
                          <a:latin typeface="Arial" panose="020B0604020202020204" pitchFamily="34" charset="0"/>
                          <a:ea typeface="+mn-ea"/>
                          <a:cs typeface="+mn-cs"/>
                          <a:sym typeface="Arial" panose="020B0604020202020204"/>
                        </a:rPr>
                        <a:t>0</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158</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0</a:t>
                      </a: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dirty="0">
                          <a:effectLst/>
                          <a:latin typeface="Arial" panose="020B0604020202020204" pitchFamily="34" charset="0"/>
                        </a:rPr>
                        <a:t>1,2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145</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317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0</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1</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28</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475</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0,1</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dirty="0">
                          <a:effectLst/>
                          <a:latin typeface="Arial" panose="020B0604020202020204" pitchFamily="34" charset="0"/>
                        </a:rPr>
                        <a:t>1,0</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 xmlns:a16="http://schemas.microsoft.com/office/drawing/2014/main" val="3740854643"/>
                  </a:ext>
                </a:extLst>
              </a:tr>
              <a:tr h="182370">
                <a:tc>
                  <a:txBody>
                    <a:bodyPr/>
                    <a:lstStyle/>
                    <a:p>
                      <a:pPr algn="l" fontAlgn="b"/>
                      <a:r>
                        <a:rPr lang="fr-CD" sz="1100" b="0" i="0" u="none" strike="noStrike">
                          <a:effectLst/>
                          <a:latin typeface="Arial" panose="020B0604020202020204" pitchFamily="34" charset="0"/>
                        </a:rPr>
                        <a:t>Antenne PEV Bandundu</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FR"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3</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1 842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CD" sz="1200" b="0" i="0" u="none" strike="noStrike" kern="0" cap="none" spc="0" normalizeH="0" baseline="0" noProof="0">
                          <a:ln>
                            <a:noFill/>
                          </a:ln>
                          <a:solidFill>
                            <a:srgbClr val="000000"/>
                          </a:solidFill>
                          <a:effectLst/>
                          <a:uLnTx/>
                          <a:uFillTx/>
                          <a:latin typeface="Arial" panose="020B0604020202020204" pitchFamily="34" charset="0"/>
                          <a:ea typeface="+mn-ea"/>
                          <a:cs typeface="+mn-cs"/>
                          <a:sym typeface="Arial" panose="020B0604020202020204"/>
                        </a:rPr>
                        <a:t>0</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3,4</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7 615</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4 576</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5</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dirty="0">
                          <a:effectLst/>
                          <a:latin typeface="Arial" panose="020B0604020202020204" pitchFamily="34" charset="0"/>
                        </a:rPr>
                        <a:t>3</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5 802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6 418</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2,8</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3,2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 xmlns:a16="http://schemas.microsoft.com/office/drawing/2014/main" val="3985787176"/>
                  </a:ext>
                </a:extLst>
              </a:tr>
              <a:tr h="182370">
                <a:tc>
                  <a:txBody>
                    <a:bodyPr/>
                    <a:lstStyle/>
                    <a:p>
                      <a:pPr algn="l" fontAlgn="b"/>
                      <a:r>
                        <a:rPr lang="fr-FR" sz="1100" b="0" i="0" u="none" strike="noStrike">
                          <a:effectLst/>
                          <a:latin typeface="Arial" panose="020B0604020202020204" pitchFamily="34" charset="0"/>
                        </a:rPr>
                        <a:t>kl Bulungu Zone de Santé</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FR"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0</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622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CD" sz="1200" b="0" i="0" u="none" strike="noStrike" kern="0" cap="none" spc="0" normalizeH="0" baseline="0" noProof="0">
                          <a:ln>
                            <a:noFill/>
                          </a:ln>
                          <a:solidFill>
                            <a:srgbClr val="000000"/>
                          </a:solidFill>
                          <a:effectLst/>
                          <a:uLnTx/>
                          <a:uFillTx/>
                          <a:latin typeface="Arial" panose="020B0604020202020204" pitchFamily="34" charset="0"/>
                          <a:ea typeface="+mn-ea"/>
                          <a:cs typeface="+mn-cs"/>
                          <a:sym typeface="Arial" panose="020B0604020202020204"/>
                        </a:rPr>
                        <a:t>0</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4,7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dirty="0">
                          <a:effectLst/>
                          <a:latin typeface="Arial" panose="020B0604020202020204" pitchFamily="34" charset="0"/>
                        </a:rPr>
                        <a:t>3 671</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1 447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11</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fr-CD" sz="1100" b="0" i="0" u="none" strike="noStrike">
                          <a:effectLst/>
                          <a:latin typeface="Arial" panose="020B0604020202020204" pitchFamily="34" charset="0"/>
                        </a:rPr>
                        <a:t>5</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dirty="0">
                          <a:effectLst/>
                          <a:latin typeface="Arial" panose="020B0604020202020204" pitchFamily="34" charset="0"/>
                        </a:rPr>
                        <a:t>2 882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2 069</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6,1</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dirty="0">
                          <a:effectLst/>
                          <a:latin typeface="Arial" panose="020B0604020202020204" pitchFamily="34" charset="0"/>
                        </a:rPr>
                        <a:t>4,7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 xmlns:a16="http://schemas.microsoft.com/office/drawing/2014/main" val="1811974942"/>
                  </a:ext>
                </a:extLst>
              </a:tr>
              <a:tr h="182370">
                <a:tc>
                  <a:txBody>
                    <a:bodyPr/>
                    <a:lstStyle/>
                    <a:p>
                      <a:pPr algn="l" fontAlgn="b"/>
                      <a:r>
                        <a:rPr lang="fr-FR" sz="1100" b="0" i="0" u="none" strike="noStrike">
                          <a:effectLst/>
                          <a:latin typeface="Arial" panose="020B0604020202020204" pitchFamily="34" charset="0"/>
                        </a:rPr>
                        <a:t>kl Gungu Zone de Santé</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FR"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0</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366</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CD" sz="1200" b="0" i="0" u="none" strike="noStrike" kern="0" cap="none" spc="0" normalizeH="0" baseline="0" noProof="0">
                          <a:ln>
                            <a:noFill/>
                          </a:ln>
                          <a:solidFill>
                            <a:srgbClr val="000000"/>
                          </a:solidFill>
                          <a:effectLst/>
                          <a:uLnTx/>
                          <a:uFillTx/>
                          <a:latin typeface="Arial" panose="020B0604020202020204" pitchFamily="34" charset="0"/>
                          <a:ea typeface="+mn-ea"/>
                          <a:cs typeface="+mn-cs"/>
                          <a:sym typeface="Arial" panose="020B0604020202020204"/>
                        </a:rPr>
                        <a:t>0</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3,2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3 202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862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10</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fr-CD" sz="1100" b="0" i="0" u="none" strike="noStrike">
                          <a:effectLst/>
                          <a:latin typeface="Arial" panose="020B0604020202020204" pitchFamily="34" charset="0"/>
                        </a:rPr>
                        <a:t>3</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2 792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1 228</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6,5</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dirty="0">
                          <a:effectLst/>
                          <a:latin typeface="Arial" panose="020B0604020202020204" pitchFamily="34" charset="0"/>
                        </a:rPr>
                        <a:t>3,1</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 xmlns:a16="http://schemas.microsoft.com/office/drawing/2014/main" val="847147950"/>
                  </a:ext>
                </a:extLst>
              </a:tr>
              <a:tr h="182370">
                <a:tc>
                  <a:txBody>
                    <a:bodyPr/>
                    <a:lstStyle/>
                    <a:p>
                      <a:pPr algn="l" fontAlgn="b"/>
                      <a:r>
                        <a:rPr lang="fr-FR" sz="1100" b="0" i="0" u="none" strike="noStrike">
                          <a:effectLst/>
                          <a:latin typeface="Arial" panose="020B0604020202020204" pitchFamily="34" charset="0"/>
                        </a:rPr>
                        <a:t>kl Idiofa Zone de Santé</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FR"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0</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1 152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CD" sz="1200" b="0" i="0" u="none" strike="noStrike" kern="0" cap="none" spc="0" normalizeH="0" baseline="0" noProof="0">
                          <a:ln>
                            <a:noFill/>
                          </a:ln>
                          <a:solidFill>
                            <a:srgbClr val="000000"/>
                          </a:solidFill>
                          <a:effectLst/>
                          <a:uLnTx/>
                          <a:uFillTx/>
                          <a:latin typeface="Arial" panose="020B0604020202020204" pitchFamily="34" charset="0"/>
                          <a:ea typeface="+mn-ea"/>
                          <a:cs typeface="+mn-cs"/>
                          <a:sym typeface="Arial" panose="020B0604020202020204"/>
                        </a:rPr>
                        <a:t>0</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8,9</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dirty="0">
                          <a:effectLst/>
                          <a:latin typeface="Arial" panose="020B0604020202020204" pitchFamily="34" charset="0"/>
                        </a:rPr>
                        <a:t>438</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680</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dirty="0">
                          <a:effectLst/>
                          <a:latin typeface="Arial" panose="020B0604020202020204" pitchFamily="34" charset="0"/>
                        </a:rPr>
                        <a:t>337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1 832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0,7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3,7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 xmlns:a16="http://schemas.microsoft.com/office/drawing/2014/main" val="3382467657"/>
                  </a:ext>
                </a:extLst>
              </a:tr>
              <a:tr h="182370">
                <a:tc>
                  <a:txBody>
                    <a:bodyPr/>
                    <a:lstStyle/>
                    <a:p>
                      <a:pPr algn="l" fontAlgn="b"/>
                      <a:r>
                        <a:rPr lang="fr-FR" sz="1100" b="0" i="0" u="none" strike="noStrike">
                          <a:effectLst/>
                          <a:latin typeface="Arial" panose="020B0604020202020204" pitchFamily="34" charset="0"/>
                        </a:rPr>
                        <a:t>kl Ipamu Zone de Santé</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FR"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0</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157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0</a:t>
                      </a: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1,7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dirty="0">
                          <a:effectLst/>
                          <a:latin typeface="Arial" panose="020B0604020202020204" pitchFamily="34" charset="0"/>
                        </a:rPr>
                        <a:t>1 438</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800</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5</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a:effectLst/>
                          <a:latin typeface="Arial" panose="020B0604020202020204" pitchFamily="34" charset="0"/>
                        </a:rPr>
                        <a:t>3</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1 434</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dirty="0">
                          <a:effectLst/>
                          <a:latin typeface="Arial" panose="020B0604020202020204" pitchFamily="34" charset="0"/>
                        </a:rPr>
                        <a:t>957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3,8</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2,7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 xmlns:a16="http://schemas.microsoft.com/office/drawing/2014/main" val="2426004533"/>
                  </a:ext>
                </a:extLst>
              </a:tr>
              <a:tr h="221050">
                <a:tc>
                  <a:txBody>
                    <a:bodyPr/>
                    <a:lstStyle/>
                    <a:p>
                      <a:pPr algn="l" fontAlgn="b"/>
                      <a:r>
                        <a:rPr lang="fr-FR" sz="1100" b="0" i="0" u="none" strike="noStrike">
                          <a:effectLst/>
                          <a:latin typeface="Arial" panose="020B0604020202020204" pitchFamily="34" charset="0"/>
                        </a:rPr>
                        <a:t>kl Kikwit Nord Zone de Santé</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FR"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0</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762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CD" sz="1200" b="0" i="0" u="none" strike="noStrike" kern="0" cap="none" spc="0" normalizeH="0" baseline="0" noProof="0">
                          <a:ln>
                            <a:noFill/>
                          </a:ln>
                          <a:solidFill>
                            <a:srgbClr val="000000"/>
                          </a:solidFill>
                          <a:effectLst/>
                          <a:uLnTx/>
                          <a:uFillTx/>
                          <a:latin typeface="Arial" panose="020B0604020202020204" pitchFamily="34" charset="0"/>
                          <a:ea typeface="+mn-ea"/>
                          <a:cs typeface="+mn-cs"/>
                          <a:sym typeface="Arial" panose="020B0604020202020204"/>
                        </a:rPr>
                        <a:t>0</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6,2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a:effectLst/>
                          <a:latin typeface="Arial" panose="020B0604020202020204" pitchFamily="34" charset="0"/>
                        </a:rPr>
                        <a:t>5 040</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2 253</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fr-CD" sz="1100" b="0" i="0" u="none" strike="noStrike">
                          <a:effectLst/>
                          <a:latin typeface="Arial" panose="020B0604020202020204" pitchFamily="34" charset="0"/>
                        </a:rPr>
                        <a:t>9</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a:effectLst/>
                          <a:latin typeface="Arial" panose="020B0604020202020204" pitchFamily="34" charset="0"/>
                        </a:rPr>
                        <a:t>3 398</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dirty="0">
                          <a:effectLst/>
                          <a:latin typeface="Arial" panose="020B0604020202020204" pitchFamily="34" charset="0"/>
                        </a:rPr>
                        <a:t>3 015</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8,4</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a:effectLst/>
                          <a:latin typeface="Arial" panose="020B0604020202020204" pitchFamily="34" charset="0"/>
                        </a:rPr>
                        <a:t>8,1</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 xmlns:a16="http://schemas.microsoft.com/office/drawing/2014/main" val="3721803807"/>
                  </a:ext>
                </a:extLst>
              </a:tr>
              <a:tr h="221050">
                <a:tc>
                  <a:txBody>
                    <a:bodyPr/>
                    <a:lstStyle/>
                    <a:p>
                      <a:pPr algn="l" fontAlgn="b"/>
                      <a:r>
                        <a:rPr lang="fr-FR" sz="1100" b="0" i="0" u="none" strike="noStrike">
                          <a:effectLst/>
                          <a:latin typeface="Arial" panose="020B0604020202020204" pitchFamily="34" charset="0"/>
                        </a:rPr>
                        <a:t>kl Kikwit Sud Zone de Santé</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FR"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0</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913</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0</a:t>
                      </a: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7,5</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a:effectLst/>
                          <a:latin typeface="Arial" panose="020B0604020202020204" pitchFamily="34" charset="0"/>
                        </a:rPr>
                        <a:t>5 655</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1 068</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dirty="0">
                          <a:effectLst/>
                          <a:latin typeface="Arial" panose="020B0604020202020204" pitchFamily="34" charset="0"/>
                        </a:rPr>
                        <a:t>17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fr-CD" sz="1100" b="0" i="0" u="none" strike="noStrike">
                          <a:effectLst/>
                          <a:latin typeface="Arial" panose="020B0604020202020204" pitchFamily="34" charset="0"/>
                        </a:rPr>
                        <a:t>4</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4 860</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1 981</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11,1</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fr-CD" sz="1100" b="0" i="0" u="none" strike="noStrike">
                          <a:effectLst/>
                          <a:latin typeface="Arial" panose="020B0604020202020204" pitchFamily="34" charset="0"/>
                        </a:rPr>
                        <a:t>5,1</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 xmlns:a16="http://schemas.microsoft.com/office/drawing/2014/main" val="324714701"/>
                  </a:ext>
                </a:extLst>
              </a:tr>
              <a:tr h="182370">
                <a:tc>
                  <a:txBody>
                    <a:bodyPr/>
                    <a:lstStyle/>
                    <a:p>
                      <a:pPr algn="l" fontAlgn="b"/>
                      <a:r>
                        <a:rPr lang="fr-FR" sz="1100" b="0" i="0" u="none" strike="noStrike">
                          <a:effectLst/>
                          <a:latin typeface="Arial" panose="020B0604020202020204" pitchFamily="34" charset="0"/>
                        </a:rPr>
                        <a:t>kl Kimputu Zone de Santé</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FR" sz="1200" b="0" i="0" u="none" strike="noStrike" kern="0" cap="none" spc="0" normalizeH="0" baseline="0" noProof="0">
                          <a:ln>
                            <a:noFill/>
                          </a:ln>
                          <a:solidFill>
                            <a:srgbClr val="000000"/>
                          </a:solidFill>
                          <a:effectLst/>
                          <a:uLnTx/>
                          <a:uFillTx/>
                          <a:latin typeface="Arial" panose="020B0604020202020204" pitchFamily="34" charset="0"/>
                          <a:ea typeface="+mn-ea"/>
                          <a:cs typeface="+mn-cs"/>
                          <a:sym typeface="Arial" panose="020B0604020202020204"/>
                        </a:rPr>
                        <a:t>0</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273</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CD" sz="1200" b="0" i="0" u="none" strike="noStrike" kern="0" cap="none" spc="0" normalizeH="0" baseline="0" noProof="0">
                          <a:ln>
                            <a:noFill/>
                          </a:ln>
                          <a:solidFill>
                            <a:srgbClr val="000000"/>
                          </a:solidFill>
                          <a:effectLst/>
                          <a:uLnTx/>
                          <a:uFillTx/>
                          <a:latin typeface="Arial" panose="020B0604020202020204" pitchFamily="34" charset="0"/>
                          <a:ea typeface="+mn-ea"/>
                          <a:cs typeface="+mn-cs"/>
                          <a:sym typeface="Arial" panose="020B0604020202020204"/>
                        </a:rPr>
                        <a:t>0</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3,0</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1 483</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434</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6</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a:effectLst/>
                          <a:latin typeface="Arial" panose="020B0604020202020204" pitchFamily="34" charset="0"/>
                        </a:rPr>
                        <a:t>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1 276</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707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3,7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dirty="0">
                          <a:effectLst/>
                          <a:latin typeface="Arial" panose="020B0604020202020204" pitchFamily="34" charset="0"/>
                        </a:rPr>
                        <a:t>2,1</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 xmlns:a16="http://schemas.microsoft.com/office/drawing/2014/main" val="412640112"/>
                  </a:ext>
                </a:extLst>
              </a:tr>
              <a:tr h="221050">
                <a:tc>
                  <a:txBody>
                    <a:bodyPr/>
                    <a:lstStyle/>
                    <a:p>
                      <a:pPr algn="l" fontAlgn="b"/>
                      <a:r>
                        <a:rPr lang="fr-FR" sz="1100" b="0" i="0" u="none" strike="noStrike">
                          <a:effectLst/>
                          <a:latin typeface="Arial" panose="020B0604020202020204" pitchFamily="34" charset="0"/>
                        </a:rPr>
                        <a:t>kl Kingandu Zone de Santé</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FR"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0</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139</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0</a:t>
                      </a: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2,8</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544</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424</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4</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dirty="0">
                          <a:effectLst/>
                          <a:latin typeface="Arial" panose="020B0604020202020204" pitchFamily="34" charset="0"/>
                        </a:rPr>
                        <a:t>3</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507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563</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dirty="0">
                          <a:effectLst/>
                          <a:latin typeface="Arial" panose="020B0604020202020204" pitchFamily="34" charset="0"/>
                        </a:rPr>
                        <a:t>2,7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3,1</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 xmlns:a16="http://schemas.microsoft.com/office/drawing/2014/main" val="1094314371"/>
                  </a:ext>
                </a:extLst>
              </a:tr>
              <a:tr h="221050">
                <a:tc>
                  <a:txBody>
                    <a:bodyPr/>
                    <a:lstStyle/>
                    <a:p>
                      <a:pPr algn="l" fontAlgn="b"/>
                      <a:r>
                        <a:rPr lang="fr-FR" sz="1100" b="0" i="0" u="none" strike="noStrike">
                          <a:effectLst/>
                          <a:latin typeface="Arial" panose="020B0604020202020204" pitchFamily="34" charset="0"/>
                        </a:rPr>
                        <a:t>kl Koshibanda Zone de Santé</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FR"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0</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838</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0</a:t>
                      </a: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7,8</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a:effectLst/>
                          <a:latin typeface="Arial" panose="020B0604020202020204" pitchFamily="34" charset="0"/>
                        </a:rPr>
                        <a:t>3 745</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492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14</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fr-CD" sz="1100" b="0" i="0" u="none" strike="noStrike">
                          <a:effectLst/>
                          <a:latin typeface="Arial" panose="020B0604020202020204" pitchFamily="34" charset="0"/>
                        </a:rPr>
                        <a:t>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2 128</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1 330</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dirty="0">
                          <a:effectLst/>
                          <a:latin typeface="Arial" panose="020B0604020202020204" pitchFamily="34" charset="0"/>
                        </a:rPr>
                        <a:t>6,0</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dirty="0">
                          <a:effectLst/>
                          <a:latin typeface="Arial" panose="020B0604020202020204" pitchFamily="34" charset="0"/>
                        </a:rPr>
                        <a:t>4,0</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 xmlns:a16="http://schemas.microsoft.com/office/drawing/2014/main" val="138736395"/>
                  </a:ext>
                </a:extLst>
              </a:tr>
              <a:tr h="182370">
                <a:tc>
                  <a:txBody>
                    <a:bodyPr/>
                    <a:lstStyle/>
                    <a:p>
                      <a:pPr algn="l" fontAlgn="b"/>
                      <a:r>
                        <a:rPr lang="fr-FR" sz="1100" b="0" i="0" u="none" strike="noStrike">
                          <a:effectLst/>
                          <a:latin typeface="Arial" panose="020B0604020202020204" pitchFamily="34" charset="0"/>
                        </a:rPr>
                        <a:t>kl Lusanga Zone de Santé</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FR" sz="1200" b="0" i="0" u="none" strike="noStrike" kern="0" cap="none" spc="0" normalizeH="0" baseline="0" noProof="0">
                          <a:ln>
                            <a:noFill/>
                          </a:ln>
                          <a:solidFill>
                            <a:srgbClr val="000000"/>
                          </a:solidFill>
                          <a:effectLst/>
                          <a:uLnTx/>
                          <a:uFillTx/>
                          <a:latin typeface="Arial" panose="020B0604020202020204" pitchFamily="34" charset="0"/>
                          <a:ea typeface="+mn-ea"/>
                          <a:cs typeface="+mn-cs"/>
                          <a:sym typeface="Arial" panose="020B0604020202020204"/>
                        </a:rPr>
                        <a:t>0</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566</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0</a:t>
                      </a: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4,1</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5 202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1 373</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15</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fr-CD" sz="1100" b="0" i="0" u="none" strike="noStrike">
                          <a:effectLst/>
                          <a:latin typeface="Arial" panose="020B0604020202020204" pitchFamily="34" charset="0"/>
                        </a:rPr>
                        <a:t>5</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dirty="0">
                          <a:effectLst/>
                          <a:latin typeface="Arial" panose="020B0604020202020204" pitchFamily="34" charset="0"/>
                        </a:rPr>
                        <a:t>3 457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1 939</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7,4</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a:effectLst/>
                          <a:latin typeface="Arial" panose="020B0604020202020204" pitchFamily="34" charset="0"/>
                        </a:rPr>
                        <a:t>4,5</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 xmlns:a16="http://schemas.microsoft.com/office/drawing/2014/main" val="3313378110"/>
                  </a:ext>
                </a:extLst>
              </a:tr>
              <a:tr h="221050">
                <a:tc>
                  <a:txBody>
                    <a:bodyPr/>
                    <a:lstStyle/>
                    <a:p>
                      <a:pPr algn="l" fontAlgn="b"/>
                      <a:r>
                        <a:rPr lang="fr-CD" sz="1050" b="0" i="0" u="none" strike="noStrike" dirty="0">
                          <a:effectLst/>
                          <a:latin typeface="Arial" panose="020B0604020202020204" pitchFamily="34" charset="0"/>
                        </a:rPr>
                        <a:t>kl Masi Manimba Zone de Santé</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FR"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0</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457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0</a:t>
                      </a: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4,2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2 783</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732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9</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a:effectLst/>
                          <a:latin typeface="Arial" panose="020B0604020202020204" pitchFamily="34" charset="0"/>
                        </a:rPr>
                        <a:t>3</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dirty="0">
                          <a:effectLst/>
                          <a:latin typeface="Arial" panose="020B0604020202020204" pitchFamily="34" charset="0"/>
                        </a:rPr>
                        <a:t>2 431</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1 189</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dirty="0">
                          <a:effectLst/>
                          <a:latin typeface="Arial" panose="020B0604020202020204" pitchFamily="34" charset="0"/>
                        </a:rPr>
                        <a:t>5,7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dirty="0">
                          <a:effectLst/>
                          <a:latin typeface="Arial" panose="020B0604020202020204" pitchFamily="34" charset="0"/>
                        </a:rPr>
                        <a:t>3,0</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 xmlns:a16="http://schemas.microsoft.com/office/drawing/2014/main" val="277580623"/>
                  </a:ext>
                </a:extLst>
              </a:tr>
              <a:tr h="182370">
                <a:tc>
                  <a:txBody>
                    <a:bodyPr/>
                    <a:lstStyle/>
                    <a:p>
                      <a:pPr algn="l" fontAlgn="b"/>
                      <a:r>
                        <a:rPr lang="fr-FR" sz="1100" b="0" i="0" u="none" strike="noStrike">
                          <a:effectLst/>
                          <a:latin typeface="Arial" panose="020B0604020202020204" pitchFamily="34" charset="0"/>
                        </a:rPr>
                        <a:t>kl Moanza Zone de Santé</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139</a:t>
                      </a: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354</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2</a:t>
                      </a: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4,7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1 327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1 088</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6</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a:effectLst/>
                          <a:latin typeface="Arial" panose="020B0604020202020204" pitchFamily="34" charset="0"/>
                        </a:rPr>
                        <a:t>5</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a:effectLst/>
                          <a:latin typeface="Arial" panose="020B0604020202020204" pitchFamily="34" charset="0"/>
                        </a:rPr>
                        <a:t>1 466</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1 442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5,0</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a:effectLst/>
                          <a:latin typeface="Arial" panose="020B0604020202020204" pitchFamily="34" charset="0"/>
                        </a:rPr>
                        <a:t>5,2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 xmlns:a16="http://schemas.microsoft.com/office/drawing/2014/main" val="3006322144"/>
                  </a:ext>
                </a:extLst>
              </a:tr>
              <a:tr h="182370">
                <a:tc>
                  <a:txBody>
                    <a:bodyPr/>
                    <a:lstStyle/>
                    <a:p>
                      <a:pPr algn="l" fontAlgn="b"/>
                      <a:r>
                        <a:rPr lang="fr-FR" sz="1100" b="0" i="0" u="none" strike="noStrike">
                          <a:effectLst/>
                          <a:latin typeface="Arial" panose="020B0604020202020204" pitchFamily="34" charset="0"/>
                        </a:rPr>
                        <a:t>kl Mokala Zone de Santé</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FR"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0</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266</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0</a:t>
                      </a: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2,7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1 248</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535</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5</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a:effectLst/>
                          <a:latin typeface="Arial" panose="020B0604020202020204" pitchFamily="34" charset="0"/>
                        </a:rPr>
                        <a:t>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1 229</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dirty="0">
                          <a:effectLst/>
                          <a:latin typeface="Arial" panose="020B0604020202020204" pitchFamily="34" charset="0"/>
                        </a:rPr>
                        <a:t>801</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3,3</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dirty="0">
                          <a:effectLst/>
                          <a:latin typeface="Arial" panose="020B0604020202020204" pitchFamily="34" charset="0"/>
                        </a:rPr>
                        <a:t>2,2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 xmlns:a16="http://schemas.microsoft.com/office/drawing/2014/main" val="3250659377"/>
                  </a:ext>
                </a:extLst>
              </a:tr>
              <a:tr h="221050">
                <a:tc>
                  <a:txBody>
                    <a:bodyPr/>
                    <a:lstStyle/>
                    <a:p>
                      <a:pPr algn="l" fontAlgn="b"/>
                      <a:r>
                        <a:rPr lang="fr-FR" sz="1100" b="0" i="0" u="none" strike="noStrike">
                          <a:effectLst/>
                          <a:latin typeface="Arial" panose="020B0604020202020204" pitchFamily="34" charset="0"/>
                        </a:rPr>
                        <a:t>kl Mosango Zone de Santé</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FR"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0</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284</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CD" sz="1200" b="0" i="0" u="none" strike="noStrike" kern="0" cap="none" spc="0" normalizeH="0" baseline="0" noProof="0">
                          <a:ln>
                            <a:noFill/>
                          </a:ln>
                          <a:solidFill>
                            <a:srgbClr val="000000"/>
                          </a:solidFill>
                          <a:effectLst/>
                          <a:uLnTx/>
                          <a:uFillTx/>
                          <a:latin typeface="Arial" panose="020B0604020202020204" pitchFamily="34" charset="0"/>
                          <a:ea typeface="+mn-ea"/>
                          <a:cs typeface="+mn-cs"/>
                          <a:sym typeface="Arial" panose="020B0604020202020204"/>
                        </a:rPr>
                        <a:t>0</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5,0</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a:effectLst/>
                          <a:latin typeface="Arial" panose="020B0604020202020204" pitchFamily="34" charset="0"/>
                        </a:rPr>
                        <a:t>573</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802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4</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5</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a:effectLst/>
                          <a:latin typeface="Arial" panose="020B0604020202020204" pitchFamily="34" charset="0"/>
                        </a:rPr>
                        <a:t>301</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dirty="0">
                          <a:effectLst/>
                          <a:latin typeface="Arial" panose="020B0604020202020204" pitchFamily="34" charset="0"/>
                        </a:rPr>
                        <a:t>1 086</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1,4</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dirty="0">
                          <a:effectLst/>
                          <a:latin typeface="Arial" panose="020B0604020202020204" pitchFamily="34" charset="0"/>
                        </a:rPr>
                        <a:t>5,3</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 xmlns:a16="http://schemas.microsoft.com/office/drawing/2014/main" val="4105018431"/>
                  </a:ext>
                </a:extLst>
              </a:tr>
              <a:tr h="182370">
                <a:tc>
                  <a:txBody>
                    <a:bodyPr/>
                    <a:lstStyle/>
                    <a:p>
                      <a:pPr algn="l" fontAlgn="b"/>
                      <a:r>
                        <a:rPr lang="fr-FR" sz="1100" b="0" i="0" u="none" strike="noStrike">
                          <a:effectLst/>
                          <a:latin typeface="Arial" panose="020B0604020202020204" pitchFamily="34" charset="0"/>
                        </a:rPr>
                        <a:t>kl Mukedi Zone de Santé</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FR"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0</a:t>
                      </a:r>
                      <a:endPar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230</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0</a:t>
                      </a: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2,8</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2 569</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1 166</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11</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fr-CD" sz="1100" b="0" i="0" u="none" strike="noStrike">
                          <a:effectLst/>
                          <a:latin typeface="Arial" panose="020B0604020202020204" pitchFamily="34" charset="0"/>
                        </a:rPr>
                        <a:t>6</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a:effectLst/>
                          <a:latin typeface="Arial" panose="020B0604020202020204" pitchFamily="34" charset="0"/>
                        </a:rPr>
                        <a:t>2 451</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dirty="0">
                          <a:effectLst/>
                          <a:latin typeface="Arial" panose="020B0604020202020204" pitchFamily="34" charset="0"/>
                        </a:rPr>
                        <a:t>1 396</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dirty="0">
                          <a:effectLst/>
                          <a:latin typeface="Arial" panose="020B0604020202020204" pitchFamily="34" charset="0"/>
                        </a:rPr>
                        <a:t>8,0</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dirty="0">
                          <a:effectLst/>
                          <a:latin typeface="Arial" panose="020B0604020202020204" pitchFamily="34" charset="0"/>
                        </a:rPr>
                        <a:t>4,9</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 xmlns:a16="http://schemas.microsoft.com/office/drawing/2014/main" val="1177779512"/>
                  </a:ext>
                </a:extLst>
              </a:tr>
              <a:tr h="221050">
                <a:tc>
                  <a:txBody>
                    <a:bodyPr/>
                    <a:lstStyle/>
                    <a:p>
                      <a:pPr algn="l" fontAlgn="b"/>
                      <a:r>
                        <a:rPr lang="fr-FR" sz="1100" b="0" i="0" u="none" strike="noStrike">
                          <a:effectLst/>
                          <a:latin typeface="Arial" panose="020B0604020202020204" pitchFamily="34" charset="0"/>
                        </a:rPr>
                        <a:t>kl Mungindu Zone de Santé</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200" b="0" i="0" u="none" strike="noStrike" dirty="0">
                          <a:effectLst/>
                          <a:latin typeface="Arial" panose="020B0604020202020204" pitchFamily="34" charset="0"/>
                        </a:rPr>
                        <a:t>0</a:t>
                      </a:r>
                      <a:endParaRPr lang="fr-CD" sz="1200" b="0" i="0" u="none" strike="noStrike" dirty="0">
                        <a:effectLst/>
                        <a:latin typeface="Arial" panose="020B0604020202020204" pitchFamily="34" charset="0"/>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344</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0</a:t>
                      </a: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5,7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a:effectLst/>
                          <a:latin typeface="Arial" panose="020B0604020202020204" pitchFamily="34" charset="0"/>
                        </a:rPr>
                        <a:t>1 226</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516</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a:effectLst/>
                          <a:latin typeface="Arial" panose="020B0604020202020204" pitchFamily="34" charset="0"/>
                        </a:rPr>
                        <a:t>3</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961</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860</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dirty="0">
                          <a:effectLst/>
                          <a:latin typeface="Arial" panose="020B0604020202020204" pitchFamily="34" charset="0"/>
                        </a:rPr>
                        <a:t>4,3</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dirty="0">
                          <a:effectLst/>
                          <a:latin typeface="Arial" panose="020B0604020202020204" pitchFamily="34" charset="0"/>
                        </a:rPr>
                        <a:t>4,0</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 xmlns:a16="http://schemas.microsoft.com/office/drawing/2014/main" val="2856744508"/>
                  </a:ext>
                </a:extLst>
              </a:tr>
              <a:tr h="221050">
                <a:tc>
                  <a:txBody>
                    <a:bodyPr/>
                    <a:lstStyle/>
                    <a:p>
                      <a:pPr algn="l" fontAlgn="b"/>
                      <a:r>
                        <a:rPr lang="fr-FR" sz="1100" b="0" i="0" u="none" strike="noStrike">
                          <a:effectLst/>
                          <a:latin typeface="Arial" panose="020B0604020202020204" pitchFamily="34" charset="0"/>
                        </a:rPr>
                        <a:t>kl Pay Kongila Zone de Santé</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155</a:t>
                      </a: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300</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0</a:t>
                      </a: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4,6</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292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1 059</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6</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a:effectLst/>
                          <a:latin typeface="Arial" panose="020B0604020202020204" pitchFamily="34" charset="0"/>
                        </a:rPr>
                        <a:t>448</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1 359</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dirty="0">
                          <a:effectLst/>
                          <a:latin typeface="Arial" panose="020B0604020202020204" pitchFamily="34" charset="0"/>
                        </a:rPr>
                        <a:t>1,7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dirty="0">
                          <a:effectLst/>
                          <a:latin typeface="Arial" panose="020B0604020202020204" pitchFamily="34" charset="0"/>
                        </a:rPr>
                        <a:t>5,3</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 xmlns:a16="http://schemas.microsoft.com/office/drawing/2014/main" val="2879003658"/>
                  </a:ext>
                </a:extLst>
              </a:tr>
              <a:tr h="221050">
                <a:tc>
                  <a:txBody>
                    <a:bodyPr/>
                    <a:lstStyle/>
                    <a:p>
                      <a:pPr algn="l" fontAlgn="b"/>
                      <a:r>
                        <a:rPr lang="fr-FR" sz="1100" b="0" i="0" u="none" strike="noStrike">
                          <a:effectLst/>
                          <a:latin typeface="Arial" panose="020B0604020202020204" pitchFamily="34" charset="0"/>
                        </a:rPr>
                        <a:t>kl Yasa Bonga Zone de Santé</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200" b="0" i="0" u="none" strike="noStrike" dirty="0">
                          <a:effectLst/>
                          <a:latin typeface="Arial" panose="020B0604020202020204" pitchFamily="34" charset="0"/>
                        </a:rPr>
                        <a:t>0</a:t>
                      </a:r>
                      <a:endParaRPr lang="fr-CD" sz="1200" b="0" i="0" u="none" strike="noStrike" dirty="0">
                        <a:effectLst/>
                        <a:latin typeface="Arial" panose="020B0604020202020204" pitchFamily="34" charset="0"/>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332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0</a:t>
                      </a: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3,2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328</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1 293</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4</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140</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1 625</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dirty="0">
                          <a:effectLst/>
                          <a:latin typeface="Arial" panose="020B0604020202020204" pitchFamily="34" charset="0"/>
                        </a:rPr>
                        <a:t>0,4</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dirty="0">
                          <a:effectLst/>
                          <a:latin typeface="Arial" panose="020B0604020202020204" pitchFamily="34" charset="0"/>
                        </a:rPr>
                        <a:t>4,2</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 xmlns:a16="http://schemas.microsoft.com/office/drawing/2014/main" val="507338561"/>
                  </a:ext>
                </a:extLst>
              </a:tr>
              <a:tr h="182370">
                <a:tc>
                  <a:txBody>
                    <a:bodyPr/>
                    <a:lstStyle/>
                    <a:p>
                      <a:pPr algn="l" fontAlgn="b"/>
                      <a:r>
                        <a:rPr lang="fr-CD" sz="1100" b="0" i="0" u="none" strike="noStrike">
                          <a:effectLst/>
                          <a:latin typeface="Arial" panose="020B0604020202020204" pitchFamily="34" charset="0"/>
                        </a:rPr>
                        <a:t>Antenne PEV Kikwit</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b"/>
                      <a:r>
                        <a:rPr lang="fr-FR" sz="1200" b="0" i="0" u="none" strike="noStrike" dirty="0">
                          <a:effectLst/>
                          <a:latin typeface="Arial" panose="020B0604020202020204" pitchFamily="34" charset="0"/>
                        </a:rPr>
                        <a:t>294</a:t>
                      </a:r>
                      <a:endParaRPr lang="fr-CD" sz="1200" b="0" i="0" u="none" strike="noStrike" dirty="0">
                        <a:effectLst/>
                        <a:latin typeface="Arial" panose="020B0604020202020204" pitchFamily="34" charset="0"/>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8 355</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0,2</a:t>
                      </a: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4,8</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40 764</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17 024</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9</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a:effectLst/>
                          <a:latin typeface="Arial" panose="020B0604020202020204" pitchFamily="34" charset="0"/>
                        </a:rPr>
                        <a:t>4</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100" b="0" i="0" u="none" strike="noStrike">
                          <a:effectLst/>
                          <a:latin typeface="Arial" panose="020B0604020202020204" pitchFamily="34" charset="0"/>
                        </a:rPr>
                        <a:t>32 497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a:effectLst/>
                          <a:latin typeface="Arial" panose="020B0604020202020204" pitchFamily="34" charset="0"/>
                        </a:rPr>
                        <a:t>25 379</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100" b="0" i="0" u="none" strike="noStrike" dirty="0">
                          <a:effectLst/>
                          <a:latin typeface="Arial" panose="020B0604020202020204" pitchFamily="34" charset="0"/>
                        </a:rPr>
                        <a:t>5,0</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CD" sz="1100" b="0" i="0" u="none" strike="noStrike" dirty="0">
                          <a:effectLst/>
                          <a:latin typeface="Arial" panose="020B0604020202020204" pitchFamily="34" charset="0"/>
                        </a:rPr>
                        <a:t>4,1</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 xmlns:a16="http://schemas.microsoft.com/office/drawing/2014/main" val="1169670570"/>
                  </a:ext>
                </a:extLst>
              </a:tr>
              <a:tr h="182370">
                <a:tc>
                  <a:txBody>
                    <a:bodyPr/>
                    <a:lstStyle/>
                    <a:p>
                      <a:pPr algn="l" fontAlgn="b"/>
                      <a:r>
                        <a:rPr lang="fr-CD" sz="1050" b="0" i="0" u="none" strike="noStrike">
                          <a:effectLst/>
                          <a:latin typeface="Arial" panose="020B0604020202020204" pitchFamily="34" charset="0"/>
                        </a:rPr>
                        <a:t>kl Kwilu Province</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b"/>
                      <a:r>
                        <a:rPr lang="fr-FR" sz="1200" b="0" i="0" u="none" strike="noStrike" dirty="0">
                          <a:effectLst/>
                          <a:latin typeface="Arial" panose="020B0604020202020204" pitchFamily="34" charset="0"/>
                        </a:rPr>
                        <a:t>297</a:t>
                      </a:r>
                      <a:endParaRPr lang="fr-CD" sz="1200" b="0" i="0" u="none" strike="noStrike" dirty="0">
                        <a:effectLst/>
                        <a:latin typeface="Arial" panose="020B0604020202020204" pitchFamily="34" charset="0"/>
                      </a:endParaRP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050" b="0" i="0" u="none" strike="noStrike">
                          <a:effectLst/>
                          <a:latin typeface="Arial" panose="020B0604020202020204" pitchFamily="34" charset="0"/>
                        </a:rPr>
                        <a:t>10 197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panose="020B0604020202020204"/>
                        <a:buNone/>
                        <a:tabLst/>
                        <a:defRPr/>
                      </a:pPr>
                      <a:r>
                        <a:rPr kumimoji="0" lang="fr-CD" sz="1200" b="0" i="0" u="none" strike="noStrike" kern="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a:rPr>
                        <a:t>0,1</a:t>
                      </a:r>
                    </a:p>
                  </a:txBody>
                  <a:tcPr marL="7013" marR="7013" marT="70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050" b="0" i="0" u="none" strike="noStrike">
                          <a:effectLst/>
                          <a:latin typeface="Arial" panose="020B0604020202020204" pitchFamily="34" charset="0"/>
                        </a:rPr>
                        <a:t>4,4</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050" b="0" i="0" u="none" strike="noStrike">
                          <a:effectLst/>
                          <a:latin typeface="Arial" panose="020B0604020202020204" pitchFamily="34" charset="0"/>
                        </a:rPr>
                        <a:t>48 379</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b"/>
                      <a:r>
                        <a:rPr lang="fr-CD" sz="1050" b="0" i="0" u="none" strike="noStrike">
                          <a:effectLst/>
                          <a:latin typeface="Arial" panose="020B0604020202020204" pitchFamily="34" charset="0"/>
                        </a:rPr>
                        <a:t>21 600</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050" b="0" i="0" u="none" strike="noStrike">
                          <a:effectLst/>
                          <a:latin typeface="Arial" panose="020B0604020202020204" pitchFamily="34" charset="0"/>
                        </a:rPr>
                        <a:t>14</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fr-CD" sz="1050" b="0" i="0" u="none" strike="noStrike">
                          <a:effectLst/>
                          <a:latin typeface="Arial" panose="020B0604020202020204" pitchFamily="34" charset="0"/>
                        </a:rPr>
                        <a:t>4</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050" b="0" i="0" u="none" strike="noStrike">
                          <a:effectLst/>
                          <a:latin typeface="Arial" panose="020B0604020202020204" pitchFamily="34" charset="0"/>
                        </a:rPr>
                        <a:t>38 300</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050" b="0" i="0" u="none" strike="noStrike">
                          <a:effectLst/>
                          <a:latin typeface="Arial" panose="020B0604020202020204" pitchFamily="34" charset="0"/>
                        </a:rPr>
                        <a:t>31 797</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050" b="0" i="0" u="none" strike="noStrike" dirty="0">
                          <a:effectLst/>
                          <a:latin typeface="Arial" panose="020B0604020202020204" pitchFamily="34" charset="0"/>
                        </a:rPr>
                        <a:t>4,5</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CD" sz="1050" b="0" i="0" u="none" strike="noStrike" dirty="0">
                          <a:effectLst/>
                          <a:latin typeface="Arial" panose="020B0604020202020204" pitchFamily="34" charset="0"/>
                        </a:rPr>
                        <a:t>3,9</a:t>
                      </a:r>
                    </a:p>
                  </a:txBody>
                  <a:tcPr marL="6975" marR="6975" marT="697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 xmlns:a16="http://schemas.microsoft.com/office/drawing/2014/main" val="2621481880"/>
                  </a:ext>
                </a:extLst>
              </a:tr>
            </a:tbl>
          </a:graphicData>
        </a:graphic>
      </p:graphicFrame>
      <p:sp>
        <p:nvSpPr>
          <p:cNvPr id="5" name="Titre 1">
            <a:extLst>
              <a:ext uri="{FF2B5EF4-FFF2-40B4-BE49-F238E27FC236}">
                <a16:creationId xmlns="" xmlns:a16="http://schemas.microsoft.com/office/drawing/2014/main" id="{8F43E99E-314F-45A2-ACC0-172D677998C8}"/>
              </a:ext>
            </a:extLst>
          </p:cNvPr>
          <p:cNvSpPr>
            <a:spLocks noGrp="1"/>
          </p:cNvSpPr>
          <p:nvPr>
            <p:ph type="title"/>
          </p:nvPr>
        </p:nvSpPr>
        <p:spPr>
          <a:xfrm>
            <a:off x="250825" y="142875"/>
            <a:ext cx="11360150" cy="396875"/>
          </a:xfrm>
          <a:solidFill>
            <a:schemeClr val="accent5">
              <a:lumMod val="20000"/>
              <a:lumOff val="80000"/>
            </a:schemeClr>
          </a:solidFill>
        </p:spPr>
        <p:txBody>
          <a:bodyPr>
            <a:noAutofit/>
          </a:bodyPr>
          <a:lstStyle/>
          <a:p>
            <a:pPr algn="ctr"/>
            <a:r>
              <a:rPr lang="fr-FR" sz="2000" dirty="0"/>
              <a:t>III.6. Situation d’enfants zéro dose et sous vaccinés de 12 à 59 mois en octobre 2025 (DHIS2)</a:t>
            </a:r>
            <a:endParaRPr lang="fr-CD" sz="2000" dirty="0"/>
          </a:p>
        </p:txBody>
      </p:sp>
      <p:pic>
        <p:nvPicPr>
          <p:cNvPr id="6" name="Image 5">
            <a:extLst>
              <a:ext uri="{FF2B5EF4-FFF2-40B4-BE49-F238E27FC236}">
                <a16:creationId xmlns="" xmlns:a16="http://schemas.microsoft.com/office/drawing/2014/main" id="{4B231417-3D10-45AC-A67D-B43CA65AA2F2}"/>
              </a:ext>
            </a:extLst>
          </p:cNvPr>
          <p:cNvPicPr>
            <a:picLocks noChangeAspect="1"/>
          </p:cNvPicPr>
          <p:nvPr/>
        </p:nvPicPr>
        <p:blipFill>
          <a:blip r:embed="rId2"/>
          <a:stretch>
            <a:fillRect/>
          </a:stretch>
        </p:blipFill>
        <p:spPr>
          <a:xfrm>
            <a:off x="3424499" y="6597344"/>
            <a:ext cx="5852667" cy="256054"/>
          </a:xfrm>
          <a:prstGeom prst="rect">
            <a:avLst/>
          </a:prstGeom>
        </p:spPr>
      </p:pic>
      <p:sp>
        <p:nvSpPr>
          <p:cNvPr id="2" name="Espace réservé du numéro de diapositive 1">
            <a:extLst>
              <a:ext uri="{FF2B5EF4-FFF2-40B4-BE49-F238E27FC236}">
                <a16:creationId xmlns="" xmlns:a16="http://schemas.microsoft.com/office/drawing/2014/main" id="{A24E28EB-6D46-4B7F-8990-25A9E2F6A7B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extLst>
      <p:ext uri="{BB962C8B-B14F-4D97-AF65-F5344CB8AC3E}">
        <p14:creationId xmlns:p14="http://schemas.microsoft.com/office/powerpoint/2010/main" val="38187270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937FF68F-3BB8-430D-88BA-410EC77E10B4}"/>
              </a:ext>
            </a:extLst>
          </p:cNvPr>
          <p:cNvSpPr>
            <a:spLocks noGrp="1"/>
          </p:cNvSpPr>
          <p:nvPr>
            <p:ph type="title"/>
          </p:nvPr>
        </p:nvSpPr>
        <p:spPr>
          <a:xfrm>
            <a:off x="193927" y="191585"/>
            <a:ext cx="11360700" cy="474621"/>
          </a:xfrm>
          <a:solidFill>
            <a:schemeClr val="accent5">
              <a:lumMod val="20000"/>
              <a:lumOff val="80000"/>
            </a:schemeClr>
          </a:solidFill>
        </p:spPr>
        <p:txBody>
          <a:bodyPr>
            <a:noAutofit/>
          </a:bodyPr>
          <a:lstStyle/>
          <a:p>
            <a:pPr algn="ctr"/>
            <a:r>
              <a:rPr lang="fr-FR" sz="1800" dirty="0"/>
              <a:t>III.7.Récupération des enfants en conflit avec leur calendrier vaccinal de janvier à octobre 2025 (DHIS2)</a:t>
            </a:r>
            <a:endParaRPr lang="fr-CD" sz="1800" dirty="0"/>
          </a:p>
        </p:txBody>
      </p:sp>
      <p:sp>
        <p:nvSpPr>
          <p:cNvPr id="3" name="Espace réservé du texte 2">
            <a:extLst>
              <a:ext uri="{FF2B5EF4-FFF2-40B4-BE49-F238E27FC236}">
                <a16:creationId xmlns="" xmlns:a16="http://schemas.microsoft.com/office/drawing/2014/main" id="{09E64AB4-5013-4B50-B387-1D33C9F55879}"/>
              </a:ext>
            </a:extLst>
          </p:cNvPr>
          <p:cNvSpPr>
            <a:spLocks noGrp="1"/>
          </p:cNvSpPr>
          <p:nvPr>
            <p:ph type="body" idx="1"/>
          </p:nvPr>
        </p:nvSpPr>
        <p:spPr>
          <a:xfrm>
            <a:off x="193927" y="862150"/>
            <a:ext cx="11582373" cy="5229684"/>
          </a:xfrm>
        </p:spPr>
        <p:txBody>
          <a:bodyPr/>
          <a:lstStyle/>
          <a:p>
            <a:pPr marL="76200" indent="0">
              <a:buNone/>
            </a:pPr>
            <a:r>
              <a:rPr lang="fr-CD" dirty="0"/>
              <a:t>.</a:t>
            </a:r>
          </a:p>
        </p:txBody>
      </p:sp>
      <p:graphicFrame>
        <p:nvGraphicFramePr>
          <p:cNvPr id="4" name="Tableau 3">
            <a:extLst>
              <a:ext uri="{FF2B5EF4-FFF2-40B4-BE49-F238E27FC236}">
                <a16:creationId xmlns="" xmlns:a16="http://schemas.microsoft.com/office/drawing/2014/main" id="{9472582A-F96A-4001-819D-A6631C31624B}"/>
              </a:ext>
            </a:extLst>
          </p:cNvPr>
          <p:cNvGraphicFramePr>
            <a:graphicFrameLocks noGrp="1"/>
          </p:cNvGraphicFramePr>
          <p:nvPr>
            <p:extLst>
              <p:ext uri="{D42A27DB-BD31-4B8C-83A1-F6EECF244321}">
                <p14:modId xmlns:p14="http://schemas.microsoft.com/office/powerpoint/2010/main" val="924493992"/>
              </p:ext>
            </p:extLst>
          </p:nvPr>
        </p:nvGraphicFramePr>
        <p:xfrm>
          <a:off x="564778" y="795219"/>
          <a:ext cx="10690408" cy="5744625"/>
        </p:xfrm>
        <a:graphic>
          <a:graphicData uri="http://schemas.openxmlformats.org/drawingml/2006/table">
            <a:tbl>
              <a:tblPr/>
              <a:tblGrid>
                <a:gridCol w="2262934">
                  <a:extLst>
                    <a:ext uri="{9D8B030D-6E8A-4147-A177-3AD203B41FA5}">
                      <a16:colId xmlns="" xmlns:a16="http://schemas.microsoft.com/office/drawing/2014/main" val="323005335"/>
                    </a:ext>
                  </a:extLst>
                </a:gridCol>
                <a:gridCol w="936386">
                  <a:extLst>
                    <a:ext uri="{9D8B030D-6E8A-4147-A177-3AD203B41FA5}">
                      <a16:colId xmlns="" xmlns:a16="http://schemas.microsoft.com/office/drawing/2014/main" val="1557486857"/>
                    </a:ext>
                  </a:extLst>
                </a:gridCol>
                <a:gridCol w="936386">
                  <a:extLst>
                    <a:ext uri="{9D8B030D-6E8A-4147-A177-3AD203B41FA5}">
                      <a16:colId xmlns="" xmlns:a16="http://schemas.microsoft.com/office/drawing/2014/main" val="2345286737"/>
                    </a:ext>
                  </a:extLst>
                </a:gridCol>
                <a:gridCol w="936386">
                  <a:extLst>
                    <a:ext uri="{9D8B030D-6E8A-4147-A177-3AD203B41FA5}">
                      <a16:colId xmlns="" xmlns:a16="http://schemas.microsoft.com/office/drawing/2014/main" val="3543172842"/>
                    </a:ext>
                  </a:extLst>
                </a:gridCol>
                <a:gridCol w="936386">
                  <a:extLst>
                    <a:ext uri="{9D8B030D-6E8A-4147-A177-3AD203B41FA5}">
                      <a16:colId xmlns="" xmlns:a16="http://schemas.microsoft.com/office/drawing/2014/main" val="1145580891"/>
                    </a:ext>
                  </a:extLst>
                </a:gridCol>
                <a:gridCol w="936386">
                  <a:extLst>
                    <a:ext uri="{9D8B030D-6E8A-4147-A177-3AD203B41FA5}">
                      <a16:colId xmlns="" xmlns:a16="http://schemas.microsoft.com/office/drawing/2014/main" val="4230583059"/>
                    </a:ext>
                  </a:extLst>
                </a:gridCol>
                <a:gridCol w="936386">
                  <a:extLst>
                    <a:ext uri="{9D8B030D-6E8A-4147-A177-3AD203B41FA5}">
                      <a16:colId xmlns="" xmlns:a16="http://schemas.microsoft.com/office/drawing/2014/main" val="2804291123"/>
                    </a:ext>
                  </a:extLst>
                </a:gridCol>
                <a:gridCol w="936386">
                  <a:extLst>
                    <a:ext uri="{9D8B030D-6E8A-4147-A177-3AD203B41FA5}">
                      <a16:colId xmlns="" xmlns:a16="http://schemas.microsoft.com/office/drawing/2014/main" val="2956838066"/>
                    </a:ext>
                  </a:extLst>
                </a:gridCol>
                <a:gridCol w="936386">
                  <a:extLst>
                    <a:ext uri="{9D8B030D-6E8A-4147-A177-3AD203B41FA5}">
                      <a16:colId xmlns="" xmlns:a16="http://schemas.microsoft.com/office/drawing/2014/main" val="2176318046"/>
                    </a:ext>
                  </a:extLst>
                </a:gridCol>
                <a:gridCol w="936386">
                  <a:extLst>
                    <a:ext uri="{9D8B030D-6E8A-4147-A177-3AD203B41FA5}">
                      <a16:colId xmlns="" xmlns:a16="http://schemas.microsoft.com/office/drawing/2014/main" val="2510634344"/>
                    </a:ext>
                  </a:extLst>
                </a:gridCol>
              </a:tblGrid>
              <a:tr h="760077">
                <a:tc>
                  <a:txBody>
                    <a:bodyPr/>
                    <a:lstStyle/>
                    <a:p>
                      <a:pPr algn="l" fontAlgn="b"/>
                      <a:r>
                        <a:rPr lang="fr-CD" sz="1100" b="1" i="0" u="none" strike="noStrike" dirty="0" err="1">
                          <a:effectLst/>
                          <a:latin typeface="Arial" panose="020B0604020202020204" pitchFamily="34" charset="0"/>
                        </a:rPr>
                        <a:t>organisationunitname</a:t>
                      </a:r>
                      <a:endParaRPr lang="fr-CD" sz="1100" b="1" i="0" u="none" strike="noStrike" dirty="0">
                        <a:effectLst/>
                        <a:latin typeface="Arial" panose="020B0604020202020204" pitchFamily="34" charset="0"/>
                      </a:endParaRP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1100" b="1" i="0" u="none" strike="noStrike" dirty="0">
                          <a:effectLst/>
                          <a:latin typeface="Arial" panose="020B0604020202020204" pitchFamily="34" charset="0"/>
                        </a:rPr>
                        <a:t> Enfants récupérés par les CAC-BCG</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1050" b="1" i="0" u="none" strike="noStrike" dirty="0">
                          <a:effectLst/>
                          <a:latin typeface="Arial" panose="020B0604020202020204" pitchFamily="34" charset="0"/>
                        </a:rPr>
                        <a:t> Enfants récupérés par les CAC-DTC-HepB-Hib 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1050" b="1" i="0" u="none" strike="noStrike">
                          <a:effectLst/>
                          <a:latin typeface="Arial" panose="020B0604020202020204" pitchFamily="34" charset="0"/>
                        </a:rPr>
                        <a:t> Enfants récupérés par les CAC-DTC-HepB-Hib 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1050" b="1" i="0" u="none" strike="noStrike">
                          <a:effectLst/>
                          <a:latin typeface="Arial" panose="020B0604020202020204" pitchFamily="34" charset="0"/>
                        </a:rPr>
                        <a:t> Enfants récupérés par les CAC-VAP 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1050" b="1" i="0" u="none" strike="noStrike">
                          <a:effectLst/>
                          <a:latin typeface="Arial" panose="020B0604020202020204" pitchFamily="34" charset="0"/>
                        </a:rPr>
                        <a:t> Enfants récupérés par les CAC-VAP 2</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1050" b="1" i="0" u="none" strike="noStrike">
                          <a:effectLst/>
                          <a:latin typeface="Arial" panose="020B0604020202020204" pitchFamily="34" charset="0"/>
                        </a:rPr>
                        <a:t> Enfants récupérés par les CAC-VAP 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1050" b="1" i="0" u="none" strike="noStrike">
                          <a:effectLst/>
                          <a:latin typeface="Arial" panose="020B0604020202020204" pitchFamily="34" charset="0"/>
                        </a:rPr>
                        <a:t> Enfants récupérés par les CAC-VAP 4</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1050" b="1" i="0" u="none" strike="noStrike">
                          <a:effectLst/>
                          <a:latin typeface="Arial" panose="020B0604020202020204" pitchFamily="34" charset="0"/>
                        </a:rPr>
                        <a:t> Enfants récupérés par les CAC-VAR1/RR1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1050" b="1" i="0" u="none" strike="noStrike">
                          <a:effectLst/>
                          <a:latin typeface="Arial" panose="020B0604020202020204" pitchFamily="34" charset="0"/>
                        </a:rPr>
                        <a:t> Enfants récupérés par les CAC-VAR2/RR2</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557505218"/>
                  </a:ext>
                </a:extLst>
              </a:tr>
              <a:tr h="164227">
                <a:tc>
                  <a:txBody>
                    <a:bodyPr/>
                    <a:lstStyle/>
                    <a:p>
                      <a:pPr algn="l" fontAlgn="b"/>
                      <a:r>
                        <a:rPr lang="fr-FR" sz="1100" b="0" i="0" u="none" strike="noStrike">
                          <a:effectLst/>
                          <a:latin typeface="Arial" panose="020B0604020202020204" pitchFamily="34" charset="0"/>
                        </a:rPr>
                        <a:t>kl Bagata Zone de Santé</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371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321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323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253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225</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154</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 </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296</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301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662877300"/>
                  </a:ext>
                </a:extLst>
              </a:tr>
              <a:tr h="207624">
                <a:tc>
                  <a:txBody>
                    <a:bodyPr/>
                    <a:lstStyle/>
                    <a:p>
                      <a:pPr algn="l" fontAlgn="b"/>
                      <a:r>
                        <a:rPr lang="fr-FR" sz="1100" b="0" i="0" u="none" strike="noStrike">
                          <a:effectLst/>
                          <a:latin typeface="Arial" panose="020B0604020202020204" pitchFamily="34" charset="0"/>
                        </a:rPr>
                        <a:t>kl Bandundu Zone de Santé</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1 072</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1 005</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848</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969</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358</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300</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73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842</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2 138</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400335370"/>
                  </a:ext>
                </a:extLst>
              </a:tr>
              <a:tr h="164227">
                <a:tc>
                  <a:txBody>
                    <a:bodyPr/>
                    <a:lstStyle/>
                    <a:p>
                      <a:pPr algn="l" fontAlgn="b"/>
                      <a:r>
                        <a:rPr lang="fr-FR" sz="1100" b="0" i="0" u="none" strike="noStrike">
                          <a:effectLst/>
                          <a:latin typeface="Arial" panose="020B0604020202020204" pitchFamily="34" charset="0"/>
                        </a:rPr>
                        <a:t>kl Bulungu Zone de Santé</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1 125</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823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731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143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39</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63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15</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633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725</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935277548"/>
                  </a:ext>
                </a:extLst>
              </a:tr>
              <a:tr h="164227">
                <a:tc>
                  <a:txBody>
                    <a:bodyPr/>
                    <a:lstStyle/>
                    <a:p>
                      <a:pPr algn="l" fontAlgn="b"/>
                      <a:r>
                        <a:rPr lang="fr-FR" sz="1100" b="0" i="0" u="none" strike="noStrike">
                          <a:effectLst/>
                          <a:latin typeface="Arial" panose="020B0604020202020204" pitchFamily="34" charset="0"/>
                        </a:rPr>
                        <a:t>kl Djuma Zone de Santé</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1 027</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303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318</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625</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579</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1 574</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4</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389</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845</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4257187719"/>
                  </a:ext>
                </a:extLst>
              </a:tr>
              <a:tr h="164227">
                <a:tc>
                  <a:txBody>
                    <a:bodyPr/>
                    <a:lstStyle/>
                    <a:p>
                      <a:pPr algn="l" fontAlgn="b"/>
                      <a:r>
                        <a:rPr lang="fr-FR" sz="1100" b="0" i="0" u="none" strike="noStrike">
                          <a:effectLst/>
                          <a:latin typeface="Arial" panose="020B0604020202020204" pitchFamily="34" charset="0"/>
                        </a:rPr>
                        <a:t>kl Gungu Zone de Santé</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1 841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1 513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1 140</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1 204</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665</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475</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157</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801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1 130</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909047072"/>
                  </a:ext>
                </a:extLst>
              </a:tr>
              <a:tr h="164227">
                <a:tc>
                  <a:txBody>
                    <a:bodyPr/>
                    <a:lstStyle/>
                    <a:p>
                      <a:pPr algn="l" fontAlgn="b"/>
                      <a:r>
                        <a:rPr lang="fr-FR" sz="1100" b="0" i="0" u="none" strike="noStrike">
                          <a:effectLst/>
                          <a:latin typeface="Arial" panose="020B0604020202020204" pitchFamily="34" charset="0"/>
                        </a:rPr>
                        <a:t>kl Idiofa Zone de Santé</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1 621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1 033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1 298</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141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44</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 </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11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218</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292</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4110022051"/>
                  </a:ext>
                </a:extLst>
              </a:tr>
              <a:tr h="164227">
                <a:tc>
                  <a:txBody>
                    <a:bodyPr/>
                    <a:lstStyle/>
                    <a:p>
                      <a:pPr algn="l" fontAlgn="b"/>
                      <a:r>
                        <a:rPr lang="fr-FR" sz="1100" b="0" i="0" u="none" strike="noStrike">
                          <a:effectLst/>
                          <a:latin typeface="Arial" panose="020B0604020202020204" pitchFamily="34" charset="0"/>
                        </a:rPr>
                        <a:t>kl Ipamu Zone de Santé</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7 576</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895</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1 220</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1 193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1 373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1 037</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177</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520</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1 454</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356330031"/>
                  </a:ext>
                </a:extLst>
              </a:tr>
              <a:tr h="164227">
                <a:tc>
                  <a:txBody>
                    <a:bodyPr/>
                    <a:lstStyle/>
                    <a:p>
                      <a:pPr algn="l" fontAlgn="b"/>
                      <a:r>
                        <a:rPr lang="fr-FR" sz="1100" b="0" i="0" u="none" strike="noStrike">
                          <a:effectLst/>
                          <a:latin typeface="Arial" panose="020B0604020202020204" pitchFamily="34" charset="0"/>
                        </a:rPr>
                        <a:t>kl Kikongo Zone de Santé</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983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891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809</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311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384</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301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 </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653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602</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325669894"/>
                  </a:ext>
                </a:extLst>
              </a:tr>
              <a:tr h="207624">
                <a:tc>
                  <a:txBody>
                    <a:bodyPr/>
                    <a:lstStyle/>
                    <a:p>
                      <a:pPr algn="l" fontAlgn="b"/>
                      <a:r>
                        <a:rPr lang="fr-FR" sz="1100" b="0" i="0" u="none" strike="noStrike">
                          <a:effectLst/>
                          <a:latin typeface="Arial" panose="020B0604020202020204" pitchFamily="34" charset="0"/>
                        </a:rPr>
                        <a:t>kl Kikwit Nord Zone de Santé</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2 680</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769</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1 023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1 400</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764</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425</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 </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810</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1 081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151647201"/>
                  </a:ext>
                </a:extLst>
              </a:tr>
              <a:tr h="207624">
                <a:tc>
                  <a:txBody>
                    <a:bodyPr/>
                    <a:lstStyle/>
                    <a:p>
                      <a:pPr algn="l" fontAlgn="b"/>
                      <a:r>
                        <a:rPr lang="fr-FR" sz="1100" b="0" i="0" u="none" strike="noStrike">
                          <a:effectLst/>
                          <a:latin typeface="Arial" panose="020B0604020202020204" pitchFamily="34" charset="0"/>
                        </a:rPr>
                        <a:t>kl Kikwit Sud Zone de Santé</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615</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447</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603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298</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130</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195</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11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569</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878</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666111948"/>
                  </a:ext>
                </a:extLst>
              </a:tr>
              <a:tr h="164227">
                <a:tc>
                  <a:txBody>
                    <a:bodyPr/>
                    <a:lstStyle/>
                    <a:p>
                      <a:pPr algn="l" fontAlgn="b"/>
                      <a:r>
                        <a:rPr lang="fr-FR" sz="1100" b="0" i="0" u="none" strike="noStrike">
                          <a:effectLst/>
                          <a:latin typeface="Arial" panose="020B0604020202020204" pitchFamily="34" charset="0"/>
                        </a:rPr>
                        <a:t>kl Kimputu Zone de Santé</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1 146</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468</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454</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113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8</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 </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 </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411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456</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574957876"/>
                  </a:ext>
                </a:extLst>
              </a:tr>
              <a:tr h="207624">
                <a:tc>
                  <a:txBody>
                    <a:bodyPr/>
                    <a:lstStyle/>
                    <a:p>
                      <a:pPr algn="l" fontAlgn="b"/>
                      <a:r>
                        <a:rPr lang="fr-FR" sz="1100" b="0" i="0" u="none" strike="noStrike">
                          <a:effectLst/>
                          <a:latin typeface="Arial" panose="020B0604020202020204" pitchFamily="34" charset="0"/>
                        </a:rPr>
                        <a:t>kl Kingandu Zone de Santé</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73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18</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39</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5</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 </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 </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24</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89</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916325694"/>
                  </a:ext>
                </a:extLst>
              </a:tr>
              <a:tr h="207624">
                <a:tc>
                  <a:txBody>
                    <a:bodyPr/>
                    <a:lstStyle/>
                    <a:p>
                      <a:pPr algn="l" fontAlgn="b"/>
                      <a:r>
                        <a:rPr lang="fr-FR" sz="1100" b="0" i="0" u="none" strike="noStrike">
                          <a:effectLst/>
                          <a:latin typeface="Arial" panose="020B0604020202020204" pitchFamily="34" charset="0"/>
                        </a:rPr>
                        <a:t>kl Koshibanda Zone de Santé</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3 123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1 075</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1 317</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325</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228</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18</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 </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1 397</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1 647</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64050809"/>
                  </a:ext>
                </a:extLst>
              </a:tr>
              <a:tr h="207624">
                <a:tc>
                  <a:txBody>
                    <a:bodyPr/>
                    <a:lstStyle/>
                    <a:p>
                      <a:pPr algn="l" fontAlgn="b"/>
                      <a:r>
                        <a:rPr lang="fr-FR" sz="1100" b="0" i="0" u="none" strike="noStrike">
                          <a:effectLst/>
                          <a:latin typeface="Arial" panose="020B0604020202020204" pitchFamily="34" charset="0"/>
                        </a:rPr>
                        <a:t>kl Lusanga Zone de Santé</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3 712</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769</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1 842</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925</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1 088</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410</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82</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852</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1 199</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034679124"/>
                  </a:ext>
                </a:extLst>
              </a:tr>
              <a:tr h="254496">
                <a:tc>
                  <a:txBody>
                    <a:bodyPr/>
                    <a:lstStyle/>
                    <a:p>
                      <a:pPr algn="l" fontAlgn="b"/>
                      <a:r>
                        <a:rPr lang="fr-CD" sz="1100" b="0" i="0" u="none" strike="noStrike" dirty="0">
                          <a:effectLst/>
                          <a:latin typeface="Arial" panose="020B0604020202020204" pitchFamily="34" charset="0"/>
                        </a:rPr>
                        <a:t>kl Masi Manimba Zone de Santé</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2 608</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1 053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2 236</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4 177</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3 782</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3 044</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2 127</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2 385</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3 095</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185002461"/>
                  </a:ext>
                </a:extLst>
              </a:tr>
              <a:tr h="164227">
                <a:tc>
                  <a:txBody>
                    <a:bodyPr/>
                    <a:lstStyle/>
                    <a:p>
                      <a:pPr algn="l" fontAlgn="b"/>
                      <a:r>
                        <a:rPr lang="fr-FR" sz="1100" b="0" i="0" u="none" strike="noStrike">
                          <a:effectLst/>
                          <a:latin typeface="Arial" panose="020B0604020202020204" pitchFamily="34" charset="0"/>
                        </a:rPr>
                        <a:t>kl Moanza Zone de Santé</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289</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496</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258</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86</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40</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33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 </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297</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266</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301730461"/>
                  </a:ext>
                </a:extLst>
              </a:tr>
              <a:tr h="164227">
                <a:tc>
                  <a:txBody>
                    <a:bodyPr/>
                    <a:lstStyle/>
                    <a:p>
                      <a:pPr algn="l" fontAlgn="b"/>
                      <a:r>
                        <a:rPr lang="fr-FR" sz="1100" b="0" i="0" u="none" strike="noStrike">
                          <a:effectLst/>
                          <a:latin typeface="Arial" panose="020B0604020202020204" pitchFamily="34" charset="0"/>
                        </a:rPr>
                        <a:t>kl Mokala Zone de Santé</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1 499</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400</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432</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130</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114</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75</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394</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309</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131605829"/>
                  </a:ext>
                </a:extLst>
              </a:tr>
              <a:tr h="207624">
                <a:tc>
                  <a:txBody>
                    <a:bodyPr/>
                    <a:lstStyle/>
                    <a:p>
                      <a:pPr algn="l" fontAlgn="b"/>
                      <a:r>
                        <a:rPr lang="fr-FR" sz="1100" b="0" i="0" u="none" strike="noStrike">
                          <a:effectLst/>
                          <a:latin typeface="Arial" panose="020B0604020202020204" pitchFamily="34" charset="0"/>
                        </a:rPr>
                        <a:t>kl Mosango Zone de Santé</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108</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368</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341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236</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81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72</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10</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323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384</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482592658"/>
                  </a:ext>
                </a:extLst>
              </a:tr>
              <a:tr h="164227">
                <a:tc>
                  <a:txBody>
                    <a:bodyPr/>
                    <a:lstStyle/>
                    <a:p>
                      <a:pPr algn="l" fontAlgn="b"/>
                      <a:r>
                        <a:rPr lang="fr-FR" sz="1100" b="0" i="0" u="none" strike="noStrike">
                          <a:effectLst/>
                          <a:latin typeface="Arial" panose="020B0604020202020204" pitchFamily="34" charset="0"/>
                        </a:rPr>
                        <a:t>kl Mukedi Zone de Santé</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2 021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597</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1 333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1 141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1 364</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2 429</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1 884</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1 178</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1 652</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4162340771"/>
                  </a:ext>
                </a:extLst>
              </a:tr>
              <a:tr h="207624">
                <a:tc>
                  <a:txBody>
                    <a:bodyPr/>
                    <a:lstStyle/>
                    <a:p>
                      <a:pPr algn="l" fontAlgn="b"/>
                      <a:r>
                        <a:rPr lang="fr-FR" sz="1100" b="0" i="0" u="none" strike="noStrike">
                          <a:effectLst/>
                          <a:latin typeface="Arial" panose="020B0604020202020204" pitchFamily="34" charset="0"/>
                        </a:rPr>
                        <a:t>kl Mungindu Zone de Santé</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584</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160</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194</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149</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31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17</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 </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154</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241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831218364"/>
                  </a:ext>
                </a:extLst>
              </a:tr>
              <a:tr h="207624">
                <a:tc>
                  <a:txBody>
                    <a:bodyPr/>
                    <a:lstStyle/>
                    <a:p>
                      <a:pPr algn="l" fontAlgn="b"/>
                      <a:r>
                        <a:rPr lang="fr-FR" sz="1100" b="0" i="0" u="none" strike="noStrike">
                          <a:effectLst/>
                          <a:latin typeface="Arial" panose="020B0604020202020204" pitchFamily="34" charset="0"/>
                        </a:rPr>
                        <a:t>kl Pay Kongila Zone de Santé</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45</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7</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 </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 </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 </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 </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65</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50</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40640410"/>
                  </a:ext>
                </a:extLst>
              </a:tr>
              <a:tr h="164227">
                <a:tc>
                  <a:txBody>
                    <a:bodyPr/>
                    <a:lstStyle/>
                    <a:p>
                      <a:pPr algn="l" fontAlgn="b"/>
                      <a:r>
                        <a:rPr lang="fr-FR" sz="1100" b="0" i="0" u="none" strike="noStrike">
                          <a:effectLst/>
                          <a:latin typeface="Arial" panose="020B0604020202020204" pitchFamily="34" charset="0"/>
                        </a:rPr>
                        <a:t>kl Sia Zone de Santé</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304</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206</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238</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115</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58</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30</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4</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246</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313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928270343"/>
                  </a:ext>
                </a:extLst>
              </a:tr>
              <a:tr h="164227">
                <a:tc>
                  <a:txBody>
                    <a:bodyPr/>
                    <a:lstStyle/>
                    <a:p>
                      <a:pPr algn="l" fontAlgn="b"/>
                      <a:r>
                        <a:rPr lang="fr-FR" sz="1100" b="0" i="0" u="none" strike="noStrike">
                          <a:effectLst/>
                          <a:latin typeface="Arial" panose="020B0604020202020204" pitchFamily="34" charset="0"/>
                        </a:rPr>
                        <a:t>kl Vanga Zone de Santé</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959</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587</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837</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653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218</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200</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46</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224</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334</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380359181"/>
                  </a:ext>
                </a:extLst>
              </a:tr>
              <a:tr h="207624">
                <a:tc>
                  <a:txBody>
                    <a:bodyPr/>
                    <a:lstStyle/>
                    <a:p>
                      <a:pPr algn="l" fontAlgn="b"/>
                      <a:r>
                        <a:rPr lang="fr-FR" sz="1100" b="0" i="0" u="none" strike="noStrike">
                          <a:effectLst/>
                          <a:latin typeface="Arial" panose="020B0604020202020204" pitchFamily="34" charset="0"/>
                        </a:rPr>
                        <a:t>kl Yasa Bonga Zone de Santé</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583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178</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197</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3</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 </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4</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 </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91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131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349639102"/>
                  </a:ext>
                </a:extLst>
              </a:tr>
              <a:tr h="164227">
                <a:tc>
                  <a:txBody>
                    <a:bodyPr/>
                    <a:lstStyle/>
                    <a:p>
                      <a:pPr algn="l" fontAlgn="b"/>
                      <a:r>
                        <a:rPr lang="fr-CD" sz="1100" b="0" i="0" u="none" strike="noStrike">
                          <a:effectLst/>
                          <a:latin typeface="Arial" panose="020B0604020202020204" pitchFamily="34" charset="0"/>
                        </a:rPr>
                        <a:t>kl Kwilu Province</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35 965</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14 382</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18 042</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14 591</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11 578</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a:effectLst/>
                          <a:latin typeface="Arial" panose="020B0604020202020204" pitchFamily="34" charset="0"/>
                        </a:rPr>
                        <a:t>10 856</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4 604</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13 772</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CD" sz="1200" b="0" i="0" u="none" strike="noStrike" dirty="0">
                          <a:effectLst/>
                          <a:latin typeface="Arial" panose="020B0604020202020204" pitchFamily="34" charset="0"/>
                        </a:rPr>
                        <a:t>19 612</a:t>
                      </a:r>
                    </a:p>
                  </a:txBody>
                  <a:tcPr marL="6678" marR="6678" marT="667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743662792"/>
                  </a:ext>
                </a:extLst>
              </a:tr>
            </a:tbl>
          </a:graphicData>
        </a:graphic>
      </p:graphicFrame>
      <p:sp>
        <p:nvSpPr>
          <p:cNvPr id="5" name="Espace réservé du numéro de diapositive 4">
            <a:extLst>
              <a:ext uri="{FF2B5EF4-FFF2-40B4-BE49-F238E27FC236}">
                <a16:creationId xmlns="" xmlns:a16="http://schemas.microsoft.com/office/drawing/2014/main" id="{0D46AA45-B2B8-4D2C-80BA-8BF2916AC2F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extLst>
      <p:ext uri="{BB962C8B-B14F-4D97-AF65-F5344CB8AC3E}">
        <p14:creationId xmlns:p14="http://schemas.microsoft.com/office/powerpoint/2010/main" val="4255241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 xmlns:a16="http://schemas.microsoft.com/office/drawing/2014/main" id="{A33B7A63-CFE5-4D79-AC35-7C480D7AFFE6}"/>
              </a:ext>
            </a:extLst>
          </p:cNvPr>
          <p:cNvSpPr>
            <a:spLocks noGrp="1"/>
          </p:cNvSpPr>
          <p:nvPr>
            <p:ph type="body" idx="1"/>
          </p:nvPr>
        </p:nvSpPr>
        <p:spPr/>
        <p:txBody>
          <a:bodyPr/>
          <a:lstStyle/>
          <a:p>
            <a:pPr marL="76200" indent="0">
              <a:buNone/>
            </a:pPr>
            <a:r>
              <a:rPr lang="fr-FR" dirty="0"/>
              <a:t>.</a:t>
            </a:r>
            <a:endParaRPr lang="fr-CD" dirty="0"/>
          </a:p>
        </p:txBody>
      </p:sp>
      <p:graphicFrame>
        <p:nvGraphicFramePr>
          <p:cNvPr id="4" name="Graphique 3">
            <a:extLst>
              <a:ext uri="{FF2B5EF4-FFF2-40B4-BE49-F238E27FC236}">
                <a16:creationId xmlns="" xmlns:a16="http://schemas.microsoft.com/office/drawing/2014/main" id="{9CD9E81E-219B-42B0-8B1C-045C28AA5304}"/>
              </a:ext>
            </a:extLst>
          </p:cNvPr>
          <p:cNvGraphicFramePr>
            <a:graphicFrameLocks/>
          </p:cNvGraphicFramePr>
          <p:nvPr>
            <p:extLst>
              <p:ext uri="{D42A27DB-BD31-4B8C-83A1-F6EECF244321}">
                <p14:modId xmlns:p14="http://schemas.microsoft.com/office/powerpoint/2010/main" val="2363017228"/>
              </p:ext>
            </p:extLst>
          </p:nvPr>
        </p:nvGraphicFramePr>
        <p:xfrm>
          <a:off x="301300" y="1071563"/>
          <a:ext cx="11360700" cy="5020270"/>
        </p:xfrm>
        <a:graphic>
          <a:graphicData uri="http://schemas.openxmlformats.org/drawingml/2006/chart">
            <c:chart xmlns:c="http://schemas.openxmlformats.org/drawingml/2006/chart" xmlns:r="http://schemas.openxmlformats.org/officeDocument/2006/relationships" r:id="rId2"/>
          </a:graphicData>
        </a:graphic>
      </p:graphicFrame>
      <p:sp>
        <p:nvSpPr>
          <p:cNvPr id="5" name="Titre 1">
            <a:extLst>
              <a:ext uri="{FF2B5EF4-FFF2-40B4-BE49-F238E27FC236}">
                <a16:creationId xmlns="" xmlns:a16="http://schemas.microsoft.com/office/drawing/2014/main" id="{AD1C1D92-2A03-4DCD-8599-BACEF675CC2E}"/>
              </a:ext>
            </a:extLst>
          </p:cNvPr>
          <p:cNvSpPr>
            <a:spLocks noGrp="1"/>
          </p:cNvSpPr>
          <p:nvPr>
            <p:ph type="title"/>
          </p:nvPr>
        </p:nvSpPr>
        <p:spPr>
          <a:xfrm>
            <a:off x="301625" y="122238"/>
            <a:ext cx="11360150" cy="763587"/>
          </a:xfrm>
          <a:solidFill>
            <a:schemeClr val="accent6"/>
          </a:solidFill>
        </p:spPr>
        <p:txBody>
          <a:bodyPr>
            <a:noAutofit/>
          </a:bodyPr>
          <a:lstStyle/>
          <a:p>
            <a:r>
              <a:rPr lang="fr-FR" sz="2800" dirty="0"/>
              <a:t>III.8. Evolution de CV (janvier-octobre) de 2021 à 2025 (DHIS2)</a:t>
            </a:r>
            <a:endParaRPr lang="fr-CD" sz="2800" dirty="0"/>
          </a:p>
        </p:txBody>
      </p:sp>
      <p:sp>
        <p:nvSpPr>
          <p:cNvPr id="2" name="Espace réservé du numéro de diapositive 1">
            <a:extLst>
              <a:ext uri="{FF2B5EF4-FFF2-40B4-BE49-F238E27FC236}">
                <a16:creationId xmlns="" xmlns:a16="http://schemas.microsoft.com/office/drawing/2014/main" id="{F40FE780-3191-4C53-B679-DB0B3D1474E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extLst>
      <p:ext uri="{BB962C8B-B14F-4D97-AF65-F5344CB8AC3E}">
        <p14:creationId xmlns:p14="http://schemas.microsoft.com/office/powerpoint/2010/main" val="3246706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078F477E-C2C7-4625-B858-D0B3739ABFCA}"/>
              </a:ext>
            </a:extLst>
          </p:cNvPr>
          <p:cNvSpPr>
            <a:spLocks noGrp="1"/>
          </p:cNvSpPr>
          <p:nvPr>
            <p:ph type="title"/>
          </p:nvPr>
        </p:nvSpPr>
        <p:spPr>
          <a:xfrm>
            <a:off x="138545" y="38381"/>
            <a:ext cx="11360700" cy="571547"/>
          </a:xfrm>
          <a:solidFill>
            <a:schemeClr val="accent1">
              <a:lumMod val="20000"/>
              <a:lumOff val="80000"/>
            </a:schemeClr>
          </a:solidFill>
        </p:spPr>
        <p:txBody>
          <a:bodyPr>
            <a:noAutofit/>
          </a:bodyPr>
          <a:lstStyle/>
          <a:p>
            <a:pPr algn="ctr"/>
            <a:r>
              <a:rPr lang="fr-FR" sz="2800" dirty="0"/>
              <a:t>III.9.Performances dans la surveillance de PFA de S1 à S43-2025</a:t>
            </a:r>
            <a:endParaRPr lang="fr-CD" sz="2800" dirty="0"/>
          </a:p>
        </p:txBody>
      </p:sp>
      <p:sp>
        <p:nvSpPr>
          <p:cNvPr id="3" name="Espace réservé du texte 2">
            <a:extLst>
              <a:ext uri="{FF2B5EF4-FFF2-40B4-BE49-F238E27FC236}">
                <a16:creationId xmlns="" xmlns:a16="http://schemas.microsoft.com/office/drawing/2014/main" id="{DAA11723-ABD9-41DB-8748-77BE1C579CA5}"/>
              </a:ext>
            </a:extLst>
          </p:cNvPr>
          <p:cNvSpPr>
            <a:spLocks noGrp="1"/>
          </p:cNvSpPr>
          <p:nvPr>
            <p:ph type="body" idx="1"/>
          </p:nvPr>
        </p:nvSpPr>
        <p:spPr>
          <a:xfrm>
            <a:off x="138545" y="1025236"/>
            <a:ext cx="11637755" cy="5066597"/>
          </a:xfrm>
        </p:spPr>
        <p:txBody>
          <a:bodyPr/>
          <a:lstStyle/>
          <a:p>
            <a:pPr marL="76200" indent="0">
              <a:buNone/>
            </a:pPr>
            <a:r>
              <a:rPr lang="fr-CD" dirty="0"/>
              <a:t>.</a:t>
            </a:r>
          </a:p>
        </p:txBody>
      </p:sp>
      <p:graphicFrame>
        <p:nvGraphicFramePr>
          <p:cNvPr id="5" name="Tableau 4">
            <a:extLst>
              <a:ext uri="{FF2B5EF4-FFF2-40B4-BE49-F238E27FC236}">
                <a16:creationId xmlns="" xmlns:a16="http://schemas.microsoft.com/office/drawing/2014/main" id="{BD55CD12-2A4F-4344-80AA-FB52BB311E99}"/>
              </a:ext>
            </a:extLst>
          </p:cNvPr>
          <p:cNvGraphicFramePr>
            <a:graphicFrameLocks noGrp="1"/>
          </p:cNvGraphicFramePr>
          <p:nvPr>
            <p:extLst>
              <p:ext uri="{D42A27DB-BD31-4B8C-83A1-F6EECF244321}">
                <p14:modId xmlns:p14="http://schemas.microsoft.com/office/powerpoint/2010/main" val="2316916773"/>
              </p:ext>
            </p:extLst>
          </p:nvPr>
        </p:nvGraphicFramePr>
        <p:xfrm>
          <a:off x="138542" y="766167"/>
          <a:ext cx="11735597" cy="5643408"/>
        </p:xfrm>
        <a:graphic>
          <a:graphicData uri="http://schemas.openxmlformats.org/drawingml/2006/table">
            <a:tbl>
              <a:tblPr/>
              <a:tblGrid>
                <a:gridCol w="617663">
                  <a:extLst>
                    <a:ext uri="{9D8B030D-6E8A-4147-A177-3AD203B41FA5}">
                      <a16:colId xmlns="" xmlns:a16="http://schemas.microsoft.com/office/drawing/2014/main" val="915712167"/>
                    </a:ext>
                  </a:extLst>
                </a:gridCol>
                <a:gridCol w="617663">
                  <a:extLst>
                    <a:ext uri="{9D8B030D-6E8A-4147-A177-3AD203B41FA5}">
                      <a16:colId xmlns="" xmlns:a16="http://schemas.microsoft.com/office/drawing/2014/main" val="1667121935"/>
                    </a:ext>
                  </a:extLst>
                </a:gridCol>
                <a:gridCol w="617663">
                  <a:extLst>
                    <a:ext uri="{9D8B030D-6E8A-4147-A177-3AD203B41FA5}">
                      <a16:colId xmlns="" xmlns:a16="http://schemas.microsoft.com/office/drawing/2014/main" val="2503083439"/>
                    </a:ext>
                  </a:extLst>
                </a:gridCol>
                <a:gridCol w="617663">
                  <a:extLst>
                    <a:ext uri="{9D8B030D-6E8A-4147-A177-3AD203B41FA5}">
                      <a16:colId xmlns="" xmlns:a16="http://schemas.microsoft.com/office/drawing/2014/main" val="2943407223"/>
                    </a:ext>
                  </a:extLst>
                </a:gridCol>
                <a:gridCol w="617663">
                  <a:extLst>
                    <a:ext uri="{9D8B030D-6E8A-4147-A177-3AD203B41FA5}">
                      <a16:colId xmlns="" xmlns:a16="http://schemas.microsoft.com/office/drawing/2014/main" val="25111323"/>
                    </a:ext>
                  </a:extLst>
                </a:gridCol>
                <a:gridCol w="617663">
                  <a:extLst>
                    <a:ext uri="{9D8B030D-6E8A-4147-A177-3AD203B41FA5}">
                      <a16:colId xmlns="" xmlns:a16="http://schemas.microsoft.com/office/drawing/2014/main" val="2061368227"/>
                    </a:ext>
                  </a:extLst>
                </a:gridCol>
                <a:gridCol w="617663">
                  <a:extLst>
                    <a:ext uri="{9D8B030D-6E8A-4147-A177-3AD203B41FA5}">
                      <a16:colId xmlns="" xmlns:a16="http://schemas.microsoft.com/office/drawing/2014/main" val="4065186722"/>
                    </a:ext>
                  </a:extLst>
                </a:gridCol>
                <a:gridCol w="617663">
                  <a:extLst>
                    <a:ext uri="{9D8B030D-6E8A-4147-A177-3AD203B41FA5}">
                      <a16:colId xmlns="" xmlns:a16="http://schemas.microsoft.com/office/drawing/2014/main" val="3198558053"/>
                    </a:ext>
                  </a:extLst>
                </a:gridCol>
                <a:gridCol w="617663">
                  <a:extLst>
                    <a:ext uri="{9D8B030D-6E8A-4147-A177-3AD203B41FA5}">
                      <a16:colId xmlns="" xmlns:a16="http://schemas.microsoft.com/office/drawing/2014/main" val="1127276461"/>
                    </a:ext>
                  </a:extLst>
                </a:gridCol>
                <a:gridCol w="617663">
                  <a:extLst>
                    <a:ext uri="{9D8B030D-6E8A-4147-A177-3AD203B41FA5}">
                      <a16:colId xmlns="" xmlns:a16="http://schemas.microsoft.com/office/drawing/2014/main" val="4085088787"/>
                    </a:ext>
                  </a:extLst>
                </a:gridCol>
                <a:gridCol w="617663">
                  <a:extLst>
                    <a:ext uri="{9D8B030D-6E8A-4147-A177-3AD203B41FA5}">
                      <a16:colId xmlns="" xmlns:a16="http://schemas.microsoft.com/office/drawing/2014/main" val="1492254676"/>
                    </a:ext>
                  </a:extLst>
                </a:gridCol>
                <a:gridCol w="617663">
                  <a:extLst>
                    <a:ext uri="{9D8B030D-6E8A-4147-A177-3AD203B41FA5}">
                      <a16:colId xmlns="" xmlns:a16="http://schemas.microsoft.com/office/drawing/2014/main" val="4052111638"/>
                    </a:ext>
                  </a:extLst>
                </a:gridCol>
                <a:gridCol w="617663">
                  <a:extLst>
                    <a:ext uri="{9D8B030D-6E8A-4147-A177-3AD203B41FA5}">
                      <a16:colId xmlns="" xmlns:a16="http://schemas.microsoft.com/office/drawing/2014/main" val="4158193920"/>
                    </a:ext>
                  </a:extLst>
                </a:gridCol>
                <a:gridCol w="617663">
                  <a:extLst>
                    <a:ext uri="{9D8B030D-6E8A-4147-A177-3AD203B41FA5}">
                      <a16:colId xmlns="" xmlns:a16="http://schemas.microsoft.com/office/drawing/2014/main" val="4054718266"/>
                    </a:ext>
                  </a:extLst>
                </a:gridCol>
                <a:gridCol w="617663">
                  <a:extLst>
                    <a:ext uri="{9D8B030D-6E8A-4147-A177-3AD203B41FA5}">
                      <a16:colId xmlns="" xmlns:a16="http://schemas.microsoft.com/office/drawing/2014/main" val="223211531"/>
                    </a:ext>
                  </a:extLst>
                </a:gridCol>
                <a:gridCol w="617663">
                  <a:extLst>
                    <a:ext uri="{9D8B030D-6E8A-4147-A177-3AD203B41FA5}">
                      <a16:colId xmlns="" xmlns:a16="http://schemas.microsoft.com/office/drawing/2014/main" val="2246752365"/>
                    </a:ext>
                  </a:extLst>
                </a:gridCol>
                <a:gridCol w="617663">
                  <a:extLst>
                    <a:ext uri="{9D8B030D-6E8A-4147-A177-3AD203B41FA5}">
                      <a16:colId xmlns="" xmlns:a16="http://schemas.microsoft.com/office/drawing/2014/main" val="1449558454"/>
                    </a:ext>
                  </a:extLst>
                </a:gridCol>
                <a:gridCol w="617663">
                  <a:extLst>
                    <a:ext uri="{9D8B030D-6E8A-4147-A177-3AD203B41FA5}">
                      <a16:colId xmlns="" xmlns:a16="http://schemas.microsoft.com/office/drawing/2014/main" val="162534171"/>
                    </a:ext>
                  </a:extLst>
                </a:gridCol>
                <a:gridCol w="617663">
                  <a:extLst>
                    <a:ext uri="{9D8B030D-6E8A-4147-A177-3AD203B41FA5}">
                      <a16:colId xmlns="" xmlns:a16="http://schemas.microsoft.com/office/drawing/2014/main" val="1219454603"/>
                    </a:ext>
                  </a:extLst>
                </a:gridCol>
              </a:tblGrid>
              <a:tr h="248978">
                <a:tc rowSpan="2">
                  <a:txBody>
                    <a:bodyPr/>
                    <a:lstStyle/>
                    <a:p>
                      <a:pPr algn="ctr" rtl="0" fontAlgn="ctr"/>
                      <a:r>
                        <a:rPr lang="fr-CD" sz="900" b="0" i="0" u="none" strike="noStrike" dirty="0">
                          <a:solidFill>
                            <a:srgbClr val="000000"/>
                          </a:solidFill>
                          <a:effectLst/>
                          <a:latin typeface="Arial" panose="020B0604020202020204" pitchFamily="34" charset="0"/>
                        </a:rPr>
                        <a:t>Zones de santé </a:t>
                      </a:r>
                    </a:p>
                  </a:txBody>
                  <a:tcPr marL="6696" marR="6696" marT="66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rowSpan="2">
                  <a:txBody>
                    <a:bodyPr/>
                    <a:lstStyle/>
                    <a:p>
                      <a:pPr algn="ctr" rtl="0" fontAlgn="ctr"/>
                      <a:r>
                        <a:rPr lang="fr-CD" sz="900" b="0" i="0" u="none" strike="noStrike">
                          <a:solidFill>
                            <a:srgbClr val="000000"/>
                          </a:solidFill>
                          <a:effectLst/>
                          <a:latin typeface="Arial" panose="020B0604020202020204" pitchFamily="34" charset="0"/>
                        </a:rPr>
                        <a:t>Population totale</a:t>
                      </a:r>
                    </a:p>
                  </a:txBody>
                  <a:tcPr marL="6696" marR="6696" marT="66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rowSpan="2">
                  <a:txBody>
                    <a:bodyPr/>
                    <a:lstStyle/>
                    <a:p>
                      <a:pPr algn="ctr" rtl="0" fontAlgn="ctr"/>
                      <a:r>
                        <a:rPr lang="fr-CD" sz="900" b="0" i="0" u="none" strike="noStrike" dirty="0">
                          <a:solidFill>
                            <a:srgbClr val="000000"/>
                          </a:solidFill>
                          <a:effectLst/>
                          <a:latin typeface="Arial" panose="020B0604020202020204" pitchFamily="34" charset="0"/>
                        </a:rPr>
                        <a:t>Population      &lt;15 ans</a:t>
                      </a:r>
                    </a:p>
                  </a:txBody>
                  <a:tcPr marL="6696" marR="6696" marT="66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rowSpan="2">
                  <a:txBody>
                    <a:bodyPr/>
                    <a:lstStyle/>
                    <a:p>
                      <a:pPr algn="ctr" rtl="0" fontAlgn="ctr"/>
                      <a:r>
                        <a:rPr lang="fr-CD" sz="900" b="0" i="0" u="none" strike="noStrike">
                          <a:solidFill>
                            <a:srgbClr val="000000"/>
                          </a:solidFill>
                          <a:effectLst/>
                          <a:latin typeface="Arial" panose="020B0604020202020204" pitchFamily="34" charset="0"/>
                        </a:rPr>
                        <a:t>Cas attendus</a:t>
                      </a:r>
                    </a:p>
                  </a:txBody>
                  <a:tcPr marL="6696" marR="6696" marT="66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b"/>
                      <a:r>
                        <a:rPr lang="fr-CD" sz="800" b="0" i="0" u="none" strike="noStrike">
                          <a:solidFill>
                            <a:srgbClr val="000000"/>
                          </a:solidFill>
                          <a:effectLst/>
                          <a:latin typeface="Arial" panose="020B0604020202020204" pitchFamily="34" charset="0"/>
                        </a:rPr>
                        <a:t>Nbre cas notifiés</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b"/>
                      <a:r>
                        <a:rPr lang="fr-CD" sz="800" b="0" i="0" u="none" strike="noStrike">
                          <a:solidFill>
                            <a:srgbClr val="000000"/>
                          </a:solidFill>
                          <a:effectLst/>
                          <a:latin typeface="Arial" panose="020B0604020202020204" pitchFamily="34" charset="0"/>
                        </a:rPr>
                        <a:t>Nbre cas inadéquats</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gridSpan="2">
                  <a:txBody>
                    <a:bodyPr/>
                    <a:lstStyle/>
                    <a:p>
                      <a:pPr algn="ctr" rtl="0" fontAlgn="b"/>
                      <a:r>
                        <a:rPr lang="fr-CD" sz="800" b="0" i="0" u="none" strike="noStrike">
                          <a:solidFill>
                            <a:srgbClr val="000000"/>
                          </a:solidFill>
                          <a:effectLst/>
                          <a:latin typeface="Arial" panose="020B0604020202020204" pitchFamily="34" charset="0"/>
                        </a:rPr>
                        <a:t>Polio virus confirmé</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hMerge="1">
                  <a:txBody>
                    <a:bodyPr/>
                    <a:lstStyle/>
                    <a:p>
                      <a:endParaRPr lang="fr-CD"/>
                    </a:p>
                  </a:txBody>
                  <a:tcPr/>
                </a:tc>
                <a:tc rowSpan="2">
                  <a:txBody>
                    <a:bodyPr/>
                    <a:lstStyle/>
                    <a:p>
                      <a:pPr algn="ctr" rtl="0" fontAlgn="ctr"/>
                      <a:r>
                        <a:rPr lang="fr-CD" sz="900" b="0" i="0" u="none" strike="noStrike">
                          <a:solidFill>
                            <a:srgbClr val="000000"/>
                          </a:solidFill>
                          <a:effectLst/>
                          <a:latin typeface="Arial" panose="020B0604020202020204" pitchFamily="34" charset="0"/>
                        </a:rPr>
                        <a:t>Compatible</a:t>
                      </a:r>
                    </a:p>
                  </a:txBody>
                  <a:tcPr marL="6696" marR="6696" marT="66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rowSpan="2">
                  <a:txBody>
                    <a:bodyPr/>
                    <a:lstStyle/>
                    <a:p>
                      <a:pPr algn="ctr" rtl="0" fontAlgn="ctr"/>
                      <a:r>
                        <a:rPr lang="fr-FR" sz="900" b="0" i="0" u="none" strike="noStrike" dirty="0">
                          <a:solidFill>
                            <a:srgbClr val="000000"/>
                          </a:solidFill>
                          <a:effectLst/>
                          <a:latin typeface="Arial" panose="020B0604020202020204" pitchFamily="34" charset="0"/>
                        </a:rPr>
                        <a:t>% de cas notifié/par/ aux cas attendus</a:t>
                      </a:r>
                    </a:p>
                  </a:txBody>
                  <a:tcPr marL="6696" marR="6696" marT="66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rowSpan="2">
                  <a:txBody>
                    <a:bodyPr/>
                    <a:lstStyle/>
                    <a:p>
                      <a:pPr algn="ctr" rtl="0" fontAlgn="ctr"/>
                      <a:r>
                        <a:rPr lang="fr-FR" sz="900" b="0" i="0" u="none" strike="noStrike">
                          <a:solidFill>
                            <a:srgbClr val="000000"/>
                          </a:solidFill>
                          <a:effectLst/>
                          <a:latin typeface="Arial" panose="020B0604020202020204" pitchFamily="34" charset="0"/>
                        </a:rPr>
                        <a:t>Taux de PFA NP annualisé≥3/100.000hab.</a:t>
                      </a:r>
                    </a:p>
                  </a:txBody>
                  <a:tcPr marL="6696" marR="6696" marT="66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rowSpan="2">
                  <a:txBody>
                    <a:bodyPr/>
                    <a:lstStyle/>
                    <a:p>
                      <a:pPr algn="ctr" rtl="0" fontAlgn="ctr"/>
                      <a:r>
                        <a:rPr lang="fr-CD" sz="900" b="0" i="0" u="none" strike="noStrike">
                          <a:solidFill>
                            <a:srgbClr val="000000"/>
                          </a:solidFill>
                          <a:effectLst/>
                          <a:latin typeface="Arial" panose="020B0604020202020204" pitchFamily="34" charset="0"/>
                        </a:rPr>
                        <a:t>%Selles adéquates(≥80%)</a:t>
                      </a:r>
                    </a:p>
                  </a:txBody>
                  <a:tcPr marL="6696" marR="6696" marT="66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rowSpan="2">
                  <a:txBody>
                    <a:bodyPr/>
                    <a:lstStyle/>
                    <a:p>
                      <a:pPr algn="ctr" rtl="0" fontAlgn="ctr"/>
                      <a:r>
                        <a:rPr lang="fr-FR" sz="900" b="0" i="0" u="none" strike="noStrike">
                          <a:solidFill>
                            <a:srgbClr val="000000"/>
                          </a:solidFill>
                          <a:effectLst/>
                          <a:latin typeface="Arial" panose="020B0604020202020204" pitchFamily="34" charset="0"/>
                        </a:rPr>
                        <a:t>%Cas PFA notifiés≤7jrs du DDP(≥80%)</a:t>
                      </a:r>
                    </a:p>
                  </a:txBody>
                  <a:tcPr marL="6696" marR="6696" marT="66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rowSpan="2">
                  <a:txBody>
                    <a:bodyPr/>
                    <a:lstStyle/>
                    <a:p>
                      <a:pPr algn="ctr" rtl="0" fontAlgn="ctr"/>
                      <a:r>
                        <a:rPr lang="fr-CD" sz="900" b="0" i="0" u="none" strike="noStrike">
                          <a:solidFill>
                            <a:srgbClr val="000000"/>
                          </a:solidFill>
                          <a:effectLst/>
                          <a:latin typeface="Arial" panose="020B0604020202020204" pitchFamily="34" charset="0"/>
                        </a:rPr>
                        <a:t>% cas PFA investigués≤48h(≥80%)</a:t>
                      </a:r>
                    </a:p>
                  </a:txBody>
                  <a:tcPr marL="6696" marR="6696" marT="66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rowSpan="2">
                  <a:txBody>
                    <a:bodyPr/>
                    <a:lstStyle/>
                    <a:p>
                      <a:pPr algn="ctr" rtl="0" fontAlgn="ctr"/>
                      <a:r>
                        <a:rPr lang="fr-FR" sz="900" b="0" i="0" u="none" strike="noStrike">
                          <a:solidFill>
                            <a:srgbClr val="000000"/>
                          </a:solidFill>
                          <a:effectLst/>
                          <a:latin typeface="Arial" panose="020B0604020202020204" pitchFamily="34" charset="0"/>
                        </a:rPr>
                        <a:t>% Cas PFA avec 2 échantillons préleévés≥24h et ≤11jrs du DDP (≥80%) </a:t>
                      </a:r>
                    </a:p>
                  </a:txBody>
                  <a:tcPr marL="6696" marR="6696" marT="66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rowSpan="2">
                  <a:txBody>
                    <a:bodyPr/>
                    <a:lstStyle/>
                    <a:p>
                      <a:pPr algn="ctr" rtl="0" fontAlgn="ctr"/>
                      <a:r>
                        <a:rPr lang="fr-FR" sz="900" b="0" i="0" u="none" strike="noStrike">
                          <a:solidFill>
                            <a:srgbClr val="000000"/>
                          </a:solidFill>
                          <a:effectLst/>
                          <a:latin typeface="Arial" panose="020B0604020202020204" pitchFamily="34" charset="0"/>
                        </a:rPr>
                        <a:t>%examens de suivi réalisé au 60è jour</a:t>
                      </a:r>
                    </a:p>
                  </a:txBody>
                  <a:tcPr marL="6696" marR="6696" marT="66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rowSpan="2">
                  <a:txBody>
                    <a:bodyPr/>
                    <a:lstStyle/>
                    <a:p>
                      <a:pPr algn="ctr" rtl="0" fontAlgn="ctr"/>
                      <a:r>
                        <a:rPr lang="fr-FR" sz="900" b="0" i="0" u="none" strike="noStrike">
                          <a:solidFill>
                            <a:srgbClr val="000000"/>
                          </a:solidFill>
                          <a:effectLst/>
                          <a:latin typeface="Arial" panose="020B0604020202020204" pitchFamily="34" charset="0"/>
                        </a:rPr>
                        <a:t>% échantillons réçus au Labo≤3jours(≥80%)</a:t>
                      </a:r>
                    </a:p>
                  </a:txBody>
                  <a:tcPr marL="6696" marR="6696" marT="66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rowSpan="2">
                  <a:txBody>
                    <a:bodyPr/>
                    <a:lstStyle/>
                    <a:p>
                      <a:pPr algn="ctr" rtl="0" fontAlgn="ctr"/>
                      <a:r>
                        <a:rPr lang="fr-CD" sz="900" b="0" i="0" u="none" strike="noStrike">
                          <a:solidFill>
                            <a:srgbClr val="000000"/>
                          </a:solidFill>
                          <a:effectLst/>
                          <a:latin typeface="Arial" panose="020B0604020202020204" pitchFamily="34" charset="0"/>
                        </a:rPr>
                        <a:t>Taux d'Entérovirus NP</a:t>
                      </a:r>
                    </a:p>
                  </a:txBody>
                  <a:tcPr marL="6696" marR="6696" marT="66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rowSpan="2">
                  <a:txBody>
                    <a:bodyPr/>
                    <a:lstStyle/>
                    <a:p>
                      <a:pPr algn="ctr" rtl="0" fontAlgn="ctr"/>
                      <a:r>
                        <a:rPr lang="fr-FR" sz="900" b="0" i="0" u="none" strike="noStrike">
                          <a:solidFill>
                            <a:srgbClr val="000000"/>
                          </a:solidFill>
                          <a:effectLst/>
                          <a:latin typeface="Arial" panose="020B0604020202020204" pitchFamily="34" charset="0"/>
                        </a:rPr>
                        <a:t>Atteinte des 2 indicateurs majeurs</a:t>
                      </a:r>
                    </a:p>
                  </a:txBody>
                  <a:tcPr marL="6696" marR="6696" marT="66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 xmlns:a16="http://schemas.microsoft.com/office/drawing/2014/main" val="869354484"/>
                  </a:ext>
                </a:extLst>
              </a:tr>
              <a:tr h="848133">
                <a:tc vMerge="1">
                  <a:txBody>
                    <a:bodyPr/>
                    <a:lstStyle/>
                    <a:p>
                      <a:endParaRPr lang="fr-CD"/>
                    </a:p>
                  </a:txBody>
                  <a:tcPr/>
                </a:tc>
                <a:tc vMerge="1">
                  <a:txBody>
                    <a:bodyPr/>
                    <a:lstStyle/>
                    <a:p>
                      <a:endParaRPr lang="fr-CD"/>
                    </a:p>
                  </a:txBody>
                  <a:tcPr/>
                </a:tc>
                <a:tc vMerge="1">
                  <a:txBody>
                    <a:bodyPr/>
                    <a:lstStyle/>
                    <a:p>
                      <a:endParaRPr lang="fr-CD"/>
                    </a:p>
                  </a:txBody>
                  <a:tcPr/>
                </a:tc>
                <a:tc vMerge="1">
                  <a:txBody>
                    <a:bodyPr/>
                    <a:lstStyle/>
                    <a:p>
                      <a:endParaRPr lang="fr-CD"/>
                    </a:p>
                  </a:txBody>
                  <a:tcPr/>
                </a:tc>
                <a:tc>
                  <a:txBody>
                    <a:bodyPr/>
                    <a:lstStyle/>
                    <a:p>
                      <a:pPr algn="ctr" rtl="0" fontAlgn="ctr"/>
                      <a:r>
                        <a:rPr lang="fr-CD" sz="900" b="0" i="0" u="none" strike="noStrike">
                          <a:solidFill>
                            <a:srgbClr val="000000"/>
                          </a:solidFill>
                          <a:effectLst/>
                          <a:latin typeface="Arial" panose="020B0604020202020204" pitchFamily="34" charset="0"/>
                        </a:rPr>
                        <a:t> </a:t>
                      </a:r>
                    </a:p>
                  </a:txBody>
                  <a:tcPr marL="6696" marR="6696" marT="66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fr-CD" sz="900" b="0" i="0" u="none" strike="noStrike" dirty="0">
                          <a:solidFill>
                            <a:srgbClr val="000000"/>
                          </a:solidFill>
                          <a:effectLst/>
                          <a:latin typeface="Arial" panose="020B0604020202020204" pitchFamily="34" charset="0"/>
                        </a:rPr>
                        <a:t>Cumul</a:t>
                      </a:r>
                    </a:p>
                  </a:txBody>
                  <a:tcPr marL="6696" marR="6696" marT="66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fr-CD" sz="900" b="0" i="0" u="none" strike="noStrike">
                          <a:solidFill>
                            <a:srgbClr val="000000"/>
                          </a:solidFill>
                          <a:effectLst/>
                          <a:latin typeface="Arial" panose="020B0604020202020204" pitchFamily="34" charset="0"/>
                        </a:rPr>
                        <a:t>PVS</a:t>
                      </a:r>
                    </a:p>
                  </a:txBody>
                  <a:tcPr marL="6696" marR="6696" marT="66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fr-CD" sz="900" b="0" i="0" u="none" strike="noStrike" dirty="0">
                          <a:solidFill>
                            <a:srgbClr val="000000"/>
                          </a:solidFill>
                          <a:effectLst/>
                          <a:latin typeface="Arial" panose="020B0604020202020204" pitchFamily="34" charset="0"/>
                        </a:rPr>
                        <a:t>PVDV</a:t>
                      </a:r>
                    </a:p>
                  </a:txBody>
                  <a:tcPr marL="6696" marR="6696" marT="66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vMerge="1">
                  <a:txBody>
                    <a:bodyPr/>
                    <a:lstStyle/>
                    <a:p>
                      <a:endParaRPr lang="fr-CD"/>
                    </a:p>
                  </a:txBody>
                  <a:tcPr/>
                </a:tc>
                <a:tc vMerge="1">
                  <a:txBody>
                    <a:bodyPr/>
                    <a:lstStyle/>
                    <a:p>
                      <a:endParaRPr lang="fr-CD"/>
                    </a:p>
                  </a:txBody>
                  <a:tcPr/>
                </a:tc>
                <a:tc vMerge="1">
                  <a:txBody>
                    <a:bodyPr/>
                    <a:lstStyle/>
                    <a:p>
                      <a:endParaRPr lang="fr-CD"/>
                    </a:p>
                  </a:txBody>
                  <a:tcPr/>
                </a:tc>
                <a:tc vMerge="1">
                  <a:txBody>
                    <a:bodyPr/>
                    <a:lstStyle/>
                    <a:p>
                      <a:endParaRPr lang="fr-CD"/>
                    </a:p>
                  </a:txBody>
                  <a:tcPr/>
                </a:tc>
                <a:tc vMerge="1">
                  <a:txBody>
                    <a:bodyPr/>
                    <a:lstStyle/>
                    <a:p>
                      <a:endParaRPr lang="fr-CD"/>
                    </a:p>
                  </a:txBody>
                  <a:tcPr/>
                </a:tc>
                <a:tc vMerge="1">
                  <a:txBody>
                    <a:bodyPr/>
                    <a:lstStyle/>
                    <a:p>
                      <a:endParaRPr lang="fr-CD"/>
                    </a:p>
                  </a:txBody>
                  <a:tcPr/>
                </a:tc>
                <a:tc vMerge="1">
                  <a:txBody>
                    <a:bodyPr/>
                    <a:lstStyle/>
                    <a:p>
                      <a:endParaRPr lang="fr-CD"/>
                    </a:p>
                  </a:txBody>
                  <a:tcPr/>
                </a:tc>
                <a:tc vMerge="1">
                  <a:txBody>
                    <a:bodyPr/>
                    <a:lstStyle/>
                    <a:p>
                      <a:endParaRPr lang="fr-CD"/>
                    </a:p>
                  </a:txBody>
                  <a:tcPr/>
                </a:tc>
                <a:tc vMerge="1">
                  <a:txBody>
                    <a:bodyPr/>
                    <a:lstStyle/>
                    <a:p>
                      <a:endParaRPr lang="fr-CD"/>
                    </a:p>
                  </a:txBody>
                  <a:tcPr/>
                </a:tc>
                <a:tc vMerge="1">
                  <a:txBody>
                    <a:bodyPr/>
                    <a:lstStyle/>
                    <a:p>
                      <a:endParaRPr lang="fr-CD"/>
                    </a:p>
                  </a:txBody>
                  <a:tcPr/>
                </a:tc>
                <a:tc vMerge="1">
                  <a:txBody>
                    <a:bodyPr/>
                    <a:lstStyle/>
                    <a:p>
                      <a:endParaRPr lang="fr-CD"/>
                    </a:p>
                  </a:txBody>
                  <a:tcPr/>
                </a:tc>
                <a:extLst>
                  <a:ext uri="{0D108BD9-81ED-4DB2-BD59-A6C34878D82A}">
                    <a16:rowId xmlns="" xmlns:a16="http://schemas.microsoft.com/office/drawing/2014/main" val="2244641012"/>
                  </a:ext>
                </a:extLst>
              </a:tr>
              <a:tr h="142961">
                <a:tc>
                  <a:txBody>
                    <a:bodyPr/>
                    <a:lstStyle/>
                    <a:p>
                      <a:pPr algn="l" rtl="0" fontAlgn="b"/>
                      <a:r>
                        <a:rPr lang="fr-CD" sz="900" b="0" i="0" u="none" strike="noStrike">
                          <a:solidFill>
                            <a:srgbClr val="000000"/>
                          </a:solidFill>
                          <a:effectLst/>
                          <a:latin typeface="Arial" panose="020B0604020202020204" pitchFamily="34" charset="0"/>
                        </a:rPr>
                        <a:t>Bulungu</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371498</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178319</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dirty="0">
                          <a:solidFill>
                            <a:srgbClr val="000000"/>
                          </a:solidFill>
                          <a:effectLst/>
                          <a:latin typeface="Arial" panose="020B0604020202020204" pitchFamily="34" charset="0"/>
                        </a:rPr>
                        <a:t>6</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3</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dirty="0">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dirty="0">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50%</a:t>
                      </a:r>
                    </a:p>
                  </a:txBody>
                  <a:tcPr marL="6696" marR="6696" marT="669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1,7</a:t>
                      </a:r>
                    </a:p>
                  </a:txBody>
                  <a:tcPr marL="6696" marR="6696" marT="669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NON</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 xmlns:a16="http://schemas.microsoft.com/office/drawing/2014/main" val="3702285930"/>
                  </a:ext>
                </a:extLst>
              </a:tr>
              <a:tr h="142961">
                <a:tc>
                  <a:txBody>
                    <a:bodyPr/>
                    <a:lstStyle/>
                    <a:p>
                      <a:pPr algn="l" rtl="0" fontAlgn="b"/>
                      <a:r>
                        <a:rPr lang="fr-CD" sz="900" b="0" i="0" u="none" strike="noStrike">
                          <a:solidFill>
                            <a:srgbClr val="000000"/>
                          </a:solidFill>
                          <a:effectLst/>
                          <a:latin typeface="Arial" panose="020B0604020202020204" pitchFamily="34" charset="0"/>
                        </a:rPr>
                        <a:t>Gungu</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347729</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166910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6</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dirty="0">
                          <a:solidFill>
                            <a:srgbClr val="000000"/>
                          </a:solidFill>
                          <a:effectLst/>
                          <a:latin typeface="Arial" panose="020B0604020202020204" pitchFamily="34" charset="0"/>
                        </a:rPr>
                        <a:t>7</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dirty="0">
                          <a:solidFill>
                            <a:srgbClr val="000000"/>
                          </a:solidFill>
                          <a:effectLst/>
                          <a:latin typeface="Arial" panose="020B0604020202020204" pitchFamily="34" charset="0"/>
                        </a:rPr>
                        <a:t>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117%</a:t>
                      </a:r>
                    </a:p>
                  </a:txBody>
                  <a:tcPr marL="6696" marR="6696" marT="669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4,1</a:t>
                      </a:r>
                    </a:p>
                  </a:txBody>
                  <a:tcPr marL="6696" marR="6696" marT="669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85,70%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85,7</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70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OUI</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extLst>
                  <a:ext uri="{0D108BD9-81ED-4DB2-BD59-A6C34878D82A}">
                    <a16:rowId xmlns="" xmlns:a16="http://schemas.microsoft.com/office/drawing/2014/main" val="2226413882"/>
                  </a:ext>
                </a:extLst>
              </a:tr>
              <a:tr h="142961">
                <a:tc>
                  <a:txBody>
                    <a:bodyPr/>
                    <a:lstStyle/>
                    <a:p>
                      <a:pPr algn="l" rtl="0" fontAlgn="b"/>
                      <a:r>
                        <a:rPr lang="fr-CD" sz="900" b="0" i="0" u="none" strike="noStrike">
                          <a:solidFill>
                            <a:srgbClr val="000000"/>
                          </a:solidFill>
                          <a:effectLst/>
                          <a:latin typeface="Arial" panose="020B0604020202020204" pitchFamily="34" charset="0"/>
                        </a:rPr>
                        <a:t>Idiofa</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388180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186326</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6</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167%</a:t>
                      </a:r>
                    </a:p>
                  </a:txBody>
                  <a:tcPr marL="6696" marR="6696" marT="669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5,4</a:t>
                      </a:r>
                    </a:p>
                  </a:txBody>
                  <a:tcPr marL="6696" marR="6696" marT="669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82,1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52</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31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7,1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OUI</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extLst>
                  <a:ext uri="{0D108BD9-81ED-4DB2-BD59-A6C34878D82A}">
                    <a16:rowId xmlns="" xmlns:a16="http://schemas.microsoft.com/office/drawing/2014/main" val="627384175"/>
                  </a:ext>
                </a:extLst>
              </a:tr>
              <a:tr h="142961">
                <a:tc>
                  <a:txBody>
                    <a:bodyPr/>
                    <a:lstStyle/>
                    <a:p>
                      <a:pPr algn="l" rtl="0" fontAlgn="b"/>
                      <a:r>
                        <a:rPr lang="fr-CD" sz="900" b="0" i="0" u="none" strike="noStrike">
                          <a:solidFill>
                            <a:srgbClr val="000000"/>
                          </a:solidFill>
                          <a:effectLst/>
                          <a:latin typeface="Arial" panose="020B0604020202020204" pitchFamily="34" charset="0"/>
                        </a:rPr>
                        <a:t>Ipamu</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271829</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130478</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4</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dirty="0">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dirty="0">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dirty="0">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25%</a:t>
                      </a:r>
                    </a:p>
                  </a:txBody>
                  <a:tcPr marL="6696" marR="6696" marT="669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0,8</a:t>
                      </a:r>
                    </a:p>
                  </a:txBody>
                  <a:tcPr marL="6696" marR="6696" marT="669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75,1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NON</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 xmlns:a16="http://schemas.microsoft.com/office/drawing/2014/main" val="257001068"/>
                  </a:ext>
                </a:extLst>
              </a:tr>
              <a:tr h="142961">
                <a:tc>
                  <a:txBody>
                    <a:bodyPr/>
                    <a:lstStyle/>
                    <a:p>
                      <a:pPr algn="l" rtl="0" fontAlgn="b"/>
                      <a:r>
                        <a:rPr lang="fr-CD" sz="900" b="0" i="0" u="none" strike="noStrike">
                          <a:solidFill>
                            <a:srgbClr val="000000"/>
                          </a:solidFill>
                          <a:effectLst/>
                          <a:latin typeface="Arial" panose="020B0604020202020204" pitchFamily="34" charset="0"/>
                        </a:rPr>
                        <a:t>Kikwit-Nord</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333690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160171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5</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8</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dirty="0">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160%</a:t>
                      </a:r>
                    </a:p>
                  </a:txBody>
                  <a:tcPr marL="6696" marR="6696" marT="669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dirty="0">
                          <a:solidFill>
                            <a:srgbClr val="000000"/>
                          </a:solidFill>
                          <a:effectLst/>
                          <a:latin typeface="Arial" panose="020B0604020202020204" pitchFamily="34" charset="0"/>
                        </a:rPr>
                        <a:t>5</a:t>
                      </a:r>
                    </a:p>
                  </a:txBody>
                  <a:tcPr marL="6696" marR="6696" marT="669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87,50%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78%</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51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42</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21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OUI</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extLst>
                  <a:ext uri="{0D108BD9-81ED-4DB2-BD59-A6C34878D82A}">
                    <a16:rowId xmlns="" xmlns:a16="http://schemas.microsoft.com/office/drawing/2014/main" val="4212090960"/>
                  </a:ext>
                </a:extLst>
              </a:tr>
              <a:tr h="142961">
                <a:tc>
                  <a:txBody>
                    <a:bodyPr/>
                    <a:lstStyle/>
                    <a:p>
                      <a:pPr algn="l" rtl="0" fontAlgn="b"/>
                      <a:r>
                        <a:rPr lang="fr-CD" sz="900" b="0" i="0" u="none" strike="noStrike">
                          <a:solidFill>
                            <a:srgbClr val="000000"/>
                          </a:solidFill>
                          <a:effectLst/>
                          <a:latin typeface="Arial" panose="020B0604020202020204" pitchFamily="34" charset="0"/>
                        </a:rPr>
                        <a:t>Kikwit-sud</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344918</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165561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5</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5</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dirty="0">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3</a:t>
                      </a:r>
                    </a:p>
                  </a:txBody>
                  <a:tcPr marL="6696" marR="6696" marT="669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80%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71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80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72</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40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5,9</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OUI</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extLst>
                  <a:ext uri="{0D108BD9-81ED-4DB2-BD59-A6C34878D82A}">
                    <a16:rowId xmlns="" xmlns:a16="http://schemas.microsoft.com/office/drawing/2014/main" val="313464236"/>
                  </a:ext>
                </a:extLst>
              </a:tr>
              <a:tr h="142961">
                <a:tc>
                  <a:txBody>
                    <a:bodyPr/>
                    <a:lstStyle/>
                    <a:p>
                      <a:pPr algn="l" rtl="0" fontAlgn="b"/>
                      <a:r>
                        <a:rPr lang="fr-CD" sz="900" b="0" i="0" u="none" strike="noStrike">
                          <a:solidFill>
                            <a:srgbClr val="000000"/>
                          </a:solidFill>
                          <a:effectLst/>
                          <a:latin typeface="Arial" panose="020B0604020202020204" pitchFamily="34" charset="0"/>
                        </a:rPr>
                        <a:t>Kimputu</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264087</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126762</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4</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3</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dirty="0">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75%</a:t>
                      </a:r>
                    </a:p>
                  </a:txBody>
                  <a:tcPr marL="6696" marR="6696" marT="669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2,3</a:t>
                      </a:r>
                    </a:p>
                  </a:txBody>
                  <a:tcPr marL="6696" marR="6696" marT="669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66,70%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dirty="0">
                          <a:solidFill>
                            <a:srgbClr val="000000"/>
                          </a:solidFill>
                          <a:effectLst/>
                          <a:latin typeface="Arial" panose="020B0604020202020204" pitchFamily="34" charset="0"/>
                        </a:rPr>
                        <a:t>79</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66,7</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55,7</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NON</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 xmlns:a16="http://schemas.microsoft.com/office/drawing/2014/main" val="3909143411"/>
                  </a:ext>
                </a:extLst>
              </a:tr>
              <a:tr h="142961">
                <a:tc>
                  <a:txBody>
                    <a:bodyPr/>
                    <a:lstStyle/>
                    <a:p>
                      <a:pPr algn="l" rtl="0" fontAlgn="b"/>
                      <a:r>
                        <a:rPr lang="fr-CD" sz="900" b="0" i="0" u="none" strike="noStrike">
                          <a:solidFill>
                            <a:srgbClr val="000000"/>
                          </a:solidFill>
                          <a:effectLst/>
                          <a:latin typeface="Arial" panose="020B0604020202020204" pitchFamily="34" charset="0"/>
                        </a:rPr>
                        <a:t>Kingandu</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154381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74103</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3</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2</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67%</a:t>
                      </a:r>
                    </a:p>
                  </a:txBody>
                  <a:tcPr marL="6696" marR="6696" marT="669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2,7</a:t>
                      </a:r>
                    </a:p>
                  </a:txBody>
                  <a:tcPr marL="6696" marR="6696" marT="669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93</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73</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NON</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 xmlns:a16="http://schemas.microsoft.com/office/drawing/2014/main" val="1963461384"/>
                  </a:ext>
                </a:extLst>
              </a:tr>
              <a:tr h="142961">
                <a:tc>
                  <a:txBody>
                    <a:bodyPr/>
                    <a:lstStyle/>
                    <a:p>
                      <a:pPr algn="l" rtl="0" fontAlgn="b"/>
                      <a:r>
                        <a:rPr lang="fr-CD" sz="900" b="0" i="0" u="none" strike="noStrike">
                          <a:solidFill>
                            <a:srgbClr val="000000"/>
                          </a:solidFill>
                          <a:effectLst/>
                          <a:latin typeface="Arial" panose="020B0604020202020204" pitchFamily="34" charset="0"/>
                        </a:rPr>
                        <a:t>Koshibanda</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274454</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131738</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4</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dirty="0">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250%</a:t>
                      </a:r>
                    </a:p>
                  </a:txBody>
                  <a:tcPr marL="6696" marR="6696" marT="669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7,6</a:t>
                      </a:r>
                    </a:p>
                  </a:txBody>
                  <a:tcPr marL="6696" marR="6696" marT="669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94,7</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81,4</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10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11,1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OUI</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extLst>
                  <a:ext uri="{0D108BD9-81ED-4DB2-BD59-A6C34878D82A}">
                    <a16:rowId xmlns="" xmlns:a16="http://schemas.microsoft.com/office/drawing/2014/main" val="1316686753"/>
                  </a:ext>
                </a:extLst>
              </a:tr>
              <a:tr h="142961">
                <a:tc>
                  <a:txBody>
                    <a:bodyPr/>
                    <a:lstStyle/>
                    <a:p>
                      <a:pPr algn="l" rtl="0" fontAlgn="b"/>
                      <a:r>
                        <a:rPr lang="fr-CD" sz="900" b="0" i="0" u="none" strike="noStrike">
                          <a:solidFill>
                            <a:srgbClr val="000000"/>
                          </a:solidFill>
                          <a:effectLst/>
                          <a:latin typeface="Arial" panose="020B0604020202020204" pitchFamily="34" charset="0"/>
                        </a:rPr>
                        <a:t>Lusanga</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378510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181685</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6</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183%</a:t>
                      </a:r>
                    </a:p>
                  </a:txBody>
                  <a:tcPr marL="6696" marR="6696" marT="669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6</a:t>
                      </a:r>
                    </a:p>
                  </a:txBody>
                  <a:tcPr marL="6696" marR="6696" marT="669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dirty="0">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93,1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dirty="0">
                          <a:solidFill>
                            <a:srgbClr val="000000"/>
                          </a:solidFill>
                          <a:effectLst/>
                          <a:latin typeface="Arial" panose="020B0604020202020204" pitchFamily="34" charset="0"/>
                        </a:rPr>
                        <a:t>79</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39</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10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OUI</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extLst>
                  <a:ext uri="{0D108BD9-81ED-4DB2-BD59-A6C34878D82A}">
                    <a16:rowId xmlns="" xmlns:a16="http://schemas.microsoft.com/office/drawing/2014/main" val="234944353"/>
                  </a:ext>
                </a:extLst>
              </a:tr>
              <a:tr h="142961">
                <a:tc>
                  <a:txBody>
                    <a:bodyPr/>
                    <a:lstStyle/>
                    <a:p>
                      <a:pPr algn="l" rtl="0" fontAlgn="b"/>
                      <a:r>
                        <a:rPr lang="fr-CD" sz="900" b="0" i="0" u="none" strike="noStrike" dirty="0">
                          <a:solidFill>
                            <a:srgbClr val="000000"/>
                          </a:solidFill>
                          <a:effectLst/>
                          <a:latin typeface="Arial" panose="020B0604020202020204" pitchFamily="34" charset="0"/>
                        </a:rPr>
                        <a:t>Masi-</a:t>
                      </a:r>
                      <a:r>
                        <a:rPr lang="fr-CD" sz="900" b="0" i="0" u="none" strike="noStrike" dirty="0" err="1">
                          <a:solidFill>
                            <a:srgbClr val="000000"/>
                          </a:solidFill>
                          <a:effectLst/>
                          <a:latin typeface="Arial" panose="020B0604020202020204" pitchFamily="34" charset="0"/>
                        </a:rPr>
                        <a:t>mani</a:t>
                      </a:r>
                      <a:endParaRPr lang="fr-CD" sz="900" b="0" i="0" u="none" strike="noStrike" dirty="0">
                        <a:solidFill>
                          <a:srgbClr val="000000"/>
                        </a:solidFill>
                        <a:effectLst/>
                        <a:latin typeface="Arial" panose="020B0604020202020204" pitchFamily="34" charset="0"/>
                      </a:endParaRP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320752</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153961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5</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4</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80%</a:t>
                      </a:r>
                    </a:p>
                  </a:txBody>
                  <a:tcPr marL="6696" marR="6696" marT="669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dirty="0">
                          <a:solidFill>
                            <a:srgbClr val="000000"/>
                          </a:solidFill>
                          <a:effectLst/>
                          <a:latin typeface="Arial" panose="020B0604020202020204" pitchFamily="34" charset="0"/>
                        </a:rPr>
                        <a:t>2,6</a:t>
                      </a:r>
                    </a:p>
                  </a:txBody>
                  <a:tcPr marL="6696" marR="6696" marT="669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dirty="0">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78</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41,1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OUI</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 xmlns:a16="http://schemas.microsoft.com/office/drawing/2014/main" val="1232854976"/>
                  </a:ext>
                </a:extLst>
              </a:tr>
              <a:tr h="142961">
                <a:tc>
                  <a:txBody>
                    <a:bodyPr/>
                    <a:lstStyle/>
                    <a:p>
                      <a:pPr algn="l" rtl="0" fontAlgn="b"/>
                      <a:r>
                        <a:rPr lang="fr-CD" sz="900" b="0" i="0" u="none" strike="noStrike">
                          <a:solidFill>
                            <a:srgbClr val="000000"/>
                          </a:solidFill>
                          <a:effectLst/>
                          <a:latin typeface="Arial" panose="020B0604020202020204" pitchFamily="34" charset="0"/>
                        </a:rPr>
                        <a:t>Moanza</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229702</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110257</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4</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3</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75%</a:t>
                      </a:r>
                    </a:p>
                  </a:txBody>
                  <a:tcPr marL="6696" marR="6696" marT="669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2,7</a:t>
                      </a:r>
                    </a:p>
                  </a:txBody>
                  <a:tcPr marL="6696" marR="6696" marT="669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95,3</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82</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dirty="0">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NON</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 xmlns:a16="http://schemas.microsoft.com/office/drawing/2014/main" val="3671323294"/>
                  </a:ext>
                </a:extLst>
              </a:tr>
              <a:tr h="142961">
                <a:tc>
                  <a:txBody>
                    <a:bodyPr/>
                    <a:lstStyle/>
                    <a:p>
                      <a:pPr algn="l" rtl="0" fontAlgn="b"/>
                      <a:r>
                        <a:rPr lang="fr-CD" sz="900" b="0" i="0" u="none" strike="noStrike">
                          <a:solidFill>
                            <a:srgbClr val="000000"/>
                          </a:solidFill>
                          <a:effectLst/>
                          <a:latin typeface="Arial" panose="020B0604020202020204" pitchFamily="34" charset="0"/>
                        </a:rPr>
                        <a:t>Mokala</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295258</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141724</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5</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20%</a:t>
                      </a:r>
                    </a:p>
                  </a:txBody>
                  <a:tcPr marL="6696" marR="6696" marT="669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0,7</a:t>
                      </a:r>
                    </a:p>
                  </a:txBody>
                  <a:tcPr marL="6696" marR="6696" marT="669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50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dirty="0">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42</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NON</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 xmlns:a16="http://schemas.microsoft.com/office/drawing/2014/main" val="2041313778"/>
                  </a:ext>
                </a:extLst>
              </a:tr>
              <a:tr h="142961">
                <a:tc>
                  <a:txBody>
                    <a:bodyPr/>
                    <a:lstStyle/>
                    <a:p>
                      <a:pPr algn="l" rtl="0" fontAlgn="b"/>
                      <a:r>
                        <a:rPr lang="fr-CD" sz="900" b="0" i="0" u="none" strike="noStrike">
                          <a:solidFill>
                            <a:srgbClr val="000000"/>
                          </a:solidFill>
                          <a:effectLst/>
                          <a:latin typeface="Arial" panose="020B0604020202020204" pitchFamily="34" charset="0"/>
                        </a:rPr>
                        <a:t>Mosango</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164738</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79074</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3</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14</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2</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467%</a:t>
                      </a:r>
                    </a:p>
                  </a:txBody>
                  <a:tcPr marL="6696" marR="6696" marT="669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17,7</a:t>
                      </a:r>
                    </a:p>
                  </a:txBody>
                  <a:tcPr marL="6696" marR="6696" marT="669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86%</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71,4</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44</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dirty="0">
                          <a:solidFill>
                            <a:srgbClr val="000000"/>
                          </a:solidFill>
                          <a:effectLst/>
                          <a:latin typeface="Arial" panose="020B0604020202020204" pitchFamily="34" charset="0"/>
                        </a:rPr>
                        <a:t>21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25,2</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OUI</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extLst>
                  <a:ext uri="{0D108BD9-81ED-4DB2-BD59-A6C34878D82A}">
                    <a16:rowId xmlns="" xmlns:a16="http://schemas.microsoft.com/office/drawing/2014/main" val="2502611971"/>
                  </a:ext>
                </a:extLst>
              </a:tr>
              <a:tr h="142961">
                <a:tc>
                  <a:txBody>
                    <a:bodyPr/>
                    <a:lstStyle/>
                    <a:p>
                      <a:pPr algn="l" rtl="0" fontAlgn="b"/>
                      <a:r>
                        <a:rPr lang="fr-CD" sz="900" b="0" i="0" u="none" strike="noStrike">
                          <a:solidFill>
                            <a:srgbClr val="000000"/>
                          </a:solidFill>
                          <a:effectLst/>
                          <a:latin typeface="Arial" panose="020B0604020202020204" pitchFamily="34" charset="0"/>
                        </a:rPr>
                        <a:t>Mukedi</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249837</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119922</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4</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250%</a:t>
                      </a:r>
                    </a:p>
                  </a:txBody>
                  <a:tcPr marL="6696" marR="6696" marT="669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8,3</a:t>
                      </a:r>
                    </a:p>
                  </a:txBody>
                  <a:tcPr marL="6696" marR="6696" marT="669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90%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90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dirty="0">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71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dirty="0">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29</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19</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OUI</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extLst>
                  <a:ext uri="{0D108BD9-81ED-4DB2-BD59-A6C34878D82A}">
                    <a16:rowId xmlns="" xmlns:a16="http://schemas.microsoft.com/office/drawing/2014/main" val="2641090274"/>
                  </a:ext>
                </a:extLst>
              </a:tr>
              <a:tr h="142961">
                <a:tc>
                  <a:txBody>
                    <a:bodyPr/>
                    <a:lstStyle/>
                    <a:p>
                      <a:pPr algn="l" rtl="0" fontAlgn="b"/>
                      <a:r>
                        <a:rPr lang="fr-CD" sz="900" b="0" i="0" u="none" strike="noStrike">
                          <a:solidFill>
                            <a:srgbClr val="000000"/>
                          </a:solidFill>
                          <a:effectLst/>
                          <a:latin typeface="Arial" panose="020B0604020202020204" pitchFamily="34" charset="0"/>
                        </a:rPr>
                        <a:t>Mungindu</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171031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82095</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3</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2</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67%</a:t>
                      </a:r>
                    </a:p>
                  </a:txBody>
                  <a:tcPr marL="6696" marR="6696" marT="669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2,4</a:t>
                      </a:r>
                    </a:p>
                  </a:txBody>
                  <a:tcPr marL="6696" marR="6696" marT="669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50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50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38</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dirty="0">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dirty="0">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NON</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 xmlns:a16="http://schemas.microsoft.com/office/drawing/2014/main" val="2976136987"/>
                  </a:ext>
                </a:extLst>
              </a:tr>
              <a:tr h="142961">
                <a:tc>
                  <a:txBody>
                    <a:bodyPr/>
                    <a:lstStyle/>
                    <a:p>
                      <a:pPr algn="l" rtl="0" fontAlgn="b"/>
                      <a:r>
                        <a:rPr lang="fr-CD" sz="800" b="0" i="0" u="none" strike="noStrike" dirty="0">
                          <a:solidFill>
                            <a:srgbClr val="000000"/>
                          </a:solidFill>
                          <a:effectLst/>
                          <a:latin typeface="Arial" panose="020B0604020202020204" pitchFamily="34" charset="0"/>
                        </a:rPr>
                        <a:t>Pay Kongila</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201110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96533</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3</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4</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133%</a:t>
                      </a:r>
                    </a:p>
                  </a:txBody>
                  <a:tcPr marL="6696" marR="6696" marT="669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4,1</a:t>
                      </a:r>
                    </a:p>
                  </a:txBody>
                  <a:tcPr marL="6696" marR="6696" marT="669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71,9</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57</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19</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dirty="0">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OUI</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extLst>
                  <a:ext uri="{0D108BD9-81ED-4DB2-BD59-A6C34878D82A}">
                    <a16:rowId xmlns="" xmlns:a16="http://schemas.microsoft.com/office/drawing/2014/main" val="2591415297"/>
                  </a:ext>
                </a:extLst>
              </a:tr>
              <a:tr h="142961">
                <a:tc>
                  <a:txBody>
                    <a:bodyPr/>
                    <a:lstStyle/>
                    <a:p>
                      <a:pPr algn="l" rtl="0" fontAlgn="b"/>
                      <a:r>
                        <a:rPr lang="fr-CD" sz="800" b="0" i="0" u="none" strike="noStrike" dirty="0">
                          <a:solidFill>
                            <a:srgbClr val="000000"/>
                          </a:solidFill>
                          <a:effectLst/>
                          <a:latin typeface="Arial" panose="020B0604020202020204" pitchFamily="34" charset="0"/>
                        </a:rPr>
                        <a:t>Yasa-Bonga</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302346</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145126</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5</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140%</a:t>
                      </a:r>
                    </a:p>
                  </a:txBody>
                  <a:tcPr marL="6696" marR="6696" marT="669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7,6</a:t>
                      </a:r>
                    </a:p>
                  </a:txBody>
                  <a:tcPr marL="6696" marR="6696" marT="669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59</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50,4</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23</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dirty="0">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OUI</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extLst>
                  <a:ext uri="{0D108BD9-81ED-4DB2-BD59-A6C34878D82A}">
                    <a16:rowId xmlns="" xmlns:a16="http://schemas.microsoft.com/office/drawing/2014/main" val="869164399"/>
                  </a:ext>
                </a:extLst>
              </a:tr>
              <a:tr h="279269">
                <a:tc>
                  <a:txBody>
                    <a:bodyPr/>
                    <a:lstStyle/>
                    <a:p>
                      <a:pPr algn="l" rtl="0" fontAlgn="b"/>
                      <a:r>
                        <a:rPr lang="fr-CD" sz="900" b="0" i="0" u="none" strike="noStrike" dirty="0">
                          <a:solidFill>
                            <a:srgbClr val="000000"/>
                          </a:solidFill>
                          <a:effectLst/>
                          <a:latin typeface="Arial" panose="020B0604020202020204" pitchFamily="34" charset="0"/>
                        </a:rPr>
                        <a:t>ANT KIKWIT</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fr-CD" sz="900" b="0" i="0" u="none" strike="noStrike">
                          <a:solidFill>
                            <a:srgbClr val="000000"/>
                          </a:solidFill>
                          <a:effectLst/>
                          <a:latin typeface="Arial" panose="020B0604020202020204" pitchFamily="34" charset="0"/>
                        </a:rPr>
                        <a:t>5064050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2430744</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81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105</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7</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130%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8,6</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93,30%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77</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97,1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dirty="0">
                          <a:solidFill>
                            <a:srgbClr val="000000"/>
                          </a:solidFill>
                          <a:effectLst/>
                          <a:latin typeface="Arial" panose="020B0604020202020204" pitchFamily="34" charset="0"/>
                        </a:rPr>
                        <a:t>78,9</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39</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dirty="0">
                          <a:solidFill>
                            <a:srgbClr val="000000"/>
                          </a:solidFill>
                          <a:effectLst/>
                          <a:latin typeface="Arial" panose="020B0604020202020204" pitchFamily="34" charset="0"/>
                        </a:rPr>
                        <a:t>18,7</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OUI</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extLst>
                  <a:ext uri="{0D108BD9-81ED-4DB2-BD59-A6C34878D82A}">
                    <a16:rowId xmlns="" xmlns:a16="http://schemas.microsoft.com/office/drawing/2014/main" val="3965600444"/>
                  </a:ext>
                </a:extLst>
              </a:tr>
              <a:tr h="142961">
                <a:tc>
                  <a:txBody>
                    <a:bodyPr/>
                    <a:lstStyle/>
                    <a:p>
                      <a:pPr algn="l" rtl="0" fontAlgn="b"/>
                      <a:r>
                        <a:rPr lang="fr-CD" sz="900" b="0" i="0" u="none" strike="noStrike">
                          <a:solidFill>
                            <a:srgbClr val="000000"/>
                          </a:solidFill>
                          <a:effectLst/>
                          <a:latin typeface="Arial" panose="020B0604020202020204" pitchFamily="34" charset="0"/>
                        </a:rPr>
                        <a:t>Bagata</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298520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143290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5</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9</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180%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6,3</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79</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61,2</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10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dirty="0">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OUI</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extLst>
                  <a:ext uri="{0D108BD9-81ED-4DB2-BD59-A6C34878D82A}">
                    <a16:rowId xmlns="" xmlns:a16="http://schemas.microsoft.com/office/drawing/2014/main" val="3414416537"/>
                  </a:ext>
                </a:extLst>
              </a:tr>
              <a:tr h="142961">
                <a:tc>
                  <a:txBody>
                    <a:bodyPr/>
                    <a:lstStyle/>
                    <a:p>
                      <a:pPr algn="l" rtl="0" fontAlgn="b"/>
                      <a:r>
                        <a:rPr lang="fr-CD" sz="900" b="0" i="0" u="none" strike="noStrike">
                          <a:solidFill>
                            <a:srgbClr val="000000"/>
                          </a:solidFill>
                          <a:effectLst/>
                          <a:latin typeface="Arial" panose="020B0604020202020204" pitchFamily="34" charset="0"/>
                        </a:rPr>
                        <a:t>Bandundu</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285679</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137126</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5</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7</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140%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4,4</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71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61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40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OUI</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extLst>
                  <a:ext uri="{0D108BD9-81ED-4DB2-BD59-A6C34878D82A}">
                    <a16:rowId xmlns="" xmlns:a16="http://schemas.microsoft.com/office/drawing/2014/main" val="3557874795"/>
                  </a:ext>
                </a:extLst>
              </a:tr>
              <a:tr h="142961">
                <a:tc>
                  <a:txBody>
                    <a:bodyPr/>
                    <a:lstStyle/>
                    <a:p>
                      <a:pPr algn="l" rtl="0" fontAlgn="b"/>
                      <a:r>
                        <a:rPr lang="fr-CD" sz="900" b="0" i="0" u="none" strike="noStrike">
                          <a:solidFill>
                            <a:srgbClr val="000000"/>
                          </a:solidFill>
                          <a:effectLst/>
                          <a:latin typeface="Arial" panose="020B0604020202020204" pitchFamily="34" charset="0"/>
                        </a:rPr>
                        <a:t>Djuma</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291242</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139796</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5</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2</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40%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1,4</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50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50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41,8</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dirty="0">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NON</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 xmlns:a16="http://schemas.microsoft.com/office/drawing/2014/main" val="25963533"/>
                  </a:ext>
                </a:extLst>
              </a:tr>
              <a:tr h="142961">
                <a:tc>
                  <a:txBody>
                    <a:bodyPr/>
                    <a:lstStyle/>
                    <a:p>
                      <a:pPr algn="l" rtl="0" fontAlgn="b"/>
                      <a:r>
                        <a:rPr lang="fr-CD" sz="900" b="0" i="0" u="none" strike="noStrike">
                          <a:solidFill>
                            <a:srgbClr val="000000"/>
                          </a:solidFill>
                          <a:effectLst/>
                          <a:latin typeface="Arial" panose="020B0604020202020204" pitchFamily="34" charset="0"/>
                        </a:rPr>
                        <a:t>Kikongo</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251093</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120525</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4</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6</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2</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150%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5</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66,70%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66,7</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dirty="0">
                          <a:solidFill>
                            <a:srgbClr val="000000"/>
                          </a:solidFill>
                          <a:effectLst/>
                          <a:latin typeface="Arial" panose="020B0604020202020204" pitchFamily="34" charset="0"/>
                        </a:rPr>
                        <a:t>89</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dirty="0">
                          <a:solidFill>
                            <a:srgbClr val="000000"/>
                          </a:solidFill>
                          <a:effectLst/>
                          <a:latin typeface="Arial" panose="020B0604020202020204" pitchFamily="34" charset="0"/>
                        </a:rPr>
                        <a:t>8,3</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dirty="0">
                          <a:solidFill>
                            <a:srgbClr val="000000"/>
                          </a:solidFill>
                          <a:effectLst/>
                          <a:latin typeface="Arial" panose="020B0604020202020204" pitchFamily="34" charset="0"/>
                        </a:rPr>
                        <a:t>OUI</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extLst>
                  <a:ext uri="{0D108BD9-81ED-4DB2-BD59-A6C34878D82A}">
                    <a16:rowId xmlns="" xmlns:a16="http://schemas.microsoft.com/office/drawing/2014/main" val="829512819"/>
                  </a:ext>
                </a:extLst>
              </a:tr>
              <a:tr h="142961">
                <a:tc>
                  <a:txBody>
                    <a:bodyPr/>
                    <a:lstStyle/>
                    <a:p>
                      <a:pPr algn="l" rtl="0" fontAlgn="b"/>
                      <a:r>
                        <a:rPr lang="fr-CD" sz="900" b="0" i="0" u="none" strike="noStrike">
                          <a:solidFill>
                            <a:srgbClr val="000000"/>
                          </a:solidFill>
                          <a:effectLst/>
                          <a:latin typeface="Arial" panose="020B0604020202020204" pitchFamily="34" charset="0"/>
                        </a:rPr>
                        <a:t>Sia</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163245</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78358</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3</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3</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2</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3,8</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50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81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dirty="0">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dirty="0">
                          <a:solidFill>
                            <a:srgbClr val="000000"/>
                          </a:solidFill>
                          <a:effectLst/>
                          <a:latin typeface="Arial" panose="020B0604020202020204" pitchFamily="34" charset="0"/>
                        </a:rPr>
                        <a:t>OUI</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extLst>
                  <a:ext uri="{0D108BD9-81ED-4DB2-BD59-A6C34878D82A}">
                    <a16:rowId xmlns="" xmlns:a16="http://schemas.microsoft.com/office/drawing/2014/main" val="3327116819"/>
                  </a:ext>
                </a:extLst>
              </a:tr>
              <a:tr h="142961">
                <a:tc>
                  <a:txBody>
                    <a:bodyPr/>
                    <a:lstStyle/>
                    <a:p>
                      <a:pPr algn="l" rtl="0" fontAlgn="b"/>
                      <a:r>
                        <a:rPr lang="fr-CD" sz="900" b="0" i="0" u="none" strike="noStrike">
                          <a:solidFill>
                            <a:srgbClr val="000000"/>
                          </a:solidFill>
                          <a:effectLst/>
                          <a:latin typeface="Arial" panose="020B0604020202020204" pitchFamily="34" charset="0"/>
                        </a:rPr>
                        <a:t>Vanga</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395098</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189647</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6</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12</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200%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6,3</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58,1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100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87</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dirty="0">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21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dirty="0">
                          <a:solidFill>
                            <a:srgbClr val="000000"/>
                          </a:solidFill>
                          <a:effectLst/>
                          <a:latin typeface="Arial" panose="020B0604020202020204" pitchFamily="34" charset="0"/>
                        </a:rPr>
                        <a:t>25</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dirty="0">
                          <a:solidFill>
                            <a:srgbClr val="000000"/>
                          </a:solidFill>
                          <a:effectLst/>
                          <a:latin typeface="Arial" panose="020B0604020202020204" pitchFamily="34" charset="0"/>
                        </a:rPr>
                        <a:t>OUI</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extLst>
                  <a:ext uri="{0D108BD9-81ED-4DB2-BD59-A6C34878D82A}">
                    <a16:rowId xmlns="" xmlns:a16="http://schemas.microsoft.com/office/drawing/2014/main" val="1564933692"/>
                  </a:ext>
                </a:extLst>
              </a:tr>
              <a:tr h="279269">
                <a:tc>
                  <a:txBody>
                    <a:bodyPr/>
                    <a:lstStyle/>
                    <a:p>
                      <a:pPr algn="l" rtl="0" fontAlgn="b"/>
                      <a:r>
                        <a:rPr lang="fr-CD" sz="900" b="0" i="0" u="none" strike="noStrike" dirty="0">
                          <a:solidFill>
                            <a:srgbClr val="000000"/>
                          </a:solidFill>
                          <a:effectLst/>
                          <a:latin typeface="Arial" panose="020B0604020202020204" pitchFamily="34" charset="0"/>
                        </a:rPr>
                        <a:t>Antenne  Bandundu</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rtl="0" fontAlgn="b"/>
                      <a:r>
                        <a:rPr lang="fr-CD" sz="900" b="0" i="0" u="none" strike="noStrike">
                          <a:solidFill>
                            <a:srgbClr val="000000"/>
                          </a:solidFill>
                          <a:effectLst/>
                          <a:latin typeface="Arial" panose="020B0604020202020204" pitchFamily="34" charset="0"/>
                        </a:rPr>
                        <a:t>1684877</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808741</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28</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39</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4</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139%</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4,8</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87,2</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76,7</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97,4</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79,9</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80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dirty="0">
                          <a:solidFill>
                            <a:srgbClr val="000000"/>
                          </a:solidFill>
                          <a:effectLst/>
                          <a:latin typeface="Arial" panose="020B0604020202020204" pitchFamily="34" charset="0"/>
                        </a:rPr>
                        <a:t>32</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dirty="0">
                          <a:solidFill>
                            <a:srgbClr val="000000"/>
                          </a:solidFill>
                          <a:effectLst/>
                          <a:latin typeface="Arial" panose="020B0604020202020204" pitchFamily="34" charset="0"/>
                        </a:rPr>
                        <a:t>18,9</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dirty="0">
                          <a:solidFill>
                            <a:srgbClr val="000000"/>
                          </a:solidFill>
                          <a:effectLst/>
                          <a:latin typeface="Arial" panose="020B0604020202020204" pitchFamily="34" charset="0"/>
                        </a:rPr>
                        <a:t>OUI</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extLst>
                  <a:ext uri="{0D108BD9-81ED-4DB2-BD59-A6C34878D82A}">
                    <a16:rowId xmlns="" xmlns:a16="http://schemas.microsoft.com/office/drawing/2014/main" val="2055269320"/>
                  </a:ext>
                </a:extLst>
              </a:tr>
              <a:tr h="142961">
                <a:tc>
                  <a:txBody>
                    <a:bodyPr/>
                    <a:lstStyle/>
                    <a:p>
                      <a:pPr algn="l" rtl="0" fontAlgn="b"/>
                      <a:r>
                        <a:rPr lang="fr-CD" sz="900" b="0" i="0" u="none" strike="noStrike">
                          <a:solidFill>
                            <a:srgbClr val="000000"/>
                          </a:solidFill>
                          <a:effectLst/>
                          <a:latin typeface="Arial" panose="020B0604020202020204" pitchFamily="34" charset="0"/>
                        </a:rPr>
                        <a:t>Province</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rtl="0" fontAlgn="b"/>
                      <a:r>
                        <a:rPr lang="fr-CD" sz="900" b="0" i="0" u="none" strike="noStrike">
                          <a:solidFill>
                            <a:srgbClr val="000000"/>
                          </a:solidFill>
                          <a:effectLst/>
                          <a:latin typeface="Arial" panose="020B0604020202020204" pitchFamily="34" charset="0"/>
                        </a:rPr>
                        <a:t>6.748.927</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900" b="0" i="0" u="none" strike="noStrike">
                          <a:solidFill>
                            <a:srgbClr val="000000"/>
                          </a:solidFill>
                          <a:effectLst/>
                          <a:latin typeface="Arial" panose="020B0604020202020204" pitchFamily="34" charset="0"/>
                        </a:rPr>
                        <a:t>3239486</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109</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152</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12</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 </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000" b="0" i="0" u="none" strike="noStrike">
                          <a:solidFill>
                            <a:srgbClr val="000000"/>
                          </a:solidFill>
                          <a:effectLst/>
                          <a:latin typeface="Arial" panose="020B0604020202020204" pitchFamily="34" charset="0"/>
                        </a:rPr>
                        <a:t>134%</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4,5</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89%</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77%</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97%</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a:solidFill>
                            <a:srgbClr val="000000"/>
                          </a:solidFill>
                          <a:effectLst/>
                          <a:latin typeface="Arial" panose="020B0604020202020204" pitchFamily="34" charset="0"/>
                        </a:rPr>
                        <a:t>79%</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000" b="0" i="0" u="none" strike="noStrike">
                          <a:solidFill>
                            <a:srgbClr val="000000"/>
                          </a:solidFill>
                          <a:effectLst/>
                          <a:latin typeface="Arial" panose="020B0604020202020204" pitchFamily="34" charset="0"/>
                        </a:rPr>
                        <a:t>90%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dirty="0">
                          <a:solidFill>
                            <a:srgbClr val="000000"/>
                          </a:solidFill>
                          <a:effectLst/>
                          <a:latin typeface="Arial" panose="020B0604020202020204" pitchFamily="34" charset="0"/>
                        </a:rPr>
                        <a:t>33%</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000" b="0" i="0" u="none" strike="noStrike" dirty="0">
                          <a:solidFill>
                            <a:srgbClr val="000000"/>
                          </a:solidFill>
                          <a:effectLst/>
                          <a:latin typeface="Arial" panose="020B0604020202020204" pitchFamily="34" charset="0"/>
                        </a:rPr>
                        <a:t>18,80%</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ctr" rtl="0" fontAlgn="b"/>
                      <a:r>
                        <a:rPr lang="fr-CD" sz="1000" b="0" i="0" u="none" strike="noStrike" dirty="0">
                          <a:solidFill>
                            <a:srgbClr val="000000"/>
                          </a:solidFill>
                          <a:effectLst/>
                          <a:latin typeface="Arial" panose="020B0604020202020204" pitchFamily="34" charset="0"/>
                        </a:rPr>
                        <a:t>OUI</a:t>
                      </a:r>
                    </a:p>
                  </a:txBody>
                  <a:tcPr marL="6696" marR="6696" marT="66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extLst>
                  <a:ext uri="{0D108BD9-81ED-4DB2-BD59-A6C34878D82A}">
                    <a16:rowId xmlns="" xmlns:a16="http://schemas.microsoft.com/office/drawing/2014/main" val="2959228928"/>
                  </a:ext>
                </a:extLst>
              </a:tr>
            </a:tbl>
          </a:graphicData>
        </a:graphic>
      </p:graphicFrame>
      <p:sp>
        <p:nvSpPr>
          <p:cNvPr id="4" name="Espace réservé du numéro de diapositive 3">
            <a:extLst>
              <a:ext uri="{FF2B5EF4-FFF2-40B4-BE49-F238E27FC236}">
                <a16:creationId xmlns="" xmlns:a16="http://schemas.microsoft.com/office/drawing/2014/main" id="{3EFD74F8-5270-433A-9328-7EB5EFC73EB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extLst>
      <p:ext uri="{BB962C8B-B14F-4D97-AF65-F5344CB8AC3E}">
        <p14:creationId xmlns:p14="http://schemas.microsoft.com/office/powerpoint/2010/main" val="10477984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 xmlns:a16="http://schemas.microsoft.com/office/drawing/2014/main" id="{347C8A0F-64B1-4C4F-B34C-A0AC3A08F43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FFEEBE-C4EF-4AA3-A215-F75F4EC3D231}"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fr-F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Titre 1">
            <a:extLst>
              <a:ext uri="{FF2B5EF4-FFF2-40B4-BE49-F238E27FC236}">
                <a16:creationId xmlns="" xmlns:a16="http://schemas.microsoft.com/office/drawing/2014/main" id="{EC3AF915-1237-4D0F-B412-5410616BAFA6}"/>
              </a:ext>
            </a:extLst>
          </p:cNvPr>
          <p:cNvSpPr>
            <a:spLocks noGrp="1"/>
          </p:cNvSpPr>
          <p:nvPr>
            <p:ph type="title"/>
          </p:nvPr>
        </p:nvSpPr>
        <p:spPr>
          <a:xfrm>
            <a:off x="346363" y="37314"/>
            <a:ext cx="11499272" cy="365125"/>
          </a:xfrm>
          <a:prstGeom prst="rect">
            <a:avLst/>
          </a:prstGeom>
          <a:solidFill>
            <a:schemeClr val="accent6">
              <a:lumMod val="40000"/>
              <a:lumOff val="60000"/>
            </a:schemeClr>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1800" b="1" dirty="0">
                <a:solidFill>
                  <a:srgbClr val="1268B3"/>
                </a:solidFill>
                <a:effectLst/>
                <a:latin typeface="Arial" panose="020B0604020202020204" pitchFamily="34" charset="0"/>
              </a:rPr>
              <a:t/>
            </a:r>
            <a:br>
              <a:rPr lang="fr-FR" sz="1800" b="1" dirty="0">
                <a:solidFill>
                  <a:srgbClr val="1268B3"/>
                </a:solidFill>
                <a:effectLst/>
                <a:latin typeface="Arial" panose="020B0604020202020204" pitchFamily="34" charset="0"/>
              </a:rPr>
            </a:br>
            <a:r>
              <a:rPr lang="fr-FR" sz="1800" b="1" dirty="0">
                <a:solidFill>
                  <a:schemeClr val="accent5"/>
                </a:solidFill>
                <a:effectLst/>
                <a:latin typeface="Arial" panose="020B0604020202020204" pitchFamily="34" charset="0"/>
              </a:rPr>
              <a:t/>
            </a:r>
            <a:br>
              <a:rPr lang="fr-FR" sz="1800" b="1" dirty="0">
                <a:solidFill>
                  <a:schemeClr val="accent5"/>
                </a:solidFill>
                <a:effectLst/>
                <a:latin typeface="Arial" panose="020B0604020202020204" pitchFamily="34" charset="0"/>
              </a:rPr>
            </a:br>
            <a:r>
              <a:rPr lang="fr-FR" sz="1600" b="1" dirty="0">
                <a:solidFill>
                  <a:schemeClr val="accent5"/>
                </a:solidFill>
                <a:effectLst/>
                <a:latin typeface="Arial" panose="020B0604020202020204" pitchFamily="34" charset="0"/>
              </a:rPr>
              <a:t> III.10. Performances de la surveillance de Rougeole de la DPS du Kwilu de S1 à S43-2025 </a:t>
            </a:r>
            <a:r>
              <a:rPr lang="en-US" sz="1600" b="1" dirty="0">
                <a:solidFill>
                  <a:srgbClr val="1268B3"/>
                </a:solidFill>
                <a:effectLst/>
                <a:latin typeface="Arial" panose="020B0604020202020204" pitchFamily="34" charset="0"/>
              </a:rPr>
              <a:t/>
            </a:r>
            <a:br>
              <a:rPr lang="en-US" sz="1600" b="1" dirty="0">
                <a:solidFill>
                  <a:srgbClr val="1268B3"/>
                </a:solidFill>
                <a:effectLst/>
                <a:latin typeface="Arial" panose="020B0604020202020204" pitchFamily="34" charset="0"/>
              </a:rPr>
            </a:br>
            <a:endParaRPr lang="en-US" dirty="0"/>
          </a:p>
        </p:txBody>
      </p:sp>
      <p:graphicFrame>
        <p:nvGraphicFramePr>
          <p:cNvPr id="7" name="Espace réservé du contenu 6">
            <a:extLst>
              <a:ext uri="{FF2B5EF4-FFF2-40B4-BE49-F238E27FC236}">
                <a16:creationId xmlns="" xmlns:a16="http://schemas.microsoft.com/office/drawing/2014/main" id="{2181F3F2-EF90-452A-8C96-B733D8801309}"/>
              </a:ext>
            </a:extLst>
          </p:cNvPr>
          <p:cNvGraphicFramePr>
            <a:graphicFrameLocks noGrp="1"/>
          </p:cNvGraphicFramePr>
          <p:nvPr>
            <p:ph idx="1"/>
            <p:extLst>
              <p:ext uri="{D42A27DB-BD31-4B8C-83A1-F6EECF244321}">
                <p14:modId xmlns:p14="http://schemas.microsoft.com/office/powerpoint/2010/main" val="3969489777"/>
              </p:ext>
            </p:extLst>
          </p:nvPr>
        </p:nvGraphicFramePr>
        <p:xfrm>
          <a:off x="222068" y="324199"/>
          <a:ext cx="11623567" cy="6097572"/>
        </p:xfrm>
        <a:graphic>
          <a:graphicData uri="http://schemas.openxmlformats.org/drawingml/2006/table">
            <a:tbl>
              <a:tblPr/>
              <a:tblGrid>
                <a:gridCol w="1959664">
                  <a:extLst>
                    <a:ext uri="{9D8B030D-6E8A-4147-A177-3AD203B41FA5}">
                      <a16:colId xmlns="" xmlns:a16="http://schemas.microsoft.com/office/drawing/2014/main" val="1932830435"/>
                    </a:ext>
                  </a:extLst>
                </a:gridCol>
                <a:gridCol w="1185474">
                  <a:extLst>
                    <a:ext uri="{9D8B030D-6E8A-4147-A177-3AD203B41FA5}">
                      <a16:colId xmlns="" xmlns:a16="http://schemas.microsoft.com/office/drawing/2014/main" val="3651101538"/>
                    </a:ext>
                  </a:extLst>
                </a:gridCol>
                <a:gridCol w="1185474">
                  <a:extLst>
                    <a:ext uri="{9D8B030D-6E8A-4147-A177-3AD203B41FA5}">
                      <a16:colId xmlns="" xmlns:a16="http://schemas.microsoft.com/office/drawing/2014/main" val="3830818701"/>
                    </a:ext>
                  </a:extLst>
                </a:gridCol>
                <a:gridCol w="1185474">
                  <a:extLst>
                    <a:ext uri="{9D8B030D-6E8A-4147-A177-3AD203B41FA5}">
                      <a16:colId xmlns="" xmlns:a16="http://schemas.microsoft.com/office/drawing/2014/main" val="1390275603"/>
                    </a:ext>
                  </a:extLst>
                </a:gridCol>
                <a:gridCol w="1185474">
                  <a:extLst>
                    <a:ext uri="{9D8B030D-6E8A-4147-A177-3AD203B41FA5}">
                      <a16:colId xmlns="" xmlns:a16="http://schemas.microsoft.com/office/drawing/2014/main" val="2333368120"/>
                    </a:ext>
                  </a:extLst>
                </a:gridCol>
                <a:gridCol w="806446">
                  <a:extLst>
                    <a:ext uri="{9D8B030D-6E8A-4147-A177-3AD203B41FA5}">
                      <a16:colId xmlns="" xmlns:a16="http://schemas.microsoft.com/office/drawing/2014/main" val="3747776579"/>
                    </a:ext>
                  </a:extLst>
                </a:gridCol>
                <a:gridCol w="1596806">
                  <a:extLst>
                    <a:ext uri="{9D8B030D-6E8A-4147-A177-3AD203B41FA5}">
                      <a16:colId xmlns="" xmlns:a16="http://schemas.microsoft.com/office/drawing/2014/main" val="2868905830"/>
                    </a:ext>
                  </a:extLst>
                </a:gridCol>
                <a:gridCol w="653143">
                  <a:extLst>
                    <a:ext uri="{9D8B030D-6E8A-4147-A177-3AD203B41FA5}">
                      <a16:colId xmlns="" xmlns:a16="http://schemas.microsoft.com/office/drawing/2014/main" val="2753200063"/>
                    </a:ext>
                  </a:extLst>
                </a:gridCol>
                <a:gridCol w="680138">
                  <a:extLst>
                    <a:ext uri="{9D8B030D-6E8A-4147-A177-3AD203B41FA5}">
                      <a16:colId xmlns="" xmlns:a16="http://schemas.microsoft.com/office/drawing/2014/main" val="2468982456"/>
                    </a:ext>
                  </a:extLst>
                </a:gridCol>
                <a:gridCol w="1185474">
                  <a:extLst>
                    <a:ext uri="{9D8B030D-6E8A-4147-A177-3AD203B41FA5}">
                      <a16:colId xmlns="" xmlns:a16="http://schemas.microsoft.com/office/drawing/2014/main" val="3328827266"/>
                    </a:ext>
                  </a:extLst>
                </a:gridCol>
              </a:tblGrid>
              <a:tr h="615097">
                <a:tc>
                  <a:txBody>
                    <a:bodyPr/>
                    <a:lstStyle/>
                    <a:p>
                      <a:pPr algn="l" rtl="0" fontAlgn="b"/>
                      <a:r>
                        <a:rPr lang="fr-CD" sz="1800" b="1" i="0" u="none" strike="noStrike" dirty="0">
                          <a:solidFill>
                            <a:srgbClr val="000000"/>
                          </a:solidFill>
                          <a:effectLst/>
                          <a:latin typeface="Arial" panose="020B0604020202020204" pitchFamily="34" charset="0"/>
                        </a:rPr>
                        <a:t>ZS</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1100" b="1" i="0" u="none" strike="noStrike">
                          <a:solidFill>
                            <a:srgbClr val="000000"/>
                          </a:solidFill>
                          <a:effectLst/>
                          <a:latin typeface="Arial" panose="020B0604020202020204" pitchFamily="34" charset="0"/>
                        </a:rPr>
                        <a:t>Population Totale</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1000" b="0" i="0" u="none" strike="noStrike" dirty="0">
                          <a:solidFill>
                            <a:srgbClr val="000000"/>
                          </a:solidFill>
                          <a:effectLst/>
                          <a:latin typeface="Arial" panose="020B0604020202020204" pitchFamily="34" charset="0"/>
                        </a:rPr>
                        <a:t>Cas suspects notifiés de Rougeole </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FR" sz="1000" b="0" i="0" u="none" strike="noStrike">
                          <a:solidFill>
                            <a:srgbClr val="000000"/>
                          </a:solidFill>
                          <a:effectLst/>
                          <a:latin typeface="Arial" panose="020B0604020202020204" pitchFamily="34" charset="0"/>
                        </a:rPr>
                        <a:t>Cas confirmés par le labo</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FR" sz="1000" b="0" i="0" u="none" strike="noStrike">
                          <a:solidFill>
                            <a:srgbClr val="000000"/>
                          </a:solidFill>
                          <a:effectLst/>
                          <a:latin typeface="Arial" panose="020B0604020202020204" pitchFamily="34" charset="0"/>
                        </a:rPr>
                        <a:t>Cas confirmés par le lien épidémiologique</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1000" b="0" i="0" u="none" strike="noStrike">
                          <a:solidFill>
                            <a:srgbClr val="000000"/>
                          </a:solidFill>
                          <a:effectLst/>
                          <a:latin typeface="Arial" panose="020B0604020202020204" pitchFamily="34" charset="0"/>
                        </a:rPr>
                        <a:t>Total cas confirmés</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FR" sz="1000" b="0" i="0" u="none" strike="noStrike" dirty="0">
                          <a:solidFill>
                            <a:srgbClr val="000000"/>
                          </a:solidFill>
                          <a:effectLst/>
                          <a:latin typeface="Arial" panose="020B0604020202020204" pitchFamily="34" charset="0"/>
                        </a:rPr>
                        <a:t>Taux de Fièvre éruptive non rougeoleuse de cas prélevés pour 100000 habitants</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1600" b="0" i="0" u="none" strike="noStrike">
                          <a:solidFill>
                            <a:srgbClr val="000000"/>
                          </a:solidFill>
                          <a:effectLst/>
                          <a:latin typeface="Arial" panose="020B0604020202020204" pitchFamily="34" charset="0"/>
                        </a:rPr>
                        <a:t>Décès</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1100" b="0" i="0" u="none" strike="noStrike">
                          <a:solidFill>
                            <a:srgbClr val="000000"/>
                          </a:solidFill>
                          <a:effectLst/>
                          <a:latin typeface="Arial" panose="020B0604020202020204" pitchFamily="34" charset="0"/>
                        </a:rPr>
                        <a:t>Taux de Létalité</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FR" sz="1000" b="0" i="0" u="none" strike="noStrike">
                          <a:solidFill>
                            <a:srgbClr val="000000"/>
                          </a:solidFill>
                          <a:effectLst/>
                          <a:latin typeface="Arial" panose="020B0604020202020204" pitchFamily="34" charset="0"/>
                        </a:rPr>
                        <a:t>Incidence de la rougeole pour 100000 habitants</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851481569"/>
                  </a:ext>
                </a:extLst>
              </a:tr>
              <a:tr h="219131">
                <a:tc>
                  <a:txBody>
                    <a:bodyPr/>
                    <a:lstStyle/>
                    <a:p>
                      <a:pPr algn="l" rtl="0" fontAlgn="b"/>
                      <a:r>
                        <a:rPr lang="fr-FR" sz="1100" b="0" i="0" u="none" strike="noStrike" dirty="0">
                          <a:solidFill>
                            <a:srgbClr val="000000"/>
                          </a:solidFill>
                          <a:effectLst/>
                          <a:latin typeface="Arial" panose="020B0604020202020204" pitchFamily="34" charset="0"/>
                        </a:rPr>
                        <a:t>kl Bagata Zone de Santé</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Arial" panose="020B0604020202020204" pitchFamily="34" charset="0"/>
                        </a:rPr>
                        <a:t>298520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953434689"/>
                  </a:ext>
                </a:extLst>
              </a:tr>
              <a:tr h="219131">
                <a:tc>
                  <a:txBody>
                    <a:bodyPr/>
                    <a:lstStyle/>
                    <a:p>
                      <a:pPr algn="l" rtl="0" fontAlgn="b"/>
                      <a:r>
                        <a:rPr lang="fr-FR" sz="1100" b="0" i="0" u="none" strike="noStrike">
                          <a:solidFill>
                            <a:srgbClr val="000000"/>
                          </a:solidFill>
                          <a:effectLst/>
                          <a:latin typeface="Arial" panose="020B0604020202020204" pitchFamily="34" charset="0"/>
                        </a:rPr>
                        <a:t>kl Bandundu Zone de Santé</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Arial" panose="020B0604020202020204" pitchFamily="34" charset="0"/>
                        </a:rPr>
                        <a:t>285679</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Calibri" panose="020F0502020204030204" pitchFamily="34" charset="0"/>
                        </a:rPr>
                        <a:t>1</a:t>
                      </a:r>
                      <a:endParaRPr lang="fr-CD" sz="1400" b="0" i="0" u="none" strike="noStrike" dirty="0">
                        <a:solidFill>
                          <a:srgbClr val="000000"/>
                        </a:solidFill>
                        <a:effectLst/>
                        <a:latin typeface="Calibri" panose="020F0502020204030204" pitchFamily="34" charset="0"/>
                      </a:endParaRP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0,4</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965938247"/>
                  </a:ext>
                </a:extLst>
              </a:tr>
              <a:tr h="219131">
                <a:tc>
                  <a:txBody>
                    <a:bodyPr/>
                    <a:lstStyle/>
                    <a:p>
                      <a:pPr algn="l" rtl="0" fontAlgn="b"/>
                      <a:r>
                        <a:rPr lang="fr-FR" sz="1100" b="0" i="0" u="none" strike="noStrike">
                          <a:solidFill>
                            <a:srgbClr val="000000"/>
                          </a:solidFill>
                          <a:effectLst/>
                          <a:latin typeface="Arial" panose="020B0604020202020204" pitchFamily="34" charset="0"/>
                        </a:rPr>
                        <a:t>kl Bulungu Zone de Santé</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373545</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975542638"/>
                  </a:ext>
                </a:extLst>
              </a:tr>
              <a:tr h="219131">
                <a:tc>
                  <a:txBody>
                    <a:bodyPr/>
                    <a:lstStyle/>
                    <a:p>
                      <a:pPr algn="l" rtl="0" fontAlgn="b"/>
                      <a:r>
                        <a:rPr lang="fr-FR" sz="1100" b="0" i="0" u="none" strike="noStrike" dirty="0">
                          <a:solidFill>
                            <a:srgbClr val="000000"/>
                          </a:solidFill>
                          <a:effectLst/>
                          <a:latin typeface="Arial" panose="020B0604020202020204" pitchFamily="34" charset="0"/>
                        </a:rPr>
                        <a:t>kl </a:t>
                      </a:r>
                      <a:r>
                        <a:rPr lang="fr-FR" sz="1100" b="0" i="0" u="none" strike="noStrike" dirty="0" err="1">
                          <a:solidFill>
                            <a:srgbClr val="000000"/>
                          </a:solidFill>
                          <a:effectLst/>
                          <a:latin typeface="Arial" panose="020B0604020202020204" pitchFamily="34" charset="0"/>
                        </a:rPr>
                        <a:t>Djuma</a:t>
                      </a:r>
                      <a:r>
                        <a:rPr lang="fr-FR" sz="1100" b="0" i="0" u="none" strike="noStrike" dirty="0">
                          <a:solidFill>
                            <a:srgbClr val="000000"/>
                          </a:solidFill>
                          <a:effectLst/>
                          <a:latin typeface="Arial" panose="020B0604020202020204" pitchFamily="34" charset="0"/>
                        </a:rPr>
                        <a:t> Zone de Santé</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291242</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Calibri" panose="020F0502020204030204" pitchFamily="34" charset="0"/>
                        </a:rPr>
                        <a:t>124</a:t>
                      </a:r>
                      <a:endParaRPr lang="fr-CD" sz="1400" b="0" i="0" u="none" strike="noStrike" dirty="0">
                        <a:solidFill>
                          <a:srgbClr val="000000"/>
                        </a:solidFill>
                        <a:effectLst/>
                        <a:latin typeface="Calibri" panose="020F0502020204030204" pitchFamily="34" charset="0"/>
                      </a:endParaRP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6</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FR" sz="1400" b="0" i="0" u="none" strike="noStrike" dirty="0">
                          <a:solidFill>
                            <a:srgbClr val="000000"/>
                          </a:solidFill>
                          <a:effectLst/>
                          <a:latin typeface="Calibri" panose="020F0502020204030204" pitchFamily="34" charset="0"/>
                        </a:rPr>
                        <a:t>112</a:t>
                      </a:r>
                      <a:endParaRPr lang="fr-CD" sz="1400" b="0" i="0" u="none" strike="noStrike" dirty="0">
                        <a:solidFill>
                          <a:srgbClr val="000000"/>
                        </a:solidFill>
                        <a:effectLst/>
                        <a:latin typeface="Calibri" panose="020F0502020204030204" pitchFamily="34" charset="0"/>
                      </a:endParaRP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Calibri" panose="020F0502020204030204" pitchFamily="34" charset="0"/>
                        </a:rPr>
                        <a:t>1</a:t>
                      </a:r>
                      <a:r>
                        <a:rPr lang="fr-CD" sz="1400" b="0" i="0" u="none" strike="noStrike" dirty="0">
                          <a:solidFill>
                            <a:srgbClr val="000000"/>
                          </a:solidFill>
                          <a:effectLst/>
                          <a:latin typeface="Calibri" panose="020F0502020204030204" pitchFamily="34" charset="0"/>
                        </a:rPr>
                        <a:t>18</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Calibri" panose="020F0502020204030204" pitchFamily="34" charset="0"/>
                        </a:rPr>
                        <a:t>2</a:t>
                      </a:r>
                      <a:endParaRPr lang="fr-CD" sz="1400" b="0" i="0" u="none" strike="noStrike" dirty="0">
                        <a:solidFill>
                          <a:srgbClr val="000000"/>
                        </a:solidFill>
                        <a:effectLst/>
                        <a:latin typeface="Calibri" panose="020F0502020204030204" pitchFamily="34" charset="0"/>
                      </a:endParaRP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Calibri" panose="020F0502020204030204" pitchFamily="34" charset="0"/>
                        </a:rPr>
                        <a:t>4</a:t>
                      </a:r>
                      <a:r>
                        <a:rPr lang="fr-CD" sz="1400" b="0" i="0" u="none" strike="noStrike" dirty="0">
                          <a:solidFill>
                            <a:srgbClr val="000000"/>
                          </a:solidFill>
                          <a:effectLst/>
                          <a:latin typeface="Calibri" panose="020F0502020204030204" pitchFamily="34" charset="0"/>
                        </a:rPr>
                        <a:t>1</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 xmlns:a16="http://schemas.microsoft.com/office/drawing/2014/main" val="1269473467"/>
                  </a:ext>
                </a:extLst>
              </a:tr>
              <a:tr h="219131">
                <a:tc>
                  <a:txBody>
                    <a:bodyPr/>
                    <a:lstStyle/>
                    <a:p>
                      <a:pPr algn="l" rtl="0" fontAlgn="b"/>
                      <a:r>
                        <a:rPr lang="fr-FR" sz="1100" b="0" i="0" u="none" strike="noStrike" dirty="0">
                          <a:solidFill>
                            <a:srgbClr val="000000"/>
                          </a:solidFill>
                          <a:effectLst/>
                          <a:latin typeface="Arial" panose="020B0604020202020204" pitchFamily="34" charset="0"/>
                        </a:rPr>
                        <a:t>kl </a:t>
                      </a:r>
                      <a:r>
                        <a:rPr lang="fr-FR" sz="1100" b="0" i="0" u="none" strike="noStrike" dirty="0" err="1">
                          <a:solidFill>
                            <a:srgbClr val="000000"/>
                          </a:solidFill>
                          <a:effectLst/>
                          <a:latin typeface="Arial" panose="020B0604020202020204" pitchFamily="34" charset="0"/>
                        </a:rPr>
                        <a:t>Gungu</a:t>
                      </a:r>
                      <a:r>
                        <a:rPr lang="fr-FR" sz="1100" b="0" i="0" u="none" strike="noStrike" dirty="0">
                          <a:solidFill>
                            <a:srgbClr val="000000"/>
                          </a:solidFill>
                          <a:effectLst/>
                          <a:latin typeface="Arial" panose="020B0604020202020204" pitchFamily="34" charset="0"/>
                        </a:rPr>
                        <a:t> Zone de Santé</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347529</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Calibri" panose="020F0502020204030204" pitchFamily="34" charset="0"/>
                        </a:rPr>
                        <a:t>4</a:t>
                      </a:r>
                      <a:endParaRPr lang="fr-CD" sz="1400" b="0" i="0" u="none" strike="noStrike" dirty="0">
                        <a:solidFill>
                          <a:srgbClr val="000000"/>
                        </a:solidFill>
                        <a:effectLst/>
                        <a:latin typeface="Calibri" panose="020F0502020204030204" pitchFamily="34" charset="0"/>
                      </a:endParaRP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Calibri" panose="020F0502020204030204" pitchFamily="34" charset="0"/>
                        </a:rPr>
                        <a:t>1</a:t>
                      </a:r>
                      <a:r>
                        <a:rPr lang="fr-CD" sz="1400" b="0" i="0" u="none" strike="noStrike" dirty="0">
                          <a:solidFill>
                            <a:srgbClr val="000000"/>
                          </a:solidFill>
                          <a:effectLst/>
                          <a:latin typeface="Calibri" panose="020F0502020204030204" pitchFamily="34" charset="0"/>
                        </a:rPr>
                        <a:t>,1</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795781145"/>
                  </a:ext>
                </a:extLst>
              </a:tr>
              <a:tr h="219131">
                <a:tc>
                  <a:txBody>
                    <a:bodyPr/>
                    <a:lstStyle/>
                    <a:p>
                      <a:pPr algn="l" rtl="0" fontAlgn="b"/>
                      <a:r>
                        <a:rPr lang="fr-FR" sz="1100" b="0" i="0" u="none" strike="noStrike">
                          <a:solidFill>
                            <a:srgbClr val="000000"/>
                          </a:solidFill>
                          <a:effectLst/>
                          <a:latin typeface="Arial" panose="020B0604020202020204" pitchFamily="34" charset="0"/>
                        </a:rPr>
                        <a:t>kl Idiofa Zone de Santé</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388180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Calibri" panose="020F0502020204030204" pitchFamily="34" charset="0"/>
                        </a:rPr>
                        <a:t>2</a:t>
                      </a:r>
                      <a:endParaRPr lang="fr-CD" sz="1400" b="0" i="0" u="none" strike="noStrike" dirty="0">
                        <a:solidFill>
                          <a:srgbClr val="000000"/>
                        </a:solidFill>
                        <a:effectLst/>
                        <a:latin typeface="Calibri" panose="020F0502020204030204" pitchFamily="34" charset="0"/>
                      </a:endParaRP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Calibri" panose="020F0502020204030204" pitchFamily="34" charset="0"/>
                        </a:rPr>
                        <a:t>0</a:t>
                      </a:r>
                      <a:r>
                        <a:rPr lang="fr-CD" sz="1400" b="0" i="0" u="none" strike="noStrike" dirty="0">
                          <a:solidFill>
                            <a:srgbClr val="000000"/>
                          </a:solidFill>
                          <a:effectLst/>
                          <a:latin typeface="Calibri" panose="020F0502020204030204" pitchFamily="34" charset="0"/>
                        </a:rPr>
                        <a:t>,5</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132474683"/>
                  </a:ext>
                </a:extLst>
              </a:tr>
              <a:tr h="219131">
                <a:tc>
                  <a:txBody>
                    <a:bodyPr/>
                    <a:lstStyle/>
                    <a:p>
                      <a:pPr algn="l" rtl="0" fontAlgn="b"/>
                      <a:r>
                        <a:rPr lang="fr-FR" sz="1100" b="0" i="0" u="none" strike="noStrike">
                          <a:solidFill>
                            <a:srgbClr val="000000"/>
                          </a:solidFill>
                          <a:effectLst/>
                          <a:latin typeface="Arial" panose="020B0604020202020204" pitchFamily="34" charset="0"/>
                        </a:rPr>
                        <a:t>kl Ipamu Zone de Santé</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271829</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1</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0,4</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418801988"/>
                  </a:ext>
                </a:extLst>
              </a:tr>
              <a:tr h="219131">
                <a:tc>
                  <a:txBody>
                    <a:bodyPr/>
                    <a:lstStyle/>
                    <a:p>
                      <a:pPr algn="l" rtl="0" fontAlgn="b"/>
                      <a:r>
                        <a:rPr lang="fr-FR" sz="1100" b="0" i="0" u="none" strike="noStrike" dirty="0">
                          <a:solidFill>
                            <a:srgbClr val="000000"/>
                          </a:solidFill>
                          <a:effectLst/>
                          <a:latin typeface="Arial" panose="020B0604020202020204" pitchFamily="34" charset="0"/>
                        </a:rPr>
                        <a:t>kl Kikongo Zone de Santé</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251093</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Calibri" panose="020F0502020204030204" pitchFamily="34" charset="0"/>
                        </a:rPr>
                        <a:t>3</a:t>
                      </a:r>
                      <a:r>
                        <a:rPr lang="fr-FR" sz="1400" b="0" i="0" u="none" strike="noStrike" dirty="0">
                          <a:solidFill>
                            <a:srgbClr val="000000"/>
                          </a:solidFill>
                          <a:effectLst/>
                          <a:latin typeface="Calibri" panose="020F0502020204030204" pitchFamily="34" charset="0"/>
                          <a:cs typeface="Calibri" panose="020F0502020204030204" pitchFamily="34" charset="0"/>
                        </a:rPr>
                        <a:t>6</a:t>
                      </a:r>
                      <a:endParaRPr lang="fr-CD" sz="1400" b="0" i="0" u="none" strike="noStrike" dirty="0">
                        <a:solidFill>
                          <a:srgbClr val="000000"/>
                        </a:solidFill>
                        <a:effectLst/>
                        <a:latin typeface="Calibri" panose="020F0502020204030204" pitchFamily="34" charset="0"/>
                      </a:endParaRP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Calibri" panose="020F0502020204030204" pitchFamily="34" charset="0"/>
                        </a:rPr>
                        <a:t>3</a:t>
                      </a:r>
                      <a:endParaRPr lang="fr-CD" sz="1400" b="0" i="0" u="none" strike="noStrike" dirty="0">
                        <a:solidFill>
                          <a:srgbClr val="000000"/>
                        </a:solidFill>
                        <a:effectLst/>
                        <a:latin typeface="Calibri" panose="020F0502020204030204" pitchFamily="34" charset="0"/>
                      </a:endParaRP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highlight>
                            <a:srgbClr val="008000"/>
                          </a:highlight>
                          <a:latin typeface="Calibri" panose="020F0502020204030204" pitchFamily="34" charset="0"/>
                        </a:rPr>
                        <a:t>13,1</a:t>
                      </a:r>
                      <a:endParaRPr lang="fr-CD" sz="1400" b="0" i="0" u="none" strike="noStrike" dirty="0">
                        <a:solidFill>
                          <a:srgbClr val="000000"/>
                        </a:solidFill>
                        <a:effectLst/>
                        <a:highlight>
                          <a:srgbClr val="008000"/>
                        </a:highlight>
                        <a:latin typeface="Calibri" panose="020F0502020204030204" pitchFamily="34" charset="0"/>
                      </a:endParaRP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Calibri" panose="020F0502020204030204" pitchFamily="34" charset="0"/>
                        </a:rPr>
                        <a:t>1,2</a:t>
                      </a:r>
                      <a:endParaRPr lang="fr-CD" sz="1400" b="0" i="0" u="none" strike="noStrike" dirty="0">
                        <a:solidFill>
                          <a:srgbClr val="000000"/>
                        </a:solidFill>
                        <a:effectLst/>
                        <a:latin typeface="Calibri" panose="020F0502020204030204" pitchFamily="34" charset="0"/>
                      </a:endParaRP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928612604"/>
                  </a:ext>
                </a:extLst>
              </a:tr>
              <a:tr h="219131">
                <a:tc>
                  <a:txBody>
                    <a:bodyPr/>
                    <a:lstStyle/>
                    <a:p>
                      <a:pPr algn="l" rtl="0" fontAlgn="b"/>
                      <a:r>
                        <a:rPr lang="fr-FR" sz="1100" b="0" i="0" u="none" strike="noStrike">
                          <a:solidFill>
                            <a:srgbClr val="000000"/>
                          </a:solidFill>
                          <a:effectLst/>
                          <a:latin typeface="Arial" panose="020B0604020202020204" pitchFamily="34" charset="0"/>
                        </a:rPr>
                        <a:t>kl Kikwit Nord Zone de Santé</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333690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Calibri" panose="020F0502020204030204" pitchFamily="34" charset="0"/>
                        </a:rPr>
                        <a:t>3</a:t>
                      </a:r>
                      <a:endParaRPr lang="fr-CD" sz="1400" b="0" i="0" u="none" strike="noStrike" dirty="0">
                        <a:solidFill>
                          <a:srgbClr val="000000"/>
                        </a:solidFill>
                        <a:effectLst/>
                        <a:latin typeface="Calibri" panose="020F0502020204030204" pitchFamily="34" charset="0"/>
                      </a:endParaRP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0,9</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026531837"/>
                  </a:ext>
                </a:extLst>
              </a:tr>
              <a:tr h="219131">
                <a:tc>
                  <a:txBody>
                    <a:bodyPr/>
                    <a:lstStyle/>
                    <a:p>
                      <a:pPr algn="l" rtl="0" fontAlgn="b"/>
                      <a:r>
                        <a:rPr lang="fr-FR" sz="1100" b="0" i="0" u="none" strike="noStrike" dirty="0">
                          <a:solidFill>
                            <a:srgbClr val="000000"/>
                          </a:solidFill>
                          <a:effectLst/>
                          <a:latin typeface="Arial" panose="020B0604020202020204" pitchFamily="34" charset="0"/>
                        </a:rPr>
                        <a:t>kl Kikwit Sud Zone de Santé</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344918</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38</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6</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400" b="0" i="0" u="none" strike="noStrike">
                          <a:solidFill>
                            <a:srgbClr val="000000"/>
                          </a:solidFill>
                          <a:effectLst/>
                          <a:latin typeface="Calibri" panose="020F0502020204030204" pitchFamily="34" charset="0"/>
                        </a:rPr>
                        <a:t>30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36</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0,6</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10,4</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 xmlns:a16="http://schemas.microsoft.com/office/drawing/2014/main" val="1240675121"/>
                  </a:ext>
                </a:extLst>
              </a:tr>
              <a:tr h="219131">
                <a:tc>
                  <a:txBody>
                    <a:bodyPr/>
                    <a:lstStyle/>
                    <a:p>
                      <a:pPr algn="l" rtl="0" fontAlgn="b"/>
                      <a:r>
                        <a:rPr lang="fr-FR" sz="1100" b="0" i="0" u="none" strike="noStrike">
                          <a:solidFill>
                            <a:srgbClr val="000000"/>
                          </a:solidFill>
                          <a:effectLst/>
                          <a:latin typeface="Arial" panose="020B0604020202020204" pitchFamily="34" charset="0"/>
                        </a:rPr>
                        <a:t>kl Kimputu Zone de Santé</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264089</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446092818"/>
                  </a:ext>
                </a:extLst>
              </a:tr>
              <a:tr h="219131">
                <a:tc>
                  <a:txBody>
                    <a:bodyPr/>
                    <a:lstStyle/>
                    <a:p>
                      <a:pPr algn="l" rtl="0" fontAlgn="b"/>
                      <a:r>
                        <a:rPr lang="fr-FR" sz="1100" b="0" i="0" u="none" strike="noStrike">
                          <a:solidFill>
                            <a:srgbClr val="000000"/>
                          </a:solidFill>
                          <a:effectLst/>
                          <a:latin typeface="Arial" panose="020B0604020202020204" pitchFamily="34" charset="0"/>
                        </a:rPr>
                        <a:t>kl Kingandu Zone de Santé</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154381</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75760510"/>
                  </a:ext>
                </a:extLst>
              </a:tr>
              <a:tr h="219131">
                <a:tc>
                  <a:txBody>
                    <a:bodyPr/>
                    <a:lstStyle/>
                    <a:p>
                      <a:pPr algn="l" rtl="0" fontAlgn="b"/>
                      <a:r>
                        <a:rPr lang="fr-FR" sz="1100" b="0" i="0" u="none" strike="noStrike" dirty="0">
                          <a:solidFill>
                            <a:srgbClr val="000000"/>
                          </a:solidFill>
                          <a:effectLst/>
                          <a:latin typeface="Arial" panose="020B0604020202020204" pitchFamily="34" charset="0"/>
                        </a:rPr>
                        <a:t>kl </a:t>
                      </a:r>
                      <a:r>
                        <a:rPr lang="fr-FR" sz="1100" b="0" i="0" u="none" strike="noStrike" dirty="0" err="1">
                          <a:solidFill>
                            <a:srgbClr val="000000"/>
                          </a:solidFill>
                          <a:effectLst/>
                          <a:latin typeface="Arial" panose="020B0604020202020204" pitchFamily="34" charset="0"/>
                        </a:rPr>
                        <a:t>Koshibanda</a:t>
                      </a:r>
                      <a:r>
                        <a:rPr lang="fr-FR" sz="1100" b="0" i="0" u="none" strike="noStrike" dirty="0">
                          <a:solidFill>
                            <a:srgbClr val="000000"/>
                          </a:solidFill>
                          <a:effectLst/>
                          <a:latin typeface="Arial" panose="020B0604020202020204" pitchFamily="34" charset="0"/>
                        </a:rPr>
                        <a:t> Zone de Santé</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274454</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871109099"/>
                  </a:ext>
                </a:extLst>
              </a:tr>
              <a:tr h="219131">
                <a:tc>
                  <a:txBody>
                    <a:bodyPr/>
                    <a:lstStyle/>
                    <a:p>
                      <a:pPr algn="l" rtl="0" fontAlgn="b"/>
                      <a:r>
                        <a:rPr lang="fr-FR" sz="1100" b="0" i="0" u="none" strike="noStrike">
                          <a:solidFill>
                            <a:srgbClr val="000000"/>
                          </a:solidFill>
                          <a:effectLst/>
                          <a:latin typeface="Arial" panose="020B0604020202020204" pitchFamily="34" charset="0"/>
                        </a:rPr>
                        <a:t>kl Lusanga Zone de Santé</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375398</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12</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Calibri" panose="020F0502020204030204" pitchFamily="34" charset="0"/>
                        </a:rPr>
                        <a:t>3</a:t>
                      </a:r>
                      <a:r>
                        <a:rPr lang="fr-CD" sz="1400" b="0" i="0" u="none" strike="noStrike" dirty="0">
                          <a:solidFill>
                            <a:srgbClr val="000000"/>
                          </a:solidFill>
                          <a:effectLst/>
                          <a:latin typeface="Calibri" panose="020F0502020204030204" pitchFamily="34" charset="0"/>
                        </a:rPr>
                        <a:t>,2</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105535848"/>
                  </a:ext>
                </a:extLst>
              </a:tr>
              <a:tr h="219131">
                <a:tc>
                  <a:txBody>
                    <a:bodyPr/>
                    <a:lstStyle/>
                    <a:p>
                      <a:pPr algn="l" rtl="0" fontAlgn="b"/>
                      <a:r>
                        <a:rPr lang="fr-CD" sz="1000" b="0" i="0" u="none" strike="noStrike">
                          <a:solidFill>
                            <a:srgbClr val="000000"/>
                          </a:solidFill>
                          <a:effectLst/>
                          <a:latin typeface="Arial" panose="020B0604020202020204" pitchFamily="34" charset="0"/>
                        </a:rPr>
                        <a:t>kl Masi Manimba Zone de Santé</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320752</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3</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0,9</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296562428"/>
                  </a:ext>
                </a:extLst>
              </a:tr>
              <a:tr h="219131">
                <a:tc>
                  <a:txBody>
                    <a:bodyPr/>
                    <a:lstStyle/>
                    <a:p>
                      <a:pPr algn="l" rtl="0" fontAlgn="b"/>
                      <a:r>
                        <a:rPr lang="fr-FR" sz="1100" b="0" i="0" u="none" strike="noStrike">
                          <a:solidFill>
                            <a:srgbClr val="000000"/>
                          </a:solidFill>
                          <a:effectLst/>
                          <a:latin typeface="Arial" panose="020B0604020202020204" pitchFamily="34" charset="0"/>
                        </a:rPr>
                        <a:t>kl Moanza Zone de Santé</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234130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989474125"/>
                  </a:ext>
                </a:extLst>
              </a:tr>
              <a:tr h="219131">
                <a:tc>
                  <a:txBody>
                    <a:bodyPr/>
                    <a:lstStyle/>
                    <a:p>
                      <a:pPr algn="l" rtl="0" fontAlgn="b"/>
                      <a:r>
                        <a:rPr lang="fr-FR" sz="1100" b="0" i="0" u="none" strike="noStrike">
                          <a:solidFill>
                            <a:srgbClr val="000000"/>
                          </a:solidFill>
                          <a:effectLst/>
                          <a:latin typeface="Arial" panose="020B0604020202020204" pitchFamily="34" charset="0"/>
                        </a:rPr>
                        <a:t>kl Mokala Zone de Santé</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295258</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868415175"/>
                  </a:ext>
                </a:extLst>
              </a:tr>
              <a:tr h="219131">
                <a:tc>
                  <a:txBody>
                    <a:bodyPr/>
                    <a:lstStyle/>
                    <a:p>
                      <a:pPr algn="l" rtl="0" fontAlgn="b"/>
                      <a:r>
                        <a:rPr lang="fr-FR" sz="1100" b="0" i="0" u="none" strike="noStrike">
                          <a:solidFill>
                            <a:srgbClr val="000000"/>
                          </a:solidFill>
                          <a:effectLst/>
                          <a:latin typeface="Arial" panose="020B0604020202020204" pitchFamily="34" charset="0"/>
                        </a:rPr>
                        <a:t>kl Mosango Zone de Santé</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164738</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835688672"/>
                  </a:ext>
                </a:extLst>
              </a:tr>
              <a:tr h="219131">
                <a:tc>
                  <a:txBody>
                    <a:bodyPr/>
                    <a:lstStyle/>
                    <a:p>
                      <a:pPr algn="l" rtl="0" fontAlgn="b"/>
                      <a:r>
                        <a:rPr lang="fr-FR" sz="1100" b="0" i="0" u="none" strike="noStrike">
                          <a:solidFill>
                            <a:srgbClr val="000000"/>
                          </a:solidFill>
                          <a:effectLst/>
                          <a:latin typeface="Arial" panose="020B0604020202020204" pitchFamily="34" charset="0"/>
                        </a:rPr>
                        <a:t>kl Mukedi Zone de Santé</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249837</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3</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1,2</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8056375"/>
                  </a:ext>
                </a:extLst>
              </a:tr>
              <a:tr h="219131">
                <a:tc>
                  <a:txBody>
                    <a:bodyPr/>
                    <a:lstStyle/>
                    <a:p>
                      <a:pPr algn="l" rtl="0" fontAlgn="b"/>
                      <a:r>
                        <a:rPr lang="fr-FR" sz="1100" b="0" i="0" u="none" strike="noStrike">
                          <a:solidFill>
                            <a:srgbClr val="000000"/>
                          </a:solidFill>
                          <a:effectLst/>
                          <a:latin typeface="Arial" panose="020B0604020202020204" pitchFamily="34" charset="0"/>
                        </a:rPr>
                        <a:t>kl Mungindu Zone de Santé</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171789</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1</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0,6</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34282959"/>
                  </a:ext>
                </a:extLst>
              </a:tr>
              <a:tr h="219131">
                <a:tc>
                  <a:txBody>
                    <a:bodyPr/>
                    <a:lstStyle/>
                    <a:p>
                      <a:pPr algn="l" rtl="0" fontAlgn="b"/>
                      <a:r>
                        <a:rPr lang="fr-FR" sz="1100" b="0" i="0" u="none" strike="noStrike">
                          <a:solidFill>
                            <a:srgbClr val="000000"/>
                          </a:solidFill>
                          <a:effectLst/>
                          <a:latin typeface="Arial" panose="020B0604020202020204" pitchFamily="34" charset="0"/>
                        </a:rPr>
                        <a:t>kl Pay Kongila Zone de Santé</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201124</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4262092794"/>
                  </a:ext>
                </a:extLst>
              </a:tr>
              <a:tr h="219131">
                <a:tc>
                  <a:txBody>
                    <a:bodyPr/>
                    <a:lstStyle/>
                    <a:p>
                      <a:pPr algn="l" rtl="0" fontAlgn="b"/>
                      <a:r>
                        <a:rPr lang="fr-FR" sz="1100" b="0" i="0" u="none" strike="noStrike">
                          <a:solidFill>
                            <a:srgbClr val="000000"/>
                          </a:solidFill>
                          <a:effectLst/>
                          <a:latin typeface="Arial" panose="020B0604020202020204" pitchFamily="34" charset="0"/>
                        </a:rPr>
                        <a:t>kl Sia Zone de Santé</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163240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550241616"/>
                  </a:ext>
                </a:extLst>
              </a:tr>
              <a:tr h="219131">
                <a:tc>
                  <a:txBody>
                    <a:bodyPr/>
                    <a:lstStyle/>
                    <a:p>
                      <a:pPr algn="l" rtl="0" fontAlgn="b"/>
                      <a:r>
                        <a:rPr lang="fr-FR" sz="1100" b="0" i="0" u="none" strike="noStrike">
                          <a:solidFill>
                            <a:srgbClr val="000000"/>
                          </a:solidFill>
                          <a:effectLst/>
                          <a:latin typeface="Arial" panose="020B0604020202020204" pitchFamily="34" charset="0"/>
                        </a:rPr>
                        <a:t>kl Vanga Zone de Santé</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395098</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Calibri" panose="020F0502020204030204" pitchFamily="34" charset="0"/>
                        </a:rPr>
                        <a:t>2</a:t>
                      </a:r>
                      <a:endParaRPr lang="fr-CD" sz="1400" b="0" i="0" u="none" strike="noStrike" dirty="0">
                        <a:solidFill>
                          <a:srgbClr val="000000"/>
                        </a:solidFill>
                        <a:effectLst/>
                        <a:latin typeface="Calibri" panose="020F0502020204030204" pitchFamily="34" charset="0"/>
                      </a:endParaRP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0,5</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525320101"/>
                  </a:ext>
                </a:extLst>
              </a:tr>
              <a:tr h="219131">
                <a:tc>
                  <a:txBody>
                    <a:bodyPr/>
                    <a:lstStyle/>
                    <a:p>
                      <a:pPr algn="l" rtl="0" fontAlgn="b"/>
                      <a:r>
                        <a:rPr lang="fr-FR" sz="1100" b="0" i="0" u="none" strike="noStrike">
                          <a:solidFill>
                            <a:srgbClr val="000000"/>
                          </a:solidFill>
                          <a:effectLst/>
                          <a:latin typeface="Arial" panose="020B0604020202020204" pitchFamily="34" charset="0"/>
                        </a:rPr>
                        <a:t>kl Yasa Bonga Zone de Santé</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302349</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3</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1,0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667742663"/>
                  </a:ext>
                </a:extLst>
              </a:tr>
              <a:tr h="219131">
                <a:tc>
                  <a:txBody>
                    <a:bodyPr/>
                    <a:lstStyle/>
                    <a:p>
                      <a:pPr algn="l" rtl="0" fontAlgn="b"/>
                      <a:r>
                        <a:rPr lang="fr-CD" sz="1100" b="0" i="0" u="none" strike="noStrike">
                          <a:solidFill>
                            <a:srgbClr val="000000"/>
                          </a:solidFill>
                          <a:effectLst/>
                          <a:latin typeface="Arial" panose="020B0604020202020204" pitchFamily="34" charset="0"/>
                        </a:rPr>
                        <a:t>kl Kwilu Province</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6752862</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Calibri" panose="020F0502020204030204" pitchFamily="34" charset="0"/>
                        </a:rPr>
                        <a:t>8</a:t>
                      </a:r>
                      <a:r>
                        <a:rPr lang="fr-CD" sz="1400" b="0" i="0" u="none" strike="noStrike" dirty="0">
                          <a:solidFill>
                            <a:srgbClr val="000000"/>
                          </a:solidFill>
                          <a:effectLst/>
                          <a:latin typeface="Calibri" panose="020F0502020204030204" pitchFamily="34" charset="0"/>
                        </a:rPr>
                        <a:t>4</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Calibri" panose="020F0502020204030204" pitchFamily="34" charset="0"/>
                        </a:rPr>
                        <a:t>8</a:t>
                      </a:r>
                      <a:endParaRPr lang="fr-CD" sz="1400" b="0" i="0" u="none" strike="noStrike" dirty="0">
                        <a:solidFill>
                          <a:srgbClr val="000000"/>
                        </a:solidFill>
                        <a:effectLst/>
                        <a:latin typeface="Calibri" panose="020F0502020204030204" pitchFamily="34" charset="0"/>
                      </a:endParaRP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30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38</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0,5</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Calibri" panose="020F0502020204030204" pitchFamily="34" charset="0"/>
                        </a:rPr>
                        <a:t>0</a:t>
                      </a:r>
                      <a:r>
                        <a:rPr lang="fr-CD" sz="1400" b="0" i="0" u="none" strike="noStrike" dirty="0">
                          <a:solidFill>
                            <a:srgbClr val="000000"/>
                          </a:solidFill>
                          <a:effectLst/>
                          <a:latin typeface="Calibri" panose="020F0502020204030204" pitchFamily="34" charset="0"/>
                        </a:rPr>
                        <a:t>,</a:t>
                      </a:r>
                      <a:r>
                        <a:rPr lang="fr-CD" sz="1400" b="0" i="0" u="none" strike="noStrike" dirty="0">
                          <a:solidFill>
                            <a:srgbClr val="000000"/>
                          </a:solidFill>
                          <a:effectLst/>
                          <a:latin typeface="Calibri" panose="020F0502020204030204" pitchFamily="34" charset="0"/>
                          <a:cs typeface="Calibri" panose="020F0502020204030204" pitchFamily="34" charset="0"/>
                        </a:rPr>
                        <a:t>6</a:t>
                      </a:r>
                      <a:endParaRPr lang="fr-CD" sz="1400" b="0" i="0" u="none" strike="noStrike" dirty="0">
                        <a:solidFill>
                          <a:srgbClr val="000000"/>
                        </a:solidFill>
                        <a:effectLst/>
                        <a:latin typeface="Calibri" panose="020F0502020204030204" pitchFamily="34" charset="0"/>
                      </a:endParaRP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 xmlns:a16="http://schemas.microsoft.com/office/drawing/2014/main" val="3693107788"/>
                  </a:ext>
                </a:extLst>
              </a:tr>
            </a:tbl>
          </a:graphicData>
        </a:graphic>
      </p:graphicFrame>
    </p:spTree>
    <p:extLst>
      <p:ext uri="{BB962C8B-B14F-4D97-AF65-F5344CB8AC3E}">
        <p14:creationId xmlns:p14="http://schemas.microsoft.com/office/powerpoint/2010/main" val="1203617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a:xfrm>
            <a:off x="415627" y="165377"/>
            <a:ext cx="11361600" cy="763200"/>
          </a:xfrm>
        </p:spPr>
        <p:txBody>
          <a:bodyPr>
            <a:normAutofit fontScale="90000"/>
          </a:bodyPr>
          <a:lstStyle/>
          <a:p>
            <a:r>
              <a:rPr lang="fr-FR" altLang="en-US"/>
              <a:t>.</a:t>
            </a:r>
          </a:p>
        </p:txBody>
      </p:sp>
      <p:sp>
        <p:nvSpPr>
          <p:cNvPr id="6" name="Espace réservé du texte 5"/>
          <p:cNvSpPr>
            <a:spLocks noGrp="1"/>
          </p:cNvSpPr>
          <p:nvPr>
            <p:ph type="body" idx="1"/>
          </p:nvPr>
        </p:nvSpPr>
        <p:spPr>
          <a:xfrm>
            <a:off x="415925" y="757555"/>
            <a:ext cx="11361420" cy="5334635"/>
          </a:xfrm>
        </p:spPr>
        <p:txBody>
          <a:bodyPr/>
          <a:lstStyle/>
          <a:p>
            <a:pPr marL="152400" indent="0">
              <a:buNone/>
            </a:pPr>
            <a:r>
              <a:rPr lang="fr-FR" altLang="en-US" dirty="0"/>
              <a:t>.</a:t>
            </a:r>
          </a:p>
        </p:txBody>
      </p:sp>
      <p:sp>
        <p:nvSpPr>
          <p:cNvPr id="4" name="Espace réservé du numéro de diapositive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888888"/>
              </a:buClr>
              <a:buSzPts val="900"/>
              <a:buFont typeface="Calibri" panose="020F0502020204030204"/>
              <a:buNone/>
              <a:tabLst/>
              <a:defRPr/>
            </a:pPr>
            <a:fld id="{00000000-1234-1234-1234-123412341234}" type="slidenum">
              <a:rPr kumimoji="0" lang="en-US" sz="1200" b="0" i="0" u="none" strike="noStrike" kern="1200" cap="none" spc="0" normalizeH="0" baseline="0" noProof="0" smtClean="0">
                <a:ln>
                  <a:noFill/>
                </a:ln>
                <a:solidFill>
                  <a:srgbClr val="888888"/>
                </a:solidFill>
                <a:effectLst/>
                <a:uLnTx/>
                <a:uFillTx/>
                <a:latin typeface="Calibri" panose="020F0502020204030204"/>
                <a:cs typeface="Calibri" panose="020F0502020204030204"/>
                <a:sym typeface="Calibri" panose="020F0502020204030204"/>
              </a:rPr>
              <a:pPr marL="0" marR="0" lvl="0" indent="0" algn="r" defTabSz="914400" rtl="0" eaLnBrk="1" fontAlgn="auto" latinLnBrk="0" hangingPunct="1">
                <a:lnSpc>
                  <a:spcPct val="100000"/>
                </a:lnSpc>
                <a:spcBef>
                  <a:spcPts val="0"/>
                </a:spcBef>
                <a:spcAft>
                  <a:spcPts val="0"/>
                </a:spcAft>
                <a:buClr>
                  <a:srgbClr val="888888"/>
                </a:buClr>
                <a:buSzPts val="900"/>
                <a:buFont typeface="Calibri" panose="020F0502020204030204"/>
                <a:buNone/>
                <a:tabLst/>
                <a:defRPr/>
              </a:pPr>
              <a:t>16</a:t>
            </a:fld>
            <a:endParaRPr kumimoji="0" lang="en-US" sz="1200" b="0" i="0" u="none" strike="noStrike" kern="1200" cap="none" spc="0" normalizeH="0" baseline="0" noProof="0">
              <a:ln>
                <a:noFill/>
              </a:ln>
              <a:solidFill>
                <a:srgbClr val="888888"/>
              </a:solidFill>
              <a:effectLst/>
              <a:uLnTx/>
              <a:uFillTx/>
              <a:latin typeface="Calibri" panose="020F0502020204030204"/>
              <a:cs typeface="Calibri" panose="020F0502020204030204"/>
              <a:sym typeface="Calibri" panose="020F0502020204030204"/>
            </a:endParaRPr>
          </a:p>
        </p:txBody>
      </p:sp>
      <p:sp>
        <p:nvSpPr>
          <p:cNvPr id="8" name="Titre 1"/>
          <p:cNvSpPr>
            <a:spLocks noGrp="1"/>
          </p:cNvSpPr>
          <p:nvPr/>
        </p:nvSpPr>
        <p:spPr>
          <a:xfrm>
            <a:off x="340360" y="119380"/>
            <a:ext cx="10554063" cy="386716"/>
          </a:xfrm>
          <a:prstGeom prst="rect">
            <a:avLst/>
          </a:prstGeom>
          <a:solidFill>
            <a:schemeClr val="accent6">
              <a:lumMod val="40000"/>
              <a:lumOff val="60000"/>
            </a:schemeClr>
          </a:solidFill>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1800" b="1" i="0" u="none" strike="noStrike" kern="1200" cap="none" spc="0" normalizeH="0" baseline="0" noProof="0" dirty="0">
                <a:ln>
                  <a:noFill/>
                </a:ln>
                <a:solidFill>
                  <a:srgbClr val="1268B3"/>
                </a:solidFill>
                <a:effectLst/>
                <a:uLnTx/>
                <a:uFillTx/>
                <a:latin typeface="Arial" panose="020B0604020202020204" pitchFamily="34" charset="0"/>
                <a:ea typeface="+mj-ea"/>
                <a:cs typeface="+mj-cs"/>
              </a:rPr>
              <a:t/>
            </a:r>
            <a:br>
              <a:rPr kumimoji="0" lang="fr-FR" sz="1800" b="1" i="0" u="none" strike="noStrike" kern="1200" cap="none" spc="0" normalizeH="0" baseline="0" noProof="0" dirty="0">
                <a:ln>
                  <a:noFill/>
                </a:ln>
                <a:solidFill>
                  <a:srgbClr val="1268B3"/>
                </a:solidFill>
                <a:effectLst/>
                <a:uLnTx/>
                <a:uFillTx/>
                <a:latin typeface="Arial" panose="020B0604020202020204" pitchFamily="34" charset="0"/>
                <a:ea typeface="+mj-ea"/>
                <a:cs typeface="+mj-cs"/>
              </a:rPr>
            </a:br>
            <a:r>
              <a:rPr kumimoji="0" lang="fr-FR" sz="1800" b="1" i="0" u="none" strike="noStrike" kern="1200" cap="none" spc="0" normalizeH="0" baseline="0" noProof="0" dirty="0">
                <a:ln>
                  <a:noFill/>
                </a:ln>
                <a:solidFill>
                  <a:srgbClr val="1268B3"/>
                </a:solidFill>
                <a:effectLst/>
                <a:uLnTx/>
                <a:uFillTx/>
                <a:latin typeface="Arial" panose="020B0604020202020204" pitchFamily="34" charset="0"/>
                <a:ea typeface="+mj-ea"/>
                <a:cs typeface="+mj-cs"/>
              </a:rPr>
              <a:t/>
            </a:r>
            <a:br>
              <a:rPr kumimoji="0" lang="fr-FR" sz="1800" b="1" i="0" u="none" strike="noStrike" kern="1200" cap="none" spc="0" normalizeH="0" baseline="0" noProof="0" dirty="0">
                <a:ln>
                  <a:noFill/>
                </a:ln>
                <a:solidFill>
                  <a:srgbClr val="1268B3"/>
                </a:solidFill>
                <a:effectLst/>
                <a:uLnTx/>
                <a:uFillTx/>
                <a:latin typeface="Arial" panose="020B0604020202020204" pitchFamily="34" charset="0"/>
                <a:ea typeface="+mj-ea"/>
                <a:cs typeface="+mj-cs"/>
              </a:rPr>
            </a:br>
            <a:r>
              <a:rPr kumimoji="0" lang="fr-FR" sz="11200" b="1" i="0" u="none" strike="noStrike" kern="1200" cap="none" spc="0" normalizeH="0" baseline="0" noProof="0" dirty="0">
                <a:ln>
                  <a:noFill/>
                </a:ln>
                <a:solidFill>
                  <a:srgbClr val="1268B3"/>
                </a:solidFill>
                <a:effectLst/>
                <a:uLnTx/>
                <a:uFillTx/>
                <a:latin typeface="Arial" panose="020B0604020202020204" pitchFamily="34" charset="0"/>
                <a:ea typeface="+mj-ea"/>
                <a:cs typeface="+mj-cs"/>
              </a:rPr>
              <a:t>III. 11. </a:t>
            </a:r>
            <a:r>
              <a:rPr kumimoji="0" lang="fr-FR" sz="8000" b="1" i="0" u="none" strike="noStrike" kern="1200" cap="none" spc="0" normalizeH="0" baseline="0" noProof="0" dirty="0">
                <a:ln>
                  <a:noFill/>
                </a:ln>
                <a:solidFill>
                  <a:srgbClr val="1268B3"/>
                </a:solidFill>
                <a:effectLst/>
                <a:uLnTx/>
                <a:uFillTx/>
                <a:latin typeface="Arial" panose="020B0604020202020204" pitchFamily="34" charset="0"/>
                <a:ea typeface="+mj-ea"/>
                <a:cs typeface="+mj-cs"/>
              </a:rPr>
              <a:t>Performances de la surveillance de FJ de la DPS du Kwilu de S01 à S43-2025</a:t>
            </a:r>
            <a:r>
              <a:rPr kumimoji="0" lang="fr-FR" sz="1800" b="1" i="0" u="none" strike="noStrike" kern="1200" cap="none" spc="0" normalizeH="0" baseline="0" noProof="0" dirty="0">
                <a:ln>
                  <a:noFill/>
                </a:ln>
                <a:solidFill>
                  <a:srgbClr val="1268B3"/>
                </a:solidFill>
                <a:effectLst/>
                <a:uLnTx/>
                <a:uFillTx/>
                <a:latin typeface="Arial" panose="020B0604020202020204" pitchFamily="34" charset="0"/>
                <a:ea typeface="+mj-ea"/>
                <a:cs typeface="+mj-cs"/>
              </a:rPr>
              <a:t> </a:t>
            </a:r>
            <a:r>
              <a:rPr kumimoji="0" lang="en-US" sz="1800" b="1" i="0" u="none" strike="noStrike" kern="1200" cap="none" spc="0" normalizeH="0" baseline="0" noProof="0" dirty="0">
                <a:ln>
                  <a:noFill/>
                </a:ln>
                <a:solidFill>
                  <a:srgbClr val="1268B3"/>
                </a:solidFill>
                <a:effectLst/>
                <a:uLnTx/>
                <a:uFillTx/>
                <a:latin typeface="Arial" panose="020B0604020202020204" pitchFamily="34" charset="0"/>
                <a:ea typeface="+mj-ea"/>
                <a:cs typeface="+mj-cs"/>
              </a:rPr>
              <a:t/>
            </a:r>
            <a:br>
              <a:rPr kumimoji="0" lang="en-US" sz="1800" b="1" i="0" u="none" strike="noStrike" kern="1200" cap="none" spc="0" normalizeH="0" baseline="0" noProof="0" dirty="0">
                <a:ln>
                  <a:noFill/>
                </a:ln>
                <a:solidFill>
                  <a:srgbClr val="1268B3"/>
                </a:solidFill>
                <a:effectLst/>
                <a:uLnTx/>
                <a:uFillTx/>
                <a:latin typeface="Arial" panose="020B0604020202020204" pitchFamily="34" charset="0"/>
                <a:ea typeface="+mj-ea"/>
                <a:cs typeface="+mj-cs"/>
              </a:rPr>
            </a:br>
            <a:endParaRPr kumimoji="0" lang="en-US" sz="4400" b="1" i="0" u="none" strike="noStrike" kern="1200" cap="none" spc="0" normalizeH="0" baseline="0" noProof="0" dirty="0">
              <a:ln>
                <a:noFill/>
              </a:ln>
              <a:solidFill>
                <a:prstClr val="black"/>
              </a:solidFill>
              <a:effectLst/>
              <a:uLnTx/>
              <a:uFillTx/>
              <a:latin typeface="Calibri Light"/>
              <a:ea typeface="+mj-ea"/>
              <a:cs typeface="+mj-cs"/>
            </a:endParaRPr>
          </a:p>
        </p:txBody>
      </p:sp>
      <p:graphicFrame>
        <p:nvGraphicFramePr>
          <p:cNvPr id="2" name="Tableau 1">
            <a:extLst>
              <a:ext uri="{FF2B5EF4-FFF2-40B4-BE49-F238E27FC236}">
                <a16:creationId xmlns="" xmlns:a16="http://schemas.microsoft.com/office/drawing/2014/main" id="{63B07130-FE0C-46FA-83C9-2CAC0719CEF1}"/>
              </a:ext>
            </a:extLst>
          </p:cNvPr>
          <p:cNvGraphicFramePr>
            <a:graphicFrameLocks noGrp="1"/>
          </p:cNvGraphicFramePr>
          <p:nvPr>
            <p:extLst>
              <p:ext uri="{D42A27DB-BD31-4B8C-83A1-F6EECF244321}">
                <p14:modId xmlns:p14="http://schemas.microsoft.com/office/powerpoint/2010/main" val="1503214945"/>
              </p:ext>
            </p:extLst>
          </p:nvPr>
        </p:nvGraphicFramePr>
        <p:xfrm>
          <a:off x="340360" y="475612"/>
          <a:ext cx="11250476" cy="5898520"/>
        </p:xfrm>
        <a:graphic>
          <a:graphicData uri="http://schemas.openxmlformats.org/drawingml/2006/table">
            <a:tbl>
              <a:tblPr/>
              <a:tblGrid>
                <a:gridCol w="3163435">
                  <a:extLst>
                    <a:ext uri="{9D8B030D-6E8A-4147-A177-3AD203B41FA5}">
                      <a16:colId xmlns="" xmlns:a16="http://schemas.microsoft.com/office/drawing/2014/main" val="1038472947"/>
                    </a:ext>
                  </a:extLst>
                </a:gridCol>
                <a:gridCol w="1399214">
                  <a:extLst>
                    <a:ext uri="{9D8B030D-6E8A-4147-A177-3AD203B41FA5}">
                      <a16:colId xmlns="" xmlns:a16="http://schemas.microsoft.com/office/drawing/2014/main" val="3103927785"/>
                    </a:ext>
                  </a:extLst>
                </a:gridCol>
                <a:gridCol w="1622275">
                  <a:extLst>
                    <a:ext uri="{9D8B030D-6E8A-4147-A177-3AD203B41FA5}">
                      <a16:colId xmlns="" xmlns:a16="http://schemas.microsoft.com/office/drawing/2014/main" val="3456753289"/>
                    </a:ext>
                  </a:extLst>
                </a:gridCol>
                <a:gridCol w="973365">
                  <a:extLst>
                    <a:ext uri="{9D8B030D-6E8A-4147-A177-3AD203B41FA5}">
                      <a16:colId xmlns="" xmlns:a16="http://schemas.microsoft.com/office/drawing/2014/main" val="3250047742"/>
                    </a:ext>
                  </a:extLst>
                </a:gridCol>
                <a:gridCol w="2177903">
                  <a:extLst>
                    <a:ext uri="{9D8B030D-6E8A-4147-A177-3AD203B41FA5}">
                      <a16:colId xmlns="" xmlns:a16="http://schemas.microsoft.com/office/drawing/2014/main" val="1784661267"/>
                    </a:ext>
                  </a:extLst>
                </a:gridCol>
                <a:gridCol w="973365">
                  <a:extLst>
                    <a:ext uri="{9D8B030D-6E8A-4147-A177-3AD203B41FA5}">
                      <a16:colId xmlns="" xmlns:a16="http://schemas.microsoft.com/office/drawing/2014/main" val="4244158595"/>
                    </a:ext>
                  </a:extLst>
                </a:gridCol>
                <a:gridCol w="940919">
                  <a:extLst>
                    <a:ext uri="{9D8B030D-6E8A-4147-A177-3AD203B41FA5}">
                      <a16:colId xmlns="" xmlns:a16="http://schemas.microsoft.com/office/drawing/2014/main" val="3118063179"/>
                    </a:ext>
                  </a:extLst>
                </a:gridCol>
              </a:tblGrid>
              <a:tr h="243802">
                <a:tc>
                  <a:txBody>
                    <a:bodyPr/>
                    <a:lstStyle/>
                    <a:p>
                      <a:pPr algn="l" rtl="0" fontAlgn="b"/>
                      <a:r>
                        <a:rPr lang="fr-CD" sz="1600" b="1" i="0" u="none" strike="noStrike" dirty="0">
                          <a:solidFill>
                            <a:srgbClr val="000000"/>
                          </a:solidFill>
                          <a:effectLst/>
                          <a:latin typeface="Arial" panose="020B0604020202020204" pitchFamily="34" charset="0"/>
                        </a:rPr>
                        <a:t>ZS</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1400" b="0" i="0" u="none" strike="noStrike" dirty="0">
                          <a:solidFill>
                            <a:srgbClr val="000000"/>
                          </a:solidFill>
                          <a:effectLst/>
                          <a:latin typeface="Arial" panose="020B0604020202020204" pitchFamily="34" charset="0"/>
                        </a:rPr>
                        <a:t>Population Totale</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FR" sz="1400" b="0" i="0" u="none" strike="noStrike" dirty="0">
                          <a:solidFill>
                            <a:srgbClr val="000000"/>
                          </a:solidFill>
                          <a:effectLst/>
                          <a:latin typeface="Arial" panose="020B0604020202020204" pitchFamily="34" charset="0"/>
                        </a:rPr>
                        <a:t>Cas suspects de FJ notifiés</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fr-CD" sz="1400" b="0" i="0" u="none" strike="noStrike">
                          <a:solidFill>
                            <a:srgbClr val="000000"/>
                          </a:solidFill>
                          <a:effectLst/>
                          <a:latin typeface="Arial" panose="020B0604020202020204" pitchFamily="34" charset="0"/>
                        </a:rPr>
                        <a:t>Cas confirmés</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FR" sz="1200" b="0" i="0" u="none" strike="noStrike" dirty="0">
                          <a:solidFill>
                            <a:srgbClr val="000000"/>
                          </a:solidFill>
                          <a:effectLst/>
                          <a:latin typeface="Arial" panose="020B0604020202020204" pitchFamily="34" charset="0"/>
                        </a:rPr>
                        <a:t>Taux d'ictère fébrile non FJ pour 100000 habitants</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1400" b="0" i="0" u="none" strike="noStrike">
                          <a:solidFill>
                            <a:srgbClr val="000000"/>
                          </a:solidFill>
                          <a:effectLst/>
                          <a:latin typeface="Arial" panose="020B0604020202020204" pitchFamily="34" charset="0"/>
                        </a:rPr>
                        <a:t>Décès</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fr-CD" sz="1400" b="0" i="0" u="none" strike="noStrike">
                          <a:solidFill>
                            <a:srgbClr val="000000"/>
                          </a:solidFill>
                          <a:effectLst/>
                          <a:latin typeface="Arial" panose="020B0604020202020204" pitchFamily="34" charset="0"/>
                        </a:rPr>
                        <a:t>Taux de Létalité</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569487948"/>
                  </a:ext>
                </a:extLst>
              </a:tr>
              <a:tr h="164301">
                <a:tc>
                  <a:txBody>
                    <a:bodyPr/>
                    <a:lstStyle/>
                    <a:p>
                      <a:pPr algn="l" rtl="0" fontAlgn="b"/>
                      <a:r>
                        <a:rPr lang="fr-FR" sz="1400" b="0" i="0" u="none" strike="noStrike" dirty="0">
                          <a:solidFill>
                            <a:srgbClr val="000000"/>
                          </a:solidFill>
                          <a:effectLst/>
                          <a:latin typeface="Arial" panose="020B0604020202020204" pitchFamily="34" charset="0"/>
                        </a:rPr>
                        <a:t>kl Bagata Zone de Santé</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298520</a:t>
                      </a:r>
                    </a:p>
                  </a:txBody>
                  <a:tcPr marL="5300" marR="5300" marT="53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Arial" panose="020B0604020202020204" pitchFamily="34" charset="0"/>
                        </a:rPr>
                        <a:t>0,0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5911"/>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144901890"/>
                  </a:ext>
                </a:extLst>
              </a:tr>
              <a:tr h="164301">
                <a:tc>
                  <a:txBody>
                    <a:bodyPr/>
                    <a:lstStyle/>
                    <a:p>
                      <a:pPr algn="l" rtl="0" fontAlgn="b"/>
                      <a:r>
                        <a:rPr lang="fr-FR" sz="1400" b="0" i="0" u="none" strike="noStrike">
                          <a:solidFill>
                            <a:srgbClr val="000000"/>
                          </a:solidFill>
                          <a:effectLst/>
                          <a:latin typeface="Arial" panose="020B0604020202020204" pitchFamily="34" charset="0"/>
                        </a:rPr>
                        <a:t>kl Bandundu Zone de Santé</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285679</a:t>
                      </a:r>
                    </a:p>
                  </a:txBody>
                  <a:tcPr marL="5300" marR="5300" marT="53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2</a:t>
                      </a:r>
                    </a:p>
                  </a:txBody>
                  <a:tcPr marL="5300" marR="5300" marT="5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Arial" panose="020B0604020202020204" pitchFamily="34" charset="0"/>
                        </a:rPr>
                        <a:t>0,7</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687127336"/>
                  </a:ext>
                </a:extLst>
              </a:tr>
              <a:tr h="164301">
                <a:tc>
                  <a:txBody>
                    <a:bodyPr/>
                    <a:lstStyle/>
                    <a:p>
                      <a:pPr algn="l" rtl="0" fontAlgn="b"/>
                      <a:r>
                        <a:rPr lang="fr-FR" sz="1400" b="0" i="0" u="none" strike="noStrike">
                          <a:solidFill>
                            <a:srgbClr val="000000"/>
                          </a:solidFill>
                          <a:effectLst/>
                          <a:latin typeface="Arial" panose="020B0604020202020204" pitchFamily="34" charset="0"/>
                        </a:rPr>
                        <a:t>kl Bulungu Zone de Santé</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373545</a:t>
                      </a:r>
                    </a:p>
                  </a:txBody>
                  <a:tcPr marL="5300" marR="5300" marT="53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Calibri" panose="020F0502020204030204" pitchFamily="34" charset="0"/>
                        </a:rPr>
                        <a:t>1</a:t>
                      </a:r>
                      <a:endParaRPr lang="fr-CD" sz="1400" b="0" i="0" u="none" strike="noStrike" dirty="0">
                        <a:solidFill>
                          <a:srgbClr val="000000"/>
                        </a:solidFill>
                        <a:effectLst/>
                        <a:latin typeface="Calibri" panose="020F0502020204030204" pitchFamily="34" charset="0"/>
                      </a:endParaRPr>
                    </a:p>
                  </a:txBody>
                  <a:tcPr marL="5300" marR="5300" marT="5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Arial" panose="020B0604020202020204" pitchFamily="34" charset="0"/>
                        </a:rPr>
                        <a:t>0,3</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746144805"/>
                  </a:ext>
                </a:extLst>
              </a:tr>
              <a:tr h="164301">
                <a:tc>
                  <a:txBody>
                    <a:bodyPr/>
                    <a:lstStyle/>
                    <a:p>
                      <a:pPr algn="l" rtl="0" fontAlgn="b"/>
                      <a:r>
                        <a:rPr lang="fr-FR" sz="1400" b="0" i="0" u="none" strike="noStrike">
                          <a:solidFill>
                            <a:srgbClr val="000000"/>
                          </a:solidFill>
                          <a:effectLst/>
                          <a:latin typeface="Arial" panose="020B0604020202020204" pitchFamily="34" charset="0"/>
                        </a:rPr>
                        <a:t>kl Djuma Zone de Santé</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291242</a:t>
                      </a:r>
                    </a:p>
                  </a:txBody>
                  <a:tcPr marL="5300" marR="5300" marT="53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1</a:t>
                      </a:r>
                    </a:p>
                  </a:txBody>
                  <a:tcPr marL="5300" marR="5300" marT="5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Arial" panose="020B0604020202020204" pitchFamily="34" charset="0"/>
                        </a:rPr>
                        <a:t>0,3</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561287839"/>
                  </a:ext>
                </a:extLst>
              </a:tr>
              <a:tr h="164301">
                <a:tc>
                  <a:txBody>
                    <a:bodyPr/>
                    <a:lstStyle/>
                    <a:p>
                      <a:pPr algn="l" rtl="0" fontAlgn="b"/>
                      <a:r>
                        <a:rPr lang="fr-FR" sz="1400" b="0" i="0" u="none" strike="noStrike">
                          <a:solidFill>
                            <a:srgbClr val="000000"/>
                          </a:solidFill>
                          <a:effectLst/>
                          <a:latin typeface="Arial" panose="020B0604020202020204" pitchFamily="34" charset="0"/>
                        </a:rPr>
                        <a:t>kl Gungu Zone de Santé</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347529</a:t>
                      </a:r>
                    </a:p>
                  </a:txBody>
                  <a:tcPr marL="5300" marR="5300" marT="53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Calibri" panose="020F0502020204030204" pitchFamily="34" charset="0"/>
                        </a:rPr>
                        <a:t>2</a:t>
                      </a:r>
                      <a:endParaRPr lang="fr-CD" sz="1400" b="0" i="0" u="none" strike="noStrike" dirty="0">
                        <a:solidFill>
                          <a:srgbClr val="000000"/>
                        </a:solidFill>
                        <a:effectLst/>
                        <a:latin typeface="Calibri" panose="020F0502020204030204" pitchFamily="34" charset="0"/>
                      </a:endParaRPr>
                    </a:p>
                  </a:txBody>
                  <a:tcPr marL="5300" marR="5300" marT="5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Arial" panose="020B0604020202020204" pitchFamily="34" charset="0"/>
                        </a:rPr>
                        <a:t>0,</a:t>
                      </a:r>
                      <a:r>
                        <a:rPr lang="fr-CD" sz="1400" b="0" i="0" u="none" strike="noStrike" dirty="0">
                          <a:solidFill>
                            <a:srgbClr val="000000"/>
                          </a:solidFill>
                          <a:effectLst/>
                          <a:latin typeface="Calibri" panose="020F0502020204030204" pitchFamily="34" charset="0"/>
                          <a:cs typeface="Calibri" panose="020F0502020204030204" pitchFamily="34" charset="0"/>
                        </a:rPr>
                        <a:t>6</a:t>
                      </a:r>
                      <a:endParaRPr lang="fr-CD" sz="1400" b="0" i="0" u="none" strike="noStrike" dirty="0">
                        <a:solidFill>
                          <a:srgbClr val="000000"/>
                        </a:solidFill>
                        <a:effectLst/>
                        <a:latin typeface="Arial" panose="020B0604020202020204" pitchFamily="34" charset="0"/>
                      </a:endParaRP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137706114"/>
                  </a:ext>
                </a:extLst>
              </a:tr>
              <a:tr h="164301">
                <a:tc>
                  <a:txBody>
                    <a:bodyPr/>
                    <a:lstStyle/>
                    <a:p>
                      <a:pPr algn="l" rtl="0" fontAlgn="b"/>
                      <a:r>
                        <a:rPr lang="fr-FR" sz="1400" b="0" i="0" u="none" strike="noStrike" dirty="0">
                          <a:solidFill>
                            <a:srgbClr val="000000"/>
                          </a:solidFill>
                          <a:effectLst/>
                          <a:latin typeface="Arial" panose="020B0604020202020204" pitchFamily="34" charset="0"/>
                        </a:rPr>
                        <a:t>kl </a:t>
                      </a:r>
                      <a:r>
                        <a:rPr lang="fr-FR" sz="1400" b="0" i="0" u="none" strike="noStrike" dirty="0" err="1">
                          <a:solidFill>
                            <a:srgbClr val="000000"/>
                          </a:solidFill>
                          <a:effectLst/>
                          <a:latin typeface="Arial" panose="020B0604020202020204" pitchFamily="34" charset="0"/>
                        </a:rPr>
                        <a:t>Idiofa</a:t>
                      </a:r>
                      <a:r>
                        <a:rPr lang="fr-FR" sz="1400" b="0" i="0" u="none" strike="noStrike" dirty="0">
                          <a:solidFill>
                            <a:srgbClr val="000000"/>
                          </a:solidFill>
                          <a:effectLst/>
                          <a:latin typeface="Arial" panose="020B0604020202020204" pitchFamily="34" charset="0"/>
                        </a:rPr>
                        <a:t> Zone de Santé</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388180</a:t>
                      </a:r>
                    </a:p>
                  </a:txBody>
                  <a:tcPr marL="5300" marR="5300" marT="53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Calibri" panose="020F0502020204030204" pitchFamily="34" charset="0"/>
                        </a:rPr>
                        <a:t>2</a:t>
                      </a:r>
                      <a:endParaRPr lang="fr-CD" sz="1400" b="0" i="0" u="none" strike="noStrike" dirty="0">
                        <a:solidFill>
                          <a:srgbClr val="000000"/>
                        </a:solidFill>
                        <a:effectLst/>
                        <a:latin typeface="Calibri" panose="020F0502020204030204" pitchFamily="34" charset="0"/>
                      </a:endParaRPr>
                    </a:p>
                  </a:txBody>
                  <a:tcPr marL="5300" marR="5300" marT="5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Arial" panose="020B0604020202020204" pitchFamily="34" charset="0"/>
                        </a:rPr>
                        <a:t>0,5</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4226086368"/>
                  </a:ext>
                </a:extLst>
              </a:tr>
              <a:tr h="164301">
                <a:tc>
                  <a:txBody>
                    <a:bodyPr/>
                    <a:lstStyle/>
                    <a:p>
                      <a:pPr algn="l" rtl="0" fontAlgn="b"/>
                      <a:r>
                        <a:rPr lang="fr-FR" sz="1400" b="0" i="0" u="none" strike="noStrike">
                          <a:solidFill>
                            <a:srgbClr val="000000"/>
                          </a:solidFill>
                          <a:effectLst/>
                          <a:latin typeface="Arial" panose="020B0604020202020204" pitchFamily="34" charset="0"/>
                        </a:rPr>
                        <a:t>kl Ipamu Zone de Santé</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271829</a:t>
                      </a:r>
                    </a:p>
                  </a:txBody>
                  <a:tcPr marL="5300" marR="5300" marT="53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Arial" panose="020B0604020202020204" pitchFamily="34" charset="0"/>
                        </a:rPr>
                        <a:t>0,0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5911"/>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253904664"/>
                  </a:ext>
                </a:extLst>
              </a:tr>
              <a:tr h="164301">
                <a:tc>
                  <a:txBody>
                    <a:bodyPr/>
                    <a:lstStyle/>
                    <a:p>
                      <a:pPr algn="l" rtl="0" fontAlgn="b"/>
                      <a:r>
                        <a:rPr lang="fr-FR" sz="1400" b="0" i="0" u="none" strike="noStrike">
                          <a:solidFill>
                            <a:srgbClr val="000000"/>
                          </a:solidFill>
                          <a:effectLst/>
                          <a:latin typeface="Arial" panose="020B0604020202020204" pitchFamily="34" charset="0"/>
                        </a:rPr>
                        <a:t>kl Kikongo Zone de Santé</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251093</a:t>
                      </a:r>
                    </a:p>
                  </a:txBody>
                  <a:tcPr marL="5300" marR="5300" marT="53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2</a:t>
                      </a:r>
                    </a:p>
                  </a:txBody>
                  <a:tcPr marL="5300" marR="5300" marT="5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Arial" panose="020B0604020202020204" pitchFamily="34" charset="0"/>
                        </a:rPr>
                        <a:t>0,8</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926883946"/>
                  </a:ext>
                </a:extLst>
              </a:tr>
              <a:tr h="164301">
                <a:tc>
                  <a:txBody>
                    <a:bodyPr/>
                    <a:lstStyle/>
                    <a:p>
                      <a:pPr algn="l" rtl="0" fontAlgn="b"/>
                      <a:r>
                        <a:rPr lang="fr-FR" sz="1400" b="0" i="0" u="none" strike="noStrike">
                          <a:solidFill>
                            <a:srgbClr val="000000"/>
                          </a:solidFill>
                          <a:effectLst/>
                          <a:latin typeface="Arial" panose="020B0604020202020204" pitchFamily="34" charset="0"/>
                        </a:rPr>
                        <a:t>kl Kikwit Nord Zone de Santé</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333690</a:t>
                      </a:r>
                    </a:p>
                  </a:txBody>
                  <a:tcPr marL="5300" marR="5300" marT="53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1</a:t>
                      </a:r>
                    </a:p>
                  </a:txBody>
                  <a:tcPr marL="5300" marR="5300" marT="5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Arial" panose="020B0604020202020204" pitchFamily="34" charset="0"/>
                        </a:rPr>
                        <a:t>0,3</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983827781"/>
                  </a:ext>
                </a:extLst>
              </a:tr>
              <a:tr h="164301">
                <a:tc>
                  <a:txBody>
                    <a:bodyPr/>
                    <a:lstStyle/>
                    <a:p>
                      <a:pPr algn="l" rtl="0" fontAlgn="b"/>
                      <a:r>
                        <a:rPr lang="fr-FR" sz="1400" b="0" i="0" u="none" strike="noStrike">
                          <a:solidFill>
                            <a:srgbClr val="000000"/>
                          </a:solidFill>
                          <a:effectLst/>
                          <a:latin typeface="Arial" panose="020B0604020202020204" pitchFamily="34" charset="0"/>
                        </a:rPr>
                        <a:t>kl Kikwit Sud Zone de Santé</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344918</a:t>
                      </a:r>
                    </a:p>
                  </a:txBody>
                  <a:tcPr marL="5300" marR="5300" marT="53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2</a:t>
                      </a:r>
                    </a:p>
                  </a:txBody>
                  <a:tcPr marL="5300" marR="5300" marT="5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Arial" panose="020B0604020202020204" pitchFamily="34" charset="0"/>
                        </a:rPr>
                        <a:t>0,6</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941591930"/>
                  </a:ext>
                </a:extLst>
              </a:tr>
              <a:tr h="164301">
                <a:tc>
                  <a:txBody>
                    <a:bodyPr/>
                    <a:lstStyle/>
                    <a:p>
                      <a:pPr algn="l" rtl="0" fontAlgn="b"/>
                      <a:r>
                        <a:rPr lang="fr-FR" sz="1400" b="0" i="0" u="none" strike="noStrike">
                          <a:solidFill>
                            <a:srgbClr val="000000"/>
                          </a:solidFill>
                          <a:effectLst/>
                          <a:latin typeface="Arial" panose="020B0604020202020204" pitchFamily="34" charset="0"/>
                        </a:rPr>
                        <a:t>kl Kimputu Zone de Santé</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264089</a:t>
                      </a:r>
                    </a:p>
                  </a:txBody>
                  <a:tcPr marL="5300" marR="5300" marT="53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Arial" panose="020B0604020202020204" pitchFamily="34" charset="0"/>
                        </a:rPr>
                        <a:t>0,0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5911"/>
                    </a:solidFill>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735774130"/>
                  </a:ext>
                </a:extLst>
              </a:tr>
              <a:tr h="164301">
                <a:tc>
                  <a:txBody>
                    <a:bodyPr/>
                    <a:lstStyle/>
                    <a:p>
                      <a:pPr algn="l" rtl="0" fontAlgn="b"/>
                      <a:r>
                        <a:rPr lang="fr-FR" sz="1400" b="0" i="0" u="none" strike="noStrike">
                          <a:solidFill>
                            <a:srgbClr val="000000"/>
                          </a:solidFill>
                          <a:effectLst/>
                          <a:latin typeface="Arial" panose="020B0604020202020204" pitchFamily="34" charset="0"/>
                        </a:rPr>
                        <a:t>kl Kingandu Zone de Santé</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154381</a:t>
                      </a:r>
                    </a:p>
                  </a:txBody>
                  <a:tcPr marL="5300" marR="5300" marT="53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0,0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5911"/>
                    </a:solidFill>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521390424"/>
                  </a:ext>
                </a:extLst>
              </a:tr>
              <a:tr h="164301">
                <a:tc>
                  <a:txBody>
                    <a:bodyPr/>
                    <a:lstStyle/>
                    <a:p>
                      <a:pPr algn="l" rtl="0" fontAlgn="b"/>
                      <a:r>
                        <a:rPr lang="fr-FR" sz="1400" b="0" i="0" u="none" strike="noStrike" dirty="0">
                          <a:solidFill>
                            <a:srgbClr val="000000"/>
                          </a:solidFill>
                          <a:effectLst/>
                          <a:latin typeface="Arial" panose="020B0604020202020204" pitchFamily="34" charset="0"/>
                        </a:rPr>
                        <a:t>kl </a:t>
                      </a:r>
                      <a:r>
                        <a:rPr lang="fr-FR" sz="1400" b="0" i="0" u="none" strike="noStrike" dirty="0" err="1">
                          <a:solidFill>
                            <a:srgbClr val="000000"/>
                          </a:solidFill>
                          <a:effectLst/>
                          <a:latin typeface="Arial" panose="020B0604020202020204" pitchFamily="34" charset="0"/>
                        </a:rPr>
                        <a:t>Koshibanda</a:t>
                      </a:r>
                      <a:r>
                        <a:rPr lang="fr-FR" sz="1400" b="0" i="0" u="none" strike="noStrike" dirty="0">
                          <a:solidFill>
                            <a:srgbClr val="000000"/>
                          </a:solidFill>
                          <a:effectLst/>
                          <a:latin typeface="Arial" panose="020B0604020202020204" pitchFamily="34" charset="0"/>
                        </a:rPr>
                        <a:t> Zone de Santé</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274454</a:t>
                      </a:r>
                    </a:p>
                  </a:txBody>
                  <a:tcPr marL="5300" marR="5300" marT="53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Calibri" panose="020F0502020204030204" pitchFamily="34" charset="0"/>
                        </a:rPr>
                        <a:t>4</a:t>
                      </a:r>
                      <a:endParaRPr lang="fr-CD" sz="1400" b="0" i="0" u="none" strike="noStrike" dirty="0">
                        <a:solidFill>
                          <a:srgbClr val="000000"/>
                        </a:solidFill>
                        <a:effectLst/>
                        <a:latin typeface="Calibri" panose="020F0502020204030204" pitchFamily="34" charset="0"/>
                      </a:endParaRPr>
                    </a:p>
                  </a:txBody>
                  <a:tcPr marL="5300" marR="5300" marT="5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Arial" panose="020B0604020202020204" pitchFamily="34" charset="0"/>
                        </a:rPr>
                        <a:t>1</a:t>
                      </a:r>
                      <a:r>
                        <a:rPr lang="fr-CD" sz="1400" b="0" i="0" u="none" strike="noStrike" dirty="0">
                          <a:solidFill>
                            <a:srgbClr val="000000"/>
                          </a:solidFill>
                          <a:effectLst/>
                          <a:latin typeface="Arial" panose="020B0604020202020204" pitchFamily="34" charset="0"/>
                        </a:rPr>
                        <a:t>,5</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98663754"/>
                  </a:ext>
                </a:extLst>
              </a:tr>
              <a:tr h="164301">
                <a:tc>
                  <a:txBody>
                    <a:bodyPr/>
                    <a:lstStyle/>
                    <a:p>
                      <a:pPr algn="l" rtl="0" fontAlgn="b"/>
                      <a:r>
                        <a:rPr lang="fr-FR" sz="1400" b="0" i="0" u="none" strike="noStrike">
                          <a:solidFill>
                            <a:srgbClr val="000000"/>
                          </a:solidFill>
                          <a:effectLst/>
                          <a:latin typeface="Arial" panose="020B0604020202020204" pitchFamily="34" charset="0"/>
                        </a:rPr>
                        <a:t>kl Lusanga Zone de Santé</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375398</a:t>
                      </a:r>
                    </a:p>
                  </a:txBody>
                  <a:tcPr marL="5300" marR="5300" marT="53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Calibri" panose="020F0502020204030204" pitchFamily="34" charset="0"/>
                        </a:rPr>
                        <a:t>1</a:t>
                      </a:r>
                      <a:r>
                        <a:rPr lang="fr-CD" sz="1400" b="0" i="0" u="none" strike="noStrike" dirty="0">
                          <a:solidFill>
                            <a:srgbClr val="000000"/>
                          </a:solidFill>
                          <a:effectLst/>
                          <a:latin typeface="Calibri" panose="020F0502020204030204" pitchFamily="34" charset="0"/>
                        </a:rPr>
                        <a:t>0</a:t>
                      </a:r>
                    </a:p>
                  </a:txBody>
                  <a:tcPr marL="5300" marR="5300" marT="5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Arial" panose="020B0604020202020204" pitchFamily="34" charset="0"/>
                        </a:rPr>
                        <a:t>2</a:t>
                      </a:r>
                      <a:r>
                        <a:rPr lang="fr-CD" sz="1400" b="0" i="0" u="none" strike="noStrike" dirty="0">
                          <a:solidFill>
                            <a:srgbClr val="000000"/>
                          </a:solidFill>
                          <a:effectLst/>
                          <a:latin typeface="Arial" panose="020B0604020202020204" pitchFamily="34" charset="0"/>
                        </a:rPr>
                        <a:t>,7</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118908155"/>
                  </a:ext>
                </a:extLst>
              </a:tr>
              <a:tr h="164301">
                <a:tc>
                  <a:txBody>
                    <a:bodyPr/>
                    <a:lstStyle/>
                    <a:p>
                      <a:pPr algn="l" rtl="0" fontAlgn="b"/>
                      <a:r>
                        <a:rPr lang="fr-CD" sz="1400" b="0" i="0" u="none" strike="noStrike">
                          <a:solidFill>
                            <a:srgbClr val="000000"/>
                          </a:solidFill>
                          <a:effectLst/>
                          <a:latin typeface="Arial" panose="020B0604020202020204" pitchFamily="34" charset="0"/>
                        </a:rPr>
                        <a:t>kl Masi Manimba Zone de Santé</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320752</a:t>
                      </a:r>
                    </a:p>
                  </a:txBody>
                  <a:tcPr marL="5300" marR="5300" marT="53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Arial" panose="020B0604020202020204" pitchFamily="34" charset="0"/>
                        </a:rPr>
                        <a:t>0,0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5911"/>
                    </a:solidFill>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55332259"/>
                  </a:ext>
                </a:extLst>
              </a:tr>
              <a:tr h="164301">
                <a:tc>
                  <a:txBody>
                    <a:bodyPr/>
                    <a:lstStyle/>
                    <a:p>
                      <a:pPr algn="l" rtl="0" fontAlgn="b"/>
                      <a:r>
                        <a:rPr lang="fr-FR" sz="1400" b="0" i="0" u="none" strike="noStrike">
                          <a:solidFill>
                            <a:srgbClr val="000000"/>
                          </a:solidFill>
                          <a:effectLst/>
                          <a:latin typeface="Arial" panose="020B0604020202020204" pitchFamily="34" charset="0"/>
                        </a:rPr>
                        <a:t>kl Moanza Zone de Santé</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234130</a:t>
                      </a:r>
                    </a:p>
                  </a:txBody>
                  <a:tcPr marL="5300" marR="5300" marT="53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Calibri" panose="020F0502020204030204" pitchFamily="34" charset="0"/>
                        </a:rPr>
                        <a:t>8</a:t>
                      </a:r>
                      <a:endParaRPr lang="fr-CD" sz="1400" b="0" i="0" u="none" strike="noStrike" dirty="0">
                        <a:solidFill>
                          <a:srgbClr val="000000"/>
                        </a:solidFill>
                        <a:effectLst/>
                        <a:latin typeface="Calibri" panose="020F0502020204030204" pitchFamily="34" charset="0"/>
                      </a:endParaRPr>
                    </a:p>
                  </a:txBody>
                  <a:tcPr marL="5300" marR="5300" marT="5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Arial" panose="020B0604020202020204" pitchFamily="34" charset="0"/>
                        </a:rPr>
                        <a:t>3,4</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755985071"/>
                  </a:ext>
                </a:extLst>
              </a:tr>
              <a:tr h="164301">
                <a:tc>
                  <a:txBody>
                    <a:bodyPr/>
                    <a:lstStyle/>
                    <a:p>
                      <a:pPr algn="l" rtl="0" fontAlgn="b"/>
                      <a:r>
                        <a:rPr lang="fr-FR" sz="1400" b="0" i="0" u="none" strike="noStrike">
                          <a:solidFill>
                            <a:srgbClr val="000000"/>
                          </a:solidFill>
                          <a:effectLst/>
                          <a:latin typeface="Arial" panose="020B0604020202020204" pitchFamily="34" charset="0"/>
                        </a:rPr>
                        <a:t>kl Mokala Zone de Santé</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295258</a:t>
                      </a:r>
                    </a:p>
                  </a:txBody>
                  <a:tcPr marL="5300" marR="5300" marT="53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0,0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5911"/>
                    </a:solidFill>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526193033"/>
                  </a:ext>
                </a:extLst>
              </a:tr>
              <a:tr h="164301">
                <a:tc>
                  <a:txBody>
                    <a:bodyPr/>
                    <a:lstStyle/>
                    <a:p>
                      <a:pPr algn="l" rtl="0" fontAlgn="b"/>
                      <a:r>
                        <a:rPr lang="fr-FR" sz="1400" b="0" i="0" u="none" strike="noStrike">
                          <a:solidFill>
                            <a:srgbClr val="000000"/>
                          </a:solidFill>
                          <a:effectLst/>
                          <a:latin typeface="Arial" panose="020B0604020202020204" pitchFamily="34" charset="0"/>
                        </a:rPr>
                        <a:t>kl Mosango Zone de Santé</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164738</a:t>
                      </a:r>
                    </a:p>
                  </a:txBody>
                  <a:tcPr marL="5300" marR="5300" marT="53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Calibri" panose="020F0502020204030204" pitchFamily="34" charset="0"/>
                        </a:rPr>
                        <a:t>3</a:t>
                      </a:r>
                      <a:endParaRPr lang="fr-CD" sz="1400" b="0" i="0" u="none" strike="noStrike" dirty="0">
                        <a:solidFill>
                          <a:srgbClr val="000000"/>
                        </a:solidFill>
                        <a:effectLst/>
                        <a:latin typeface="Calibri" panose="020F0502020204030204" pitchFamily="34" charset="0"/>
                      </a:endParaRPr>
                    </a:p>
                  </a:txBody>
                  <a:tcPr marL="5300" marR="5300" marT="5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Arial" panose="020B0604020202020204" pitchFamily="34" charset="0"/>
                        </a:rPr>
                        <a:t>1,8</a:t>
                      </a:r>
                      <a:endParaRPr lang="fr-CD" sz="1400" b="0" i="0" u="none" strike="noStrike" dirty="0">
                        <a:solidFill>
                          <a:srgbClr val="000000"/>
                        </a:solidFill>
                        <a:effectLst/>
                        <a:latin typeface="Arial" panose="020B0604020202020204" pitchFamily="34" charset="0"/>
                      </a:endParaRP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324181767"/>
                  </a:ext>
                </a:extLst>
              </a:tr>
              <a:tr h="164301">
                <a:tc>
                  <a:txBody>
                    <a:bodyPr/>
                    <a:lstStyle/>
                    <a:p>
                      <a:pPr algn="l" rtl="0" fontAlgn="b"/>
                      <a:r>
                        <a:rPr lang="fr-FR" sz="1400" b="0" i="0" u="none" strike="noStrike">
                          <a:solidFill>
                            <a:srgbClr val="000000"/>
                          </a:solidFill>
                          <a:effectLst/>
                          <a:latin typeface="Arial" panose="020B0604020202020204" pitchFamily="34" charset="0"/>
                        </a:rPr>
                        <a:t>kl Mukedi Zone de Santé</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249837</a:t>
                      </a:r>
                    </a:p>
                  </a:txBody>
                  <a:tcPr marL="5300" marR="5300" marT="53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2</a:t>
                      </a:r>
                    </a:p>
                  </a:txBody>
                  <a:tcPr marL="5300" marR="5300" marT="5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0,8</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866426657"/>
                  </a:ext>
                </a:extLst>
              </a:tr>
              <a:tr h="164301">
                <a:tc>
                  <a:txBody>
                    <a:bodyPr/>
                    <a:lstStyle/>
                    <a:p>
                      <a:pPr algn="l" rtl="0" fontAlgn="b"/>
                      <a:r>
                        <a:rPr lang="fr-FR" sz="1400" b="0" i="0" u="none" strike="noStrike">
                          <a:solidFill>
                            <a:srgbClr val="000000"/>
                          </a:solidFill>
                          <a:effectLst/>
                          <a:latin typeface="Arial" panose="020B0604020202020204" pitchFamily="34" charset="0"/>
                        </a:rPr>
                        <a:t>kl Mungindu Zone de Santé</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171789</a:t>
                      </a:r>
                    </a:p>
                  </a:txBody>
                  <a:tcPr marL="5300" marR="5300" marT="53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1</a:t>
                      </a:r>
                    </a:p>
                  </a:txBody>
                  <a:tcPr marL="5300" marR="5300" marT="5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Arial" panose="020B0604020202020204" pitchFamily="34" charset="0"/>
                        </a:rPr>
                        <a:t>0,6</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400" b="0" i="0" u="none" strike="noStrike" dirty="0">
                          <a:solidFill>
                            <a:srgbClr val="000000"/>
                          </a:solidFill>
                          <a:effectLst/>
                          <a:latin typeface="Calibri" panose="020F0502020204030204" pitchFamily="34" charset="0"/>
                        </a:rPr>
                        <a:t>1</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100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 xmlns:a16="http://schemas.microsoft.com/office/drawing/2014/main" val="4075222193"/>
                  </a:ext>
                </a:extLst>
              </a:tr>
              <a:tr h="164301">
                <a:tc>
                  <a:txBody>
                    <a:bodyPr/>
                    <a:lstStyle/>
                    <a:p>
                      <a:pPr algn="l" rtl="0" fontAlgn="b"/>
                      <a:r>
                        <a:rPr lang="fr-FR" sz="1400" b="0" i="0" u="none" strike="noStrike">
                          <a:solidFill>
                            <a:srgbClr val="000000"/>
                          </a:solidFill>
                          <a:effectLst/>
                          <a:latin typeface="Arial" panose="020B0604020202020204" pitchFamily="34" charset="0"/>
                        </a:rPr>
                        <a:t>kl Pay Kongila Zone de Santé</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Arial" panose="020B0604020202020204" pitchFamily="34" charset="0"/>
                        </a:rPr>
                        <a:t>201124</a:t>
                      </a:r>
                    </a:p>
                  </a:txBody>
                  <a:tcPr marL="5300" marR="5300" marT="53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0,0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5911"/>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19564880"/>
                  </a:ext>
                </a:extLst>
              </a:tr>
              <a:tr h="164301">
                <a:tc>
                  <a:txBody>
                    <a:bodyPr/>
                    <a:lstStyle/>
                    <a:p>
                      <a:pPr algn="l" rtl="0" fontAlgn="b"/>
                      <a:r>
                        <a:rPr lang="fr-FR" sz="1400" b="0" i="0" u="none" strike="noStrike">
                          <a:solidFill>
                            <a:srgbClr val="000000"/>
                          </a:solidFill>
                          <a:effectLst/>
                          <a:latin typeface="Arial" panose="020B0604020202020204" pitchFamily="34" charset="0"/>
                        </a:rPr>
                        <a:t>kl Sia Zone de Santé</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163240</a:t>
                      </a:r>
                    </a:p>
                  </a:txBody>
                  <a:tcPr marL="5300" marR="5300" marT="53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0,0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5911"/>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4129416268"/>
                  </a:ext>
                </a:extLst>
              </a:tr>
              <a:tr h="164301">
                <a:tc>
                  <a:txBody>
                    <a:bodyPr/>
                    <a:lstStyle/>
                    <a:p>
                      <a:pPr algn="l" rtl="0" fontAlgn="b"/>
                      <a:r>
                        <a:rPr lang="fr-FR" sz="1400" b="0" i="0" u="none" strike="noStrike">
                          <a:solidFill>
                            <a:srgbClr val="000000"/>
                          </a:solidFill>
                          <a:effectLst/>
                          <a:latin typeface="Arial" panose="020B0604020202020204" pitchFamily="34" charset="0"/>
                        </a:rPr>
                        <a:t>kl Vanga Zone de Santé</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395098</a:t>
                      </a:r>
                    </a:p>
                  </a:txBody>
                  <a:tcPr marL="5300" marR="5300" marT="53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400" b="0" i="0" u="none" strike="noStrike" dirty="0">
                          <a:solidFill>
                            <a:srgbClr val="000000"/>
                          </a:solidFill>
                          <a:effectLst/>
                          <a:latin typeface="Calibri" panose="020F0502020204030204" pitchFamily="34" charset="0"/>
                        </a:rPr>
                        <a:t>2</a:t>
                      </a:r>
                      <a:endParaRPr lang="fr-CD" sz="1400" b="0" i="0" u="none" strike="noStrike" dirty="0">
                        <a:solidFill>
                          <a:srgbClr val="000000"/>
                        </a:solidFill>
                        <a:effectLst/>
                        <a:latin typeface="Calibri" panose="020F0502020204030204" pitchFamily="34" charset="0"/>
                      </a:endParaRPr>
                    </a:p>
                  </a:txBody>
                  <a:tcPr marL="5300" marR="5300" marT="5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Arial" panose="020B0604020202020204" pitchFamily="34" charset="0"/>
                        </a:rPr>
                        <a:t>0,5</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248632110"/>
                  </a:ext>
                </a:extLst>
              </a:tr>
              <a:tr h="164301">
                <a:tc>
                  <a:txBody>
                    <a:bodyPr/>
                    <a:lstStyle/>
                    <a:p>
                      <a:pPr algn="l" rtl="0" fontAlgn="b"/>
                      <a:r>
                        <a:rPr lang="fr-FR" sz="1400" b="0" i="0" u="none" strike="noStrike">
                          <a:solidFill>
                            <a:srgbClr val="000000"/>
                          </a:solidFill>
                          <a:effectLst/>
                          <a:latin typeface="Arial" panose="020B0604020202020204" pitchFamily="34" charset="0"/>
                        </a:rPr>
                        <a:t>kl Yasa Bonga Zone de Santé</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302349</a:t>
                      </a:r>
                    </a:p>
                  </a:txBody>
                  <a:tcPr marL="5300" marR="5300" marT="53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0,0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5911"/>
                    </a:solidFill>
                  </a:tcPr>
                </a:tc>
                <a:tc>
                  <a:txBody>
                    <a:bodyPr/>
                    <a:lstStyle/>
                    <a:p>
                      <a:pPr algn="ctr" rtl="0" fontAlgn="b"/>
                      <a:r>
                        <a:rPr lang="fr-CD" sz="1400" b="0" i="0" u="none" strike="noStrike">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736886483"/>
                  </a:ext>
                </a:extLst>
              </a:tr>
              <a:tr h="164301">
                <a:tc>
                  <a:txBody>
                    <a:bodyPr/>
                    <a:lstStyle/>
                    <a:p>
                      <a:pPr algn="l" rtl="0" fontAlgn="b"/>
                      <a:r>
                        <a:rPr lang="fr-CD" sz="1400" b="0" i="0" u="none" strike="noStrike">
                          <a:solidFill>
                            <a:srgbClr val="000000"/>
                          </a:solidFill>
                          <a:effectLst/>
                          <a:latin typeface="Arial" panose="020B0604020202020204" pitchFamily="34" charset="0"/>
                        </a:rPr>
                        <a:t>kl Kwilu Province</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6752862</a:t>
                      </a:r>
                    </a:p>
                  </a:txBody>
                  <a:tcPr marL="5300" marR="5300" marT="53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Calibri" panose="020F0502020204030204" pitchFamily="34" charset="0"/>
                        </a:rPr>
                        <a:t>42</a:t>
                      </a:r>
                    </a:p>
                  </a:txBody>
                  <a:tcPr marL="5300" marR="5300" marT="5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a:solidFill>
                            <a:srgbClr val="000000"/>
                          </a:solidFill>
                          <a:effectLst/>
                          <a:latin typeface="Arial" panose="020B0604020202020204" pitchFamily="34" charset="0"/>
                        </a:rPr>
                        <a:t>0</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Arial" panose="020B0604020202020204" pitchFamily="34" charset="0"/>
                        </a:rPr>
                        <a:t>0,</a:t>
                      </a:r>
                      <a:r>
                        <a:rPr lang="fr-CD" sz="1400" b="0" i="0" u="none" strike="noStrike" dirty="0">
                          <a:solidFill>
                            <a:srgbClr val="000000"/>
                          </a:solidFill>
                          <a:effectLst/>
                          <a:latin typeface="Calibri" panose="020F0502020204030204" pitchFamily="34" charset="0"/>
                          <a:cs typeface="Calibri" panose="020F0502020204030204" pitchFamily="34" charset="0"/>
                        </a:rPr>
                        <a:t>6</a:t>
                      </a:r>
                      <a:endParaRPr lang="fr-CD" sz="1400" b="0" i="0" u="none" strike="noStrike" dirty="0">
                        <a:solidFill>
                          <a:srgbClr val="000000"/>
                        </a:solidFill>
                        <a:effectLst/>
                        <a:latin typeface="Arial" panose="020B0604020202020204" pitchFamily="34" charset="0"/>
                      </a:endParaRP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b"/>
                      <a:r>
                        <a:rPr lang="fr-CD" sz="1400" b="0" i="0" u="none" strike="noStrike" dirty="0">
                          <a:solidFill>
                            <a:srgbClr val="000000"/>
                          </a:solidFill>
                          <a:effectLst/>
                          <a:latin typeface="Arial" panose="020B0604020202020204" pitchFamily="34" charset="0"/>
                        </a:rPr>
                        <a:t>1</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CD" sz="1400" b="0" i="0" u="none" strike="noStrike" dirty="0">
                          <a:solidFill>
                            <a:srgbClr val="000000"/>
                          </a:solidFill>
                          <a:effectLst/>
                          <a:latin typeface="Arial" panose="020B0604020202020204" pitchFamily="34" charset="0"/>
                        </a:rPr>
                        <a:t>2,4</a:t>
                      </a:r>
                    </a:p>
                  </a:txBody>
                  <a:tcPr marL="5300" marR="5300" marT="5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 xmlns:a16="http://schemas.microsoft.com/office/drawing/2014/main" val="1654593979"/>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Espace réservé du contenu 4"/>
          <p:cNvGraphicFramePr>
            <a:graphicFrameLocks noGrp="1"/>
          </p:cNvGraphicFramePr>
          <p:nvPr>
            <p:ph idx="1"/>
            <p:extLst>
              <p:ext uri="{D42A27DB-BD31-4B8C-83A1-F6EECF244321}">
                <p14:modId xmlns:p14="http://schemas.microsoft.com/office/powerpoint/2010/main" val="2089935197"/>
              </p:ext>
            </p:extLst>
          </p:nvPr>
        </p:nvGraphicFramePr>
        <p:xfrm>
          <a:off x="463795" y="432923"/>
          <a:ext cx="11264409" cy="6150306"/>
        </p:xfrm>
        <a:graphic>
          <a:graphicData uri="http://schemas.openxmlformats.org/drawingml/2006/table">
            <a:tbl>
              <a:tblPr firstRow="1" firstCol="1" bandRow="1"/>
              <a:tblGrid>
                <a:gridCol w="676711">
                  <a:extLst>
                    <a:ext uri="{9D8B030D-6E8A-4147-A177-3AD203B41FA5}">
                      <a16:colId xmlns="" xmlns:a16="http://schemas.microsoft.com/office/drawing/2014/main" val="20000"/>
                    </a:ext>
                  </a:extLst>
                </a:gridCol>
                <a:gridCol w="2064094">
                  <a:extLst>
                    <a:ext uri="{9D8B030D-6E8A-4147-A177-3AD203B41FA5}">
                      <a16:colId xmlns="" xmlns:a16="http://schemas.microsoft.com/office/drawing/2014/main" val="20001"/>
                    </a:ext>
                  </a:extLst>
                </a:gridCol>
                <a:gridCol w="1303320">
                  <a:extLst>
                    <a:ext uri="{9D8B030D-6E8A-4147-A177-3AD203B41FA5}">
                      <a16:colId xmlns="" xmlns:a16="http://schemas.microsoft.com/office/drawing/2014/main" val="20002"/>
                    </a:ext>
                  </a:extLst>
                </a:gridCol>
                <a:gridCol w="1306058">
                  <a:extLst>
                    <a:ext uri="{9D8B030D-6E8A-4147-A177-3AD203B41FA5}">
                      <a16:colId xmlns="" xmlns:a16="http://schemas.microsoft.com/office/drawing/2014/main" val="20003"/>
                    </a:ext>
                  </a:extLst>
                </a:gridCol>
                <a:gridCol w="1730458">
                  <a:extLst>
                    <a:ext uri="{9D8B030D-6E8A-4147-A177-3AD203B41FA5}">
                      <a16:colId xmlns="" xmlns:a16="http://schemas.microsoft.com/office/drawing/2014/main" val="20004"/>
                    </a:ext>
                  </a:extLst>
                </a:gridCol>
                <a:gridCol w="1730458">
                  <a:extLst>
                    <a:ext uri="{9D8B030D-6E8A-4147-A177-3AD203B41FA5}">
                      <a16:colId xmlns="" xmlns:a16="http://schemas.microsoft.com/office/drawing/2014/main" val="20005"/>
                    </a:ext>
                  </a:extLst>
                </a:gridCol>
                <a:gridCol w="1270464">
                  <a:extLst>
                    <a:ext uri="{9D8B030D-6E8A-4147-A177-3AD203B41FA5}">
                      <a16:colId xmlns="" xmlns:a16="http://schemas.microsoft.com/office/drawing/2014/main" val="20006"/>
                    </a:ext>
                  </a:extLst>
                </a:gridCol>
                <a:gridCol w="1182846">
                  <a:extLst>
                    <a:ext uri="{9D8B030D-6E8A-4147-A177-3AD203B41FA5}">
                      <a16:colId xmlns="" xmlns:a16="http://schemas.microsoft.com/office/drawing/2014/main" val="20007"/>
                    </a:ext>
                  </a:extLst>
                </a:gridCol>
              </a:tblGrid>
              <a:tr h="392305">
                <a:tc rowSpan="2">
                  <a:txBody>
                    <a:bodyPr/>
                    <a:lstStyle/>
                    <a:p>
                      <a:pPr algn="ctr" rtl="0" fontAlgn="ctr"/>
                      <a:r>
                        <a:rPr lang="en-US" sz="1400" b="0" i="0" u="none" strike="noStrike" dirty="0">
                          <a:solidFill>
                            <a:srgbClr val="000000"/>
                          </a:solidFill>
                          <a:effectLst/>
                          <a:latin typeface="Times New Roman" panose="02020603050405020304" pitchFamily="18" charset="0"/>
                        </a:rPr>
                        <a:t>N°</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rowSpan="2">
                  <a:txBody>
                    <a:bodyPr/>
                    <a:lstStyle/>
                    <a:p>
                      <a:pPr algn="ctr" rtl="0" fontAlgn="ctr"/>
                      <a:r>
                        <a:rPr lang="en-US" sz="1400" b="0" i="0" u="none" strike="noStrike" dirty="0">
                          <a:solidFill>
                            <a:srgbClr val="000000"/>
                          </a:solidFill>
                          <a:effectLst/>
                          <a:latin typeface="Times New Roman" panose="02020603050405020304" pitchFamily="18" charset="0"/>
                        </a:rPr>
                        <a:t>ZS</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gridSpan="6">
                  <a:txBody>
                    <a:bodyPr/>
                    <a:lstStyle/>
                    <a:p>
                      <a:pPr algn="ctr" fontAlgn="ctr"/>
                      <a:r>
                        <a:rPr lang="fr-FR" sz="1200" b="0" i="0" u="none" strike="noStrike" dirty="0">
                          <a:solidFill>
                            <a:srgbClr val="000000"/>
                          </a:solidFill>
                          <a:effectLst/>
                          <a:latin typeface="Arial" panose="020B0604020202020204" pitchFamily="34" charset="0"/>
                        </a:rPr>
                        <a:t>Indicateurs de surveillance de TNN</a:t>
                      </a:r>
                    </a:p>
                  </a:txBody>
                  <a:tcPr marL="5068" marR="5068" marT="506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 xmlns:a16="http://schemas.microsoft.com/office/drawing/2014/main" val="10000"/>
                  </a:ext>
                </a:extLst>
              </a:tr>
              <a:tr h="288927">
                <a:tc vMerge="1">
                  <a:txBody>
                    <a:bodyPr/>
                    <a:lstStyle/>
                    <a:p>
                      <a:endParaRPr lang="fr-FR"/>
                    </a:p>
                  </a:txBody>
                  <a:tcPr/>
                </a:tc>
                <a:tc vMerge="1">
                  <a:txBody>
                    <a:bodyPr/>
                    <a:lstStyle/>
                    <a:p>
                      <a:endParaRPr lang="fr-FR"/>
                    </a:p>
                  </a:txBody>
                  <a:tcPr/>
                </a:tc>
                <a:tc>
                  <a:txBody>
                    <a:bodyPr/>
                    <a:lstStyle/>
                    <a:p>
                      <a:pPr algn="ctr" rtl="0" fontAlgn="ctr"/>
                      <a:r>
                        <a:rPr lang="en-US" sz="1400" b="0" i="0" u="none" strike="noStrike" dirty="0">
                          <a:solidFill>
                            <a:srgbClr val="000000"/>
                          </a:solidFill>
                          <a:effectLst/>
                          <a:latin typeface="Times New Roman" panose="02020603050405020304" pitchFamily="18" charset="0"/>
                        </a:rPr>
                        <a:t>Cas </a:t>
                      </a:r>
                      <a:r>
                        <a:rPr lang="en-US" sz="1400" b="0" i="0" u="none" strike="noStrike" dirty="0" err="1">
                          <a:solidFill>
                            <a:srgbClr val="000000"/>
                          </a:solidFill>
                          <a:effectLst/>
                          <a:latin typeface="Times New Roman" panose="02020603050405020304" pitchFamily="18" charset="0"/>
                        </a:rPr>
                        <a:t>notifiés</a:t>
                      </a:r>
                      <a:endParaRPr lang="en-US" sz="1400" b="0" i="0" u="none" strike="noStrike" dirty="0">
                        <a:solidFill>
                          <a:srgbClr val="000000"/>
                        </a:solidFill>
                        <a:effectLst/>
                        <a:latin typeface="Times New Roman" panose="02020603050405020304" pitchFamily="18" charset="0"/>
                      </a:endParaRP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Times New Roman" panose="02020603050405020304" pitchFamily="18" charset="0"/>
                        </a:rPr>
                        <a:t>Cas Investigués</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Cas confirmés</a:t>
                      </a:r>
                    </a:p>
                  </a:txBody>
                  <a:tcPr marL="5068" marR="5068" marT="5068" marB="0" anchor="b">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sz="1400" b="0" i="0" u="none" strike="noStrike">
                          <a:solidFill>
                            <a:srgbClr val="000000"/>
                          </a:solidFill>
                          <a:effectLst/>
                          <a:latin typeface="Times New Roman" panose="02020603050405020304" pitchFamily="18" charset="0"/>
                        </a:rPr>
                        <a:t>Cas Ripostés</a:t>
                      </a:r>
                    </a:p>
                  </a:txBody>
                  <a:tcPr marL="5068" marR="5068" marT="5068"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400" b="0" i="0" u="none" strike="noStrike" dirty="0">
                          <a:solidFill>
                            <a:srgbClr val="000000"/>
                          </a:solidFill>
                          <a:effectLst/>
                          <a:latin typeface="Calibri" panose="020F0502020204030204" pitchFamily="34" charset="0"/>
                        </a:rPr>
                        <a:t>Décès</a:t>
                      </a:r>
                    </a:p>
                  </a:txBody>
                  <a:tcPr marL="5068" marR="5068" marT="5068"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l" fontAlgn="b"/>
                      <a:r>
                        <a:rPr lang="en-US" sz="800" b="0" i="0" u="none" strike="noStrike">
                          <a:solidFill>
                            <a:srgbClr val="000000"/>
                          </a:solidFill>
                          <a:effectLst/>
                          <a:latin typeface="Calibri" panose="020F0502020204030204" pitchFamily="34" charset="0"/>
                        </a:rPr>
                        <a:t>Létalité pour 100 cas</a:t>
                      </a:r>
                    </a:p>
                  </a:txBody>
                  <a:tcPr marL="5068" marR="5068" marT="5068"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212505">
                <a:tc>
                  <a:txBody>
                    <a:bodyPr/>
                    <a:lstStyle/>
                    <a:p>
                      <a:pPr algn="just" rtl="0" fontAlgn="ctr"/>
                      <a:r>
                        <a:rPr lang="en-US" sz="1400" b="0" i="0" u="none" strike="noStrike">
                          <a:solidFill>
                            <a:srgbClr val="000000"/>
                          </a:solidFill>
                          <a:effectLst/>
                          <a:latin typeface="Times New Roman" panose="02020603050405020304" pitchFamily="18" charset="0"/>
                        </a:rPr>
                        <a:t>1</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just" rtl="0" fontAlgn="ctr"/>
                      <a:r>
                        <a:rPr lang="en-US" sz="1400" b="0" i="0" u="none" strike="noStrike">
                          <a:solidFill>
                            <a:srgbClr val="000000"/>
                          </a:solidFill>
                          <a:effectLst/>
                          <a:latin typeface="Times New Roman" panose="02020603050405020304" pitchFamily="18" charset="0"/>
                        </a:rPr>
                        <a:t>Bagata</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rtl="0" fontAlgn="ctr"/>
                      <a:r>
                        <a:rPr lang="en-US" sz="1400" b="0" i="0" u="none" strike="noStrike" dirty="0">
                          <a:solidFill>
                            <a:srgbClr val="000000"/>
                          </a:solidFill>
                          <a:effectLst/>
                          <a:latin typeface="Times New Roman" panose="02020603050405020304" pitchFamily="18" charset="0"/>
                        </a:rPr>
                        <a:t>3</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ash"/>
                      <a:round/>
                      <a:headEnd type="none" w="med" len="med"/>
                      <a:tailEnd type="none" w="med" len="med"/>
                    </a:lnB>
                    <a:solidFill>
                      <a:srgbClr val="FFFF00"/>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3</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ash"/>
                      <a:round/>
                      <a:headEnd type="none" w="med" len="med"/>
                      <a:tailEnd type="none" w="med" len="med"/>
                    </a:lnB>
                    <a:solidFill>
                      <a:srgbClr val="FFFF00"/>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3</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ash"/>
                      <a:round/>
                      <a:headEnd type="none" w="med" len="med"/>
                      <a:tailEnd type="none" w="med" len="med"/>
                    </a:lnB>
                    <a:solidFill>
                      <a:srgbClr val="FFFF00"/>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3</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ash"/>
                      <a:round/>
                      <a:headEnd type="none" w="med" len="med"/>
                      <a:tailEnd type="none" w="med" len="med"/>
                    </a:lnB>
                    <a:solidFill>
                      <a:srgbClr val="FFFF00"/>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2</a:t>
                      </a:r>
                    </a:p>
                  </a:txBody>
                  <a:tcPr marL="5068" marR="5068" marT="5068"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fontAlgn="b"/>
                      <a:r>
                        <a:rPr lang="en-US" sz="1050" b="0" i="0" u="none" strike="noStrike" dirty="0">
                          <a:solidFill>
                            <a:srgbClr val="000000"/>
                          </a:solidFill>
                          <a:effectLst/>
                          <a:latin typeface="Calibri" panose="020F0502020204030204" pitchFamily="34" charset="0"/>
                        </a:rPr>
                        <a:t>66,7</a:t>
                      </a:r>
                    </a:p>
                  </a:txBody>
                  <a:tcPr marL="5068" marR="5068" marT="50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 xmlns:a16="http://schemas.microsoft.com/office/drawing/2014/main" val="10002"/>
                  </a:ext>
                </a:extLst>
              </a:tr>
              <a:tr h="212505">
                <a:tc>
                  <a:txBody>
                    <a:bodyPr/>
                    <a:lstStyle/>
                    <a:p>
                      <a:pPr algn="just" rtl="0" fontAlgn="ctr"/>
                      <a:r>
                        <a:rPr lang="en-US" sz="1400" b="0" i="0" u="none" strike="noStrike">
                          <a:solidFill>
                            <a:srgbClr val="000000"/>
                          </a:solidFill>
                          <a:effectLst/>
                          <a:latin typeface="Times New Roman" panose="02020603050405020304" pitchFamily="18" charset="0"/>
                        </a:rPr>
                        <a:t>2</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just" rtl="0" fontAlgn="ctr"/>
                      <a:r>
                        <a:rPr lang="en-US" sz="1400" b="0" i="0" u="none" strike="noStrike">
                          <a:solidFill>
                            <a:srgbClr val="000000"/>
                          </a:solidFill>
                          <a:effectLst/>
                          <a:latin typeface="Times New Roman" panose="02020603050405020304" pitchFamily="18" charset="0"/>
                        </a:rPr>
                        <a:t>Bandundu</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fontAlgn="b"/>
                      <a:r>
                        <a:rPr lang="en-US" sz="1050" b="0" i="0" u="none" strike="noStrike">
                          <a:solidFill>
                            <a:srgbClr val="000000"/>
                          </a:solidFill>
                          <a:effectLst/>
                          <a:latin typeface="Calibri" panose="020F0502020204030204" pitchFamily="34" charset="0"/>
                        </a:rPr>
                        <a:t>0</a:t>
                      </a:r>
                    </a:p>
                  </a:txBody>
                  <a:tcPr marL="5068" marR="5068" marT="50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r h="212505">
                <a:tc>
                  <a:txBody>
                    <a:bodyPr/>
                    <a:lstStyle/>
                    <a:p>
                      <a:pPr algn="just" rtl="0" fontAlgn="ctr"/>
                      <a:r>
                        <a:rPr lang="en-US" sz="1400" b="0" i="0" u="none" strike="noStrike">
                          <a:solidFill>
                            <a:srgbClr val="000000"/>
                          </a:solidFill>
                          <a:effectLst/>
                          <a:latin typeface="Times New Roman" panose="02020603050405020304" pitchFamily="18" charset="0"/>
                        </a:rPr>
                        <a:t>3</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just" rtl="0" fontAlgn="ctr"/>
                      <a:r>
                        <a:rPr lang="en-US" sz="1400" b="0" i="0" u="none" strike="noStrike" dirty="0">
                          <a:solidFill>
                            <a:srgbClr val="000000"/>
                          </a:solidFill>
                          <a:effectLst/>
                          <a:latin typeface="Times New Roman" panose="02020603050405020304" pitchFamily="18" charset="0"/>
                        </a:rPr>
                        <a:t>Bulungu</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fontAlgn="b"/>
                      <a:r>
                        <a:rPr lang="en-US" sz="1050" b="0" i="0" u="none" strike="noStrike">
                          <a:solidFill>
                            <a:srgbClr val="000000"/>
                          </a:solidFill>
                          <a:effectLst/>
                          <a:latin typeface="Calibri" panose="020F0502020204030204" pitchFamily="34" charset="0"/>
                        </a:rPr>
                        <a:t>0</a:t>
                      </a:r>
                    </a:p>
                  </a:txBody>
                  <a:tcPr marL="5068" marR="5068" marT="50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4"/>
                  </a:ext>
                </a:extLst>
              </a:tr>
              <a:tr h="212505">
                <a:tc>
                  <a:txBody>
                    <a:bodyPr/>
                    <a:lstStyle/>
                    <a:p>
                      <a:pPr algn="just" rtl="0" fontAlgn="ctr"/>
                      <a:r>
                        <a:rPr lang="en-US" sz="1400" b="0" i="0" u="none" strike="noStrike">
                          <a:solidFill>
                            <a:srgbClr val="000000"/>
                          </a:solidFill>
                          <a:effectLst/>
                          <a:latin typeface="Times New Roman" panose="02020603050405020304" pitchFamily="18" charset="0"/>
                        </a:rPr>
                        <a:t>4</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just" rtl="0" fontAlgn="ctr"/>
                      <a:r>
                        <a:rPr lang="en-US" sz="1400" b="0" i="0" u="none" strike="noStrike">
                          <a:solidFill>
                            <a:srgbClr val="000000"/>
                          </a:solidFill>
                          <a:effectLst/>
                          <a:latin typeface="Times New Roman" panose="02020603050405020304" pitchFamily="18" charset="0"/>
                        </a:rPr>
                        <a:t>Djuma</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fontAlgn="b"/>
                      <a:r>
                        <a:rPr lang="en-US" sz="1050" b="0" i="0" u="none" strike="noStrike">
                          <a:solidFill>
                            <a:srgbClr val="000000"/>
                          </a:solidFill>
                          <a:effectLst/>
                          <a:latin typeface="Calibri" panose="020F0502020204030204" pitchFamily="34" charset="0"/>
                        </a:rPr>
                        <a:t>0</a:t>
                      </a:r>
                    </a:p>
                  </a:txBody>
                  <a:tcPr marL="5068" marR="5068" marT="50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5"/>
                  </a:ext>
                </a:extLst>
              </a:tr>
              <a:tr h="212505">
                <a:tc>
                  <a:txBody>
                    <a:bodyPr/>
                    <a:lstStyle/>
                    <a:p>
                      <a:pPr algn="just" rtl="0" fontAlgn="ctr"/>
                      <a:r>
                        <a:rPr lang="en-US" sz="1400" b="0" i="0" u="none" strike="noStrike">
                          <a:solidFill>
                            <a:srgbClr val="000000"/>
                          </a:solidFill>
                          <a:effectLst/>
                          <a:latin typeface="Times New Roman" panose="02020603050405020304" pitchFamily="18" charset="0"/>
                        </a:rPr>
                        <a:t>5</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just" rtl="0" fontAlgn="ctr"/>
                      <a:r>
                        <a:rPr lang="en-US" sz="1400" b="0" i="0" u="none" strike="noStrike">
                          <a:solidFill>
                            <a:srgbClr val="000000"/>
                          </a:solidFill>
                          <a:effectLst/>
                          <a:latin typeface="Times New Roman" panose="02020603050405020304" pitchFamily="18" charset="0"/>
                        </a:rPr>
                        <a:t>Gungu</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fontAlgn="b"/>
                      <a:r>
                        <a:rPr lang="en-US" sz="1050" b="0" i="0" u="none" strike="noStrike" dirty="0">
                          <a:solidFill>
                            <a:srgbClr val="000000"/>
                          </a:solidFill>
                          <a:effectLst/>
                          <a:latin typeface="Calibri" panose="020F0502020204030204" pitchFamily="34" charset="0"/>
                        </a:rPr>
                        <a:t>0</a:t>
                      </a:r>
                    </a:p>
                  </a:txBody>
                  <a:tcPr marL="5068" marR="5068" marT="50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6"/>
                  </a:ext>
                </a:extLst>
              </a:tr>
              <a:tr h="212505">
                <a:tc>
                  <a:txBody>
                    <a:bodyPr/>
                    <a:lstStyle/>
                    <a:p>
                      <a:pPr algn="just" rtl="0" fontAlgn="ctr"/>
                      <a:r>
                        <a:rPr lang="en-US" sz="1400" b="0" i="0" u="none" strike="noStrike">
                          <a:solidFill>
                            <a:srgbClr val="000000"/>
                          </a:solidFill>
                          <a:effectLst/>
                          <a:latin typeface="Times New Roman" panose="02020603050405020304" pitchFamily="18" charset="0"/>
                        </a:rPr>
                        <a:t>6</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just" rtl="0" fontAlgn="ctr"/>
                      <a:r>
                        <a:rPr lang="en-US" sz="1400" b="0" i="0" u="none" strike="noStrike">
                          <a:solidFill>
                            <a:srgbClr val="000000"/>
                          </a:solidFill>
                          <a:effectLst/>
                          <a:latin typeface="Times New Roman" panose="02020603050405020304" pitchFamily="18" charset="0"/>
                        </a:rPr>
                        <a:t>Idiofa</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fontAlgn="b"/>
                      <a:r>
                        <a:rPr lang="en-US" sz="1050" b="0" i="0" u="none" strike="noStrike" dirty="0">
                          <a:solidFill>
                            <a:srgbClr val="000000"/>
                          </a:solidFill>
                          <a:effectLst/>
                          <a:latin typeface="Calibri" panose="020F0502020204030204" pitchFamily="34" charset="0"/>
                        </a:rPr>
                        <a:t>0</a:t>
                      </a:r>
                    </a:p>
                  </a:txBody>
                  <a:tcPr marL="5068" marR="5068" marT="50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7"/>
                  </a:ext>
                </a:extLst>
              </a:tr>
              <a:tr h="212505">
                <a:tc>
                  <a:txBody>
                    <a:bodyPr/>
                    <a:lstStyle/>
                    <a:p>
                      <a:pPr algn="just" rtl="0" fontAlgn="ctr"/>
                      <a:r>
                        <a:rPr lang="en-US" sz="1400" b="0" i="0" u="none" strike="noStrike">
                          <a:solidFill>
                            <a:srgbClr val="000000"/>
                          </a:solidFill>
                          <a:effectLst/>
                          <a:latin typeface="Times New Roman" panose="02020603050405020304" pitchFamily="18" charset="0"/>
                        </a:rPr>
                        <a:t>7</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just" rtl="0" fontAlgn="ctr"/>
                      <a:r>
                        <a:rPr lang="en-US" sz="1400" b="0" i="0" u="none" strike="noStrike">
                          <a:solidFill>
                            <a:srgbClr val="000000"/>
                          </a:solidFill>
                          <a:effectLst/>
                          <a:latin typeface="Times New Roman" panose="02020603050405020304" pitchFamily="18" charset="0"/>
                        </a:rPr>
                        <a:t>Ipamu</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fontAlgn="b"/>
                      <a:r>
                        <a:rPr lang="en-US" sz="1050" b="0" i="0" u="none" strike="noStrike" dirty="0">
                          <a:solidFill>
                            <a:srgbClr val="000000"/>
                          </a:solidFill>
                          <a:effectLst/>
                          <a:latin typeface="Calibri" panose="020F0502020204030204" pitchFamily="34" charset="0"/>
                        </a:rPr>
                        <a:t>0</a:t>
                      </a:r>
                    </a:p>
                  </a:txBody>
                  <a:tcPr marL="5068" marR="5068" marT="50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8"/>
                  </a:ext>
                </a:extLst>
              </a:tr>
              <a:tr h="212505">
                <a:tc>
                  <a:txBody>
                    <a:bodyPr/>
                    <a:lstStyle/>
                    <a:p>
                      <a:pPr algn="just" rtl="0" fontAlgn="ctr"/>
                      <a:r>
                        <a:rPr lang="en-US" sz="1400" b="0" i="0" u="none" strike="noStrike">
                          <a:solidFill>
                            <a:srgbClr val="000000"/>
                          </a:solidFill>
                          <a:effectLst/>
                          <a:latin typeface="Times New Roman" panose="02020603050405020304" pitchFamily="18" charset="0"/>
                        </a:rPr>
                        <a:t>8</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just" rtl="0" fontAlgn="ctr"/>
                      <a:r>
                        <a:rPr lang="en-US" sz="1400" b="0" i="0" u="none" strike="noStrike">
                          <a:solidFill>
                            <a:srgbClr val="000000"/>
                          </a:solidFill>
                          <a:effectLst/>
                          <a:latin typeface="Times New Roman" panose="02020603050405020304" pitchFamily="18" charset="0"/>
                        </a:rPr>
                        <a:t>Kikongo</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fontAlgn="b"/>
                      <a:r>
                        <a:rPr lang="en-US" sz="1050" b="0" i="0" u="none" strike="noStrike" dirty="0">
                          <a:solidFill>
                            <a:srgbClr val="000000"/>
                          </a:solidFill>
                          <a:effectLst/>
                          <a:latin typeface="Calibri" panose="020F0502020204030204" pitchFamily="34" charset="0"/>
                        </a:rPr>
                        <a:t>0</a:t>
                      </a:r>
                    </a:p>
                  </a:txBody>
                  <a:tcPr marL="5068" marR="5068" marT="50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9"/>
                  </a:ext>
                </a:extLst>
              </a:tr>
              <a:tr h="226802">
                <a:tc>
                  <a:txBody>
                    <a:bodyPr/>
                    <a:lstStyle/>
                    <a:p>
                      <a:pPr algn="just" rtl="0" fontAlgn="ctr"/>
                      <a:r>
                        <a:rPr lang="en-US" sz="1400" b="0" i="0" u="none" strike="noStrike">
                          <a:solidFill>
                            <a:srgbClr val="000000"/>
                          </a:solidFill>
                          <a:effectLst/>
                          <a:latin typeface="Times New Roman" panose="02020603050405020304" pitchFamily="18" charset="0"/>
                        </a:rPr>
                        <a:t>9</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just" rtl="0" fontAlgn="ctr"/>
                      <a:r>
                        <a:rPr lang="en-US" sz="1400" b="0" i="0" u="none" strike="noStrike">
                          <a:solidFill>
                            <a:srgbClr val="000000"/>
                          </a:solidFill>
                          <a:effectLst/>
                          <a:latin typeface="Times New Roman" panose="02020603050405020304" pitchFamily="18" charset="0"/>
                        </a:rPr>
                        <a:t>Kikwit Nord</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fontAlgn="b"/>
                      <a:r>
                        <a:rPr lang="en-US" sz="1050" b="0" i="0" u="none" strike="noStrike" dirty="0">
                          <a:solidFill>
                            <a:srgbClr val="000000"/>
                          </a:solidFill>
                          <a:effectLst/>
                          <a:latin typeface="Calibri" panose="020F0502020204030204" pitchFamily="34" charset="0"/>
                        </a:rPr>
                        <a:t>0</a:t>
                      </a:r>
                    </a:p>
                  </a:txBody>
                  <a:tcPr marL="5068" marR="5068" marT="50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0"/>
                  </a:ext>
                </a:extLst>
              </a:tr>
              <a:tr h="212505">
                <a:tc>
                  <a:txBody>
                    <a:bodyPr/>
                    <a:lstStyle/>
                    <a:p>
                      <a:pPr algn="just" rtl="0" fontAlgn="ctr"/>
                      <a:r>
                        <a:rPr lang="en-US" sz="1400" b="0" i="0" u="none" strike="noStrike">
                          <a:solidFill>
                            <a:srgbClr val="000000"/>
                          </a:solidFill>
                          <a:effectLst/>
                          <a:latin typeface="Times New Roman" panose="02020603050405020304" pitchFamily="18" charset="0"/>
                        </a:rPr>
                        <a:t>10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just" rtl="0" fontAlgn="ctr"/>
                      <a:r>
                        <a:rPr lang="en-US" sz="1400" b="0" i="0" u="none" strike="noStrike">
                          <a:solidFill>
                            <a:srgbClr val="000000"/>
                          </a:solidFill>
                          <a:effectLst/>
                          <a:latin typeface="Times New Roman" panose="02020603050405020304" pitchFamily="18" charset="0"/>
                        </a:rPr>
                        <a:t>Kikwit Sud</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fontAlgn="b"/>
                      <a:r>
                        <a:rPr lang="en-US" sz="1050" b="0" i="0" u="none" strike="noStrike" dirty="0">
                          <a:solidFill>
                            <a:srgbClr val="000000"/>
                          </a:solidFill>
                          <a:effectLst/>
                          <a:latin typeface="Calibri" panose="020F0502020204030204" pitchFamily="34" charset="0"/>
                        </a:rPr>
                        <a:t>0</a:t>
                      </a:r>
                    </a:p>
                  </a:txBody>
                  <a:tcPr marL="5068" marR="5068" marT="50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1"/>
                  </a:ext>
                </a:extLst>
              </a:tr>
              <a:tr h="212505">
                <a:tc>
                  <a:txBody>
                    <a:bodyPr/>
                    <a:lstStyle/>
                    <a:p>
                      <a:pPr algn="just" rtl="0" fontAlgn="ctr"/>
                      <a:r>
                        <a:rPr lang="en-US" sz="1400" b="0" i="0" u="none" strike="noStrike">
                          <a:solidFill>
                            <a:srgbClr val="000000"/>
                          </a:solidFill>
                          <a:effectLst/>
                          <a:latin typeface="Times New Roman" panose="02020603050405020304" pitchFamily="18" charset="0"/>
                        </a:rPr>
                        <a:t>11</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just" rtl="0" fontAlgn="ctr"/>
                      <a:r>
                        <a:rPr lang="en-US" sz="1400" b="0" i="0" u="none" strike="noStrike">
                          <a:solidFill>
                            <a:srgbClr val="000000"/>
                          </a:solidFill>
                          <a:effectLst/>
                          <a:latin typeface="Times New Roman" panose="02020603050405020304" pitchFamily="18" charset="0"/>
                        </a:rPr>
                        <a:t>Kimputu</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fontAlgn="b"/>
                      <a:r>
                        <a:rPr lang="en-US" sz="1050" b="0" i="0" u="none" strike="noStrike" dirty="0">
                          <a:solidFill>
                            <a:srgbClr val="000000"/>
                          </a:solidFill>
                          <a:effectLst/>
                          <a:latin typeface="Calibri" panose="020F0502020204030204" pitchFamily="34" charset="0"/>
                        </a:rPr>
                        <a:t>0</a:t>
                      </a:r>
                    </a:p>
                  </a:txBody>
                  <a:tcPr marL="5068" marR="5068" marT="50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2"/>
                  </a:ext>
                </a:extLst>
              </a:tr>
              <a:tr h="212505">
                <a:tc>
                  <a:txBody>
                    <a:bodyPr/>
                    <a:lstStyle/>
                    <a:p>
                      <a:pPr algn="just" rtl="0" fontAlgn="ctr"/>
                      <a:r>
                        <a:rPr lang="en-US" sz="1400" b="0" i="0" u="none" strike="noStrike">
                          <a:solidFill>
                            <a:srgbClr val="000000"/>
                          </a:solidFill>
                          <a:effectLst/>
                          <a:latin typeface="Times New Roman" panose="02020603050405020304" pitchFamily="18" charset="0"/>
                        </a:rPr>
                        <a:t>12</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just" rtl="0" fontAlgn="ctr"/>
                      <a:r>
                        <a:rPr lang="en-US" sz="1400" b="0" i="0" u="none" strike="noStrike">
                          <a:solidFill>
                            <a:srgbClr val="000000"/>
                          </a:solidFill>
                          <a:effectLst/>
                          <a:latin typeface="Times New Roman" panose="02020603050405020304" pitchFamily="18" charset="0"/>
                        </a:rPr>
                        <a:t>Kingandu</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fontAlgn="b"/>
                      <a:r>
                        <a:rPr lang="en-US" sz="1050" b="0" i="0" u="none" strike="noStrike" dirty="0">
                          <a:solidFill>
                            <a:srgbClr val="000000"/>
                          </a:solidFill>
                          <a:effectLst/>
                          <a:latin typeface="Calibri" panose="020F0502020204030204" pitchFamily="34" charset="0"/>
                        </a:rPr>
                        <a:t>0</a:t>
                      </a:r>
                    </a:p>
                  </a:txBody>
                  <a:tcPr marL="5068" marR="5068" marT="50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3"/>
                  </a:ext>
                </a:extLst>
              </a:tr>
              <a:tr h="212505">
                <a:tc>
                  <a:txBody>
                    <a:bodyPr/>
                    <a:lstStyle/>
                    <a:p>
                      <a:pPr algn="just" rtl="0" fontAlgn="ctr"/>
                      <a:r>
                        <a:rPr lang="en-US" sz="1400" b="0" i="0" u="none" strike="noStrike">
                          <a:solidFill>
                            <a:srgbClr val="000000"/>
                          </a:solidFill>
                          <a:effectLst/>
                          <a:latin typeface="Times New Roman" panose="02020603050405020304" pitchFamily="18" charset="0"/>
                        </a:rPr>
                        <a:t>13</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just" rtl="0" fontAlgn="ctr"/>
                      <a:r>
                        <a:rPr lang="en-US" sz="1400" b="0" i="0" u="none" strike="noStrike">
                          <a:solidFill>
                            <a:srgbClr val="000000"/>
                          </a:solidFill>
                          <a:effectLst/>
                          <a:latin typeface="Times New Roman" panose="02020603050405020304" pitchFamily="18" charset="0"/>
                        </a:rPr>
                        <a:t>Koshibanda </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fontAlgn="b"/>
                      <a:r>
                        <a:rPr lang="en-US" sz="1050" b="0" i="0" u="none" strike="noStrike" dirty="0">
                          <a:solidFill>
                            <a:srgbClr val="000000"/>
                          </a:solidFill>
                          <a:effectLst/>
                          <a:latin typeface="Calibri" panose="020F0502020204030204" pitchFamily="34" charset="0"/>
                        </a:rPr>
                        <a:t>0</a:t>
                      </a:r>
                    </a:p>
                  </a:txBody>
                  <a:tcPr marL="5068" marR="5068" marT="50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4"/>
                  </a:ext>
                </a:extLst>
              </a:tr>
              <a:tr h="212505">
                <a:tc>
                  <a:txBody>
                    <a:bodyPr/>
                    <a:lstStyle/>
                    <a:p>
                      <a:pPr algn="just" rtl="0" fontAlgn="ctr"/>
                      <a:r>
                        <a:rPr lang="en-US" sz="1400" b="0" i="0" u="none" strike="noStrike">
                          <a:solidFill>
                            <a:srgbClr val="000000"/>
                          </a:solidFill>
                          <a:effectLst/>
                          <a:latin typeface="Times New Roman" panose="02020603050405020304" pitchFamily="18" charset="0"/>
                        </a:rPr>
                        <a:t>14</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just" rtl="0" fontAlgn="ctr"/>
                      <a:r>
                        <a:rPr lang="en-US" sz="1400" b="0" i="0" u="none" strike="noStrike">
                          <a:solidFill>
                            <a:srgbClr val="000000"/>
                          </a:solidFill>
                          <a:effectLst/>
                          <a:latin typeface="Times New Roman" panose="02020603050405020304" pitchFamily="18" charset="0"/>
                        </a:rPr>
                        <a:t>Lusanga</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rtl="0" fontAlgn="ctr"/>
                      <a:r>
                        <a:rPr lang="en-US" sz="1400" b="0" i="0" u="none" strike="noStrike" dirty="0">
                          <a:solidFill>
                            <a:srgbClr val="000000"/>
                          </a:solidFill>
                          <a:effectLst/>
                          <a:latin typeface="Times New Roman" panose="02020603050405020304" pitchFamily="18" charset="0"/>
                        </a:rPr>
                        <a:t>1</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1</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1</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1</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fontAlgn="b"/>
                      <a:r>
                        <a:rPr lang="en-US" sz="1050" b="0" i="0" u="none" strike="noStrike" dirty="0">
                          <a:solidFill>
                            <a:srgbClr val="000000"/>
                          </a:solidFill>
                          <a:effectLst/>
                          <a:latin typeface="Calibri" panose="020F0502020204030204" pitchFamily="34" charset="0"/>
                        </a:rPr>
                        <a:t>0</a:t>
                      </a:r>
                    </a:p>
                  </a:txBody>
                  <a:tcPr marL="5068" marR="5068" marT="50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5"/>
                  </a:ext>
                </a:extLst>
              </a:tr>
              <a:tr h="212505">
                <a:tc>
                  <a:txBody>
                    <a:bodyPr/>
                    <a:lstStyle/>
                    <a:p>
                      <a:pPr algn="just" rtl="0" fontAlgn="ctr"/>
                      <a:r>
                        <a:rPr lang="en-US" sz="1400" b="0" i="0" u="none" strike="noStrike">
                          <a:solidFill>
                            <a:srgbClr val="000000"/>
                          </a:solidFill>
                          <a:effectLst/>
                          <a:latin typeface="Times New Roman" panose="02020603050405020304" pitchFamily="18" charset="0"/>
                        </a:rPr>
                        <a:t>15</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just" rtl="0" fontAlgn="ctr"/>
                      <a:r>
                        <a:rPr lang="en-US" sz="1400" b="0" i="0" u="none" strike="noStrike">
                          <a:solidFill>
                            <a:srgbClr val="000000"/>
                          </a:solidFill>
                          <a:effectLst/>
                          <a:latin typeface="Times New Roman" panose="02020603050405020304" pitchFamily="18" charset="0"/>
                        </a:rPr>
                        <a:t>Masi Manimba </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fontAlgn="b"/>
                      <a:r>
                        <a:rPr lang="en-US" sz="1050" b="0" i="0" u="none" strike="noStrike" dirty="0">
                          <a:solidFill>
                            <a:srgbClr val="000000"/>
                          </a:solidFill>
                          <a:effectLst/>
                          <a:latin typeface="Calibri" panose="020F0502020204030204" pitchFamily="34" charset="0"/>
                        </a:rPr>
                        <a:t>0</a:t>
                      </a:r>
                    </a:p>
                  </a:txBody>
                  <a:tcPr marL="5068" marR="5068" marT="50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6"/>
                  </a:ext>
                </a:extLst>
              </a:tr>
              <a:tr h="212505">
                <a:tc>
                  <a:txBody>
                    <a:bodyPr/>
                    <a:lstStyle/>
                    <a:p>
                      <a:pPr algn="just" rtl="0" fontAlgn="ctr"/>
                      <a:r>
                        <a:rPr lang="en-US" sz="1400" b="0" i="0" u="none" strike="noStrike">
                          <a:solidFill>
                            <a:srgbClr val="000000"/>
                          </a:solidFill>
                          <a:effectLst/>
                          <a:latin typeface="Times New Roman" panose="02020603050405020304" pitchFamily="18" charset="0"/>
                        </a:rPr>
                        <a:t>16</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just" rtl="0" fontAlgn="ctr"/>
                      <a:r>
                        <a:rPr lang="en-US" sz="1400" b="0" i="0" u="none" strike="noStrike">
                          <a:solidFill>
                            <a:srgbClr val="000000"/>
                          </a:solidFill>
                          <a:effectLst/>
                          <a:latin typeface="Times New Roman" panose="02020603050405020304" pitchFamily="18" charset="0"/>
                        </a:rPr>
                        <a:t>Moanza</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fontAlgn="b"/>
                      <a:r>
                        <a:rPr lang="en-US" sz="1050" b="0" i="0" u="none" strike="noStrike" dirty="0">
                          <a:solidFill>
                            <a:srgbClr val="000000"/>
                          </a:solidFill>
                          <a:effectLst/>
                          <a:latin typeface="Calibri" panose="020F0502020204030204" pitchFamily="34" charset="0"/>
                        </a:rPr>
                        <a:t>0</a:t>
                      </a:r>
                    </a:p>
                  </a:txBody>
                  <a:tcPr marL="5068" marR="5068" marT="50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7"/>
                  </a:ext>
                </a:extLst>
              </a:tr>
              <a:tr h="212505">
                <a:tc>
                  <a:txBody>
                    <a:bodyPr/>
                    <a:lstStyle/>
                    <a:p>
                      <a:pPr algn="just" rtl="0" fontAlgn="ctr"/>
                      <a:r>
                        <a:rPr lang="en-US" sz="1400" b="0" i="0" u="none" strike="noStrike">
                          <a:solidFill>
                            <a:srgbClr val="000000"/>
                          </a:solidFill>
                          <a:effectLst/>
                          <a:latin typeface="Times New Roman" panose="02020603050405020304" pitchFamily="18" charset="0"/>
                        </a:rPr>
                        <a:t>17</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just" rtl="0" fontAlgn="ctr"/>
                      <a:r>
                        <a:rPr lang="en-US" sz="1400" b="0" i="0" u="none" strike="noStrike">
                          <a:solidFill>
                            <a:srgbClr val="000000"/>
                          </a:solidFill>
                          <a:effectLst/>
                          <a:latin typeface="Times New Roman" panose="02020603050405020304" pitchFamily="18" charset="0"/>
                        </a:rPr>
                        <a:t>Mokala</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fontAlgn="b"/>
                      <a:r>
                        <a:rPr lang="en-US" sz="1050" b="0" i="0" u="none" strike="noStrike" dirty="0">
                          <a:solidFill>
                            <a:srgbClr val="000000"/>
                          </a:solidFill>
                          <a:effectLst/>
                          <a:latin typeface="Calibri" panose="020F0502020204030204" pitchFamily="34" charset="0"/>
                        </a:rPr>
                        <a:t>0</a:t>
                      </a:r>
                    </a:p>
                  </a:txBody>
                  <a:tcPr marL="5068" marR="5068" marT="50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8"/>
                  </a:ext>
                </a:extLst>
              </a:tr>
              <a:tr h="212505">
                <a:tc>
                  <a:txBody>
                    <a:bodyPr/>
                    <a:lstStyle/>
                    <a:p>
                      <a:pPr algn="just" rtl="0" fontAlgn="ctr"/>
                      <a:r>
                        <a:rPr lang="en-US" sz="1400" b="0" i="0" u="none" strike="noStrike">
                          <a:solidFill>
                            <a:srgbClr val="000000"/>
                          </a:solidFill>
                          <a:effectLst/>
                          <a:latin typeface="Times New Roman" panose="02020603050405020304" pitchFamily="18" charset="0"/>
                        </a:rPr>
                        <a:t>18</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just" rtl="0" fontAlgn="ctr"/>
                      <a:r>
                        <a:rPr lang="en-US" sz="1400" b="0" i="0" u="none" strike="noStrike">
                          <a:solidFill>
                            <a:srgbClr val="000000"/>
                          </a:solidFill>
                          <a:effectLst/>
                          <a:latin typeface="Times New Roman" panose="02020603050405020304" pitchFamily="18" charset="0"/>
                        </a:rPr>
                        <a:t>Mosango</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fontAlgn="b"/>
                      <a:r>
                        <a:rPr lang="en-US" sz="1050" b="0" i="0" u="none" strike="noStrike" dirty="0">
                          <a:solidFill>
                            <a:srgbClr val="000000"/>
                          </a:solidFill>
                          <a:effectLst/>
                          <a:latin typeface="Calibri" panose="020F0502020204030204" pitchFamily="34" charset="0"/>
                        </a:rPr>
                        <a:t>0</a:t>
                      </a:r>
                    </a:p>
                  </a:txBody>
                  <a:tcPr marL="5068" marR="5068" marT="50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9"/>
                  </a:ext>
                </a:extLst>
              </a:tr>
              <a:tr h="212505">
                <a:tc>
                  <a:txBody>
                    <a:bodyPr/>
                    <a:lstStyle/>
                    <a:p>
                      <a:pPr algn="just" rtl="0" fontAlgn="ctr"/>
                      <a:r>
                        <a:rPr lang="en-US" sz="1400" b="0" i="0" u="none" strike="noStrike">
                          <a:solidFill>
                            <a:srgbClr val="000000"/>
                          </a:solidFill>
                          <a:effectLst/>
                          <a:latin typeface="Times New Roman" panose="02020603050405020304" pitchFamily="18" charset="0"/>
                        </a:rPr>
                        <a:t>19</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just" rtl="0" fontAlgn="ctr"/>
                      <a:r>
                        <a:rPr lang="en-US" sz="1400" b="0" i="0" u="none" strike="noStrike">
                          <a:solidFill>
                            <a:srgbClr val="000000"/>
                          </a:solidFill>
                          <a:effectLst/>
                          <a:latin typeface="Times New Roman" panose="02020603050405020304" pitchFamily="18" charset="0"/>
                        </a:rPr>
                        <a:t>Mukedi</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rtl="0" fontAlgn="ctr"/>
                      <a:r>
                        <a:rPr lang="en-US" sz="1400" b="0" i="0" u="none" strike="noStrike" dirty="0">
                          <a:solidFill>
                            <a:srgbClr val="000000"/>
                          </a:solidFill>
                          <a:effectLst/>
                          <a:latin typeface="Times New Roman" panose="02020603050405020304" pitchFamily="18" charset="0"/>
                        </a:rPr>
                        <a:t>2</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00"/>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2</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00"/>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2</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00"/>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2</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00"/>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2</a:t>
                      </a:r>
                    </a:p>
                  </a:txBody>
                  <a:tcPr marL="5068" marR="5068" marT="5068"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fontAlgn="b"/>
                      <a:r>
                        <a:rPr lang="en-US" sz="1050" b="0" i="0" u="none" strike="noStrike" dirty="0">
                          <a:solidFill>
                            <a:srgbClr val="000000"/>
                          </a:solidFill>
                          <a:effectLst/>
                          <a:latin typeface="Calibri" panose="020F0502020204030204" pitchFamily="34" charset="0"/>
                        </a:rPr>
                        <a:t>100</a:t>
                      </a:r>
                    </a:p>
                  </a:txBody>
                  <a:tcPr marL="5068" marR="5068" marT="50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 xmlns:a16="http://schemas.microsoft.com/office/drawing/2014/main" val="10020"/>
                  </a:ext>
                </a:extLst>
              </a:tr>
              <a:tr h="212505">
                <a:tc>
                  <a:txBody>
                    <a:bodyPr/>
                    <a:lstStyle/>
                    <a:p>
                      <a:pPr algn="just" rtl="0" fontAlgn="ctr"/>
                      <a:r>
                        <a:rPr lang="en-US" sz="1400" b="0" i="0" u="none" strike="noStrike">
                          <a:solidFill>
                            <a:srgbClr val="000000"/>
                          </a:solidFill>
                          <a:effectLst/>
                          <a:latin typeface="Times New Roman" panose="02020603050405020304" pitchFamily="18" charset="0"/>
                        </a:rPr>
                        <a:t>20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just" rtl="0" fontAlgn="ctr"/>
                      <a:r>
                        <a:rPr lang="en-US" sz="1400" b="0" i="0" u="none" strike="noStrike">
                          <a:solidFill>
                            <a:srgbClr val="000000"/>
                          </a:solidFill>
                          <a:effectLst/>
                          <a:latin typeface="Times New Roman" panose="02020603050405020304" pitchFamily="18" charset="0"/>
                        </a:rPr>
                        <a:t>Mungindu</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fontAlgn="b"/>
                      <a:r>
                        <a:rPr lang="en-US" sz="1050" b="0" i="0" u="none" strike="noStrike" dirty="0">
                          <a:solidFill>
                            <a:srgbClr val="000000"/>
                          </a:solidFill>
                          <a:effectLst/>
                          <a:latin typeface="Calibri" panose="020F0502020204030204" pitchFamily="34" charset="0"/>
                        </a:rPr>
                        <a:t>0</a:t>
                      </a:r>
                    </a:p>
                  </a:txBody>
                  <a:tcPr marL="5068" marR="5068" marT="50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21"/>
                  </a:ext>
                </a:extLst>
              </a:tr>
              <a:tr h="212505">
                <a:tc>
                  <a:txBody>
                    <a:bodyPr/>
                    <a:lstStyle/>
                    <a:p>
                      <a:pPr algn="just" rtl="0" fontAlgn="ctr"/>
                      <a:r>
                        <a:rPr lang="en-US" sz="1400" b="0" i="0" u="none" strike="noStrike">
                          <a:solidFill>
                            <a:srgbClr val="000000"/>
                          </a:solidFill>
                          <a:effectLst/>
                          <a:latin typeface="Times New Roman" panose="02020603050405020304" pitchFamily="18" charset="0"/>
                        </a:rPr>
                        <a:t>21</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just" rtl="0" fontAlgn="ctr"/>
                      <a:r>
                        <a:rPr lang="en-US" sz="1400" b="0" i="0" u="none" strike="noStrike">
                          <a:solidFill>
                            <a:srgbClr val="000000"/>
                          </a:solidFill>
                          <a:effectLst/>
                          <a:latin typeface="Times New Roman" panose="02020603050405020304" pitchFamily="18" charset="0"/>
                        </a:rPr>
                        <a:t>Pay Kongila </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fontAlgn="b"/>
                      <a:r>
                        <a:rPr lang="en-US" sz="1050" b="0" i="0" u="none" strike="noStrike" dirty="0">
                          <a:solidFill>
                            <a:srgbClr val="000000"/>
                          </a:solidFill>
                          <a:effectLst/>
                          <a:latin typeface="Calibri" panose="020F0502020204030204" pitchFamily="34" charset="0"/>
                        </a:rPr>
                        <a:t>0</a:t>
                      </a:r>
                    </a:p>
                  </a:txBody>
                  <a:tcPr marL="5068" marR="5068" marT="50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22"/>
                  </a:ext>
                </a:extLst>
              </a:tr>
              <a:tr h="212505">
                <a:tc>
                  <a:txBody>
                    <a:bodyPr/>
                    <a:lstStyle/>
                    <a:p>
                      <a:pPr algn="just" rtl="0" fontAlgn="ctr"/>
                      <a:r>
                        <a:rPr lang="en-US" sz="1400" b="0" i="0" u="none" strike="noStrike">
                          <a:solidFill>
                            <a:srgbClr val="000000"/>
                          </a:solidFill>
                          <a:effectLst/>
                          <a:latin typeface="Times New Roman" panose="02020603050405020304" pitchFamily="18" charset="0"/>
                        </a:rPr>
                        <a:t>22</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just" rtl="0" fontAlgn="ctr"/>
                      <a:r>
                        <a:rPr lang="en-US" sz="1400" b="0" i="0" u="none" strike="noStrike">
                          <a:solidFill>
                            <a:srgbClr val="000000"/>
                          </a:solidFill>
                          <a:effectLst/>
                          <a:latin typeface="Times New Roman" panose="02020603050405020304" pitchFamily="18" charset="0"/>
                        </a:rPr>
                        <a:t>Sia</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fontAlgn="b"/>
                      <a:r>
                        <a:rPr lang="en-US" sz="1050" b="0" i="0" u="none" strike="noStrike" dirty="0">
                          <a:solidFill>
                            <a:srgbClr val="000000"/>
                          </a:solidFill>
                          <a:effectLst/>
                          <a:latin typeface="Calibri" panose="020F0502020204030204" pitchFamily="34" charset="0"/>
                        </a:rPr>
                        <a:t>0</a:t>
                      </a:r>
                    </a:p>
                  </a:txBody>
                  <a:tcPr marL="5068" marR="5068" marT="50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23"/>
                  </a:ext>
                </a:extLst>
              </a:tr>
              <a:tr h="212505">
                <a:tc>
                  <a:txBody>
                    <a:bodyPr/>
                    <a:lstStyle/>
                    <a:p>
                      <a:pPr algn="just" rtl="0" fontAlgn="ctr"/>
                      <a:r>
                        <a:rPr lang="en-US" sz="1400" b="0" i="0" u="none" strike="noStrike">
                          <a:solidFill>
                            <a:srgbClr val="000000"/>
                          </a:solidFill>
                          <a:effectLst/>
                          <a:latin typeface="Times New Roman" panose="02020603050405020304" pitchFamily="18" charset="0"/>
                        </a:rPr>
                        <a:t>23</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just" rtl="0" fontAlgn="ctr"/>
                      <a:r>
                        <a:rPr lang="en-US" sz="1400" b="0" i="0" u="none" strike="noStrike">
                          <a:solidFill>
                            <a:srgbClr val="000000"/>
                          </a:solidFill>
                          <a:effectLst/>
                          <a:latin typeface="Times New Roman" panose="02020603050405020304" pitchFamily="18" charset="0"/>
                        </a:rPr>
                        <a:t>Vanga</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rtl="0" fontAlgn="ctr"/>
                      <a:r>
                        <a:rPr lang="en-US" sz="1400" b="0" i="0" u="none" strike="noStrike" dirty="0">
                          <a:solidFill>
                            <a:srgbClr val="000000"/>
                          </a:solidFill>
                          <a:effectLst/>
                          <a:latin typeface="Times New Roman" panose="02020603050405020304" pitchFamily="18" charset="0"/>
                        </a:rPr>
                        <a:t>1</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00"/>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1</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00"/>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1</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00"/>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1</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00"/>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FFFFF"/>
                    </a:solidFill>
                  </a:tcPr>
                </a:tc>
                <a:tc>
                  <a:txBody>
                    <a:bodyPr/>
                    <a:lstStyle/>
                    <a:p>
                      <a:pPr algn="ctr" fontAlgn="b"/>
                      <a:r>
                        <a:rPr lang="en-US" sz="1050" b="0" i="0" u="none" strike="noStrike" dirty="0">
                          <a:solidFill>
                            <a:srgbClr val="000000"/>
                          </a:solidFill>
                          <a:effectLst/>
                          <a:latin typeface="Calibri" panose="020F0502020204030204" pitchFamily="34" charset="0"/>
                        </a:rPr>
                        <a:t>0</a:t>
                      </a:r>
                    </a:p>
                  </a:txBody>
                  <a:tcPr marL="5068" marR="5068" marT="50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24"/>
                  </a:ext>
                </a:extLst>
              </a:tr>
              <a:tr h="212505">
                <a:tc>
                  <a:txBody>
                    <a:bodyPr/>
                    <a:lstStyle/>
                    <a:p>
                      <a:pPr algn="just" rtl="0" fontAlgn="ctr"/>
                      <a:r>
                        <a:rPr lang="en-US" sz="1400" b="0" i="0" u="none" strike="noStrike">
                          <a:solidFill>
                            <a:srgbClr val="000000"/>
                          </a:solidFill>
                          <a:effectLst/>
                          <a:latin typeface="Times New Roman" panose="02020603050405020304" pitchFamily="18" charset="0"/>
                        </a:rPr>
                        <a:t>24</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rtl="0" fontAlgn="ctr"/>
                      <a:r>
                        <a:rPr lang="en-US" sz="1400" b="0" i="0" u="none" strike="noStrike">
                          <a:solidFill>
                            <a:srgbClr val="000000"/>
                          </a:solidFill>
                          <a:effectLst/>
                          <a:latin typeface="Times New Roman" panose="02020603050405020304" pitchFamily="18" charset="0"/>
                        </a:rPr>
                        <a:t>Yasa Bonga </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400" b="0" i="0" u="none" strike="noStrike">
                          <a:solidFill>
                            <a:srgbClr val="000000"/>
                          </a:solidFill>
                          <a:effectLst/>
                          <a:latin typeface="Times New Roman" panose="02020603050405020304" pitchFamily="18" charset="0"/>
                        </a:rPr>
                        <a:t>0</a:t>
                      </a:r>
                    </a:p>
                  </a:txBody>
                  <a:tcPr marL="5068" marR="5068" marT="5068"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050" b="0" i="0" u="none" strike="noStrike" dirty="0">
                          <a:solidFill>
                            <a:srgbClr val="000000"/>
                          </a:solidFill>
                          <a:effectLst/>
                          <a:latin typeface="Calibri" panose="020F0502020204030204" pitchFamily="34" charset="0"/>
                        </a:rPr>
                        <a:t>0</a:t>
                      </a:r>
                    </a:p>
                  </a:txBody>
                  <a:tcPr marL="5068" marR="5068" marT="50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25"/>
                  </a:ext>
                </a:extLst>
              </a:tr>
              <a:tr h="212505">
                <a:tc gridSpan="2">
                  <a:txBody>
                    <a:bodyPr/>
                    <a:lstStyle/>
                    <a:p>
                      <a:pPr algn="just" rtl="0" fontAlgn="ctr"/>
                      <a:r>
                        <a:rPr lang="en-US" sz="1400" b="0" i="0" u="none" strike="noStrike">
                          <a:solidFill>
                            <a:srgbClr val="000000"/>
                          </a:solidFill>
                          <a:effectLst/>
                          <a:latin typeface="Times New Roman" panose="02020603050405020304" pitchFamily="18" charset="0"/>
                        </a:rPr>
                        <a:t>DPS Kwilu</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xBody>
                    <a:bodyPr/>
                    <a:lstStyle/>
                    <a:p>
                      <a:endParaRPr lang="fr-FR"/>
                    </a:p>
                  </a:txBody>
                  <a:tcPr/>
                </a:tc>
                <a:tc>
                  <a:txBody>
                    <a:bodyPr/>
                    <a:lstStyle/>
                    <a:p>
                      <a:pPr algn="ctr" rtl="0" fontAlgn="ctr"/>
                      <a:r>
                        <a:rPr lang="en-US" sz="1400" b="0" i="0" u="none" strike="noStrike" dirty="0">
                          <a:solidFill>
                            <a:srgbClr val="000000"/>
                          </a:solidFill>
                          <a:effectLst/>
                          <a:latin typeface="Times New Roman" panose="02020603050405020304" pitchFamily="18" charset="0"/>
                        </a:rPr>
                        <a:t>7</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7</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7</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7</a:t>
                      </a:r>
                    </a:p>
                  </a:txBody>
                  <a:tcPr marL="5068" marR="5068" marT="5068"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4</a:t>
                      </a:r>
                    </a:p>
                  </a:txBody>
                  <a:tcPr marL="5068" marR="5068" marT="5068"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050" b="0" i="0" u="none" strike="noStrike" dirty="0">
                          <a:solidFill>
                            <a:srgbClr val="000000"/>
                          </a:solidFill>
                          <a:effectLst/>
                          <a:latin typeface="Calibri" panose="020F0502020204030204" pitchFamily="34" charset="0"/>
                        </a:rPr>
                        <a:t>57,1%</a:t>
                      </a:r>
                    </a:p>
                  </a:txBody>
                  <a:tcPr marL="5068" marR="5068" marT="50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 xmlns:a16="http://schemas.microsoft.com/office/drawing/2014/main" val="10026"/>
                  </a:ext>
                </a:extLst>
              </a:tr>
            </a:tbl>
          </a:graphicData>
        </a:graphic>
      </p:graphicFrame>
      <p:sp>
        <p:nvSpPr>
          <p:cNvPr id="4" name="Espace réservé du numéro de diapositive 3"/>
          <p:cNvSpPr>
            <a:spLocks noGrp="1"/>
          </p:cNvSpPr>
          <p:nvPr>
            <p:ph type="sldNum" sz="quarter" idx="12"/>
          </p:nvPr>
        </p:nvSpPr>
        <p:spPr>
          <a:xfrm>
            <a:off x="8610600" y="6400667"/>
            <a:ext cx="2743200" cy="365125"/>
          </a:xfrm>
        </p:spPr>
        <p:txBody>
          <a:bodyP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FFEEBE-C4EF-4AA3-A215-F75F4EC3D231}"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Titre 1"/>
          <p:cNvSpPr>
            <a:spLocks noGrp="1"/>
          </p:cNvSpPr>
          <p:nvPr>
            <p:ph type="title"/>
          </p:nvPr>
        </p:nvSpPr>
        <p:spPr>
          <a:xfrm>
            <a:off x="679076" y="92208"/>
            <a:ext cx="10515600" cy="482600"/>
          </a:xfrm>
          <a:solidFill>
            <a:schemeClr val="accent6">
              <a:lumMod val="40000"/>
              <a:lumOff val="60000"/>
            </a:schemeClr>
          </a:solidFill>
        </p:spPr>
        <p:txBody>
          <a:bodyPr>
            <a:normAutofit fontScale="90000"/>
          </a:bodyPr>
          <a:lstStyle/>
          <a:p>
            <a:pPr algn="ctr"/>
            <a:r>
              <a:rPr lang="fr-FR" sz="1800" b="1" dirty="0">
                <a:solidFill>
                  <a:srgbClr val="1268B3"/>
                </a:solidFill>
                <a:effectLst/>
                <a:latin typeface="Arial" panose="020B0604020202020204" pitchFamily="34" charset="0"/>
              </a:rPr>
              <a:t/>
            </a:r>
            <a:br>
              <a:rPr lang="fr-FR" sz="1800" b="1" dirty="0">
                <a:solidFill>
                  <a:srgbClr val="1268B3"/>
                </a:solidFill>
                <a:effectLst/>
                <a:latin typeface="Arial" panose="020B0604020202020204" pitchFamily="34" charset="0"/>
              </a:rPr>
            </a:br>
            <a:r>
              <a:rPr lang="fr-FR" sz="1800" b="1" dirty="0">
                <a:solidFill>
                  <a:srgbClr val="1268B3"/>
                </a:solidFill>
                <a:effectLst/>
                <a:latin typeface="Arial" panose="020B0604020202020204" pitchFamily="34" charset="0"/>
              </a:rPr>
              <a:t/>
            </a:r>
            <a:br>
              <a:rPr lang="fr-FR" sz="1800" b="1" dirty="0">
                <a:solidFill>
                  <a:srgbClr val="1268B3"/>
                </a:solidFill>
                <a:effectLst/>
                <a:latin typeface="Arial" panose="020B0604020202020204" pitchFamily="34" charset="0"/>
              </a:rPr>
            </a:br>
            <a:r>
              <a:rPr lang="fr-FR" sz="1800" b="1" dirty="0">
                <a:solidFill>
                  <a:srgbClr val="1268B3"/>
                </a:solidFill>
                <a:effectLst/>
                <a:latin typeface="Arial" panose="020B0604020202020204" pitchFamily="34" charset="0"/>
              </a:rPr>
              <a:t>III. 12. Performances de surveillance de TNN dans la DPS du Kwilu </a:t>
            </a:r>
            <a:r>
              <a:rPr lang="fr-FR" sz="1800" b="1" dirty="0">
                <a:solidFill>
                  <a:srgbClr val="1268B3"/>
                </a:solidFill>
                <a:latin typeface="Arial" panose="020B0604020202020204" pitchFamily="34" charset="0"/>
              </a:rPr>
              <a:t>de S01 à S43- 2025</a:t>
            </a:r>
            <a:r>
              <a:rPr lang="en-US" sz="1800" b="1" dirty="0">
                <a:solidFill>
                  <a:srgbClr val="1268B3"/>
                </a:solidFill>
                <a:effectLst/>
                <a:latin typeface="Arial" panose="020B0604020202020204" pitchFamily="34" charset="0"/>
              </a:rPr>
              <a:t/>
            </a:r>
            <a:br>
              <a:rPr lang="en-US" sz="1800" b="1" dirty="0">
                <a:solidFill>
                  <a:srgbClr val="1268B3"/>
                </a:solidFill>
                <a:effectLst/>
                <a:latin typeface="Arial" panose="020B0604020202020204" pitchFamily="34" charset="0"/>
              </a:rPr>
            </a:b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2D1E1A5A-F514-4ECD-8AC1-1096F27DE5E5}"/>
              </a:ext>
            </a:extLst>
          </p:cNvPr>
          <p:cNvSpPr>
            <a:spLocks noGrp="1"/>
          </p:cNvSpPr>
          <p:nvPr>
            <p:ph type="title"/>
          </p:nvPr>
        </p:nvSpPr>
        <p:spPr>
          <a:xfrm>
            <a:off x="232720" y="104503"/>
            <a:ext cx="11360700" cy="661664"/>
          </a:xfrm>
          <a:solidFill>
            <a:schemeClr val="accent5">
              <a:lumMod val="20000"/>
              <a:lumOff val="80000"/>
            </a:schemeClr>
          </a:solidFill>
        </p:spPr>
        <p:txBody>
          <a:bodyPr>
            <a:normAutofit fontScale="90000"/>
          </a:bodyPr>
          <a:lstStyle/>
          <a:p>
            <a:r>
              <a:rPr lang="fr-CD" dirty="0"/>
              <a:t>III.13. Résultats des AVS en 2025</a:t>
            </a:r>
          </a:p>
        </p:txBody>
      </p:sp>
      <p:sp>
        <p:nvSpPr>
          <p:cNvPr id="3" name="Espace réservé du texte 2">
            <a:extLst>
              <a:ext uri="{FF2B5EF4-FFF2-40B4-BE49-F238E27FC236}">
                <a16:creationId xmlns="" xmlns:a16="http://schemas.microsoft.com/office/drawing/2014/main" id="{637D0A3B-B2DE-4EC6-BA6C-F3FE98D2A661}"/>
              </a:ext>
            </a:extLst>
          </p:cNvPr>
          <p:cNvSpPr>
            <a:spLocks noGrp="1"/>
          </p:cNvSpPr>
          <p:nvPr>
            <p:ph type="body" idx="1"/>
          </p:nvPr>
        </p:nvSpPr>
        <p:spPr>
          <a:xfrm>
            <a:off x="91440" y="901337"/>
            <a:ext cx="11684860" cy="5190496"/>
          </a:xfrm>
        </p:spPr>
        <p:txBody>
          <a:bodyPr/>
          <a:lstStyle/>
          <a:p>
            <a:pPr marL="76200" indent="0">
              <a:buNone/>
            </a:pPr>
            <a:r>
              <a:rPr lang="fr-FR" dirty="0"/>
              <a:t>.</a:t>
            </a:r>
            <a:endParaRPr lang="fr-CD" dirty="0"/>
          </a:p>
        </p:txBody>
      </p:sp>
      <p:graphicFrame>
        <p:nvGraphicFramePr>
          <p:cNvPr id="4" name="Graphique 3">
            <a:extLst>
              <a:ext uri="{FF2B5EF4-FFF2-40B4-BE49-F238E27FC236}">
                <a16:creationId xmlns="" xmlns:a16="http://schemas.microsoft.com/office/drawing/2014/main" id="{0D6F0B73-D9AB-4E42-B6D6-2D3418868D73}"/>
              </a:ext>
            </a:extLst>
          </p:cNvPr>
          <p:cNvGraphicFramePr>
            <a:graphicFrameLocks/>
          </p:cNvGraphicFramePr>
          <p:nvPr>
            <p:extLst>
              <p:ext uri="{D42A27DB-BD31-4B8C-83A1-F6EECF244321}">
                <p14:modId xmlns:p14="http://schemas.microsoft.com/office/powerpoint/2010/main" val="3456003664"/>
              </p:ext>
            </p:extLst>
          </p:nvPr>
        </p:nvGraphicFramePr>
        <p:xfrm>
          <a:off x="1422400" y="1103087"/>
          <a:ext cx="8839200" cy="5123916"/>
        </p:xfrm>
        <a:graphic>
          <a:graphicData uri="http://schemas.openxmlformats.org/drawingml/2006/chart">
            <c:chart xmlns:c="http://schemas.openxmlformats.org/drawingml/2006/chart" xmlns:r="http://schemas.openxmlformats.org/officeDocument/2006/relationships" r:id="rId2"/>
          </a:graphicData>
        </a:graphic>
      </p:graphicFrame>
      <p:sp>
        <p:nvSpPr>
          <p:cNvPr id="5" name="Espace réservé du numéro de diapositive 4">
            <a:extLst>
              <a:ext uri="{FF2B5EF4-FFF2-40B4-BE49-F238E27FC236}">
                <a16:creationId xmlns="" xmlns:a16="http://schemas.microsoft.com/office/drawing/2014/main" id="{C2DBB568-D7AF-40DE-B4A1-02AAE534E31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Tree>
    <p:extLst>
      <p:ext uri="{BB962C8B-B14F-4D97-AF65-F5344CB8AC3E}">
        <p14:creationId xmlns:p14="http://schemas.microsoft.com/office/powerpoint/2010/main" val="10252881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3aabd3d1b2d_0_309"/>
          <p:cNvSpPr txBox="1"/>
          <p:nvPr/>
        </p:nvSpPr>
        <p:spPr>
          <a:xfrm>
            <a:off x="458592" y="317941"/>
            <a:ext cx="11274900" cy="731700"/>
          </a:xfrm>
          <a:prstGeom prst="rect">
            <a:avLst/>
          </a:prstGeom>
          <a:noFill/>
          <a:ln>
            <a:solidFill>
              <a:srgbClr val="00B0F0"/>
            </a:solid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IV. Défis persistants malgré les performances</a:t>
            </a: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457200" algn="l" rtl="0">
              <a:lnSpc>
                <a:spcPct val="100000"/>
              </a:lnSpc>
              <a:spcBef>
                <a:spcPts val="0"/>
              </a:spcBef>
              <a:spcAft>
                <a:spcPts val="0"/>
              </a:spcAft>
              <a:buClr>
                <a:schemeClr val="dk1"/>
              </a:buClr>
              <a:buSzPts val="1500"/>
              <a:buFont typeface="Wingdings" panose="05000000000000000000" pitchFamily="2" charset="2"/>
              <a:buChar char="§"/>
            </a:pPr>
            <a:r>
              <a:rPr lang="fr-FR" sz="2700" dirty="0">
                <a:solidFill>
                  <a:srgbClr val="1155CC"/>
                </a:solidFill>
                <a:latin typeface="Maiandra GD" panose="020E0502030308020204" pitchFamily="34" charset="0"/>
                <a:ea typeface="Times New Roman" panose="02020603050405020304"/>
                <a:cs typeface="Times New Roman" panose="02020603050405020304"/>
                <a:sym typeface="Times New Roman" panose="02020603050405020304"/>
              </a:rPr>
              <a:t>Existence des enfants en conflit avec le calendrier vaccinal</a:t>
            </a:r>
          </a:p>
          <a:p>
            <a:pPr marL="457200" marR="0" lvl="0" indent="-457200" algn="l" rtl="0">
              <a:lnSpc>
                <a:spcPct val="100000"/>
              </a:lnSpc>
              <a:spcBef>
                <a:spcPts val="0"/>
              </a:spcBef>
              <a:spcAft>
                <a:spcPts val="0"/>
              </a:spcAft>
              <a:buClr>
                <a:schemeClr val="dk1"/>
              </a:buClr>
              <a:buSzPts val="1500"/>
              <a:buFont typeface="Wingdings" panose="05000000000000000000" pitchFamily="2" charset="2"/>
              <a:buChar char="§"/>
            </a:pPr>
            <a:r>
              <a:rPr lang="fr-FR" sz="2700" dirty="0">
                <a:solidFill>
                  <a:srgbClr val="1155CC"/>
                </a:solidFill>
                <a:latin typeface="Maiandra GD" panose="020E0502030308020204" pitchFamily="34" charset="0"/>
                <a:ea typeface="Times New Roman" panose="02020603050405020304"/>
                <a:cs typeface="Times New Roman" panose="02020603050405020304"/>
                <a:sym typeface="Times New Roman" panose="02020603050405020304"/>
              </a:rPr>
              <a:t>Retard de décaissement de fonds des activités de la vaccination avant le début du trimestre;</a:t>
            </a:r>
          </a:p>
          <a:p>
            <a:pPr marL="457200" marR="0" lvl="0" indent="-457200" algn="l" rtl="0">
              <a:lnSpc>
                <a:spcPct val="100000"/>
              </a:lnSpc>
              <a:spcBef>
                <a:spcPts val="0"/>
              </a:spcBef>
              <a:spcAft>
                <a:spcPts val="0"/>
              </a:spcAft>
              <a:buClr>
                <a:schemeClr val="dk1"/>
              </a:buClr>
              <a:buSzPts val="1500"/>
              <a:buFont typeface="Wingdings" panose="05000000000000000000" pitchFamily="2" charset="2"/>
              <a:buChar char="§"/>
            </a:pPr>
            <a:r>
              <a:rPr lang="fr-FR" sz="2700" dirty="0">
                <a:solidFill>
                  <a:srgbClr val="1155CC"/>
                </a:solidFill>
                <a:latin typeface="Maiandra GD" panose="020E0502030308020204" pitchFamily="34" charset="0"/>
                <a:ea typeface="Times New Roman" panose="02020603050405020304"/>
                <a:cs typeface="Times New Roman" panose="02020603050405020304"/>
                <a:sym typeface="Times New Roman" panose="02020603050405020304"/>
              </a:rPr>
              <a:t>Existence des avances ouvertes;</a:t>
            </a:r>
          </a:p>
          <a:p>
            <a:pPr marL="457200" marR="0" lvl="0" indent="-457200" algn="l" rtl="0">
              <a:lnSpc>
                <a:spcPct val="100000"/>
              </a:lnSpc>
              <a:spcBef>
                <a:spcPts val="0"/>
              </a:spcBef>
              <a:spcAft>
                <a:spcPts val="0"/>
              </a:spcAft>
              <a:buClr>
                <a:schemeClr val="dk1"/>
              </a:buClr>
              <a:buSzPts val="1500"/>
              <a:buFont typeface="Wingdings" panose="05000000000000000000" pitchFamily="2" charset="2"/>
              <a:buChar char="§"/>
            </a:pPr>
            <a:r>
              <a:rPr lang="fr-FR" sz="2700" dirty="0">
                <a:solidFill>
                  <a:srgbClr val="1155CC"/>
                </a:solidFill>
                <a:latin typeface="Maiandra GD" panose="020E0502030308020204" pitchFamily="34" charset="0"/>
                <a:ea typeface="Times New Roman" panose="02020603050405020304"/>
                <a:cs typeface="Times New Roman" panose="02020603050405020304"/>
                <a:sym typeface="Times New Roman" panose="02020603050405020304"/>
              </a:rPr>
              <a:t>Flambée de rougeole dans les ZS (Kikwit nord, Kikongo et Djuma);</a:t>
            </a:r>
          </a:p>
          <a:p>
            <a:pPr marL="457200" marR="0" lvl="0" indent="-457200" algn="l" rtl="0">
              <a:lnSpc>
                <a:spcPct val="100000"/>
              </a:lnSpc>
              <a:spcBef>
                <a:spcPts val="0"/>
              </a:spcBef>
              <a:spcAft>
                <a:spcPts val="0"/>
              </a:spcAft>
              <a:buClr>
                <a:schemeClr val="dk1"/>
              </a:buClr>
              <a:buSzPts val="1500"/>
              <a:buFont typeface="Wingdings" panose="05000000000000000000" pitchFamily="2" charset="2"/>
              <a:buChar char="§"/>
            </a:pPr>
            <a:r>
              <a:rPr lang="fr-FR" sz="2700" dirty="0">
                <a:solidFill>
                  <a:srgbClr val="1155CC"/>
                </a:solidFill>
                <a:latin typeface="Maiandra GD" panose="020E0502030308020204" pitchFamily="34" charset="0"/>
                <a:ea typeface="Times New Roman" panose="02020603050405020304"/>
                <a:cs typeface="Times New Roman" panose="02020603050405020304"/>
                <a:sym typeface="Times New Roman" panose="02020603050405020304"/>
              </a:rPr>
              <a:t>Dysfonctionnement de DHIS2 tracker pour renseigner les données lors de la supervision des ECZ et des I.T;</a:t>
            </a:r>
          </a:p>
          <a:p>
            <a:pPr marL="457200" marR="0" lvl="0" indent="-457200" algn="l" rtl="0">
              <a:lnSpc>
                <a:spcPct val="100000"/>
              </a:lnSpc>
              <a:spcBef>
                <a:spcPts val="0"/>
              </a:spcBef>
              <a:spcAft>
                <a:spcPts val="0"/>
              </a:spcAft>
              <a:buClr>
                <a:schemeClr val="dk1"/>
              </a:buClr>
              <a:buSzPts val="1500"/>
              <a:buFont typeface="Wingdings" panose="05000000000000000000" pitchFamily="2" charset="2"/>
              <a:buChar char="§"/>
            </a:pPr>
            <a:r>
              <a:rPr lang="fr-FR" sz="2700" dirty="0">
                <a:solidFill>
                  <a:srgbClr val="1155CC"/>
                </a:solidFill>
                <a:latin typeface="Maiandra GD" panose="020E0502030308020204" pitchFamily="34" charset="0"/>
                <a:ea typeface="Times New Roman" panose="02020603050405020304"/>
                <a:cs typeface="Times New Roman" panose="02020603050405020304"/>
                <a:sym typeface="Times New Roman" panose="02020603050405020304"/>
              </a:rPr>
              <a:t>Faible contribution du gouvernement provincial aux activités de la vaccination;</a:t>
            </a:r>
          </a:p>
          <a:p>
            <a:pPr marL="457200" marR="0" lvl="0" indent="-457200" algn="l" rtl="0">
              <a:lnSpc>
                <a:spcPct val="100000"/>
              </a:lnSpc>
              <a:spcBef>
                <a:spcPts val="0"/>
              </a:spcBef>
              <a:spcAft>
                <a:spcPts val="0"/>
              </a:spcAft>
              <a:buClr>
                <a:schemeClr val="dk1"/>
              </a:buClr>
              <a:buSzPts val="1500"/>
              <a:buFont typeface="Wingdings" panose="05000000000000000000" pitchFamily="2" charset="2"/>
              <a:buChar char="§"/>
            </a:pPr>
            <a:r>
              <a:rPr lang="fr-FR" sz="2700" dirty="0">
                <a:solidFill>
                  <a:srgbClr val="1155CC"/>
                </a:solidFill>
                <a:latin typeface="Maiandra GD" panose="020E0502030308020204" pitchFamily="34" charset="0"/>
                <a:ea typeface="Times New Roman" panose="02020603050405020304"/>
                <a:cs typeface="Times New Roman" panose="02020603050405020304"/>
                <a:sym typeface="Times New Roman" panose="02020603050405020304"/>
              </a:rPr>
              <a:t>Instabilité des prestataires formés surtout les MCZ par les affections des APA.</a:t>
            </a:r>
          </a:p>
          <a:p>
            <a:pPr marL="457200" marR="0" lvl="0" indent="-457200" algn="l" rtl="0">
              <a:lnSpc>
                <a:spcPct val="100000"/>
              </a:lnSpc>
              <a:spcBef>
                <a:spcPts val="0"/>
              </a:spcBef>
              <a:spcAft>
                <a:spcPts val="0"/>
              </a:spcAft>
              <a:buClr>
                <a:schemeClr val="dk1"/>
              </a:buClr>
              <a:buSzPts val="1500"/>
              <a:buFont typeface="Wingdings" panose="05000000000000000000" pitchFamily="2" charset="2"/>
              <a:buChar char="§"/>
            </a:pPr>
            <a:endParaRPr sz="2700" dirty="0">
              <a:solidFill>
                <a:srgbClr val="1155CC"/>
              </a:solidFill>
              <a:latin typeface="Maiandra GD" panose="020E0502030308020204" pitchFamily="34" charset="0"/>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6" name="Google Shape;196;g3aabd3d1b2d_0_309"/>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7" name="Google Shape;197;g3aabd3d1b2d_0_309"/>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8" name="Google Shape;198;g3aabd3d1b2d_0_309"/>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19</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99" name="Google Shape;199;g3aabd3d1b2d_0_309"/>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2" name="Espace réservé du numéro de diapositive 1">
            <a:extLst>
              <a:ext uri="{FF2B5EF4-FFF2-40B4-BE49-F238E27FC236}">
                <a16:creationId xmlns="" xmlns:a16="http://schemas.microsoft.com/office/drawing/2014/main" id="{BBE798EB-1C88-4267-BE9E-DFCC218FA2D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B2051EFD-C168-4427-B5C7-997C0BF821C8}"/>
              </a:ext>
            </a:extLst>
          </p:cNvPr>
          <p:cNvSpPr>
            <a:spLocks noGrp="1"/>
          </p:cNvSpPr>
          <p:nvPr>
            <p:ph type="title"/>
          </p:nvPr>
        </p:nvSpPr>
        <p:spPr>
          <a:xfrm>
            <a:off x="299486" y="172453"/>
            <a:ext cx="11360700" cy="763500"/>
          </a:xfrm>
          <a:solidFill>
            <a:schemeClr val="accent5">
              <a:lumMod val="20000"/>
              <a:lumOff val="80000"/>
            </a:schemeClr>
          </a:solidFill>
        </p:spPr>
        <p:txBody>
          <a:bodyPr>
            <a:normAutofit fontScale="90000"/>
          </a:bodyPr>
          <a:lstStyle/>
          <a:p>
            <a:r>
              <a:rPr lang="fr-FR" dirty="0"/>
              <a:t>V. Bonnes pratiques transférables</a:t>
            </a:r>
            <a:endParaRPr lang="fr-CD" dirty="0"/>
          </a:p>
        </p:txBody>
      </p:sp>
      <p:sp>
        <p:nvSpPr>
          <p:cNvPr id="3" name="Espace réservé du texte 2">
            <a:extLst>
              <a:ext uri="{FF2B5EF4-FFF2-40B4-BE49-F238E27FC236}">
                <a16:creationId xmlns="" xmlns:a16="http://schemas.microsoft.com/office/drawing/2014/main" id="{C6741CAA-0B04-4192-AFA1-275E8925FEB1}"/>
              </a:ext>
            </a:extLst>
          </p:cNvPr>
          <p:cNvSpPr>
            <a:spLocks noGrp="1"/>
          </p:cNvSpPr>
          <p:nvPr>
            <p:ph type="body" idx="1"/>
          </p:nvPr>
        </p:nvSpPr>
        <p:spPr/>
        <p:txBody>
          <a:bodyPr/>
          <a:lstStyle/>
          <a:p>
            <a:r>
              <a:rPr lang="fr-FR" dirty="0"/>
              <a:t>La création du lien favorise la participation des cadres des antennes PEV là où il y a 2 ou 3 antennes PEV dans une même DPS;</a:t>
            </a:r>
          </a:p>
          <a:p>
            <a:r>
              <a:rPr lang="fr-FR" dirty="0"/>
              <a:t>La promptitude d’organisation de la riposte vaccinale autour de cas de rougeole permet l’interruption rapide du virus de rougeole;</a:t>
            </a:r>
          </a:p>
          <a:p>
            <a:r>
              <a:rPr lang="fr-FR" dirty="0"/>
              <a:t>La création du groupe WhatsApp de suivi des échantillons de cas de MPV évite la perte des échantillons:</a:t>
            </a:r>
          </a:p>
          <a:p>
            <a:r>
              <a:rPr lang="fr-FR" dirty="0"/>
              <a:t>L’organisation de conférence call avec les membres cadres de l’ECZ permet un meilleur suivi d’indicateurs et aussi un mode d’accompagnement à distance. </a:t>
            </a:r>
            <a:endParaRPr lang="fr-CD" dirty="0"/>
          </a:p>
        </p:txBody>
      </p:sp>
      <p:sp>
        <p:nvSpPr>
          <p:cNvPr id="4" name="Espace réservé du numéro de diapositive 3">
            <a:extLst>
              <a:ext uri="{FF2B5EF4-FFF2-40B4-BE49-F238E27FC236}">
                <a16:creationId xmlns="" xmlns:a16="http://schemas.microsoft.com/office/drawing/2014/main" id="{62A3AA0A-7692-4DF7-9310-58310C8B6FC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Tree>
    <p:extLst>
      <p:ext uri="{BB962C8B-B14F-4D97-AF65-F5344CB8AC3E}">
        <p14:creationId xmlns:p14="http://schemas.microsoft.com/office/powerpoint/2010/main" val="39410310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g3aabd3d1b2d_0_317"/>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VI. </a:t>
            </a:r>
            <a:r>
              <a:rPr lang="en-US" sz="2700"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Besoins</a:t>
            </a:r>
            <a:r>
              <a:rPr lang="en-US"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pour </a:t>
            </a:r>
            <a:r>
              <a:rPr lang="en-US" sz="2700"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maintenir</a:t>
            </a:r>
            <a:r>
              <a:rPr lang="en-US"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les acquis</a:t>
            </a: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457200" indent="-457200">
              <a:buClr>
                <a:schemeClr val="dk1"/>
              </a:buClr>
              <a:buSzPts val="1500"/>
              <a:buFont typeface="Wingdings" panose="05000000000000000000" pitchFamily="2" charset="2"/>
              <a:buChar char="Ø"/>
            </a:pPr>
            <a:r>
              <a:rPr lang="fr-F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Approvisionnement régulier et normé des vaccins et intrants secs;</a:t>
            </a:r>
          </a:p>
          <a:p>
            <a:pPr marL="457200" lvl="0" indent="-457200">
              <a:buClr>
                <a:schemeClr val="dk1"/>
              </a:buClr>
              <a:buSzPts val="1500"/>
              <a:buFont typeface="Wingdings" panose="05000000000000000000" pitchFamily="2" charset="2"/>
              <a:buChar char="Ø"/>
            </a:pPr>
            <a:r>
              <a:rPr lang="fr-F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Financement sécurisé au fonctionnement optimal des antennes et de la coordination PEV;</a:t>
            </a:r>
          </a:p>
          <a:p>
            <a:pPr marL="457200" lvl="0" indent="-457200">
              <a:buClr>
                <a:schemeClr val="dk1"/>
              </a:buClr>
              <a:buSzPts val="1500"/>
              <a:buFont typeface="Wingdings" panose="05000000000000000000" pitchFamily="2" charset="2"/>
              <a:buChar char="Ø"/>
            </a:pPr>
            <a:r>
              <a:rPr lang="fr-F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Dotation de 235 réfrigérateurs  à la province; </a:t>
            </a:r>
          </a:p>
          <a:p>
            <a:pPr marL="457200" marR="0" lvl="0" indent="-457200" algn="l" rtl="0">
              <a:lnSpc>
                <a:spcPct val="100000"/>
              </a:lnSpc>
              <a:spcBef>
                <a:spcPts val="0"/>
              </a:spcBef>
              <a:spcAft>
                <a:spcPts val="0"/>
              </a:spcAft>
              <a:buClr>
                <a:schemeClr val="dk1"/>
              </a:buClr>
              <a:buSzPts val="1500"/>
              <a:buFont typeface="Wingdings" panose="05000000000000000000" pitchFamily="2" charset="2"/>
              <a:buChar char="Ø"/>
            </a:pPr>
            <a:r>
              <a:rPr lang="fr-F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Formation de  24 maintenanciers  au T1-2026;</a:t>
            </a:r>
          </a:p>
          <a:p>
            <a:pPr marL="457200" lvl="0" indent="-457200">
              <a:buClr>
                <a:schemeClr val="dk1"/>
              </a:buClr>
              <a:buSzPts val="1500"/>
              <a:buFont typeface="Wingdings" panose="05000000000000000000" pitchFamily="2" charset="2"/>
              <a:buChar char="Ø"/>
            </a:pPr>
            <a:r>
              <a:rPr lang="fr-F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Renforcement de la collaboration entre les cadres du ministère de la santé et les PTF;</a:t>
            </a:r>
          </a:p>
          <a:p>
            <a:pPr marL="457200" lvl="0" indent="-457200">
              <a:buClr>
                <a:schemeClr val="dk1"/>
              </a:buClr>
              <a:buSzPts val="1500"/>
              <a:buFont typeface="Wingdings" panose="05000000000000000000" pitchFamily="2" charset="2"/>
              <a:buChar char="Ø"/>
            </a:pPr>
            <a:r>
              <a:rPr lang="fr-F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Perfectionner le DHIS2 tracker, et</a:t>
            </a:r>
          </a:p>
          <a:p>
            <a:pPr marL="457200" lvl="0" indent="-457200">
              <a:buClr>
                <a:schemeClr val="dk1"/>
              </a:buClr>
              <a:buSzPts val="1500"/>
              <a:buFont typeface="Wingdings" panose="05000000000000000000" pitchFamily="2" charset="2"/>
              <a:buChar char="Ø"/>
            </a:pPr>
            <a:r>
              <a:rPr lang="fr-F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Stabilité des prestataires formés surtout les MCZ.</a:t>
            </a:r>
          </a:p>
          <a:p>
            <a:pPr marL="457200" lvl="0" indent="-457200">
              <a:buClr>
                <a:schemeClr val="dk1"/>
              </a:buClr>
              <a:buSzPts val="1500"/>
              <a:buFont typeface="Wingdings" panose="05000000000000000000" pitchFamily="2" charset="2"/>
              <a:buChar char="Ø"/>
            </a:pPr>
            <a:endParaRPr lang="fr-F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5" name="Google Shape;205;g3aabd3d1b2d_0_317"/>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6" name="Google Shape;206;g3aabd3d1b2d_0_317"/>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7" name="Google Shape;207;g3aabd3d1b2d_0_317"/>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21</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208" name="Google Shape;208;g3aabd3d1b2d_0_317"/>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2" name="Espace réservé du numéro de diapositive 1">
            <a:extLst>
              <a:ext uri="{FF2B5EF4-FFF2-40B4-BE49-F238E27FC236}">
                <a16:creationId xmlns="" xmlns:a16="http://schemas.microsoft.com/office/drawing/2014/main" id="{EB611EA1-B6B7-4611-A440-B822F7AB50C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g3aabd3d1b2d_0_325"/>
          <p:cNvSpPr txBox="1"/>
          <p:nvPr/>
        </p:nvSpPr>
        <p:spPr>
          <a:xfrm>
            <a:off x="497850" y="85001"/>
            <a:ext cx="11274900" cy="485678"/>
          </a:xfrm>
          <a:prstGeom prst="rect">
            <a:avLst/>
          </a:prstGeom>
          <a:solidFill>
            <a:schemeClr val="accent5">
              <a:lumMod val="20000"/>
              <a:lumOff val="8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VII. </a:t>
            </a:r>
            <a:r>
              <a:rPr lang="en-US" sz="2700"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Recommandations</a:t>
            </a: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4" name="Google Shape;214;g3aabd3d1b2d_0_325"/>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5" name="Google Shape;215;g3aabd3d1b2d_0_325"/>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6" name="Google Shape;216;g3aabd3d1b2d_0_325"/>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22</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217" name="Google Shape;217;g3aabd3d1b2d_0_325"/>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8" name="ZoneTexte 7">
            <a:extLst>
              <a:ext uri="{FF2B5EF4-FFF2-40B4-BE49-F238E27FC236}">
                <a16:creationId xmlns="" xmlns:a16="http://schemas.microsoft.com/office/drawing/2014/main" id="{21AFB8A0-64A0-4AB2-8063-65E8EA30EBB4}"/>
              </a:ext>
            </a:extLst>
          </p:cNvPr>
          <p:cNvSpPr txBox="1"/>
          <p:nvPr/>
        </p:nvSpPr>
        <p:spPr>
          <a:xfrm>
            <a:off x="305100" y="570679"/>
            <a:ext cx="12032266" cy="5655394"/>
          </a:xfrm>
          <a:prstGeom prst="rect">
            <a:avLst/>
          </a:prstGeom>
          <a:noFill/>
        </p:spPr>
        <p:txBody>
          <a:bodyPr wrap="square">
            <a:spAutoFit/>
          </a:bodyPr>
          <a:lstStyle/>
          <a:p>
            <a:pPr>
              <a:buClr>
                <a:srgbClr val="8BC63E"/>
              </a:buClr>
              <a:defRPr/>
            </a:pPr>
            <a:r>
              <a:rPr lang="fr-CD" sz="2800" b="1" dirty="0">
                <a:solidFill>
                  <a:srgbClr val="13375F"/>
                </a:solidFill>
                <a:latin typeface="Segoe UI Light"/>
              </a:rPr>
              <a:t>A la DIRECTION PEV</a:t>
            </a:r>
          </a:p>
          <a:p>
            <a:pPr defTabSz="685800" hangingPunct="1">
              <a:spcAft>
                <a:spcPts val="450"/>
              </a:spcAft>
              <a:buFont typeface="Wingdings" panose="05000000000000000000" pitchFamily="2" charset="2"/>
              <a:buChar char="§"/>
              <a:tabLst/>
              <a:defRPr/>
            </a:pPr>
            <a:r>
              <a:rPr lang="fr-CD" sz="2000" dirty="0">
                <a:solidFill>
                  <a:schemeClr val="accent1">
                    <a:lumMod val="75000"/>
                  </a:schemeClr>
                </a:solidFill>
                <a:latin typeface="Segoe UI Light"/>
              </a:rPr>
              <a:t>Assurer un approvisionnement régulier des vaccins et autres intrants PEV sans oublier les fiches CPS ;</a:t>
            </a:r>
          </a:p>
          <a:p>
            <a:pPr defTabSz="685800">
              <a:spcAft>
                <a:spcPts val="450"/>
              </a:spcAft>
              <a:buFont typeface="Wingdings" panose="05000000000000000000" pitchFamily="2" charset="2"/>
              <a:buChar char="§"/>
              <a:defRPr/>
            </a:pPr>
            <a:r>
              <a:rPr lang="fr-CD" sz="2000" dirty="0">
                <a:solidFill>
                  <a:schemeClr val="accent1">
                    <a:lumMod val="75000"/>
                  </a:schemeClr>
                </a:solidFill>
                <a:latin typeface="Segoe UI Light"/>
              </a:rPr>
              <a:t>Doter 235 réfrigérateurs, les fridge tags et les pièces de rechanges de réfrigérateurs aux ZS; </a:t>
            </a:r>
          </a:p>
          <a:p>
            <a:pPr defTabSz="685800">
              <a:spcAft>
                <a:spcPts val="450"/>
              </a:spcAft>
              <a:buFont typeface="Wingdings" panose="05000000000000000000" pitchFamily="2" charset="2"/>
              <a:buChar char="§"/>
              <a:defRPr/>
            </a:pPr>
            <a:r>
              <a:rPr lang="fr-CD" sz="2000" dirty="0">
                <a:solidFill>
                  <a:schemeClr val="accent1">
                    <a:lumMod val="75000"/>
                  </a:schemeClr>
                </a:solidFill>
                <a:latin typeface="Segoe UI Light"/>
              </a:rPr>
              <a:t>Solarisation de la chambre froide de l’antenne PEV Bandundu;</a:t>
            </a:r>
          </a:p>
          <a:p>
            <a:pPr defTabSz="685800">
              <a:spcAft>
                <a:spcPts val="450"/>
              </a:spcAft>
              <a:buFont typeface="Wingdings" panose="05000000000000000000" pitchFamily="2" charset="2"/>
              <a:buChar char="§"/>
              <a:defRPr/>
            </a:pPr>
            <a:r>
              <a:rPr lang="fr-CD" sz="2000" dirty="0">
                <a:solidFill>
                  <a:schemeClr val="accent1">
                    <a:lumMod val="75000"/>
                  </a:schemeClr>
                </a:solidFill>
                <a:latin typeface="Segoe UI Light"/>
              </a:rPr>
              <a:t>Assurer la disponibilité à temps de fonds de la mise en œuvre des activités de vaccination de routine et de prime de performance, ainsi que de toutes les ressources pour rendre le fonctionnement optimal des antennes PEV;</a:t>
            </a:r>
          </a:p>
          <a:p>
            <a:pPr defTabSz="685800">
              <a:spcAft>
                <a:spcPts val="450"/>
              </a:spcAft>
              <a:buFont typeface="Wingdings" panose="05000000000000000000" pitchFamily="2" charset="2"/>
              <a:buChar char="§"/>
              <a:defRPr/>
            </a:pPr>
            <a:r>
              <a:rPr lang="fr-CD" sz="2000" dirty="0">
                <a:solidFill>
                  <a:schemeClr val="accent1">
                    <a:lumMod val="75000"/>
                  </a:schemeClr>
                </a:solidFill>
                <a:latin typeface="Segoe UI Light"/>
              </a:rPr>
              <a:t>Responsabiliser le PTF de financement de fonds de déploiement des vaccins des antennes PEV vers les ZS et des BCZS vers les CS.</a:t>
            </a:r>
          </a:p>
          <a:p>
            <a:pPr defTabSz="685800">
              <a:spcAft>
                <a:spcPts val="450"/>
              </a:spcAft>
              <a:buFont typeface="Wingdings" panose="05000000000000000000" pitchFamily="2" charset="2"/>
              <a:buChar char="§"/>
              <a:defRPr/>
            </a:pPr>
            <a:r>
              <a:rPr lang="fr-CD" sz="2000" dirty="0">
                <a:solidFill>
                  <a:schemeClr val="accent1">
                    <a:lumMod val="75000"/>
                  </a:schemeClr>
                </a:solidFill>
                <a:latin typeface="Segoe UI Light"/>
              </a:rPr>
              <a:t>Mobiliser les financement pour réaliser au moins 3 jours de supervision des ECZ par les EPP au lieu d’un seul jour actuellement;</a:t>
            </a:r>
          </a:p>
          <a:p>
            <a:pPr defTabSz="685800">
              <a:spcAft>
                <a:spcPts val="450"/>
              </a:spcAft>
              <a:buFont typeface="Wingdings" panose="05000000000000000000" pitchFamily="2" charset="2"/>
              <a:buChar char="§"/>
              <a:defRPr/>
            </a:pPr>
            <a:r>
              <a:rPr lang="fr-FR" sz="24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Perfectionner le DHIS2 tracker: </a:t>
            </a:r>
            <a:endParaRPr lang="fr-CD" sz="2400" dirty="0">
              <a:solidFill>
                <a:schemeClr val="accent1">
                  <a:lumMod val="75000"/>
                </a:schemeClr>
              </a:solidFill>
              <a:latin typeface="Segoe UI Light"/>
            </a:endParaRPr>
          </a:p>
          <a:p>
            <a:pPr defTabSz="685800" hangingPunct="1">
              <a:spcAft>
                <a:spcPts val="450"/>
              </a:spcAft>
              <a:buFont typeface="Wingdings" panose="05000000000000000000" pitchFamily="2" charset="2"/>
              <a:buChar char="§"/>
              <a:tabLst/>
              <a:defRPr/>
            </a:pPr>
            <a:r>
              <a:rPr lang="fr-CD" sz="2400" dirty="0">
                <a:solidFill>
                  <a:schemeClr val="accent1">
                    <a:lumMod val="75000"/>
                  </a:schemeClr>
                </a:solidFill>
                <a:latin typeface="Segoe UI Light"/>
              </a:rPr>
              <a:t>Construire le dépôt sec à l’antenne PEV Bandundu;</a:t>
            </a:r>
          </a:p>
          <a:p>
            <a:pPr defTabSz="685800" hangingPunct="1">
              <a:spcAft>
                <a:spcPts val="450"/>
              </a:spcAft>
              <a:buFont typeface="Wingdings" panose="05000000000000000000" pitchFamily="2" charset="2"/>
              <a:buChar char="§"/>
              <a:tabLst/>
              <a:defRPr/>
            </a:pPr>
            <a:r>
              <a:rPr lang="fr-CD" sz="2400" dirty="0">
                <a:solidFill>
                  <a:schemeClr val="accent1">
                    <a:lumMod val="75000"/>
                  </a:schemeClr>
                </a:solidFill>
                <a:latin typeface="Segoe UI Light"/>
              </a:rPr>
              <a:t>Organiser le grand rattrapage;</a:t>
            </a:r>
          </a:p>
          <a:p>
            <a:pPr defTabSz="685800">
              <a:spcAft>
                <a:spcPts val="450"/>
              </a:spcAft>
              <a:buFont typeface="Wingdings" panose="05000000000000000000" pitchFamily="2" charset="2"/>
              <a:buChar char="§"/>
              <a:defRPr/>
            </a:pPr>
            <a:r>
              <a:rPr lang="fr-CD" sz="2400" dirty="0">
                <a:solidFill>
                  <a:schemeClr val="accent1">
                    <a:lumMod val="75000"/>
                  </a:schemeClr>
                </a:solidFill>
                <a:latin typeface="Segoe UI Light"/>
              </a:rPr>
              <a:t>Assistance technique durant la période de transition de Gavi.</a:t>
            </a:r>
            <a:endParaRPr lang="fr-CD" sz="2800" dirty="0">
              <a:solidFill>
                <a:schemeClr val="accent1">
                  <a:lumMod val="75000"/>
                </a:schemeClr>
              </a:solidFill>
              <a:latin typeface="Segoe UI Light"/>
            </a:endParaRPr>
          </a:p>
        </p:txBody>
      </p:sp>
      <p:sp>
        <p:nvSpPr>
          <p:cNvPr id="2" name="Espace réservé du numéro de diapositive 1">
            <a:extLst>
              <a:ext uri="{FF2B5EF4-FFF2-40B4-BE49-F238E27FC236}">
                <a16:creationId xmlns="" xmlns:a16="http://schemas.microsoft.com/office/drawing/2014/main" id="{F58D723C-3B3F-4F36-AC4F-9662E5705B3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73C4727F-1391-4698-AD87-AFD4A56FB129}"/>
              </a:ext>
            </a:extLst>
          </p:cNvPr>
          <p:cNvSpPr>
            <a:spLocks noGrp="1"/>
          </p:cNvSpPr>
          <p:nvPr>
            <p:ph type="title"/>
          </p:nvPr>
        </p:nvSpPr>
        <p:spPr/>
        <p:txBody>
          <a:bodyPr>
            <a:normAutofit fontScale="90000"/>
          </a:bodyPr>
          <a:lstStyle/>
          <a:p>
            <a:r>
              <a:rPr lang="fr-FR" dirty="0"/>
              <a:t>Images de terrain</a:t>
            </a:r>
            <a:endParaRPr lang="fr-CD" dirty="0"/>
          </a:p>
        </p:txBody>
      </p:sp>
      <p:sp>
        <p:nvSpPr>
          <p:cNvPr id="3" name="Espace réservé du texte 2">
            <a:extLst>
              <a:ext uri="{FF2B5EF4-FFF2-40B4-BE49-F238E27FC236}">
                <a16:creationId xmlns="" xmlns:a16="http://schemas.microsoft.com/office/drawing/2014/main" id="{02F7F278-55D0-4912-BBBA-1A18B583D65E}"/>
              </a:ext>
            </a:extLst>
          </p:cNvPr>
          <p:cNvSpPr>
            <a:spLocks noGrp="1"/>
          </p:cNvSpPr>
          <p:nvPr>
            <p:ph type="body" idx="1"/>
          </p:nvPr>
        </p:nvSpPr>
        <p:spPr/>
        <p:txBody>
          <a:bodyPr/>
          <a:lstStyle/>
          <a:p>
            <a:pPr marL="76200" indent="0">
              <a:buNone/>
            </a:pPr>
            <a:r>
              <a:rPr lang="fr-FR" dirty="0"/>
              <a:t>.</a:t>
            </a:r>
            <a:endParaRPr lang="fr-CD" dirty="0"/>
          </a:p>
        </p:txBody>
      </p:sp>
      <p:pic>
        <p:nvPicPr>
          <p:cNvPr id="4" name="Espace réservé pour une image  16">
            <a:extLst>
              <a:ext uri="{FF2B5EF4-FFF2-40B4-BE49-F238E27FC236}">
                <a16:creationId xmlns="" xmlns:a16="http://schemas.microsoft.com/office/drawing/2014/main" id="{27ED8A12-73A5-4AB7-9570-79D88036ED96}"/>
              </a:ext>
            </a:extLst>
          </p:cNvPr>
          <p:cNvPicPr>
            <a:picLocks noGrp="1" noChangeAspect="1"/>
          </p:cNvPicPr>
          <p:nvPr>
            <p:ph type="pic" sz="quarter" idx="10"/>
          </p:nvPr>
        </p:nvPicPr>
        <p:blipFill rotWithShape="1">
          <a:blip r:embed="rId2"/>
          <a:srcRect l="1267" r="1267" b="11035"/>
          <a:stretch/>
        </p:blipFill>
        <p:spPr>
          <a:xfrm>
            <a:off x="0" y="1356867"/>
            <a:ext cx="5981700" cy="5143500"/>
          </a:xfrm>
        </p:spPr>
      </p:pic>
      <p:pic>
        <p:nvPicPr>
          <p:cNvPr id="6" name="Image 5">
            <a:extLst>
              <a:ext uri="{FF2B5EF4-FFF2-40B4-BE49-F238E27FC236}">
                <a16:creationId xmlns="" xmlns:a16="http://schemas.microsoft.com/office/drawing/2014/main" id="{84FE2D47-DB52-4CF0-B6FF-286D71BFE01D}"/>
              </a:ext>
            </a:extLst>
          </p:cNvPr>
          <p:cNvPicPr>
            <a:picLocks noChangeAspect="1"/>
          </p:cNvPicPr>
          <p:nvPr/>
        </p:nvPicPr>
        <p:blipFill rotWithShape="1">
          <a:blip r:embed="rId3"/>
          <a:srcRect b="17231"/>
          <a:stretch/>
        </p:blipFill>
        <p:spPr>
          <a:xfrm>
            <a:off x="6095951" y="3960544"/>
            <a:ext cx="5843933" cy="2880000"/>
          </a:xfrm>
          <a:prstGeom prst="rect">
            <a:avLst/>
          </a:prstGeom>
        </p:spPr>
      </p:pic>
      <p:pic>
        <p:nvPicPr>
          <p:cNvPr id="7" name="Espace réservé pour une image  16">
            <a:extLst>
              <a:ext uri="{FF2B5EF4-FFF2-40B4-BE49-F238E27FC236}">
                <a16:creationId xmlns="" xmlns:a16="http://schemas.microsoft.com/office/drawing/2014/main" id="{7866F577-3EEF-43A8-A0A4-2506EC29A7C0}"/>
              </a:ext>
            </a:extLst>
          </p:cNvPr>
          <p:cNvPicPr>
            <a:picLocks noChangeAspect="1"/>
          </p:cNvPicPr>
          <p:nvPr/>
        </p:nvPicPr>
        <p:blipFill rotWithShape="1">
          <a:blip r:embed="rId2"/>
          <a:srcRect l="1267" r="1267" b="11035"/>
          <a:stretch/>
        </p:blipFill>
        <p:spPr>
          <a:xfrm>
            <a:off x="203276" y="1242483"/>
            <a:ext cx="6698667" cy="5760000"/>
          </a:xfrm>
          <a:prstGeom prst="rect">
            <a:avLst/>
          </a:prstGeom>
        </p:spPr>
      </p:pic>
      <p:pic>
        <p:nvPicPr>
          <p:cNvPr id="9" name="Image 8">
            <a:extLst>
              <a:ext uri="{FF2B5EF4-FFF2-40B4-BE49-F238E27FC236}">
                <a16:creationId xmlns="" xmlns:a16="http://schemas.microsoft.com/office/drawing/2014/main" id="{E452BEE0-8818-4298-B721-6E96E5EB3596}"/>
              </a:ext>
            </a:extLst>
          </p:cNvPr>
          <p:cNvPicPr>
            <a:picLocks noChangeAspect="1"/>
          </p:cNvPicPr>
          <p:nvPr/>
        </p:nvPicPr>
        <p:blipFill>
          <a:blip r:embed="rId4"/>
          <a:stretch>
            <a:fillRect/>
          </a:stretch>
        </p:blipFill>
        <p:spPr>
          <a:xfrm>
            <a:off x="6901942" y="360544"/>
            <a:ext cx="5037941" cy="3600000"/>
          </a:xfrm>
          <a:prstGeom prst="rect">
            <a:avLst/>
          </a:prstGeom>
        </p:spPr>
      </p:pic>
      <p:sp>
        <p:nvSpPr>
          <p:cNvPr id="5" name="Espace réservé du numéro de diapositive 4">
            <a:extLst>
              <a:ext uri="{FF2B5EF4-FFF2-40B4-BE49-F238E27FC236}">
                <a16:creationId xmlns="" xmlns:a16="http://schemas.microsoft.com/office/drawing/2014/main" id="{A39AAACE-1D08-4A7E-903C-6DE386011EA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Tree>
    <p:extLst>
      <p:ext uri="{BB962C8B-B14F-4D97-AF65-F5344CB8AC3E}">
        <p14:creationId xmlns:p14="http://schemas.microsoft.com/office/powerpoint/2010/main" val="17305400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g3aabd3d1b2d_0_178"/>
          <p:cNvSpPr txBox="1"/>
          <p:nvPr/>
        </p:nvSpPr>
        <p:spPr>
          <a:xfrm>
            <a:off x="733100" y="1202135"/>
            <a:ext cx="10707600" cy="3576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200"/>
              <a:buFont typeface="Arial" panose="020B0604020202020204"/>
              <a:buNone/>
            </a:pPr>
            <a:r>
              <a:rPr lang="en-US" sz="3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rPr>
              <a:t>Merci</a:t>
            </a:r>
            <a:endParaRPr sz="3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3" name="Google Shape;223;g3aabd3d1b2d_0_178"/>
          <p:cNvSpPr/>
          <p:nvPr/>
        </p:nvSpPr>
        <p:spPr>
          <a:xfrm>
            <a:off x="1588" y="2654952"/>
            <a:ext cx="4500900" cy="6549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endParaRPr sz="15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g3aabd3d1b2d_0_178"/>
          <p:cNvSpPr/>
          <p:nvPr/>
        </p:nvSpPr>
        <p:spPr>
          <a:xfrm>
            <a:off x="7689667" y="2654952"/>
            <a:ext cx="4501500" cy="6549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endParaRPr sz="15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Espace réservé du numéro de diapositive 1">
            <a:extLst>
              <a:ext uri="{FF2B5EF4-FFF2-40B4-BE49-F238E27FC236}">
                <a16:creationId xmlns="" xmlns:a16="http://schemas.microsoft.com/office/drawing/2014/main" id="{CD9B2891-6C42-4CCF-AFEC-9D785FF6519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Tree>
  </p:cSld>
  <p:clrMapOvr>
    <a:masterClrMapping/>
  </p:clrMapOvr>
</p:sld>
</file>

<file path=ppt/theme/theme1.xml><?xml version="1.0" encoding="utf-8"?>
<a:theme xmlns:a="http://schemas.openxmlformats.org/drawingml/2006/main" name="Thèm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2525</TotalTime>
  <Words>4264</Words>
  <Application>Microsoft Office PowerPoint</Application>
  <PresentationFormat>Grand écran</PresentationFormat>
  <Paragraphs>2332</Paragraphs>
  <Slides>24</Slides>
  <Notes>8</Notes>
  <HiddenSlides>0</HiddenSlides>
  <MMClips>0</MMClips>
  <ScaleCrop>false</ScaleCrop>
  <HeadingPairs>
    <vt:vector size="6" baseType="variant">
      <vt:variant>
        <vt:lpstr>Polices utilisées</vt:lpstr>
      </vt:variant>
      <vt:variant>
        <vt:i4>10</vt:i4>
      </vt:variant>
      <vt:variant>
        <vt:lpstr>Thème</vt:lpstr>
      </vt:variant>
      <vt:variant>
        <vt:i4>2</vt:i4>
      </vt:variant>
      <vt:variant>
        <vt:lpstr>Titres des diapositives</vt:lpstr>
      </vt:variant>
      <vt:variant>
        <vt:i4>24</vt:i4>
      </vt:variant>
    </vt:vector>
  </HeadingPairs>
  <TitlesOfParts>
    <vt:vector size="36" baseType="lpstr">
      <vt:lpstr>MS PGothic</vt:lpstr>
      <vt:lpstr>Calibri Light</vt:lpstr>
      <vt:lpstr>Arial</vt:lpstr>
      <vt:lpstr>Wingdings</vt:lpstr>
      <vt:lpstr>Source Serif Pro</vt:lpstr>
      <vt:lpstr>Calibri</vt:lpstr>
      <vt:lpstr>Maiandra GD</vt:lpstr>
      <vt:lpstr>Play</vt:lpstr>
      <vt:lpstr>Times New Roman</vt:lpstr>
      <vt:lpstr>Segoe UI Light</vt:lpstr>
      <vt:lpstr>Thème Office</vt:lpstr>
      <vt:lpstr>Simple Light</vt:lpstr>
      <vt:lpstr>Présentation PowerPoint</vt:lpstr>
      <vt:lpstr>Présentation PowerPoint</vt:lpstr>
      <vt:lpstr>Présentation PowerPoint</vt:lpstr>
      <vt:lpstr>Présentation PowerPoint</vt:lpstr>
      <vt:lpstr>III. Résultats compares aux cibles </vt:lpstr>
      <vt:lpstr>III.1. Couverture vaccinale des antennes PEV par antigène de janvier à octobre 2025 (DHIS2)</vt:lpstr>
      <vt:lpstr>III.2. Résultats de CV de ZS de janvier à octobre 2025 selon les objectifs de 2025 (DHIS2)</vt:lpstr>
      <vt:lpstr>III.3. Résultats de CV de VAP de mai à octobre 2025</vt:lpstr>
      <vt:lpstr>III.4. Taux d’abandon spécifique, général et catégorisation de ZS en octobre 2025 (DHIS2)</vt:lpstr>
      <vt:lpstr>III.5. Proportion des ECV de janvier à octobre 2025 (DHIS2)</vt:lpstr>
      <vt:lpstr>III.6. Situation d’enfants zéro dose et sous vaccinés de 12 à 59 mois en octobre 2025 (DHIS2)</vt:lpstr>
      <vt:lpstr>III.7.Récupération des enfants en conflit avec leur calendrier vaccinal de janvier à octobre 2025 (DHIS2)</vt:lpstr>
      <vt:lpstr>III.8. Evolution de CV (janvier-octobre) de 2021 à 2025 (DHIS2)</vt:lpstr>
      <vt:lpstr>III.9.Performances dans la surveillance de PFA de S1 à S43-2025</vt:lpstr>
      <vt:lpstr>   III.10. Performances de la surveillance de Rougeole de la DPS du Kwilu de S1 à S43-2025  </vt:lpstr>
      <vt:lpstr>.</vt:lpstr>
      <vt:lpstr>  III. 12. Performances de surveillance de TNN dans la DPS du Kwilu de S01 à S43- 2025 </vt:lpstr>
      <vt:lpstr>III.13. Résultats des AVS en 2025</vt:lpstr>
      <vt:lpstr>Présentation PowerPoint</vt:lpstr>
      <vt:lpstr>V. Bonnes pratiques transférables</vt:lpstr>
      <vt:lpstr>Présentation PowerPoint</vt:lpstr>
      <vt:lpstr>Présentation PowerPoint</vt:lpstr>
      <vt:lpstr>Images de terrain</vt:lpstr>
      <vt:lpstr>Présentation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Aimé CIKOMOLA</dc:creator>
  <cp:lastModifiedBy>Dr STEVE MATOMA</cp:lastModifiedBy>
  <cp:revision>200</cp:revision>
  <dcterms:created xsi:type="dcterms:W3CDTF">2025-11-28T20:12:22Z</dcterms:created>
  <dcterms:modified xsi:type="dcterms:W3CDTF">2025-12-09T13:55:12Z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AAC20F8E09534597B0FBC6D93A5D818B_13</vt:lpwstr>
  </property>
  <property fmtid="{D5CDD505-2E9C-101B-9397-08002B2CF9AE}" pid="3" name="KSOProductBuildVer">
    <vt:lpwstr>3084-12.2.0.23155</vt:lpwstr>
  </property>
</Properties>
</file>