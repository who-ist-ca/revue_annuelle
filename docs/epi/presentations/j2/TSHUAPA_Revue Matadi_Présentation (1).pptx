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60" r:id="rId3"/>
    <p:sldId id="261" r:id="rId4"/>
    <p:sldId id="262" r:id="rId5"/>
    <p:sldId id="289" r:id="rId6"/>
    <p:sldId id="290" r:id="rId7"/>
    <p:sldId id="291" r:id="rId8"/>
    <p:sldId id="265" r:id="rId9"/>
    <p:sldId id="293" r:id="rId10"/>
    <p:sldId id="26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94" r:id="rId27"/>
    <p:sldId id="269" r:id="rId28"/>
    <p:sldId id="270" r:id="rId29"/>
    <p:sldId id="295" r:id="rId30"/>
    <p:sldId id="297" r:id="rId31"/>
    <p:sldId id="273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2" autoAdjust="0"/>
    <p:restoredTop sz="94353" autoAdjust="0"/>
  </p:normalViewPr>
  <p:slideViewPr>
    <p:cSldViewPr snapToGrid="0">
      <p:cViewPr varScale="1">
        <p:scale>
          <a:sx n="69" d="100"/>
          <a:sy n="6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sz="1800" dirty="0"/>
              <a:t>% des ZD/SV récupérés par stratégie de </a:t>
            </a:r>
            <a:r>
              <a:rPr lang="fr-FR" sz="1800" dirty="0" err="1"/>
              <a:t>Vacc</a:t>
            </a:r>
            <a:r>
              <a:rPr lang="fr-FR" sz="1800" dirty="0"/>
              <a:t>./ Tshuapa 2025</a:t>
            </a:r>
          </a:p>
        </c:rich>
      </c:tx>
      <c:layout>
        <c:manualLayout>
          <c:xMode val="edge"/>
          <c:yMode val="edge"/>
          <c:x val="0.13067344706911635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'[BASE ANTENNE PEV ANALYSE FAE25.xlsx]ANALYSE3'!$T$11</c:f>
              <c:strCache>
                <c:ptCount val="1"/>
                <c:pt idx="0">
                  <c:v>% des ZD/SV récupérés par stratégie de Vacc./ Tshuapa T1 2024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'[BASE ANTENNE PEV ANALYSE FAE25.xlsx]ANALYSE3'!$S$12:$S$15</c:f>
              <c:strCache>
                <c:ptCount val="4"/>
                <c:pt idx="0">
                  <c:v>Fixe/horaire adapté</c:v>
                </c:pt>
                <c:pt idx="1">
                  <c:v>Avancée/Cartographie ZD</c:v>
                </c:pt>
                <c:pt idx="2">
                  <c:v>Porte à porte</c:v>
                </c:pt>
                <c:pt idx="3">
                  <c:v>Points de concentration</c:v>
                </c:pt>
              </c:strCache>
            </c:strRef>
          </c:cat>
          <c:val>
            <c:numRef>
              <c:f>'[BASE ANTENNE PEV ANALYSE FAE25.xlsx]ANALYSE3'!$T$12:$T$15</c:f>
              <c:numCache>
                <c:formatCode>0</c:formatCode>
                <c:ptCount val="4"/>
                <c:pt idx="0">
                  <c:v>52.299351944167491</c:v>
                </c:pt>
                <c:pt idx="1">
                  <c:v>24.065304087736788</c:v>
                </c:pt>
                <c:pt idx="2">
                  <c:v>17.478813559322035</c:v>
                </c:pt>
                <c:pt idx="3">
                  <c:v>6.156530408773679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b="1"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fr-FR"/>
              <a:t>COUVERTURE CUMULEE EN BCG DE JANV-OCTOBRE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BCG!$B$46:$B$58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BCG!$C$46:$C$58</c:f>
              <c:numCache>
                <c:formatCode>0</c:formatCode>
                <c:ptCount val="13"/>
                <c:pt idx="0">
                  <c:v>96.678438123460637</c:v>
                </c:pt>
                <c:pt idx="1">
                  <c:v>95.094453635705321</c:v>
                </c:pt>
                <c:pt idx="2">
                  <c:v>111.2028921323428</c:v>
                </c:pt>
                <c:pt idx="3">
                  <c:v>103.93329110723876</c:v>
                </c:pt>
                <c:pt idx="4">
                  <c:v>89.288625173639801</c:v>
                </c:pt>
                <c:pt idx="5">
                  <c:v>100.96003089466836</c:v>
                </c:pt>
                <c:pt idx="6">
                  <c:v>86.544616800675954</c:v>
                </c:pt>
                <c:pt idx="7">
                  <c:v>69.296098137164009</c:v>
                </c:pt>
                <c:pt idx="8">
                  <c:v>82.286871560513106</c:v>
                </c:pt>
                <c:pt idx="9">
                  <c:v>100.64179502384802</c:v>
                </c:pt>
                <c:pt idx="10">
                  <c:v>98.515171224270986</c:v>
                </c:pt>
                <c:pt idx="11">
                  <c:v>98.696323617979616</c:v>
                </c:pt>
                <c:pt idx="12">
                  <c:v>94.579807722298867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33602720"/>
        <c:axId val="233607968"/>
      </c:barChart>
      <c:catAx>
        <c:axId val="23360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3607968"/>
        <c:crosses val="autoZero"/>
        <c:auto val="1"/>
        <c:lblAlgn val="ctr"/>
        <c:lblOffset val="100"/>
        <c:noMultiLvlLbl val="0"/>
      </c:catAx>
      <c:valAx>
        <c:axId val="233607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360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EVOLUTION DE CV EN BCG DE JANV-OCTOBRE 2025 DPS Tshuapa</a:t>
            </a:r>
          </a:p>
        </c:rich>
      </c:tx>
      <c:layout>
        <c:manualLayout>
          <c:xMode val="edge"/>
          <c:yMode val="edge"/>
          <c:x val="0.21521792898250591"/>
          <c:y val="2.18878217538521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BCG!$C$69:$L$69</c:f>
              <c:strCache>
                <c:ptCount val="10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AOÛT</c:v>
                </c:pt>
                <c:pt idx="8">
                  <c:v>SEPTEMBRE</c:v>
                </c:pt>
                <c:pt idx="9">
                  <c:v>OCTOBRE</c:v>
                </c:pt>
              </c:strCache>
            </c:strRef>
          </c:cat>
          <c:val>
            <c:numRef>
              <c:f>BCG!$C$70:$L$70</c:f>
              <c:numCache>
                <c:formatCode>0</c:formatCode>
                <c:ptCount val="10"/>
                <c:pt idx="0">
                  <c:v>82.93038968494767</c:v>
                </c:pt>
                <c:pt idx="1">
                  <c:v>91.1753331498969</c:v>
                </c:pt>
                <c:pt idx="2">
                  <c:v>89.33167218065131</c:v>
                </c:pt>
                <c:pt idx="3">
                  <c:v>88.873619765931906</c:v>
                </c:pt>
                <c:pt idx="4">
                  <c:v>87.327692866253926</c:v>
                </c:pt>
                <c:pt idx="5">
                  <c:v>116.53998561498378</c:v>
                </c:pt>
                <c:pt idx="6">
                  <c:v>111.63882477748618</c:v>
                </c:pt>
                <c:pt idx="7">
                  <c:v>102.04262668911471</c:v>
                </c:pt>
                <c:pt idx="8">
                  <c:v>89.308769559915348</c:v>
                </c:pt>
                <c:pt idx="9">
                  <c:v>86.629162933806839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34309784"/>
        <c:axId val="234310168"/>
      </c:lineChart>
      <c:catAx>
        <c:axId val="234309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4310168"/>
        <c:crosses val="autoZero"/>
        <c:auto val="1"/>
        <c:lblAlgn val="ctr"/>
        <c:lblOffset val="100"/>
        <c:noMultiLvlLbl val="0"/>
      </c:catAx>
      <c:valAx>
        <c:axId val="234310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430978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zero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COUVERTURE CUMULEE EN PENTA</a:t>
            </a:r>
            <a:r>
              <a:rPr lang="fr-FR" baseline="0" dirty="0"/>
              <a:t> </a:t>
            </a:r>
            <a:r>
              <a:rPr lang="fr-FR" dirty="0"/>
              <a:t>DE JANV-OCTOBRE 2025</a:t>
            </a:r>
          </a:p>
        </c:rich>
      </c:tx>
      <c:layout>
        <c:manualLayout>
          <c:xMode val="edge"/>
          <c:yMode val="edge"/>
          <c:x val="0.1506110934641525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PENTA!$B$38:$B$50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PENTA!$C$38:$C$50</c:f>
              <c:numCache>
                <c:formatCode>0</c:formatCode>
                <c:ptCount val="13"/>
                <c:pt idx="0">
                  <c:v>111.87446532195042</c:v>
                </c:pt>
                <c:pt idx="1">
                  <c:v>136.60841051393743</c:v>
                </c:pt>
                <c:pt idx="2">
                  <c:v>148.96232431858181</c:v>
                </c:pt>
                <c:pt idx="3">
                  <c:v>122.28519750269031</c:v>
                </c:pt>
                <c:pt idx="4">
                  <c:v>110.57209432852237</c:v>
                </c:pt>
                <c:pt idx="5">
                  <c:v>123.56814393998016</c:v>
                </c:pt>
                <c:pt idx="6">
                  <c:v>111.86067498259247</c:v>
                </c:pt>
                <c:pt idx="7">
                  <c:v>110.52943479256965</c:v>
                </c:pt>
                <c:pt idx="8">
                  <c:v>104.22789303551153</c:v>
                </c:pt>
                <c:pt idx="9">
                  <c:v>197.28571050556474</c:v>
                </c:pt>
                <c:pt idx="10">
                  <c:v>134.92613258661316</c:v>
                </c:pt>
                <c:pt idx="11">
                  <c:v>126.20658824308664</c:v>
                </c:pt>
                <c:pt idx="12">
                  <c:v>127.73581254563763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1634832"/>
        <c:axId val="241635216"/>
      </c:barChart>
      <c:catAx>
        <c:axId val="24163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1635216"/>
        <c:crosses val="autoZero"/>
        <c:auto val="1"/>
        <c:lblAlgn val="ctr"/>
        <c:lblOffset val="100"/>
        <c:noMultiLvlLbl val="0"/>
      </c:catAx>
      <c:valAx>
        <c:axId val="24163521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163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EVOLUTION DE CV EN PENTA DE JANVIER- OCTOBRE 2025 DPS Tshuapa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PENTA!$C$58:$L$58</c:f>
              <c:strCache>
                <c:ptCount val="10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AOÛT</c:v>
                </c:pt>
                <c:pt idx="8">
                  <c:v>SEPTEMBRE</c:v>
                </c:pt>
                <c:pt idx="9">
                  <c:v>OCTOBRE</c:v>
                </c:pt>
              </c:strCache>
            </c:strRef>
          </c:cat>
          <c:val>
            <c:numRef>
              <c:f>PENTA!$C$59:$L$59</c:f>
              <c:numCache>
                <c:formatCode>0</c:formatCode>
                <c:ptCount val="10"/>
                <c:pt idx="0">
                  <c:v>91.88172697169891</c:v>
                </c:pt>
                <c:pt idx="1">
                  <c:v>93.084825482184442</c:v>
                </c:pt>
                <c:pt idx="2">
                  <c:v>93.832934010522706</c:v>
                </c:pt>
                <c:pt idx="3">
                  <c:v>90.118640790878274</c:v>
                </c:pt>
                <c:pt idx="4">
                  <c:v>90.888623837589023</c:v>
                </c:pt>
                <c:pt idx="5">
                  <c:v>229.95806184236781</c:v>
                </c:pt>
                <c:pt idx="6">
                  <c:v>219.41454398684004</c:v>
                </c:pt>
                <c:pt idx="7">
                  <c:v>172.56370053669608</c:v>
                </c:pt>
                <c:pt idx="8">
                  <c:v>103.96083601697366</c:v>
                </c:pt>
                <c:pt idx="9">
                  <c:v>91.654231980625283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32437032"/>
        <c:axId val="232437416"/>
      </c:lineChart>
      <c:catAx>
        <c:axId val="232437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7416"/>
        <c:crosses val="autoZero"/>
        <c:auto val="1"/>
        <c:lblAlgn val="ctr"/>
        <c:lblOffset val="100"/>
        <c:noMultiLvlLbl val="0"/>
      </c:catAx>
      <c:valAx>
        <c:axId val="232437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43703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COUVERTURE CUMULEE EN VPI DE JANV-OCTOBRE 2025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6.1992968988547802E-2"/>
          <c:y val="0.20205832661783027"/>
          <c:w val="0.93800703101145222"/>
          <c:h val="0.6339012248065083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VPI!$A$35:$A$47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VPI!$B$35:$B$47</c:f>
              <c:numCache>
                <c:formatCode>0</c:formatCode>
                <c:ptCount val="13"/>
                <c:pt idx="0">
                  <c:v>104.21371213798928</c:v>
                </c:pt>
                <c:pt idx="1">
                  <c:v>121.86064773319103</c:v>
                </c:pt>
                <c:pt idx="2">
                  <c:v>113.01054260222398</c:v>
                </c:pt>
                <c:pt idx="3">
                  <c:v>110.27842446173619</c:v>
                </c:pt>
                <c:pt idx="4">
                  <c:v>105.38027688338063</c:v>
                </c:pt>
                <c:pt idx="5">
                  <c:v>92.450452265284355</c:v>
                </c:pt>
                <c:pt idx="6">
                  <c:v>79.147081627958826</c:v>
                </c:pt>
                <c:pt idx="7">
                  <c:v>106.17509150710882</c:v>
                </c:pt>
                <c:pt idx="8">
                  <c:v>100.40050640244567</c:v>
                </c:pt>
                <c:pt idx="9">
                  <c:v>201.34843106787045</c:v>
                </c:pt>
                <c:pt idx="10">
                  <c:v>123.61134912311957</c:v>
                </c:pt>
                <c:pt idx="11">
                  <c:v>114.43757956355762</c:v>
                </c:pt>
                <c:pt idx="12">
                  <c:v>113.34762934096553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42063840"/>
        <c:axId val="232260336"/>
      </c:barChart>
      <c:catAx>
        <c:axId val="24206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2260336"/>
        <c:crosses val="autoZero"/>
        <c:auto val="1"/>
        <c:lblAlgn val="ctr"/>
        <c:lblOffset val="100"/>
        <c:noMultiLvlLbl val="0"/>
      </c:catAx>
      <c:valAx>
        <c:axId val="23226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206384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EVOLUTION DE CV EN VPI  DE JANV-OCTOBRE 2025 DPS Tshuapa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VPI!$C$60:$L$60</c:f>
              <c:strCache>
                <c:ptCount val="10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AOÛT</c:v>
                </c:pt>
                <c:pt idx="8">
                  <c:v>SEPTEMBRE</c:v>
                </c:pt>
                <c:pt idx="9">
                  <c:v>OCTOBRE</c:v>
                </c:pt>
              </c:strCache>
            </c:strRef>
          </c:cat>
          <c:val>
            <c:numRef>
              <c:f>VPI!$C$61:$L$61</c:f>
              <c:numCache>
                <c:formatCode>0</c:formatCode>
                <c:ptCount val="10"/>
                <c:pt idx="0">
                  <c:v>91.88172697169891</c:v>
                </c:pt>
                <c:pt idx="1">
                  <c:v>93.084825482184442</c:v>
                </c:pt>
                <c:pt idx="2">
                  <c:v>93.832934010522706</c:v>
                </c:pt>
                <c:pt idx="3">
                  <c:v>90.118640790878274</c:v>
                </c:pt>
                <c:pt idx="4">
                  <c:v>90.888623837589023</c:v>
                </c:pt>
                <c:pt idx="5">
                  <c:v>229.95806184236781</c:v>
                </c:pt>
                <c:pt idx="6">
                  <c:v>219.41454398684004</c:v>
                </c:pt>
                <c:pt idx="7">
                  <c:v>172.56370053669608</c:v>
                </c:pt>
                <c:pt idx="8">
                  <c:v>103.96083601697366</c:v>
                </c:pt>
                <c:pt idx="9">
                  <c:v>91.654231980625283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33598784"/>
        <c:axId val="24155000"/>
      </c:lineChart>
      <c:catAx>
        <c:axId val="233598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155000"/>
        <c:crosses val="autoZero"/>
        <c:auto val="1"/>
        <c:lblAlgn val="ctr"/>
        <c:lblOffset val="100"/>
        <c:noMultiLvlLbl val="0"/>
      </c:catAx>
      <c:valAx>
        <c:axId val="24155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3359878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COUVERTURE CUMULEE EN VAR DE JANV-OCTOBRE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VAR!$A$36:$A$48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VAR!$B$36:$B$48</c:f>
              <c:numCache>
                <c:formatCode>0</c:formatCode>
                <c:ptCount val="13"/>
                <c:pt idx="0">
                  <c:v>95.736524102749428</c:v>
                </c:pt>
                <c:pt idx="1">
                  <c:v>109.55812706029845</c:v>
                </c:pt>
                <c:pt idx="2">
                  <c:v>122.98443636928543</c:v>
                </c:pt>
                <c:pt idx="3">
                  <c:v>109.02095836623084</c:v>
                </c:pt>
                <c:pt idx="4">
                  <c:v>97.491859760415053</c:v>
                </c:pt>
                <c:pt idx="5">
                  <c:v>90.098162651433924</c:v>
                </c:pt>
                <c:pt idx="6">
                  <c:v>85.641765655844182</c:v>
                </c:pt>
                <c:pt idx="7">
                  <c:v>104.51373233206019</c:v>
                </c:pt>
                <c:pt idx="8">
                  <c:v>95.546577677189248</c:v>
                </c:pt>
                <c:pt idx="9">
                  <c:v>193.23599064905841</c:v>
                </c:pt>
                <c:pt idx="10">
                  <c:v>125.73952156139424</c:v>
                </c:pt>
                <c:pt idx="11">
                  <c:v>119.23102026914788</c:v>
                </c:pt>
                <c:pt idx="12">
                  <c:v>110.66362593666418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4156568"/>
        <c:axId val="24156960"/>
      </c:barChart>
      <c:catAx>
        <c:axId val="24156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156960"/>
        <c:crosses val="autoZero"/>
        <c:auto val="1"/>
        <c:lblAlgn val="ctr"/>
        <c:lblOffset val="100"/>
        <c:noMultiLvlLbl val="0"/>
      </c:catAx>
      <c:valAx>
        <c:axId val="2415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15656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r-FR"/>
              <a:t>EVOLUTION DE CV EN VAR DE JANV-OCTOBRE 2025 DPS Tshuapa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VAR!$B$57:$K$57</c:f>
              <c:strCache>
                <c:ptCount val="10"/>
                <c:pt idx="0">
                  <c:v>JANVIER</c:v>
                </c:pt>
                <c:pt idx="1">
                  <c:v>FÉVRIER</c:v>
                </c:pt>
                <c:pt idx="2">
                  <c:v>MARS</c:v>
                </c:pt>
                <c:pt idx="3">
                  <c:v>AVRIL</c:v>
                </c:pt>
                <c:pt idx="4">
                  <c:v>MAI</c:v>
                </c:pt>
                <c:pt idx="5">
                  <c:v>JUIN</c:v>
                </c:pt>
                <c:pt idx="6">
                  <c:v>JUILLET</c:v>
                </c:pt>
                <c:pt idx="7">
                  <c:v>AOÛT</c:v>
                </c:pt>
                <c:pt idx="8">
                  <c:v>SEPTEMBRE</c:v>
                </c:pt>
                <c:pt idx="9">
                  <c:v>OCTOBRE</c:v>
                </c:pt>
              </c:strCache>
            </c:strRef>
          </c:cat>
          <c:val>
            <c:numRef>
              <c:f>VAR!$B$58:$K$58</c:f>
              <c:numCache>
                <c:formatCode>0</c:formatCode>
                <c:ptCount val="10"/>
                <c:pt idx="0">
                  <c:v>82.429747582957091</c:v>
                </c:pt>
                <c:pt idx="1">
                  <c:v>84.037524683333217</c:v>
                </c:pt>
                <c:pt idx="2">
                  <c:v>85.645301783709328</c:v>
                </c:pt>
                <c:pt idx="3">
                  <c:v>81.327271856984893</c:v>
                </c:pt>
                <c:pt idx="4">
                  <c:v>81.845697942412301</c:v>
                </c:pt>
                <c:pt idx="5">
                  <c:v>178.58138054096102</c:v>
                </c:pt>
                <c:pt idx="6">
                  <c:v>198.79999787262972</c:v>
                </c:pt>
                <c:pt idx="7">
                  <c:v>142.06843447364366</c:v>
                </c:pt>
                <c:pt idx="8">
                  <c:v>86.144040802601523</c:v>
                </c:pt>
                <c:pt idx="9">
                  <c:v>85.756861827408898</c:v>
                </c:pt>
              </c:numCache>
            </c:numRef>
          </c:val>
          <c:smooth val="0"/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4154608"/>
        <c:axId val="243709536"/>
      </c:lineChart>
      <c:catAx>
        <c:axId val="24154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09536"/>
        <c:crosses val="autoZero"/>
        <c:auto val="1"/>
        <c:lblAlgn val="ctr"/>
        <c:lblOffset val="100"/>
        <c:noMultiLvlLbl val="0"/>
      </c:catAx>
      <c:valAx>
        <c:axId val="243709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15460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COUVERTURE VACCINALE EN VAA DE JANV-OCTOMBRE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VAA!$C$4:$C$16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VAA!$D$4:$D$16</c:f>
              <c:numCache>
                <c:formatCode>0</c:formatCode>
                <c:ptCount val="13"/>
                <c:pt idx="0">
                  <c:v>66.703490372697487</c:v>
                </c:pt>
                <c:pt idx="1">
                  <c:v>82.225827895441569</c:v>
                </c:pt>
                <c:pt idx="2">
                  <c:v>97.746850926316156</c:v>
                </c:pt>
                <c:pt idx="3">
                  <c:v>99.921230599832086</c:v>
                </c:pt>
                <c:pt idx="4">
                  <c:v>101.45045274407686</c:v>
                </c:pt>
                <c:pt idx="5">
                  <c:v>80.483862659940598</c:v>
                </c:pt>
                <c:pt idx="6">
                  <c:v>91.64609603601555</c:v>
                </c:pt>
                <c:pt idx="7">
                  <c:v>78.776905340306598</c:v>
                </c:pt>
                <c:pt idx="8">
                  <c:v>75.802577741605148</c:v>
                </c:pt>
                <c:pt idx="9">
                  <c:v>197.15570344757094</c:v>
                </c:pt>
                <c:pt idx="10">
                  <c:v>89.383242407535519</c:v>
                </c:pt>
                <c:pt idx="11">
                  <c:v>107.67401921521666</c:v>
                </c:pt>
                <c:pt idx="12">
                  <c:v>95.414024198484427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3712280"/>
        <c:axId val="243707968"/>
      </c:barChart>
      <c:catAx>
        <c:axId val="243712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07968"/>
        <c:crosses val="autoZero"/>
        <c:auto val="1"/>
        <c:lblAlgn val="ctr"/>
        <c:lblOffset val="100"/>
        <c:noMultiLvlLbl val="0"/>
      </c:catAx>
      <c:valAx>
        <c:axId val="243707968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3712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200" b="1"/>
      </a:pPr>
      <a:endParaRPr lang="fr-F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6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 smtClean="0"/>
              <a:t>EVOLUTION DU  </a:t>
            </a:r>
            <a:r>
              <a:rPr lang="fr-FR" dirty="0" err="1" smtClean="0"/>
              <a:t>Tx</a:t>
            </a:r>
            <a:r>
              <a:rPr lang="fr-FR" dirty="0" smtClean="0"/>
              <a:t> </a:t>
            </a:r>
            <a:r>
              <a:rPr lang="fr-FR" dirty="0" err="1"/>
              <a:t>Abd</a:t>
            </a:r>
            <a:r>
              <a:rPr lang="fr-FR" dirty="0"/>
              <a:t> de JANV -OCTOBRE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6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'Td Abd'!$B$19:$B$31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'Td Abd'!$C$19:$C$31</c:f>
              <c:numCache>
                <c:formatCode>0</c:formatCode>
                <c:ptCount val="13"/>
                <c:pt idx="0">
                  <c:v>0.10678132988907815</c:v>
                </c:pt>
                <c:pt idx="1">
                  <c:v>1.5799457451915555</c:v>
                </c:pt>
                <c:pt idx="2">
                  <c:v>3.6699156805873714</c:v>
                </c:pt>
                <c:pt idx="3">
                  <c:v>7.3077500790918819</c:v>
                </c:pt>
                <c:pt idx="4">
                  <c:v>-4.0313756566482102</c:v>
                </c:pt>
                <c:pt idx="5">
                  <c:v>8.2790610939352298</c:v>
                </c:pt>
                <c:pt idx="6">
                  <c:v>7.163935058251627</c:v>
                </c:pt>
                <c:pt idx="7">
                  <c:v>3.777567453830879</c:v>
                </c:pt>
                <c:pt idx="8">
                  <c:v>4.9930835488837051</c:v>
                </c:pt>
                <c:pt idx="9">
                  <c:v>11.554117142086232</c:v>
                </c:pt>
                <c:pt idx="10">
                  <c:v>10.356267281893501</c:v>
                </c:pt>
                <c:pt idx="11">
                  <c:v>9.3463705222771374</c:v>
                </c:pt>
                <c:pt idx="12">
                  <c:v>5.8669389676108921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3709928"/>
        <c:axId val="243708752"/>
      </c:barChart>
      <c:catAx>
        <c:axId val="24370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08752"/>
        <c:crosses val="autoZero"/>
        <c:auto val="1"/>
        <c:lblAlgn val="ctr"/>
        <c:lblOffset val="100"/>
        <c:noMultiLvlLbl val="0"/>
      </c:catAx>
      <c:valAx>
        <c:axId val="24370875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37099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050" b="1"/>
      </a:pPr>
      <a:endParaRPr lang="fr-F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 COUVERTURE VACCINALE EN PCV13 DE JANV-OCTOBRE 2025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'PCV 13'!$C$4:$C$16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'PCV 13'!$D$4:$D$16</c:f>
              <c:numCache>
                <c:formatCode>0</c:formatCode>
                <c:ptCount val="13"/>
                <c:pt idx="0">
                  <c:v>108.73589645441785</c:v>
                </c:pt>
                <c:pt idx="1">
                  <c:v>114.39220813376244</c:v>
                </c:pt>
                <c:pt idx="2">
                  <c:v>115.69806503428417</c:v>
                </c:pt>
                <c:pt idx="3">
                  <c:v>108.33138018482471</c:v>
                </c:pt>
                <c:pt idx="4">
                  <c:v>105.02546113629857</c:v>
                </c:pt>
                <c:pt idx="5">
                  <c:v>98.960277010591355</c:v>
                </c:pt>
                <c:pt idx="6">
                  <c:v>110.29954908374792</c:v>
                </c:pt>
                <c:pt idx="7">
                  <c:v>104.371330117056</c:v>
                </c:pt>
                <c:pt idx="8">
                  <c:v>102.02890439132665</c:v>
                </c:pt>
                <c:pt idx="9">
                  <c:v>168.32013798455003</c:v>
                </c:pt>
                <c:pt idx="10">
                  <c:v>102.44391548242849</c:v>
                </c:pt>
                <c:pt idx="11">
                  <c:v>112.26579413060409</c:v>
                </c:pt>
                <c:pt idx="12">
                  <c:v>111.97697201974692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3712672"/>
        <c:axId val="243710712"/>
      </c:barChart>
      <c:catAx>
        <c:axId val="243712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10712"/>
        <c:crosses val="autoZero"/>
        <c:auto val="1"/>
        <c:lblAlgn val="ctr"/>
        <c:lblOffset val="100"/>
        <c:noMultiLvlLbl val="0"/>
      </c:catAx>
      <c:valAx>
        <c:axId val="24371071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3712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100" b="1"/>
      </a:pPr>
      <a:endParaRPr lang="fr-F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COUVERTURE VACCINALE EN ROTA DE JANV-OCTOBRE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ROTA!$C$4:$C$16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ROTA!$D$4:$D$16</c:f>
              <c:numCache>
                <c:formatCode>0</c:formatCode>
                <c:ptCount val="13"/>
                <c:pt idx="0">
                  <c:v>104.0967152434135</c:v>
                </c:pt>
                <c:pt idx="1">
                  <c:v>114.48178959497282</c:v>
                </c:pt>
                <c:pt idx="2">
                  <c:v>112.91183560138035</c:v>
                </c:pt>
                <c:pt idx="3">
                  <c:v>107.71842180135259</c:v>
                </c:pt>
                <c:pt idx="4">
                  <c:v>102.99629864758045</c:v>
                </c:pt>
                <c:pt idx="5">
                  <c:v>83.793479442218526</c:v>
                </c:pt>
                <c:pt idx="6">
                  <c:v>110.67315186295856</c:v>
                </c:pt>
                <c:pt idx="7">
                  <c:v>100.54229278027724</c:v>
                </c:pt>
                <c:pt idx="8">
                  <c:v>65.15676304949686</c:v>
                </c:pt>
                <c:pt idx="9">
                  <c:v>154.63039477780475</c:v>
                </c:pt>
                <c:pt idx="10">
                  <c:v>104.69031972282953</c:v>
                </c:pt>
                <c:pt idx="11">
                  <c:v>104.28706812334867</c:v>
                </c:pt>
                <c:pt idx="12">
                  <c:v>104.7938176765971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3713064"/>
        <c:axId val="243714240"/>
      </c:barChart>
      <c:catAx>
        <c:axId val="243713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14240"/>
        <c:crosses val="autoZero"/>
        <c:auto val="1"/>
        <c:lblAlgn val="ctr"/>
        <c:lblOffset val="100"/>
        <c:noMultiLvlLbl val="0"/>
      </c:catAx>
      <c:valAx>
        <c:axId val="24371424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3713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100" b="1"/>
      </a:pPr>
      <a:endParaRPr lang="fr-F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COUVERTURE VACCINALE EN VAP1 DE JUIN- OCTOBRE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'VAP1'!$D$4:$D$16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'VAP1'!$E$4:$E$16</c:f>
              <c:numCache>
                <c:formatCode>0</c:formatCode>
                <c:ptCount val="13"/>
                <c:pt idx="0">
                  <c:v>42.149402976296145</c:v>
                </c:pt>
                <c:pt idx="1">
                  <c:v>47.836500286344531</c:v>
                </c:pt>
                <c:pt idx="2">
                  <c:v>47.742781635313051</c:v>
                </c:pt>
                <c:pt idx="3">
                  <c:v>52.353857223619734</c:v>
                </c:pt>
                <c:pt idx="4">
                  <c:v>33.153216238167587</c:v>
                </c:pt>
                <c:pt idx="5">
                  <c:v>38.128973508226743</c:v>
                </c:pt>
                <c:pt idx="6">
                  <c:v>30.321868419865375</c:v>
                </c:pt>
                <c:pt idx="7">
                  <c:v>30.83482628890285</c:v>
                </c:pt>
                <c:pt idx="8">
                  <c:v>43.286726699629746</c:v>
                </c:pt>
                <c:pt idx="9">
                  <c:v>34.438869662552946</c:v>
                </c:pt>
                <c:pt idx="10">
                  <c:v>52.400334702407065</c:v>
                </c:pt>
                <c:pt idx="11">
                  <c:v>47.577613734774452</c:v>
                </c:pt>
                <c:pt idx="12">
                  <c:v>41.575147109073029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3708360"/>
        <c:axId val="243714632"/>
      </c:barChart>
      <c:catAx>
        <c:axId val="243708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14632"/>
        <c:crosses val="autoZero"/>
        <c:auto val="1"/>
        <c:lblAlgn val="ctr"/>
        <c:lblOffset val="100"/>
        <c:noMultiLvlLbl val="0"/>
      </c:catAx>
      <c:valAx>
        <c:axId val="24371463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3708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100" b="1"/>
      </a:pPr>
      <a:endParaRPr lang="fr-F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COUVERTURE VACCINALE EN VAP2 DE JUIN -OCTOBRE 2025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'VAP2'!$D$4:$D$16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'VAP2'!$E$4:$E$16</c:f>
              <c:numCache>
                <c:formatCode>0</c:formatCode>
                <c:ptCount val="13"/>
                <c:pt idx="0">
                  <c:v>28.353943059362141</c:v>
                </c:pt>
                <c:pt idx="1">
                  <c:v>30.577138759810737</c:v>
                </c:pt>
                <c:pt idx="2">
                  <c:v>35.830641306231563</c:v>
                </c:pt>
                <c:pt idx="3">
                  <c:v>37.940321118150045</c:v>
                </c:pt>
                <c:pt idx="4">
                  <c:v>26.824070479405986</c:v>
                </c:pt>
                <c:pt idx="5">
                  <c:v>24.056264132342481</c:v>
                </c:pt>
                <c:pt idx="6">
                  <c:v>17.252442625692378</c:v>
                </c:pt>
                <c:pt idx="7">
                  <c:v>23.904585158699931</c:v>
                </c:pt>
                <c:pt idx="8">
                  <c:v>24.527581867720865</c:v>
                </c:pt>
                <c:pt idx="9">
                  <c:v>19.130538583785075</c:v>
                </c:pt>
                <c:pt idx="10">
                  <c:v>37.668652157461402</c:v>
                </c:pt>
                <c:pt idx="11">
                  <c:v>34.779592433441252</c:v>
                </c:pt>
                <c:pt idx="12">
                  <c:v>28.337563570792557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3713848"/>
        <c:axId val="243715024"/>
      </c:barChart>
      <c:catAx>
        <c:axId val="243713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3715024"/>
        <c:crosses val="autoZero"/>
        <c:auto val="1"/>
        <c:lblAlgn val="ctr"/>
        <c:lblOffset val="100"/>
        <c:noMultiLvlLbl val="0"/>
      </c:catAx>
      <c:valAx>
        <c:axId val="24371502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3713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100" b="1"/>
      </a:pPr>
      <a:endParaRPr lang="fr-F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COUVERTURE VACCINALE EN VAP 3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'VAP3'!$D$4:$D$16</c:f>
              <c:strCache>
                <c:ptCount val="13"/>
                <c:pt idx="0">
                  <c:v>BEFALE</c:v>
                </c:pt>
                <c:pt idx="1">
                  <c:v>BOENDE</c:v>
                </c:pt>
                <c:pt idx="2">
                  <c:v>BOKUNGU</c:v>
                </c:pt>
                <c:pt idx="3">
                  <c:v>BUSANGA</c:v>
                </c:pt>
                <c:pt idx="4">
                  <c:v>DJOLU</c:v>
                </c:pt>
                <c:pt idx="5">
                  <c:v>IKELA</c:v>
                </c:pt>
                <c:pt idx="6">
                  <c:v>LINGOMO</c:v>
                </c:pt>
                <c:pt idx="7">
                  <c:v>MOMPONO</c:v>
                </c:pt>
                <c:pt idx="8">
                  <c:v>MONDOMBE</c:v>
                </c:pt>
                <c:pt idx="9">
                  <c:v>MONKOTO</c:v>
                </c:pt>
                <c:pt idx="10">
                  <c:v>WEMA</c:v>
                </c:pt>
                <c:pt idx="11">
                  <c:v>YALIFAFU</c:v>
                </c:pt>
                <c:pt idx="12">
                  <c:v>DPS Tshuapa</c:v>
                </c:pt>
              </c:strCache>
            </c:strRef>
          </c:cat>
          <c:val>
            <c:numRef>
              <c:f>'VAP3'!$E$4:$E$16</c:f>
              <c:numCache>
                <c:formatCode>0</c:formatCode>
                <c:ptCount val="13"/>
                <c:pt idx="0">
                  <c:v>18.953496921274372</c:v>
                </c:pt>
                <c:pt idx="1">
                  <c:v>20.484294130107585</c:v>
                </c:pt>
                <c:pt idx="2">
                  <c:v>24.658803483477168</c:v>
                </c:pt>
                <c:pt idx="3">
                  <c:v>25.500871571215605</c:v>
                </c:pt>
                <c:pt idx="4">
                  <c:v>17.825175964221309</c:v>
                </c:pt>
                <c:pt idx="5">
                  <c:v>14.441964140849153</c:v>
                </c:pt>
                <c:pt idx="6">
                  <c:v>10.687708076705023</c:v>
                </c:pt>
                <c:pt idx="7">
                  <c:v>18.986962000555941</c:v>
                </c:pt>
                <c:pt idx="8">
                  <c:v>15.757681658803461</c:v>
                </c:pt>
                <c:pt idx="9">
                  <c:v>11.544626749847874</c:v>
                </c:pt>
                <c:pt idx="10">
                  <c:v>25.94005738652552</c:v>
                </c:pt>
                <c:pt idx="11">
                  <c:v>23.300155144972688</c:v>
                </c:pt>
                <c:pt idx="12">
                  <c:v>18.916645998139646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44463688"/>
        <c:axId val="244462512"/>
      </c:barChart>
      <c:catAx>
        <c:axId val="244463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44462512"/>
        <c:crosses val="autoZero"/>
        <c:auto val="1"/>
        <c:lblAlgn val="ctr"/>
        <c:lblOffset val="100"/>
        <c:noMultiLvlLbl val="0"/>
      </c:catAx>
      <c:valAx>
        <c:axId val="24446251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244463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100"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AF83-BA3B-42B4-BE5F-F645DEFBBEE3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13D76-F316-4D3D-80BF-E0F743822A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72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467126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25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253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299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825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195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c9d920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c9d920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997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027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abc9d920d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aabc9d920d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370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331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856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796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bc9d920d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aabc9d920d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207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79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37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95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84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91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83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22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50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12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54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89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208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5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3E97-0946-4007-98FC-1F082E2FD414}" type="datetimeFigureOut">
              <a:rPr lang="fr-FR" smtClean="0"/>
              <a:t>13/12/2025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095B4-5E43-498B-AA22-FB0815FCE2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37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43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2025</a:t>
            </a:r>
            <a:endParaRPr lang="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la TSHUPA</a:t>
            </a: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26687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566533" y="1550500"/>
            <a:ext cx="10714500" cy="47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(zones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couvertes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impact sur la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succès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capitaliser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54262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 des antennes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g3aabc9d920d_0_207"/>
          <p:cNvSpPr/>
          <p:nvPr/>
        </p:nvSpPr>
        <p:spPr>
          <a:xfrm>
            <a:off x="458592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Cartographie de la province avec les antennes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c9d920d_0_207"/>
          <p:cNvSpPr/>
          <p:nvPr/>
        </p:nvSpPr>
        <p:spPr>
          <a:xfrm>
            <a:off x="615829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Tableau avec les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éléments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suivants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02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de ZS: Total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12, FAE 8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278, 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(194)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457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vaccinent: Total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(278), 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(194)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2619789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mois:104792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86453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495140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ECF: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15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15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fixe (…), </a:t>
            </a:r>
            <a:r>
              <a:rPr lang="en-US" sz="15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avancée</a:t>
            </a:r>
            <a:r>
              <a:rPr lang="en-US" sz="15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</a:t>
            </a:r>
            <a:r>
              <a:rPr lang="en-US" sz="15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15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à </a:t>
            </a:r>
            <a:r>
              <a:rPr lang="en-US" sz="1500" dirty="0" err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porte</a:t>
            </a:r>
            <a:r>
              <a:rPr lang="en-US" sz="15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(…), point de concentration (…), OVM (…)</a:t>
            </a:r>
            <a:endParaRPr sz="15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DPS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15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Oui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dans le PAO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08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" name="Imag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36" y="1389006"/>
            <a:ext cx="5407014" cy="45545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377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activités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81" name="Google Shape;181;g3aabc9d920d_0_226"/>
          <p:cNvGraphicFramePr/>
          <p:nvPr>
            <p:extLst>
              <p:ext uri="{D42A27DB-BD31-4B8C-83A1-F6EECF244321}">
                <p14:modId xmlns:p14="http://schemas.microsoft.com/office/powerpoint/2010/main" val="735844829"/>
              </p:ext>
            </p:extLst>
          </p:nvPr>
        </p:nvGraphicFramePr>
        <p:xfrm>
          <a:off x="458592" y="927441"/>
          <a:ext cx="11274900" cy="5724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18725"/>
                <a:gridCol w="3700250"/>
                <a:gridCol w="1856936"/>
                <a:gridCol w="2898989"/>
              </a:tblGrid>
              <a:tr h="83535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ou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approches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spéciale</a:t>
                      </a:r>
                      <a:r>
                        <a:rPr lang="" alt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Description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Objectifs</a:t>
                      </a:r>
                      <a:endParaRPr sz="15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Perimetre</a:t>
                      </a:r>
                      <a:r>
                        <a:rPr lang="en-US" sz="15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500" b="1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d’intervention</a:t>
                      </a:r>
                      <a:endParaRPr sz="15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47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Stratégie fluviale/Riveraine</a:t>
                      </a:r>
                      <a:endParaRPr sz="18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Vaccination/Récupération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enfants et femmes enceintes dans les campements </a:t>
                      </a:r>
                      <a:r>
                        <a:rPr lang="fr-FR" baseline="0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rivérains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 ZS (Boende, Befale,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Ikela, Mompono, Monkoto et Wema)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3127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OVM</a:t>
                      </a:r>
                      <a:endParaRPr sz="18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Identification et récupération des </a:t>
                      </a:r>
                      <a:r>
                        <a:rPr lang="fr-FR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Efts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en conflit avec le calendrier vaccinal qui entrent en contact avec l’ESS pour une raison quelconque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 ZS (Boende, Befale,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Bokungu, Busanga, Djolu, Ikela, Lingomo, Mondombe, Mompono, Monkoto, Wema et Yalifafu)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3232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FAE</a:t>
                      </a:r>
                      <a:endParaRPr sz="18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Identification et récupération des EZD et SV dans la communauté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 smtClean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 ZS (Boende, Befale,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Bokungu, Djolu, Ikela, Lingomo, Mompono et Yalifafu)</a:t>
                      </a:r>
                      <a:endParaRPr lang="fr-FR" dirty="0" smtClean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966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IPVS</a:t>
                      </a:r>
                      <a:endParaRPr sz="18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Récupération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fr-FR" baseline="0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Efts</a:t>
                      </a:r>
                      <a:r>
                        <a:rPr lang="fr-FR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 12 à 59 mois en 3 passages (</a:t>
                      </a:r>
                      <a:r>
                        <a:rPr lang="fr-FR" baseline="0" dirty="0" smtClean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penta, VPI et VAR ++++)</a:t>
                      </a:r>
                      <a:endParaRPr dirty="0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12 ZS</a:t>
                      </a:r>
                      <a:endParaRPr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48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1080654" y="233991"/>
            <a:ext cx="10577945" cy="693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3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1: </a:t>
            </a:r>
            <a:r>
              <a:rPr lang="en-US" sz="32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Stratégie</a:t>
            </a:r>
            <a:r>
              <a:rPr lang="en-US" sz="3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Fluviale</a:t>
            </a: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" name="Imag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48393" y="1518285"/>
            <a:ext cx="11010206" cy="384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8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1080654" y="233991"/>
            <a:ext cx="10577945" cy="693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3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2: </a:t>
            </a:r>
            <a:r>
              <a:rPr lang="fr-FR" sz="3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</a:t>
            </a: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121791"/>
              </p:ext>
            </p:extLst>
          </p:nvPr>
        </p:nvGraphicFramePr>
        <p:xfrm>
          <a:off x="554182" y="1260766"/>
          <a:ext cx="10986654" cy="4779812"/>
        </p:xfrm>
        <a:graphic>
          <a:graphicData uri="http://schemas.openxmlformats.org/drawingml/2006/table">
            <a:tbl>
              <a:tblPr/>
              <a:tblGrid>
                <a:gridCol w="1507972"/>
                <a:gridCol w="1355908"/>
                <a:gridCol w="1267204"/>
                <a:gridCol w="1609348"/>
                <a:gridCol w="1013763"/>
                <a:gridCol w="1216515"/>
                <a:gridCol w="2002181"/>
                <a:gridCol w="1013763"/>
              </a:tblGrid>
              <a:tr h="29762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TSHUAPA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ZD identifiés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STRATEGIE DE VACCINATION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697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EZD VACCINES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TRANCHE D'AGE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Fixe/horaire adapté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Avancée/Cartographie ZS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Porte à porte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Points de concentration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62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Efants vaccinés en DTC-Hep-Hib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0-11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12-23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24-59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6480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3567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Efants vaccinés en DTC-Hep-Hib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0-11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12-23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24-59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5174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2650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Efants vaccinés en DTC-Hep-Hib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0-11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12-23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24-59 mois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29762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5086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4669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  <a:tr h="37202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GENERAL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4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c9d920d_0_390"/>
          <p:cNvSpPr txBox="1"/>
          <p:nvPr/>
        </p:nvSpPr>
        <p:spPr>
          <a:xfrm>
            <a:off x="1080654" y="233991"/>
            <a:ext cx="10577945" cy="693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3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3: </a:t>
            </a:r>
            <a:r>
              <a:rPr lang="fr-FR" sz="3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</a:t>
            </a:r>
            <a:endParaRPr sz="3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c9d920d_0_39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c9d920d_0_39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5" name="Graphique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6427124"/>
              </p:ext>
            </p:extLst>
          </p:nvPr>
        </p:nvGraphicFramePr>
        <p:xfrm>
          <a:off x="1995055" y="1357746"/>
          <a:ext cx="8326581" cy="4488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7886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500" y="363957"/>
            <a:ext cx="11274900" cy="47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4: 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IPVS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279953"/>
              </p:ext>
            </p:extLst>
          </p:nvPr>
        </p:nvGraphicFramePr>
        <p:xfrm>
          <a:off x="407504" y="1330040"/>
          <a:ext cx="10662282" cy="4256214"/>
        </p:xfrm>
        <a:graphic>
          <a:graphicData uri="http://schemas.openxmlformats.org/drawingml/2006/table">
            <a:tbl>
              <a:tblPr/>
              <a:tblGrid>
                <a:gridCol w="1295086"/>
                <a:gridCol w="851564"/>
                <a:gridCol w="1064454"/>
                <a:gridCol w="1064454"/>
                <a:gridCol w="1064454"/>
                <a:gridCol w="1064454"/>
                <a:gridCol w="1064454"/>
                <a:gridCol w="1064454"/>
                <a:gridCol w="1064454"/>
                <a:gridCol w="1064454"/>
              </a:tblGrid>
              <a:tr h="34530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Zone de santé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Cibles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Identifiés 12 - 23 mois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Enfants </a:t>
                      </a:r>
                      <a:r>
                        <a:rPr lang="fr-FR" sz="16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recupérés</a:t>
                      </a:r>
                      <a:r>
                        <a:rPr lang="fr-FR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12 - 23 mois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5578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DTC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DTC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DTC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VPI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VPI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BEFALE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BOENDE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DJOLU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LINGOMO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MOMPONO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MONKOTO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WEMA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BOKUNGU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BUSANGA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IKELA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MONDOMBE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578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YALIFAFU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42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DPS TSHUAPA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886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bc9d920d_0_401"/>
          <p:cNvSpPr txBox="1"/>
          <p:nvPr/>
        </p:nvSpPr>
        <p:spPr>
          <a:xfrm>
            <a:off x="407500" y="363957"/>
            <a:ext cx="11274900" cy="47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5: 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IPVS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c9d920d_0_40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c9d920d_0_40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9" name="Google Shape;199;g3aabc9d920d_0_40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747428"/>
              </p:ext>
            </p:extLst>
          </p:nvPr>
        </p:nvGraphicFramePr>
        <p:xfrm>
          <a:off x="623458" y="1399310"/>
          <a:ext cx="10266216" cy="4802387"/>
        </p:xfrm>
        <a:graphic>
          <a:graphicData uri="http://schemas.openxmlformats.org/drawingml/2006/table">
            <a:tbl>
              <a:tblPr/>
              <a:tblGrid>
                <a:gridCol w="1151943"/>
                <a:gridCol w="746126"/>
                <a:gridCol w="1025237"/>
                <a:gridCol w="1266728"/>
                <a:gridCol w="1012697"/>
                <a:gridCol w="1012697"/>
                <a:gridCol w="1012697"/>
                <a:gridCol w="1012697"/>
                <a:gridCol w="1012697"/>
                <a:gridCol w="1012697"/>
              </a:tblGrid>
              <a:tr h="37764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Zone de santé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Cibles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Identifiés 12 - 23 mois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rtl="0" fontAlgn="ctr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Enfants </a:t>
                      </a:r>
                      <a:r>
                        <a:rPr lang="fr-FR" sz="1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recupérés</a:t>
                      </a:r>
                      <a:r>
                        <a:rPr lang="fr-F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24 - 59 mois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3021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DTC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DTC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DTC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VPI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VPI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BEFALE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BOENDE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DJOLU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LINGOMO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MOMPONO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MONKOTO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WEMA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BOKUNGU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BUSANGA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IKELA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MONDOMBE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118"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YALIFAFU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648"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DPS TSHUAPA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72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0"/>
            <a:ext cx="11274900" cy="5486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"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"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" sz="72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obtenus 6: couvertures vaccinales de Janvier à Octobre 2025</a:t>
            </a:r>
            <a:endParaRPr sz="72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3887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6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fr-FR" sz="2800" dirty="0" smtClean="0"/>
              <a:t>                         </a:t>
            </a:r>
            <a:r>
              <a:rPr lang="fr-FR" sz="2400" b="1" dirty="0" smtClean="0"/>
              <a:t>COUVERTURE VACCINALE EN BCG DE JANVIER  A OCTOBRE 2025</a:t>
            </a:r>
            <a:endParaRPr lang="fr-FR" sz="1600" b="1" dirty="0"/>
          </a:p>
        </p:txBody>
      </p:sp>
      <p:graphicFrame>
        <p:nvGraphicFramePr>
          <p:cNvPr id="14" name="Espace réservé du contenu 1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1008615"/>
              </p:ext>
            </p:extLst>
          </p:nvPr>
        </p:nvGraphicFramePr>
        <p:xfrm>
          <a:off x="983674" y="947921"/>
          <a:ext cx="10169235" cy="45800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150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aphique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5131735"/>
              </p:ext>
            </p:extLst>
          </p:nvPr>
        </p:nvGraphicFramePr>
        <p:xfrm>
          <a:off x="1417983" y="1081825"/>
          <a:ext cx="9024729" cy="5100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5947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845" y="152401"/>
            <a:ext cx="11524960" cy="1039090"/>
          </a:xfrm>
        </p:spPr>
        <p:txBody>
          <a:bodyPr>
            <a:noAutofit/>
          </a:bodyPr>
          <a:lstStyle/>
          <a:p>
            <a:pPr algn="ctr"/>
            <a:r>
              <a:rPr lang="fr-FR" sz="2400" b="1" dirty="0" smtClean="0">
                <a:solidFill>
                  <a:schemeClr val="bg1"/>
                </a:solidFill>
              </a:rPr>
              <a:t> </a:t>
            </a:r>
            <a:r>
              <a:rPr lang="fr-FR" sz="2800" b="1" dirty="0" smtClean="0"/>
              <a:t>COUVERTURE </a:t>
            </a:r>
            <a:r>
              <a:rPr lang="fr-FR" sz="2800" b="1" dirty="0"/>
              <a:t>CUMULEE EN PENTA DE JANV-OCTOBRE 2025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sz="2400" b="1" dirty="0" smtClean="0">
                <a:solidFill>
                  <a:schemeClr val="bg1"/>
                </a:solidFill>
              </a:rPr>
              <a:t>LE EN PENTA</a:t>
            </a:r>
            <a:endParaRPr lang="fr-FR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735729" y="1458532"/>
          <a:ext cx="4937124" cy="44657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294"/>
                <a:gridCol w="457377"/>
                <a:gridCol w="437049"/>
                <a:gridCol w="467540"/>
                <a:gridCol w="327786"/>
                <a:gridCol w="419261"/>
                <a:gridCol w="358278"/>
                <a:gridCol w="386229"/>
                <a:gridCol w="437049"/>
                <a:gridCol w="406557"/>
                <a:gridCol w="477704"/>
              </a:tblGrid>
              <a:tr h="501738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JANVIER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FÉVRIER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MARS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AVRIL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MAI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JUIN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JUILLET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AOÛT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SEPTEMBRE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 dirty="0">
                          <a:effectLst/>
                        </a:rPr>
                        <a:t>OCTOBRE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BEFALE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219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BOENDE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230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249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244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55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BOKUNGU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303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179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BUSANGA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184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164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DJOLU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146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128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IKELA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314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LINGOMO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49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229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MOMPONO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114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166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214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45738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MONDOMBE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81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163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130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MONKOTO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77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555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583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226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WEMA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58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143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327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258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277204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YALIFAFU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82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173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213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181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  <a:tr h="45738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000" u="none" strike="noStrike">
                          <a:effectLst/>
                        </a:rPr>
                        <a:t>DPS Tshuapa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401" marR="6401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230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219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173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104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 dirty="0">
                          <a:effectLst/>
                        </a:rPr>
                        <a:t>92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1" marR="6401" marT="9525" marB="0" anchor="b"/>
                </a:tc>
              </a:tr>
            </a:tbl>
          </a:graphicData>
        </a:graphic>
      </p:graphicFrame>
      <p:graphicFrame>
        <p:nvGraphicFramePr>
          <p:cNvPr id="8" name="Espace réservé du contenu 7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5821541" y="1458532"/>
          <a:ext cx="5820959" cy="4465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3486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phique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178460"/>
              </p:ext>
            </p:extLst>
          </p:nvPr>
        </p:nvGraphicFramePr>
        <p:xfrm>
          <a:off x="1197736" y="914401"/>
          <a:ext cx="8493952" cy="5035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6766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41790" y="244699"/>
            <a:ext cx="8534400" cy="738974"/>
          </a:xfrm>
        </p:spPr>
        <p:txBody>
          <a:bodyPr>
            <a:normAutofit/>
          </a:bodyPr>
          <a:lstStyle/>
          <a:p>
            <a:pPr algn="ctr"/>
            <a:r>
              <a:rPr lang="fr-FR" sz="1800" b="1" dirty="0" smtClean="0">
                <a:solidFill>
                  <a:schemeClr val="bg1"/>
                </a:solidFill>
              </a:rPr>
              <a:t>         </a:t>
            </a:r>
            <a:r>
              <a:rPr lang="fr-FR" sz="2400" b="1" dirty="0" smtClean="0"/>
              <a:t>CV en VPI</a:t>
            </a:r>
            <a:endParaRPr lang="fr-FR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206062" y="1359673"/>
          <a:ext cx="5602599" cy="46088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4048"/>
                <a:gridCol w="500512"/>
                <a:gridCol w="478266"/>
                <a:gridCol w="511632"/>
                <a:gridCol w="358700"/>
                <a:gridCol w="458802"/>
                <a:gridCol w="392067"/>
                <a:gridCol w="422653"/>
                <a:gridCol w="478266"/>
                <a:gridCol w="444898"/>
                <a:gridCol w="522755"/>
              </a:tblGrid>
              <a:tr h="561360">
                <a:tc>
                  <a:txBody>
                    <a:bodyPr/>
                    <a:lstStyle/>
                    <a:p>
                      <a:pPr algn="l" fontAlgn="b"/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JANVIER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FÉVRIER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MARS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AVRIL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MAI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JUIN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JUILLET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AOÛT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SEPTEMBRE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400" u="none" strike="noStrike">
                          <a:effectLst/>
                        </a:rPr>
                        <a:t>OCTOBRE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191531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BEFALE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219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191531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BOENDE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79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230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249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244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125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55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BOKUNGU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303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297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179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BUSANGA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202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184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164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191531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DJOLU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94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146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128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191531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IKELA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91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314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LINGOMO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49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71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229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MOMPONO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74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114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166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214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MONDOMBE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78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163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130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MONKOTO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77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81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555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583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226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191531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WEMA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58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143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327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258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191531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YALIFAFU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82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101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173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213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181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  <a:tr h="376446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400" u="none" strike="noStrike">
                          <a:effectLst/>
                        </a:rPr>
                        <a:t>DPS Tshuapa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35" marR="7635" marT="763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90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91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230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219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173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>
                          <a:effectLst/>
                        </a:rPr>
                        <a:t>104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400" u="none" strike="noStrike" dirty="0">
                          <a:effectLst/>
                        </a:rPr>
                        <a:t>92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35" marR="7635" marT="7635" marB="0" anchor="b"/>
                </a:tc>
              </a:tr>
            </a:tbl>
          </a:graphicData>
        </a:graphic>
      </p:graphicFrame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59978519"/>
              </p:ext>
            </p:extLst>
          </p:nvPr>
        </p:nvGraphicFramePr>
        <p:xfrm>
          <a:off x="5808662" y="1359672"/>
          <a:ext cx="5511867" cy="4680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9090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phique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6447309"/>
              </p:ext>
            </p:extLst>
          </p:nvPr>
        </p:nvGraphicFramePr>
        <p:xfrm>
          <a:off x="1236372" y="1056068"/>
          <a:ext cx="9800821" cy="5048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01027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4213" y="166255"/>
            <a:ext cx="8534400" cy="519546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fr-FR" sz="2400" dirty="0" smtClean="0">
                <a:solidFill>
                  <a:schemeClr val="bg1"/>
                </a:solidFill>
              </a:rPr>
              <a:t>                             </a:t>
            </a:r>
            <a:r>
              <a:rPr lang="fr-FR" sz="2400" b="1" dirty="0" smtClean="0"/>
              <a:t>COUVERTURE VACCINALE EN VAR</a:t>
            </a:r>
            <a:endParaRPr lang="fr-FR" sz="2400" b="1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2514833"/>
              </p:ext>
            </p:extLst>
          </p:nvPr>
        </p:nvGraphicFramePr>
        <p:xfrm>
          <a:off x="222063" y="1181174"/>
          <a:ext cx="5344732" cy="48441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275"/>
                <a:gridCol w="514816"/>
                <a:gridCol w="477375"/>
                <a:gridCol w="402494"/>
                <a:gridCol w="411853"/>
                <a:gridCol w="386893"/>
                <a:gridCol w="449293"/>
                <a:gridCol w="402494"/>
                <a:gridCol w="336970"/>
                <a:gridCol w="461775"/>
                <a:gridCol w="402494"/>
              </a:tblGrid>
              <a:tr h="592032">
                <a:tc>
                  <a:txBody>
                    <a:bodyPr/>
                    <a:lstStyle/>
                    <a:p>
                      <a:pPr algn="l" fontAlgn="b"/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 dirty="0">
                          <a:effectLst/>
                        </a:rPr>
                        <a:t>JANVIER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FÉVRIER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 dirty="0">
                          <a:effectLst/>
                        </a:rPr>
                        <a:t>MARS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AVRIL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MAI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JUIN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JUILLET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AOÛT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SEPTEMBRE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1" u="none" strike="noStrike">
                          <a:effectLst/>
                        </a:rPr>
                        <a:t>OCTOBRE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Bahnschrift Light Condensed" panose="020B0502040204020203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BEFALE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89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80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81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187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133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59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BOENDE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84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161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203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171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54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BOKUNGU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102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236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234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150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BUSANGA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168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163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151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DJOLU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112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146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106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IKELA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98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98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LINGOMO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107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103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79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MOMPONO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103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137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181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91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MONDOMBE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118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99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MONKOTO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627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643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86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WEMA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63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88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127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290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264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76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93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YALIFAFU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104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85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157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183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184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96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100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  <a:tr h="327089">
                <a:tc>
                  <a:txBody>
                    <a:bodyPr/>
                    <a:lstStyle/>
                    <a:p>
                      <a:pPr algn="just" fontAlgn="ctr"/>
                      <a:r>
                        <a:rPr lang="fr-FR" sz="1200" b="1" u="none" strike="noStrike">
                          <a:effectLst/>
                        </a:rPr>
                        <a:t>DPS Tshuapa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672" marR="8672" marT="867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84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81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179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199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142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>
                          <a:effectLst/>
                        </a:rPr>
                        <a:t>86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200" b="1" u="none" strike="noStrike" dirty="0">
                          <a:effectLst/>
                        </a:rPr>
                        <a:t>86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72" marR="8672" marT="8672" marB="0" anchor="b"/>
                </a:tc>
              </a:tr>
            </a:tbl>
          </a:graphicData>
        </a:graphic>
      </p:graphicFrame>
      <p:graphicFrame>
        <p:nvGraphicFramePr>
          <p:cNvPr id="6" name="Espace réservé du contenu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61340917"/>
              </p:ext>
            </p:extLst>
          </p:nvPr>
        </p:nvGraphicFramePr>
        <p:xfrm>
          <a:off x="5601822" y="1208882"/>
          <a:ext cx="6181568" cy="4844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8968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phique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3304735"/>
              </p:ext>
            </p:extLst>
          </p:nvPr>
        </p:nvGraphicFramePr>
        <p:xfrm>
          <a:off x="476518" y="759855"/>
          <a:ext cx="11101589" cy="5537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286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/>
          </p:nvPr>
        </p:nvGraphicFramePr>
        <p:xfrm>
          <a:off x="1094704" y="296214"/>
          <a:ext cx="10534919" cy="6310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45955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/>
          </p:nvPr>
        </p:nvGraphicFramePr>
        <p:xfrm>
          <a:off x="321973" y="914400"/>
          <a:ext cx="11475076" cy="5357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12812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/>
          </p:nvPr>
        </p:nvGraphicFramePr>
        <p:xfrm>
          <a:off x="347730" y="875763"/>
          <a:ext cx="11449318" cy="5293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9755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/>
          </p:nvPr>
        </p:nvGraphicFramePr>
        <p:xfrm>
          <a:off x="579549" y="1081825"/>
          <a:ext cx="11243257" cy="4700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5584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/>
          </p:nvPr>
        </p:nvGraphicFramePr>
        <p:xfrm>
          <a:off x="206062" y="1184855"/>
          <a:ext cx="11616744" cy="4816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372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307943"/>
              </p:ext>
            </p:extLst>
          </p:nvPr>
        </p:nvGraphicFramePr>
        <p:xfrm>
          <a:off x="412125" y="483327"/>
          <a:ext cx="11539470" cy="5595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9005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026249"/>
              </p:ext>
            </p:extLst>
          </p:nvPr>
        </p:nvGraphicFramePr>
        <p:xfrm>
          <a:off x="206062" y="770709"/>
          <a:ext cx="11616744" cy="5499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4692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38545"/>
            <a:ext cx="10515600" cy="102523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lvl="0" algn="ctr"/>
            <a:r>
              <a:rPr lang="fr-FR" sz="36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fr-FR" sz="36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fr-FR" sz="36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 </a:t>
            </a:r>
            <a:r>
              <a:rPr lang="fr-FR" sz="36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expliquant la performance (leadership, mobilisation communautaire, intégration, supervision)</a:t>
            </a:r>
            <a:r>
              <a:rPr lang="fr-FR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fr-FR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4351338"/>
          </a:xfrm>
        </p:spPr>
        <p:txBody>
          <a:bodyPr/>
          <a:lstStyle/>
          <a:p>
            <a:r>
              <a:rPr lang="fr-FR" dirty="0" smtClean="0"/>
              <a:t>Leadership: implication de la DPS et les antennes pour déployer les vaccins et autres intrants de routine sans fonds reçus pendant 3 trimestres</a:t>
            </a:r>
          </a:p>
          <a:p>
            <a:r>
              <a:rPr lang="fr-FR" dirty="0" smtClean="0"/>
              <a:t> Supervision: malgré les moyens insuffisants la province s’arrange pour superviser quelques ZS chaque mois</a:t>
            </a:r>
          </a:p>
          <a:p>
            <a:r>
              <a:rPr lang="fr-FR" dirty="0" smtClean="0"/>
              <a:t>Intégration: Couplage du 1</a:t>
            </a:r>
            <a:r>
              <a:rPr lang="fr-FR" baseline="30000" dirty="0" smtClean="0"/>
              <a:t>er</a:t>
            </a:r>
            <a:r>
              <a:rPr lang="fr-FR" dirty="0" smtClean="0"/>
              <a:t> passage de l’IPVS avec la SVA et la D.A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Faible mobilisation communautaire (démotivation des </a:t>
            </a:r>
            <a:r>
              <a:rPr lang="fr-FR" dirty="0" err="1" smtClean="0">
                <a:solidFill>
                  <a:srgbClr val="FF0000"/>
                </a:solidFill>
              </a:rPr>
              <a:t>RECOs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cfr</a:t>
            </a:r>
            <a:r>
              <a:rPr lang="fr-FR" dirty="0" smtClean="0">
                <a:solidFill>
                  <a:srgbClr val="FF0000"/>
                </a:solidFill>
              </a:rPr>
              <a:t> FAE</a:t>
            </a:r>
            <a:r>
              <a:rPr lang="fr-FR" dirty="0" smtClean="0"/>
              <a:t>, </a:t>
            </a:r>
            <a:r>
              <a:rPr lang="fr-FR" dirty="0" smtClean="0">
                <a:solidFill>
                  <a:srgbClr val="FF0000"/>
                </a:solidFill>
              </a:rPr>
              <a:t>désinformation et </a:t>
            </a:r>
            <a:r>
              <a:rPr lang="fr-FR" dirty="0" err="1" smtClean="0">
                <a:solidFill>
                  <a:srgbClr val="FF0000"/>
                </a:solidFill>
              </a:rPr>
              <a:t>infodemie</a:t>
            </a:r>
            <a:r>
              <a:rPr lang="fr-FR" dirty="0" smtClean="0">
                <a:solidFill>
                  <a:srgbClr val="FF0000"/>
                </a:solidFill>
              </a:rPr>
              <a:t>, Existence des plusieurs réfractaires)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068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500744" y="37110"/>
            <a:ext cx="11038114" cy="655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Déploiement </a:t>
            </a: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 vaccins et </a:t>
            </a: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autres intrants </a:t>
            </a:r>
            <a:r>
              <a:rPr lang="fr-FR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</a:t>
            </a: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routine: Financement faible et irrégulier; </a:t>
            </a:r>
          </a:p>
          <a:p>
            <a:pPr marL="45720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Supervision: Pas de fonds pour les ECZ; fonds insuffisants et irrégulier pour les antennes;</a:t>
            </a:r>
          </a:p>
          <a:p>
            <a:pPr marL="45720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Cartes de Vaccination (CPS): Faible disponibilité; 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RHS: Faibles compétences des prestataires (IT, IS PEV) faute de formation;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formative: non organisée faute de financement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Ingérence politique (Députés) dans la gestion des R.H;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Dynamique communautaire: faible;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Expédition des échantillons et frais </a:t>
            </a:r>
            <a:r>
              <a:rPr lang="fr-FR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encourrus</a:t>
            </a: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(…)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endParaRPr lang="fr-FR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Ø"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5997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3439886" y="195741"/>
            <a:ext cx="4735285" cy="5118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399205287"/>
              </p:ext>
            </p:extLst>
          </p:nvPr>
        </p:nvGraphicFramePr>
        <p:xfrm>
          <a:off x="458586" y="1049652"/>
          <a:ext cx="11274925" cy="45412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89675"/>
                <a:gridCol w="2796575"/>
                <a:gridCol w="2625350"/>
                <a:gridCol w="2066050"/>
                <a:gridCol w="1797275"/>
              </a:tblGrid>
              <a:tr h="7382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Activités</a:t>
                      </a:r>
                      <a:r>
                        <a:rPr lang="en-US" sz="1800" b="1" i="0" u="none" strike="noStrike" cap="none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spécifiques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1023955"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600" i="1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600" i="1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600" i="1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600" i="1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600" i="1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40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FAE</a:t>
                      </a:r>
                      <a:endParaRPr sz="24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Paiement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prestataires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redynamisation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CAC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Environnement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politique</a:t>
                      </a:r>
                      <a:endParaRPr lang="en-US" sz="1600" b="0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477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Continuité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activité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Démotivation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RECOs suite aux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promesses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non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tenues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Existances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groups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refractaires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477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Saisie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données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DHIS2 et tracker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Léthargie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la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remontée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données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BASE EXCEL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477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dans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l’amelioration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CV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administratives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encodage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des 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données</a:t>
                      </a:r>
                      <a:r>
                        <a:rPr lang="en-US" sz="16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le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Tracker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4773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1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984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bc9d920d_0_428"/>
          <p:cNvSpPr txBox="1"/>
          <p:nvPr/>
        </p:nvSpPr>
        <p:spPr>
          <a:xfrm>
            <a:off x="2688770" y="134011"/>
            <a:ext cx="7097487" cy="4658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FFOM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6" name="Google Shape;246;g3aabc9d920d_0_42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7" name="Google Shape;247;g3aabc9d920d_0_42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8" name="Google Shape;248;g3aabc9d920d_0_42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9" name="Google Shape;249;g3aabc9d920d_0_42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50" name="Google Shape;250;g3aabc9d920d_0_428"/>
          <p:cNvGraphicFramePr/>
          <p:nvPr>
            <p:extLst>
              <p:ext uri="{D42A27DB-BD31-4B8C-83A1-F6EECF244321}">
                <p14:modId xmlns:p14="http://schemas.microsoft.com/office/powerpoint/2010/main" val="1667497533"/>
              </p:ext>
            </p:extLst>
          </p:nvPr>
        </p:nvGraphicFramePr>
        <p:xfrm>
          <a:off x="450400" y="738071"/>
          <a:ext cx="11741599" cy="59416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42823"/>
                <a:gridCol w="3317966"/>
                <a:gridCol w="5212080"/>
                <a:gridCol w="1201782"/>
                <a:gridCol w="1166948"/>
              </a:tblGrid>
              <a:tr h="55279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Faiblesses</a:t>
                      </a:r>
                      <a:endParaRPr sz="1800" b="1" i="0" u="none" strike="noStrike" cap="none" dirty="0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Opportunités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Menaces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505515">
                <a:tc rowSpan="7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 smtClean="0"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 smtClean="0"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 smtClean="0"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dirty="0" smtClean="0"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ym typeface="Times New Roman" panose="02020603050405020304"/>
                        </a:rPr>
                        <a:t>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2800" b="1" dirty="0" smtClean="0"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2800" b="1" dirty="0" smtClean="0"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800" b="1" dirty="0" smtClean="0">
                          <a:sym typeface="Times New Roman" panose="02020603050405020304"/>
                        </a:rPr>
                        <a:t>  IPVS</a:t>
                      </a:r>
                      <a:endParaRPr b="1"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 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Réalisation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effective de 3 phases</a:t>
                      </a: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CA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Rupture des cartes de vaccination dans certaines ZS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1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Environnement</a:t>
                      </a:r>
                      <a:r>
                        <a:rPr lang="en-US" sz="1600" b="1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US" sz="1600" b="1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politique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5706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 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Readjustment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du budget pour les 2 </a:t>
                      </a: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derniers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passages (</a:t>
                      </a: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budgétisation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des IT)</a:t>
                      </a: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CA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très réduit de sites de vaccination planifiés au 1</a:t>
                      </a:r>
                      <a:r>
                        <a:rPr lang="fr-CA" sz="1600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</a:t>
                      </a:r>
                      <a:r>
                        <a:rPr lang="fr-CA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passage</a:t>
                      </a:r>
                      <a:endParaRPr lang="fr-F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93740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 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Encodage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des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données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des IPVS dans le DHIS2</a:t>
                      </a: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CA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 prise en compte des frais de transaction bancaire et de transfert SOFICOM, l’enveloppe destinée à la mise en œuvre des phases 2 et 3 a été réduite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77324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Supervision à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tous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les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niveaux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</a:t>
                      </a: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fr-F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Léthargie dans la remontée des micro plans consolidés des ZS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Faible qualité du dénombrement réalisé au niveau des AS</a:t>
                      </a:r>
                      <a:endParaRPr lang="fr-F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600" b="0" i="0" u="none" strike="noStrike" cap="none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Existances</a:t>
                      </a:r>
                      <a:r>
                        <a:rPr lang="en-US" sz="16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des groups </a:t>
                      </a:r>
                      <a:r>
                        <a:rPr lang="en-US" sz="1600" b="0" i="0" u="none" strike="noStrike" cap="none" baseline="0" dirty="0" err="1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refractaires</a:t>
                      </a:r>
                      <a:endParaRPr lang="en-US" sz="1600" b="0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222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 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Appui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technique de </a:t>
                      </a:r>
                      <a:r>
                        <a:rPr lang="en-US" sz="18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l’OMS</a:t>
                      </a: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Changement des outils au cours de la mise en œuvre</a:t>
                      </a:r>
                      <a:endParaRPr lang="fr-F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4977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Influence de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la SVA et D.A lors du 1</a:t>
                      </a:r>
                      <a:r>
                        <a:rPr lang="fr-FR" sz="1800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er</a:t>
                      </a:r>
                      <a:r>
                        <a:rPr lang="fr-FR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Times New Roman" panose="02020603050405020304"/>
                        </a:rPr>
                        <a:t> passage; et aussi de la VAP</a:t>
                      </a: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98620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Contribution significative</a:t>
                      </a:r>
                      <a:r>
                        <a:rPr lang="fr-FR" sz="1800" b="0" i="0" u="none" strike="noStrike" cap="none" baseline="0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800" b="0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dans l’amélioration des CV administratives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7000" marR="7000" marT="7000" marB="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646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29542" y="1"/>
            <a:ext cx="7881257" cy="723899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lvl="0" algn="ctr"/>
            <a:r>
              <a:rPr lang="en-US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2026</a:t>
            </a:r>
            <a:br>
              <a:rPr lang="en-US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313644"/>
              </p:ext>
            </p:extLst>
          </p:nvPr>
        </p:nvGraphicFramePr>
        <p:xfrm>
          <a:off x="838200" y="707571"/>
          <a:ext cx="10515600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686"/>
                <a:gridCol w="3058885"/>
                <a:gridCol w="4027715"/>
                <a:gridCol w="1513114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N°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Problèmes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Recommandations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Responsable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Echeance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Insuffisance et irrégularité du  financement pour la distribution des intrants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Assurer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la régularité du financement de la distribution des intrants tout en adaptant ces financement au besoin réel de la province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PTF/UNICEF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Permanente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Faible fréquence et faible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qualité de supervision des ECZ et des AS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Financer les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missions de supervision à tous les niveaux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GAVI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Permanente</a:t>
                      </a:r>
                    </a:p>
                    <a:p>
                      <a:pPr marL="0" algn="l" defTabSz="914400" rtl="0" eaLnBrk="1" latinLnBrk="0" hangingPunct="1"/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400" b="1" kern="1200" dirty="0" smtClean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400" b="1" kern="1200" dirty="0" smtClean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Faibles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compétences des prestataires 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Organiser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la formation en cascade (jusqu’aux </a:t>
                      </a:r>
                      <a:r>
                        <a:rPr lang="fr-FR" sz="1400" b="1" kern="1200" baseline="0" dirty="0" err="1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RECOs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) sur la vaccination pratique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Directeur PEV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T1 2026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400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400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Appuyer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l’organisation des revues trimestrielles au niveau des antennes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Direction PEV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Permanente</a:t>
                      </a:r>
                    </a:p>
                    <a:p>
                      <a:pPr marL="0" algn="l" defTabSz="914400" rtl="0" eaLnBrk="1" latinLnBrk="0" hangingPunct="1"/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Rupture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de stocks de Cartes de vaccination/CPS</a:t>
                      </a:r>
                      <a:endParaRPr lang="fr-FR" sz="1400" b="1" kern="1200" dirty="0" smtClean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Approvisionner les antennes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en quantité suffisante des cartes de vaccination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CD Logistique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45 jours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Faible dynamique communautaire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Réorienter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les fonds de communication des AVS vers la communication de la vaccination de routine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PTF/UNICEF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Dès Janvier 2026 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Ingérence politique dans la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gestion du personnel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Plaidoyer auprès des autorités centrales en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vue de faire respecter les textes relatifs à la gestion des R.H.S à tous les niveaux de la pyramide sanitaire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MINISANTE/SG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Sans délai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Vétusté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du </a:t>
                      </a:r>
                      <a:r>
                        <a:rPr lang="fr-FR" sz="1400" b="1" kern="1200" baseline="0" dirty="0" err="1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vehicule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Doter les deux antennes en véhicules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Directeur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 PEV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400" b="1" kern="1200" dirty="0" smtClean="0">
                          <a:solidFill>
                            <a:schemeClr val="dk1"/>
                          </a:solidFill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30 jours</a:t>
                      </a:r>
                      <a:endParaRPr lang="fr-FR" sz="1400" b="1" kern="1200" dirty="0">
                        <a:solidFill>
                          <a:schemeClr val="dk1"/>
                        </a:solidFill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298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0634355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1809</Words>
  <Application>Microsoft Office PowerPoint</Application>
  <PresentationFormat>Grand écran</PresentationFormat>
  <Paragraphs>1099</Paragraphs>
  <Slides>31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9" baseType="lpstr">
      <vt:lpstr>Agency FB</vt:lpstr>
      <vt:lpstr>Arial</vt:lpstr>
      <vt:lpstr>Bahnschrift Light Condensed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                      COUVERTURE VACCINALE EN BCG DE JANVIER  A OCTOBRE 2025</vt:lpstr>
      <vt:lpstr>Présentation PowerPoint</vt:lpstr>
      <vt:lpstr> COUVERTURE CUMULEE EN PENTA DE JANV-OCTOBRE 2025 LE EN PENTA</vt:lpstr>
      <vt:lpstr>Présentation PowerPoint</vt:lpstr>
      <vt:lpstr>         CV en VPI</vt:lpstr>
      <vt:lpstr>Présentation PowerPoint</vt:lpstr>
      <vt:lpstr>                             COUVERTURE VACCINALE EN VAR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Facteurs expliquant la performance (leadership, mobilisation communautaire, intégration, supervision) </vt:lpstr>
      <vt:lpstr>Présentation PowerPoint</vt:lpstr>
      <vt:lpstr>Présentation PowerPoint</vt:lpstr>
      <vt:lpstr>Présentation PowerPoint</vt:lpstr>
      <vt:lpstr> Recommandations pour 2026 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Dr Constant PV</dc:creator>
  <cp:lastModifiedBy>Dr Constant PV</cp:lastModifiedBy>
  <cp:revision>70</cp:revision>
  <dcterms:created xsi:type="dcterms:W3CDTF">2025-12-11T11:04:12Z</dcterms:created>
  <dcterms:modified xsi:type="dcterms:W3CDTF">2025-12-13T16:36:20Z</dcterms:modified>
</cp:coreProperties>
</file>