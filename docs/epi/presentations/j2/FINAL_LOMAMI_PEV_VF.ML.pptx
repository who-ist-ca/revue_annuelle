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5"/>
  </p:notesMasterIdLst>
  <p:sldIdLst>
    <p:sldId id="256" r:id="rId2"/>
    <p:sldId id="280" r:id="rId3"/>
    <p:sldId id="258" r:id="rId4"/>
    <p:sldId id="278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81" r:id="rId18"/>
    <p:sldId id="267" r:id="rId19"/>
    <p:sldId id="268" r:id="rId20"/>
    <p:sldId id="272" r:id="rId21"/>
    <p:sldId id="262" r:id="rId22"/>
    <p:sldId id="294" r:id="rId23"/>
    <p:sldId id="264" r:id="rId24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8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1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2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Feuil1!$A$2:$A$11</c:f>
              <c:strCache>
                <c:ptCount val="10"/>
                <c:pt idx="0">
                  <c:v>KABINDA</c:v>
                </c:pt>
                <c:pt idx="1">
                  <c:v>KALAMBAYI</c:v>
                </c:pt>
                <c:pt idx="2">
                  <c:v>KALONDA</c:v>
                </c:pt>
                <c:pt idx="3">
                  <c:v>KAMANA</c:v>
                </c:pt>
                <c:pt idx="4">
                  <c:v>LUBAO</c:v>
                </c:pt>
                <c:pt idx="5">
                  <c:v>LULU</c:v>
                </c:pt>
                <c:pt idx="6">
                  <c:v>MULUMBA</c:v>
                </c:pt>
                <c:pt idx="7">
                  <c:v>NGANDAJIKA</c:v>
                </c:pt>
                <c:pt idx="8">
                  <c:v>TSHOFA</c:v>
                </c:pt>
                <c:pt idx="9">
                  <c:v>ANTENNE</c:v>
                </c:pt>
              </c:strCache>
            </c:strRef>
          </c:cat>
          <c:val>
            <c:numRef>
              <c:f>Feuil1!$B$2:$B$11</c:f>
              <c:numCache>
                <c:formatCode>General</c:formatCode>
                <c:ptCount val="10"/>
                <c:pt idx="0">
                  <c:v>75</c:v>
                </c:pt>
                <c:pt idx="1">
                  <c:v>73</c:v>
                </c:pt>
                <c:pt idx="2">
                  <c:v>77</c:v>
                </c:pt>
                <c:pt idx="3">
                  <c:v>73</c:v>
                </c:pt>
                <c:pt idx="4">
                  <c:v>73</c:v>
                </c:pt>
                <c:pt idx="5">
                  <c:v>75</c:v>
                </c:pt>
                <c:pt idx="6">
                  <c:v>78</c:v>
                </c:pt>
                <c:pt idx="7">
                  <c:v>72</c:v>
                </c:pt>
                <c:pt idx="8">
                  <c:v>70</c:v>
                </c:pt>
                <c:pt idx="9">
                  <c:v>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4623008"/>
        <c:axId val="214619480"/>
      </c:barChart>
      <c:catAx>
        <c:axId val="21462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4619480"/>
        <c:crosses val="autoZero"/>
        <c:auto val="1"/>
        <c:lblAlgn val="ctr"/>
        <c:lblOffset val="100"/>
        <c:noMultiLvlLbl val="0"/>
      </c:catAx>
      <c:valAx>
        <c:axId val="214619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462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Feuil1!$A$2:$A$9</c:f>
              <c:strCache>
                <c:ptCount val="8"/>
                <c:pt idx="0">
                  <c:v>KALENDA</c:v>
                </c:pt>
                <c:pt idx="1">
                  <c:v>KAMIJI</c:v>
                </c:pt>
                <c:pt idx="2">
                  <c:v>K KANDA</c:v>
                </c:pt>
                <c:pt idx="3">
                  <c:v>LUPUTA</c:v>
                </c:pt>
                <c:pt idx="4">
                  <c:v>MAKOTA</c:v>
                </c:pt>
                <c:pt idx="5">
                  <c:v>M DITU</c:v>
                </c:pt>
                <c:pt idx="6">
                  <c:v>WIKONG</c:v>
                </c:pt>
                <c:pt idx="7">
                  <c:v>ANTENNE</c:v>
                </c:pt>
              </c:strCache>
            </c:strRef>
          </c:cat>
          <c:val>
            <c:numRef>
              <c:f>Feuil1!$B$2:$B$9</c:f>
              <c:numCache>
                <c:formatCode>General</c:formatCode>
                <c:ptCount val="8"/>
                <c:pt idx="0">
                  <c:v>73</c:v>
                </c:pt>
                <c:pt idx="1">
                  <c:v>67</c:v>
                </c:pt>
                <c:pt idx="2">
                  <c:v>74</c:v>
                </c:pt>
                <c:pt idx="3">
                  <c:v>57</c:v>
                </c:pt>
                <c:pt idx="4">
                  <c:v>67</c:v>
                </c:pt>
                <c:pt idx="5">
                  <c:v>74</c:v>
                </c:pt>
                <c:pt idx="6">
                  <c:v>63</c:v>
                </c:pt>
                <c:pt idx="7">
                  <c:v>64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4621832"/>
        <c:axId val="214619872"/>
      </c:barChart>
      <c:catAx>
        <c:axId val="214621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4619872"/>
        <c:crosses val="autoZero"/>
        <c:auto val="1"/>
        <c:lblAlgn val="ctr"/>
        <c:lblOffset val="100"/>
        <c:noMultiLvlLbl val="0"/>
      </c:catAx>
      <c:valAx>
        <c:axId val="214619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4621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6367375450698507E-2"/>
          <c:y val="3.2248951474455091E-2"/>
          <c:w val="0.96363262454930154"/>
          <c:h val="0.86585348892800484"/>
        </c:manualLayout>
      </c:layout>
      <c:lineChart>
        <c:grouping val="standar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ANT KABINDA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8.0150224420628378E-3"/>
                  <c:y val="-6.89962405198079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2900064120179955E-3"/>
                  <c:y val="-5.51969924158463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8.3965931792382479E-17"/>
                  <c:y val="-5.24371427950539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-2.2899613331517433E-3"/>
                  <c:y val="-5.519699241584631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r-F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3255015114042318E-2"/>
                      <c:h val="5.7294478127648478E-2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2.2900064120179539E-3"/>
                  <c:y val="-5.51969924158463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Feuil1!$A$2:$A$6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  <c:pt idx="0">
                  <c:v>59</c:v>
                </c:pt>
                <c:pt idx="1">
                  <c:v>80</c:v>
                </c:pt>
                <c:pt idx="2">
                  <c:v>80</c:v>
                </c:pt>
                <c:pt idx="3">
                  <c:v>83</c:v>
                </c:pt>
                <c:pt idx="4">
                  <c:v>89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ANT M DITU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0"/>
                  <c:y val="5.24371427950539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2595035266098786E-2"/>
                  <c:y val="5.519699241584626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595035266098661E-2"/>
                  <c:y val="6.07166916574308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1.4885041678116615E-2"/>
                  <c:y val="4.1397744311884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3.4350096180269306E-3"/>
                  <c:y val="4.41575939326770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Feuil1!$A$2:$A$6</c:f>
              <c:strCache>
                <c:ptCount val="4"/>
                <c:pt idx="0">
                  <c:v>Catégorie 1</c:v>
                </c:pt>
                <c:pt idx="1">
                  <c:v>Catégorie 2</c:v>
                </c:pt>
                <c:pt idx="2">
                  <c:v>Catégorie 3</c:v>
                </c:pt>
                <c:pt idx="3">
                  <c:v>Catégorie 4</c:v>
                </c:pt>
              </c:strCache>
            </c:strRef>
          </c:cat>
          <c:val>
            <c:numRef>
              <c:f>Feuil1!$C$2:$C$6</c:f>
              <c:numCache>
                <c:formatCode>General</c:formatCode>
                <c:ptCount val="5"/>
                <c:pt idx="0">
                  <c:v>57</c:v>
                </c:pt>
                <c:pt idx="1">
                  <c:v>60</c:v>
                </c:pt>
                <c:pt idx="2">
                  <c:v>63</c:v>
                </c:pt>
                <c:pt idx="3">
                  <c:v>68</c:v>
                </c:pt>
                <c:pt idx="4">
                  <c:v>73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4622224"/>
        <c:axId val="214622616"/>
      </c:lineChart>
      <c:catAx>
        <c:axId val="2146222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14622616"/>
        <c:crosses val="autoZero"/>
        <c:auto val="1"/>
        <c:lblAlgn val="ctr"/>
        <c:lblOffset val="100"/>
        <c:noMultiLvlLbl val="0"/>
      </c:catAx>
      <c:valAx>
        <c:axId val="214622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14622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0.01671</cdr:x>
      <cdr:y>0.0263</cdr:y>
    </cdr:from>
    <cdr:to>
      <cdr:x>1</cdr:x>
      <cdr:y>0.03237</cdr:y>
    </cdr:to>
    <cdr:cxnSp macro="">
      <cdr:nvCxnSpPr>
        <cdr:cNvPr id="3" name="Connecteur droit 2"/>
        <cdr:cNvCxnSpPr/>
      </cdr:nvCxnSpPr>
      <cdr:spPr>
        <a:xfrm xmlns:a="http://schemas.openxmlformats.org/drawingml/2006/main" flipV="1">
          <a:off x="187904" y="118871"/>
          <a:ext cx="11055096" cy="27432"/>
        </a:xfrm>
        <a:prstGeom xmlns:a="http://schemas.openxmlformats.org/drawingml/2006/main" prst="line">
          <a:avLst/>
        </a:prstGeom>
        <a:ln xmlns:a="http://schemas.openxmlformats.org/drawingml/2006/main" w="22225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0.01671</cdr:x>
      <cdr:y>0.0263</cdr:y>
    </cdr:from>
    <cdr:to>
      <cdr:x>1</cdr:x>
      <cdr:y>0.03237</cdr:y>
    </cdr:to>
    <cdr:cxnSp macro="">
      <cdr:nvCxnSpPr>
        <cdr:cNvPr id="3" name="Connecteur droit 2"/>
        <cdr:cNvCxnSpPr/>
      </cdr:nvCxnSpPr>
      <cdr:spPr>
        <a:xfrm xmlns:a="http://schemas.openxmlformats.org/drawingml/2006/main" flipV="1">
          <a:off x="187904" y="118871"/>
          <a:ext cx="11055096" cy="27432"/>
        </a:xfrm>
        <a:prstGeom xmlns:a="http://schemas.openxmlformats.org/drawingml/2006/main" prst="line">
          <a:avLst/>
        </a:prstGeom>
        <a:ln xmlns:a="http://schemas.openxmlformats.org/drawingml/2006/main" w="22225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16766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bd3d1b2d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2738" y="652463"/>
            <a:ext cx="5805487" cy="3267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5" name="Google Shape;145;g3aabd3d1b2d_0_149:notes"/>
          <p:cNvSpPr txBox="1">
            <a:spLocks noGrp="1"/>
          </p:cNvSpPr>
          <p:nvPr>
            <p:ph type="body" idx="1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75" tIns="86275" rIns="86275" bIns="8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36967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abd3d1b2d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aabd3d1b2d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2848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abd3d1b2d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aabd3d1b2d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2654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352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abd3d1b2d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aabd3d1b2d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399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abd3d1b2d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3aabd3d1b2d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416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abd3d1b2d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aabd3d1b2d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06569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abd3d1b2d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3aabd3d1b2d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9999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abd3d1b2d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aabd3d1b2d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550" tIns="91550" rIns="91550" bIns="915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329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bd3d1b2d_0_188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94" name="Google Shape;94;g3aabd3d1b2d_0_188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95" name="Google Shape;95;g3aabd3d1b2d_0_18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bd3d1b2d_0_19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g3aabd3d1b2d_0_19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bd3d1b2d_0_19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aabd3d1b2d_0_19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g3aabd3d1b2d_0_19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abd3d1b2d_0_1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aabd3d1b2d_0_19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6" name="Google Shape;106;g3aabd3d1b2d_0_199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7" name="Google Shape;107;g3aabd3d1b2d_0_1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abd3d1b2d_0_20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aabd3d1b2d_0_20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bd3d1b2d_0_20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13" name="Google Shape;113;g3aabd3d1b2d_0_20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4" name="Google Shape;114;g3aabd3d1b2d_0_20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abd3d1b2d_0_21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117" name="Google Shape;117;g3aabd3d1b2d_0_2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abd3d1b2d_0_21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0" name="Google Shape;120;g3aabd3d1b2d_0_214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1" name="Google Shape;121;g3aabd3d1b2d_0_214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g3aabd3d1b2d_0_214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23" name="Google Shape;123;g3aabd3d1b2d_0_21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bd3d1b2d_0_22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26" name="Google Shape;126;g3aabd3d1b2d_0_2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abd3d1b2d_0_223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29" name="Google Shape;129;g3aabd3d1b2d_0_22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aabd3d1b2d_0_22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abd3d1b2d_0_22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bd3d1b2d_0_229"/>
          <p:cNvSpPr txBox="1">
            <a:spLocks noGrp="1"/>
          </p:cNvSpPr>
          <p:nvPr>
            <p:ph type="body" idx="1"/>
          </p:nvPr>
        </p:nvSpPr>
        <p:spPr>
          <a:xfrm>
            <a:off x="609600" y="457200"/>
            <a:ext cx="48768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135" name="Google Shape;135;g3aabd3d1b2d_0_229"/>
          <p:cNvSpPr txBox="1">
            <a:spLocks noGrp="1"/>
          </p:cNvSpPr>
          <p:nvPr>
            <p:ph type="title"/>
          </p:nvPr>
        </p:nvSpPr>
        <p:spPr>
          <a:xfrm>
            <a:off x="6502400" y="457200"/>
            <a:ext cx="3759300" cy="57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aabd3d1b2d_0_229"/>
          <p:cNvSpPr txBox="1">
            <a:spLocks noGrp="1"/>
          </p:cNvSpPr>
          <p:nvPr>
            <p:ph type="dt" idx="10"/>
          </p:nvPr>
        </p:nvSpPr>
        <p:spPr>
          <a:xfrm>
            <a:off x="6502401" y="6426201"/>
            <a:ext cx="37593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7" name="Google Shape;137;g3aabd3d1b2d_0_229"/>
          <p:cNvSpPr txBox="1">
            <a:spLocks noGrp="1"/>
          </p:cNvSpPr>
          <p:nvPr>
            <p:ph type="sldNum" idx="12"/>
          </p:nvPr>
        </p:nvSpPr>
        <p:spPr>
          <a:xfrm>
            <a:off x="10363200" y="6400800"/>
            <a:ext cx="7113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 fontScale="25000" lnSpcReduction="20000"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38" name="Google Shape;138;g3aabd3d1b2d_0_229"/>
          <p:cNvSpPr txBox="1">
            <a:spLocks noGrp="1"/>
          </p:cNvSpPr>
          <p:nvPr>
            <p:ph type="ftr" idx="11"/>
          </p:nvPr>
        </p:nvSpPr>
        <p:spPr>
          <a:xfrm>
            <a:off x="6500284" y="6296248"/>
            <a:ext cx="3761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  <a:defRPr sz="19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 1 1">
  <p:cSld name="CUSTOM_1_1_1_3_2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abd3d1b2d_0_235"/>
          <p:cNvSpPr txBox="1"/>
          <p:nvPr/>
        </p:nvSpPr>
        <p:spPr>
          <a:xfrm>
            <a:off x="0" y="0"/>
            <a:ext cx="3495900" cy="6858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abd3d1b2d_0_23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buNone/>
              <a:defRPr sz="1700"/>
            </a:lvl1pPr>
            <a:lvl2pPr lvl="1">
              <a:buNone/>
              <a:defRPr sz="1700"/>
            </a:lvl2pPr>
            <a:lvl3pPr lvl="2">
              <a:buNone/>
              <a:defRPr sz="1700"/>
            </a:lvl3pPr>
            <a:lvl4pPr lvl="3">
              <a:buNone/>
              <a:defRPr sz="1700"/>
            </a:lvl4pPr>
            <a:lvl5pPr lvl="4">
              <a:buNone/>
              <a:defRPr sz="1700"/>
            </a:lvl5pPr>
            <a:lvl6pPr lvl="5">
              <a:buNone/>
              <a:defRPr sz="1700"/>
            </a:lvl6pPr>
            <a:lvl7pPr lvl="6">
              <a:buNone/>
              <a:defRPr sz="1700"/>
            </a:lvl7pPr>
            <a:lvl8pPr lvl="7">
              <a:buNone/>
              <a:defRPr sz="1700"/>
            </a:lvl8pPr>
            <a:lvl9pPr lvl="8">
              <a:buNone/>
              <a:defRPr sz="17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142" name="Google Shape;142;g3aabd3d1b2d_0_235"/>
          <p:cNvSpPr txBox="1">
            <a:spLocks noGrp="1"/>
          </p:cNvSpPr>
          <p:nvPr>
            <p:ph type="title"/>
          </p:nvPr>
        </p:nvSpPr>
        <p:spPr>
          <a:xfrm>
            <a:off x="325667" y="2918467"/>
            <a:ext cx="2844900" cy="763500"/>
          </a:xfrm>
          <a:prstGeom prst="rect">
            <a:avLst/>
          </a:prstGeom>
        </p:spPr>
        <p:txBody>
          <a:bodyPr spcFirstLastPara="1" wrap="square" lIns="0" tIns="0" rIns="12190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Font typeface="Source Serif Pro"/>
              <a:buNone/>
              <a:defRPr sz="2700">
                <a:latin typeface="Source Serif Pro"/>
                <a:ea typeface="Source Serif Pro"/>
                <a:cs typeface="Source Serif Pro"/>
                <a:sym typeface="Source Serif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bd3d1b2d_0_18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 panose="020B0604020202020204"/>
              <a:buNone/>
              <a:defRPr sz="37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g3aabd3d1b2d_0_18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●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○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 panose="020B0604020202020204"/>
              <a:buChar char="■"/>
              <a:defRPr sz="1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1" name="Google Shape;91;g3aabd3d1b2d_0_18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 panose="020B0604020202020204"/>
              <a:buNone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aabd3d1b2d_0_149"/>
          <p:cNvPicPr preferRelativeResize="0"/>
          <p:nvPr/>
        </p:nvPicPr>
        <p:blipFill rotWithShape="1">
          <a:blip r:embed="rId3"/>
          <a:srcRect l="-17785"/>
          <a:stretch>
            <a:fillRect/>
          </a:stretch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aabd3d1b2d_0_149"/>
          <p:cNvSpPr txBox="1"/>
          <p:nvPr/>
        </p:nvSpPr>
        <p:spPr>
          <a:xfrm>
            <a:off x="4210333" y="1516433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</a:t>
            </a:r>
            <a:r>
              <a:rPr lang="en-US" sz="4300" b="1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annuelle</a:t>
            </a:r>
            <a:r>
              <a:rPr lang="en-US" sz="4300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2025</a:t>
            </a:r>
            <a:endParaRPr sz="4300" b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4300" b="1" i="1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la province de Lomami</a:t>
            </a:r>
            <a:endParaRPr sz="4300" b="1" i="1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g3aabd3d1b2d_0_149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g3aabd3d1b2d_0_149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g3aabd3d1b2d_0_149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20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Decembre 2025</a:t>
            </a:r>
            <a:endParaRPr sz="20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abd3d1b2d_0_156"/>
          <p:cNvSpPr txBox="1"/>
          <p:nvPr/>
        </p:nvSpPr>
        <p:spPr>
          <a:xfrm>
            <a:off x="458592" y="272241"/>
            <a:ext cx="11274900" cy="10536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6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Agenda</a:t>
            </a:r>
            <a:endParaRPr sz="6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7" name="Google Shape;157;g3aabd3d1b2d_0_156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g3aabd3d1b2d_0_156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9" name="Google Shape;159;g3aabd3d1b2d_0_156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0" name="Google Shape;160;g3aabd3d1b2d_0_156"/>
          <p:cNvSpPr txBox="1"/>
          <p:nvPr/>
        </p:nvSpPr>
        <p:spPr>
          <a:xfrm>
            <a:off x="566533" y="1550500"/>
            <a:ext cx="10714500" cy="45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Présentation de la Province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Facteurs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expliquant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la performance (leadership,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mobilisation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communautaire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intégration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supervision)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comparés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aux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cibles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persistants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malgré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performances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Bonnes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transférables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Besoins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pour maintenir les </a:t>
            </a: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acquis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609600" marR="0" lvl="0" indent="-476250" algn="l" rtl="0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 panose="02020603050405020304"/>
              <a:buAutoNum type="arabicPeriod"/>
            </a:pPr>
            <a:r>
              <a:rPr lang="en-US" sz="27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</a:t>
            </a:r>
            <a:endParaRPr sz="27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2387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abd3d1b2d_0_16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Présentation de la province: 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profil</a:t>
            </a:r>
            <a:r>
              <a:rPr lang="en-US" sz="2700" dirty="0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 </a:t>
            </a:r>
            <a:r>
              <a:rPr lang="en-US" sz="2700" dirty="0" err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</a:t>
            </a:r>
            <a:r>
              <a:rPr lang="en-US" sz="2700" dirty="0" err="1" smtClean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ntennes</a:t>
            </a: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aabd3d1b2d_0_16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7" name="Google Shape;167;g3aabd3d1b2d_0_16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8" name="Google Shape;168;g3aabd3d1b2d_0_16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9" name="Google Shape;169;g3aabd3d1b2d_0_16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0" name="Google Shape;170;g3aabd3d1b2d_0_164"/>
          <p:cNvSpPr/>
          <p:nvPr/>
        </p:nvSpPr>
        <p:spPr>
          <a:xfrm>
            <a:off x="458600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Google Shape;171;g3aabd3d1b2d_0_164"/>
          <p:cNvSpPr/>
          <p:nvPr/>
        </p:nvSpPr>
        <p:spPr>
          <a:xfrm>
            <a:off x="6158290" y="1323703"/>
            <a:ext cx="5575200" cy="4764900"/>
          </a:xfrm>
          <a:prstGeom prst="rect">
            <a:avLst/>
          </a:prstGeom>
          <a:solidFill>
            <a:schemeClr val="lt2"/>
          </a:solidFill>
          <a:ln w="98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100" tIns="94100" rIns="94100" bIns="941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d’antennes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PEV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2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 ZS: Total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16 , 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0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d’AS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316  FAE 0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Nombre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d’ESS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qui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vaccinent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Total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316 , 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FAE 0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totale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fr-FR" sz="1600" b="1" dirty="0"/>
              <a:t> </a:t>
            </a:r>
            <a:r>
              <a:rPr lang="fr-FR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4 950 </a:t>
            </a:r>
            <a:r>
              <a:rPr lang="fr-FR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442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323850"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0-11 </a:t>
            </a:r>
            <a:r>
              <a:rPr lang="en-US" sz="1500" dirty="0" err="1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198 018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12-23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mois:178 216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Pop de 0-59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mois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fr-FR" sz="1600" b="1" dirty="0"/>
              <a:t> </a:t>
            </a:r>
            <a:r>
              <a:rPr lang="fr-FR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935 634 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Couverture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en ECF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92%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Séances de vaccination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planifiées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fixe: 318, avancée:529 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Existence du plan de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contextualisation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DPS:NA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 panose="02020603050405020304"/>
              <a:buChar char="●"/>
            </a:pP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% des ZS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ayant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intégré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les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activités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FAE </a:t>
            </a:r>
            <a:r>
              <a:rPr lang="en-US" sz="15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dans</a:t>
            </a:r>
            <a:r>
              <a:rPr lang="en-US" sz="15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le PAO </a:t>
            </a:r>
            <a:r>
              <a:rPr lang="en-US" sz="1500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:0</a:t>
            </a:r>
            <a:endParaRPr sz="15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" name="Google Shape;292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85216" y="1527049"/>
            <a:ext cx="5434584" cy="456155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0" name="Google Shape;293;p4"/>
          <p:cNvSpPr/>
          <p:nvPr/>
        </p:nvSpPr>
        <p:spPr>
          <a:xfrm>
            <a:off x="2393611" y="1869165"/>
            <a:ext cx="3650087" cy="2926080"/>
          </a:xfrm>
          <a:prstGeom prst="ellipse">
            <a:avLst/>
          </a:prstGeom>
          <a:noFill/>
          <a:ln w="762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94;p4"/>
          <p:cNvSpPr/>
          <p:nvPr/>
        </p:nvSpPr>
        <p:spPr>
          <a:xfrm>
            <a:off x="795528" y="3643157"/>
            <a:ext cx="1920240" cy="1815811"/>
          </a:xfrm>
          <a:prstGeom prst="ellipse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4160" y="2194559"/>
            <a:ext cx="11360700" cy="3364993"/>
          </a:xfrm>
        </p:spPr>
        <p:txBody>
          <a:bodyPr>
            <a:normAutofit fontScale="90000"/>
          </a:bodyPr>
          <a:lstStyle/>
          <a:p>
            <a:r>
              <a:rPr lang="en-US" sz="67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en-US" sz="67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67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en-US" sz="67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67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2.Facteurs de performance</a:t>
            </a:r>
            <a:r>
              <a:rPr lang="en-US" sz="9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en-US" sz="9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49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(leadership, </a:t>
            </a:r>
            <a:r>
              <a:rPr lang="en-US" sz="49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mobilisation</a:t>
            </a:r>
            <a:r>
              <a:rPr lang="en-US" sz="49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49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communautaire</a:t>
            </a:r>
            <a:r>
              <a:rPr lang="en-US" sz="49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sz="49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intégration</a:t>
            </a:r>
            <a:r>
              <a:rPr lang="en-US" sz="49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supervision)</a:t>
            </a:r>
            <a:endParaRPr lang="fr-FR" sz="7300" dirty="0"/>
          </a:p>
        </p:txBody>
      </p:sp>
    </p:spTree>
    <p:extLst>
      <p:ext uri="{BB962C8B-B14F-4D97-AF65-F5344CB8AC3E}">
        <p14:creationId xmlns:p14="http://schemas.microsoft.com/office/powerpoint/2010/main" val="289459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0123" y="128789"/>
            <a:ext cx="11823826" cy="105898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buClr>
                <a:srgbClr val="000000"/>
              </a:buClr>
            </a:pPr>
            <a:r>
              <a:rPr lang="fr-FR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DOMAINE 1: LEADERSHIP</a:t>
            </a:r>
            <a:endParaRPr lang="en-US"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935672"/>
              </p:ext>
            </p:extLst>
          </p:nvPr>
        </p:nvGraphicFramePr>
        <p:xfrm>
          <a:off x="190123" y="1332552"/>
          <a:ext cx="11916532" cy="3488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13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62473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312663"/>
              </a:tblGrid>
              <a:tr h="551112"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FACTEUR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DE PERFORMANCE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EFFET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La délégation des taches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Dans le domaine de la vaccination, le CD a délégué son pouvoir aux MCA et MCZS pour le suivi des activités au niveau des Antennes et des ZS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Sentiment accru de responsabilité et de redevabilité pour chaque délégué appelé à viser la performance.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La motivation collective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Encouragements des équipes performantes par la publication d’un classement mensuel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Remise des « primes » aux meilleurs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Création d’un esprit d’émulation entre les équipes pour être parmi les meilleurs.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099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0123" y="128789"/>
            <a:ext cx="11823826" cy="105898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buClr>
                <a:srgbClr val="000000"/>
              </a:buClr>
            </a:pPr>
            <a:r>
              <a:rPr lang="fr-FR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DOMAINE 2: INTEGRATION</a:t>
            </a:r>
            <a:endParaRPr lang="en-US"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537139"/>
              </p:ext>
            </p:extLst>
          </p:nvPr>
        </p:nvGraphicFramePr>
        <p:xfrm>
          <a:off x="190123" y="1332552"/>
          <a:ext cx="11916532" cy="3433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13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9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58266"/>
              </a:tblGrid>
              <a:tr h="551112"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FACTEUR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DE PERFORMANCE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EFFET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Mise à profit des moyens d’autres Programmes ayant des exigences logistiques semblables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ourier New" panose="02070309020205020404" pitchFamily="49" charset="0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Utilisation des véhicules du PNLT et du PNLS pour renforcer la distribution des intrants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Amélioration des taux de disponibilité des intrants à tous les niveaux en dépit des ressources limitées du PEV en province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Utilisation des cadres « polyvalents » pour la supervision des activités de vaccination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 l’occasion de leurs missions spécifiques, la polyvalence permet à ces cadres de superviser aussi les activités de vaccination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Amélioration des taux de supervision en dépit des ressources limitées du PEV en province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344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0123" y="128789"/>
            <a:ext cx="11823826" cy="105898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buClr>
                <a:srgbClr val="000000"/>
              </a:buClr>
            </a:pPr>
            <a:r>
              <a:rPr lang="fr-FR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DOMAINE 3: SUPERVISION</a:t>
            </a:r>
            <a:endParaRPr lang="en-US"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546523"/>
              </p:ext>
            </p:extLst>
          </p:nvPr>
        </p:nvGraphicFramePr>
        <p:xfrm>
          <a:off x="190123" y="1332552"/>
          <a:ext cx="11916532" cy="3433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13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9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58266"/>
              </a:tblGrid>
              <a:tr h="551112"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FACTEUR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DE PERFORMANCE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EFFET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Désignation des superviseurs « efficaces 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Sur base du critère de compétence, des équipes de supervision permanentes sont mises en place au niveau de la DPS et des ZS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Amélioration de la qualité des supervisions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Caractère « constructif » des supervisions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Accent mis à chaque visite sur les indicateurs ayant posé problème le mois précédent après analyse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Amélioration progressive des compétences des personnes supervisées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0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0123" y="128789"/>
            <a:ext cx="11823826" cy="105898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buClr>
                <a:srgbClr val="000000"/>
              </a:buClr>
            </a:pPr>
            <a:r>
              <a:rPr lang="fr-FR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DOMAINE 4: ENGAGEMENT COMMUNAUTAIRE</a:t>
            </a:r>
            <a:endParaRPr lang="en-US"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938507"/>
              </p:ext>
            </p:extLst>
          </p:nvPr>
        </p:nvGraphicFramePr>
        <p:xfrm>
          <a:off x="190123" y="1332552"/>
          <a:ext cx="11916532" cy="2288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13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9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958266"/>
              </a:tblGrid>
              <a:tr h="551112"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FACTEUR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DE PERFORMANCE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EFFET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Participation effective des Leaders ( y compris politiques) aux activités de vaccination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En plus de la récupération des enfants par les RECO, il y a aussi la participation active des Leaders aux </a:t>
                      </a: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différentes réunions </a:t>
                      </a: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( CAC, Monitorage, COGE, </a:t>
                      </a:r>
                      <a:r>
                        <a:rPr kumimoji="0" lang="fr-FR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CCPeV</a:t>
                      </a: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,….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Amélioration de la demande des services de vaccination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Réduction sensible des résistances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Contribution financière de la communauté aux activités de vaccination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228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3.RESULTATS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576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abd3d1b2d_0_30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d3d1b2d_0_30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700" cy="943266"/>
          </a:xfrm>
        </p:spPr>
        <p:txBody>
          <a:bodyPr>
            <a:normAutofit fontScale="90000"/>
          </a:bodyPr>
          <a:lstStyle/>
          <a:p>
            <a:pPr lvl="0"/>
            <a:r>
              <a:rPr lang="en-US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DE PROCESUS: SCORES GLOBAUX ANTENNE PEV KABINDA</a:t>
            </a:r>
            <a:endParaRPr lang="en-US" sz="32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6" name="Graphique 5"/>
          <p:cNvGraphicFramePr/>
          <p:nvPr>
            <p:extLst/>
          </p:nvPr>
        </p:nvGraphicFramePr>
        <p:xfrm>
          <a:off x="415600" y="1618489"/>
          <a:ext cx="11243000" cy="4519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9797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abd3d1b2d_0_30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g3aabd3d1b2d_0_30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9" name="Google Shape;189;g3aabd3d1b2d_0_30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0" name="Google Shape;190;g3aabd3d1b2d_0_30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DE PROCESUS: SCORES GLOBAUX ANTENNE PEV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MWENE DITU</a:t>
            </a:r>
            <a:endParaRPr lang="en-US" sz="32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6" name="Graphique 5"/>
          <p:cNvGraphicFramePr/>
          <p:nvPr>
            <p:extLst/>
          </p:nvPr>
        </p:nvGraphicFramePr>
        <p:xfrm>
          <a:off x="415600" y="1618489"/>
          <a:ext cx="11243000" cy="4519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32588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593366"/>
            <a:ext cx="11360700" cy="106169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RÉSULTATS DE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PROCESSUS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3: EVOLUTION DES SCORES GLOBAUX</a:t>
            </a:r>
            <a:endParaRPr lang="fr-FR" sz="32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7" name="Graphique 6"/>
          <p:cNvGraphicFramePr/>
          <p:nvPr>
            <p:extLst>
              <p:ext uri="{D42A27DB-BD31-4B8C-83A1-F6EECF244321}">
                <p14:modId xmlns:p14="http://schemas.microsoft.com/office/powerpoint/2010/main" val="2408828456"/>
              </p:ext>
            </p:extLst>
          </p:nvPr>
        </p:nvGraphicFramePr>
        <p:xfrm>
          <a:off x="493776" y="1536633"/>
          <a:ext cx="11091672" cy="460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433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RESULTATS DES COUVERTURES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1536633"/>
            <a:ext cx="11279576" cy="4555199"/>
          </a:xfrm>
          <a:prstGeom prst="rect">
            <a:avLst/>
          </a:prstGeom>
        </p:spPr>
      </p:pic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932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fr-FR" dirty="0" smtClean="0"/>
              <a:t>RESULTATS DE SURVEILLANCE EPIDEMIOLOGIQUE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2084832"/>
            <a:ext cx="7488936" cy="2914300"/>
          </a:xfrm>
          <a:prstGeom prst="rect">
            <a:avLst/>
          </a:prstGeom>
        </p:spPr>
      </p:pic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700" cy="3657159"/>
          </a:xfr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075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15600" y="603504"/>
            <a:ext cx="11360700" cy="753363"/>
          </a:xfrm>
          <a:ln>
            <a:solidFill>
              <a:schemeClr val="dk2"/>
            </a:solidFill>
          </a:ln>
        </p:spPr>
        <p:txBody>
          <a:bodyPr>
            <a:normAutofit fontScale="90000"/>
          </a:bodyPr>
          <a:lstStyle/>
          <a:p>
            <a:r>
              <a:rPr lang="fr-FR" dirty="0" smtClean="0"/>
              <a:t>RESULTATS DES AVS POLIO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7950" indent="0">
              <a:buNone/>
            </a:pPr>
            <a:r>
              <a:rPr lang="fr-FR" dirty="0" smtClean="0"/>
              <a:t>AOUT 2025</a:t>
            </a:r>
          </a:p>
          <a:p>
            <a:pPr marL="107950" indent="0">
              <a:buNone/>
            </a:pP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07950" indent="0">
              <a:buNone/>
            </a:pPr>
            <a:r>
              <a:rPr lang="fr-FR" dirty="0" smtClean="0"/>
              <a:t>NOVEMBRE 2025</a:t>
            </a:r>
          </a:p>
          <a:p>
            <a:pPr marL="107950" indent="0">
              <a:buNone/>
            </a:pP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0" y="2058585"/>
            <a:ext cx="4540448" cy="351129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286000"/>
            <a:ext cx="5420969" cy="35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96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bd3d1b2d_0_309"/>
          <p:cNvSpPr txBox="1"/>
          <p:nvPr/>
        </p:nvSpPr>
        <p:spPr>
          <a:xfrm>
            <a:off x="497850" y="291754"/>
            <a:ext cx="11274900" cy="1176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6" name="Google Shape;196;g3aabd3d1b2d_0_30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7" name="Google Shape;197;g3aabd3d1b2d_0_30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aabd3d1b2d_0_30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99" name="Google Shape;199;g3aabd3d1b2d_0_30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5600" y="411479"/>
            <a:ext cx="11360700" cy="94538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lvl="0"/>
            <a:r>
              <a:rPr lang="fr-FR" sz="40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Défis persistants malgré les performances</a:t>
            </a:r>
            <a:r>
              <a:rPr lang="fr-FR" sz="4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fr-FR" sz="4000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indent="-457200">
              <a:buFont typeface="+mj-lt"/>
              <a:buAutoNum type="arabicPeriod"/>
            </a:pPr>
            <a:r>
              <a:rPr lang="fr-FR" dirty="0" smtClean="0"/>
              <a:t>Faible qualité de supervision</a:t>
            </a:r>
          </a:p>
          <a:p>
            <a:pPr marL="533400" indent="-457200">
              <a:buFont typeface="+mj-lt"/>
              <a:buAutoNum type="arabicPeriod"/>
            </a:pPr>
            <a:r>
              <a:rPr lang="fr-FR" dirty="0" smtClean="0"/>
              <a:t>Qualité des données insuffisante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2543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4160" y="2194559"/>
            <a:ext cx="11360700" cy="3364993"/>
          </a:xfrm>
        </p:spPr>
        <p:txBody>
          <a:bodyPr>
            <a:normAutofit fontScale="90000"/>
          </a:bodyPr>
          <a:lstStyle/>
          <a:p>
            <a:r>
              <a:rPr lang="en-US" sz="67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en-US" sz="67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67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en-US" sz="67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67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  <a:r>
              <a:rPr lang="en-US" sz="6700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.Bonnes </a:t>
            </a:r>
            <a:r>
              <a:rPr lang="en-US" sz="67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pratiques</a:t>
            </a:r>
            <a:r>
              <a:rPr lang="en-US" sz="67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67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transférables</a:t>
            </a:r>
            <a:r>
              <a:rPr lang="en-US" sz="9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/>
            </a:r>
            <a:br>
              <a:rPr lang="en-US" sz="96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fr-FR" sz="7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678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0123" y="128789"/>
            <a:ext cx="11823826" cy="105898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buClr>
                <a:srgbClr val="000000"/>
              </a:buClr>
            </a:pPr>
            <a:r>
              <a:rPr lang="fr-FR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BP1:La mise en place des équipes de supervision permanentes avec un profil convenable permet d’améliorer quantitativement et qualitativement le score de supervision</a:t>
            </a:r>
            <a:endParaRPr lang="en-US"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698832"/>
              </p:ext>
            </p:extLst>
          </p:nvPr>
        </p:nvGraphicFramePr>
        <p:xfrm>
          <a:off x="190123" y="1332552"/>
          <a:ext cx="11916532" cy="4373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13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9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79133"/>
                <a:gridCol w="2979133"/>
              </a:tblGrid>
              <a:tr h="551112"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Problème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résolu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Description de la BP/Personnes impliquées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Résultat 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Recommandations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pour la réplication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Faible scores de supervision des ZS et des 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Désignation des superviseurs provinciaux permanents par une note du CD et des superviseurs zonaux permanents par des notes des MCZS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Engagement de superviser avec ou sans financement des PTF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Personnes impliquées</a:t>
                      </a: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: CD,MCA, LOG, CBAT,CB </a:t>
                      </a:r>
                      <a:r>
                        <a:rPr kumimoji="0" lang="fr-FR" sz="18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InfoSan</a:t>
                      </a: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, MCZ,IS compétents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Score moyen supervision ZS: 98%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Score moyen supervision AS: 99 %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Impliquer le CD dans le suivi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Créer au sein de l’équipe des superviseurs un esprit de solidarité et réceptivité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1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0123" y="128789"/>
            <a:ext cx="11823826" cy="1058988"/>
          </a:xfr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buClr>
                <a:srgbClr val="000000"/>
              </a:buClr>
            </a:pPr>
            <a:r>
              <a:rPr lang="fr-FR" sz="1800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BP2:La conception et l’utilisation d’outils locaux pour booster les performances contribue à l’amélioration du rendement des équipes des ZS</a:t>
            </a:r>
            <a:endParaRPr lang="en-US" sz="1800" b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914202"/>
              </p:ext>
            </p:extLst>
          </p:nvPr>
        </p:nvGraphicFramePr>
        <p:xfrm>
          <a:off x="190123" y="1332552"/>
          <a:ext cx="11916532" cy="4153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913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9791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979133"/>
                <a:gridCol w="2979133"/>
              </a:tblGrid>
              <a:tr h="551112"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Problème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résolu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Description de la BP/Personnes impliquées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Résultat 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fr-CM" noProof="0" dirty="0" smtClean="0">
                          <a:solidFill>
                            <a:schemeClr val="tx1"/>
                          </a:solidFill>
                        </a:rPr>
                        <a:t>Recommandations</a:t>
                      </a:r>
                      <a:r>
                        <a:rPr lang="fr-CM" baseline="0" noProof="0" dirty="0" smtClean="0">
                          <a:solidFill>
                            <a:schemeClr val="tx1"/>
                          </a:solidFill>
                        </a:rPr>
                        <a:t> pour la réplication</a:t>
                      </a:r>
                      <a:endParaRPr lang="fr-CM" noProof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4190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Forte proportion des ZS ( 70%) et AS ( 70%) avec problèmes de disponibilité des intrants en l’absence de rupture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Conception d’un fichier Excel calculant automatiquement les semaines de disponibilité par AS et BCZS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Partage chaque lundi de ce fichier avec l’Antenne</a:t>
                      </a:r>
                    </a:p>
                    <a:p>
                      <a:pPr marL="285750" marR="0" lvl="0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Courier New" panose="02070309020205020404" pitchFamily="49" charset="0"/>
                        <a:buChar char="o"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Actions correctrices si nécessaires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fr-FR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Personnes impliquées</a:t>
                      </a: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: MCA, LOG, MCZ,IS PEV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Score moyen disponibilité: 62%</a:t>
                      </a:r>
                    </a:p>
                    <a:p>
                      <a:pPr marL="0" indent="0">
                        <a:buFont typeface="Courier New" panose="02070309020205020404" pitchFamily="49" charset="0"/>
                        <a:buNone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endParaRPr kumimoji="0" lang="fr-FR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Briefer les IS PEV sur l’utilité du fichier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Arial" panose="020B0604020202020204"/>
                        </a:rPr>
                        <a:t>Faire de l’analyse de ce fichier un point de la réunion hebdomadaire au niveau de l’Antenne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  <a:sym typeface="Arial" panose="020B060402020202020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D88A-0A00-4DD6-BEE2-4EF1457D885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709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15600" y="932688"/>
            <a:ext cx="11360700" cy="5303520"/>
          </a:xfrm>
        </p:spPr>
        <p:txBody>
          <a:bodyPr/>
          <a:lstStyle/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00" y="758952"/>
            <a:ext cx="11360700" cy="547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349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abd3d1b2d_0_317"/>
          <p:cNvSpPr txBox="1"/>
          <p:nvPr/>
        </p:nvSpPr>
        <p:spPr>
          <a:xfrm>
            <a:off x="475488" y="272241"/>
            <a:ext cx="11258004" cy="77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5. </a:t>
            </a:r>
            <a:r>
              <a:rPr lang="en-US" sz="27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Besoins</a:t>
            </a:r>
            <a:r>
              <a:rPr lang="en-US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pour maintenir les </a:t>
            </a:r>
            <a:r>
              <a:rPr lang="en-US" sz="2700" dirty="0" err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acquis</a:t>
            </a:r>
            <a:endParaRPr sz="27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endParaRPr lang="fr-FR" sz="2700" dirty="0" smtClean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Doter les ZS en moyens de transport ( véhicules, motos)</a:t>
            </a:r>
          </a:p>
          <a:p>
            <a:pPr marL="514350" lvl="0" indent="-514350"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Améliorer le financement des activités du PEV dans la province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5" name="Google Shape;205;g3aabd3d1b2d_0_3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6" name="Google Shape;206;g3aabd3d1b2d_0_3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d3d1b2d_0_3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8" name="Google Shape;208;g3aabd3d1b2d_0_3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abd3d1b2d_0_317"/>
          <p:cNvSpPr txBox="1"/>
          <p:nvPr/>
        </p:nvSpPr>
        <p:spPr>
          <a:xfrm>
            <a:off x="475488" y="272241"/>
            <a:ext cx="11258004" cy="777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r>
              <a:rPr lang="en-US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6. </a:t>
            </a:r>
            <a:r>
              <a:rPr lang="en-US" sz="2700" dirty="0" err="1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</a:t>
            </a:r>
            <a:endParaRPr sz="2700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endParaRPr lang="fr-FR" sz="2700" dirty="0" smtClean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+mj-lt"/>
              <a:buAutoNum type="arabicPeriod"/>
            </a:pPr>
            <a:r>
              <a:rPr lang="fr-FR" sz="2700" dirty="0" smtClean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Réaliser régulièrement le DQS pour améliorer la qualité des données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lang="fr-FR" sz="2700" dirty="0" smtClean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2700" b="0" i="0" u="none" strike="noStrike" cap="none" dirty="0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5" name="Google Shape;205;g3aabd3d1b2d_0_317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 panose="020B0604020202020204"/>
              <a:buNone/>
            </a:pPr>
            <a:endParaRPr sz="1900" b="0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6" name="Google Shape;206;g3aabd3d1b2d_0_317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endParaRPr sz="1200" b="1" i="0" u="none" strike="noStrike" cap="none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7" name="Google Shape;207;g3aabd3d1b2d_0_317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1155C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</a:t>
            </a:fld>
            <a:endParaRPr sz="1200" b="0" i="0" u="none" strike="noStrike" cap="none">
              <a:solidFill>
                <a:srgbClr val="1155C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8" name="Google Shape;208;g3aabd3d1b2d_0_317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w="12700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3442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abd3d1b2d_0_178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 panose="020B0604020202020204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Merci</a:t>
            </a:r>
            <a:endParaRPr sz="3200" b="1" i="0" u="none" strike="noStrike" cap="none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3" name="Google Shape;223;g3aabd3d1b2d_0_178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g3aabd3d1b2d_0_178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5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824</Words>
  <Application>Microsoft Office PowerPoint</Application>
  <PresentationFormat>Grand écran</PresentationFormat>
  <Paragraphs>142</Paragraphs>
  <Slides>23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0" baseType="lpstr">
      <vt:lpstr>Arial</vt:lpstr>
      <vt:lpstr>Wingdings</vt:lpstr>
      <vt:lpstr>Courier New</vt:lpstr>
      <vt:lpstr>Source Serif Pro</vt:lpstr>
      <vt:lpstr>Calibri</vt:lpstr>
      <vt:lpstr>Times New Roman</vt:lpstr>
      <vt:lpstr>Simple Light</vt:lpstr>
      <vt:lpstr>Présentation PowerPoint</vt:lpstr>
      <vt:lpstr>Présentation PowerPoint</vt:lpstr>
      <vt:lpstr>Présentation PowerPoint</vt:lpstr>
      <vt:lpstr>  2.Facteurs de performance (leadership, mobilisation communautaire, intégration, supervision)</vt:lpstr>
      <vt:lpstr>DOMAINE 1: LEADERSHIP</vt:lpstr>
      <vt:lpstr>DOMAINE 2: INTEGRATION</vt:lpstr>
      <vt:lpstr>DOMAINE 3: SUPERVISION</vt:lpstr>
      <vt:lpstr>DOMAINE 4: ENGAGEMENT COMMUNAUTAIRE</vt:lpstr>
      <vt:lpstr>3.RESULTATS</vt:lpstr>
      <vt:lpstr>RÉSULTATS DE PROCESUS: SCORES GLOBAUX ANTENNE PEV KABINDA</vt:lpstr>
      <vt:lpstr>RÉSULTATS DE PROCESUS: SCORES GLOBAUX ANTENNE PEV MWENE DITU</vt:lpstr>
      <vt:lpstr>RÉSULTATS DE PROCESSUS 3: EVOLUTION DES SCORES GLOBAUX</vt:lpstr>
      <vt:lpstr>RESULTATS DES COUVERTURES</vt:lpstr>
      <vt:lpstr>RESULTATS DE SURVEILLANCE EPIDEMIOLOGIQUE</vt:lpstr>
      <vt:lpstr>RESULTATS DES AVS POLIO</vt:lpstr>
      <vt:lpstr>Défis persistants malgré les performances </vt:lpstr>
      <vt:lpstr>  4.Bonnes pratiques transférables </vt:lpstr>
      <vt:lpstr>BP1:La mise en place des équipes de supervision permanentes avec un profil convenable permet d’améliorer quantitativement et qualitativement le score de supervision</vt:lpstr>
      <vt:lpstr>BP2:La conception et l’utilisation d’outils locaux pour booster les performances contribue à l’amélioration du rendement des équipes des ZS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Aimé CIKOMOLA</dc:creator>
  <cp:lastModifiedBy>HP</cp:lastModifiedBy>
  <cp:revision>87</cp:revision>
  <dcterms:created xsi:type="dcterms:W3CDTF">2025-11-28T20:12:22Z</dcterms:created>
  <dcterms:modified xsi:type="dcterms:W3CDTF">2025-12-16T05:54:48Z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AAC20F8E09534597B0FBC6D93A5D818B_13</vt:lpwstr>
  </property>
  <property fmtid="{D5CDD505-2E9C-101B-9397-08002B2CF9AE}" pid="3" name="KSOProductBuildVer">
    <vt:lpwstr>3084-12.2.0.23155</vt:lpwstr>
  </property>
</Properties>
</file>