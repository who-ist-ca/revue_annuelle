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notesSlides/notesSlide4.xml" ContentType="application/vnd.openxmlformats-officedocument.presentationml.notesSlide+xml"/>
  <Override PartName="/ppt/tags/tag2.xml" ContentType="application/vnd.openxmlformats-officedocument.presentationml.tags+xml"/>
  <Override PartName="/ppt/notesSlides/notesSlide5.xml" ContentType="application/vnd.openxmlformats-officedocument.presentationml.notesSlide+xml"/>
  <Override PartName="/ppt/tags/tag3.xml" ContentType="application/vnd.openxmlformats-officedocument.presentationml.tags+xml"/>
  <Override PartName="/ppt/notesSlides/notesSlide6.xml" ContentType="application/vnd.openxmlformats-officedocument.presentationml.notesSlide+xml"/>
  <Override PartName="/ppt/tags/tag4.xml" ContentType="application/vnd.openxmlformats-officedocument.presentationml.tags+xml"/>
  <Override PartName="/ppt/notesSlides/notesSlide7.xml" ContentType="application/vnd.openxmlformats-officedocument.presentationml.notesSlide+xml"/>
  <Override PartName="/ppt/tags/tag5.xml" ContentType="application/vnd.openxmlformats-officedocument.presentationml.tags+xml"/>
  <Override PartName="/ppt/notesSlides/notesSlide8.xml" ContentType="application/vnd.openxmlformats-officedocument.presentationml.notesSlide+xml"/>
  <Override PartName="/ppt/tags/tag6.xml" ContentType="application/vnd.openxmlformats-officedocument.presentationml.tags+xml"/>
  <Override PartName="/ppt/notesSlides/notesSlide9.xml" ContentType="application/vnd.openxmlformats-officedocument.presentationml.notesSlide+xml"/>
  <Override PartName="/ppt/tags/tag7.xml" ContentType="application/vnd.openxmlformats-officedocument.presentationml.tags+xml"/>
  <Override PartName="/ppt/notesSlides/notesSlide10.xml" ContentType="application/vnd.openxmlformats-officedocument.presentationml.notesSlide+xml"/>
  <Override PartName="/ppt/tags/tag8.xml" ContentType="application/vnd.openxmlformats-officedocument.presentationml.tags+xml"/>
  <Override PartName="/ppt/notesSlides/notesSlide11.xml" ContentType="application/vnd.openxmlformats-officedocument.presentationml.notesSlide+xml"/>
  <Override PartName="/ppt/tags/tag9.xml" ContentType="application/vnd.openxmlformats-officedocument.presentationml.tags+xml"/>
  <Override PartName="/ppt/notesSlides/notesSlide12.xml" ContentType="application/vnd.openxmlformats-officedocument.presentationml.notesSlide+xml"/>
  <Override PartName="/ppt/tags/tag10.xml" ContentType="application/vnd.openxmlformats-officedocument.presentationml.tags+xml"/>
  <Override PartName="/ppt/notesSlides/notesSlide13.xml" ContentType="application/vnd.openxmlformats-officedocument.presentationml.notesSlide+xml"/>
  <Override PartName="/ppt/tags/tag11.xml" ContentType="application/vnd.openxmlformats-officedocument.presentationml.tags+xml"/>
  <Override PartName="/ppt/notesSlides/notesSlide14.xml" ContentType="application/vnd.openxmlformats-officedocument.presentationml.notesSlide+xml"/>
  <Override PartName="/ppt/tags/tag12.xml" ContentType="application/vnd.openxmlformats-officedocument.presentationml.tags+xml"/>
  <Override PartName="/ppt/notesSlides/notesSlide15.xml" ContentType="application/vnd.openxmlformats-officedocument.presentationml.notesSlide+xml"/>
  <Override PartName="/ppt/tags/tag13.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handoutMasterIdLst>
    <p:handoutMasterId r:id="rId25"/>
  </p:handoutMasterIdLst>
  <p:sldIdLst>
    <p:sldId id="257" r:id="rId2"/>
    <p:sldId id="258" r:id="rId3"/>
    <p:sldId id="260" r:id="rId4"/>
    <p:sldId id="270" r:id="rId5"/>
    <p:sldId id="290" r:id="rId6"/>
    <p:sldId id="291" r:id="rId7"/>
    <p:sldId id="271" r:id="rId8"/>
    <p:sldId id="289" r:id="rId9"/>
    <p:sldId id="276" r:id="rId10"/>
    <p:sldId id="275" r:id="rId11"/>
    <p:sldId id="277" r:id="rId12"/>
    <p:sldId id="272" r:id="rId13"/>
    <p:sldId id="263" r:id="rId14"/>
    <p:sldId id="279" r:id="rId15"/>
    <p:sldId id="278" r:id="rId16"/>
    <p:sldId id="280" r:id="rId17"/>
    <p:sldId id="283" r:id="rId18"/>
    <p:sldId id="282" r:id="rId19"/>
    <p:sldId id="274" r:id="rId20"/>
    <p:sldId id="268" r:id="rId21"/>
    <p:sldId id="269" r:id="rId22"/>
    <p:sldId id="267" r:id="rId23"/>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userDrawn="1">
          <p15:clr>
            <a:srgbClr val="A4A3A4"/>
          </p15:clr>
        </p15:guide>
        <p15:guide id="2" pos="386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278" autoAdjust="0"/>
    <p:restoredTop sz="94404" autoAdjust="0"/>
  </p:normalViewPr>
  <p:slideViewPr>
    <p:cSldViewPr snapToGrid="0" showGuides="1">
      <p:cViewPr varScale="1">
        <p:scale>
          <a:sx n="56" d="100"/>
          <a:sy n="56" d="100"/>
        </p:scale>
        <p:origin x="1104" y="44"/>
      </p:cViewPr>
      <p:guideLst>
        <p:guide orient="horz" pos="2159"/>
        <p:guide pos="3865"/>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en-US"/>
          </a:p>
        </p:txBody>
      </p:sp>
      <p:sp>
        <p:nvSpPr>
          <p:cNvPr id="3" name="Date Placeholder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en-US" smtClean="0"/>
              <a:t>12/15/2025</a:t>
            </a:fld>
            <a:endParaRPr lang="en-US"/>
          </a:p>
        </p:txBody>
      </p:sp>
      <p:sp>
        <p:nvSpPr>
          <p:cNvPr id="4" name="Footer Placeholder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en-US"/>
          </a:p>
        </p:txBody>
      </p:sp>
      <p:sp>
        <p:nvSpPr>
          <p:cNvPr id="5" name="Slide Number Placeholder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en-US" smtClean="0"/>
              <a:t>‹N°›</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en-US"/>
          </a:p>
        </p:txBody>
      </p:sp>
      <p:sp>
        <p:nvSpPr>
          <p:cNvPr id="3" name="Slide Number Placeholder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en-US" smtClean="0"/>
              <a:t>12/15/2025</a:t>
            </a:fld>
            <a:endParaRPr lang="en-US"/>
          </a:p>
        </p:txBody>
      </p:sp>
      <p:sp>
        <p:nvSpPr>
          <p:cNvPr id="4" name="Slide Image Placehoder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en-US"/>
          </a:p>
        </p:txBody>
      </p:sp>
      <p:sp>
        <p:nvSpPr>
          <p:cNvPr id="5" name="Note Placeholder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en-US" smtClean="0"/>
              <a:t>‹N°›</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aabd3d1b2d_0_149:notes"/>
          <p:cNvSpPr>
            <a:spLocks noGrp="1" noRot="1" noChangeAspect="1"/>
          </p:cNvSpPr>
          <p:nvPr>
            <p:ph type="sldImg" idx="2"/>
          </p:nvPr>
        </p:nvSpPr>
        <p:spPr>
          <a:xfrm>
            <a:off x="312738" y="652463"/>
            <a:ext cx="5805487" cy="32670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chemeClr val="lt1"/>
            </a:solidFill>
            <a:prstDash val="solid"/>
            <a:miter lim="8000"/>
            <a:headEnd type="none" w="sm" len="sm"/>
            <a:tailEnd type="none" w="sm" len="sm"/>
          </a:ln>
        </p:spPr>
      </p:sp>
      <p:sp>
        <p:nvSpPr>
          <p:cNvPr id="145" name="Google Shape;145;g3aabd3d1b2d_0_149:notes"/>
          <p:cNvSpPr txBox="1">
            <a:spLocks noGrp="1"/>
          </p:cNvSpPr>
          <p:nvPr>
            <p:ph type="body" idx="1"/>
          </p:nvPr>
        </p:nvSpPr>
        <p:spPr>
          <a:xfrm>
            <a:off x="642938" y="4136571"/>
            <a:ext cx="5143500" cy="3918900"/>
          </a:xfrm>
          <a:prstGeom prst="rect">
            <a:avLst/>
          </a:prstGeom>
          <a:noFill/>
          <a:ln>
            <a:noFill/>
          </a:ln>
        </p:spPr>
        <p:txBody>
          <a:bodyPr spcFirstLastPara="1" wrap="square" lIns="86275" tIns="86275" rIns="86275" bIns="86275" anchor="t" anchorCtr="0">
            <a:noAutofit/>
          </a:bodyPr>
          <a:lstStyle/>
          <a:p>
            <a:pPr marL="0" lvl="0" indent="0" algn="l" rtl="0">
              <a:lnSpc>
                <a:spcPct val="100000"/>
              </a:lnSpc>
              <a:spcBef>
                <a:spcPts val="0"/>
              </a:spcBef>
              <a:spcAft>
                <a:spcPts val="0"/>
              </a:spcAft>
              <a:buClr>
                <a:schemeClr val="dk1"/>
              </a:buClr>
              <a:buSzPts val="1300"/>
              <a:buFont typeface="Arial" panose="020B0604020202020204"/>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aabd3d1b2d_0_156:notes"/>
          <p:cNvSpPr>
            <a:spLocks noGrp="1" noRot="1" noChangeAspect="1"/>
          </p:cNvSpPr>
          <p:nvPr>
            <p:ph type="sldImg" idx="2"/>
          </p:nvPr>
        </p:nvSpPr>
        <p:spPr>
          <a:xfrm>
            <a:off x="382588" y="685800"/>
            <a:ext cx="60945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4" name="Google Shape;154;g3aabd3d1b2d_0_156: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d3d1b2d_0_29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g3aabd3d1b2d_0_2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d3d1b2d_0_29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g3aabd3d1b2d_0_2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d3d1b2d_0_29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g3aabd3d1b2d_0_2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89C64CD3-417D-9FEB-2A14-D304CA59C64D}"/>
            </a:ext>
          </a:extLst>
        </p:cNvPr>
        <p:cNvGrpSpPr/>
        <p:nvPr/>
      </p:nvGrpSpPr>
      <p:grpSpPr>
        <a:xfrm>
          <a:off x="0" y="0"/>
          <a:ext cx="0" cy="0"/>
          <a:chOff x="0" y="0"/>
          <a:chExt cx="0" cy="0"/>
        </a:xfrm>
      </p:grpSpPr>
      <p:sp>
        <p:nvSpPr>
          <p:cNvPr id="173" name="Google Shape;173;g3aabd3d1b2d_0_290:notes">
            <a:extLst>
              <a:ext uri="{FF2B5EF4-FFF2-40B4-BE49-F238E27FC236}">
                <a16:creationId xmlns:a16="http://schemas.microsoft.com/office/drawing/2014/main" id="{6F518515-432B-494C-55BF-9AD862AA5441}"/>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g3aabd3d1b2d_0_290:notes">
            <a:extLst>
              <a:ext uri="{FF2B5EF4-FFF2-40B4-BE49-F238E27FC236}">
                <a16:creationId xmlns:a16="http://schemas.microsoft.com/office/drawing/2014/main" id="{9C7B45E5-749C-6C96-1A69-4FF907A05AE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30891354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d3d1b2d_0_29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g3aabd3d1b2d_0_2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50AF21B3-DBA0-E170-F342-7BEF67ADFB7D}"/>
            </a:ext>
          </a:extLst>
        </p:cNvPr>
        <p:cNvGrpSpPr/>
        <p:nvPr/>
      </p:nvGrpSpPr>
      <p:grpSpPr>
        <a:xfrm>
          <a:off x="0" y="0"/>
          <a:ext cx="0" cy="0"/>
          <a:chOff x="0" y="0"/>
          <a:chExt cx="0" cy="0"/>
        </a:xfrm>
      </p:grpSpPr>
      <p:sp>
        <p:nvSpPr>
          <p:cNvPr id="173" name="Google Shape;173;g3aabd3d1b2d_0_290:notes">
            <a:extLst>
              <a:ext uri="{FF2B5EF4-FFF2-40B4-BE49-F238E27FC236}">
                <a16:creationId xmlns:a16="http://schemas.microsoft.com/office/drawing/2014/main" id="{D9DF632C-ACB2-2CDD-A83B-86E94D69A5B1}"/>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g3aabd3d1b2d_0_290:notes">
            <a:extLst>
              <a:ext uri="{FF2B5EF4-FFF2-40B4-BE49-F238E27FC236}">
                <a16:creationId xmlns:a16="http://schemas.microsoft.com/office/drawing/2014/main" id="{7F595950-49E0-67E9-E06A-D5860FA9863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5968971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67D751C2-50E6-4FD9-79CA-63FCB0A287DA}"/>
            </a:ext>
          </a:extLst>
        </p:cNvPr>
        <p:cNvGrpSpPr/>
        <p:nvPr/>
      </p:nvGrpSpPr>
      <p:grpSpPr>
        <a:xfrm>
          <a:off x="0" y="0"/>
          <a:ext cx="0" cy="0"/>
          <a:chOff x="0" y="0"/>
          <a:chExt cx="0" cy="0"/>
        </a:xfrm>
      </p:grpSpPr>
      <p:sp>
        <p:nvSpPr>
          <p:cNvPr id="173" name="Google Shape;173;g3aabd3d1b2d_0_290:notes">
            <a:extLst>
              <a:ext uri="{FF2B5EF4-FFF2-40B4-BE49-F238E27FC236}">
                <a16:creationId xmlns:a16="http://schemas.microsoft.com/office/drawing/2014/main" id="{B8D6886D-EF2F-CD7D-E5F3-1BFBDF0E449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g3aabd3d1b2d_0_290:notes">
            <a:extLst>
              <a:ext uri="{FF2B5EF4-FFF2-40B4-BE49-F238E27FC236}">
                <a16:creationId xmlns:a16="http://schemas.microsoft.com/office/drawing/2014/main" id="{E39FF93F-52A6-DCCD-6609-2F8ACBA7E3E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5932532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2F3D4CDD-85BF-0466-1848-299A60D7EF1B}"/>
            </a:ext>
          </a:extLst>
        </p:cNvPr>
        <p:cNvGrpSpPr/>
        <p:nvPr/>
      </p:nvGrpSpPr>
      <p:grpSpPr>
        <a:xfrm>
          <a:off x="0" y="0"/>
          <a:ext cx="0" cy="0"/>
          <a:chOff x="0" y="0"/>
          <a:chExt cx="0" cy="0"/>
        </a:xfrm>
      </p:grpSpPr>
      <p:sp>
        <p:nvSpPr>
          <p:cNvPr id="173" name="Google Shape;173;g3aabd3d1b2d_0_290:notes">
            <a:extLst>
              <a:ext uri="{FF2B5EF4-FFF2-40B4-BE49-F238E27FC236}">
                <a16:creationId xmlns:a16="http://schemas.microsoft.com/office/drawing/2014/main" id="{EBD83158-847C-1309-0D7A-6D818CAFEC30}"/>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g3aabd3d1b2d_0_290:notes">
            <a:extLst>
              <a:ext uri="{FF2B5EF4-FFF2-40B4-BE49-F238E27FC236}">
                <a16:creationId xmlns:a16="http://schemas.microsoft.com/office/drawing/2014/main" id="{24FBB2A8-5079-0409-CB65-5E49C70BF7F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40614420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5FF4E77E-4831-E3E9-A837-DE014E3C0579}"/>
            </a:ext>
          </a:extLst>
        </p:cNvPr>
        <p:cNvGrpSpPr/>
        <p:nvPr/>
      </p:nvGrpSpPr>
      <p:grpSpPr>
        <a:xfrm>
          <a:off x="0" y="0"/>
          <a:ext cx="0" cy="0"/>
          <a:chOff x="0" y="0"/>
          <a:chExt cx="0" cy="0"/>
        </a:xfrm>
      </p:grpSpPr>
      <p:sp>
        <p:nvSpPr>
          <p:cNvPr id="173" name="Google Shape;173;g3aabd3d1b2d_0_290:notes">
            <a:extLst>
              <a:ext uri="{FF2B5EF4-FFF2-40B4-BE49-F238E27FC236}">
                <a16:creationId xmlns:a16="http://schemas.microsoft.com/office/drawing/2014/main" id="{30E3474B-287E-955B-A0DA-54AC1DA69F40}"/>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g3aabd3d1b2d_0_290:notes">
            <a:extLst>
              <a:ext uri="{FF2B5EF4-FFF2-40B4-BE49-F238E27FC236}">
                <a16:creationId xmlns:a16="http://schemas.microsoft.com/office/drawing/2014/main" id="{07053E51-3D28-EDC8-D249-377EDCE0D15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2355866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d3d1b2d_0_29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g3aabd3d1b2d_0_2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d3d1b2d_0_29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g3aabd3d1b2d_0_2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3ACC0AED-7203-250C-BA3F-6084D71F3F0E}"/>
            </a:ext>
          </a:extLst>
        </p:cNvPr>
        <p:cNvGrpSpPr/>
        <p:nvPr/>
      </p:nvGrpSpPr>
      <p:grpSpPr>
        <a:xfrm>
          <a:off x="0" y="0"/>
          <a:ext cx="0" cy="0"/>
          <a:chOff x="0" y="0"/>
          <a:chExt cx="0" cy="0"/>
        </a:xfrm>
      </p:grpSpPr>
      <p:sp>
        <p:nvSpPr>
          <p:cNvPr id="173" name="Google Shape;173;g3aabd3d1b2d_0_290:notes">
            <a:extLst>
              <a:ext uri="{FF2B5EF4-FFF2-40B4-BE49-F238E27FC236}">
                <a16:creationId xmlns:a16="http://schemas.microsoft.com/office/drawing/2014/main" id="{017FCF87-1C90-2067-A243-39E716382109}"/>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g3aabd3d1b2d_0_290:notes">
            <a:extLst>
              <a:ext uri="{FF2B5EF4-FFF2-40B4-BE49-F238E27FC236}">
                <a16:creationId xmlns:a16="http://schemas.microsoft.com/office/drawing/2014/main" id="{6BE7EC46-B309-B998-9A8D-8E06E53807B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20430832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C7C2AC73-9B5C-ED07-C88F-A4D9E63D60A4}"/>
            </a:ext>
          </a:extLst>
        </p:cNvPr>
        <p:cNvGrpSpPr/>
        <p:nvPr/>
      </p:nvGrpSpPr>
      <p:grpSpPr>
        <a:xfrm>
          <a:off x="0" y="0"/>
          <a:ext cx="0" cy="0"/>
          <a:chOff x="0" y="0"/>
          <a:chExt cx="0" cy="0"/>
        </a:xfrm>
      </p:grpSpPr>
      <p:sp>
        <p:nvSpPr>
          <p:cNvPr id="173" name="Google Shape;173;g3aabd3d1b2d_0_290:notes">
            <a:extLst>
              <a:ext uri="{FF2B5EF4-FFF2-40B4-BE49-F238E27FC236}">
                <a16:creationId xmlns:a16="http://schemas.microsoft.com/office/drawing/2014/main" id="{4B16037A-3720-459C-B9B5-1CDF450830A7}"/>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g3aabd3d1b2d_0_290:notes">
            <a:extLst>
              <a:ext uri="{FF2B5EF4-FFF2-40B4-BE49-F238E27FC236}">
                <a16:creationId xmlns:a16="http://schemas.microsoft.com/office/drawing/2014/main" id="{E046788F-DF9E-2E87-ABC3-60B3638CA4E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579143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D34AA3B2-1106-7E8C-DCAB-3552FF2DB680}"/>
            </a:ext>
          </a:extLst>
        </p:cNvPr>
        <p:cNvGrpSpPr/>
        <p:nvPr/>
      </p:nvGrpSpPr>
      <p:grpSpPr>
        <a:xfrm>
          <a:off x="0" y="0"/>
          <a:ext cx="0" cy="0"/>
          <a:chOff x="0" y="0"/>
          <a:chExt cx="0" cy="0"/>
        </a:xfrm>
      </p:grpSpPr>
      <p:sp>
        <p:nvSpPr>
          <p:cNvPr id="173" name="Google Shape;173;g3aabd3d1b2d_0_290:notes">
            <a:extLst>
              <a:ext uri="{FF2B5EF4-FFF2-40B4-BE49-F238E27FC236}">
                <a16:creationId xmlns:a16="http://schemas.microsoft.com/office/drawing/2014/main" id="{8D498007-544D-9B13-7CBB-A9AB91CA0CA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g3aabd3d1b2d_0_290:notes">
            <a:extLst>
              <a:ext uri="{FF2B5EF4-FFF2-40B4-BE49-F238E27FC236}">
                <a16:creationId xmlns:a16="http://schemas.microsoft.com/office/drawing/2014/main" id="{40B7B392-3F5F-FDE3-F880-8A2B4778565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15364366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900A50A7-6A57-80FB-32A9-AE6557FD41D1}"/>
            </a:ext>
          </a:extLst>
        </p:cNvPr>
        <p:cNvGrpSpPr/>
        <p:nvPr/>
      </p:nvGrpSpPr>
      <p:grpSpPr>
        <a:xfrm>
          <a:off x="0" y="0"/>
          <a:ext cx="0" cy="0"/>
          <a:chOff x="0" y="0"/>
          <a:chExt cx="0" cy="0"/>
        </a:xfrm>
      </p:grpSpPr>
      <p:sp>
        <p:nvSpPr>
          <p:cNvPr id="173" name="Google Shape;173;g3aabd3d1b2d_0_290:notes">
            <a:extLst>
              <a:ext uri="{FF2B5EF4-FFF2-40B4-BE49-F238E27FC236}">
                <a16:creationId xmlns:a16="http://schemas.microsoft.com/office/drawing/2014/main" id="{8647FEB5-73B4-BB87-7CAC-2DADD163A2C6}"/>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g3aabd3d1b2d_0_290:notes">
            <a:extLst>
              <a:ext uri="{FF2B5EF4-FFF2-40B4-BE49-F238E27FC236}">
                <a16:creationId xmlns:a16="http://schemas.microsoft.com/office/drawing/2014/main" id="{99E1C49E-09A4-5017-979F-4CE31FDDE34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2783714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10CDE002-A2BC-7881-9FC7-EDFA6626DE71}"/>
            </a:ext>
          </a:extLst>
        </p:cNvPr>
        <p:cNvGrpSpPr/>
        <p:nvPr/>
      </p:nvGrpSpPr>
      <p:grpSpPr>
        <a:xfrm>
          <a:off x="0" y="0"/>
          <a:ext cx="0" cy="0"/>
          <a:chOff x="0" y="0"/>
          <a:chExt cx="0" cy="0"/>
        </a:xfrm>
      </p:grpSpPr>
      <p:sp>
        <p:nvSpPr>
          <p:cNvPr id="173" name="Google Shape;173;g3aabd3d1b2d_0_290:notes">
            <a:extLst>
              <a:ext uri="{FF2B5EF4-FFF2-40B4-BE49-F238E27FC236}">
                <a16:creationId xmlns:a16="http://schemas.microsoft.com/office/drawing/2014/main" id="{ACEF65DB-9D47-A730-F936-47844AD110A4}"/>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g3aabd3d1b2d_0_290:notes">
            <a:extLst>
              <a:ext uri="{FF2B5EF4-FFF2-40B4-BE49-F238E27FC236}">
                <a16:creationId xmlns:a16="http://schemas.microsoft.com/office/drawing/2014/main" id="{D7A8C1D9-D95F-1DF7-36C4-0C1A1B013F2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extLst>
      <p:ext uri="{BB962C8B-B14F-4D97-AF65-F5344CB8AC3E}">
        <p14:creationId xmlns:p14="http://schemas.microsoft.com/office/powerpoint/2010/main" val="14331239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d3d1b2d_0_29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g3aabd3d1b2d_0_2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d3d1b2d_0_29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g3aabd3d1b2d_0_2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aabd3d1b2d_0_29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g3aabd3d1b2d_0_290: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3aabd3d1b2d_0_178:notes"/>
          <p:cNvSpPr>
            <a:spLocks noGrp="1" noRot="1" noChangeAspect="1"/>
          </p:cNvSpPr>
          <p:nvPr>
            <p:ph type="sldImg" idx="2"/>
          </p:nvPr>
        </p:nvSpPr>
        <p:spPr>
          <a:xfrm>
            <a:off x="381794"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0" name="Google Shape;220;g3aabd3d1b2d_0_178:notes"/>
          <p:cNvSpPr txBox="1">
            <a:spLocks noGrp="1"/>
          </p:cNvSpPr>
          <p:nvPr>
            <p:ph type="body" idx="1"/>
          </p:nvPr>
        </p:nvSpPr>
        <p:spPr>
          <a:xfrm>
            <a:off x="685800" y="4343400"/>
            <a:ext cx="5486400" cy="4114800"/>
          </a:xfrm>
          <a:prstGeom prst="rect">
            <a:avLst/>
          </a:prstGeom>
          <a:noFill/>
          <a:ln>
            <a:noFill/>
          </a:ln>
        </p:spPr>
        <p:txBody>
          <a:bodyPr spcFirstLastPara="1" wrap="square" lIns="91550" tIns="91550" rIns="91550" bIns="91550"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322962"/>
            <a:ext cx="9144000" cy="2187001"/>
          </a:xfrm>
        </p:spPr>
        <p:txBody>
          <a:bodyPr anchor="b">
            <a:normAutofit/>
          </a:bodyPr>
          <a:lstStyle>
            <a:lvl1pPr algn="ctr">
              <a:lnSpc>
                <a:spcPct val="130000"/>
              </a:lnSpc>
              <a:defRPr sz="6000">
                <a:effectLst/>
                <a:latin typeface="Calibri Light" panose="020F0302020204030204" pitchFamily="34" charset="0"/>
              </a:defRPr>
            </a:lvl1pPr>
          </a:lstStyle>
          <a:p>
            <a:r>
              <a:rPr lang="en-US" dirty="0"/>
              <a:t>Click to edit Master title style</a:t>
            </a:r>
          </a:p>
        </p:txBody>
      </p:sp>
      <p:sp>
        <p:nvSpPr>
          <p:cNvPr id="4" name="Date Placeholder  3"/>
          <p:cNvSpPr>
            <a:spLocks noGrp="1"/>
          </p:cNvSpPr>
          <p:nvPr>
            <p:ph type="dt" sz="half" idx="10"/>
          </p:nvPr>
        </p:nvSpPr>
        <p:spPr/>
        <p:txBody>
          <a:bodyPr/>
          <a:lstStyle/>
          <a:p>
            <a:fld id="{760FBDFE-C587-4B4C-A407-44438C67B59E}"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t>‹N°›</a:t>
            </a:fld>
            <a:endParaRPr lang="en-US"/>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2400">
                <a:solidFill>
                  <a:schemeClr val="tx1">
                    <a:lumMod val="75000"/>
                    <a:lumOff val="25000"/>
                  </a:schemeClr>
                </a:solidFill>
                <a:effectLst/>
                <a:latin typeface="Calibri Light" panose="020F0302020204030204" pitchFamily="34" charset="0"/>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47700" y="258445"/>
            <a:ext cx="10515600" cy="1325563"/>
          </a:xfrm>
        </p:spPr>
        <p:txBody>
          <a:bodyPr anchor="ctr" anchorCtr="0">
            <a:normAutofit/>
          </a:bodyPr>
          <a:lstStyle>
            <a:lvl1pPr>
              <a:defRPr sz="4400" b="1">
                <a:effectLst/>
                <a:latin typeface="Calibri Light" panose="020F0302020204030204" pitchFamily="34" charset="0"/>
              </a:defRPr>
            </a:lvl1pPr>
          </a:lstStyle>
          <a:p>
            <a:r>
              <a:rPr lang="en-US" dirty="0"/>
              <a:t>Click to edit Master title style</a:t>
            </a:r>
          </a:p>
        </p:txBody>
      </p:sp>
      <p:sp>
        <p:nvSpPr>
          <p:cNvPr id="3" name="Content Placeholder 2"/>
          <p:cNvSpPr>
            <a:spLocks noGrp="1"/>
          </p:cNvSpPr>
          <p:nvPr>
            <p:ph idx="1"/>
          </p:nvPr>
        </p:nvSpPr>
        <p:spPr>
          <a:xfrm>
            <a:off x="647700" y="1825625"/>
            <a:ext cx="10515600" cy="4351338"/>
          </a:xfrm>
        </p:spPr>
        <p:txBody>
          <a:bodyPr>
            <a:normAutofit/>
          </a:bodyPr>
          <a:lstStyle>
            <a:lvl1pPr>
              <a:defRPr sz="2800">
                <a:solidFill>
                  <a:schemeClr val="tx1">
                    <a:lumMod val="75000"/>
                    <a:lumOff val="25000"/>
                  </a:schemeClr>
                </a:solidFill>
                <a:latin typeface="Calibri Light" panose="020F0302020204030204" pitchFamily="34" charset="0"/>
                <a:cs typeface="Calibri Light" panose="020F0302020204030204" pitchFamily="34" charset="0"/>
              </a:defRPr>
            </a:lvl1pPr>
            <a:lvl2pPr>
              <a:defRPr sz="2400">
                <a:solidFill>
                  <a:schemeClr val="tx1">
                    <a:lumMod val="75000"/>
                    <a:lumOff val="25000"/>
                  </a:schemeClr>
                </a:solidFill>
                <a:latin typeface="Calibri Light" panose="020F0302020204030204" pitchFamily="34" charset="0"/>
                <a:cs typeface="Calibri Light" panose="020F0302020204030204" pitchFamily="34" charset="0"/>
              </a:defRPr>
            </a:lvl2pPr>
            <a:lvl3pPr>
              <a:defRPr sz="2000">
                <a:solidFill>
                  <a:schemeClr val="tx1">
                    <a:lumMod val="75000"/>
                    <a:lumOff val="25000"/>
                  </a:schemeClr>
                </a:solidFill>
                <a:latin typeface="Calibri Light" panose="020F0302020204030204" pitchFamily="34" charset="0"/>
                <a:cs typeface="Calibri Light" panose="020F0302020204030204" pitchFamily="34" charset="0"/>
              </a:defRPr>
            </a:lvl3pPr>
            <a:lvl4pPr>
              <a:defRPr sz="1800">
                <a:solidFill>
                  <a:schemeClr val="tx1">
                    <a:lumMod val="75000"/>
                    <a:lumOff val="25000"/>
                  </a:schemeClr>
                </a:solidFill>
                <a:latin typeface="Calibri Light" panose="020F0302020204030204" pitchFamily="34" charset="0"/>
                <a:cs typeface="Calibri Light" panose="020F0302020204030204" pitchFamily="34" charset="0"/>
              </a:defRPr>
            </a:lvl4pPr>
            <a:lvl5pPr>
              <a:defRPr sz="1800">
                <a:solidFill>
                  <a:schemeClr val="tx1">
                    <a:lumMod val="75000"/>
                    <a:lumOff val="25000"/>
                  </a:schemeClr>
                </a:solidFill>
                <a:latin typeface="Calibri Light" panose="020F0302020204030204" pitchFamily="34" charset="0"/>
                <a:cs typeface="Calibri Light" panose="020F0302020204030204" pitchFamily="34" charset="0"/>
              </a:defRPr>
            </a:lvl5pPr>
          </a:lstStyle>
          <a:p>
            <a:pPr lvl="0"/>
            <a:r>
              <a:rPr lang="en-US" dirty="0"/>
              <a:t>Click to edit Master text styles</a:t>
            </a:r>
          </a:p>
          <a:p>
            <a:pPr lvl="1"/>
            <a:r>
              <a:rPr lang="en-US" dirty="0"/>
              <a:t>Second level </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760FBDFE-C587-4B4C-A407-44438C67B59E}"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3750945"/>
            <a:ext cx="9843135" cy="811530"/>
          </a:xfrm>
        </p:spPr>
        <p:txBody>
          <a:bodyPr anchor="b">
            <a:noAutofit/>
          </a:bodyPr>
          <a:lstStyle>
            <a:lvl1pPr>
              <a:defRPr sz="6000">
                <a:effectLst/>
              </a:defRPr>
            </a:lvl1pPr>
          </a:lstStyle>
          <a:p>
            <a:r>
              <a:rPr lang="en-US" dirty="0">
                <a:sym typeface="+mn-ea"/>
              </a:rPr>
              <a:t>Click to edit Master title style</a:t>
            </a:r>
          </a:p>
        </p:txBody>
      </p:sp>
      <p:sp>
        <p:nvSpPr>
          <p:cNvPr id="3" name="Text Placeholder 2"/>
          <p:cNvSpPr>
            <a:spLocks noGrp="1"/>
          </p:cNvSpPr>
          <p:nvPr>
            <p:ph type="body" idx="1"/>
          </p:nvPr>
        </p:nvSpPr>
        <p:spPr>
          <a:xfrm>
            <a:off x="831850" y="4610028"/>
            <a:ext cx="7321550" cy="647555"/>
          </a:xfrm>
        </p:spPr>
        <p:txBody>
          <a:bodyPr>
            <a:noAutofit/>
          </a:bodyPr>
          <a:lstStyle>
            <a:lvl1pPr marL="0" indent="0">
              <a:buNone/>
              <a:defRPr sz="24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Slide Number Placeholder 3"/>
          <p:cNvSpPr>
            <a:spLocks noGrp="1"/>
          </p:cNvSpPr>
          <p:nvPr>
            <p:ph type="dt" sz="half" idx="10"/>
          </p:nvPr>
        </p:nvSpPr>
        <p:spPr/>
        <p:txBody>
          <a:bodyPr/>
          <a:lstStyle/>
          <a:p>
            <a:fld id="{760FBDFE-C587-4B4C-A407-44438C67B59E}"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47700" y="258445"/>
            <a:ext cx="10515600" cy="1325563"/>
          </a:xfrm>
        </p:spPr>
        <p:txBody>
          <a:bodyPr>
            <a:normAutofit/>
          </a:bodyPr>
          <a:lstStyle>
            <a:lvl1pPr>
              <a:defRPr sz="4400" b="0" i="0">
                <a:effectLst/>
              </a:defRPr>
            </a:lvl1pPr>
          </a:lstStyle>
          <a:p>
            <a:r>
              <a:rPr lang="en-US" dirty="0">
                <a:sym typeface="+mn-ea"/>
              </a:rPr>
              <a:t>Click to edit Master title style</a:t>
            </a:r>
            <a:endParaRPr lang="en-US" dirty="0"/>
          </a:p>
        </p:txBody>
      </p:sp>
      <p:sp>
        <p:nvSpPr>
          <p:cNvPr id="3" name="Content Placeholder 2"/>
          <p:cNvSpPr>
            <a:spLocks noGrp="1"/>
          </p:cNvSpPr>
          <p:nvPr>
            <p:ph sz="half" idx="1"/>
          </p:nvPr>
        </p:nvSpPr>
        <p:spPr>
          <a:xfrm>
            <a:off x="647700" y="1825625"/>
            <a:ext cx="5181600" cy="4351338"/>
          </a:xfrm>
        </p:spPr>
        <p:txBody>
          <a:bodyPr>
            <a:normAutofit/>
          </a:bodyPr>
          <a:lstStyle>
            <a:lvl1pPr>
              <a:lnSpc>
                <a:spcPct val="150000"/>
              </a:lnSpc>
              <a:defRPr sz="2800">
                <a:solidFill>
                  <a:schemeClr val="tx1">
                    <a:lumMod val="75000"/>
                    <a:lumOff val="25000"/>
                  </a:schemeClr>
                </a:solidFill>
                <a:latin typeface="Calibri Light" panose="020F0302020204030204" pitchFamily="34" charset="0"/>
                <a:cs typeface="Calibri Light" panose="020F0302020204030204" pitchFamily="34" charset="0"/>
              </a:defRPr>
            </a:lvl1pPr>
            <a:lvl2pPr>
              <a:lnSpc>
                <a:spcPct val="150000"/>
              </a:lnSpc>
              <a:defRPr sz="2400">
                <a:solidFill>
                  <a:schemeClr val="tx1">
                    <a:lumMod val="75000"/>
                    <a:lumOff val="25000"/>
                  </a:schemeClr>
                </a:solidFill>
                <a:latin typeface="Calibri Light" panose="020F0302020204030204" pitchFamily="34" charset="0"/>
                <a:cs typeface="Calibri Light" panose="020F0302020204030204" pitchFamily="34" charset="0"/>
              </a:defRPr>
            </a:lvl2pPr>
            <a:lvl3pPr>
              <a:lnSpc>
                <a:spcPct val="150000"/>
              </a:lnSpc>
              <a:defRPr sz="2000">
                <a:solidFill>
                  <a:schemeClr val="tx1">
                    <a:lumMod val="75000"/>
                    <a:lumOff val="25000"/>
                  </a:schemeClr>
                </a:solidFill>
                <a:latin typeface="Calibri Light" panose="020F0302020204030204" pitchFamily="34" charset="0"/>
                <a:cs typeface="Calibri Light" panose="020F0302020204030204" pitchFamily="34" charset="0"/>
              </a:defRPr>
            </a:lvl3pPr>
            <a:lvl4pPr>
              <a:lnSpc>
                <a:spcPct val="150000"/>
              </a:lnSpc>
              <a:defRPr sz="1800">
                <a:solidFill>
                  <a:schemeClr val="tx1">
                    <a:lumMod val="75000"/>
                    <a:lumOff val="25000"/>
                  </a:schemeClr>
                </a:solidFill>
                <a:latin typeface="Calibri Light" panose="020F0302020204030204" pitchFamily="34" charset="0"/>
                <a:cs typeface="Calibri Light" panose="020F0302020204030204" pitchFamily="34" charset="0"/>
              </a:defRPr>
            </a:lvl4pPr>
            <a:lvl5pPr>
              <a:lnSpc>
                <a:spcPct val="150000"/>
              </a:lnSpc>
              <a:defRPr sz="1800">
                <a:solidFill>
                  <a:schemeClr val="tx1">
                    <a:lumMod val="75000"/>
                    <a:lumOff val="25000"/>
                  </a:schemeClr>
                </a:solidFill>
                <a:latin typeface="Calibri Light" panose="020F0302020204030204" pitchFamily="34" charset="0"/>
                <a:cs typeface="Calibri Light" panose="020F03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981700" y="1825625"/>
            <a:ext cx="5181600" cy="4351338"/>
          </a:xfrm>
        </p:spPr>
        <p:txBody>
          <a:bodyPr>
            <a:normAutofit/>
          </a:bodyPr>
          <a:lstStyle>
            <a:lvl1pPr>
              <a:lnSpc>
                <a:spcPct val="150000"/>
              </a:lnSpc>
              <a:defRPr kumimoji="0" lang="en-US" sz="2800" b="0" i="0" u="none" strike="noStrike" kern="1200" cap="none" spc="0" normalizeH="0" baseline="0" noProof="1" dirty="0">
                <a:solidFill>
                  <a:schemeClr val="tx1">
                    <a:lumMod val="75000"/>
                    <a:lumOff val="25000"/>
                  </a:schemeClr>
                </a:solidFill>
                <a:latin typeface="Calibri Light" panose="020F0302020204030204" pitchFamily="34" charset="0"/>
                <a:ea typeface="+mn-ea"/>
                <a:cs typeface="+mn-cs"/>
              </a:defRPr>
            </a:lvl1pPr>
            <a:lvl2pPr>
              <a:lnSpc>
                <a:spcPct val="150000"/>
              </a:lnSpc>
              <a:defRPr sz="2400">
                <a:solidFill>
                  <a:schemeClr val="tx1">
                    <a:lumMod val="75000"/>
                    <a:lumOff val="25000"/>
                  </a:schemeClr>
                </a:solidFill>
              </a:defRPr>
            </a:lvl2pPr>
            <a:lvl3pPr>
              <a:lnSpc>
                <a:spcPct val="150000"/>
              </a:lnSpc>
              <a:defRPr sz="2000">
                <a:solidFill>
                  <a:schemeClr val="tx1">
                    <a:lumMod val="75000"/>
                    <a:lumOff val="25000"/>
                  </a:schemeClr>
                </a:solidFill>
              </a:defRPr>
            </a:lvl3pPr>
            <a:lvl4pPr>
              <a:lnSpc>
                <a:spcPct val="150000"/>
              </a:lnSpc>
              <a:defRPr sz="2000">
                <a:solidFill>
                  <a:schemeClr val="tx1">
                    <a:lumMod val="75000"/>
                    <a:lumOff val="25000"/>
                  </a:schemeClr>
                </a:solidFill>
              </a:defRPr>
            </a:lvl4pPr>
            <a:lvl5pPr>
              <a:lnSpc>
                <a:spcPct val="150000"/>
              </a:lnSpc>
              <a:defRPr sz="2000">
                <a:solidFill>
                  <a:schemeClr val="tx1">
                    <a:lumMod val="75000"/>
                    <a:lumOff val="25000"/>
                  </a:schemeClr>
                </a:solidFill>
              </a:defRPr>
            </a:lvl5pPr>
          </a:lstStyle>
          <a:p>
            <a:pPr lvl="0"/>
            <a:r>
              <a:rPr lang="en-US" dirty="0"/>
              <a:t>Click to edit Master text styles</a:t>
            </a:r>
          </a:p>
          <a:p>
            <a:pPr lvl="1"/>
            <a:r>
              <a:rPr lang="en-US" dirty="0">
                <a:sym typeface="+mn-ea"/>
              </a:rPr>
              <a:t>Second level</a:t>
            </a:r>
            <a:endParaRPr lang="en-US" dirty="0"/>
          </a:p>
          <a:p>
            <a:pPr lvl="2"/>
            <a:r>
              <a:rPr lang="en-US" dirty="0">
                <a:sym typeface="+mn-ea"/>
              </a:rPr>
              <a:t>Third level</a:t>
            </a:r>
            <a:endParaRPr lang="en-US" dirty="0"/>
          </a:p>
          <a:p>
            <a:pPr lvl="3"/>
            <a:r>
              <a:rPr lang="en-US" dirty="0">
                <a:sym typeface="+mn-ea"/>
              </a:rPr>
              <a:t>Fourth level</a:t>
            </a:r>
            <a:endParaRPr lang="en-US" dirty="0"/>
          </a:p>
          <a:p>
            <a:pPr lvl="4"/>
            <a:r>
              <a:rPr lang="en-US" dirty="0">
                <a:sym typeface="+mn-ea"/>
              </a:rPr>
              <a:t>Fifth level</a:t>
            </a:r>
            <a:endParaRPr lang="en-US" dirty="0"/>
          </a:p>
        </p:txBody>
      </p:sp>
      <p:sp>
        <p:nvSpPr>
          <p:cNvPr id="5" name="Date Placeholder 4"/>
          <p:cNvSpPr>
            <a:spLocks noGrp="1"/>
          </p:cNvSpPr>
          <p:nvPr>
            <p:ph type="dt" sz="half" idx="10"/>
          </p:nvPr>
        </p:nvSpPr>
        <p:spPr/>
        <p:txBody>
          <a:bodyPr/>
          <a:lstStyle/>
          <a:p>
            <a:fld id="{760FBDFE-C587-4B4C-A407-44438C67B59E}"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AE70B2-8BF9-45C0-BB95-33D1B9D3A854}" type="slidenum">
              <a:rPr lang="en-US" smtClean="0"/>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lvl1pPr>
              <a:defRPr sz="4400"/>
            </a:lvl1pPr>
          </a:lstStyle>
          <a:p>
            <a:r>
              <a:rPr lang="en-US" dirty="0">
                <a:sym typeface="+mn-ea"/>
              </a:rPr>
              <a:t>Click to edit Master title style</a:t>
            </a:r>
            <a:endParaRPr lang="en-US"/>
          </a:p>
        </p:txBody>
      </p:sp>
      <p:sp>
        <p:nvSpPr>
          <p:cNvPr id="3" name="Text Placeholder 2"/>
          <p:cNvSpPr>
            <a:spLocks noGrp="1"/>
          </p:cNvSpPr>
          <p:nvPr>
            <p:ph type="body" idx="1"/>
          </p:nvPr>
        </p:nvSpPr>
        <p:spPr>
          <a:xfrm>
            <a:off x="839788" y="1744961"/>
            <a:ext cx="5157787" cy="823912"/>
          </a:xfrm>
        </p:spPr>
        <p:txBody>
          <a:bodyPr anchor="b"/>
          <a:lstStyle>
            <a:lvl1pPr marL="0" indent="0">
              <a:buNone/>
              <a:defRPr sz="2400" b="1">
                <a:latin typeface="Calibri Light" panose="020F0302020204030204" pitchFamily="34" charset="0"/>
                <a:cs typeface="Calibri Light" panose="020F03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615609"/>
            <a:ext cx="5157787" cy="357405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atin typeface="Calibri Light" panose="020F0302020204030204" pitchFamily="34" charset="0"/>
                <a:cs typeface="Calibri Light" panose="020F03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内容占位符 5"/>
          <p:cNvSpPr>
            <a:spLocks noGrp="1"/>
          </p:cNvSpPr>
          <p:nvPr>
            <p:ph sz="quarter" idx="4"/>
          </p:nvPr>
        </p:nvSpPr>
        <p:spPr>
          <a:xfrm>
            <a:off x="6172200" y="2615609"/>
            <a:ext cx="5183188" cy="3574054"/>
          </a:xfrm>
        </p:spPr>
        <p:txBody>
          <a:bodyPr/>
          <a:lstStyle/>
          <a:p>
            <a:pPr lvl="0"/>
            <a:r>
              <a:rPr lang="en-US" dirty="0">
                <a:sym typeface="+mn-ea"/>
              </a:rPr>
              <a:t>Click to edit Master text styles</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760FBDFE-C587-4B4C-A407-44438C67B59E}" type="datetimeFigureOut">
              <a:rPr lang="en-US" smtClean="0"/>
              <a:t>12/15/2025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9AE70B2-8BF9-45C0-BB95-33D1B9D3A854}" type="slidenum">
              <a:rPr lang="en-US" smtClean="0"/>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2766219"/>
            <a:ext cx="10515600" cy="1325563"/>
          </a:xfrm>
        </p:spPr>
        <p:txBody>
          <a:bodyPr>
            <a:normAutofit/>
          </a:bodyPr>
          <a:lstStyle>
            <a:lvl1pPr algn="ctr">
              <a:defRPr sz="4400" b="0">
                <a:effectLst/>
                <a:latin typeface="Calibri Light" panose="020F0302020204030204" pitchFamily="34" charset="0"/>
                <a:cs typeface="Calibri Light" panose="020F0302020204030204" pitchFamily="34" charset="0"/>
              </a:defRPr>
            </a:lvl1pPr>
          </a:lstStyle>
          <a:p>
            <a:r>
              <a:rPr lang="en-US" dirty="0"/>
              <a:t>Click to edit Master title style</a:t>
            </a:r>
          </a:p>
        </p:txBody>
      </p:sp>
      <p:sp>
        <p:nvSpPr>
          <p:cNvPr id="3" name="Date Placeholder 2"/>
          <p:cNvSpPr>
            <a:spLocks noGrp="1"/>
          </p:cNvSpPr>
          <p:nvPr>
            <p:ph type="dt" sz="half" idx="10"/>
          </p:nvPr>
        </p:nvSpPr>
        <p:spPr/>
        <p:txBody>
          <a:bodyPr/>
          <a:lstStyle/>
          <a:p>
            <a:fld id="{760FBDFE-C587-4B4C-A407-44438C67B59E}" type="datetimeFigureOut">
              <a:rPr lang="en-US" smtClean="0"/>
              <a:t>12/15/2025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AE70B2-8BF9-45C0-BB95-33D1B9D3A854}" type="slidenum">
              <a:rPr lang="en-US" smtClean="0"/>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0FBDFE-C587-4B4C-A407-44438C67B59E}" type="datetimeFigureOut">
              <a:rPr lang="en-US" smtClean="0"/>
              <a:t>12/15/2025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9AE70B2-8BF9-45C0-BB95-33D1B9D3A854}" type="slidenum">
              <a:rPr lang="en-US" smtClean="0"/>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6747" y="127000"/>
            <a:ext cx="4165200" cy="1600200"/>
          </a:xfrm>
        </p:spPr>
        <p:txBody>
          <a:bodyPr anchor="ctr" anchorCtr="0">
            <a:normAutofit/>
          </a:bodyPr>
          <a:lstStyle>
            <a:lvl1pPr>
              <a:defRPr sz="3200" b="0">
                <a:effectLst/>
                <a:latin typeface="Calibri Light" panose="020F0302020204030204" pitchFamily="34" charset="0"/>
                <a:cs typeface="Calibri Light" panose="020F0302020204030204" pitchFamily="34" charset="0"/>
              </a:defRPr>
            </a:lvl1pPr>
          </a:lstStyle>
          <a:p>
            <a:r>
              <a:rPr lang="en-US" dirty="0"/>
              <a:t>Click to edit Master title style</a:t>
            </a:r>
          </a:p>
        </p:txBody>
      </p:sp>
      <p:sp>
        <p:nvSpPr>
          <p:cNvPr id="3" name="Picture Placeholder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9EFD9D74-47D9-4702-A33C-335B63B48DBF}" type="datetimeFigureOut">
              <a:rPr lang="en-US" smtClean="0"/>
              <a:t>12/15/2025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ABC47A4-756D-490B-A52F-7D9E2C9FC05F}" type="slidenum">
              <a:rPr lang="en-US" smtClean="0"/>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824484" y="365125"/>
            <a:ext cx="1529316" cy="5811838"/>
          </a:xfrm>
        </p:spPr>
        <p:txBody>
          <a:bodyPr vert="eaVert">
            <a:normAutofit/>
          </a:bodyPr>
          <a:lstStyle>
            <a:lvl1pPr>
              <a:defRPr sz="4400"/>
            </a:lvl1pPr>
          </a:lstStyle>
          <a:p>
            <a:r>
              <a:rPr lang="en-US"/>
              <a:t>Click to edit Master title style</a:t>
            </a:r>
          </a:p>
        </p:txBody>
      </p:sp>
      <p:sp>
        <p:nvSpPr>
          <p:cNvPr id="3" name="Vertical Text Placeholder 2"/>
          <p:cNvSpPr>
            <a:spLocks noGrp="1"/>
          </p:cNvSpPr>
          <p:nvPr>
            <p:ph type="body" orient="vert" idx="1"/>
          </p:nvPr>
        </p:nvSpPr>
        <p:spPr>
          <a:xfrm>
            <a:off x="838200" y="365125"/>
            <a:ext cx="8879958"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760FBDFE-C587-4B4C-A407-44438C67B59E}"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E70B2-8BF9-45C0-BB95-33D1B9D3A854}" type="slidenum">
              <a:rPr lang="en-US" smtClean="0"/>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60FBDFE-C587-4B4C-A407-44438C67B59E}" type="datetimeFigureOut">
              <a:rPr lang="en-US" smtClean="0"/>
              <a:t>12/15/2025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AE70B2-8BF9-45C0-BB95-33D1B9D3A854}" type="slidenum">
              <a:rPr lang="en-US" smtClean="0"/>
              <a:t>‹N°›</a:t>
            </a:fld>
            <a:endParaRPr lang="en-US"/>
          </a:p>
        </p:txBody>
      </p:sp>
      <p:sp>
        <p:nvSpPr>
          <p:cNvPr id="7" name="Content Placeholder 6"/>
          <p:cNvSpPr>
            <a:spLocks noGrp="1"/>
          </p:cNvSpPr>
          <p:nvPr>
            <p:ph sz="quarter" idx="13"/>
          </p:nvPr>
        </p:nvSpPr>
        <p:spPr>
          <a:xfrm>
            <a:off x="838200" y="551543"/>
            <a:ext cx="10515600" cy="5558971"/>
          </a:xfrm>
        </p:spPr>
        <p:txBody>
          <a:bodyPr/>
          <a:lstStyle/>
          <a:p>
            <a:pPr lvl="0"/>
            <a:r>
              <a:rPr lang="en-US" dirty="0">
                <a:sym typeface="+mn-ea"/>
              </a:rPr>
              <a:t>Click to edit Master text styles</a:t>
            </a:r>
            <a:endParaRPr lang="en-US" dirty="0"/>
          </a:p>
          <a:p>
            <a:pPr lvl="1"/>
            <a:r>
              <a:rPr lang="en-US" dirty="0">
                <a:sym typeface="+mn-ea"/>
              </a:rPr>
              <a:t>Second level</a:t>
            </a:r>
            <a:endParaRPr lang="en-US" dirty="0"/>
          </a:p>
          <a:p>
            <a:pPr lvl="2"/>
            <a:r>
              <a:rPr lang="en-US" dirty="0">
                <a:sym typeface="+mn-ea"/>
              </a:rPr>
              <a:t>Third level</a:t>
            </a:r>
            <a:endParaRPr lang="en-US" dirty="0"/>
          </a:p>
          <a:p>
            <a:pPr lvl="3"/>
            <a:r>
              <a:rPr lang="en-US" dirty="0">
                <a:sym typeface="+mn-ea"/>
              </a:rPr>
              <a:t>Fourth level</a:t>
            </a:r>
            <a:endParaRPr lang="en-US" dirty="0"/>
          </a:p>
          <a:p>
            <a:pPr lvl="4"/>
            <a:r>
              <a:rPr lang="en-US" dirty="0">
                <a:sym typeface="+mn-ea"/>
              </a:rPr>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9"/>
        <p:cNvGrpSpPr/>
        <p:nvPr/>
      </p:nvGrpSpPr>
      <p:grpSpPr>
        <a:xfrm>
          <a:off x="0" y="0"/>
          <a:ext cx="0" cy="0"/>
          <a:chOff x="0" y="0"/>
          <a:chExt cx="0" cy="0"/>
        </a:xfrm>
      </p:grpSpPr>
      <p:sp>
        <p:nvSpPr>
          <p:cNvPr id="100" name="Google Shape;100;g3aabd3d1b2d_0_195"/>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a:endParaRPr/>
          </a:p>
        </p:txBody>
      </p:sp>
      <p:sp>
        <p:nvSpPr>
          <p:cNvPr id="101" name="Google Shape;101;g3aabd3d1b2d_0_195"/>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lvl="0" indent="-381000" algn="l">
              <a:lnSpc>
                <a:spcPct val="115000"/>
              </a:lnSpc>
              <a:spcBef>
                <a:spcPts val="0"/>
              </a:spcBef>
              <a:spcAft>
                <a:spcPts val="0"/>
              </a:spcAft>
              <a:buSzPts val="2400"/>
              <a:buChar char="●"/>
              <a:defRPr/>
            </a:lvl1pPr>
            <a:lvl2pPr marL="914400" lvl="1" indent="-349250" algn="l">
              <a:lnSpc>
                <a:spcPct val="115000"/>
              </a:lnSpc>
              <a:spcBef>
                <a:spcPts val="0"/>
              </a:spcBef>
              <a:spcAft>
                <a:spcPts val="0"/>
              </a:spcAft>
              <a:buSzPts val="1900"/>
              <a:buChar char="○"/>
              <a:defRPr/>
            </a:lvl2pPr>
            <a:lvl3pPr marL="1371600" lvl="2" indent="-349250" algn="l">
              <a:lnSpc>
                <a:spcPct val="115000"/>
              </a:lnSpc>
              <a:spcBef>
                <a:spcPts val="0"/>
              </a:spcBef>
              <a:spcAft>
                <a:spcPts val="0"/>
              </a:spcAft>
              <a:buSzPts val="1900"/>
              <a:buChar char="■"/>
              <a:defRPr/>
            </a:lvl3pPr>
            <a:lvl4pPr marL="1828800" lvl="3" indent="-349250" algn="l">
              <a:lnSpc>
                <a:spcPct val="115000"/>
              </a:lnSpc>
              <a:spcBef>
                <a:spcPts val="0"/>
              </a:spcBef>
              <a:spcAft>
                <a:spcPts val="0"/>
              </a:spcAft>
              <a:buSzPts val="1900"/>
              <a:buChar char="●"/>
              <a:defRPr/>
            </a:lvl4pPr>
            <a:lvl5pPr marL="2286000" lvl="4" indent="-349250" algn="l">
              <a:lnSpc>
                <a:spcPct val="115000"/>
              </a:lnSpc>
              <a:spcBef>
                <a:spcPts val="0"/>
              </a:spcBef>
              <a:spcAft>
                <a:spcPts val="0"/>
              </a:spcAft>
              <a:buSzPts val="1900"/>
              <a:buChar char="○"/>
              <a:defRPr/>
            </a:lvl5pPr>
            <a:lvl6pPr marL="2743200" lvl="5" indent="-349250" algn="l">
              <a:lnSpc>
                <a:spcPct val="115000"/>
              </a:lnSpc>
              <a:spcBef>
                <a:spcPts val="0"/>
              </a:spcBef>
              <a:spcAft>
                <a:spcPts val="0"/>
              </a:spcAft>
              <a:buSzPts val="1900"/>
              <a:buChar char="■"/>
              <a:defRPr/>
            </a:lvl6pPr>
            <a:lvl7pPr marL="3200400" lvl="6" indent="-349250" algn="l">
              <a:lnSpc>
                <a:spcPct val="115000"/>
              </a:lnSpc>
              <a:spcBef>
                <a:spcPts val="0"/>
              </a:spcBef>
              <a:spcAft>
                <a:spcPts val="0"/>
              </a:spcAft>
              <a:buSzPts val="1900"/>
              <a:buChar char="●"/>
              <a:defRPr/>
            </a:lvl7pPr>
            <a:lvl8pPr marL="3657600" lvl="7" indent="-349250" algn="l">
              <a:lnSpc>
                <a:spcPct val="115000"/>
              </a:lnSpc>
              <a:spcBef>
                <a:spcPts val="0"/>
              </a:spcBef>
              <a:spcAft>
                <a:spcPts val="0"/>
              </a:spcAft>
              <a:buSzPts val="1900"/>
              <a:buChar char="○"/>
              <a:defRPr/>
            </a:lvl8pPr>
            <a:lvl9pPr marL="4114800" lvl="8" indent="-349250" algn="l">
              <a:lnSpc>
                <a:spcPct val="115000"/>
              </a:lnSpc>
              <a:spcBef>
                <a:spcPts val="0"/>
              </a:spcBef>
              <a:spcAft>
                <a:spcPts val="0"/>
              </a:spcAft>
              <a:buSzPts val="1900"/>
              <a:buChar char="■"/>
              <a:defRPr/>
            </a:lvl9pPr>
          </a:lstStyle>
          <a:p>
            <a:endParaRPr/>
          </a:p>
        </p:txBody>
      </p:sp>
      <p:sp>
        <p:nvSpPr>
          <p:cNvPr id="102" name="Google Shape;102;g3aabd3d1b2d_0_195"/>
          <p:cNvSpPr txBox="1">
            <a:spLocks noGrp="1"/>
          </p:cNvSpPr>
          <p:nvPr>
            <p:ph type="sldNum" idx="12"/>
          </p:nvPr>
        </p:nvSpPr>
        <p:spPr>
          <a:xfrm>
            <a:off x="11296611" y="6217623"/>
            <a:ext cx="731700" cy="524700"/>
          </a:xfrm>
          <a:prstGeom prst="rect">
            <a:avLst/>
          </a:prstGeom>
          <a:noFill/>
          <a:ln>
            <a:noFill/>
          </a:ln>
        </p:spPr>
        <p:txBody>
          <a:bodyPr spcFirstLastPara="1" wrap="square" lIns="121900" tIns="121900" rIns="121900" bIns="121900" anchor="ctr" anchorCtr="0">
            <a:normAutofit/>
          </a:bodyPr>
          <a:lstStyle>
            <a:lvl1pPr marL="0" marR="0" lvl="0"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300"/>
              <a:buFont typeface="Arial" panose="020B0604020202020204"/>
              <a:buNone/>
              <a:defRPr sz="13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defRPr/>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baseline="0">
                <a:solidFill>
                  <a:schemeClr val="tx1">
                    <a:tint val="75000"/>
                  </a:schemeClr>
                </a:solidFill>
              </a:defRPr>
            </a:lvl1pPr>
          </a:lstStyle>
          <a:p>
            <a:fld id="{760FBDFE-C587-4B4C-A407-44438C67B59E}" type="datetimeFigureOut">
              <a:rPr lang="en-US" smtClean="0"/>
              <a:t>12/15/2025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latin typeface="Calibri Light" panose="020F0302020204030204" pitchFamily="34" charset="0"/>
                <a:cs typeface="Calibri Light" panose="020F0302020204030204" pitchFamily="34" charset="0"/>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latin typeface="Calibri Light" panose="020F0302020204030204" pitchFamily="34" charset="0"/>
                <a:cs typeface="Calibri Light" panose="020F0302020204030204" pitchFamily="34" charset="0"/>
              </a:defRPr>
            </a:lvl1pPr>
          </a:lstStyle>
          <a:p>
            <a:fld id="{49AE70B2-8BF9-45C0-BB95-33D1B9D3A854}" type="slidenum">
              <a:rPr lang="en-US" smtClean="0"/>
              <a:t>‹N°›</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000" kern="1200">
          <a:solidFill>
            <a:schemeClr val="tx1"/>
          </a:solidFill>
          <a:latin typeface="Calibri Light" panose="020F0302020204030204" pitchFamily="34" charset="0"/>
          <a:ea typeface="+mj-ea"/>
          <a:cs typeface="+mj-cs"/>
        </a:defRPr>
      </a:lvl1pPr>
    </p:titleStyle>
    <p:body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2800" b="0" kern="1200">
          <a:solidFill>
            <a:schemeClr val="tx1"/>
          </a:solidFill>
          <a:latin typeface="Calibri Light" panose="020F03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chemeClr val="tx1"/>
          </a:solidFill>
          <a:latin typeface="Calibri Light" panose="020F03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chemeClr val="tx1"/>
          </a:solidFill>
          <a:effectLst/>
          <a:latin typeface="Calibri Light" panose="020F0302020204030204" pitchFamily="34" charset="0"/>
          <a:ea typeface="+mn-ea"/>
          <a:cs typeface="Calibri Light" panose="020F03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effectLst/>
          <a:latin typeface="Calibri Light" panose="020F0302020204030204" pitchFamily="34" charset="0"/>
          <a:ea typeface="+mn-ea"/>
          <a:cs typeface="Calibri Light" panose="020F03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effectLst/>
          <a:latin typeface="Calibri Light" panose="020F0302020204030204" pitchFamily="34" charset="0"/>
          <a:ea typeface="+mn-ea"/>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1.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1.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1.xml"/><Relationship Id="rId1" Type="http://schemas.openxmlformats.org/officeDocument/2006/relationships/tags" Target="../tags/tag3.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1.xml"/><Relationship Id="rId1" Type="http://schemas.openxmlformats.org/officeDocument/2006/relationships/tags" Target="../tags/tag4.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1.xml"/><Relationship Id="rId1" Type="http://schemas.openxmlformats.org/officeDocument/2006/relationships/tags" Target="../tags/tag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1.xml"/><Relationship Id="rId1" Type="http://schemas.openxmlformats.org/officeDocument/2006/relationships/tags" Target="../tags/tag6.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1.xml"/><Relationship Id="rId1" Type="http://schemas.openxmlformats.org/officeDocument/2006/relationships/tags" Target="../tags/tag7.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1.xml"/><Relationship Id="rId1" Type="http://schemas.openxmlformats.org/officeDocument/2006/relationships/tags" Target="../tags/tag8.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1.xml"/><Relationship Id="rId1" Type="http://schemas.openxmlformats.org/officeDocument/2006/relationships/tags" Target="../tags/tag9.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1.xml"/><Relationship Id="rId1" Type="http://schemas.openxmlformats.org/officeDocument/2006/relationships/tags" Target="../tags/tag10.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1.xml"/><Relationship Id="rId1" Type="http://schemas.openxmlformats.org/officeDocument/2006/relationships/tags" Target="../tags/tag1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1.xml"/><Relationship Id="rId1" Type="http://schemas.openxmlformats.org/officeDocument/2006/relationships/tags" Target="../tags/tag1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1.xml"/><Relationship Id="rId1" Type="http://schemas.openxmlformats.org/officeDocument/2006/relationships/tags" Target="../tags/tag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pic>
        <p:nvPicPr>
          <p:cNvPr id="147" name="Google Shape;147;g3aabd3d1b2d_0_149"/>
          <p:cNvPicPr preferRelativeResize="0"/>
          <p:nvPr/>
        </p:nvPicPr>
        <p:blipFill rotWithShape="1">
          <a:blip r:embed="rId3"/>
          <a:srcRect l="-17785"/>
          <a:stretch>
            <a:fillRect/>
          </a:stretch>
        </p:blipFill>
        <p:spPr>
          <a:xfrm>
            <a:off x="-681739" y="1646127"/>
            <a:ext cx="4525279" cy="3703095"/>
          </a:xfrm>
          <a:prstGeom prst="rect">
            <a:avLst/>
          </a:prstGeom>
          <a:noFill/>
          <a:ln>
            <a:noFill/>
          </a:ln>
        </p:spPr>
      </p:pic>
      <p:sp>
        <p:nvSpPr>
          <p:cNvPr id="148" name="Google Shape;148;g3aabd3d1b2d_0_149"/>
          <p:cNvSpPr txBox="1"/>
          <p:nvPr/>
        </p:nvSpPr>
        <p:spPr>
          <a:xfrm>
            <a:off x="4210333" y="1516433"/>
            <a:ext cx="7894800" cy="186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3200"/>
              <a:buFont typeface="Arial" panose="020B0604020202020204"/>
              <a:buNone/>
            </a:pPr>
            <a:r>
              <a:rPr lang="fr-FR" sz="4000" b="1" noProof="0">
                <a:solidFill>
                  <a:srgbClr val="1155CC"/>
                </a:solidFill>
                <a:latin typeface="Times New Roman" panose="02020603050405020304"/>
                <a:ea typeface="Times New Roman" panose="02020603050405020304"/>
                <a:cs typeface="Times New Roman" panose="02020603050405020304"/>
                <a:sym typeface="Times New Roman" panose="02020603050405020304"/>
              </a:rPr>
              <a:t>Revue annuelle 2025</a:t>
            </a:r>
          </a:p>
          <a:p>
            <a:pPr marL="0" marR="0" lvl="0" indent="0" algn="l" rtl="0">
              <a:lnSpc>
                <a:spcPct val="100000"/>
              </a:lnSpc>
              <a:spcBef>
                <a:spcPts val="0"/>
              </a:spcBef>
              <a:spcAft>
                <a:spcPts val="0"/>
              </a:spcAft>
              <a:buClr>
                <a:srgbClr val="000000"/>
              </a:buClr>
              <a:buSzPts val="3200"/>
              <a:buFont typeface="Arial" panose="020B0604020202020204"/>
              <a:buNone/>
            </a:pPr>
            <a:r>
              <a:rPr lang="fr-FR" sz="4000" b="1" i="1" noProof="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Présentation de CHAI, </a:t>
            </a:r>
          </a:p>
          <a:p>
            <a:pPr marL="0" marR="0" lvl="0" indent="0" algn="l" rtl="0">
              <a:lnSpc>
                <a:spcPct val="100000"/>
              </a:lnSpc>
              <a:spcBef>
                <a:spcPts val="0"/>
              </a:spcBef>
              <a:spcAft>
                <a:spcPts val="0"/>
              </a:spcAft>
              <a:buClr>
                <a:srgbClr val="000000"/>
              </a:buClr>
              <a:buSzPts val="3200"/>
              <a:buFont typeface="Arial" panose="020B0604020202020204"/>
              <a:buNone/>
            </a:pPr>
            <a:r>
              <a:rPr lang="fr-FR" sz="4000" b="1" i="1" noProof="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PTF en appui à la vaccination</a:t>
            </a:r>
          </a:p>
        </p:txBody>
      </p:sp>
      <p:sp>
        <p:nvSpPr>
          <p:cNvPr id="149" name="Google Shape;149;g3aabd3d1b2d_0_149"/>
          <p:cNvSpPr/>
          <p:nvPr/>
        </p:nvSpPr>
        <p:spPr>
          <a:xfrm>
            <a:off x="3661467" y="1516428"/>
            <a:ext cx="373500" cy="1867200"/>
          </a:xfrm>
          <a:prstGeom prst="rect">
            <a:avLst/>
          </a:prstGeom>
          <a:solidFill>
            <a:srgbClr val="00B0F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700"/>
              <a:buFont typeface="Arial" panose="020B0604020202020204"/>
              <a:buNone/>
            </a:pPr>
            <a:endParaRPr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0" name="Google Shape;150;g3aabd3d1b2d_0_149"/>
          <p:cNvSpPr/>
          <p:nvPr/>
        </p:nvSpPr>
        <p:spPr>
          <a:xfrm>
            <a:off x="3659879" y="1516428"/>
            <a:ext cx="373500" cy="1867200"/>
          </a:xfrm>
          <a:prstGeom prst="rect">
            <a:avLst/>
          </a:prstGeom>
          <a:solidFill>
            <a:srgbClr val="1155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700"/>
              <a:buFont typeface="Arial" panose="020B0604020202020204"/>
              <a:buNone/>
            </a:pPr>
            <a:endParaRPr sz="17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1" name="Google Shape;151;g3aabd3d1b2d_0_149"/>
          <p:cNvSpPr txBox="1"/>
          <p:nvPr/>
        </p:nvSpPr>
        <p:spPr>
          <a:xfrm>
            <a:off x="4717875" y="6162200"/>
            <a:ext cx="4525200" cy="3987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3200"/>
              <a:buFont typeface="Arial" panose="020B0604020202020204"/>
              <a:buNone/>
            </a:pPr>
            <a:r>
              <a:rPr lang="en-US" sz="2000" b="1">
                <a:solidFill>
                  <a:srgbClr val="1155CC"/>
                </a:solidFill>
                <a:latin typeface="Times New Roman" panose="02020603050405020304"/>
                <a:ea typeface="Times New Roman" panose="02020603050405020304"/>
                <a:cs typeface="Times New Roman" panose="02020603050405020304"/>
                <a:sym typeface="Times New Roman" panose="02020603050405020304"/>
              </a:rPr>
              <a:t>Decembre 2025</a:t>
            </a:r>
            <a:endParaRPr sz="2000" b="1">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g3aabd3d1b2d_0_156"/>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7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Agenda</a:t>
            </a: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7" name="Google Shape;157;g3aabd3d1b2d_0_156"/>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8" name="Google Shape;158;g3aabd3d1b2d_0_156"/>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9" name="Google Shape;159;g3aabd3d1b2d_0_156"/>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2</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sp>
        <p:nvSpPr>
          <p:cNvPr id="160" name="Google Shape;160;g3aabd3d1b2d_0_156"/>
          <p:cNvSpPr txBox="1"/>
          <p:nvPr/>
        </p:nvSpPr>
        <p:spPr>
          <a:xfrm>
            <a:off x="566533" y="1187280"/>
            <a:ext cx="10714500" cy="4363720"/>
          </a:xfrm>
          <a:prstGeom prst="rect">
            <a:avLst/>
          </a:prstGeom>
          <a:noFill/>
          <a:ln>
            <a:noFill/>
          </a:ln>
        </p:spPr>
        <p:txBody>
          <a:bodyPr spcFirstLastPara="1" wrap="square" lIns="121900" tIns="121900" rIns="121900" bIns="121900" anchor="t" anchorCtr="0">
            <a:spAutoFit/>
          </a:bodyPr>
          <a:lstStyle/>
          <a:p>
            <a:pPr marL="609600" marR="0" lvl="0" indent="-476250" algn="l" rtl="0">
              <a:lnSpc>
                <a:spcPct val="100000"/>
              </a:lnSpc>
              <a:spcBef>
                <a:spcPts val="1300"/>
              </a:spcBef>
              <a:spcAft>
                <a:spcPts val="0"/>
              </a:spcAft>
              <a:buClr>
                <a:schemeClr val="dk1"/>
              </a:buClr>
              <a:buSzPts val="2700"/>
              <a:buFont typeface="Times New Roman" panose="02020603050405020304"/>
              <a:buAutoNum type="arabicPeriod"/>
            </a:pP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Présentation de l</a:t>
            </a:r>
            <a:r>
              <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’organisation</a:t>
            </a:r>
          </a:p>
          <a:p>
            <a:pPr marL="609600" marR="0" lvl="0" indent="-476250" algn="l" rtl="0">
              <a:lnSpc>
                <a:spcPct val="100000"/>
              </a:lnSpc>
              <a:spcBef>
                <a:spcPts val="1300"/>
              </a:spcBef>
              <a:spcAft>
                <a:spcPts val="0"/>
              </a:spcAft>
              <a:buClr>
                <a:schemeClr val="dk1"/>
              </a:buClr>
              <a:buSzPts val="2700"/>
              <a:buFont typeface="Times New Roman" panose="02020603050405020304"/>
              <a:buAutoNum type="arabicPeriod"/>
            </a:pPr>
            <a:r>
              <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Axe d’appui au PEV</a:t>
            </a:r>
          </a:p>
          <a:p>
            <a:pPr marL="609600" marR="0" lvl="0" indent="-476250" algn="l" rtl="0">
              <a:lnSpc>
                <a:spcPct val="100000"/>
              </a:lnSpc>
              <a:spcBef>
                <a:spcPts val="1300"/>
              </a:spcBef>
              <a:spcAft>
                <a:spcPts val="0"/>
              </a:spcAft>
              <a:buClr>
                <a:schemeClr val="dk1"/>
              </a:buClr>
              <a:buSzPts val="2700"/>
              <a:buFont typeface="Times New Roman" panose="02020603050405020304"/>
              <a:buAutoNum type="arabicPeriod"/>
            </a:pPr>
            <a:r>
              <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Redevabilité financière</a:t>
            </a:r>
          </a:p>
          <a:p>
            <a:pPr marL="609600" marR="0" lvl="0" indent="-476250" algn="l" rtl="0">
              <a:lnSpc>
                <a:spcPct val="100000"/>
              </a:lnSpc>
              <a:spcBef>
                <a:spcPts val="1300"/>
              </a:spcBef>
              <a:spcAft>
                <a:spcPts val="0"/>
              </a:spcAft>
              <a:buClr>
                <a:schemeClr val="dk1"/>
              </a:buClr>
              <a:buSzPts val="2700"/>
              <a:buFont typeface="Times New Roman" panose="02020603050405020304"/>
              <a:buAutoNum type="arabicPeriod"/>
            </a:pPr>
            <a:r>
              <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Réalisations majeurs de l’année</a:t>
            </a:r>
          </a:p>
          <a:p>
            <a:pPr marL="609600" marR="0" lvl="0" indent="-476250" algn="l" rtl="0">
              <a:lnSpc>
                <a:spcPct val="100000"/>
              </a:lnSpc>
              <a:spcBef>
                <a:spcPts val="1300"/>
              </a:spcBef>
              <a:spcAft>
                <a:spcPts val="0"/>
              </a:spcAft>
              <a:buClr>
                <a:schemeClr val="dk1"/>
              </a:buClr>
              <a:buSzPts val="2700"/>
              <a:buFont typeface="Times New Roman" panose="02020603050405020304"/>
              <a:buAutoNum type="arabicPeriod"/>
            </a:pPr>
            <a:r>
              <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Defis rencontrés</a:t>
            </a:r>
          </a:p>
          <a:p>
            <a:pPr marL="609600" marR="0" lvl="0" indent="-476250" algn="l" rtl="0">
              <a:lnSpc>
                <a:spcPct val="100000"/>
              </a:lnSpc>
              <a:spcBef>
                <a:spcPts val="1300"/>
              </a:spcBef>
              <a:spcAft>
                <a:spcPts val="0"/>
              </a:spcAft>
              <a:buClr>
                <a:schemeClr val="dk1"/>
              </a:buClr>
              <a:buSzPts val="2700"/>
              <a:buFont typeface="Times New Roman" panose="02020603050405020304"/>
              <a:buAutoNum type="arabicPeriod"/>
            </a:pPr>
            <a:r>
              <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solutions apportées et leçons apprises</a:t>
            </a:r>
          </a:p>
          <a:p>
            <a:pPr marL="609600" marR="0" lvl="0" indent="-476250" algn="l" rtl="0">
              <a:lnSpc>
                <a:spcPct val="100000"/>
              </a:lnSpc>
              <a:spcBef>
                <a:spcPts val="1300"/>
              </a:spcBef>
              <a:spcAft>
                <a:spcPts val="0"/>
              </a:spcAft>
              <a:buClr>
                <a:schemeClr val="dk1"/>
              </a:buClr>
              <a:buSzPts val="2700"/>
              <a:buFont typeface="Times New Roman" panose="02020603050405020304"/>
              <a:buAutoNum type="arabicPeriod"/>
            </a:pPr>
            <a:r>
              <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Priorités et engagement pour 2026 </a:t>
            </a:r>
          </a:p>
          <a:p>
            <a:pPr marL="609600" marR="0" lvl="0" indent="-476250" algn="l" rtl="0">
              <a:lnSpc>
                <a:spcPct val="100000"/>
              </a:lnSpc>
              <a:spcBef>
                <a:spcPts val="1300"/>
              </a:spcBef>
              <a:spcAft>
                <a:spcPts val="0"/>
              </a:spcAft>
              <a:buClr>
                <a:schemeClr val="dk1"/>
              </a:buClr>
              <a:buSzPts val="2700"/>
              <a:buFont typeface="Times New Roman" panose="02020603050405020304"/>
              <a:buAutoNum type="arabicPeriod"/>
            </a:pPr>
            <a:r>
              <a:rPr lang="en-US" alt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Besoin de collaboration et plaidoyer</a:t>
            </a:r>
            <a:endParaRPr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aabd3d1b2d_0_290"/>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400" b="0" i="0" u="none" strike="noStrike" cap="none" dirty="0" err="1">
                <a:solidFill>
                  <a:srgbClr val="1155CC"/>
                </a:solidFill>
                <a:latin typeface="Times New Roman" panose="02020603050405020304"/>
                <a:ea typeface="Times New Roman" panose="02020603050405020304"/>
                <a:cs typeface="Times New Roman" panose="02020603050405020304"/>
                <a:sym typeface="Times New Roman" panose="02020603050405020304"/>
              </a:rPr>
              <a:t>Présentation</a:t>
            </a:r>
            <a:r>
              <a:rPr lang="en-US" sz="24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 de </a:t>
            </a:r>
            <a:r>
              <a:rPr lang="en-US" sz="2400" b="0" i="0" u="none" strike="noStrike" cap="none" dirty="0" err="1">
                <a:solidFill>
                  <a:srgbClr val="1155CC"/>
                </a:solidFill>
                <a:latin typeface="Times New Roman" panose="02020603050405020304"/>
                <a:ea typeface="Times New Roman" panose="02020603050405020304"/>
                <a:cs typeface="Times New Roman" panose="02020603050405020304"/>
                <a:sym typeface="Times New Roman" panose="02020603050405020304"/>
              </a:rPr>
              <a:t>l’organisation</a:t>
            </a:r>
            <a:endParaRPr sz="24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4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3</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sp>
        <p:nvSpPr>
          <p:cNvPr id="2" name="Zone de texte 1"/>
          <p:cNvSpPr txBox="1"/>
          <p:nvPr/>
        </p:nvSpPr>
        <p:spPr>
          <a:xfrm>
            <a:off x="662807" y="927441"/>
            <a:ext cx="10850086" cy="5175499"/>
          </a:xfrm>
          <a:prstGeom prst="rect">
            <a:avLst/>
          </a:prstGeom>
          <a:noFill/>
        </p:spPr>
        <p:txBody>
          <a:bodyPr wrap="square" rtlCol="0">
            <a:noAutofit/>
          </a:bodyPr>
          <a:lstStyle/>
          <a:p>
            <a:pPr marL="285750" indent="-285750">
              <a:buFont typeface="Arial" panose="020B0604020202020204" pitchFamily="34" charset="0"/>
              <a:buChar char="•"/>
            </a:pPr>
            <a:r>
              <a:rPr lang="fr-FR" altLang="en-US" sz="2000" dirty="0"/>
              <a:t>Année création de l’organisation : </a:t>
            </a:r>
            <a:r>
              <a:rPr lang="fr-FR" altLang="en-US" sz="2000" b="1" dirty="0">
                <a:solidFill>
                  <a:schemeClr val="accent1">
                    <a:lumMod val="75000"/>
                  </a:schemeClr>
                </a:solidFill>
              </a:rPr>
              <a:t>2002</a:t>
            </a:r>
            <a:r>
              <a:rPr lang="fr-FR" altLang="en-US" sz="2000" dirty="0"/>
              <a:t> </a:t>
            </a:r>
          </a:p>
          <a:p>
            <a:pPr marL="285750" indent="-285750">
              <a:buFont typeface="Arial" panose="020B0604020202020204" pitchFamily="34" charset="0"/>
              <a:buChar char="•"/>
            </a:pPr>
            <a:endParaRPr lang="fr-FR" altLang="en-US" sz="2000" dirty="0"/>
          </a:p>
          <a:p>
            <a:pPr marL="285750" indent="-285750">
              <a:buFont typeface="Arial" panose="020B0604020202020204" pitchFamily="34" charset="0"/>
              <a:buChar char="•"/>
            </a:pPr>
            <a:r>
              <a:rPr lang="fr-FR" altLang="en-US" sz="2000" dirty="0"/>
              <a:t>Mandat : </a:t>
            </a:r>
            <a:r>
              <a:rPr lang="fr-FR" altLang="en-US" sz="2000" b="1" dirty="0">
                <a:solidFill>
                  <a:schemeClr val="accent1">
                    <a:lumMod val="75000"/>
                  </a:schemeClr>
                </a:solidFill>
              </a:rPr>
              <a:t>Sauver des vies, contribuer à la réduction de la charge de morbidité de la maladie et à la création </a:t>
            </a:r>
            <a:r>
              <a:rPr lang="fr-FR" sz="2000" b="1" dirty="0">
                <a:solidFill>
                  <a:schemeClr val="accent1">
                    <a:lumMod val="75000"/>
                  </a:schemeClr>
                </a:solidFill>
              </a:rPr>
              <a:t>de systèmes de soins de santé de haute qualité. </a:t>
            </a:r>
          </a:p>
          <a:p>
            <a:pPr marL="285750" indent="-285750">
              <a:buFont typeface="Arial" panose="020B0604020202020204" pitchFamily="34" charset="0"/>
              <a:buChar char="•"/>
            </a:pPr>
            <a:endParaRPr lang="fr-FR" sz="2000" b="1" dirty="0">
              <a:solidFill>
                <a:schemeClr val="accent1">
                  <a:lumMod val="75000"/>
                </a:schemeClr>
              </a:solidFill>
            </a:endParaRPr>
          </a:p>
          <a:p>
            <a:pPr marL="285750" indent="-285750">
              <a:buFont typeface="Arial" panose="020B0604020202020204" pitchFamily="34" charset="0"/>
              <a:buChar char="•"/>
            </a:pPr>
            <a:r>
              <a:rPr lang="fr-FR" altLang="en-US" sz="2000" dirty="0"/>
              <a:t>Mission : </a:t>
            </a:r>
            <a:r>
              <a:rPr lang="fr-FR" sz="2000" b="1" dirty="0">
                <a:solidFill>
                  <a:schemeClr val="accent1">
                    <a:lumMod val="75000"/>
                  </a:schemeClr>
                </a:solidFill>
              </a:rPr>
              <a:t>Œuvrer en collaboration avec le gouvernement hôte et le secteur privé de la santé pour promouvoir un accès plus équitable aux soins de santé. </a:t>
            </a:r>
          </a:p>
          <a:p>
            <a:pPr marL="285750" indent="-285750">
              <a:buFont typeface="Arial" panose="020B0604020202020204" pitchFamily="34" charset="0"/>
              <a:buChar char="•"/>
            </a:pPr>
            <a:endParaRPr lang="fr-FR" sz="2000" b="1" dirty="0">
              <a:solidFill>
                <a:schemeClr val="accent1">
                  <a:lumMod val="75000"/>
                </a:schemeClr>
              </a:solidFill>
            </a:endParaRPr>
          </a:p>
          <a:p>
            <a:pPr marL="285750" indent="-285750">
              <a:buFont typeface="Arial" panose="020B0604020202020204" pitchFamily="34" charset="0"/>
              <a:buChar char="•"/>
            </a:pPr>
            <a:r>
              <a:rPr lang="fr-FR" altLang="en-US" sz="2000" dirty="0"/>
              <a:t>Nombre d’année présence en RDC : </a:t>
            </a:r>
            <a:r>
              <a:rPr lang="fr-FR" altLang="en-US" sz="2000" b="1" dirty="0">
                <a:solidFill>
                  <a:schemeClr val="accent1">
                    <a:lumMod val="75000"/>
                  </a:schemeClr>
                </a:solidFill>
              </a:rPr>
              <a:t>10 ans (2015)</a:t>
            </a:r>
          </a:p>
          <a:p>
            <a:pPr marL="285750" indent="-285750">
              <a:buFont typeface="Arial" panose="020B0604020202020204" pitchFamily="34" charset="0"/>
              <a:buChar char="•"/>
            </a:pPr>
            <a:endParaRPr lang="fr-FR" altLang="en-US" sz="2000" b="1" dirty="0">
              <a:solidFill>
                <a:schemeClr val="accent1">
                  <a:lumMod val="75000"/>
                </a:schemeClr>
              </a:solidFill>
            </a:endParaRPr>
          </a:p>
          <a:p>
            <a:pPr marL="285750" indent="-285750">
              <a:buFont typeface="Arial" panose="020B0604020202020204" pitchFamily="34" charset="0"/>
              <a:buChar char="•"/>
            </a:pPr>
            <a:r>
              <a:rPr lang="fr-FR" altLang="en-US" sz="2000" dirty="0"/>
              <a:t>Nombre d’année appui au PEV : </a:t>
            </a:r>
            <a:r>
              <a:rPr lang="fr-FR" altLang="en-US" sz="2000" b="1" dirty="0">
                <a:solidFill>
                  <a:schemeClr val="accent1">
                    <a:lumMod val="75000"/>
                  </a:schemeClr>
                </a:solidFill>
              </a:rPr>
              <a:t>5 ans </a:t>
            </a:r>
            <a:r>
              <a:rPr lang="fr-FR" altLang="en-US" sz="2000" dirty="0"/>
              <a:t>(</a:t>
            </a:r>
            <a:r>
              <a:rPr lang="fr-FR" altLang="en-US" sz="2000" dirty="0" err="1"/>
              <a:t>eLMIS</a:t>
            </a:r>
            <a:r>
              <a:rPr lang="fr-FR" altLang="en-US" sz="2000" dirty="0"/>
              <a:t>, </a:t>
            </a:r>
            <a:r>
              <a:rPr lang="fr-FR" altLang="en-US" sz="2000" dirty="0" err="1"/>
              <a:t>MalVac</a:t>
            </a:r>
            <a:r>
              <a:rPr lang="fr-FR" altLang="en-US" sz="2000" dirty="0"/>
              <a:t>, Fin Dom, ICD …)</a:t>
            </a:r>
          </a:p>
          <a:p>
            <a:pPr marL="285750" indent="-285750">
              <a:buFont typeface="Arial" panose="020B0604020202020204" pitchFamily="34" charset="0"/>
              <a:buChar char="•"/>
            </a:pPr>
            <a:endParaRPr lang="fr-FR" altLang="en-US" sz="2000" dirty="0"/>
          </a:p>
          <a:p>
            <a:pPr marL="285750" indent="-285750">
              <a:buFont typeface="Arial" panose="020B0604020202020204" pitchFamily="34" charset="0"/>
              <a:buChar char="•"/>
            </a:pPr>
            <a:r>
              <a:rPr lang="fr-FR" altLang="en-US" sz="2000" dirty="0"/>
              <a:t>Zone d’intervention en RDC : </a:t>
            </a:r>
          </a:p>
          <a:p>
            <a:pPr marL="914400" lvl="1" indent="-457200">
              <a:buFont typeface="Courier New" panose="02070309020205020404" pitchFamily="49" charset="0"/>
              <a:buChar char="o"/>
            </a:pPr>
            <a:r>
              <a:rPr lang="fr-FR" altLang="en-US" sz="2000" b="1" dirty="0">
                <a:solidFill>
                  <a:schemeClr val="accent1">
                    <a:lumMod val="75000"/>
                  </a:schemeClr>
                </a:solidFill>
              </a:rPr>
              <a:t>Kinshasa (Direction) </a:t>
            </a:r>
          </a:p>
          <a:p>
            <a:pPr marL="914400" lvl="1" indent="-457200">
              <a:buFont typeface="Courier New" panose="02070309020205020404" pitchFamily="49" charset="0"/>
              <a:buChar char="o"/>
            </a:pPr>
            <a:r>
              <a:rPr lang="fr-FR" altLang="en-US" sz="2000" b="1" dirty="0" err="1">
                <a:solidFill>
                  <a:schemeClr val="accent1">
                    <a:lumMod val="75000"/>
                  </a:schemeClr>
                </a:solidFill>
              </a:rPr>
              <a:t>Tshopo</a:t>
            </a:r>
            <a:r>
              <a:rPr lang="fr-FR" altLang="en-US" sz="2000" b="1" dirty="0">
                <a:solidFill>
                  <a:schemeClr val="accent1">
                    <a:lumMod val="75000"/>
                  </a:schemeClr>
                </a:solidFill>
              </a:rPr>
              <a:t>, </a:t>
            </a:r>
            <a:r>
              <a:rPr lang="fr-FR" altLang="en-US" sz="2000" b="1" dirty="0" err="1">
                <a:solidFill>
                  <a:schemeClr val="accent1">
                    <a:lumMod val="75000"/>
                  </a:schemeClr>
                </a:solidFill>
              </a:rPr>
              <a:t>Kasai</a:t>
            </a:r>
            <a:r>
              <a:rPr lang="fr-FR" altLang="en-US" sz="2000" b="1" dirty="0">
                <a:solidFill>
                  <a:schemeClr val="accent1">
                    <a:lumMod val="75000"/>
                  </a:schemeClr>
                </a:solidFill>
              </a:rPr>
              <a:t> Oriental, Haut-Katanga </a:t>
            </a:r>
          </a:p>
          <a:p>
            <a:pPr marL="914400" lvl="1" indent="-457200">
              <a:buFont typeface="Courier New" panose="02070309020205020404" pitchFamily="49" charset="0"/>
              <a:buChar char="o"/>
            </a:pPr>
            <a:r>
              <a:rPr lang="fr-FR" altLang="en-US" sz="2000" b="1" dirty="0">
                <a:solidFill>
                  <a:schemeClr val="accent1">
                    <a:lumMod val="75000"/>
                  </a:schemeClr>
                </a:solidFill>
              </a:rPr>
              <a:t>Kongo Central, Equateur, Nord-Ubangi, Sud-Ubangi, Bas-Uele, Haut-Uele </a:t>
            </a:r>
          </a:p>
          <a:p>
            <a:pPr marL="914400" lvl="1" indent="-457200">
              <a:buFont typeface="Courier New" panose="02070309020205020404" pitchFamily="49" charset="0"/>
              <a:buChar char="o"/>
            </a:pPr>
            <a:r>
              <a:rPr lang="fr-FR" altLang="en-US" sz="2000" b="1" dirty="0">
                <a:solidFill>
                  <a:schemeClr val="accent1">
                    <a:lumMod val="75000"/>
                  </a:schemeClr>
                </a:solidFill>
              </a:rPr>
              <a:t>Haut-</a:t>
            </a:r>
            <a:r>
              <a:rPr lang="fr-FR" altLang="en-US" sz="2000" b="1" dirty="0" err="1">
                <a:solidFill>
                  <a:schemeClr val="accent1">
                    <a:lumMod val="75000"/>
                  </a:schemeClr>
                </a:solidFill>
              </a:rPr>
              <a:t>Lomami</a:t>
            </a:r>
            <a:r>
              <a:rPr lang="fr-FR" altLang="en-US" sz="2000" b="1" dirty="0">
                <a:solidFill>
                  <a:schemeClr val="accent1">
                    <a:lumMod val="75000"/>
                  </a:schemeClr>
                </a:solidFill>
              </a:rPr>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aabd3d1b2d_0_290"/>
          <p:cNvSpPr txBox="1"/>
          <p:nvPr/>
        </p:nvSpPr>
        <p:spPr>
          <a:xfrm>
            <a:off x="458592" y="144318"/>
            <a:ext cx="11274900" cy="52663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fr-FR"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Cartographie Intervention et Présence sur terrain</a:t>
            </a:r>
          </a:p>
        </p:txBody>
      </p:sp>
      <p:sp>
        <p:nvSpPr>
          <p:cNvPr id="177" name="Google Shape;177;g3aabd3d1b2d_0_2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4</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0"/>
          <p:cNvGraphicFramePr/>
          <p:nvPr>
            <p:custDataLst>
              <p:tags r:id="rId1"/>
            </p:custDataLst>
            <p:extLst>
              <p:ext uri="{D42A27DB-BD31-4B8C-83A1-F6EECF244321}">
                <p14:modId xmlns:p14="http://schemas.microsoft.com/office/powerpoint/2010/main" val="4248494269"/>
              </p:ext>
            </p:extLst>
          </p:nvPr>
        </p:nvGraphicFramePr>
        <p:xfrm>
          <a:off x="458550" y="581720"/>
          <a:ext cx="11274900" cy="6150790"/>
        </p:xfrm>
        <a:graphic>
          <a:graphicData uri="http://schemas.openxmlformats.org/drawingml/2006/table">
            <a:tbl>
              <a:tblPr firstRow="1" bandRow="1">
                <a:tableStyleId>{5C22544A-7EE6-4342-B048-85BDC9FD1C3A}</a:tableStyleId>
              </a:tblPr>
              <a:tblGrid>
                <a:gridCol w="2965297">
                  <a:extLst>
                    <a:ext uri="{9D8B030D-6E8A-4147-A177-3AD203B41FA5}">
                      <a16:colId xmlns:a16="http://schemas.microsoft.com/office/drawing/2014/main" val="20000"/>
                    </a:ext>
                  </a:extLst>
                </a:gridCol>
                <a:gridCol w="4669807">
                  <a:extLst>
                    <a:ext uri="{9D8B030D-6E8A-4147-A177-3AD203B41FA5}">
                      <a16:colId xmlns:a16="http://schemas.microsoft.com/office/drawing/2014/main" val="20001"/>
                    </a:ext>
                  </a:extLst>
                </a:gridCol>
                <a:gridCol w="2265744">
                  <a:extLst>
                    <a:ext uri="{9D8B030D-6E8A-4147-A177-3AD203B41FA5}">
                      <a16:colId xmlns:a16="http://schemas.microsoft.com/office/drawing/2014/main" val="20002"/>
                    </a:ext>
                  </a:extLst>
                </a:gridCol>
                <a:gridCol w="1374052">
                  <a:extLst>
                    <a:ext uri="{9D8B030D-6E8A-4147-A177-3AD203B41FA5}">
                      <a16:colId xmlns:a16="http://schemas.microsoft.com/office/drawing/2014/main" val="20003"/>
                    </a:ext>
                  </a:extLst>
                </a:gridCol>
              </a:tblGrid>
              <a:tr h="487860">
                <a:tc>
                  <a:txBody>
                    <a:bodyPr/>
                    <a:lstStyle/>
                    <a:p>
                      <a:pPr>
                        <a:buNone/>
                      </a:pPr>
                      <a:r>
                        <a:rPr lang="fr-FR" altLang="en-US" dirty="0"/>
                        <a:t>Domaine d’intervention </a:t>
                      </a:r>
                    </a:p>
                  </a:txBody>
                  <a:tcPr/>
                </a:tc>
                <a:tc>
                  <a:txBody>
                    <a:bodyPr/>
                    <a:lstStyle/>
                    <a:p>
                      <a:pPr>
                        <a:buNone/>
                      </a:pPr>
                      <a:r>
                        <a:rPr lang="fr-FR" altLang="en-US" dirty="0"/>
                        <a:t>Interventions </a:t>
                      </a:r>
                    </a:p>
                  </a:txBody>
                  <a:tcPr/>
                </a:tc>
                <a:tc>
                  <a:txBody>
                    <a:bodyPr/>
                    <a:lstStyle/>
                    <a:p>
                      <a:pPr>
                        <a:buNone/>
                      </a:pPr>
                      <a:r>
                        <a:rPr lang="fr-FR" altLang="en-US" dirty="0"/>
                        <a:t>Zone d’intervention </a:t>
                      </a:r>
                    </a:p>
                  </a:txBody>
                  <a:tcPr/>
                </a:tc>
                <a:tc>
                  <a:txBody>
                    <a:bodyPr/>
                    <a:lstStyle/>
                    <a:p>
                      <a:pPr>
                        <a:buNone/>
                      </a:pPr>
                      <a:r>
                        <a:rPr lang="fr-FR" altLang="en-US" sz="1200" dirty="0"/>
                        <a:t>Nbre consultants ou AT </a:t>
                      </a:r>
                    </a:p>
                  </a:txBody>
                  <a:tcPr/>
                </a:tc>
                <a:extLst>
                  <a:ext uri="{0D108BD9-81ED-4DB2-BD59-A6C34878D82A}">
                    <a16:rowId xmlns:a16="http://schemas.microsoft.com/office/drawing/2014/main" val="10000"/>
                  </a:ext>
                </a:extLst>
              </a:tr>
              <a:tr h="455930">
                <a:tc>
                  <a:txBody>
                    <a:bodyPr/>
                    <a:lstStyle/>
                    <a:p>
                      <a:pPr>
                        <a:buNone/>
                      </a:pPr>
                      <a:r>
                        <a:rPr lang="fr-FR" altLang="en-US" dirty="0"/>
                        <a:t>Financement de la Santé (Fin. domestique &amp; </a:t>
                      </a:r>
                      <a:r>
                        <a:rPr lang="fr-FR" altLang="en-US" dirty="0" err="1"/>
                        <a:t>MoU</a:t>
                      </a:r>
                      <a:r>
                        <a:rPr lang="fr-FR" altLang="en-US" dirty="0"/>
                        <a:t>)</a:t>
                      </a:r>
                    </a:p>
                  </a:txBody>
                  <a:tcPr/>
                </a:tc>
                <a:tc>
                  <a:txBody>
                    <a:bodyPr/>
                    <a:lstStyle/>
                    <a:p>
                      <a:pPr>
                        <a:buNone/>
                      </a:pPr>
                      <a:r>
                        <a:rPr lang="fr-FR" altLang="en-US" dirty="0"/>
                        <a:t>Coordination, planification, renforcement des capacités</a:t>
                      </a:r>
                    </a:p>
                  </a:txBody>
                  <a:tcPr/>
                </a:tc>
                <a:tc>
                  <a:txBody>
                    <a:bodyPr/>
                    <a:lstStyle/>
                    <a:p>
                      <a:pPr>
                        <a:buNone/>
                      </a:pPr>
                      <a:r>
                        <a:rPr lang="fr-FR" altLang="en-US" dirty="0"/>
                        <a:t>Direction PEV</a:t>
                      </a:r>
                    </a:p>
                  </a:txBody>
                  <a:tcPr/>
                </a:tc>
                <a:tc>
                  <a:txBody>
                    <a:bodyPr/>
                    <a:lstStyle/>
                    <a:p>
                      <a:pPr>
                        <a:buNone/>
                      </a:pPr>
                      <a:endParaRPr lang="fr-FR" altLang="en-US" dirty="0"/>
                    </a:p>
                  </a:txBody>
                  <a:tcPr/>
                </a:tc>
                <a:extLst>
                  <a:ext uri="{0D108BD9-81ED-4DB2-BD59-A6C34878D82A}">
                    <a16:rowId xmlns:a16="http://schemas.microsoft.com/office/drawing/2014/main" val="10001"/>
                  </a:ext>
                </a:extLst>
              </a:tr>
              <a:tr h="434904">
                <a:tc>
                  <a:txBody>
                    <a:bodyPr/>
                    <a:lstStyle/>
                    <a:p>
                      <a:pPr>
                        <a:buNone/>
                      </a:pPr>
                      <a:endParaRPr lang="fr-FR" altLang="en-US"/>
                    </a:p>
                  </a:txBody>
                  <a:tcPr/>
                </a:tc>
                <a:tc>
                  <a:txBody>
                    <a:bodyPr/>
                    <a:lstStyle/>
                    <a:p>
                      <a:pPr>
                        <a:buNone/>
                      </a:pPr>
                      <a:r>
                        <a:rPr lang="fr-FR" altLang="en-US" dirty="0"/>
                        <a:t>Coordination, planification, renforcement des capacités, mobilisation des ressources, suivi du flux financier … </a:t>
                      </a:r>
                    </a:p>
                  </a:txBody>
                  <a:tcPr/>
                </a:tc>
                <a:tc>
                  <a:txBody>
                    <a:bodyPr/>
                    <a:lstStyle/>
                    <a:p>
                      <a:pPr>
                        <a:buNone/>
                      </a:pPr>
                      <a:r>
                        <a:rPr lang="fr-FR" altLang="en-US" dirty="0"/>
                        <a:t>Province: </a:t>
                      </a:r>
                      <a:r>
                        <a:rPr lang="fr-FR" altLang="en-US" dirty="0" err="1"/>
                        <a:t>Tshopo</a:t>
                      </a:r>
                      <a:r>
                        <a:rPr lang="fr-FR" altLang="en-US" dirty="0"/>
                        <a:t>, </a:t>
                      </a:r>
                      <a:r>
                        <a:rPr lang="fr-FR" altLang="en-US" dirty="0" err="1"/>
                        <a:t>Kasai</a:t>
                      </a:r>
                      <a:r>
                        <a:rPr lang="fr-FR" altLang="en-US" dirty="0"/>
                        <a:t> Or, Haut-</a:t>
                      </a:r>
                      <a:r>
                        <a:rPr lang="fr-FR" altLang="en-US" dirty="0" err="1"/>
                        <a:t>Lomami</a:t>
                      </a:r>
                      <a:endParaRPr lang="fr-FR" altLang="en-US" dirty="0"/>
                    </a:p>
                  </a:txBody>
                  <a:tcPr/>
                </a:tc>
                <a:tc>
                  <a:txBody>
                    <a:bodyPr/>
                    <a:lstStyle/>
                    <a:p>
                      <a:pPr>
                        <a:buNone/>
                      </a:pPr>
                      <a:r>
                        <a:rPr lang="fr-FR" altLang="en-US" dirty="0"/>
                        <a:t>3 AT</a:t>
                      </a:r>
                    </a:p>
                  </a:txBody>
                  <a:tcPr/>
                </a:tc>
                <a:extLst>
                  <a:ext uri="{0D108BD9-81ED-4DB2-BD59-A6C34878D82A}">
                    <a16:rowId xmlns:a16="http://schemas.microsoft.com/office/drawing/2014/main" val="10002"/>
                  </a:ext>
                </a:extLst>
              </a:tr>
              <a:tr h="4546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altLang="en-US" sz="1800" dirty="0"/>
                        <a:t>Digitalisation et intégration des campagnes de SP</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altLang="en-US" sz="1800" dirty="0"/>
                        <a:t>Coordination, planification, accompagnement de la mise en œuvre sur terrain,</a:t>
                      </a:r>
                    </a:p>
                    <a:p>
                      <a:pPr marL="0" marR="0" lvl="0" indent="0" algn="l" defTabSz="914400" rtl="0" eaLnBrk="1" fontAlgn="auto" latinLnBrk="0" hangingPunct="1">
                        <a:lnSpc>
                          <a:spcPct val="100000"/>
                        </a:lnSpc>
                        <a:spcBef>
                          <a:spcPts val="0"/>
                        </a:spcBef>
                        <a:spcAft>
                          <a:spcPts val="0"/>
                        </a:spcAft>
                        <a:buClrTx/>
                        <a:buSzTx/>
                        <a:buFontTx/>
                        <a:buNone/>
                        <a:tabLst/>
                        <a:defRPr/>
                      </a:pPr>
                      <a:r>
                        <a:rPr lang="fr-FR" altLang="en-US" sz="1800" dirty="0"/>
                        <a:t>Formations sur le DHIS2 Tracker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altLang="en-US" sz="1800" dirty="0"/>
                        <a:t>Niveau central  (Direction)</a:t>
                      </a:r>
                    </a:p>
                  </a:txBody>
                  <a:tcPr/>
                </a:tc>
                <a:tc>
                  <a:txBody>
                    <a:bodyPr/>
                    <a:lstStyle/>
                    <a:p>
                      <a:pPr>
                        <a:buNone/>
                      </a:pPr>
                      <a:r>
                        <a:rPr lang="fr-FR" altLang="en-US" dirty="0"/>
                        <a:t>3 AT</a:t>
                      </a:r>
                    </a:p>
                  </a:txBody>
                  <a:tcPr/>
                </a:tc>
                <a:extLst>
                  <a:ext uri="{0D108BD9-81ED-4DB2-BD59-A6C34878D82A}">
                    <a16:rowId xmlns:a16="http://schemas.microsoft.com/office/drawing/2014/main" val="10004"/>
                  </a:ext>
                </a:extLst>
              </a:tr>
              <a:tr h="455295">
                <a:tc>
                  <a:txBody>
                    <a:bodyPr/>
                    <a:lstStyle/>
                    <a:p>
                      <a:pPr>
                        <a:buNone/>
                      </a:pPr>
                      <a:endParaRPr lang="fr-FR" alt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altLang="en-US" sz="1800" dirty="0"/>
                        <a:t>Digitalisation de la campagne VPO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altLang="en-US" sz="1800" dirty="0"/>
                        <a:t>Haut-</a:t>
                      </a:r>
                      <a:r>
                        <a:rPr lang="fr-FR" altLang="en-US" sz="1800" dirty="0" err="1"/>
                        <a:t>Lomami</a:t>
                      </a:r>
                      <a:r>
                        <a:rPr lang="fr-FR" altLang="en-US" sz="1800" dirty="0"/>
                        <a:t> (16 ZS)</a:t>
                      </a:r>
                    </a:p>
                  </a:txBody>
                  <a:tcPr/>
                </a:tc>
                <a:tc>
                  <a:txBody>
                    <a:bodyPr/>
                    <a:lstStyle/>
                    <a:p>
                      <a:pPr algn="ctr">
                        <a:buNone/>
                      </a:pPr>
                      <a:r>
                        <a:rPr lang="fr-FR" altLang="en-US" dirty="0"/>
                        <a:t>-</a:t>
                      </a:r>
                    </a:p>
                  </a:txBody>
                  <a:tcPr/>
                </a:tc>
                <a:extLst>
                  <a:ext uri="{0D108BD9-81ED-4DB2-BD59-A6C34878D82A}">
                    <a16:rowId xmlns:a16="http://schemas.microsoft.com/office/drawing/2014/main" val="10005"/>
                  </a:ext>
                </a:extLst>
              </a:tr>
              <a:tr h="454660">
                <a:tc>
                  <a:txBody>
                    <a:bodyPr/>
                    <a:lstStyle/>
                    <a:p>
                      <a:pPr>
                        <a:buNone/>
                      </a:pPr>
                      <a:endParaRPr lang="fr-FR"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altLang="en-US" sz="1800" dirty="0"/>
                        <a:t>Digitalisation de la campagne FJ</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altLang="en-US" sz="1800" dirty="0"/>
                        <a:t>Haut-</a:t>
                      </a:r>
                      <a:r>
                        <a:rPr lang="fr-FR" altLang="en-US" sz="1800" dirty="0" err="1"/>
                        <a:t>Lomami</a:t>
                      </a:r>
                      <a:r>
                        <a:rPr lang="fr-FR" altLang="en-US" sz="1800" dirty="0"/>
                        <a:t> (15 ZS)</a:t>
                      </a:r>
                    </a:p>
                  </a:txBody>
                  <a:tcPr/>
                </a:tc>
                <a:tc>
                  <a:txBody>
                    <a:bodyPr/>
                    <a:lstStyle/>
                    <a:p>
                      <a:pPr algn="ctr">
                        <a:buNone/>
                      </a:pPr>
                      <a:r>
                        <a:rPr lang="fr-FR" altLang="en-US" dirty="0"/>
                        <a:t>-</a:t>
                      </a:r>
                    </a:p>
                  </a:txBody>
                  <a:tcPr/>
                </a:tc>
                <a:extLst>
                  <a:ext uri="{0D108BD9-81ED-4DB2-BD59-A6C34878D82A}">
                    <a16:rowId xmlns:a16="http://schemas.microsoft.com/office/drawing/2014/main" val="10006"/>
                  </a:ext>
                </a:extLst>
              </a:tr>
              <a:tr h="0">
                <a:tc>
                  <a:txBody>
                    <a:bodyPr/>
                    <a:lstStyle/>
                    <a:p>
                      <a:pPr>
                        <a:buNone/>
                      </a:pPr>
                      <a:r>
                        <a:rPr lang="fr-FR" altLang="en-US" dirty="0"/>
                        <a:t>Vaccination antipaludique</a:t>
                      </a:r>
                    </a:p>
                  </a:txBody>
                  <a:tcPr/>
                </a:tc>
                <a:tc>
                  <a:txBody>
                    <a:bodyPr/>
                    <a:lstStyle/>
                    <a:p>
                      <a:pPr>
                        <a:buNone/>
                      </a:pPr>
                      <a:r>
                        <a:rPr lang="fr-FR" altLang="en-US" dirty="0"/>
                        <a:t>Appui à la coordination, à la  planification, renforcement des capacités et suivi des activités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altLang="en-US" sz="1800" dirty="0"/>
                        <a:t>Niveau central  (Direction)</a:t>
                      </a:r>
                    </a:p>
                  </a:txBody>
                  <a:tcPr/>
                </a:tc>
                <a:tc>
                  <a:txBody>
                    <a:bodyPr/>
                    <a:lstStyle/>
                    <a:p>
                      <a:pPr>
                        <a:buNone/>
                      </a:pPr>
                      <a:r>
                        <a:rPr lang="fr-FR" altLang="en-US" dirty="0"/>
                        <a:t>2 AT</a:t>
                      </a:r>
                    </a:p>
                  </a:txBody>
                  <a:tcPr/>
                </a:tc>
                <a:extLst>
                  <a:ext uri="{0D108BD9-81ED-4DB2-BD59-A6C34878D82A}">
                    <a16:rowId xmlns:a16="http://schemas.microsoft.com/office/drawing/2014/main" val="10007"/>
                  </a:ext>
                </a:extLst>
              </a:tr>
              <a:tr h="454660">
                <a:tc>
                  <a:txBody>
                    <a:bodyPr/>
                    <a:lstStyle/>
                    <a:p>
                      <a:pPr>
                        <a:buNone/>
                      </a:pPr>
                      <a:endParaRPr lang="fr-FR" alt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altLang="en-US" sz="1800" dirty="0"/>
                        <a:t>Appui à la coordination, planification, introduction, analyse des données, supervision basée sur l’évidence, suivi des activités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altLang="en-US" sz="1800" dirty="0"/>
                        <a:t>Province / antenne PEV : Matadi, Eq, Nord &amp; Sud Ub, </a:t>
                      </a:r>
                      <a:r>
                        <a:rPr lang="fr-FR" altLang="en-US" sz="1800" dirty="0" err="1"/>
                        <a:t>Ht</a:t>
                      </a:r>
                      <a:r>
                        <a:rPr lang="fr-FR" altLang="en-US" sz="1800" dirty="0"/>
                        <a:t> &amp; Bas Uélé </a:t>
                      </a:r>
                      <a:r>
                        <a:rPr lang="fr-FR" altLang="en-US" sz="1800" dirty="0" err="1"/>
                        <a:t>Ht-Lomami</a:t>
                      </a:r>
                      <a:endParaRPr lang="fr-FR" altLang="en-US" sz="1800" dirty="0"/>
                    </a:p>
                  </a:txBody>
                  <a:tcPr/>
                </a:tc>
                <a:tc>
                  <a:txBody>
                    <a:bodyPr/>
                    <a:lstStyle/>
                    <a:p>
                      <a:pPr>
                        <a:buNone/>
                      </a:pPr>
                      <a:r>
                        <a:rPr lang="fr-FR" altLang="en-US" dirty="0"/>
                        <a:t>7 AT</a:t>
                      </a:r>
                    </a:p>
                  </a:txBody>
                  <a:tcPr/>
                </a:tc>
                <a:extLst>
                  <a:ext uri="{0D108BD9-81ED-4DB2-BD59-A6C34878D82A}">
                    <a16:rowId xmlns:a16="http://schemas.microsoft.com/office/drawing/2014/main" val="10008"/>
                  </a:ext>
                </a:extLst>
              </a:tr>
              <a:tr h="455295">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dirty="0"/>
                    </a:p>
                  </a:txBody>
                  <a:tcPr/>
                </a:tc>
                <a:extLst>
                  <a:ext uri="{0D108BD9-81ED-4DB2-BD59-A6C34878D82A}">
                    <a16:rowId xmlns:a16="http://schemas.microsoft.com/office/drawing/2014/main" val="10009"/>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aabd3d1b2d_0_290"/>
          <p:cNvSpPr txBox="1"/>
          <p:nvPr/>
        </p:nvSpPr>
        <p:spPr>
          <a:xfrm>
            <a:off x="303492" y="213766"/>
            <a:ext cx="11430000" cy="49549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fr-FR" sz="2700" b="0" i="0" u="none" strike="noStrike" cap="none" noProof="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Réalisations majeures de l’année en lien avec les activités planifiées du PAO  PEV</a:t>
            </a:r>
          </a:p>
          <a:p>
            <a:pPr marL="0" marR="0" lvl="0" indent="0" algn="l" rtl="0">
              <a:lnSpc>
                <a:spcPct val="100000"/>
              </a:lnSpc>
              <a:spcBef>
                <a:spcPts val="0"/>
              </a:spcBef>
              <a:spcAft>
                <a:spcPts val="0"/>
              </a:spcAft>
              <a:buClr>
                <a:schemeClr val="dk1"/>
              </a:buClr>
              <a:buSzPts val="1500"/>
              <a:buFont typeface="Arial" panose="020B0604020202020204"/>
              <a:buNone/>
            </a:pPr>
            <a:endParaRPr lang="fr-FR" sz="2700" b="0" i="0" u="none" strike="noStrike" cap="none" noProof="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5</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0"/>
          <p:cNvGraphicFramePr/>
          <p:nvPr>
            <p:custDataLst>
              <p:tags r:id="rId1"/>
            </p:custDataLst>
          </p:nvPr>
        </p:nvGraphicFramePr>
        <p:xfrm>
          <a:off x="303492" y="709257"/>
          <a:ext cx="11430000" cy="7384946"/>
        </p:xfrm>
        <a:graphic>
          <a:graphicData uri="http://schemas.openxmlformats.org/drawingml/2006/table">
            <a:tbl>
              <a:tblPr firstRow="1" bandRow="1">
                <a:tableStyleId>{5C22544A-7EE6-4342-B048-85BDC9FD1C3A}</a:tableStyleId>
              </a:tblPr>
              <a:tblGrid>
                <a:gridCol w="2914270">
                  <a:extLst>
                    <a:ext uri="{9D8B030D-6E8A-4147-A177-3AD203B41FA5}">
                      <a16:colId xmlns:a16="http://schemas.microsoft.com/office/drawing/2014/main" val="20000"/>
                    </a:ext>
                  </a:extLst>
                </a:gridCol>
                <a:gridCol w="2672675">
                  <a:extLst>
                    <a:ext uri="{9D8B030D-6E8A-4147-A177-3AD203B41FA5}">
                      <a16:colId xmlns:a16="http://schemas.microsoft.com/office/drawing/2014/main" val="20001"/>
                    </a:ext>
                  </a:extLst>
                </a:gridCol>
                <a:gridCol w="2985555">
                  <a:extLst>
                    <a:ext uri="{9D8B030D-6E8A-4147-A177-3AD203B41FA5}">
                      <a16:colId xmlns:a16="http://schemas.microsoft.com/office/drawing/2014/main" val="20002"/>
                    </a:ext>
                  </a:extLst>
                </a:gridCol>
                <a:gridCol w="2857500">
                  <a:extLst>
                    <a:ext uri="{9D8B030D-6E8A-4147-A177-3AD203B41FA5}">
                      <a16:colId xmlns:a16="http://schemas.microsoft.com/office/drawing/2014/main" val="20003"/>
                    </a:ext>
                  </a:extLst>
                </a:gridCol>
              </a:tblGrid>
              <a:tr h="652041">
                <a:tc>
                  <a:txBody>
                    <a:bodyPr/>
                    <a:lstStyle/>
                    <a:p>
                      <a:pPr>
                        <a:buNone/>
                      </a:pPr>
                      <a:r>
                        <a:rPr lang="fr-FR" altLang="en-US"/>
                        <a:t>Activité prévu dans le PAO du PEV en 2025</a:t>
                      </a:r>
                    </a:p>
                  </a:txBody>
                  <a:tcPr/>
                </a:tc>
                <a:tc>
                  <a:txBody>
                    <a:bodyPr/>
                    <a:lstStyle/>
                    <a:p>
                      <a:pPr>
                        <a:buNone/>
                      </a:pPr>
                      <a:r>
                        <a:rPr lang="fr-FR" altLang="en-US"/>
                        <a:t>Niveau de réalisation</a:t>
                      </a:r>
                    </a:p>
                  </a:txBody>
                  <a:tcPr/>
                </a:tc>
                <a:tc>
                  <a:txBody>
                    <a:bodyPr/>
                    <a:lstStyle/>
                    <a:p>
                      <a:pPr>
                        <a:buNone/>
                      </a:pPr>
                      <a:r>
                        <a:rPr lang="fr-FR" altLang="en-US"/>
                        <a:t>Output</a:t>
                      </a:r>
                    </a:p>
                  </a:txBody>
                  <a:tcPr/>
                </a:tc>
                <a:tc>
                  <a:txBody>
                    <a:bodyPr/>
                    <a:lstStyle/>
                    <a:p>
                      <a:pPr>
                        <a:buNone/>
                      </a:pPr>
                      <a:r>
                        <a:rPr lang="fr-FR" altLang="en-US"/>
                        <a:t>Outcome</a:t>
                      </a:r>
                    </a:p>
                  </a:txBody>
                  <a:tcPr/>
                </a:tc>
                <a:extLst>
                  <a:ext uri="{0D108BD9-81ED-4DB2-BD59-A6C34878D82A}">
                    <a16:rowId xmlns:a16="http://schemas.microsoft.com/office/drawing/2014/main" val="10000"/>
                  </a:ext>
                </a:extLst>
              </a:tr>
              <a:tr h="395605">
                <a:tc>
                  <a:txBody>
                    <a:bodyPr/>
                    <a:lstStyle/>
                    <a:p>
                      <a:pPr>
                        <a:buNone/>
                      </a:pPr>
                      <a:r>
                        <a:rPr lang="fr-FR" altLang="en-US" dirty="0"/>
                        <a:t>Financement de la santé</a:t>
                      </a:r>
                    </a:p>
                  </a:txBody>
                  <a:tcPr/>
                </a:tc>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extLst>
                  <a:ext uri="{0D108BD9-81ED-4DB2-BD59-A6C34878D82A}">
                    <a16:rowId xmlns:a16="http://schemas.microsoft.com/office/drawing/2014/main" val="10001"/>
                  </a:ext>
                </a:extLst>
              </a:tr>
              <a:tr h="395605">
                <a:tc>
                  <a:txBody>
                    <a:bodyPr/>
                    <a:lstStyle/>
                    <a:p>
                      <a:pPr>
                        <a:buNone/>
                      </a:pPr>
                      <a:r>
                        <a:rPr lang="fr-FR" altLang="en-US" dirty="0"/>
                        <a:t>Organiser les missions préliminaires, techniques et politiques en provinces </a:t>
                      </a:r>
                    </a:p>
                  </a:txBody>
                  <a:tcPr/>
                </a:tc>
                <a:tc>
                  <a:txBody>
                    <a:bodyPr/>
                    <a:lstStyle/>
                    <a:p>
                      <a:pPr>
                        <a:buNone/>
                      </a:pPr>
                      <a:r>
                        <a:rPr lang="fr-FR" altLang="en-US" dirty="0"/>
                        <a:t>3 missions préliminaires, techniques et politiques menées dans les 3 provinces </a:t>
                      </a:r>
                    </a:p>
                  </a:txBody>
                  <a:tcPr/>
                </a:tc>
                <a:tc>
                  <a:txBody>
                    <a:bodyPr/>
                    <a:lstStyle/>
                    <a:p>
                      <a:pPr>
                        <a:buNone/>
                      </a:pPr>
                      <a:r>
                        <a:rPr lang="fr-FR" altLang="en-US" dirty="0"/>
                        <a:t>Sensibilisation des autorités politiques et sanitaires sur le financement domestique et le processus MoU </a:t>
                      </a:r>
                    </a:p>
                  </a:txBody>
                  <a:tcPr/>
                </a:tc>
                <a:tc>
                  <a:txBody>
                    <a:bodyPr/>
                    <a:lstStyle/>
                    <a:p>
                      <a:pPr>
                        <a:buNone/>
                      </a:pPr>
                      <a:r>
                        <a:rPr lang="fr-FR" altLang="en-US" dirty="0"/>
                        <a:t>Appropriation du processus et engagement pour le bon </a:t>
                      </a:r>
                      <a:r>
                        <a:rPr lang="fr-FR" altLang="en-US" dirty="0" err="1"/>
                        <a:t>deroulement</a:t>
                      </a:r>
                      <a:r>
                        <a:rPr lang="fr-FR" altLang="en-US" dirty="0"/>
                        <a:t> du processus </a:t>
                      </a:r>
                    </a:p>
                  </a:txBody>
                  <a:tcPr/>
                </a:tc>
                <a:extLst>
                  <a:ext uri="{0D108BD9-81ED-4DB2-BD59-A6C34878D82A}">
                    <a16:rowId xmlns:a16="http://schemas.microsoft.com/office/drawing/2014/main" val="10002"/>
                  </a:ext>
                </a:extLst>
              </a:tr>
              <a:tr h="3949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altLang="en-US" dirty="0"/>
                        <a:t>Renforcer les capacités des REPACAV </a:t>
                      </a:r>
                    </a:p>
                  </a:txBody>
                  <a:tcPr/>
                </a:tc>
                <a:tc>
                  <a:txBody>
                    <a:bodyPr/>
                    <a:lstStyle/>
                    <a:p>
                      <a:pPr>
                        <a:buNone/>
                      </a:pPr>
                      <a:r>
                        <a:rPr lang="fr-FR" altLang="en-US" dirty="0"/>
                        <a:t>Organisation des 3 </a:t>
                      </a:r>
                      <a:r>
                        <a:rPr lang="fr-FR" altLang="en-US" dirty="0" err="1"/>
                        <a:t>atéliers</a:t>
                      </a:r>
                      <a:r>
                        <a:rPr lang="fr-FR" altLang="en-US" dirty="0"/>
                        <a:t> de formation sur le plaidoyer dans les 3 provinces </a:t>
                      </a:r>
                    </a:p>
                  </a:txBody>
                  <a:tcPr/>
                </a:tc>
                <a:tc>
                  <a:txBody>
                    <a:bodyPr/>
                    <a:lstStyle/>
                    <a:p>
                      <a:pPr>
                        <a:buNone/>
                      </a:pPr>
                      <a:r>
                        <a:rPr lang="fr-FR" altLang="en-US" dirty="0"/>
                        <a:t>Les REPACAV sont dotés d’</a:t>
                      </a:r>
                      <a:r>
                        <a:rPr lang="fr-FR" altLang="en-US" dirty="0" err="1"/>
                        <a:t>outls</a:t>
                      </a:r>
                      <a:r>
                        <a:rPr lang="fr-FR" altLang="en-US" dirty="0"/>
                        <a:t> de plaidoyer et installés </a:t>
                      </a:r>
                      <a:r>
                        <a:rPr lang="fr-FR" altLang="en-US" dirty="0" err="1"/>
                        <a:t>oficiellement</a:t>
                      </a:r>
                      <a:r>
                        <a:rPr lang="fr-FR" altLang="en-US" dirty="0"/>
                        <a:t> dans les 3 provinces</a:t>
                      </a:r>
                    </a:p>
                  </a:txBody>
                  <a:tcPr/>
                </a:tc>
                <a:tc>
                  <a:txBody>
                    <a:bodyPr/>
                    <a:lstStyle/>
                    <a:p>
                      <a:pPr marL="285750" indent="-285750" algn="l">
                        <a:buFont typeface="Arial" panose="020B0604020202020204" pitchFamily="34" charset="0"/>
                        <a:buChar char="•"/>
                      </a:pPr>
                      <a:endParaRPr lang="fr-FR" altLang="en-US" sz="1800" b="1" i="0" kern="1200" dirty="0">
                        <a:solidFill>
                          <a:schemeClr val="dk1"/>
                        </a:solidFill>
                        <a:effectLst/>
                        <a:latin typeface="+mn-lt"/>
                        <a:ea typeface="+mn-ea"/>
                        <a:cs typeface="+mn-cs"/>
                      </a:endParaRPr>
                    </a:p>
                  </a:txBody>
                  <a:tcPr/>
                </a:tc>
                <a:extLst>
                  <a:ext uri="{0D108BD9-81ED-4DB2-BD59-A6C34878D82A}">
                    <a16:rowId xmlns:a16="http://schemas.microsoft.com/office/drawing/2014/main" val="10003"/>
                  </a:ext>
                </a:extLst>
              </a:tr>
              <a:tr h="39560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altLang="en-US" dirty="0"/>
                    </a:p>
                  </a:txBody>
                  <a:tcPr/>
                </a:tc>
                <a:tc>
                  <a:txBody>
                    <a:bodyPr/>
                    <a:lstStyle/>
                    <a:p>
                      <a:pPr>
                        <a:buNone/>
                      </a:pPr>
                      <a:r>
                        <a:rPr lang="fr-FR" altLang="en-US" dirty="0"/>
                        <a:t>Organisation de 2   l’ateliers sur l’élaboration, l’exécution et le suivi </a:t>
                      </a:r>
                      <a:r>
                        <a:rPr lang="fr-FR" altLang="en-US" dirty="0" err="1"/>
                        <a:t>budgetaire</a:t>
                      </a:r>
                      <a:r>
                        <a:rPr lang="fr-FR" altLang="en-US" dirty="0"/>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altLang="en-US" dirty="0"/>
                        <a:t>Capacitation des REPACAV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800" b="1" i="0" kern="1200" dirty="0">
                        <a:solidFill>
                          <a:schemeClr val="dk1"/>
                        </a:solidFill>
                        <a:effectLst/>
                        <a:latin typeface="+mn-lt"/>
                        <a:ea typeface="+mn-ea"/>
                        <a:cs typeface="+mn-cs"/>
                      </a:endParaRPr>
                    </a:p>
                  </a:txBody>
                  <a:tcPr/>
                </a:tc>
                <a:extLst>
                  <a:ext uri="{0D108BD9-81ED-4DB2-BD59-A6C34878D82A}">
                    <a16:rowId xmlns:a16="http://schemas.microsoft.com/office/drawing/2014/main" val="10004"/>
                  </a:ext>
                </a:extLst>
              </a:tr>
              <a:tr h="395605">
                <a:tc>
                  <a:txBody>
                    <a:bodyPr/>
                    <a:lstStyle/>
                    <a:p>
                      <a:pPr>
                        <a:buNone/>
                      </a:pPr>
                      <a:r>
                        <a:rPr lang="fr-FR" altLang="en-US" dirty="0"/>
                        <a:t>Organiser les ateliers pour l’élaboration du plan d’investissement de la vaccination </a:t>
                      </a:r>
                    </a:p>
                  </a:txBody>
                  <a:tcPr/>
                </a:tc>
                <a:tc>
                  <a:txBody>
                    <a:bodyPr/>
                    <a:lstStyle/>
                    <a:p>
                      <a:pPr>
                        <a:buNone/>
                      </a:pPr>
                      <a:r>
                        <a:rPr lang="fr-FR" altLang="en-US" dirty="0"/>
                        <a:t>3 ateliers /3 organisés en provinces </a:t>
                      </a:r>
                    </a:p>
                  </a:txBody>
                  <a:tcPr/>
                </a:tc>
                <a:tc>
                  <a:txBody>
                    <a:bodyPr/>
                    <a:lstStyle/>
                    <a:p>
                      <a:pPr>
                        <a:buNone/>
                      </a:pPr>
                      <a:r>
                        <a:rPr lang="fr-FR" altLang="en-US" dirty="0"/>
                        <a:t>Les 3 provinces disposent des plans d’investissements pour la vaccination </a:t>
                      </a:r>
                    </a:p>
                  </a:txBody>
                  <a:tcPr/>
                </a:tc>
                <a:tc>
                  <a:txBody>
                    <a:bodyPr/>
                    <a:lstStyle/>
                    <a:p>
                      <a:pPr>
                        <a:buNone/>
                      </a:pPr>
                      <a:r>
                        <a:rPr lang="fr-FR" altLang="en-US" dirty="0"/>
                        <a:t>Document de </a:t>
                      </a:r>
                      <a:r>
                        <a:rPr lang="fr-FR" altLang="en-US" dirty="0" err="1"/>
                        <a:t>reference</a:t>
                      </a:r>
                      <a:r>
                        <a:rPr lang="fr-FR" altLang="en-US" dirty="0"/>
                        <a:t> pour la planification </a:t>
                      </a:r>
                      <a:r>
                        <a:rPr lang="fr-FR" altLang="en-US" dirty="0" err="1"/>
                        <a:t>budgetisation</a:t>
                      </a:r>
                      <a:r>
                        <a:rPr lang="fr-FR" altLang="en-US" dirty="0"/>
                        <a:t> des activités de vaccination </a:t>
                      </a:r>
                    </a:p>
                  </a:txBody>
                  <a:tcPr/>
                </a:tc>
                <a:extLst>
                  <a:ext uri="{0D108BD9-81ED-4DB2-BD59-A6C34878D82A}">
                    <a16:rowId xmlns:a16="http://schemas.microsoft.com/office/drawing/2014/main" val="10005"/>
                  </a:ext>
                </a:extLst>
              </a:tr>
              <a:tr h="395605">
                <a:tc>
                  <a:txBody>
                    <a:bodyPr/>
                    <a:lstStyle/>
                    <a:p>
                      <a:pPr>
                        <a:buNone/>
                      </a:pPr>
                      <a:endParaRPr lang="fr-FR" altLang="en-US" dirty="0"/>
                    </a:p>
                  </a:txBody>
                  <a:tcPr/>
                </a:tc>
                <a:tc>
                  <a:txBody>
                    <a:bodyPr/>
                    <a:lstStyle/>
                    <a:p>
                      <a:pPr>
                        <a:buNone/>
                      </a:pPr>
                      <a:endParaRPr lang="fr-FR" altLang="en-US" dirty="0"/>
                    </a:p>
                  </a:txBody>
                  <a:tcPr/>
                </a:tc>
                <a:tc>
                  <a:txBody>
                    <a:bodyPr/>
                    <a:lstStyle/>
                    <a:p>
                      <a:pPr>
                        <a:buNone/>
                      </a:pPr>
                      <a:endParaRPr lang="fr-FR" altLang="en-US" dirty="0"/>
                    </a:p>
                  </a:txBody>
                  <a:tcPr/>
                </a:tc>
                <a:tc>
                  <a:txBody>
                    <a:bodyPr/>
                    <a:lstStyle/>
                    <a:p>
                      <a:pPr>
                        <a:buNone/>
                      </a:pPr>
                      <a:endParaRPr lang="fr-FR" altLang="en-US"/>
                    </a:p>
                  </a:txBody>
                  <a:tcPr/>
                </a:tc>
                <a:extLst>
                  <a:ext uri="{0D108BD9-81ED-4DB2-BD59-A6C34878D82A}">
                    <a16:rowId xmlns:a16="http://schemas.microsoft.com/office/drawing/2014/main" val="10006"/>
                  </a:ext>
                </a:extLst>
              </a:tr>
              <a:tr h="395605">
                <a:tc>
                  <a:txBody>
                    <a:bodyPr/>
                    <a:lstStyle/>
                    <a:p>
                      <a:pPr>
                        <a:buNone/>
                      </a:pPr>
                      <a:endParaRPr lang="fr-FR" altLang="en-US" dirty="0"/>
                    </a:p>
                  </a:txBody>
                  <a:tcPr/>
                </a:tc>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extLst>
                  <a:ext uri="{0D108BD9-81ED-4DB2-BD59-A6C34878D82A}">
                    <a16:rowId xmlns:a16="http://schemas.microsoft.com/office/drawing/2014/main" val="10007"/>
                  </a:ext>
                </a:extLst>
              </a:tr>
              <a:tr h="395605">
                <a:tc>
                  <a:txBody>
                    <a:bodyPr/>
                    <a:lstStyle/>
                    <a:p>
                      <a:pPr>
                        <a:buNone/>
                      </a:pPr>
                      <a:endParaRPr lang="fr-FR" altLang="en-US" dirty="0"/>
                    </a:p>
                  </a:txBody>
                  <a:tcPr/>
                </a:tc>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extLst>
                  <a:ext uri="{0D108BD9-81ED-4DB2-BD59-A6C34878D82A}">
                    <a16:rowId xmlns:a16="http://schemas.microsoft.com/office/drawing/2014/main" val="10008"/>
                  </a:ext>
                </a:extLst>
              </a:tr>
              <a:tr h="395605">
                <a:tc>
                  <a:txBody>
                    <a:bodyPr/>
                    <a:lstStyle/>
                    <a:p>
                      <a:pPr>
                        <a:buNone/>
                      </a:pPr>
                      <a:endParaRPr lang="fr-FR" altLang="en-US" dirty="0"/>
                    </a:p>
                  </a:txBody>
                  <a:tcPr/>
                </a:tc>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dirty="0"/>
                    </a:p>
                  </a:txBody>
                  <a:tcPr/>
                </a:tc>
                <a:extLst>
                  <a:ext uri="{0D108BD9-81ED-4DB2-BD59-A6C34878D82A}">
                    <a16:rowId xmlns:a16="http://schemas.microsoft.com/office/drawing/2014/main" val="10009"/>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251CEDA5-0814-8847-EF2C-B247C1A501F7}"/>
            </a:ext>
          </a:extLst>
        </p:cNvPr>
        <p:cNvGrpSpPr/>
        <p:nvPr/>
      </p:nvGrpSpPr>
      <p:grpSpPr>
        <a:xfrm>
          <a:off x="0" y="0"/>
          <a:ext cx="0" cy="0"/>
          <a:chOff x="0" y="0"/>
          <a:chExt cx="0" cy="0"/>
        </a:xfrm>
      </p:grpSpPr>
      <p:sp>
        <p:nvSpPr>
          <p:cNvPr id="176" name="Google Shape;176;g3aabd3d1b2d_0_290">
            <a:extLst>
              <a:ext uri="{FF2B5EF4-FFF2-40B4-BE49-F238E27FC236}">
                <a16:creationId xmlns:a16="http://schemas.microsoft.com/office/drawing/2014/main" id="{087CE8AC-1FAB-6681-9F0A-2CD77C699C89}"/>
              </a:ext>
            </a:extLst>
          </p:cNvPr>
          <p:cNvSpPr txBox="1"/>
          <p:nvPr/>
        </p:nvSpPr>
        <p:spPr>
          <a:xfrm>
            <a:off x="303492" y="213766"/>
            <a:ext cx="11430000" cy="49549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fr-FR" sz="2700" b="0" i="0" u="none" strike="noStrike" cap="none" noProof="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Réalisations majeures de l’année en lien avec les activités planifiées du PAO  PEV</a:t>
            </a:r>
          </a:p>
          <a:p>
            <a:pPr marL="0" marR="0" lvl="0" indent="0" algn="l" rtl="0">
              <a:lnSpc>
                <a:spcPct val="100000"/>
              </a:lnSpc>
              <a:spcBef>
                <a:spcPts val="0"/>
              </a:spcBef>
              <a:spcAft>
                <a:spcPts val="0"/>
              </a:spcAft>
              <a:buClr>
                <a:schemeClr val="dk1"/>
              </a:buClr>
              <a:buSzPts val="1500"/>
              <a:buFont typeface="Arial" panose="020B0604020202020204"/>
              <a:buNone/>
            </a:pPr>
            <a:endParaRPr lang="fr-FR" sz="2700" b="0" i="0" u="none" strike="noStrike" cap="none" noProof="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a:extLst>
              <a:ext uri="{FF2B5EF4-FFF2-40B4-BE49-F238E27FC236}">
                <a16:creationId xmlns:a16="http://schemas.microsoft.com/office/drawing/2014/main" id="{7049F5C5-AC2D-736B-6A06-EDC190079576}"/>
              </a:ext>
            </a:extLst>
          </p:cNvPr>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a:extLst>
              <a:ext uri="{FF2B5EF4-FFF2-40B4-BE49-F238E27FC236}">
                <a16:creationId xmlns:a16="http://schemas.microsoft.com/office/drawing/2014/main" id="{2BB1A2C6-8D3F-2393-86E6-1237D27B1C8D}"/>
              </a:ext>
            </a:extLst>
          </p:cNvPr>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a:extLst>
              <a:ext uri="{FF2B5EF4-FFF2-40B4-BE49-F238E27FC236}">
                <a16:creationId xmlns:a16="http://schemas.microsoft.com/office/drawing/2014/main" id="{09D7850C-13AB-1AB0-B40F-879534AB6D63}"/>
              </a:ext>
            </a:extLst>
          </p:cNvPr>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6</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a:extLst>
              <a:ext uri="{FF2B5EF4-FFF2-40B4-BE49-F238E27FC236}">
                <a16:creationId xmlns:a16="http://schemas.microsoft.com/office/drawing/2014/main" id="{34338E00-6E98-1B94-26A8-A5A48AA6050E}"/>
              </a:ext>
            </a:extLst>
          </p:cNvPr>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0">
            <a:extLst>
              <a:ext uri="{FF2B5EF4-FFF2-40B4-BE49-F238E27FC236}">
                <a16:creationId xmlns:a16="http://schemas.microsoft.com/office/drawing/2014/main" id="{B5ED72A2-CA87-DDB3-C40B-DDBCD70D7E15}"/>
              </a:ext>
            </a:extLst>
          </p:cNvPr>
          <p:cNvGraphicFramePr/>
          <p:nvPr>
            <p:custDataLst>
              <p:tags r:id="rId1"/>
            </p:custDataLst>
          </p:nvPr>
        </p:nvGraphicFramePr>
        <p:xfrm>
          <a:off x="303492" y="709257"/>
          <a:ext cx="11430000" cy="6836306"/>
        </p:xfrm>
        <a:graphic>
          <a:graphicData uri="http://schemas.openxmlformats.org/drawingml/2006/table">
            <a:tbl>
              <a:tblPr firstRow="1" bandRow="1">
                <a:tableStyleId>{5C22544A-7EE6-4342-B048-85BDC9FD1C3A}</a:tableStyleId>
              </a:tblPr>
              <a:tblGrid>
                <a:gridCol w="2914270">
                  <a:extLst>
                    <a:ext uri="{9D8B030D-6E8A-4147-A177-3AD203B41FA5}">
                      <a16:colId xmlns:a16="http://schemas.microsoft.com/office/drawing/2014/main" val="20000"/>
                    </a:ext>
                  </a:extLst>
                </a:gridCol>
                <a:gridCol w="2672675">
                  <a:extLst>
                    <a:ext uri="{9D8B030D-6E8A-4147-A177-3AD203B41FA5}">
                      <a16:colId xmlns:a16="http://schemas.microsoft.com/office/drawing/2014/main" val="20001"/>
                    </a:ext>
                  </a:extLst>
                </a:gridCol>
                <a:gridCol w="2985555">
                  <a:extLst>
                    <a:ext uri="{9D8B030D-6E8A-4147-A177-3AD203B41FA5}">
                      <a16:colId xmlns:a16="http://schemas.microsoft.com/office/drawing/2014/main" val="20002"/>
                    </a:ext>
                  </a:extLst>
                </a:gridCol>
                <a:gridCol w="2857500">
                  <a:extLst>
                    <a:ext uri="{9D8B030D-6E8A-4147-A177-3AD203B41FA5}">
                      <a16:colId xmlns:a16="http://schemas.microsoft.com/office/drawing/2014/main" val="20003"/>
                    </a:ext>
                  </a:extLst>
                </a:gridCol>
              </a:tblGrid>
              <a:tr h="652041">
                <a:tc>
                  <a:txBody>
                    <a:bodyPr/>
                    <a:lstStyle/>
                    <a:p>
                      <a:pPr>
                        <a:buNone/>
                      </a:pPr>
                      <a:r>
                        <a:rPr lang="fr-FR" altLang="en-US"/>
                        <a:t>Activité prévu dans le PAO du PEV en 2025</a:t>
                      </a:r>
                    </a:p>
                  </a:txBody>
                  <a:tcPr/>
                </a:tc>
                <a:tc>
                  <a:txBody>
                    <a:bodyPr/>
                    <a:lstStyle/>
                    <a:p>
                      <a:pPr>
                        <a:buNone/>
                      </a:pPr>
                      <a:r>
                        <a:rPr lang="fr-FR" altLang="en-US"/>
                        <a:t>Niveau de réalisation</a:t>
                      </a:r>
                    </a:p>
                  </a:txBody>
                  <a:tcPr/>
                </a:tc>
                <a:tc>
                  <a:txBody>
                    <a:bodyPr/>
                    <a:lstStyle/>
                    <a:p>
                      <a:pPr>
                        <a:buNone/>
                      </a:pPr>
                      <a:r>
                        <a:rPr lang="fr-FR" altLang="en-US"/>
                        <a:t>Output</a:t>
                      </a:r>
                    </a:p>
                  </a:txBody>
                  <a:tcPr/>
                </a:tc>
                <a:tc>
                  <a:txBody>
                    <a:bodyPr/>
                    <a:lstStyle/>
                    <a:p>
                      <a:pPr>
                        <a:buNone/>
                      </a:pPr>
                      <a:r>
                        <a:rPr lang="fr-FR" altLang="en-US"/>
                        <a:t>Outcome</a:t>
                      </a:r>
                    </a:p>
                  </a:txBody>
                  <a:tcPr/>
                </a:tc>
                <a:extLst>
                  <a:ext uri="{0D108BD9-81ED-4DB2-BD59-A6C34878D82A}">
                    <a16:rowId xmlns:a16="http://schemas.microsoft.com/office/drawing/2014/main" val="10000"/>
                  </a:ext>
                </a:extLst>
              </a:tr>
              <a:tr h="395605">
                <a:tc>
                  <a:txBody>
                    <a:bodyPr/>
                    <a:lstStyle/>
                    <a:p>
                      <a:pPr>
                        <a:buNone/>
                      </a:pPr>
                      <a:r>
                        <a:rPr lang="fr-FR" altLang="en-US" dirty="0"/>
                        <a:t>Financement de la santé</a:t>
                      </a:r>
                    </a:p>
                  </a:txBody>
                  <a:tcPr/>
                </a:tc>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extLst>
                  <a:ext uri="{0D108BD9-81ED-4DB2-BD59-A6C34878D82A}">
                    <a16:rowId xmlns:a16="http://schemas.microsoft.com/office/drawing/2014/main" val="10001"/>
                  </a:ext>
                </a:extLst>
              </a:tr>
              <a:tr h="395605">
                <a:tc>
                  <a:txBody>
                    <a:bodyPr/>
                    <a:lstStyle/>
                    <a:p>
                      <a:pPr>
                        <a:buNone/>
                      </a:pPr>
                      <a:r>
                        <a:rPr lang="fr-FR" altLang="en-US" dirty="0"/>
                        <a:t>Développer l’outils gestion de la trésorerie et le Dashboard de suivi de flux de financement </a:t>
                      </a:r>
                    </a:p>
                  </a:txBody>
                  <a:tcPr/>
                </a:tc>
                <a:tc>
                  <a:txBody>
                    <a:bodyPr/>
                    <a:lstStyle/>
                    <a:p>
                      <a:pPr>
                        <a:buNone/>
                      </a:pPr>
                      <a:r>
                        <a:rPr lang="fr-FR" altLang="en-US" dirty="0"/>
                        <a:t>Les outils ont été développés et rendus disponibles dans les 3 provinces </a:t>
                      </a:r>
                    </a:p>
                  </a:txBody>
                  <a:tcPr/>
                </a:tc>
                <a:tc>
                  <a:txBody>
                    <a:bodyPr/>
                    <a:lstStyle/>
                    <a:p>
                      <a:pPr>
                        <a:buNone/>
                      </a:pPr>
                      <a:endParaRPr lang="fr-FR" altLang="en-US" dirty="0"/>
                    </a:p>
                  </a:txBody>
                  <a:tcPr/>
                </a:tc>
                <a:tc>
                  <a:txBody>
                    <a:bodyPr/>
                    <a:lstStyle/>
                    <a:p>
                      <a:pPr>
                        <a:buNone/>
                      </a:pPr>
                      <a:r>
                        <a:rPr lang="fr-FR" altLang="en-US" dirty="0"/>
                        <a:t>Amélioration de la gestion des ressources de la vaccination </a:t>
                      </a:r>
                    </a:p>
                  </a:txBody>
                  <a:tcPr/>
                </a:tc>
                <a:extLst>
                  <a:ext uri="{0D108BD9-81ED-4DB2-BD59-A6C34878D82A}">
                    <a16:rowId xmlns:a16="http://schemas.microsoft.com/office/drawing/2014/main" val="10002"/>
                  </a:ext>
                </a:extLst>
              </a:tr>
              <a:tr h="3949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altLang="en-US" dirty="0"/>
                        <a:t>Renforcer les capacités des ZS et DPS sur l’utilisation des outils </a:t>
                      </a:r>
                    </a:p>
                  </a:txBody>
                  <a:tcPr/>
                </a:tc>
                <a:tc>
                  <a:txBody>
                    <a:bodyPr/>
                    <a:lstStyle/>
                    <a:p>
                      <a:pPr>
                        <a:buNone/>
                      </a:pPr>
                      <a:r>
                        <a:rPr lang="fr-FR" altLang="en-US" dirty="0"/>
                        <a:t>69 AG des ZS formés, 11 cadres dans chaque DPS et 3 cadres du PEV </a:t>
                      </a:r>
                    </a:p>
                  </a:txBody>
                  <a:tcPr/>
                </a:tc>
                <a:tc>
                  <a:txBody>
                    <a:bodyPr/>
                    <a:lstStyle/>
                    <a:p>
                      <a:pPr>
                        <a:buNone/>
                      </a:pPr>
                      <a:r>
                        <a:rPr lang="fr-FR" altLang="en-US" dirty="0"/>
                        <a:t>Capacitation des cadres des ZS et des provinces </a:t>
                      </a:r>
                    </a:p>
                  </a:txBody>
                  <a:tcPr/>
                </a:tc>
                <a:tc>
                  <a:txBody>
                    <a:bodyPr/>
                    <a:lstStyle/>
                    <a:p>
                      <a:pPr marL="0" indent="0" algn="l">
                        <a:buFont typeface="Arial" panose="020B0604020202020204" pitchFamily="34" charset="0"/>
                        <a:buNone/>
                      </a:pPr>
                      <a:r>
                        <a:rPr lang="fr-FR" altLang="en-US" sz="1800" b="1" i="0" kern="1200" dirty="0">
                          <a:solidFill>
                            <a:schemeClr val="dk1"/>
                          </a:solidFill>
                          <a:effectLst/>
                          <a:latin typeface="+mn-lt"/>
                          <a:ea typeface="+mn-ea"/>
                          <a:cs typeface="+mn-cs"/>
                        </a:rPr>
                        <a:t>Amélioration de la gestion des ressources de la vaccination </a:t>
                      </a:r>
                    </a:p>
                    <a:p>
                      <a:pPr marL="0" indent="0" algn="l">
                        <a:buFont typeface="Arial" panose="020B0604020202020204" pitchFamily="34" charset="0"/>
                        <a:buNone/>
                      </a:pPr>
                      <a:endParaRPr lang="fr-FR" altLang="en-US" sz="1800" b="1" i="0" kern="1200" dirty="0">
                        <a:solidFill>
                          <a:schemeClr val="dk1"/>
                        </a:solidFill>
                        <a:effectLst/>
                        <a:latin typeface="+mn-lt"/>
                        <a:ea typeface="+mn-ea"/>
                        <a:cs typeface="+mn-cs"/>
                      </a:endParaRPr>
                    </a:p>
                  </a:txBody>
                  <a:tcPr/>
                </a:tc>
                <a:extLst>
                  <a:ext uri="{0D108BD9-81ED-4DB2-BD59-A6C34878D82A}">
                    <a16:rowId xmlns:a16="http://schemas.microsoft.com/office/drawing/2014/main" val="10003"/>
                  </a:ext>
                </a:extLst>
              </a:tr>
              <a:tr h="39560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altLang="en-US" dirty="0"/>
                        <a:t>Doter les ZS , DPS et PEV  tablettes et ordinateurs</a:t>
                      </a:r>
                    </a:p>
                  </a:txBody>
                  <a:tcPr/>
                </a:tc>
                <a:tc>
                  <a:txBody>
                    <a:bodyPr/>
                    <a:lstStyle/>
                    <a:p>
                      <a:pPr>
                        <a:buNone/>
                      </a:pPr>
                      <a:r>
                        <a:rPr lang="fr-FR" altLang="en-US" dirty="0"/>
                        <a:t>69 Tablettes aux ZS et 6 ordinateurs DPS et PEV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800" b="1" i="0" kern="1200" dirty="0">
                        <a:solidFill>
                          <a:schemeClr val="dk1"/>
                        </a:solidFill>
                        <a:effectLst/>
                        <a:latin typeface="+mn-lt"/>
                        <a:ea typeface="+mn-ea"/>
                        <a:cs typeface="+mn-cs"/>
                      </a:endParaRPr>
                    </a:p>
                  </a:txBody>
                  <a:tcPr/>
                </a:tc>
                <a:extLst>
                  <a:ext uri="{0D108BD9-81ED-4DB2-BD59-A6C34878D82A}">
                    <a16:rowId xmlns:a16="http://schemas.microsoft.com/office/drawing/2014/main" val="10004"/>
                  </a:ext>
                </a:extLst>
              </a:tr>
              <a:tr h="395605">
                <a:tc>
                  <a:txBody>
                    <a:bodyPr/>
                    <a:lstStyle/>
                    <a:p>
                      <a:pPr>
                        <a:buNone/>
                      </a:pPr>
                      <a:r>
                        <a:rPr lang="fr-FR" altLang="en-US" dirty="0"/>
                        <a:t>Appuyer l’</a:t>
                      </a:r>
                      <a:r>
                        <a:rPr lang="fr-FR" altLang="en-US" dirty="0" err="1"/>
                        <a:t>atélier</a:t>
                      </a:r>
                      <a:r>
                        <a:rPr lang="fr-FR" altLang="en-US" dirty="0"/>
                        <a:t> d’élaboration des édits portant financement de la vaccination </a:t>
                      </a:r>
                    </a:p>
                  </a:txBody>
                  <a:tcPr/>
                </a:tc>
                <a:tc>
                  <a:txBody>
                    <a:bodyPr/>
                    <a:lstStyle/>
                    <a:p>
                      <a:pPr>
                        <a:buNone/>
                      </a:pPr>
                      <a:r>
                        <a:rPr lang="fr-FR" altLang="en-US" dirty="0"/>
                        <a:t>3 </a:t>
                      </a:r>
                      <a:r>
                        <a:rPr lang="fr-FR" altLang="en-US" dirty="0" err="1"/>
                        <a:t>atéliers</a:t>
                      </a:r>
                      <a:r>
                        <a:rPr lang="fr-FR" altLang="en-US" dirty="0"/>
                        <a:t> provinces / 3 disposent des édits </a:t>
                      </a:r>
                    </a:p>
                  </a:txBody>
                  <a:tcPr/>
                </a:tc>
                <a:tc>
                  <a:txBody>
                    <a:bodyPr/>
                    <a:lstStyle/>
                    <a:p>
                      <a:pPr>
                        <a:buNone/>
                      </a:pPr>
                      <a:endParaRPr lang="fr-FR" altLang="en-US" dirty="0"/>
                    </a:p>
                  </a:txBody>
                  <a:tcPr/>
                </a:tc>
                <a:tc>
                  <a:txBody>
                    <a:bodyPr/>
                    <a:lstStyle/>
                    <a:p>
                      <a:pPr>
                        <a:buNone/>
                      </a:pPr>
                      <a:r>
                        <a:rPr lang="fr-FR" altLang="en-US" dirty="0"/>
                        <a:t>Les sources de financement des activités de vaccination sont fixées et connues</a:t>
                      </a:r>
                    </a:p>
                  </a:txBody>
                  <a:tcPr/>
                </a:tc>
                <a:extLst>
                  <a:ext uri="{0D108BD9-81ED-4DB2-BD59-A6C34878D82A}">
                    <a16:rowId xmlns:a16="http://schemas.microsoft.com/office/drawing/2014/main" val="10005"/>
                  </a:ext>
                </a:extLst>
              </a:tr>
              <a:tr h="395605">
                <a:tc>
                  <a:txBody>
                    <a:bodyPr/>
                    <a:lstStyle/>
                    <a:p>
                      <a:pPr>
                        <a:buNone/>
                      </a:pPr>
                      <a:endParaRPr lang="fr-FR" altLang="en-US" dirty="0"/>
                    </a:p>
                  </a:txBody>
                  <a:tcPr/>
                </a:tc>
                <a:tc>
                  <a:txBody>
                    <a:bodyPr/>
                    <a:lstStyle/>
                    <a:p>
                      <a:pPr>
                        <a:buNone/>
                      </a:pPr>
                      <a:endParaRPr lang="fr-FR" altLang="en-US" dirty="0"/>
                    </a:p>
                  </a:txBody>
                  <a:tcPr/>
                </a:tc>
                <a:tc>
                  <a:txBody>
                    <a:bodyPr/>
                    <a:lstStyle/>
                    <a:p>
                      <a:pPr>
                        <a:buNone/>
                      </a:pPr>
                      <a:endParaRPr lang="fr-FR" altLang="en-US" dirty="0"/>
                    </a:p>
                  </a:txBody>
                  <a:tcPr/>
                </a:tc>
                <a:tc>
                  <a:txBody>
                    <a:bodyPr/>
                    <a:lstStyle/>
                    <a:p>
                      <a:pPr>
                        <a:buNone/>
                      </a:pPr>
                      <a:endParaRPr lang="fr-FR" altLang="en-US"/>
                    </a:p>
                  </a:txBody>
                  <a:tcPr/>
                </a:tc>
                <a:extLst>
                  <a:ext uri="{0D108BD9-81ED-4DB2-BD59-A6C34878D82A}">
                    <a16:rowId xmlns:a16="http://schemas.microsoft.com/office/drawing/2014/main" val="10006"/>
                  </a:ext>
                </a:extLst>
              </a:tr>
              <a:tr h="395605">
                <a:tc>
                  <a:txBody>
                    <a:bodyPr/>
                    <a:lstStyle/>
                    <a:p>
                      <a:pPr>
                        <a:buNone/>
                      </a:pPr>
                      <a:endParaRPr lang="fr-FR" altLang="en-US" dirty="0"/>
                    </a:p>
                  </a:txBody>
                  <a:tcPr/>
                </a:tc>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extLst>
                  <a:ext uri="{0D108BD9-81ED-4DB2-BD59-A6C34878D82A}">
                    <a16:rowId xmlns:a16="http://schemas.microsoft.com/office/drawing/2014/main" val="10007"/>
                  </a:ext>
                </a:extLst>
              </a:tr>
              <a:tr h="395605">
                <a:tc>
                  <a:txBody>
                    <a:bodyPr/>
                    <a:lstStyle/>
                    <a:p>
                      <a:pPr>
                        <a:buNone/>
                      </a:pPr>
                      <a:endParaRPr lang="fr-FR" altLang="en-US" dirty="0"/>
                    </a:p>
                  </a:txBody>
                  <a:tcPr/>
                </a:tc>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a:p>
                  </a:txBody>
                  <a:tcPr/>
                </a:tc>
                <a:extLst>
                  <a:ext uri="{0D108BD9-81ED-4DB2-BD59-A6C34878D82A}">
                    <a16:rowId xmlns:a16="http://schemas.microsoft.com/office/drawing/2014/main" val="10008"/>
                  </a:ext>
                </a:extLst>
              </a:tr>
              <a:tr h="395605">
                <a:tc>
                  <a:txBody>
                    <a:bodyPr/>
                    <a:lstStyle/>
                    <a:p>
                      <a:pPr>
                        <a:buNone/>
                      </a:pPr>
                      <a:endParaRPr lang="fr-FR" altLang="en-US" dirty="0"/>
                    </a:p>
                  </a:txBody>
                  <a:tcPr/>
                </a:tc>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dirty="0"/>
                    </a:p>
                  </a:txBody>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7712758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aabd3d1b2d_0_290"/>
          <p:cNvSpPr txBox="1"/>
          <p:nvPr/>
        </p:nvSpPr>
        <p:spPr>
          <a:xfrm>
            <a:off x="303492" y="213766"/>
            <a:ext cx="11430000" cy="49549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fr-FR" sz="2700" b="0" i="0" u="none" strike="noStrike" cap="none" noProof="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Réalisations majeures de l’année en lien avec les activités planifiées du PAO  PEV</a:t>
            </a:r>
          </a:p>
          <a:p>
            <a:pPr marL="0" marR="0" lvl="0" indent="0" algn="l" rtl="0">
              <a:lnSpc>
                <a:spcPct val="100000"/>
              </a:lnSpc>
              <a:spcBef>
                <a:spcPts val="0"/>
              </a:spcBef>
              <a:spcAft>
                <a:spcPts val="0"/>
              </a:spcAft>
              <a:buClr>
                <a:schemeClr val="dk1"/>
              </a:buClr>
              <a:buSzPts val="1500"/>
              <a:buFont typeface="Arial" panose="020B0604020202020204"/>
              <a:buNone/>
            </a:pPr>
            <a:endParaRPr lang="fr-FR" sz="2700" b="0" i="0" u="none" strike="noStrike" cap="none" noProof="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7</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0"/>
          <p:cNvGraphicFramePr/>
          <p:nvPr>
            <p:custDataLst>
              <p:tags r:id="rId1"/>
            </p:custDataLst>
            <p:extLst>
              <p:ext uri="{D42A27DB-BD31-4B8C-83A1-F6EECF244321}">
                <p14:modId xmlns:p14="http://schemas.microsoft.com/office/powerpoint/2010/main" val="4235112409"/>
              </p:ext>
            </p:extLst>
          </p:nvPr>
        </p:nvGraphicFramePr>
        <p:xfrm>
          <a:off x="235500" y="591468"/>
          <a:ext cx="11803627" cy="6149340"/>
        </p:xfrm>
        <a:graphic>
          <a:graphicData uri="http://schemas.openxmlformats.org/drawingml/2006/table">
            <a:tbl>
              <a:tblPr firstRow="1" bandRow="1">
                <a:tableStyleId>{5C22544A-7EE6-4342-B048-85BDC9FD1C3A}</a:tableStyleId>
              </a:tblPr>
              <a:tblGrid>
                <a:gridCol w="2029383">
                  <a:extLst>
                    <a:ext uri="{9D8B030D-6E8A-4147-A177-3AD203B41FA5}">
                      <a16:colId xmlns:a16="http://schemas.microsoft.com/office/drawing/2014/main" val="20000"/>
                    </a:ext>
                  </a:extLst>
                </a:gridCol>
                <a:gridCol w="1733191">
                  <a:extLst>
                    <a:ext uri="{9D8B030D-6E8A-4147-A177-3AD203B41FA5}">
                      <a16:colId xmlns:a16="http://schemas.microsoft.com/office/drawing/2014/main" val="20001"/>
                    </a:ext>
                  </a:extLst>
                </a:gridCol>
                <a:gridCol w="4195517">
                  <a:extLst>
                    <a:ext uri="{9D8B030D-6E8A-4147-A177-3AD203B41FA5}">
                      <a16:colId xmlns:a16="http://schemas.microsoft.com/office/drawing/2014/main" val="20002"/>
                    </a:ext>
                  </a:extLst>
                </a:gridCol>
                <a:gridCol w="3845536">
                  <a:extLst>
                    <a:ext uri="{9D8B030D-6E8A-4147-A177-3AD203B41FA5}">
                      <a16:colId xmlns:a16="http://schemas.microsoft.com/office/drawing/2014/main" val="20003"/>
                    </a:ext>
                  </a:extLst>
                </a:gridCol>
              </a:tblGrid>
              <a:tr h="652041">
                <a:tc>
                  <a:txBody>
                    <a:bodyPr/>
                    <a:lstStyle/>
                    <a:p>
                      <a:pPr>
                        <a:buNone/>
                      </a:pPr>
                      <a:r>
                        <a:rPr lang="fr-FR" altLang="en-US"/>
                        <a:t>Activité prévu dans le PAO du PEV en 2025</a:t>
                      </a:r>
                    </a:p>
                  </a:txBody>
                  <a:tcPr/>
                </a:tc>
                <a:tc>
                  <a:txBody>
                    <a:bodyPr/>
                    <a:lstStyle/>
                    <a:p>
                      <a:pPr>
                        <a:buNone/>
                      </a:pPr>
                      <a:r>
                        <a:rPr lang="fr-FR" altLang="en-US"/>
                        <a:t>Niveau de réalisation</a:t>
                      </a:r>
                    </a:p>
                  </a:txBody>
                  <a:tcPr/>
                </a:tc>
                <a:tc>
                  <a:txBody>
                    <a:bodyPr/>
                    <a:lstStyle/>
                    <a:p>
                      <a:pPr>
                        <a:buNone/>
                      </a:pPr>
                      <a:r>
                        <a:rPr lang="fr-FR" altLang="en-US"/>
                        <a:t>Output</a:t>
                      </a:r>
                    </a:p>
                  </a:txBody>
                  <a:tcPr/>
                </a:tc>
                <a:tc>
                  <a:txBody>
                    <a:bodyPr/>
                    <a:lstStyle/>
                    <a:p>
                      <a:pPr>
                        <a:buNone/>
                      </a:pPr>
                      <a:r>
                        <a:rPr lang="fr-FR" altLang="en-US"/>
                        <a:t>Outcome</a:t>
                      </a:r>
                    </a:p>
                  </a:txBody>
                  <a:tcPr/>
                </a:tc>
                <a:extLst>
                  <a:ext uri="{0D108BD9-81ED-4DB2-BD59-A6C34878D82A}">
                    <a16:rowId xmlns:a16="http://schemas.microsoft.com/office/drawing/2014/main" val="10000"/>
                  </a:ext>
                </a:extLst>
              </a:tr>
              <a:tr h="395605">
                <a:tc>
                  <a:txBody>
                    <a:bodyPr/>
                    <a:lstStyle/>
                    <a:p>
                      <a:pPr>
                        <a:buNone/>
                      </a:pPr>
                      <a:r>
                        <a:rPr lang="fr-FR" altLang="en-US" dirty="0"/>
                        <a:t>La mobilisation des </a:t>
                      </a:r>
                      <a:r>
                        <a:rPr lang="fr-FR" altLang="en-US" dirty="0" err="1"/>
                        <a:t>resources</a:t>
                      </a:r>
                      <a:r>
                        <a:rPr lang="fr-FR" altLang="en-US" dirty="0"/>
                        <a:t> domestiques dans les provinces du Haut-Katanga, du </a:t>
                      </a:r>
                      <a:r>
                        <a:rPr lang="fr-FR" altLang="en-US" dirty="0" err="1"/>
                        <a:t>Kasai-Oriental</a:t>
                      </a:r>
                      <a:r>
                        <a:rPr lang="fr-FR" altLang="en-US" dirty="0"/>
                        <a:t> et de la </a:t>
                      </a:r>
                      <a:r>
                        <a:rPr lang="fr-FR" altLang="en-US" dirty="0" err="1"/>
                        <a:t>Tshopo</a:t>
                      </a:r>
                      <a:endParaRPr lang="fr-FR"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u="none" strike="noStrike" cap="none" noProof="0" dirty="0"/>
                        <a:t>Taux de décaissement de 40% au Haut-Katanga avec</a:t>
                      </a:r>
                    </a:p>
                    <a:p>
                      <a:pPr>
                        <a:buNone/>
                      </a:pPr>
                      <a:endParaRPr lang="fr-FR" altLang="en-US" dirty="0"/>
                    </a:p>
                  </a:txBody>
                  <a:tcPr/>
                </a:tc>
                <a:tc>
                  <a:txBody>
                    <a:bodyPr/>
                    <a:lstStyle/>
                    <a:p>
                      <a:pPr marL="171450" marR="0" lvl="0" indent="-171450" algn="l" rtl="0">
                        <a:lnSpc>
                          <a:spcPct val="100000"/>
                        </a:lnSpc>
                        <a:spcBef>
                          <a:spcPts val="300"/>
                        </a:spcBef>
                        <a:spcAft>
                          <a:spcPts val="0"/>
                        </a:spcAft>
                        <a:buClr>
                          <a:srgbClr val="000000"/>
                        </a:buClr>
                        <a:buSzPts val="1200"/>
                        <a:buFont typeface="Arial"/>
                        <a:buChar char="•"/>
                      </a:pPr>
                      <a:r>
                        <a:rPr lang="fr-FR" sz="1800" u="none" strike="noStrike" cap="none" noProof="0" dirty="0"/>
                        <a:t>La disponibilité des plans provinciaux d’investissement de la vaccination dans les provinces</a:t>
                      </a:r>
                    </a:p>
                    <a:p>
                      <a:pPr marL="171450" marR="0" lvl="0" indent="-171450" algn="l" rtl="0">
                        <a:lnSpc>
                          <a:spcPct val="100000"/>
                        </a:lnSpc>
                        <a:spcBef>
                          <a:spcPts val="300"/>
                        </a:spcBef>
                        <a:spcAft>
                          <a:spcPts val="0"/>
                        </a:spcAft>
                        <a:buClr>
                          <a:srgbClr val="000000"/>
                        </a:buClr>
                        <a:buSzPts val="1200"/>
                        <a:buFont typeface="Arial"/>
                        <a:buChar char="•"/>
                      </a:pPr>
                      <a:r>
                        <a:rPr lang="fr-FR" sz="1800" u="none" strike="noStrike" cap="none" noProof="0" dirty="0"/>
                        <a:t>Les édits portant financement de la vaccination (Haut-Katanga et Kasaï-Oriental)</a:t>
                      </a:r>
                    </a:p>
                    <a:p>
                      <a:pPr marL="171450" marR="0" lvl="0" indent="-171450" algn="l" rtl="0">
                        <a:lnSpc>
                          <a:spcPct val="100000"/>
                        </a:lnSpc>
                        <a:spcBef>
                          <a:spcPts val="300"/>
                        </a:spcBef>
                        <a:spcAft>
                          <a:spcPts val="0"/>
                        </a:spcAft>
                        <a:buClr>
                          <a:srgbClr val="000000"/>
                        </a:buClr>
                        <a:buSzPts val="1200"/>
                        <a:buFont typeface="Arial"/>
                        <a:buChar char="•"/>
                      </a:pPr>
                      <a:r>
                        <a:rPr lang="fr-FR" sz="1800" u="none" strike="noStrike" cap="none" noProof="0" dirty="0"/>
                        <a:t>Projet d’</a:t>
                      </a:r>
                      <a:r>
                        <a:rPr lang="fr-FR" sz="1800" u="none" strike="noStrike" cap="none" noProof="0" dirty="0" err="1"/>
                        <a:t>Arreté</a:t>
                      </a:r>
                      <a:r>
                        <a:rPr lang="fr-FR" sz="1800" u="none" strike="noStrike" cap="none" noProof="0" dirty="0"/>
                        <a:t> portant des modalités de mise en œuvre de l’Edit de financement de la vaccination avec la création du Fonds Provincial de Promotion de la vaccination, FPPV-HK (Haut-Katanga)</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u="none" strike="noStrike" cap="none" dirty="0">
                          <a:solidFill>
                            <a:srgbClr val="0046D2"/>
                          </a:solidFill>
                        </a:rPr>
                        <a:t>Ligne </a:t>
                      </a:r>
                      <a:r>
                        <a:rPr lang="fr-FR" sz="1800" b="1" u="none" strike="noStrike" cap="none" noProof="0" dirty="0">
                          <a:solidFill>
                            <a:srgbClr val="0046D2"/>
                          </a:solidFill>
                        </a:rPr>
                        <a:t>budgétaire </a:t>
                      </a:r>
                      <a:r>
                        <a:rPr lang="fr-FR" sz="1800" u="none" strike="noStrike" cap="none" noProof="0" dirty="0"/>
                        <a:t>dédiée </a:t>
                      </a:r>
                      <a:r>
                        <a:rPr lang="en-US" sz="1800" u="none" strike="noStrike" cap="none" dirty="0" err="1"/>
                        <a:t>en</a:t>
                      </a:r>
                      <a:r>
                        <a:rPr lang="en-US" sz="1800" u="none" strike="noStrike" cap="none" dirty="0"/>
                        <a:t> </a:t>
                      </a:r>
                      <a:r>
                        <a:rPr lang="fr-FR" sz="1800" u="none" strike="noStrike" cap="none" noProof="0" dirty="0"/>
                        <a:t>faveur de la vaccination est de 0$ en 2024 a 55 000$ (Kasaï-Oriental), 255 000$ (</a:t>
                      </a:r>
                      <a:r>
                        <a:rPr lang="fr-FR" sz="1800" u="none" strike="noStrike" cap="none" noProof="0" dirty="0" err="1"/>
                        <a:t>Tshopo</a:t>
                      </a:r>
                      <a:r>
                        <a:rPr lang="fr-FR" sz="1800" u="none" strike="noStrike" cap="none" noProof="0" dirty="0"/>
                        <a:t>) et 1.016.000$ (Haut-Katanga) en 2025 (Première année d’avoir des lignes budgétaires dédiées).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800" u="none" strike="noStrike" cap="none" noProof="0" dirty="0"/>
                        <a:t>Un impact sur le transport des vaccins et le renforcement de la supervision</a:t>
                      </a:r>
                    </a:p>
                  </a:txBody>
                  <a:tcPr/>
                </a:tc>
                <a:extLst>
                  <a:ext uri="{0D108BD9-81ED-4DB2-BD59-A6C34878D82A}">
                    <a16:rowId xmlns:a16="http://schemas.microsoft.com/office/drawing/2014/main" val="10001"/>
                  </a:ext>
                </a:extLst>
              </a:tr>
              <a:tr h="395605">
                <a:tc>
                  <a:txBody>
                    <a:bodyPr/>
                    <a:lstStyle/>
                    <a:p>
                      <a:pPr>
                        <a:buNone/>
                      </a:pPr>
                      <a:r>
                        <a:rPr lang="fr-FR" altLang="en-US" dirty="0"/>
                        <a:t>La mise en place des innovations dans le suivi des flux des financement de la vaccination</a:t>
                      </a:r>
                    </a:p>
                  </a:txBody>
                  <a:tcPr/>
                </a:tc>
                <a:tc>
                  <a:txBody>
                    <a:bodyPr/>
                    <a:lstStyle/>
                    <a:p>
                      <a:pPr>
                        <a:buNone/>
                      </a:pPr>
                      <a:r>
                        <a:rPr lang="fr-FR" altLang="en-US" dirty="0"/>
                        <a:t>100%</a:t>
                      </a:r>
                    </a:p>
                  </a:txBody>
                  <a:tcPr/>
                </a:tc>
                <a:tc>
                  <a:txBody>
                    <a:bodyPr/>
                    <a:lstStyle/>
                    <a:p>
                      <a:pPr marL="171450" marR="0" lvl="0" indent="-171450" algn="l" rtl="0">
                        <a:lnSpc>
                          <a:spcPct val="100000"/>
                        </a:lnSpc>
                        <a:spcBef>
                          <a:spcPts val="300"/>
                        </a:spcBef>
                        <a:spcAft>
                          <a:spcPts val="0"/>
                        </a:spcAft>
                        <a:buClr>
                          <a:srgbClr val="000000"/>
                        </a:buClr>
                        <a:buSzPts val="1200"/>
                        <a:buFont typeface="Arial"/>
                        <a:buChar char="•"/>
                      </a:pPr>
                      <a:r>
                        <a:rPr lang="fr-FR" sz="1800" u="none" strike="noStrike" cap="none" noProof="0" dirty="0"/>
                        <a:t>l’outil RMET </a:t>
                      </a:r>
                    </a:p>
                    <a:p>
                      <a:pPr marL="171450" marR="0" lvl="0" indent="-171450" algn="l" rtl="0">
                        <a:lnSpc>
                          <a:spcPct val="100000"/>
                        </a:lnSpc>
                        <a:spcBef>
                          <a:spcPts val="300"/>
                        </a:spcBef>
                        <a:spcAft>
                          <a:spcPts val="0"/>
                        </a:spcAft>
                        <a:buClr>
                          <a:srgbClr val="000000"/>
                        </a:buClr>
                        <a:buSzPts val="1200"/>
                        <a:buFont typeface="Arial"/>
                        <a:buChar char="•"/>
                      </a:pPr>
                      <a:r>
                        <a:rPr lang="fr-FR" sz="1800" u="none" strike="noStrike" cap="none" noProof="0" dirty="0"/>
                        <a:t>l’application “Gestion de la Trésorerie” des BCZ</a:t>
                      </a:r>
                    </a:p>
                    <a:p>
                      <a:pPr>
                        <a:buNone/>
                      </a:pPr>
                      <a:endParaRPr lang="fr-FR" altLang="en-US" dirty="0"/>
                    </a:p>
                  </a:txBody>
                  <a:tcPr/>
                </a:tc>
                <a:tc>
                  <a:txBody>
                    <a:bodyPr/>
                    <a:lstStyle/>
                    <a:p>
                      <a:pPr marL="171450" marR="0" lvl="0" indent="-171450" algn="l" rtl="0">
                        <a:lnSpc>
                          <a:spcPct val="100000"/>
                        </a:lnSpc>
                        <a:spcBef>
                          <a:spcPts val="300"/>
                        </a:spcBef>
                        <a:spcAft>
                          <a:spcPts val="0"/>
                        </a:spcAft>
                        <a:buClr>
                          <a:srgbClr val="000000"/>
                        </a:buClr>
                        <a:buSzPts val="1200"/>
                        <a:buFont typeface="Arial"/>
                        <a:buChar char="•"/>
                      </a:pPr>
                      <a:r>
                        <a:rPr lang="en-US" sz="1800" u="none" strike="noStrike" cap="none" dirty="0"/>
                        <a:t>Le </a:t>
                      </a:r>
                      <a:r>
                        <a:rPr lang="fr-FR" sz="1800" u="none" strike="noStrike" cap="none" noProof="0" dirty="0"/>
                        <a:t>renforcement de la coordination, alignement, redevabilité et efficience des allocations  et analyse</a:t>
                      </a:r>
                    </a:p>
                    <a:p>
                      <a:pPr marL="171450" marR="0" lvl="0" indent="-171450" algn="l" rtl="0">
                        <a:lnSpc>
                          <a:spcPct val="100000"/>
                        </a:lnSpc>
                        <a:spcBef>
                          <a:spcPts val="300"/>
                        </a:spcBef>
                        <a:spcAft>
                          <a:spcPts val="0"/>
                        </a:spcAft>
                        <a:buClr>
                          <a:srgbClr val="000000"/>
                        </a:buClr>
                        <a:buSzPts val="1200"/>
                        <a:buFont typeface="Arial"/>
                        <a:buChar char="•"/>
                      </a:pPr>
                      <a:r>
                        <a:rPr lang="fr-FR" sz="1800" u="none" strike="noStrike" cap="none" noProof="0" dirty="0"/>
                        <a:t>Le renforcement de la transparence et l’</a:t>
                      </a:r>
                      <a:r>
                        <a:rPr lang="fr-FR" sz="1800" u="none" strike="noStrike" cap="none" noProof="0" dirty="0" err="1"/>
                        <a:t>efficaté</a:t>
                      </a:r>
                      <a:r>
                        <a:rPr lang="fr-FR" sz="1800" u="none" strike="noStrike" cap="none" noProof="0" dirty="0"/>
                        <a:t>, le suivi en temps </a:t>
                      </a:r>
                      <a:r>
                        <a:rPr lang="fr-FR" sz="1800" u="none" strike="noStrike" cap="none" noProof="0" dirty="0" err="1"/>
                        <a:t>reel</a:t>
                      </a:r>
                      <a:r>
                        <a:rPr lang="fr-FR" sz="1800" u="none" strike="noStrike" cap="none" noProof="0" dirty="0"/>
                        <a:t> des ressources mises a la disposition des</a:t>
                      </a:r>
                    </a:p>
                    <a:p>
                      <a:pPr>
                        <a:buNone/>
                      </a:pPr>
                      <a:endParaRPr lang="fr-FR" altLang="en-US" dirty="0"/>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C5A767DA-C547-A0DB-F9B3-122106E39E71}"/>
            </a:ext>
          </a:extLst>
        </p:cNvPr>
        <p:cNvGrpSpPr/>
        <p:nvPr/>
      </p:nvGrpSpPr>
      <p:grpSpPr>
        <a:xfrm>
          <a:off x="0" y="0"/>
          <a:ext cx="0" cy="0"/>
          <a:chOff x="0" y="0"/>
          <a:chExt cx="0" cy="0"/>
        </a:xfrm>
      </p:grpSpPr>
      <p:sp>
        <p:nvSpPr>
          <p:cNvPr id="176" name="Google Shape;176;g3aabd3d1b2d_0_290">
            <a:extLst>
              <a:ext uri="{FF2B5EF4-FFF2-40B4-BE49-F238E27FC236}">
                <a16:creationId xmlns:a16="http://schemas.microsoft.com/office/drawing/2014/main" id="{5B7BB39C-AC05-2555-99AA-21A987E8EE3D}"/>
              </a:ext>
            </a:extLst>
          </p:cNvPr>
          <p:cNvSpPr txBox="1"/>
          <p:nvPr/>
        </p:nvSpPr>
        <p:spPr>
          <a:xfrm>
            <a:off x="303492" y="213766"/>
            <a:ext cx="11430000" cy="49549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fr-FR" sz="2700" b="0" i="0" u="none" strike="noStrike" cap="none" noProof="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Réalisations majeures de l’année en lien avec les activités planifiées du PAO  PEV</a:t>
            </a:r>
          </a:p>
          <a:p>
            <a:pPr marL="0" marR="0" lvl="0" indent="0" algn="l" rtl="0">
              <a:lnSpc>
                <a:spcPct val="100000"/>
              </a:lnSpc>
              <a:spcBef>
                <a:spcPts val="0"/>
              </a:spcBef>
              <a:spcAft>
                <a:spcPts val="0"/>
              </a:spcAft>
              <a:buClr>
                <a:schemeClr val="dk1"/>
              </a:buClr>
              <a:buSzPts val="1500"/>
              <a:buFont typeface="Arial" panose="020B0604020202020204"/>
              <a:buNone/>
            </a:pPr>
            <a:endParaRPr lang="fr-FR" sz="2700" b="0" i="0" u="none" strike="noStrike" cap="none" noProof="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a:extLst>
              <a:ext uri="{FF2B5EF4-FFF2-40B4-BE49-F238E27FC236}">
                <a16:creationId xmlns:a16="http://schemas.microsoft.com/office/drawing/2014/main" id="{C4283317-56A3-5D28-A215-9A48259898C2}"/>
              </a:ext>
            </a:extLst>
          </p:cNvPr>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a:extLst>
              <a:ext uri="{FF2B5EF4-FFF2-40B4-BE49-F238E27FC236}">
                <a16:creationId xmlns:a16="http://schemas.microsoft.com/office/drawing/2014/main" id="{EB1F8512-1550-4CAA-06D4-BCCC6215E655}"/>
              </a:ext>
            </a:extLst>
          </p:cNvPr>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a:extLst>
              <a:ext uri="{FF2B5EF4-FFF2-40B4-BE49-F238E27FC236}">
                <a16:creationId xmlns:a16="http://schemas.microsoft.com/office/drawing/2014/main" id="{0384A75E-AE7A-30E0-AC2F-DC7C5390236B}"/>
              </a:ext>
            </a:extLst>
          </p:cNvPr>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8</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a:extLst>
              <a:ext uri="{FF2B5EF4-FFF2-40B4-BE49-F238E27FC236}">
                <a16:creationId xmlns:a16="http://schemas.microsoft.com/office/drawing/2014/main" id="{69C70D6D-1B0D-26C7-0320-10202251BD46}"/>
              </a:ext>
            </a:extLst>
          </p:cNvPr>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0">
            <a:extLst>
              <a:ext uri="{FF2B5EF4-FFF2-40B4-BE49-F238E27FC236}">
                <a16:creationId xmlns:a16="http://schemas.microsoft.com/office/drawing/2014/main" id="{F9F37753-F749-E0A8-74B5-9FF683F55EEA}"/>
              </a:ext>
            </a:extLst>
          </p:cNvPr>
          <p:cNvGraphicFramePr/>
          <p:nvPr>
            <p:custDataLst>
              <p:tags r:id="rId1"/>
            </p:custDataLst>
            <p:extLst>
              <p:ext uri="{D42A27DB-BD31-4B8C-83A1-F6EECF244321}">
                <p14:modId xmlns:p14="http://schemas.microsoft.com/office/powerpoint/2010/main" val="2754993920"/>
              </p:ext>
            </p:extLst>
          </p:nvPr>
        </p:nvGraphicFramePr>
        <p:xfrm>
          <a:off x="235500" y="591468"/>
          <a:ext cx="11803627" cy="6217920"/>
        </p:xfrm>
        <a:graphic>
          <a:graphicData uri="http://schemas.openxmlformats.org/drawingml/2006/table">
            <a:tbl>
              <a:tblPr firstRow="1" bandRow="1">
                <a:tableStyleId>{5C22544A-7EE6-4342-B048-85BDC9FD1C3A}</a:tableStyleId>
              </a:tblPr>
              <a:tblGrid>
                <a:gridCol w="2029383">
                  <a:extLst>
                    <a:ext uri="{9D8B030D-6E8A-4147-A177-3AD203B41FA5}">
                      <a16:colId xmlns:a16="http://schemas.microsoft.com/office/drawing/2014/main" val="20000"/>
                    </a:ext>
                  </a:extLst>
                </a:gridCol>
                <a:gridCol w="1733191">
                  <a:extLst>
                    <a:ext uri="{9D8B030D-6E8A-4147-A177-3AD203B41FA5}">
                      <a16:colId xmlns:a16="http://schemas.microsoft.com/office/drawing/2014/main" val="20001"/>
                    </a:ext>
                  </a:extLst>
                </a:gridCol>
                <a:gridCol w="5310518">
                  <a:extLst>
                    <a:ext uri="{9D8B030D-6E8A-4147-A177-3AD203B41FA5}">
                      <a16:colId xmlns:a16="http://schemas.microsoft.com/office/drawing/2014/main" val="20002"/>
                    </a:ext>
                  </a:extLst>
                </a:gridCol>
                <a:gridCol w="2730535">
                  <a:extLst>
                    <a:ext uri="{9D8B030D-6E8A-4147-A177-3AD203B41FA5}">
                      <a16:colId xmlns:a16="http://schemas.microsoft.com/office/drawing/2014/main" val="20003"/>
                    </a:ext>
                  </a:extLst>
                </a:gridCol>
              </a:tblGrid>
              <a:tr h="652041">
                <a:tc>
                  <a:txBody>
                    <a:bodyPr/>
                    <a:lstStyle/>
                    <a:p>
                      <a:pPr>
                        <a:buNone/>
                      </a:pPr>
                      <a:r>
                        <a:rPr lang="fr-FR" altLang="en-US"/>
                        <a:t>Activité prévu dans le PAO du PEV en 2025</a:t>
                      </a:r>
                    </a:p>
                  </a:txBody>
                  <a:tcPr/>
                </a:tc>
                <a:tc>
                  <a:txBody>
                    <a:bodyPr/>
                    <a:lstStyle/>
                    <a:p>
                      <a:pPr>
                        <a:buNone/>
                      </a:pPr>
                      <a:r>
                        <a:rPr lang="fr-FR" altLang="en-US"/>
                        <a:t>Niveau de réalisation</a:t>
                      </a:r>
                    </a:p>
                  </a:txBody>
                  <a:tcPr/>
                </a:tc>
                <a:tc>
                  <a:txBody>
                    <a:bodyPr/>
                    <a:lstStyle/>
                    <a:p>
                      <a:pPr>
                        <a:buNone/>
                      </a:pPr>
                      <a:r>
                        <a:rPr lang="fr-FR" altLang="en-US"/>
                        <a:t>Output</a:t>
                      </a:r>
                    </a:p>
                  </a:txBody>
                  <a:tcPr/>
                </a:tc>
                <a:tc>
                  <a:txBody>
                    <a:bodyPr/>
                    <a:lstStyle/>
                    <a:p>
                      <a:pPr>
                        <a:buNone/>
                      </a:pPr>
                      <a:r>
                        <a:rPr lang="fr-FR" altLang="en-US"/>
                        <a:t>Outcome</a:t>
                      </a:r>
                    </a:p>
                  </a:txBody>
                  <a:tcPr/>
                </a:tc>
                <a:extLst>
                  <a:ext uri="{0D108BD9-81ED-4DB2-BD59-A6C34878D82A}">
                    <a16:rowId xmlns:a16="http://schemas.microsoft.com/office/drawing/2014/main" val="10000"/>
                  </a:ext>
                </a:extLst>
              </a:tr>
              <a:tr h="39560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800" b="0" u="none" strike="noStrike" cap="none"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800" b="0" u="none" strike="noStrike" cap="none"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800" b="0" u="none" strike="noStrike" cap="none"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800" b="0" u="none" strike="noStrike" cap="none"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800" b="0" u="none" strike="noStrike" cap="none"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800" b="0" u="none" strike="noStrike" cap="none"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800" b="0" u="none" strike="noStrike" cap="none"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1800" b="0" u="none" strike="noStrike" cap="none" dirty="0"/>
                        <a:t>La préparation et la mise en œuvre du MoU Haut-Katanga </a:t>
                      </a:r>
                    </a:p>
                  </a:txBody>
                  <a:tcPr/>
                </a:tc>
                <a:tc>
                  <a:txBody>
                    <a:bodyPr/>
                    <a:lstStyle/>
                    <a:p>
                      <a:pPr>
                        <a:buNone/>
                      </a:pPr>
                      <a:endParaRPr lang="fr-FR" altLang="en-US" dirty="0"/>
                    </a:p>
                    <a:p>
                      <a:pPr>
                        <a:buNone/>
                      </a:pPr>
                      <a:endParaRPr lang="fr-FR" altLang="en-US" dirty="0"/>
                    </a:p>
                    <a:p>
                      <a:pPr>
                        <a:buNone/>
                      </a:pPr>
                      <a:endParaRPr lang="fr-FR" altLang="en-US" dirty="0"/>
                    </a:p>
                    <a:p>
                      <a:pPr>
                        <a:buNone/>
                      </a:pPr>
                      <a:endParaRPr lang="fr-FR" altLang="en-US" dirty="0"/>
                    </a:p>
                    <a:p>
                      <a:pPr>
                        <a:buNone/>
                      </a:pPr>
                      <a:endParaRPr lang="fr-FR" altLang="en-US" dirty="0"/>
                    </a:p>
                    <a:p>
                      <a:pPr>
                        <a:buNone/>
                      </a:pPr>
                      <a:endParaRPr lang="fr-FR" altLang="en-US" dirty="0"/>
                    </a:p>
                    <a:p>
                      <a:pPr>
                        <a:buNone/>
                      </a:pPr>
                      <a:endParaRPr lang="fr-FR" altLang="en-US" dirty="0"/>
                    </a:p>
                    <a:p>
                      <a:pPr>
                        <a:buNone/>
                      </a:pPr>
                      <a:endParaRPr lang="fr-FR" altLang="en-US" dirty="0"/>
                    </a:p>
                    <a:p>
                      <a:pPr algn="ctr">
                        <a:buNone/>
                      </a:pPr>
                      <a:r>
                        <a:rPr lang="fr-FR" altLang="en-US" dirty="0"/>
                        <a:t>70%</a:t>
                      </a:r>
                    </a:p>
                  </a:txBody>
                  <a:tcPr/>
                </a:tc>
                <a:tc>
                  <a:txBody>
                    <a:bodyPr/>
                    <a:lstStyle/>
                    <a:p>
                      <a:pPr marL="285750" lvl="0" indent="-285750">
                        <a:buFont typeface="Arial" panose="020B0604020202020204" pitchFamily="34" charset="0"/>
                        <a:buChar char="•"/>
                      </a:pPr>
                      <a:r>
                        <a:rPr lang="fr-FR" sz="1800" kern="1200" dirty="0">
                          <a:solidFill>
                            <a:schemeClr val="dk1"/>
                          </a:solidFill>
                          <a:effectLst/>
                          <a:latin typeface="+mn-lt"/>
                          <a:ea typeface="+mn-ea"/>
                          <a:cs typeface="+mn-cs"/>
                        </a:rPr>
                        <a:t>Les documents du MoU Haut-Katanga sont disponibles (Protocole d’Entente, le cadre programmatique et le manuel des procédures de gestion</a:t>
                      </a:r>
                    </a:p>
                    <a:p>
                      <a:pPr marL="285750" lvl="0" indent="-285750">
                        <a:buFont typeface="Arial" panose="020B0604020202020204" pitchFamily="34" charset="0"/>
                        <a:buChar char="•"/>
                      </a:pPr>
                      <a:r>
                        <a:rPr lang="fr-FR" sz="1800" kern="1200" dirty="0">
                          <a:solidFill>
                            <a:schemeClr val="dk1"/>
                          </a:solidFill>
                          <a:effectLst/>
                          <a:latin typeface="+mn-lt"/>
                          <a:ea typeface="+mn-ea"/>
                          <a:cs typeface="+mn-cs"/>
                        </a:rPr>
                        <a:t>Le logiciel Tom2Pro acquis et la formation de 3 financiers de la DPS</a:t>
                      </a:r>
                    </a:p>
                    <a:p>
                      <a:pPr marL="285750" lvl="0" indent="-285750">
                        <a:buFont typeface="Arial" panose="020B0604020202020204" pitchFamily="34" charset="0"/>
                        <a:buChar char="•"/>
                      </a:pPr>
                      <a:r>
                        <a:rPr lang="fr-FR" sz="1800" kern="1200" dirty="0">
                          <a:solidFill>
                            <a:schemeClr val="dk1"/>
                          </a:solidFill>
                          <a:effectLst/>
                          <a:latin typeface="+mn-lt"/>
                          <a:ea typeface="+mn-ea"/>
                          <a:cs typeface="+mn-cs"/>
                        </a:rPr>
                        <a:t>5 cadres de la DPS et 2 de l’IPS formés en système comptable OHADA</a:t>
                      </a:r>
                    </a:p>
                    <a:p>
                      <a:pPr marL="285750" lvl="0" indent="-285750">
                        <a:buFont typeface="Arial" panose="020B0604020202020204" pitchFamily="34" charset="0"/>
                        <a:buChar char="•"/>
                      </a:pPr>
                      <a:r>
                        <a:rPr lang="fr-FR" sz="1800" kern="1200" dirty="0">
                          <a:solidFill>
                            <a:schemeClr val="dk1"/>
                          </a:solidFill>
                          <a:effectLst/>
                          <a:latin typeface="+mn-lt"/>
                          <a:ea typeface="+mn-ea"/>
                          <a:cs typeface="+mn-cs"/>
                        </a:rPr>
                        <a:t>11 experts provinciaux formés en passation des marchés publics</a:t>
                      </a:r>
                    </a:p>
                    <a:p>
                      <a:pPr marL="285750" lvl="0" indent="-285750">
                        <a:buFont typeface="Arial" panose="020B0604020202020204" pitchFamily="34" charset="0"/>
                        <a:buChar char="•"/>
                      </a:pPr>
                      <a:r>
                        <a:rPr lang="fr-FR" sz="1800" kern="1200" dirty="0">
                          <a:solidFill>
                            <a:schemeClr val="dk1"/>
                          </a:solidFill>
                          <a:effectLst/>
                          <a:latin typeface="+mn-lt"/>
                          <a:ea typeface="+mn-ea"/>
                          <a:cs typeface="+mn-cs"/>
                        </a:rPr>
                        <a:t>8 cadres de la DPS et 2 de l’IPS formés en archivage électronique et gestion des avances et la justification des fonds</a:t>
                      </a:r>
                    </a:p>
                    <a:p>
                      <a:pPr marL="285750" lvl="0" indent="-285750">
                        <a:buFont typeface="Arial" panose="020B0604020202020204" pitchFamily="34" charset="0"/>
                        <a:buChar char="•"/>
                      </a:pPr>
                      <a:r>
                        <a:rPr lang="fr-FR" sz="1800" kern="1200" dirty="0">
                          <a:solidFill>
                            <a:schemeClr val="dk1"/>
                          </a:solidFill>
                          <a:effectLst/>
                          <a:latin typeface="+mn-lt"/>
                          <a:ea typeface="+mn-ea"/>
                          <a:cs typeface="+mn-cs"/>
                        </a:rPr>
                        <a:t>1.800.000$ budget 2026 et 150.000$ décaissés au T4 2025</a:t>
                      </a:r>
                    </a:p>
                    <a:p>
                      <a:pPr marL="285750" lvl="0" indent="-285750">
                        <a:buFont typeface="Arial" panose="020B0604020202020204" pitchFamily="34" charset="0"/>
                        <a:buChar char="•"/>
                      </a:pPr>
                      <a:r>
                        <a:rPr lang="fr-FR" sz="1800" kern="1200" dirty="0">
                          <a:solidFill>
                            <a:schemeClr val="dk1"/>
                          </a:solidFill>
                          <a:effectLst/>
                          <a:latin typeface="+mn-lt"/>
                          <a:ea typeface="+mn-ea"/>
                          <a:cs typeface="+mn-cs"/>
                        </a:rPr>
                        <a:t>3 ministres, 10 députés et 11 personnes des OSC sensibilisés en approche MoU</a:t>
                      </a:r>
                    </a:p>
                    <a:p>
                      <a:pPr marL="285750" lvl="0" indent="-285750">
                        <a:buFont typeface="Arial" panose="020B0604020202020204" pitchFamily="34" charset="0"/>
                        <a:buChar char="•"/>
                      </a:pPr>
                      <a:r>
                        <a:rPr lang="fr-FR" sz="1800" kern="1200" dirty="0">
                          <a:solidFill>
                            <a:schemeClr val="dk1"/>
                          </a:solidFill>
                          <a:effectLst/>
                          <a:latin typeface="+mn-lt"/>
                          <a:ea typeface="+mn-ea"/>
                          <a:cs typeface="+mn-cs"/>
                        </a:rPr>
                        <a:t>Projet d’</a:t>
                      </a:r>
                      <a:r>
                        <a:rPr lang="fr-FR" sz="1800" kern="1200" dirty="0" err="1">
                          <a:solidFill>
                            <a:schemeClr val="dk1"/>
                          </a:solidFill>
                          <a:effectLst/>
                          <a:latin typeface="+mn-lt"/>
                          <a:ea typeface="+mn-ea"/>
                          <a:cs typeface="+mn-cs"/>
                        </a:rPr>
                        <a:t>Arreté</a:t>
                      </a:r>
                      <a:r>
                        <a:rPr lang="fr-FR" sz="1800" kern="1200" dirty="0">
                          <a:solidFill>
                            <a:schemeClr val="dk1"/>
                          </a:solidFill>
                          <a:effectLst/>
                          <a:latin typeface="+mn-lt"/>
                          <a:ea typeface="+mn-ea"/>
                          <a:cs typeface="+mn-cs"/>
                        </a:rPr>
                        <a:t> de la création et financement du Fonds Provincial de la Promotion de la vaccination</a:t>
                      </a:r>
                      <a:endParaRPr lang="fr-FR" sz="1800" u="none" strike="noStrike" cap="none"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800" u="none" strike="noStrike" cap="none" noProof="0" dirty="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1239670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CA8334FB-14CB-97AB-96CB-C886B85E54BE}"/>
            </a:ext>
          </a:extLst>
        </p:cNvPr>
        <p:cNvGrpSpPr/>
        <p:nvPr/>
      </p:nvGrpSpPr>
      <p:grpSpPr>
        <a:xfrm>
          <a:off x="0" y="0"/>
          <a:ext cx="0" cy="0"/>
          <a:chOff x="0" y="0"/>
          <a:chExt cx="0" cy="0"/>
        </a:xfrm>
      </p:grpSpPr>
      <p:sp>
        <p:nvSpPr>
          <p:cNvPr id="176" name="Google Shape;176;g3aabd3d1b2d_0_290">
            <a:extLst>
              <a:ext uri="{FF2B5EF4-FFF2-40B4-BE49-F238E27FC236}">
                <a16:creationId xmlns:a16="http://schemas.microsoft.com/office/drawing/2014/main" id="{CC7674E3-3C94-D703-5AAE-F64BC1D61FAB}"/>
              </a:ext>
            </a:extLst>
          </p:cNvPr>
          <p:cNvSpPr txBox="1"/>
          <p:nvPr/>
        </p:nvSpPr>
        <p:spPr>
          <a:xfrm>
            <a:off x="267700" y="104350"/>
            <a:ext cx="11430000" cy="49549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fr-FR" sz="2700" b="0" i="0" u="none" strike="noStrike" cap="none" noProof="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Réalisations majeures de l’année en lien avec les activités planifiées du PAO  PEV</a:t>
            </a:r>
          </a:p>
          <a:p>
            <a:pPr marL="0" marR="0" lvl="0" indent="0" algn="l" rtl="0">
              <a:lnSpc>
                <a:spcPct val="100000"/>
              </a:lnSpc>
              <a:spcBef>
                <a:spcPts val="0"/>
              </a:spcBef>
              <a:spcAft>
                <a:spcPts val="0"/>
              </a:spcAft>
              <a:buClr>
                <a:schemeClr val="dk1"/>
              </a:buClr>
              <a:buSzPts val="1500"/>
              <a:buFont typeface="Arial" panose="020B0604020202020204"/>
              <a:buNone/>
            </a:pPr>
            <a:endParaRPr lang="fr-FR" sz="2700" b="0" i="0" u="none" strike="noStrike" cap="none" noProof="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a:extLst>
              <a:ext uri="{FF2B5EF4-FFF2-40B4-BE49-F238E27FC236}">
                <a16:creationId xmlns:a16="http://schemas.microsoft.com/office/drawing/2014/main" id="{236ACA20-EFE7-E620-08CF-9F8B3BD5FEB0}"/>
              </a:ext>
            </a:extLst>
          </p:cNvPr>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a:extLst>
              <a:ext uri="{FF2B5EF4-FFF2-40B4-BE49-F238E27FC236}">
                <a16:creationId xmlns:a16="http://schemas.microsoft.com/office/drawing/2014/main" id="{E4C81A39-D63C-6ED8-2C15-835E32ECBF71}"/>
              </a:ext>
            </a:extLst>
          </p:cNvPr>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a:extLst>
              <a:ext uri="{FF2B5EF4-FFF2-40B4-BE49-F238E27FC236}">
                <a16:creationId xmlns:a16="http://schemas.microsoft.com/office/drawing/2014/main" id="{56BC9876-BCFF-AD6D-BE83-AA871A297DBC}"/>
              </a:ext>
            </a:extLst>
          </p:cNvPr>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9</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a:extLst>
              <a:ext uri="{FF2B5EF4-FFF2-40B4-BE49-F238E27FC236}">
                <a16:creationId xmlns:a16="http://schemas.microsoft.com/office/drawing/2014/main" id="{A612FFA5-F8B4-EA12-D31D-14F4D79CDC31}"/>
              </a:ext>
            </a:extLst>
          </p:cNvPr>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0">
            <a:extLst>
              <a:ext uri="{FF2B5EF4-FFF2-40B4-BE49-F238E27FC236}">
                <a16:creationId xmlns:a16="http://schemas.microsoft.com/office/drawing/2014/main" id="{12541769-78E8-1500-EE33-A8CC1F45E82F}"/>
              </a:ext>
            </a:extLst>
          </p:cNvPr>
          <p:cNvGraphicFramePr/>
          <p:nvPr>
            <p:custDataLst>
              <p:tags r:id="rId1"/>
            </p:custDataLst>
            <p:extLst>
              <p:ext uri="{D42A27DB-BD31-4B8C-83A1-F6EECF244321}">
                <p14:modId xmlns:p14="http://schemas.microsoft.com/office/powerpoint/2010/main" val="4272202021"/>
              </p:ext>
            </p:extLst>
          </p:nvPr>
        </p:nvGraphicFramePr>
        <p:xfrm>
          <a:off x="342750" y="523526"/>
          <a:ext cx="11430000" cy="4309641"/>
        </p:xfrm>
        <a:graphic>
          <a:graphicData uri="http://schemas.openxmlformats.org/drawingml/2006/table">
            <a:tbl>
              <a:tblPr firstRow="1" bandRow="1">
                <a:tableStyleId>{5C22544A-7EE6-4342-B048-85BDC9FD1C3A}</a:tableStyleId>
              </a:tblPr>
              <a:tblGrid>
                <a:gridCol w="2254513">
                  <a:extLst>
                    <a:ext uri="{9D8B030D-6E8A-4147-A177-3AD203B41FA5}">
                      <a16:colId xmlns:a16="http://schemas.microsoft.com/office/drawing/2014/main" val="20000"/>
                    </a:ext>
                  </a:extLst>
                </a:gridCol>
                <a:gridCol w="1539433">
                  <a:extLst>
                    <a:ext uri="{9D8B030D-6E8A-4147-A177-3AD203B41FA5}">
                      <a16:colId xmlns:a16="http://schemas.microsoft.com/office/drawing/2014/main" val="20001"/>
                    </a:ext>
                  </a:extLst>
                </a:gridCol>
                <a:gridCol w="3572043">
                  <a:extLst>
                    <a:ext uri="{9D8B030D-6E8A-4147-A177-3AD203B41FA5}">
                      <a16:colId xmlns:a16="http://schemas.microsoft.com/office/drawing/2014/main" val="20002"/>
                    </a:ext>
                  </a:extLst>
                </a:gridCol>
                <a:gridCol w="4064011">
                  <a:extLst>
                    <a:ext uri="{9D8B030D-6E8A-4147-A177-3AD203B41FA5}">
                      <a16:colId xmlns:a16="http://schemas.microsoft.com/office/drawing/2014/main" val="20003"/>
                    </a:ext>
                  </a:extLst>
                </a:gridCol>
              </a:tblGrid>
              <a:tr h="652041">
                <a:tc>
                  <a:txBody>
                    <a:bodyPr/>
                    <a:lstStyle/>
                    <a:p>
                      <a:pPr>
                        <a:buNone/>
                      </a:pPr>
                      <a:r>
                        <a:rPr lang="fr-FR" noProof="0" dirty="0"/>
                        <a:t>Activité prévu dans le PAO du PEV en 2025</a:t>
                      </a:r>
                    </a:p>
                  </a:txBody>
                  <a:tcPr/>
                </a:tc>
                <a:tc>
                  <a:txBody>
                    <a:bodyPr/>
                    <a:lstStyle/>
                    <a:p>
                      <a:pPr>
                        <a:buNone/>
                      </a:pPr>
                      <a:r>
                        <a:rPr lang="fr-FR" noProof="0" dirty="0"/>
                        <a:t>Niveau de réalisation</a:t>
                      </a:r>
                    </a:p>
                  </a:txBody>
                  <a:tcPr/>
                </a:tc>
                <a:tc>
                  <a:txBody>
                    <a:bodyPr/>
                    <a:lstStyle/>
                    <a:p>
                      <a:pPr>
                        <a:buNone/>
                      </a:pPr>
                      <a:r>
                        <a:rPr lang="fr-FR" noProof="0" dirty="0"/>
                        <a:t>Output</a:t>
                      </a:r>
                    </a:p>
                  </a:txBody>
                  <a:tcPr/>
                </a:tc>
                <a:tc>
                  <a:txBody>
                    <a:bodyPr/>
                    <a:lstStyle/>
                    <a:p>
                      <a:pPr>
                        <a:buNone/>
                      </a:pPr>
                      <a:r>
                        <a:rPr lang="fr-FR" noProof="0" dirty="0" err="1"/>
                        <a:t>Outcome</a:t>
                      </a:r>
                      <a:endParaRPr lang="fr-FR" noProof="0" dirty="0"/>
                    </a:p>
                  </a:txBody>
                  <a:tcPr/>
                </a:tc>
                <a:extLst>
                  <a:ext uri="{0D108BD9-81ED-4DB2-BD59-A6C34878D82A}">
                    <a16:rowId xmlns:a16="http://schemas.microsoft.com/office/drawing/2014/main" val="10000"/>
                  </a:ext>
                </a:extLst>
              </a:tr>
              <a:tr h="3949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noProof="0" dirty="0"/>
                        <a:t>Digitalisation de la campagne VPO dans 16 ZS du Haut-</a:t>
                      </a:r>
                      <a:r>
                        <a:rPr lang="fr-FR" noProof="0" dirty="0" err="1"/>
                        <a:t>Lomami</a:t>
                      </a:r>
                      <a:endParaRPr lang="fr-FR" noProof="0" dirty="0"/>
                    </a:p>
                  </a:txBody>
                  <a:tcPr/>
                </a:tc>
                <a:tc>
                  <a:txBody>
                    <a:bodyPr/>
                    <a:lstStyle/>
                    <a:p>
                      <a:pPr>
                        <a:buNone/>
                      </a:pPr>
                      <a:r>
                        <a:rPr lang="fr-FR" noProof="0" dirty="0"/>
                        <a:t>100%</a:t>
                      </a:r>
                    </a:p>
                  </a:txBody>
                  <a:tcPr/>
                </a:tc>
                <a:tc rowSpan="2">
                  <a:txBody>
                    <a:bodyPr/>
                    <a:lstStyle/>
                    <a:p>
                      <a:pPr marL="285750" indent="-285750">
                        <a:buFont typeface="Arial" panose="020B0604020202020204" pitchFamily="34" charset="0"/>
                        <a:buChar char="•"/>
                      </a:pPr>
                      <a:r>
                        <a:rPr lang="fr-FR" sz="1800" b="1" i="0" kern="1200" noProof="0" dirty="0">
                          <a:solidFill>
                            <a:schemeClr val="dk1"/>
                          </a:solidFill>
                          <a:effectLst/>
                          <a:latin typeface="+mn-lt"/>
                          <a:ea typeface="+mn-ea"/>
                          <a:cs typeface="+mn-cs"/>
                        </a:rPr>
                        <a:t>Personnel formé :</a:t>
                      </a:r>
                      <a:r>
                        <a:rPr lang="fr-FR" sz="1800" b="0" i="0" kern="1200" noProof="0" dirty="0">
                          <a:solidFill>
                            <a:schemeClr val="dk1"/>
                          </a:solidFill>
                          <a:effectLst/>
                          <a:latin typeface="+mn-lt"/>
                          <a:ea typeface="+mn-ea"/>
                          <a:cs typeface="+mn-cs"/>
                        </a:rPr>
                        <a:t> Agents de santé et vaccinateurs (RECO) formés à l'utilisation des outils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800" b="1" i="0" kern="1200" noProof="0" dirty="0">
                          <a:solidFill>
                            <a:schemeClr val="dk1"/>
                          </a:solidFill>
                          <a:effectLst/>
                          <a:latin typeface="+mn-lt"/>
                          <a:ea typeface="+mn-ea"/>
                          <a:cs typeface="+mn-cs"/>
                        </a:rPr>
                        <a:t>digitalisation</a:t>
                      </a:r>
                      <a:r>
                        <a:rPr lang="fr-FR" sz="1800" b="0" i="0" kern="1200" noProof="0" dirty="0">
                          <a:solidFill>
                            <a:schemeClr val="dk1"/>
                          </a:solidFill>
                          <a:effectLst/>
                          <a:latin typeface="+mn-lt"/>
                          <a:ea typeface="+mn-ea"/>
                          <a:cs typeface="+mn-cs"/>
                        </a:rPr>
                        <a:t> </a:t>
                      </a:r>
                      <a:r>
                        <a:rPr lang="fr-FR" sz="1800" b="1" i="0" kern="1200" noProof="0" dirty="0">
                          <a:solidFill>
                            <a:schemeClr val="dk1"/>
                          </a:solidFill>
                          <a:effectLst/>
                          <a:latin typeface="+mn-lt"/>
                          <a:ea typeface="+mn-ea"/>
                          <a:cs typeface="+mn-cs"/>
                        </a:rPr>
                        <a:t>effective</a:t>
                      </a:r>
                      <a:r>
                        <a:rPr lang="fr-FR" sz="1800" b="0" i="0" kern="1200" noProof="0" dirty="0">
                          <a:solidFill>
                            <a:schemeClr val="dk1"/>
                          </a:solidFill>
                          <a:effectLst/>
                          <a:latin typeface="+mn-lt"/>
                          <a:ea typeface="+mn-ea"/>
                          <a:cs typeface="+mn-cs"/>
                        </a:rPr>
                        <a:t> </a:t>
                      </a:r>
                      <a:r>
                        <a:rPr lang="fr-FR" sz="1800" b="1" i="0" kern="1200" noProof="0" dirty="0">
                          <a:solidFill>
                            <a:schemeClr val="dk1"/>
                          </a:solidFill>
                          <a:effectLst/>
                          <a:latin typeface="+mn-lt"/>
                          <a:ea typeface="+mn-ea"/>
                          <a:cs typeface="+mn-cs"/>
                        </a:rPr>
                        <a:t>de la collecte et de la gestion des données :</a:t>
                      </a:r>
                      <a:r>
                        <a:rPr lang="fr-FR" sz="1800" b="0" i="0" kern="1200" noProof="0" dirty="0">
                          <a:solidFill>
                            <a:schemeClr val="dk1"/>
                          </a:solidFill>
                          <a:effectLst/>
                          <a:latin typeface="+mn-lt"/>
                          <a:ea typeface="+mn-ea"/>
                          <a:cs typeface="+mn-cs"/>
                        </a:rPr>
                        <a:t> Des données de vaccination (enfants vaccinés, leur localisation, les doses reçues …) précises, collectées et synchronisation en temps opportun et des systèmes de suivi mis en place et opérationnels (tableaux de bord)</a:t>
                      </a:r>
                      <a:endParaRPr lang="fr-FR" noProof="0" dirty="0"/>
                    </a:p>
                  </a:txBody>
                  <a:tcPr/>
                </a:tc>
                <a:tc rowSpan="2">
                  <a:txBody>
                    <a:bodyPr/>
                    <a:lstStyle/>
                    <a:p>
                      <a:pPr marL="285750" indent="-285750" algn="l">
                        <a:buFont typeface="Arial" panose="020B0604020202020204" pitchFamily="34" charset="0"/>
                        <a:buChar char="•"/>
                      </a:pPr>
                      <a:r>
                        <a:rPr lang="fr-FR" sz="1800" b="1" i="0" kern="1200" noProof="0" dirty="0">
                          <a:solidFill>
                            <a:schemeClr val="dk1"/>
                          </a:solidFill>
                          <a:effectLst/>
                          <a:latin typeface="+mn-lt"/>
                          <a:ea typeface="+mn-ea"/>
                          <a:cs typeface="+mn-cs"/>
                        </a:rPr>
                        <a:t>Amélioration de la CV</a:t>
                      </a:r>
                    </a:p>
                    <a:p>
                      <a:pPr marL="285750" indent="-285750" algn="l">
                        <a:buFont typeface="Arial" panose="020B0604020202020204" pitchFamily="34" charset="0"/>
                        <a:buChar char="•"/>
                      </a:pPr>
                      <a:r>
                        <a:rPr lang="fr-FR" sz="1800" b="1" i="0" kern="1200" noProof="0" dirty="0">
                          <a:solidFill>
                            <a:schemeClr val="dk1"/>
                          </a:solidFill>
                          <a:effectLst/>
                          <a:latin typeface="+mn-lt"/>
                          <a:ea typeface="+mn-ea"/>
                          <a:cs typeface="+mn-cs"/>
                        </a:rPr>
                        <a:t>Amélioration de la qualité des données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800" b="1" i="0" kern="1200" noProof="0" dirty="0">
                          <a:solidFill>
                            <a:schemeClr val="dk1"/>
                          </a:solidFill>
                          <a:effectLst/>
                          <a:latin typeface="+mn-lt"/>
                          <a:ea typeface="+mn-ea"/>
                          <a:cs typeface="+mn-cs"/>
                        </a:rPr>
                        <a:t>Efficience de la gestion de campagne : </a:t>
                      </a:r>
                      <a:r>
                        <a:rPr lang="fr-FR" sz="1800" b="0" i="0" kern="1200" noProof="0" dirty="0">
                          <a:solidFill>
                            <a:schemeClr val="dk1"/>
                          </a:solidFill>
                          <a:effectLst/>
                          <a:latin typeface="+mn-lt"/>
                          <a:ea typeface="+mn-ea"/>
                          <a:cs typeface="+mn-cs"/>
                        </a:rPr>
                        <a:t>une meilleure visibilité des zones non couvertes ou à risque a permis une optimisation de l'allocation des ressources (vaccins, personnel …)</a:t>
                      </a:r>
                      <a:endParaRPr lang="fr-FR" sz="1800" b="1" i="0" kern="1200" noProof="0" dirty="0">
                        <a:solidFill>
                          <a:schemeClr val="dk1"/>
                        </a:solidFill>
                        <a:effectLst/>
                        <a:latin typeface="+mn-lt"/>
                        <a:ea typeface="+mn-ea"/>
                        <a:cs typeface="+mn-cs"/>
                      </a:endParaRPr>
                    </a:p>
                  </a:txBody>
                  <a:tcPr/>
                </a:tc>
                <a:extLst>
                  <a:ext uri="{0D108BD9-81ED-4DB2-BD59-A6C34878D82A}">
                    <a16:rowId xmlns:a16="http://schemas.microsoft.com/office/drawing/2014/main" val="10003"/>
                  </a:ext>
                </a:extLst>
              </a:tr>
              <a:tr h="39560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noProof="0" dirty="0"/>
                        <a:t>Digitalisation de la campagne FJ dans 15 ZS du Haut-</a:t>
                      </a:r>
                      <a:r>
                        <a:rPr lang="fr-FR" noProof="0" dirty="0" err="1"/>
                        <a:t>Lomami</a:t>
                      </a:r>
                      <a:endParaRPr lang="fr-FR" noProof="0" dirty="0"/>
                    </a:p>
                  </a:txBody>
                  <a:tcPr/>
                </a:tc>
                <a:tc>
                  <a:txBody>
                    <a:bodyPr/>
                    <a:lstStyle/>
                    <a:p>
                      <a:pPr>
                        <a:buNone/>
                      </a:pPr>
                      <a:r>
                        <a:rPr lang="fr-FR" noProof="0" dirty="0"/>
                        <a:t>100%</a:t>
                      </a:r>
                    </a:p>
                  </a:txBody>
                  <a:tcPr/>
                </a:tc>
                <a:tc vMerge="1">
                  <a:txBody>
                    <a:bodyPr/>
                    <a:lstStyle/>
                    <a:p>
                      <a:endParaRPr dirty="0"/>
                    </a:p>
                  </a:txBody>
                  <a:tcPr/>
                </a:tc>
                <a:tc vMerge="1">
                  <a:txBody>
                    <a:bodyPr/>
                    <a:lstStyle/>
                    <a:p>
                      <a:endParaRPr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9578215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BE69F487-10E0-E064-AA50-EFE2C5D77524}"/>
            </a:ext>
          </a:extLst>
        </p:cNvPr>
        <p:cNvGrpSpPr/>
        <p:nvPr/>
      </p:nvGrpSpPr>
      <p:grpSpPr>
        <a:xfrm>
          <a:off x="0" y="0"/>
          <a:ext cx="0" cy="0"/>
          <a:chOff x="0" y="0"/>
          <a:chExt cx="0" cy="0"/>
        </a:xfrm>
      </p:grpSpPr>
      <p:sp>
        <p:nvSpPr>
          <p:cNvPr id="176" name="Google Shape;176;g3aabd3d1b2d_0_290">
            <a:extLst>
              <a:ext uri="{FF2B5EF4-FFF2-40B4-BE49-F238E27FC236}">
                <a16:creationId xmlns:a16="http://schemas.microsoft.com/office/drawing/2014/main" id="{5BC5C1EF-7C41-EA6A-DC0A-93F1C839AC27}"/>
              </a:ext>
            </a:extLst>
          </p:cNvPr>
          <p:cNvSpPr txBox="1"/>
          <p:nvPr/>
        </p:nvSpPr>
        <p:spPr>
          <a:xfrm>
            <a:off x="303492" y="213766"/>
            <a:ext cx="11430000" cy="49549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fr-FR" sz="2700" b="0" i="0" u="none" strike="noStrike" cap="none" noProof="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Réalisations majeures de l’année en lien avec les activités planifiées du PAO  PEV</a:t>
            </a:r>
          </a:p>
          <a:p>
            <a:pPr marL="0" marR="0" lvl="0" indent="0" algn="l" rtl="0">
              <a:lnSpc>
                <a:spcPct val="100000"/>
              </a:lnSpc>
              <a:spcBef>
                <a:spcPts val="0"/>
              </a:spcBef>
              <a:spcAft>
                <a:spcPts val="0"/>
              </a:spcAft>
              <a:buClr>
                <a:schemeClr val="dk1"/>
              </a:buClr>
              <a:buSzPts val="1500"/>
              <a:buFont typeface="Arial" panose="020B0604020202020204"/>
              <a:buNone/>
            </a:pPr>
            <a:endParaRPr lang="fr-FR" sz="2700" b="0" i="0" u="none" strike="noStrike" cap="none" noProof="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a:extLst>
              <a:ext uri="{FF2B5EF4-FFF2-40B4-BE49-F238E27FC236}">
                <a16:creationId xmlns:a16="http://schemas.microsoft.com/office/drawing/2014/main" id="{FB233CD2-3EB7-8C19-1A83-097F87ADE1A4}"/>
              </a:ext>
            </a:extLst>
          </p:cNvPr>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a:extLst>
              <a:ext uri="{FF2B5EF4-FFF2-40B4-BE49-F238E27FC236}">
                <a16:creationId xmlns:a16="http://schemas.microsoft.com/office/drawing/2014/main" id="{A78040CE-7519-DEF8-70F6-7B0007A7E9FA}"/>
              </a:ext>
            </a:extLst>
          </p:cNvPr>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a:extLst>
              <a:ext uri="{FF2B5EF4-FFF2-40B4-BE49-F238E27FC236}">
                <a16:creationId xmlns:a16="http://schemas.microsoft.com/office/drawing/2014/main" id="{1517704A-8010-8805-4245-F01A14783F86}"/>
              </a:ext>
            </a:extLst>
          </p:cNvPr>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10</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a:extLst>
              <a:ext uri="{FF2B5EF4-FFF2-40B4-BE49-F238E27FC236}">
                <a16:creationId xmlns:a16="http://schemas.microsoft.com/office/drawing/2014/main" id="{95645C2B-D521-2F8D-A0C1-0119B3CD4093}"/>
              </a:ext>
            </a:extLst>
          </p:cNvPr>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0">
            <a:extLst>
              <a:ext uri="{FF2B5EF4-FFF2-40B4-BE49-F238E27FC236}">
                <a16:creationId xmlns:a16="http://schemas.microsoft.com/office/drawing/2014/main" id="{67A81690-5450-2581-6BF9-E53EE30A3450}"/>
              </a:ext>
            </a:extLst>
          </p:cNvPr>
          <p:cNvGraphicFramePr/>
          <p:nvPr>
            <p:custDataLst>
              <p:tags r:id="rId1"/>
            </p:custDataLst>
            <p:extLst>
              <p:ext uri="{D42A27DB-BD31-4B8C-83A1-F6EECF244321}">
                <p14:modId xmlns:p14="http://schemas.microsoft.com/office/powerpoint/2010/main" val="3889458831"/>
              </p:ext>
            </p:extLst>
          </p:nvPr>
        </p:nvGraphicFramePr>
        <p:xfrm>
          <a:off x="303492" y="709257"/>
          <a:ext cx="11604509" cy="5253886"/>
        </p:xfrm>
        <a:graphic>
          <a:graphicData uri="http://schemas.openxmlformats.org/drawingml/2006/table">
            <a:tbl>
              <a:tblPr firstRow="1" bandRow="1">
                <a:tableStyleId>{5C22544A-7EE6-4342-B048-85BDC9FD1C3A}</a:tableStyleId>
              </a:tblPr>
              <a:tblGrid>
                <a:gridCol w="2735487">
                  <a:extLst>
                    <a:ext uri="{9D8B030D-6E8A-4147-A177-3AD203B41FA5}">
                      <a16:colId xmlns:a16="http://schemas.microsoft.com/office/drawing/2014/main" val="20000"/>
                    </a:ext>
                  </a:extLst>
                </a:gridCol>
                <a:gridCol w="1339660">
                  <a:extLst>
                    <a:ext uri="{9D8B030D-6E8A-4147-A177-3AD203B41FA5}">
                      <a16:colId xmlns:a16="http://schemas.microsoft.com/office/drawing/2014/main" val="20001"/>
                    </a:ext>
                  </a:extLst>
                </a:gridCol>
                <a:gridCol w="5575589">
                  <a:extLst>
                    <a:ext uri="{9D8B030D-6E8A-4147-A177-3AD203B41FA5}">
                      <a16:colId xmlns:a16="http://schemas.microsoft.com/office/drawing/2014/main" val="20002"/>
                    </a:ext>
                  </a:extLst>
                </a:gridCol>
                <a:gridCol w="1953773">
                  <a:extLst>
                    <a:ext uri="{9D8B030D-6E8A-4147-A177-3AD203B41FA5}">
                      <a16:colId xmlns:a16="http://schemas.microsoft.com/office/drawing/2014/main" val="20003"/>
                    </a:ext>
                  </a:extLst>
                </a:gridCol>
              </a:tblGrid>
              <a:tr h="652041">
                <a:tc>
                  <a:txBody>
                    <a:bodyPr/>
                    <a:lstStyle/>
                    <a:p>
                      <a:pPr>
                        <a:buNone/>
                      </a:pPr>
                      <a:r>
                        <a:rPr lang="fr-FR" altLang="en-US"/>
                        <a:t>Activité prévu dans le PAO du PEV en 2025</a:t>
                      </a:r>
                    </a:p>
                  </a:txBody>
                  <a:tcPr/>
                </a:tc>
                <a:tc>
                  <a:txBody>
                    <a:bodyPr/>
                    <a:lstStyle/>
                    <a:p>
                      <a:pPr>
                        <a:buNone/>
                      </a:pPr>
                      <a:r>
                        <a:rPr lang="fr-FR" altLang="en-US"/>
                        <a:t>Niveau de réalisation</a:t>
                      </a:r>
                    </a:p>
                  </a:txBody>
                  <a:tcPr/>
                </a:tc>
                <a:tc>
                  <a:txBody>
                    <a:bodyPr/>
                    <a:lstStyle/>
                    <a:p>
                      <a:pPr>
                        <a:buNone/>
                      </a:pPr>
                      <a:r>
                        <a:rPr lang="fr-FR" altLang="en-US"/>
                        <a:t>Output</a:t>
                      </a:r>
                    </a:p>
                  </a:txBody>
                  <a:tcPr/>
                </a:tc>
                <a:tc>
                  <a:txBody>
                    <a:bodyPr/>
                    <a:lstStyle/>
                    <a:p>
                      <a:pPr>
                        <a:buNone/>
                      </a:pPr>
                      <a:r>
                        <a:rPr lang="fr-FR" altLang="en-US"/>
                        <a:t>Outcome</a:t>
                      </a:r>
                    </a:p>
                  </a:txBody>
                  <a:tcPr/>
                </a:tc>
                <a:extLst>
                  <a:ext uri="{0D108BD9-81ED-4DB2-BD59-A6C34878D82A}">
                    <a16:rowId xmlns:a16="http://schemas.microsoft.com/office/drawing/2014/main" val="10000"/>
                  </a:ext>
                </a:extLst>
              </a:tr>
              <a:tr h="395605">
                <a:tc>
                  <a:txBody>
                    <a:bodyPr/>
                    <a:lstStyle/>
                    <a:p>
                      <a:pPr>
                        <a:buNone/>
                      </a:pPr>
                      <a:r>
                        <a:rPr lang="fr-FR" altLang="en-US" dirty="0"/>
                        <a:t>Intro &amp; mise à échelle du VAP : appui à la coordination &amp; suivi des activités</a:t>
                      </a:r>
                    </a:p>
                  </a:txBody>
                  <a:tcPr/>
                </a:tc>
                <a:tc>
                  <a:txBody>
                    <a:bodyPr/>
                    <a:lstStyle/>
                    <a:p>
                      <a:pPr>
                        <a:buNone/>
                      </a:pPr>
                      <a:r>
                        <a:rPr lang="fr-FR" altLang="en-US" dirty="0"/>
                        <a:t>100%</a:t>
                      </a:r>
                    </a:p>
                  </a:txBody>
                  <a:tcPr/>
                </a:tc>
                <a:tc>
                  <a:txBody>
                    <a:bodyPr/>
                    <a:lstStyle/>
                    <a:p>
                      <a:pPr>
                        <a:buNone/>
                      </a:pPr>
                      <a:r>
                        <a:rPr lang="fr-FR" altLang="en-US" dirty="0"/>
                        <a:t>Appui à la coordination et suivi des activités à différents niveaux :</a:t>
                      </a:r>
                    </a:p>
                    <a:p>
                      <a:pPr marL="285750" indent="-285750">
                        <a:buFont typeface="Arial" panose="020B0604020202020204" pitchFamily="34" charset="0"/>
                        <a:buChar char="•"/>
                      </a:pPr>
                      <a:r>
                        <a:rPr lang="fr-FR" altLang="en-US" dirty="0"/>
                        <a:t>Un GTT VAP (PEV, PNLP, PNCPS, PTF…) fonctionnel au niveau central</a:t>
                      </a:r>
                    </a:p>
                    <a:p>
                      <a:pPr marL="285750" indent="-285750">
                        <a:buFont typeface="Arial" panose="020B0604020202020204" pitchFamily="34" charset="0"/>
                        <a:buChar char="•"/>
                      </a:pPr>
                      <a:r>
                        <a:rPr lang="fr-FR" altLang="en-US" dirty="0"/>
                        <a:t>6 réunions mensuelles du GTT VAP au niveau des DPS Kongo C (3), Eq (1), Sud Ubangi (1), Nord Ubangi (1)</a:t>
                      </a:r>
                    </a:p>
                    <a:p>
                      <a:pPr>
                        <a:buNone/>
                      </a:pPr>
                      <a:r>
                        <a:rPr lang="fr-FR" altLang="en-US" dirty="0"/>
                        <a:t>Appui à la tenue de réunions trimestrielles d'analyse des données VAP étendues au PEV de routine dans les antennes PEV avec la participation des ZS (MCZS) : </a:t>
                      </a:r>
                    </a:p>
                    <a:p>
                      <a:pPr marL="285750" indent="-285750">
                        <a:buFont typeface="Arial" panose="020B0604020202020204" pitchFamily="34" charset="0"/>
                        <a:buChar char="•"/>
                      </a:pPr>
                      <a:r>
                        <a:rPr lang="fr-FR" altLang="en-US" dirty="0"/>
                        <a:t>3 réunions au niveau de la DPS Kongo C avec les 3 antennes et MCZS des 31 ZS</a:t>
                      </a:r>
                    </a:p>
                    <a:p>
                      <a:pPr marL="285750" indent="-285750">
                        <a:buFont typeface="Arial" panose="020B0604020202020204" pitchFamily="34" charset="0"/>
                        <a:buChar char="•"/>
                      </a:pPr>
                      <a:r>
                        <a:rPr lang="fr-FR" altLang="en-US" dirty="0"/>
                        <a:t>1 réunion au niveau des DPS / antenne PEV Eq (18 ZS), Sud Ubangi (16 ZS), Nord Ubangi (11 ZS), </a:t>
                      </a:r>
                      <a:r>
                        <a:rPr lang="fr-FR" altLang="en-US" dirty="0" err="1"/>
                        <a:t>Ht</a:t>
                      </a:r>
                      <a:r>
                        <a:rPr lang="fr-FR" altLang="en-US" dirty="0"/>
                        <a:t>-Uele / Isiro &amp; Watsa (13 ZS), </a:t>
                      </a:r>
                      <a:r>
                        <a:rPr lang="fr-FR" altLang="en-US" dirty="0" err="1"/>
                        <a:t>Ht-Lomami</a:t>
                      </a:r>
                      <a:r>
                        <a:rPr lang="fr-FR" altLang="en-US" dirty="0"/>
                        <a:t> / Kamina (8 ZS) &amp; Kabongo </a:t>
                      </a:r>
                      <a:r>
                        <a:rPr lang="fr-FR" altLang="en-US" dirty="0" err="1"/>
                        <a:t>Dianda</a:t>
                      </a:r>
                      <a:r>
                        <a:rPr lang="fr-FR" altLang="en-US" dirty="0"/>
                        <a:t> (8 ZS) </a:t>
                      </a:r>
                    </a:p>
                  </a:txBody>
                  <a:tcPr/>
                </a:tc>
                <a:tc>
                  <a:txBody>
                    <a:bodyPr/>
                    <a:lstStyle/>
                    <a:p>
                      <a:pPr>
                        <a:buNone/>
                      </a:pPr>
                      <a:r>
                        <a:rPr lang="fr-FR" altLang="en-US" dirty="0"/>
                        <a:t>Supervision ciblée basée sur l’évidence</a:t>
                      </a:r>
                    </a:p>
                    <a:p>
                      <a:pPr>
                        <a:buNone/>
                      </a:pPr>
                      <a:r>
                        <a:rPr lang="fr-FR" altLang="en-US" dirty="0"/>
                        <a:t>Processus d’appropriation</a:t>
                      </a:r>
                    </a:p>
                  </a:txBody>
                  <a:tcPr/>
                </a:tc>
                <a:extLst>
                  <a:ext uri="{0D108BD9-81ED-4DB2-BD59-A6C34878D82A}">
                    <a16:rowId xmlns:a16="http://schemas.microsoft.com/office/drawing/2014/main" val="10001"/>
                  </a:ext>
                </a:extLst>
              </a:tr>
              <a:tr h="395605">
                <a:tc>
                  <a:txBody>
                    <a:bodyPr/>
                    <a:lstStyle/>
                    <a:p>
                      <a:pPr>
                        <a:buNone/>
                      </a:pPr>
                      <a:endParaRPr lang="fr-FR" altLang="en-US" dirty="0"/>
                    </a:p>
                  </a:txBody>
                  <a:tcPr/>
                </a:tc>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dirty="0"/>
                    </a:p>
                  </a:txBody>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40412082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EC24D624-9C68-1A99-0E37-813B48BBB610}"/>
            </a:ext>
          </a:extLst>
        </p:cNvPr>
        <p:cNvGrpSpPr/>
        <p:nvPr/>
      </p:nvGrpSpPr>
      <p:grpSpPr>
        <a:xfrm>
          <a:off x="0" y="0"/>
          <a:ext cx="0" cy="0"/>
          <a:chOff x="0" y="0"/>
          <a:chExt cx="0" cy="0"/>
        </a:xfrm>
      </p:grpSpPr>
      <p:sp>
        <p:nvSpPr>
          <p:cNvPr id="176" name="Google Shape;176;g3aabd3d1b2d_0_290">
            <a:extLst>
              <a:ext uri="{FF2B5EF4-FFF2-40B4-BE49-F238E27FC236}">
                <a16:creationId xmlns:a16="http://schemas.microsoft.com/office/drawing/2014/main" id="{6C45C942-B7A3-0212-51C0-BECB9CC06433}"/>
              </a:ext>
            </a:extLst>
          </p:cNvPr>
          <p:cNvSpPr txBox="1"/>
          <p:nvPr/>
        </p:nvSpPr>
        <p:spPr>
          <a:xfrm>
            <a:off x="303492" y="213766"/>
            <a:ext cx="11430000" cy="49549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fr-FR" sz="2700" b="0" i="0" u="none" strike="noStrike" cap="none" noProof="0"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Réalisations majeures de l’année en lien avec les activités planifiées du PAO  PEV</a:t>
            </a:r>
          </a:p>
          <a:p>
            <a:pPr marL="0" marR="0" lvl="0" indent="0" algn="l" rtl="0">
              <a:lnSpc>
                <a:spcPct val="100000"/>
              </a:lnSpc>
              <a:spcBef>
                <a:spcPts val="0"/>
              </a:spcBef>
              <a:spcAft>
                <a:spcPts val="0"/>
              </a:spcAft>
              <a:buClr>
                <a:schemeClr val="dk1"/>
              </a:buClr>
              <a:buSzPts val="1500"/>
              <a:buFont typeface="Arial" panose="020B0604020202020204"/>
              <a:buNone/>
            </a:pPr>
            <a:endParaRPr lang="fr-FR" sz="2700" b="0" i="0" u="none" strike="noStrike" cap="none" noProof="0"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a:extLst>
              <a:ext uri="{FF2B5EF4-FFF2-40B4-BE49-F238E27FC236}">
                <a16:creationId xmlns:a16="http://schemas.microsoft.com/office/drawing/2014/main" id="{4885ACF8-809F-0C3A-A7D2-E1F1D57C461E}"/>
              </a:ext>
            </a:extLst>
          </p:cNvPr>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a:extLst>
              <a:ext uri="{FF2B5EF4-FFF2-40B4-BE49-F238E27FC236}">
                <a16:creationId xmlns:a16="http://schemas.microsoft.com/office/drawing/2014/main" id="{1B5142D0-B1AD-AE5A-237A-ABA641B1E58E}"/>
              </a:ext>
            </a:extLst>
          </p:cNvPr>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a:extLst>
              <a:ext uri="{FF2B5EF4-FFF2-40B4-BE49-F238E27FC236}">
                <a16:creationId xmlns:a16="http://schemas.microsoft.com/office/drawing/2014/main" id="{4B051A04-0526-E2D1-A8A8-A54D35BED99D}"/>
              </a:ext>
            </a:extLst>
          </p:cNvPr>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11</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a:extLst>
              <a:ext uri="{FF2B5EF4-FFF2-40B4-BE49-F238E27FC236}">
                <a16:creationId xmlns:a16="http://schemas.microsoft.com/office/drawing/2014/main" id="{220911B4-FCEE-ABA7-5CD7-BDA4C554CB7C}"/>
              </a:ext>
            </a:extLst>
          </p:cNvPr>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0">
            <a:extLst>
              <a:ext uri="{FF2B5EF4-FFF2-40B4-BE49-F238E27FC236}">
                <a16:creationId xmlns:a16="http://schemas.microsoft.com/office/drawing/2014/main" id="{95BD69B2-BC7C-065B-E752-A84D6531DC63}"/>
              </a:ext>
            </a:extLst>
          </p:cNvPr>
          <p:cNvGraphicFramePr/>
          <p:nvPr>
            <p:custDataLst>
              <p:tags r:id="rId1"/>
            </p:custDataLst>
            <p:extLst>
              <p:ext uri="{D42A27DB-BD31-4B8C-83A1-F6EECF244321}">
                <p14:modId xmlns:p14="http://schemas.microsoft.com/office/powerpoint/2010/main" val="3267520671"/>
              </p:ext>
            </p:extLst>
          </p:nvPr>
        </p:nvGraphicFramePr>
        <p:xfrm>
          <a:off x="303492" y="709257"/>
          <a:ext cx="11604509" cy="4002936"/>
        </p:xfrm>
        <a:graphic>
          <a:graphicData uri="http://schemas.openxmlformats.org/drawingml/2006/table">
            <a:tbl>
              <a:tblPr firstRow="1" bandRow="1">
                <a:tableStyleId>{5C22544A-7EE6-4342-B048-85BDC9FD1C3A}</a:tableStyleId>
              </a:tblPr>
              <a:tblGrid>
                <a:gridCol w="2735487">
                  <a:extLst>
                    <a:ext uri="{9D8B030D-6E8A-4147-A177-3AD203B41FA5}">
                      <a16:colId xmlns:a16="http://schemas.microsoft.com/office/drawing/2014/main" val="20000"/>
                    </a:ext>
                  </a:extLst>
                </a:gridCol>
                <a:gridCol w="1339660">
                  <a:extLst>
                    <a:ext uri="{9D8B030D-6E8A-4147-A177-3AD203B41FA5}">
                      <a16:colId xmlns:a16="http://schemas.microsoft.com/office/drawing/2014/main" val="20001"/>
                    </a:ext>
                  </a:extLst>
                </a:gridCol>
                <a:gridCol w="5575589">
                  <a:extLst>
                    <a:ext uri="{9D8B030D-6E8A-4147-A177-3AD203B41FA5}">
                      <a16:colId xmlns:a16="http://schemas.microsoft.com/office/drawing/2014/main" val="20002"/>
                    </a:ext>
                  </a:extLst>
                </a:gridCol>
                <a:gridCol w="1953773">
                  <a:extLst>
                    <a:ext uri="{9D8B030D-6E8A-4147-A177-3AD203B41FA5}">
                      <a16:colId xmlns:a16="http://schemas.microsoft.com/office/drawing/2014/main" val="20003"/>
                    </a:ext>
                  </a:extLst>
                </a:gridCol>
              </a:tblGrid>
              <a:tr h="652041">
                <a:tc>
                  <a:txBody>
                    <a:bodyPr/>
                    <a:lstStyle/>
                    <a:p>
                      <a:pPr>
                        <a:buNone/>
                      </a:pPr>
                      <a:r>
                        <a:rPr lang="fr-FR" altLang="en-US"/>
                        <a:t>Activité prévu dans le PAO du PEV en 2025</a:t>
                      </a:r>
                    </a:p>
                  </a:txBody>
                  <a:tcPr/>
                </a:tc>
                <a:tc>
                  <a:txBody>
                    <a:bodyPr/>
                    <a:lstStyle/>
                    <a:p>
                      <a:pPr>
                        <a:buNone/>
                      </a:pPr>
                      <a:r>
                        <a:rPr lang="fr-FR" altLang="en-US"/>
                        <a:t>Niveau de réalisation</a:t>
                      </a:r>
                    </a:p>
                  </a:txBody>
                  <a:tcPr/>
                </a:tc>
                <a:tc>
                  <a:txBody>
                    <a:bodyPr/>
                    <a:lstStyle/>
                    <a:p>
                      <a:pPr>
                        <a:buNone/>
                      </a:pPr>
                      <a:r>
                        <a:rPr lang="fr-FR" altLang="en-US"/>
                        <a:t>Output</a:t>
                      </a:r>
                    </a:p>
                  </a:txBody>
                  <a:tcPr/>
                </a:tc>
                <a:tc>
                  <a:txBody>
                    <a:bodyPr/>
                    <a:lstStyle/>
                    <a:p>
                      <a:pPr>
                        <a:buNone/>
                      </a:pPr>
                      <a:r>
                        <a:rPr lang="fr-FR" altLang="en-US"/>
                        <a:t>Outcome</a:t>
                      </a:r>
                    </a:p>
                  </a:txBody>
                  <a:tcPr/>
                </a:tc>
                <a:extLst>
                  <a:ext uri="{0D108BD9-81ED-4DB2-BD59-A6C34878D82A}">
                    <a16:rowId xmlns:a16="http://schemas.microsoft.com/office/drawing/2014/main" val="10000"/>
                  </a:ext>
                </a:extLst>
              </a:tr>
              <a:tr h="395605">
                <a:tc>
                  <a:txBody>
                    <a:bodyPr/>
                    <a:lstStyle/>
                    <a:p>
                      <a:pPr>
                        <a:buNone/>
                      </a:pPr>
                      <a:r>
                        <a:rPr lang="fr-FR" altLang="en-US" dirty="0"/>
                        <a:t>Intro &amp; mise à échelle du VAP : appui à la supervision des activités par le NC </a:t>
                      </a:r>
                    </a:p>
                  </a:txBody>
                  <a:tcPr/>
                </a:tc>
                <a:tc>
                  <a:txBody>
                    <a:bodyPr/>
                    <a:lstStyle/>
                    <a:p>
                      <a:pPr>
                        <a:buNone/>
                      </a:pPr>
                      <a:r>
                        <a:rPr lang="fr-FR" altLang="en-US" dirty="0"/>
                        <a:t>Descentes dans 7 provinces / 10 antennes PEV</a:t>
                      </a:r>
                    </a:p>
                  </a:txBody>
                  <a:tcPr/>
                </a:tc>
                <a:tc>
                  <a:txBody>
                    <a:bodyPr/>
                    <a:lstStyle/>
                    <a:p>
                      <a:pPr marL="285750" indent="-285750">
                        <a:buFont typeface="Arial" panose="020B0604020202020204" pitchFamily="34" charset="0"/>
                        <a:buChar char="•"/>
                      </a:pPr>
                      <a:r>
                        <a:rPr lang="fr-FR" altLang="en-US" dirty="0"/>
                        <a:t>(Appui à) Mission de terrain pré-introduction dans les provinces (4) / antenne PEV (5) : Kongo C (Matadi &amp; Boma), Eq, Nord &amp; Sud Ubangi</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altLang="en-US" dirty="0"/>
                        <a:t>(Appui à) Mission de terrain post-introduction dans les provinces (7) / antenne PEV (10) : Kongo C (Matadi &amp; Boma), Eq, Nord &amp; Sud Ubangi, </a:t>
                      </a:r>
                      <a:r>
                        <a:rPr lang="fr-FR" altLang="en-US" dirty="0" err="1"/>
                        <a:t>Ht-Lomami</a:t>
                      </a:r>
                      <a:r>
                        <a:rPr lang="fr-FR" altLang="en-US" dirty="0"/>
                        <a:t>, </a:t>
                      </a:r>
                      <a:r>
                        <a:rPr lang="fr-FR" altLang="en-US" dirty="0" err="1"/>
                        <a:t>Ht</a:t>
                      </a:r>
                      <a:r>
                        <a:rPr lang="fr-FR" altLang="en-US" dirty="0"/>
                        <a:t> &amp; Bas </a:t>
                      </a:r>
                      <a:r>
                        <a:rPr lang="fr-FR" altLang="en-US" dirty="0" err="1"/>
                        <a:t>uélé</a:t>
                      </a:r>
                      <a:r>
                        <a:rPr lang="fr-FR" altLang="en-US" dirty="0"/>
                        <a:t> </a:t>
                      </a:r>
                    </a:p>
                  </a:txBody>
                  <a:tcPr/>
                </a:tc>
                <a:tc>
                  <a:txBody>
                    <a:bodyPr/>
                    <a:lstStyle/>
                    <a:p>
                      <a:pPr>
                        <a:buNone/>
                      </a:pPr>
                      <a:r>
                        <a:rPr lang="fr-FR" altLang="en-US" dirty="0"/>
                        <a:t>Introduction effective du VAP</a:t>
                      </a:r>
                    </a:p>
                    <a:p>
                      <a:pPr>
                        <a:buNone/>
                      </a:pPr>
                      <a:r>
                        <a:rPr lang="fr-FR" altLang="en-US" dirty="0"/>
                        <a:t>Plan de redressement</a:t>
                      </a:r>
                    </a:p>
                    <a:p>
                      <a:pPr>
                        <a:buNone/>
                      </a:pPr>
                      <a:r>
                        <a:rPr lang="fr-FR" altLang="en-US" dirty="0"/>
                        <a:t>Leçons apprises pour une meilleure extension dans la suite</a:t>
                      </a:r>
                    </a:p>
                  </a:txBody>
                  <a:tcPr/>
                </a:tc>
                <a:extLst>
                  <a:ext uri="{0D108BD9-81ED-4DB2-BD59-A6C34878D82A}">
                    <a16:rowId xmlns:a16="http://schemas.microsoft.com/office/drawing/2014/main" val="10002"/>
                  </a:ext>
                </a:extLst>
              </a:tr>
              <a:tr h="3949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altLang="en-US" dirty="0"/>
                    </a:p>
                  </a:txBody>
                  <a:tcPr/>
                </a:tc>
                <a:tc>
                  <a:txBody>
                    <a:bodyPr/>
                    <a:lstStyle/>
                    <a:p>
                      <a:pPr>
                        <a:buNone/>
                      </a:pPr>
                      <a:endParaRPr lang="fr-FR" altLang="en-US" dirty="0"/>
                    </a:p>
                  </a:txBody>
                  <a:tcPr/>
                </a:tc>
                <a:tc>
                  <a:txBody>
                    <a:bodyPr/>
                    <a:lstStyle/>
                    <a:p>
                      <a:pPr>
                        <a:buNone/>
                      </a:pPr>
                      <a:endParaRPr lang="fr-FR" altLang="en-US" dirty="0"/>
                    </a:p>
                  </a:txBody>
                  <a:tcPr/>
                </a:tc>
                <a:tc>
                  <a:txBody>
                    <a:bodyPr/>
                    <a:lstStyle/>
                    <a:p>
                      <a:pPr marL="285750" indent="-285750" algn="l">
                        <a:buFont typeface="Arial" panose="020B0604020202020204" pitchFamily="34" charset="0"/>
                        <a:buChar char="•"/>
                      </a:pPr>
                      <a:endParaRPr lang="fr-FR" altLang="en-US" sz="1800" b="1" i="0" kern="1200" dirty="0">
                        <a:solidFill>
                          <a:schemeClr val="dk1"/>
                        </a:solidFill>
                        <a:effectLst/>
                        <a:latin typeface="+mn-lt"/>
                        <a:ea typeface="+mn-ea"/>
                        <a:cs typeface="+mn-cs"/>
                      </a:endParaRPr>
                    </a:p>
                  </a:txBody>
                  <a:tcPr/>
                </a:tc>
                <a:extLst>
                  <a:ext uri="{0D108BD9-81ED-4DB2-BD59-A6C34878D82A}">
                    <a16:rowId xmlns:a16="http://schemas.microsoft.com/office/drawing/2014/main" val="10003"/>
                  </a:ext>
                </a:extLst>
              </a:tr>
              <a:tr h="395605">
                <a:tc>
                  <a:txBody>
                    <a:bodyPr/>
                    <a:lstStyle/>
                    <a:p>
                      <a:pPr>
                        <a:buNone/>
                      </a:pPr>
                      <a:endParaRPr lang="fr-FR" altLang="en-US" dirty="0"/>
                    </a:p>
                  </a:txBody>
                  <a:tcPr/>
                </a:tc>
                <a:tc>
                  <a:txBody>
                    <a:bodyPr/>
                    <a:lstStyle/>
                    <a:p>
                      <a:pPr>
                        <a:buNone/>
                      </a:pPr>
                      <a:endParaRPr lang="fr-FR" altLang="en-US"/>
                    </a:p>
                  </a:txBody>
                  <a:tcPr/>
                </a:tc>
                <a:tc>
                  <a:txBody>
                    <a:bodyPr/>
                    <a:lstStyle/>
                    <a:p>
                      <a:pPr>
                        <a:buNone/>
                      </a:pPr>
                      <a:endParaRPr lang="fr-FR" altLang="en-US"/>
                    </a:p>
                  </a:txBody>
                  <a:tcPr/>
                </a:tc>
                <a:tc>
                  <a:txBody>
                    <a:bodyPr/>
                    <a:lstStyle/>
                    <a:p>
                      <a:pPr>
                        <a:buNone/>
                      </a:pPr>
                      <a:endParaRPr lang="fr-FR" altLang="en-US" dirty="0"/>
                    </a:p>
                  </a:txBody>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07635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aabd3d1b2d_0_290"/>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fr-FR" alt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Autres r</a:t>
            </a:r>
            <a:r>
              <a:rPr 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éalisations majeures </a:t>
            </a:r>
            <a:r>
              <a:rPr lang="fr-FR" alt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non planifiées dans le PAO du PEV</a:t>
            </a: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12</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0"/>
          <p:cNvGraphicFramePr/>
          <p:nvPr>
            <p:custDataLst>
              <p:tags r:id="rId1"/>
            </p:custDataLst>
            <p:extLst>
              <p:ext uri="{D42A27DB-BD31-4B8C-83A1-F6EECF244321}">
                <p14:modId xmlns:p14="http://schemas.microsoft.com/office/powerpoint/2010/main" val="2126839821"/>
              </p:ext>
            </p:extLst>
          </p:nvPr>
        </p:nvGraphicFramePr>
        <p:xfrm>
          <a:off x="456900" y="927441"/>
          <a:ext cx="11430000" cy="5258435"/>
        </p:xfrm>
        <a:graphic>
          <a:graphicData uri="http://schemas.openxmlformats.org/drawingml/2006/table">
            <a:tbl>
              <a:tblPr firstRow="1" bandRow="1">
                <a:tableStyleId>{5C22544A-7EE6-4342-B048-85BDC9FD1C3A}</a:tableStyleId>
              </a:tblPr>
              <a:tblGrid>
                <a:gridCol w="2857500">
                  <a:extLst>
                    <a:ext uri="{9D8B030D-6E8A-4147-A177-3AD203B41FA5}">
                      <a16:colId xmlns:a16="http://schemas.microsoft.com/office/drawing/2014/main" val="20000"/>
                    </a:ext>
                  </a:extLst>
                </a:gridCol>
                <a:gridCol w="2857500">
                  <a:extLst>
                    <a:ext uri="{9D8B030D-6E8A-4147-A177-3AD203B41FA5}">
                      <a16:colId xmlns:a16="http://schemas.microsoft.com/office/drawing/2014/main" val="20001"/>
                    </a:ext>
                  </a:extLst>
                </a:gridCol>
                <a:gridCol w="2857500">
                  <a:extLst>
                    <a:ext uri="{9D8B030D-6E8A-4147-A177-3AD203B41FA5}">
                      <a16:colId xmlns:a16="http://schemas.microsoft.com/office/drawing/2014/main" val="20002"/>
                    </a:ext>
                  </a:extLst>
                </a:gridCol>
                <a:gridCol w="2857500">
                  <a:extLst>
                    <a:ext uri="{9D8B030D-6E8A-4147-A177-3AD203B41FA5}">
                      <a16:colId xmlns:a16="http://schemas.microsoft.com/office/drawing/2014/main" val="20003"/>
                    </a:ext>
                  </a:extLst>
                </a:gridCol>
              </a:tblGrid>
              <a:tr h="960755">
                <a:tc>
                  <a:txBody>
                    <a:bodyPr/>
                    <a:lstStyle/>
                    <a:p>
                      <a:pPr>
                        <a:buNone/>
                      </a:pPr>
                      <a:r>
                        <a:rPr lang="fr-FR" altLang="en-US"/>
                        <a:t>Activité prévu dans le PAO du PEV en 2025</a:t>
                      </a:r>
                    </a:p>
                  </a:txBody>
                  <a:tcPr/>
                </a:tc>
                <a:tc>
                  <a:txBody>
                    <a:bodyPr/>
                    <a:lstStyle/>
                    <a:p>
                      <a:pPr>
                        <a:buNone/>
                      </a:pPr>
                      <a:r>
                        <a:rPr lang="fr-FR" altLang="en-US"/>
                        <a:t>Niveau de réalisation</a:t>
                      </a:r>
                    </a:p>
                  </a:txBody>
                  <a:tcPr/>
                </a:tc>
                <a:tc>
                  <a:txBody>
                    <a:bodyPr/>
                    <a:lstStyle/>
                    <a:p>
                      <a:pPr>
                        <a:buNone/>
                      </a:pPr>
                      <a:r>
                        <a:rPr lang="fr-FR" altLang="en-US"/>
                        <a:t>Output</a:t>
                      </a:r>
                    </a:p>
                  </a:txBody>
                  <a:tcPr/>
                </a:tc>
                <a:tc>
                  <a:txBody>
                    <a:bodyPr/>
                    <a:lstStyle/>
                    <a:p>
                      <a:pPr>
                        <a:buNone/>
                      </a:pPr>
                      <a:r>
                        <a:rPr lang="fr-FR" altLang="en-US"/>
                        <a:t>Outcome</a:t>
                      </a:r>
                    </a:p>
                  </a:txBody>
                  <a:tcPr/>
                </a:tc>
                <a:extLst>
                  <a:ext uri="{0D108BD9-81ED-4DB2-BD59-A6C34878D82A}">
                    <a16:rowId xmlns:a16="http://schemas.microsoft.com/office/drawing/2014/main" val="10000"/>
                  </a:ext>
                </a:extLst>
              </a:tr>
              <a:tr h="395605">
                <a:tc>
                  <a:txBody>
                    <a:bodyPr/>
                    <a:lstStyle/>
                    <a:p>
                      <a:pPr>
                        <a:buNone/>
                      </a:pPr>
                      <a:r>
                        <a:rPr lang="fr-FR" noProof="0" dirty="0" err="1"/>
                        <a:t>Renf</a:t>
                      </a:r>
                      <a:r>
                        <a:rPr lang="fr-FR" noProof="0" dirty="0"/>
                        <a:t>. capacités en </a:t>
                      </a:r>
                      <a:r>
                        <a:rPr lang="fr-FR" noProof="0" dirty="0" err="1"/>
                        <a:t>administrat</a:t>
                      </a:r>
                      <a:r>
                        <a:rPr lang="fr-FR" noProof="0" dirty="0"/>
                        <a:t>° du DHIS tracker, en saisie et analyse des données du tracker</a:t>
                      </a:r>
                    </a:p>
                  </a:txBody>
                  <a:tcPr/>
                </a:tc>
                <a:tc>
                  <a:txBody>
                    <a:bodyPr/>
                    <a:lstStyle/>
                    <a:p>
                      <a:pPr>
                        <a:buNone/>
                      </a:pPr>
                      <a:r>
                        <a:rPr lang="fr-FR" noProof="0" dirty="0"/>
                        <a:t>100%</a:t>
                      </a:r>
                    </a:p>
                  </a:txBody>
                  <a:tcPr/>
                </a:tc>
                <a:tc>
                  <a:txBody>
                    <a:bodyPr/>
                    <a:lstStyle/>
                    <a:p>
                      <a:pPr marL="285750" indent="-285750">
                        <a:buFont typeface="Arial" panose="020B0604020202020204" pitchFamily="34" charset="0"/>
                        <a:buChar char="•"/>
                      </a:pPr>
                      <a:r>
                        <a:rPr lang="fr-FR" sz="1800" b="1" i="0" kern="1200" noProof="0" dirty="0">
                          <a:solidFill>
                            <a:schemeClr val="dk1"/>
                          </a:solidFill>
                          <a:effectLst/>
                          <a:latin typeface="+mn-lt"/>
                          <a:ea typeface="+mn-ea"/>
                          <a:cs typeface="+mn-cs"/>
                        </a:rPr>
                        <a:t>Compétences techniques acquises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800" b="1" i="0" kern="1200" noProof="0" dirty="0">
                          <a:solidFill>
                            <a:schemeClr val="dk1"/>
                          </a:solidFill>
                          <a:effectLst/>
                          <a:latin typeface="+mn-lt"/>
                          <a:ea typeface="+mn-ea"/>
                          <a:cs typeface="+mn-cs"/>
                        </a:rPr>
                        <a:t>Agents formés et certifiés</a:t>
                      </a:r>
                    </a:p>
                  </a:txBody>
                  <a:tcPr/>
                </a:tc>
                <a:tc>
                  <a:txBody>
                    <a:bodyPr/>
                    <a:lstStyle/>
                    <a:p>
                      <a:pPr marL="0" indent="0">
                        <a:buFont typeface="Arial" panose="020B0604020202020204" pitchFamily="34" charset="0"/>
                        <a:buNone/>
                      </a:pPr>
                      <a:r>
                        <a:rPr lang="fr-FR" sz="1800" b="0" i="0" kern="1200" noProof="0" dirty="0">
                          <a:solidFill>
                            <a:schemeClr val="dk1"/>
                          </a:solidFill>
                          <a:effectLst/>
                          <a:latin typeface="+mn-lt"/>
                          <a:ea typeface="+mn-ea"/>
                          <a:cs typeface="+mn-cs"/>
                        </a:rPr>
                        <a:t>*</a:t>
                      </a:r>
                      <a:r>
                        <a:rPr lang="fr-FR" sz="1800" b="1" i="0" kern="1200" noProof="0" dirty="0">
                          <a:solidFill>
                            <a:schemeClr val="dk1"/>
                          </a:solidFill>
                          <a:effectLst/>
                          <a:latin typeface="+mn-lt"/>
                          <a:ea typeface="+mn-ea"/>
                          <a:cs typeface="+mn-cs"/>
                        </a:rPr>
                        <a:t>Meilleure gestion </a:t>
                      </a:r>
                      <a:r>
                        <a:rPr lang="fr-FR" sz="1800" b="0" i="0" kern="1200" noProof="0" dirty="0">
                          <a:solidFill>
                            <a:schemeClr val="dk1"/>
                          </a:solidFill>
                          <a:effectLst/>
                          <a:latin typeface="+mn-lt"/>
                          <a:ea typeface="+mn-ea"/>
                          <a:cs typeface="+mn-cs"/>
                        </a:rPr>
                        <a:t>du DHIS2 localement, efficacité accrue du suivi, *</a:t>
                      </a:r>
                      <a:r>
                        <a:rPr lang="fr-FR" sz="1800" b="1" i="0" kern="1200" noProof="0" dirty="0">
                          <a:solidFill>
                            <a:schemeClr val="dk1"/>
                          </a:solidFill>
                          <a:effectLst/>
                          <a:latin typeface="+mn-lt"/>
                          <a:ea typeface="+mn-ea"/>
                          <a:cs typeface="+mn-cs"/>
                        </a:rPr>
                        <a:t>Qualité des données améliorée</a:t>
                      </a:r>
                      <a:r>
                        <a:rPr lang="fr-FR" sz="1800" b="0" i="0" kern="1200" noProof="0" dirty="0">
                          <a:solidFill>
                            <a:schemeClr val="dk1"/>
                          </a:solidFill>
                          <a:effectLst/>
                          <a:latin typeface="+mn-lt"/>
                          <a:ea typeface="+mn-ea"/>
                          <a:cs typeface="+mn-cs"/>
                        </a:rPr>
                        <a:t>, *</a:t>
                      </a:r>
                      <a:r>
                        <a:rPr lang="fr-FR" sz="1800" b="1" i="0" kern="1200" noProof="0" dirty="0">
                          <a:solidFill>
                            <a:schemeClr val="dk1"/>
                          </a:solidFill>
                          <a:effectLst/>
                          <a:latin typeface="+mn-lt"/>
                          <a:ea typeface="+mn-ea"/>
                          <a:cs typeface="+mn-cs"/>
                        </a:rPr>
                        <a:t>Amélioration de la prise de décision </a:t>
                      </a:r>
                      <a:r>
                        <a:rPr lang="fr-FR" sz="1800" b="0" i="0" kern="1200" noProof="0" dirty="0">
                          <a:solidFill>
                            <a:schemeClr val="dk1"/>
                          </a:solidFill>
                          <a:effectLst/>
                          <a:latin typeface="+mn-lt"/>
                          <a:ea typeface="+mn-ea"/>
                          <a:cs typeface="+mn-cs"/>
                        </a:rPr>
                        <a:t>basée sur des données probantes, *</a:t>
                      </a:r>
                      <a:r>
                        <a:rPr lang="fr-FR" sz="1800" b="1" i="0" kern="1200" noProof="0" dirty="0">
                          <a:solidFill>
                            <a:schemeClr val="dk1"/>
                          </a:solidFill>
                          <a:effectLst/>
                          <a:latin typeface="+mn-lt"/>
                          <a:ea typeface="+mn-ea"/>
                          <a:cs typeface="+mn-cs"/>
                        </a:rPr>
                        <a:t>Durabilité du système </a:t>
                      </a:r>
                      <a:r>
                        <a:rPr lang="fr-FR" sz="1800" b="0" i="0" kern="1200" noProof="0" dirty="0">
                          <a:solidFill>
                            <a:schemeClr val="dk1"/>
                          </a:solidFill>
                          <a:effectLst/>
                          <a:latin typeface="+mn-lt"/>
                          <a:ea typeface="+mn-ea"/>
                          <a:cs typeface="+mn-cs"/>
                        </a:rPr>
                        <a:t>d'information, *</a:t>
                      </a:r>
                      <a:r>
                        <a:rPr lang="fr-FR" sz="1800" b="1" i="0" kern="1200" noProof="0" dirty="0">
                          <a:solidFill>
                            <a:schemeClr val="dk1"/>
                          </a:solidFill>
                          <a:effectLst/>
                          <a:latin typeface="+mn-lt"/>
                          <a:ea typeface="+mn-ea"/>
                          <a:cs typeface="+mn-cs"/>
                        </a:rPr>
                        <a:t>Amélioration des CV</a:t>
                      </a:r>
                      <a:endParaRPr lang="fr-FR" b="0" noProof="0" dirty="0"/>
                    </a:p>
                  </a:txBody>
                  <a:tcPr/>
                </a:tc>
                <a:extLst>
                  <a:ext uri="{0D108BD9-81ED-4DB2-BD59-A6C34878D82A}">
                    <a16:rowId xmlns:a16="http://schemas.microsoft.com/office/drawing/2014/main" val="10001"/>
                  </a:ext>
                </a:extLst>
              </a:tr>
              <a:tr h="395605">
                <a:tc>
                  <a:txBody>
                    <a:bodyPr/>
                    <a:lstStyle/>
                    <a:p>
                      <a:pPr>
                        <a:buNone/>
                      </a:pPr>
                      <a:r>
                        <a:rPr lang="fr-FR" altLang="en-US" dirty="0"/>
                        <a:t>Évaluation du processus de digitalisation de la micro-planification et élaboration de la feuille de route 2026-2027</a:t>
                      </a:r>
                    </a:p>
                  </a:txBody>
                  <a:tcPr/>
                </a:tc>
                <a:tc>
                  <a:txBody>
                    <a:bodyPr/>
                    <a:lstStyle/>
                    <a:p>
                      <a:pPr>
                        <a:buNone/>
                      </a:pPr>
                      <a:r>
                        <a:rPr lang="fr-FR" altLang="en-US" dirty="0"/>
                        <a:t>90%</a:t>
                      </a:r>
                    </a:p>
                  </a:txBody>
                  <a:tcPr/>
                </a:tc>
                <a:tc>
                  <a:txBody>
                    <a:bodyPr/>
                    <a:lstStyle/>
                    <a:p>
                      <a:pPr>
                        <a:buNone/>
                      </a:pPr>
                      <a:r>
                        <a:rPr lang="fr-FR" altLang="en-US" dirty="0"/>
                        <a:t>Rapport d’évaluation du processus de digitalisation de la micro-planification et feuille </a:t>
                      </a:r>
                      <a:r>
                        <a:rPr lang="fr-FR" altLang="en-US"/>
                        <a:t>de route</a:t>
                      </a:r>
                      <a:endParaRPr lang="fr-FR" altLang="en-US" dirty="0"/>
                    </a:p>
                  </a:txBody>
                  <a:tcPr/>
                </a:tc>
                <a:tc>
                  <a:txBody>
                    <a:bodyPr/>
                    <a:lstStyle/>
                    <a:p>
                      <a:pPr>
                        <a:buNone/>
                      </a:pPr>
                      <a:endParaRPr lang="fr-FR" altLang="en-US" dirty="0"/>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aabd3d1b2d_0_290"/>
          <p:cNvSpPr txBox="1"/>
          <p:nvPr/>
        </p:nvSpPr>
        <p:spPr>
          <a:xfrm>
            <a:off x="267700" y="180357"/>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700" b="0" i="0" u="none" strike="noStrike" cap="none" dirty="0" err="1">
                <a:solidFill>
                  <a:srgbClr val="1155CC"/>
                </a:solidFill>
                <a:latin typeface="Times New Roman" panose="02020603050405020304"/>
                <a:ea typeface="Times New Roman" panose="02020603050405020304"/>
                <a:cs typeface="Times New Roman" panose="02020603050405020304"/>
                <a:sym typeface="Times New Roman" panose="02020603050405020304"/>
              </a:rPr>
              <a:t>Redevabilités</a:t>
            </a:r>
            <a:r>
              <a:rPr lang="en-US"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 </a:t>
            </a:r>
            <a:r>
              <a:rPr lang="en-US" sz="2700" b="0" i="0" u="none" strike="noStrike" cap="none" dirty="0" err="1">
                <a:solidFill>
                  <a:srgbClr val="1155CC"/>
                </a:solidFill>
                <a:latin typeface="Times New Roman" panose="02020603050405020304"/>
                <a:ea typeface="Times New Roman" panose="02020603050405020304"/>
                <a:cs typeface="Times New Roman" panose="02020603050405020304"/>
                <a:sym typeface="Times New Roman" panose="02020603050405020304"/>
              </a:rPr>
              <a:t>fina</a:t>
            </a:r>
            <a:r>
              <a:rPr lang="fr-FR" altLang="en-US"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n</a:t>
            </a:r>
            <a:r>
              <a:rPr lang="en-US" sz="2700" b="0" i="0" u="none" strike="noStrike" cap="none" dirty="0" err="1">
                <a:solidFill>
                  <a:srgbClr val="1155CC"/>
                </a:solidFill>
                <a:latin typeface="Times New Roman" panose="02020603050405020304"/>
                <a:ea typeface="Times New Roman" panose="02020603050405020304"/>
                <a:cs typeface="Times New Roman" panose="02020603050405020304"/>
                <a:sym typeface="Times New Roman" panose="02020603050405020304"/>
              </a:rPr>
              <a:t>cières</a:t>
            </a:r>
            <a:r>
              <a:rPr lang="en-US"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 : </a:t>
            </a:r>
            <a:r>
              <a:rPr lang="en-US" sz="2700" b="0" i="0" u="none" strike="noStrike" cap="none" dirty="0" err="1">
                <a:solidFill>
                  <a:srgbClr val="1155CC"/>
                </a:solidFill>
                <a:latin typeface="Times New Roman" panose="02020603050405020304"/>
                <a:ea typeface="Times New Roman" panose="02020603050405020304"/>
                <a:cs typeface="Times New Roman" panose="02020603050405020304"/>
                <a:sym typeface="Times New Roman" panose="02020603050405020304"/>
              </a:rPr>
              <a:t>Projet</a:t>
            </a:r>
            <a:r>
              <a:rPr lang="en-US"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 du </a:t>
            </a:r>
            <a:r>
              <a:rPr lang="en-US" sz="2700" b="0" i="0" u="none" strike="noStrike" cap="none" dirty="0" err="1">
                <a:solidFill>
                  <a:srgbClr val="1155CC"/>
                </a:solidFill>
                <a:latin typeface="Times New Roman" panose="02020603050405020304"/>
                <a:ea typeface="Times New Roman" panose="02020603050405020304"/>
                <a:cs typeface="Times New Roman" panose="02020603050405020304"/>
                <a:sym typeface="Times New Roman" panose="02020603050405020304"/>
              </a:rPr>
              <a:t>financement</a:t>
            </a:r>
            <a:r>
              <a:rPr lang="en-US"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 domestique</a:t>
            </a:r>
            <a:endParaRPr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13</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0"/>
          <p:cNvGraphicFramePr/>
          <p:nvPr>
            <p:custDataLst>
              <p:tags r:id="rId1"/>
            </p:custDataLst>
            <p:extLst>
              <p:ext uri="{D42A27DB-BD31-4B8C-83A1-F6EECF244321}">
                <p14:modId xmlns:p14="http://schemas.microsoft.com/office/powerpoint/2010/main" val="2491041189"/>
              </p:ext>
            </p:extLst>
          </p:nvPr>
        </p:nvGraphicFramePr>
        <p:xfrm>
          <a:off x="243900" y="624457"/>
          <a:ext cx="11805345" cy="5926455"/>
        </p:xfrm>
        <a:graphic>
          <a:graphicData uri="http://schemas.openxmlformats.org/drawingml/2006/table">
            <a:tbl>
              <a:tblPr firstRow="1" bandRow="1">
                <a:tableStyleId>{5C22544A-7EE6-4342-B048-85BDC9FD1C3A}</a:tableStyleId>
              </a:tblPr>
              <a:tblGrid>
                <a:gridCol w="6781933">
                  <a:extLst>
                    <a:ext uri="{9D8B030D-6E8A-4147-A177-3AD203B41FA5}">
                      <a16:colId xmlns:a16="http://schemas.microsoft.com/office/drawing/2014/main" val="20000"/>
                    </a:ext>
                  </a:extLst>
                </a:gridCol>
                <a:gridCol w="1041721">
                  <a:extLst>
                    <a:ext uri="{9D8B030D-6E8A-4147-A177-3AD203B41FA5}">
                      <a16:colId xmlns:a16="http://schemas.microsoft.com/office/drawing/2014/main" val="20001"/>
                    </a:ext>
                  </a:extLst>
                </a:gridCol>
                <a:gridCol w="1250066">
                  <a:extLst>
                    <a:ext uri="{9D8B030D-6E8A-4147-A177-3AD203B41FA5}">
                      <a16:colId xmlns:a16="http://schemas.microsoft.com/office/drawing/2014/main" val="20002"/>
                    </a:ext>
                  </a:extLst>
                </a:gridCol>
                <a:gridCol w="1419921">
                  <a:extLst>
                    <a:ext uri="{9D8B030D-6E8A-4147-A177-3AD203B41FA5}">
                      <a16:colId xmlns:a16="http://schemas.microsoft.com/office/drawing/2014/main" val="20003"/>
                    </a:ext>
                  </a:extLst>
                </a:gridCol>
                <a:gridCol w="1311704">
                  <a:extLst>
                    <a:ext uri="{9D8B030D-6E8A-4147-A177-3AD203B41FA5}">
                      <a16:colId xmlns:a16="http://schemas.microsoft.com/office/drawing/2014/main" val="20004"/>
                    </a:ext>
                  </a:extLst>
                </a:gridCol>
              </a:tblGrid>
              <a:tr h="723265">
                <a:tc>
                  <a:txBody>
                    <a:bodyPr/>
                    <a:lstStyle/>
                    <a:p>
                      <a:pPr>
                        <a:buNone/>
                      </a:pPr>
                      <a:r>
                        <a:rPr lang="fr-FR" altLang="en-US" sz="1600" dirty="0"/>
                        <a:t>Activités </a:t>
                      </a:r>
                    </a:p>
                  </a:txBody>
                  <a:tcPr/>
                </a:tc>
                <a:tc>
                  <a:txBody>
                    <a:bodyPr/>
                    <a:lstStyle/>
                    <a:p>
                      <a:pPr>
                        <a:buNone/>
                      </a:pPr>
                      <a:r>
                        <a:rPr lang="fr-FR" altLang="en-US" sz="1600" dirty="0"/>
                        <a:t>Budget Prévu  ($)</a:t>
                      </a:r>
                    </a:p>
                  </a:txBody>
                  <a:tcPr/>
                </a:tc>
                <a:tc>
                  <a:txBody>
                    <a:bodyPr/>
                    <a:lstStyle/>
                    <a:p>
                      <a:pPr>
                        <a:buNone/>
                      </a:pPr>
                      <a:r>
                        <a:rPr lang="fr-FR" altLang="en-US" sz="1600" dirty="0"/>
                        <a:t>Budget décaissé ($)</a:t>
                      </a:r>
                    </a:p>
                  </a:txBody>
                  <a:tcPr/>
                </a:tc>
                <a:tc>
                  <a:txBody>
                    <a:bodyPr/>
                    <a:lstStyle/>
                    <a:p>
                      <a:pPr>
                        <a:buNone/>
                      </a:pPr>
                      <a:r>
                        <a:rPr lang="fr-FR" altLang="en-US" sz="1600" dirty="0" err="1"/>
                        <a:t>Tx</a:t>
                      </a:r>
                      <a:r>
                        <a:rPr lang="fr-FR" altLang="en-US" sz="1600" dirty="0"/>
                        <a:t> de décaissement </a:t>
                      </a:r>
                    </a:p>
                  </a:txBody>
                  <a:tcPr/>
                </a:tc>
                <a:tc>
                  <a:txBody>
                    <a:bodyPr/>
                    <a:lstStyle/>
                    <a:p>
                      <a:pPr>
                        <a:buNone/>
                      </a:pPr>
                      <a:r>
                        <a:rPr lang="fr-FR" altLang="en-US" sz="1600" dirty="0"/>
                        <a:t>Source de financement </a:t>
                      </a:r>
                    </a:p>
                  </a:txBody>
                  <a:tcPr/>
                </a:tc>
                <a:extLst>
                  <a:ext uri="{0D108BD9-81ED-4DB2-BD59-A6C34878D82A}">
                    <a16:rowId xmlns:a16="http://schemas.microsoft.com/office/drawing/2014/main" val="10000"/>
                  </a:ext>
                </a:extLst>
              </a:tr>
              <a:tr h="430530">
                <a:tc>
                  <a:txBody>
                    <a:bodyPr/>
                    <a:lstStyle/>
                    <a:p>
                      <a:pPr algn="l" fontAlgn="ctr">
                        <a:buNone/>
                      </a:pPr>
                      <a:r>
                        <a:rPr lang="fr-FR" sz="1800" kern="1200" dirty="0">
                          <a:solidFill>
                            <a:schemeClr val="dk1"/>
                          </a:solidFill>
                          <a:latin typeface="+mn-lt"/>
                          <a:ea typeface="+mn-ea"/>
                          <a:cs typeface="+mn-cs"/>
                        </a:rPr>
                        <a:t>Appui au fonctionnement bureau AT en prov (</a:t>
                      </a:r>
                      <a:r>
                        <a:rPr lang="fr-FR" sz="1800" kern="1200" dirty="0" err="1">
                          <a:solidFill>
                            <a:schemeClr val="dk1"/>
                          </a:solidFill>
                          <a:latin typeface="+mn-lt"/>
                          <a:ea typeface="+mn-ea"/>
                          <a:cs typeface="+mn-cs"/>
                        </a:rPr>
                        <a:t>Ht</a:t>
                      </a:r>
                      <a:r>
                        <a:rPr lang="fr-FR" sz="1800" kern="1200" dirty="0">
                          <a:solidFill>
                            <a:schemeClr val="dk1"/>
                          </a:solidFill>
                          <a:latin typeface="+mn-lt"/>
                          <a:ea typeface="+mn-ea"/>
                          <a:cs typeface="+mn-cs"/>
                        </a:rPr>
                        <a:t> Kat, </a:t>
                      </a:r>
                      <a:r>
                        <a:rPr lang="fr-FR" sz="1800" kern="1200" dirty="0" err="1">
                          <a:solidFill>
                            <a:schemeClr val="dk1"/>
                          </a:solidFill>
                          <a:latin typeface="+mn-lt"/>
                          <a:ea typeface="+mn-ea"/>
                          <a:cs typeface="+mn-cs"/>
                        </a:rPr>
                        <a:t>Tshopo</a:t>
                      </a:r>
                      <a:r>
                        <a:rPr lang="fr-FR" sz="1800" kern="1200" dirty="0">
                          <a:solidFill>
                            <a:schemeClr val="dk1"/>
                          </a:solidFill>
                          <a:latin typeface="+mn-lt"/>
                          <a:ea typeface="+mn-ea"/>
                          <a:cs typeface="+mn-cs"/>
                        </a:rPr>
                        <a:t>, Kas Or)</a:t>
                      </a:r>
                    </a:p>
                  </a:txBody>
                  <a:tcPr marL="6350" marR="6350" marT="6350" marB="0" anchor="ctr"/>
                </a:tc>
                <a:tc>
                  <a:txBody>
                    <a:bodyPr/>
                    <a:lstStyle/>
                    <a:p>
                      <a:pPr algn="r" fontAlgn="ctr">
                        <a:buNone/>
                      </a:pPr>
                      <a:r>
                        <a:rPr lang="en-US" sz="1800" kern="1200" dirty="0">
                          <a:solidFill>
                            <a:schemeClr val="dk1"/>
                          </a:solidFill>
                          <a:latin typeface="+mn-lt"/>
                          <a:ea typeface="+mn-ea"/>
                          <a:cs typeface="+mn-cs"/>
                        </a:rPr>
                        <a:t> 10.890 </a:t>
                      </a:r>
                    </a:p>
                  </a:txBody>
                  <a:tcPr marL="6350" marR="6350" marT="6350" marB="0" anchor="ctr"/>
                </a:tc>
                <a:tc>
                  <a:txBody>
                    <a:bodyPr/>
                    <a:lstStyle/>
                    <a:p>
                      <a:pPr algn="r">
                        <a:buNone/>
                      </a:pPr>
                      <a:r>
                        <a:rPr lang="en-US" sz="1800" kern="1200" dirty="0">
                          <a:solidFill>
                            <a:schemeClr val="dk1"/>
                          </a:solidFill>
                          <a:latin typeface="+mn-lt"/>
                          <a:ea typeface="+mn-ea"/>
                          <a:cs typeface="+mn-cs"/>
                        </a:rPr>
                        <a:t>10.890 </a:t>
                      </a:r>
                      <a:endParaRPr lang="fr-FR" altLang="en-US" dirty="0"/>
                    </a:p>
                  </a:txBody>
                  <a:tcPr anchor="ctr"/>
                </a:tc>
                <a:tc>
                  <a:txBody>
                    <a:bodyPr/>
                    <a:lstStyle/>
                    <a:p>
                      <a:pPr algn="ctr">
                        <a:buNone/>
                      </a:pPr>
                      <a:r>
                        <a:rPr lang="fr-FR" altLang="en-US" dirty="0"/>
                        <a:t>100%</a:t>
                      </a:r>
                    </a:p>
                  </a:txBody>
                  <a:tcPr/>
                </a:tc>
                <a:tc>
                  <a:txBody>
                    <a:bodyPr/>
                    <a:lstStyle/>
                    <a:p>
                      <a:pPr>
                        <a:buNone/>
                      </a:pPr>
                      <a:r>
                        <a:rPr lang="fr-FR" altLang="en-US" dirty="0"/>
                        <a:t>Gavi</a:t>
                      </a:r>
                    </a:p>
                  </a:txBody>
                  <a:tcPr/>
                </a:tc>
                <a:extLst>
                  <a:ext uri="{0D108BD9-81ED-4DB2-BD59-A6C34878D82A}">
                    <a16:rowId xmlns:a16="http://schemas.microsoft.com/office/drawing/2014/main" val="10001"/>
                  </a:ext>
                </a:extLst>
              </a:tr>
              <a:tr h="430530">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fr-FR" sz="1800" kern="1200" dirty="0">
                          <a:solidFill>
                            <a:schemeClr val="dk1"/>
                          </a:solidFill>
                          <a:latin typeface="+mn-lt"/>
                          <a:ea typeface="+mn-ea"/>
                          <a:cs typeface="+mn-cs"/>
                        </a:rPr>
                        <a:t>Appui tenue </a:t>
                      </a:r>
                      <a:r>
                        <a:rPr lang="fr-FR" sz="1800" kern="1200" dirty="0" err="1">
                          <a:solidFill>
                            <a:schemeClr val="dk1"/>
                          </a:solidFill>
                          <a:latin typeface="+mn-lt"/>
                          <a:ea typeface="+mn-ea"/>
                          <a:cs typeface="+mn-cs"/>
                        </a:rPr>
                        <a:t>CCPev</a:t>
                      </a:r>
                      <a:r>
                        <a:rPr lang="fr-FR" sz="1800" kern="1200" dirty="0">
                          <a:solidFill>
                            <a:schemeClr val="dk1"/>
                          </a:solidFill>
                          <a:latin typeface="+mn-lt"/>
                          <a:ea typeface="+mn-ea"/>
                          <a:cs typeface="+mn-cs"/>
                        </a:rPr>
                        <a:t> et validation des données  dans les 3 provinces</a:t>
                      </a:r>
                    </a:p>
                  </a:txBody>
                  <a:tcPr marL="6350" marR="6350" marT="6350" marB="0" anchor="ctr"/>
                </a:tc>
                <a:tc>
                  <a:txBody>
                    <a:bodyPr/>
                    <a:lstStyle/>
                    <a:p>
                      <a:pPr algn="r" fontAlgn="ctr">
                        <a:buNone/>
                      </a:pPr>
                      <a:r>
                        <a:rPr lang="fr-FR" sz="1800" kern="1200" dirty="0">
                          <a:solidFill>
                            <a:schemeClr val="dk1"/>
                          </a:solidFill>
                          <a:latin typeface="+mn-lt"/>
                          <a:ea typeface="+mn-ea"/>
                          <a:cs typeface="+mn-cs"/>
                        </a:rPr>
                        <a:t>66.600</a:t>
                      </a:r>
                      <a:endParaRPr lang="en-US" sz="1800" kern="1200" dirty="0">
                        <a:solidFill>
                          <a:schemeClr val="dk1"/>
                        </a:solidFill>
                        <a:latin typeface="+mn-lt"/>
                        <a:ea typeface="+mn-ea"/>
                        <a:cs typeface="+mn-cs"/>
                      </a:endParaRPr>
                    </a:p>
                  </a:txBody>
                  <a:tcPr marL="6350" marR="6350" marT="6350" marB="0"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fr-FR" altLang="en-US" dirty="0"/>
                        <a:t>29.570</a:t>
                      </a:r>
                    </a:p>
                  </a:txBody>
                  <a:tcPr anchor="ctr"/>
                </a:tc>
                <a:tc>
                  <a:txBody>
                    <a:bodyPr/>
                    <a:lstStyle/>
                    <a:p>
                      <a:pPr algn="ctr">
                        <a:buNone/>
                      </a:pPr>
                      <a:r>
                        <a:rPr lang="fr-FR" altLang="en-US" dirty="0"/>
                        <a:t>44,4%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altLang="en-US" dirty="0"/>
                        <a:t>Gavi</a:t>
                      </a:r>
                    </a:p>
                  </a:txBody>
                  <a:tcPr/>
                </a:tc>
                <a:extLst>
                  <a:ext uri="{0D108BD9-81ED-4DB2-BD59-A6C34878D82A}">
                    <a16:rowId xmlns:a16="http://schemas.microsoft.com/office/drawing/2014/main" val="10002"/>
                  </a:ext>
                </a:extLst>
              </a:tr>
              <a:tr h="430530">
                <a:tc>
                  <a:txBody>
                    <a:bodyPr/>
                    <a:lstStyle/>
                    <a:p>
                      <a:pPr algn="l" fontAlgn="ctr">
                        <a:buNone/>
                      </a:pPr>
                      <a:r>
                        <a:rPr lang="en-US" sz="1800" kern="1200" dirty="0">
                          <a:solidFill>
                            <a:schemeClr val="dk1"/>
                          </a:solidFill>
                          <a:latin typeface="+mn-lt"/>
                          <a:ea typeface="+mn-ea"/>
                          <a:cs typeface="+mn-cs"/>
                        </a:rPr>
                        <a:t>Prime AT </a:t>
                      </a:r>
                    </a:p>
                  </a:txBody>
                  <a:tcPr marL="6350" marR="6350" marT="6350" marB="0" anchor="ctr"/>
                </a:tc>
                <a:tc>
                  <a:txBody>
                    <a:bodyPr/>
                    <a:lstStyle/>
                    <a:p>
                      <a:pPr algn="r" fontAlgn="ctr">
                        <a:buNone/>
                      </a:pPr>
                      <a:r>
                        <a:rPr lang="en-US" sz="1800" kern="1200" dirty="0">
                          <a:solidFill>
                            <a:schemeClr val="dk1"/>
                          </a:solidFill>
                          <a:latin typeface="+mn-lt"/>
                          <a:ea typeface="+mn-ea"/>
                          <a:cs typeface="+mn-cs"/>
                        </a:rPr>
                        <a:t>75.390 </a:t>
                      </a:r>
                    </a:p>
                  </a:txBody>
                  <a:tcPr marL="6350" marR="6350" marT="6350" marB="0"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latin typeface="+mn-lt"/>
                          <a:ea typeface="+mn-ea"/>
                          <a:cs typeface="+mn-cs"/>
                        </a:rPr>
                        <a:t> 75.390 </a:t>
                      </a:r>
                    </a:p>
                  </a:txBody>
                  <a:tcPr marL="6350" marR="6350" marT="6350" marB="0" anchor="ctr"/>
                </a:tc>
                <a:tc>
                  <a:txBody>
                    <a:bodyPr/>
                    <a:lstStyle/>
                    <a:p>
                      <a:pPr algn="ctr" fontAlgn="ctr">
                        <a:buNone/>
                      </a:pPr>
                      <a:r>
                        <a:rPr lang="en-US" sz="1800" kern="1200" dirty="0">
                          <a:solidFill>
                            <a:schemeClr val="dk1"/>
                          </a:solidFill>
                          <a:latin typeface="+mn-lt"/>
                          <a:ea typeface="+mn-ea"/>
                          <a:cs typeface="+mn-cs"/>
                        </a:rPr>
                        <a:t>100%</a:t>
                      </a:r>
                    </a:p>
                  </a:txBody>
                  <a:tcPr marL="6350" marR="635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altLang="en-US" sz="1800" b="0" i="0" u="none" strike="noStrike" kern="1200" cap="none" spc="0" normalizeH="0" baseline="0" noProof="0">
                          <a:ln>
                            <a:noFill/>
                          </a:ln>
                          <a:solidFill>
                            <a:prstClr val="black"/>
                          </a:solidFill>
                          <a:effectLst/>
                          <a:uLnTx/>
                          <a:uFillTx/>
                          <a:latin typeface="Calibri"/>
                          <a:ea typeface="+mn-ea"/>
                          <a:cs typeface="+mn-cs"/>
                        </a:rPr>
                        <a:t>Gavi</a:t>
                      </a:r>
                      <a:endParaRPr lang="fr-FR" altLang="en-US" dirty="0"/>
                    </a:p>
                  </a:txBody>
                  <a:tcPr/>
                </a:tc>
                <a:extLst>
                  <a:ext uri="{0D108BD9-81ED-4DB2-BD59-A6C34878D82A}">
                    <a16:rowId xmlns:a16="http://schemas.microsoft.com/office/drawing/2014/main" val="10003"/>
                  </a:ext>
                </a:extLst>
              </a:tr>
              <a:tr h="430530">
                <a:tc>
                  <a:txBody>
                    <a:bodyPr/>
                    <a:lstStyle/>
                    <a:p>
                      <a:pPr algn="l" fontAlgn="ctr">
                        <a:buNone/>
                      </a:pPr>
                      <a:r>
                        <a:rPr lang="fr-FR" sz="1800" kern="1200" dirty="0">
                          <a:solidFill>
                            <a:schemeClr val="dk1"/>
                          </a:solidFill>
                          <a:latin typeface="+mn-lt"/>
                          <a:ea typeface="+mn-ea"/>
                          <a:cs typeface="+mn-cs"/>
                        </a:rPr>
                        <a:t>Appui à l’évaluation des plans prov d'investissements de la vaccination</a:t>
                      </a:r>
                    </a:p>
                  </a:txBody>
                  <a:tcPr marL="6350" marR="6350" marT="6350" marB="0" anchor="ctr"/>
                </a:tc>
                <a:tc>
                  <a:txBody>
                    <a:bodyPr/>
                    <a:lstStyle/>
                    <a:p>
                      <a:pPr algn="r" fontAlgn="ctr">
                        <a:buNone/>
                      </a:pPr>
                      <a:r>
                        <a:rPr lang="en-US" sz="1800" kern="1200" dirty="0">
                          <a:solidFill>
                            <a:schemeClr val="dk1"/>
                          </a:solidFill>
                          <a:latin typeface="+mn-lt"/>
                          <a:ea typeface="+mn-ea"/>
                          <a:cs typeface="+mn-cs"/>
                        </a:rPr>
                        <a:t>28.821 </a:t>
                      </a:r>
                    </a:p>
                  </a:txBody>
                  <a:tcPr marL="6350" marR="6350" marT="6350" marB="0"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latin typeface="+mn-lt"/>
                          <a:ea typeface="+mn-ea"/>
                          <a:cs typeface="+mn-cs"/>
                        </a:rPr>
                        <a:t> 24.195 </a:t>
                      </a:r>
                    </a:p>
                  </a:txBody>
                  <a:tcPr marL="6350" marR="6350" marT="6350" marB="0" anchor="ctr"/>
                </a:tc>
                <a:tc>
                  <a:txBody>
                    <a:bodyPr/>
                    <a:lstStyle/>
                    <a:p>
                      <a:pPr algn="ctr" fontAlgn="ctr">
                        <a:buNone/>
                      </a:pPr>
                      <a:r>
                        <a:rPr lang="en-US" sz="1800" kern="1200" dirty="0">
                          <a:solidFill>
                            <a:schemeClr val="dk1"/>
                          </a:solidFill>
                          <a:latin typeface="+mn-lt"/>
                          <a:ea typeface="+mn-ea"/>
                          <a:cs typeface="+mn-cs"/>
                        </a:rPr>
                        <a:t>84%</a:t>
                      </a:r>
                    </a:p>
                  </a:txBody>
                  <a:tcPr marL="6350" marR="6350" marT="6350" marB="0" anchor="ctr"/>
                </a:tc>
                <a:tc>
                  <a:txBody>
                    <a:bodyPr/>
                    <a:lstStyle/>
                    <a:p>
                      <a:r>
                        <a:rPr kumimoji="0" lang="fr-FR" altLang="en-US" sz="1800" b="0" i="0" u="none" strike="noStrike" kern="1200" cap="none" spc="0" normalizeH="0" baseline="0" noProof="0">
                          <a:ln>
                            <a:noFill/>
                          </a:ln>
                          <a:solidFill>
                            <a:prstClr val="black"/>
                          </a:solidFill>
                          <a:effectLst/>
                          <a:uLnTx/>
                          <a:uFillTx/>
                          <a:latin typeface="Calibri"/>
                          <a:ea typeface="+mn-ea"/>
                          <a:cs typeface="+mn-cs"/>
                        </a:rPr>
                        <a:t>Gavi</a:t>
                      </a:r>
                      <a:endParaRPr lang="en-US" dirty="0"/>
                    </a:p>
                  </a:txBody>
                  <a:tcPr/>
                </a:tc>
                <a:extLst>
                  <a:ext uri="{0D108BD9-81ED-4DB2-BD59-A6C34878D82A}">
                    <a16:rowId xmlns:a16="http://schemas.microsoft.com/office/drawing/2014/main" val="10004"/>
                  </a:ext>
                </a:extLst>
              </a:tr>
              <a:tr h="0">
                <a:tc>
                  <a:txBody>
                    <a:bodyPr/>
                    <a:lstStyle/>
                    <a:p>
                      <a:pPr algn="l" fontAlgn="ctr">
                        <a:buNone/>
                      </a:pPr>
                      <a:r>
                        <a:rPr lang="fr-FR" sz="1800" kern="1200" dirty="0">
                          <a:solidFill>
                            <a:schemeClr val="dk1"/>
                          </a:solidFill>
                          <a:latin typeface="+mn-lt"/>
                          <a:ea typeface="+mn-ea"/>
                          <a:cs typeface="+mn-cs"/>
                        </a:rPr>
                        <a:t>Appui a la formation  des cadres des DPS et ZS sur les innovations </a:t>
                      </a:r>
                    </a:p>
                  </a:txBody>
                  <a:tcPr marL="6350" marR="6350" marT="6350" marB="0" anchor="ctr"/>
                </a:tc>
                <a:tc>
                  <a:txBody>
                    <a:bodyPr/>
                    <a:lstStyle/>
                    <a:p>
                      <a:pPr algn="r" fontAlgn="ctr">
                        <a:buNone/>
                      </a:pPr>
                      <a:r>
                        <a:rPr lang="en-US" sz="1800" kern="1200" dirty="0">
                          <a:solidFill>
                            <a:schemeClr val="dk1"/>
                          </a:solidFill>
                          <a:latin typeface="+mn-lt"/>
                          <a:ea typeface="+mn-ea"/>
                          <a:cs typeface="+mn-cs"/>
                        </a:rPr>
                        <a:t> 75.799 </a:t>
                      </a:r>
                    </a:p>
                  </a:txBody>
                  <a:tcPr marL="6350" marR="6350" marT="6350" marB="0"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latin typeface="+mn-lt"/>
                          <a:ea typeface="+mn-ea"/>
                          <a:cs typeface="+mn-cs"/>
                        </a:rPr>
                        <a:t> 75.799  </a:t>
                      </a:r>
                    </a:p>
                  </a:txBody>
                  <a:tcPr marL="6350" marR="6350" marT="6350" marB="0" anchor="ctr"/>
                </a:tc>
                <a:tc>
                  <a:txBody>
                    <a:bodyPr/>
                    <a:lstStyle/>
                    <a:p>
                      <a:pPr algn="ctr" fontAlgn="ctr">
                        <a:buNone/>
                      </a:pPr>
                      <a:r>
                        <a:rPr lang="en-US" sz="1800" kern="1200" dirty="0">
                          <a:solidFill>
                            <a:schemeClr val="dk1"/>
                          </a:solidFill>
                          <a:latin typeface="+mn-lt"/>
                          <a:ea typeface="+mn-ea"/>
                          <a:cs typeface="+mn-cs"/>
                        </a:rPr>
                        <a:t>100%</a:t>
                      </a:r>
                    </a:p>
                  </a:txBody>
                  <a:tcPr marL="6350" marR="6350" marT="6350" marB="0" anchor="ctr"/>
                </a:tc>
                <a:tc>
                  <a:txBody>
                    <a:bodyPr/>
                    <a:lstStyle/>
                    <a:p>
                      <a:r>
                        <a:rPr kumimoji="0" lang="fr-FR" altLang="en-US" sz="1800" b="0" i="0" u="none" strike="noStrike" kern="1200" cap="none" spc="0" normalizeH="0" baseline="0" noProof="0">
                          <a:ln>
                            <a:noFill/>
                          </a:ln>
                          <a:solidFill>
                            <a:prstClr val="black"/>
                          </a:solidFill>
                          <a:effectLst/>
                          <a:uLnTx/>
                          <a:uFillTx/>
                          <a:latin typeface="Calibri"/>
                          <a:ea typeface="+mn-ea"/>
                          <a:cs typeface="+mn-cs"/>
                        </a:rPr>
                        <a:t>Gavi</a:t>
                      </a:r>
                      <a:endParaRPr lang="en-US" dirty="0"/>
                    </a:p>
                  </a:txBody>
                  <a:tcPr/>
                </a:tc>
                <a:extLst>
                  <a:ext uri="{0D108BD9-81ED-4DB2-BD59-A6C34878D82A}">
                    <a16:rowId xmlns:a16="http://schemas.microsoft.com/office/drawing/2014/main" val="10005"/>
                  </a:ext>
                </a:extLst>
              </a:tr>
              <a:tr h="317923">
                <a:tc>
                  <a:txBody>
                    <a:bodyPr/>
                    <a:lstStyle/>
                    <a:p>
                      <a:pPr algn="l" fontAlgn="ctr">
                        <a:buNone/>
                      </a:pPr>
                      <a:r>
                        <a:rPr lang="fr-FR" sz="1800" kern="1200" dirty="0">
                          <a:solidFill>
                            <a:schemeClr val="dk1"/>
                          </a:solidFill>
                          <a:latin typeface="+mn-lt"/>
                          <a:ea typeface="+mn-ea"/>
                          <a:cs typeface="+mn-cs"/>
                        </a:rPr>
                        <a:t>Appui a la formation des cadres du PEV sur les innovations (</a:t>
                      </a:r>
                      <a:r>
                        <a:rPr lang="fr-FR" sz="1800" kern="1200" dirty="0" err="1">
                          <a:solidFill>
                            <a:schemeClr val="dk1"/>
                          </a:solidFill>
                          <a:latin typeface="+mn-lt"/>
                          <a:ea typeface="+mn-ea"/>
                          <a:cs typeface="+mn-cs"/>
                        </a:rPr>
                        <a:t>Bibua</a:t>
                      </a:r>
                      <a:r>
                        <a:rPr lang="fr-FR" sz="1800" kern="1200" dirty="0">
                          <a:solidFill>
                            <a:schemeClr val="dk1"/>
                          </a:solidFill>
                          <a:latin typeface="+mn-lt"/>
                          <a:ea typeface="+mn-ea"/>
                          <a:cs typeface="+mn-cs"/>
                        </a:rPr>
                        <a:t>, </a:t>
                      </a:r>
                      <a:r>
                        <a:rPr lang="fr-FR" sz="1800" kern="1200" dirty="0" err="1">
                          <a:solidFill>
                            <a:schemeClr val="dk1"/>
                          </a:solidFill>
                          <a:latin typeface="+mn-lt"/>
                          <a:ea typeface="+mn-ea"/>
                          <a:cs typeface="+mn-cs"/>
                        </a:rPr>
                        <a:t>Kin</a:t>
                      </a:r>
                      <a:r>
                        <a:rPr lang="fr-FR" sz="1800" kern="1200" dirty="0">
                          <a:solidFill>
                            <a:schemeClr val="dk1"/>
                          </a:solidFill>
                          <a:latin typeface="+mn-lt"/>
                          <a:ea typeface="+mn-ea"/>
                          <a:cs typeface="+mn-cs"/>
                        </a:rPr>
                        <a:t>)</a:t>
                      </a:r>
                    </a:p>
                  </a:txBody>
                  <a:tcPr marL="6350" marR="6350" marT="6350" marB="0" anchor="ctr"/>
                </a:tc>
                <a:tc>
                  <a:txBody>
                    <a:bodyPr/>
                    <a:lstStyle/>
                    <a:p>
                      <a:pPr algn="r" fontAlgn="ctr">
                        <a:buNone/>
                      </a:pPr>
                      <a:r>
                        <a:rPr lang="en-US" sz="1800" kern="1200" dirty="0">
                          <a:solidFill>
                            <a:schemeClr val="dk1"/>
                          </a:solidFill>
                          <a:latin typeface="+mn-lt"/>
                          <a:ea typeface="+mn-ea"/>
                          <a:cs typeface="+mn-cs"/>
                        </a:rPr>
                        <a:t> 12.188 </a:t>
                      </a:r>
                    </a:p>
                  </a:txBody>
                  <a:tcPr marL="6350" marR="6350" marT="6350" marB="0"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latin typeface="+mn-lt"/>
                          <a:ea typeface="+mn-ea"/>
                          <a:cs typeface="+mn-cs"/>
                        </a:rPr>
                        <a:t> 12.188  </a:t>
                      </a:r>
                    </a:p>
                  </a:txBody>
                  <a:tcPr marL="6350" marR="6350" marT="6350" marB="0" anchor="ctr"/>
                </a:tc>
                <a:tc>
                  <a:txBody>
                    <a:bodyPr/>
                    <a:lstStyle/>
                    <a:p>
                      <a:pPr algn="ctr" fontAlgn="ctr">
                        <a:buNone/>
                      </a:pPr>
                      <a:r>
                        <a:rPr lang="en-US" sz="1800" kern="1200" dirty="0">
                          <a:solidFill>
                            <a:schemeClr val="dk1"/>
                          </a:solidFill>
                          <a:latin typeface="+mn-lt"/>
                          <a:ea typeface="+mn-ea"/>
                          <a:cs typeface="+mn-cs"/>
                        </a:rPr>
                        <a:t>100%</a:t>
                      </a:r>
                    </a:p>
                  </a:txBody>
                  <a:tcPr marL="6350" marR="6350" marT="6350" marB="0" anchor="ctr"/>
                </a:tc>
                <a:tc>
                  <a:txBody>
                    <a:bodyPr/>
                    <a:lstStyle/>
                    <a:p>
                      <a:r>
                        <a:rPr kumimoji="0" lang="fr-FR" altLang="en-US" sz="1800" b="0" i="0" u="none" strike="noStrike" kern="1200" cap="none" spc="0" normalizeH="0" baseline="0" noProof="0">
                          <a:ln>
                            <a:noFill/>
                          </a:ln>
                          <a:solidFill>
                            <a:prstClr val="black"/>
                          </a:solidFill>
                          <a:effectLst/>
                          <a:uLnTx/>
                          <a:uFillTx/>
                          <a:latin typeface="Calibri"/>
                          <a:ea typeface="+mn-ea"/>
                          <a:cs typeface="+mn-cs"/>
                        </a:rPr>
                        <a:t>Gavi</a:t>
                      </a:r>
                      <a:endParaRPr lang="en-US" dirty="0"/>
                    </a:p>
                  </a:txBody>
                  <a:tcPr/>
                </a:tc>
                <a:extLst>
                  <a:ext uri="{0D108BD9-81ED-4DB2-BD59-A6C34878D82A}">
                    <a16:rowId xmlns:a16="http://schemas.microsoft.com/office/drawing/2014/main" val="391322453"/>
                  </a:ext>
                </a:extLst>
              </a:tr>
              <a:tr h="270087">
                <a:tc>
                  <a:txBody>
                    <a:bodyPr/>
                    <a:lstStyle/>
                    <a:p>
                      <a:pPr algn="l" fontAlgn="ctr">
                        <a:buNone/>
                      </a:pPr>
                      <a:r>
                        <a:rPr lang="fr-FR" sz="1800" kern="1200" dirty="0">
                          <a:solidFill>
                            <a:schemeClr val="dk1"/>
                          </a:solidFill>
                          <a:latin typeface="+mn-lt"/>
                          <a:ea typeface="+mn-ea"/>
                          <a:cs typeface="+mn-cs"/>
                        </a:rPr>
                        <a:t>Dotation en  ordinateur à la Direction PEV </a:t>
                      </a:r>
                    </a:p>
                  </a:txBody>
                  <a:tcPr marL="6350" marR="6350" marT="6350" marB="0" anchor="ctr"/>
                </a:tc>
                <a:tc>
                  <a:txBody>
                    <a:bodyPr/>
                    <a:lstStyle/>
                    <a:p>
                      <a:pPr algn="r" fontAlgn="ctr">
                        <a:buNone/>
                      </a:pPr>
                      <a:r>
                        <a:rPr lang="en-US" sz="1800" kern="1200" dirty="0">
                          <a:solidFill>
                            <a:schemeClr val="dk1"/>
                          </a:solidFill>
                          <a:latin typeface="+mn-lt"/>
                          <a:ea typeface="+mn-ea"/>
                          <a:cs typeface="+mn-cs"/>
                        </a:rPr>
                        <a:t> 5.800</a:t>
                      </a:r>
                    </a:p>
                  </a:txBody>
                  <a:tcPr marL="6350" marR="6350" marT="6350" marB="0" anchor="ctr"/>
                </a:tc>
                <a:tc>
                  <a:txBody>
                    <a:bodyPr/>
                    <a:lstStyle/>
                    <a:p>
                      <a:pPr algn="r" fontAlgn="ctr">
                        <a:buNone/>
                      </a:pPr>
                      <a:r>
                        <a:rPr lang="en-US" sz="1800" kern="1200" dirty="0">
                          <a:solidFill>
                            <a:schemeClr val="dk1"/>
                          </a:solidFill>
                          <a:latin typeface="+mn-lt"/>
                          <a:ea typeface="+mn-ea"/>
                          <a:cs typeface="+mn-cs"/>
                        </a:rPr>
                        <a:t> 5.800</a:t>
                      </a: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a:ea typeface="+mn-ea"/>
                          <a:cs typeface="+mn-cs"/>
                        </a:rPr>
                        <a:t>100%</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txBody>
                  <a:tcPr/>
                </a:tc>
                <a:tc>
                  <a:txBody>
                    <a:bodyPr/>
                    <a:lstStyle/>
                    <a:p>
                      <a:r>
                        <a:rPr kumimoji="0" lang="fr-FR" altLang="en-US" sz="1800" b="0" i="0" u="none" strike="noStrike" kern="1200" cap="none" spc="0" normalizeH="0" baseline="0" noProof="0">
                          <a:ln>
                            <a:noFill/>
                          </a:ln>
                          <a:solidFill>
                            <a:prstClr val="black"/>
                          </a:solidFill>
                          <a:effectLst/>
                          <a:uLnTx/>
                          <a:uFillTx/>
                          <a:latin typeface="Calibri"/>
                          <a:ea typeface="+mn-ea"/>
                          <a:cs typeface="+mn-cs"/>
                        </a:rPr>
                        <a:t>Gavi</a:t>
                      </a:r>
                      <a:endParaRPr lang="en-US" dirty="0"/>
                    </a:p>
                  </a:txBody>
                  <a:tcPr/>
                </a:tc>
                <a:extLst>
                  <a:ext uri="{0D108BD9-81ED-4DB2-BD59-A6C34878D82A}">
                    <a16:rowId xmlns:a16="http://schemas.microsoft.com/office/drawing/2014/main" val="2139419370"/>
                  </a:ext>
                </a:extLst>
              </a:tr>
              <a:tr h="222250">
                <a:tc>
                  <a:txBody>
                    <a:bodyPr/>
                    <a:lstStyle/>
                    <a:p>
                      <a:pPr algn="l" fontAlgn="ctr">
                        <a:buNone/>
                      </a:pPr>
                      <a:r>
                        <a:rPr lang="fr-FR" sz="1800" kern="1200" dirty="0">
                          <a:solidFill>
                            <a:schemeClr val="dk1"/>
                          </a:solidFill>
                          <a:latin typeface="+mn-lt"/>
                          <a:ea typeface="+mn-ea"/>
                          <a:cs typeface="+mn-cs"/>
                        </a:rPr>
                        <a:t>Appui à l'</a:t>
                      </a:r>
                      <a:r>
                        <a:rPr lang="fr-FR" sz="1800" kern="1200" dirty="0" err="1">
                          <a:solidFill>
                            <a:schemeClr val="dk1"/>
                          </a:solidFill>
                          <a:latin typeface="+mn-lt"/>
                          <a:ea typeface="+mn-ea"/>
                          <a:cs typeface="+mn-cs"/>
                        </a:rPr>
                        <a:t>élaborat</a:t>
                      </a:r>
                      <a:r>
                        <a:rPr lang="fr-FR" sz="1800" kern="1200" dirty="0">
                          <a:solidFill>
                            <a:schemeClr val="dk1"/>
                          </a:solidFill>
                          <a:latin typeface="+mn-lt"/>
                          <a:ea typeface="+mn-ea"/>
                          <a:cs typeface="+mn-cs"/>
                        </a:rPr>
                        <a:t>° de l'édit portant financement de la </a:t>
                      </a:r>
                      <a:r>
                        <a:rPr lang="fr-FR" sz="1800" kern="1200" dirty="0" err="1">
                          <a:solidFill>
                            <a:schemeClr val="dk1"/>
                          </a:solidFill>
                          <a:latin typeface="+mn-lt"/>
                          <a:ea typeface="+mn-ea"/>
                          <a:cs typeface="+mn-cs"/>
                        </a:rPr>
                        <a:t>vaccinat</a:t>
                      </a:r>
                      <a:r>
                        <a:rPr lang="fr-FR" sz="1800" kern="1200" dirty="0">
                          <a:solidFill>
                            <a:schemeClr val="dk1"/>
                          </a:solidFill>
                          <a:latin typeface="+mn-lt"/>
                          <a:ea typeface="+mn-ea"/>
                          <a:cs typeface="+mn-cs"/>
                        </a:rPr>
                        <a:t>° de la </a:t>
                      </a:r>
                      <a:r>
                        <a:rPr lang="fr-FR" sz="1800" kern="1200" dirty="0" err="1">
                          <a:solidFill>
                            <a:schemeClr val="dk1"/>
                          </a:solidFill>
                          <a:latin typeface="+mn-lt"/>
                          <a:ea typeface="+mn-ea"/>
                          <a:cs typeface="+mn-cs"/>
                        </a:rPr>
                        <a:t>Tshopo</a:t>
                      </a:r>
                      <a:r>
                        <a:rPr lang="fr-FR" sz="1800" kern="1200" dirty="0">
                          <a:solidFill>
                            <a:schemeClr val="dk1"/>
                          </a:solidFill>
                          <a:latin typeface="+mn-lt"/>
                          <a:ea typeface="+mn-ea"/>
                          <a:cs typeface="+mn-cs"/>
                        </a:rPr>
                        <a:t>  </a:t>
                      </a:r>
                    </a:p>
                  </a:txBody>
                  <a:tcPr marL="6350" marR="6350" marT="6350" marB="0" anchor="ctr"/>
                </a:tc>
                <a:tc>
                  <a:txBody>
                    <a:bodyPr/>
                    <a:lstStyle/>
                    <a:p>
                      <a:pPr algn="r" fontAlgn="ctr">
                        <a:buNone/>
                      </a:pPr>
                      <a:r>
                        <a:rPr lang="en-US" sz="1800" kern="1200" dirty="0">
                          <a:solidFill>
                            <a:schemeClr val="dk1"/>
                          </a:solidFill>
                          <a:latin typeface="+mn-lt"/>
                          <a:ea typeface="+mn-ea"/>
                          <a:cs typeface="+mn-cs"/>
                        </a:rPr>
                        <a:t> 11.584 </a:t>
                      </a:r>
                    </a:p>
                  </a:txBody>
                  <a:tcPr marL="6350" marR="6350" marT="6350" marB="0" anchor="ctr"/>
                </a:tc>
                <a:tc>
                  <a:txBody>
                    <a:bodyPr/>
                    <a:lstStyle/>
                    <a:p>
                      <a:pPr algn="r" fontAlgn="ctr">
                        <a:buNone/>
                      </a:pPr>
                      <a:r>
                        <a:rPr lang="en-US" sz="1800" kern="1200" dirty="0">
                          <a:solidFill>
                            <a:schemeClr val="dk1"/>
                          </a:solidFill>
                          <a:latin typeface="+mn-lt"/>
                          <a:ea typeface="+mn-ea"/>
                          <a:cs typeface="+mn-cs"/>
                        </a:rPr>
                        <a:t> 11.584 </a:t>
                      </a: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a:ea typeface="+mn-ea"/>
                          <a:cs typeface="+mn-cs"/>
                        </a:rPr>
                        <a:t>100%</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txBody>
                  <a:tcPr/>
                </a:tc>
                <a:tc>
                  <a:txBody>
                    <a:bodyPr/>
                    <a:lstStyle/>
                    <a:p>
                      <a:r>
                        <a:rPr kumimoji="0" lang="fr-FR" altLang="en-US" sz="1800" b="0" i="0" u="none" strike="noStrike" kern="1200" cap="none" spc="0" normalizeH="0" baseline="0" noProof="0">
                          <a:ln>
                            <a:noFill/>
                          </a:ln>
                          <a:solidFill>
                            <a:prstClr val="black"/>
                          </a:solidFill>
                          <a:effectLst/>
                          <a:uLnTx/>
                          <a:uFillTx/>
                          <a:latin typeface="Calibri"/>
                          <a:ea typeface="+mn-ea"/>
                          <a:cs typeface="+mn-cs"/>
                        </a:rPr>
                        <a:t>Gavi</a:t>
                      </a:r>
                      <a:endParaRPr lang="en-US" dirty="0"/>
                    </a:p>
                  </a:txBody>
                  <a:tcPr/>
                </a:tc>
                <a:extLst>
                  <a:ext uri="{0D108BD9-81ED-4DB2-BD59-A6C34878D82A}">
                    <a16:rowId xmlns:a16="http://schemas.microsoft.com/office/drawing/2014/main" val="3217013091"/>
                  </a:ext>
                </a:extLst>
              </a:tr>
              <a:tr h="174413">
                <a:tc>
                  <a:txBody>
                    <a:bodyPr/>
                    <a:lstStyle/>
                    <a:p>
                      <a:pPr algn="l" fontAlgn="ctr">
                        <a:buNone/>
                      </a:pPr>
                      <a:r>
                        <a:rPr lang="fr-FR" sz="1800" kern="1200" dirty="0">
                          <a:solidFill>
                            <a:schemeClr val="dk1"/>
                          </a:solidFill>
                          <a:latin typeface="+mn-lt"/>
                          <a:ea typeface="+mn-ea"/>
                          <a:cs typeface="+mn-cs"/>
                        </a:rPr>
                        <a:t>Atelier de mise  a jour outil REPACAV </a:t>
                      </a:r>
                      <a:r>
                        <a:rPr lang="fr-FR" sz="1800" kern="1200" dirty="0" err="1">
                          <a:solidFill>
                            <a:schemeClr val="dk1"/>
                          </a:solidFill>
                          <a:latin typeface="+mn-lt"/>
                          <a:ea typeface="+mn-ea"/>
                          <a:cs typeface="+mn-cs"/>
                        </a:rPr>
                        <a:t>Kisantu</a:t>
                      </a:r>
                      <a:endParaRPr lang="fr-FR" sz="1800" kern="1200" dirty="0">
                        <a:solidFill>
                          <a:schemeClr val="dk1"/>
                        </a:solidFill>
                        <a:latin typeface="+mn-lt"/>
                        <a:ea typeface="+mn-ea"/>
                        <a:cs typeface="+mn-cs"/>
                      </a:endParaRPr>
                    </a:p>
                  </a:txBody>
                  <a:tcPr marL="6350" marR="6350" marT="6350" marB="0" anchor="ctr"/>
                </a:tc>
                <a:tc>
                  <a:txBody>
                    <a:bodyPr/>
                    <a:lstStyle/>
                    <a:p>
                      <a:pPr algn="r" fontAlgn="ctr">
                        <a:buNone/>
                      </a:pPr>
                      <a:r>
                        <a:rPr lang="en-US" sz="1800" kern="1200" dirty="0">
                          <a:solidFill>
                            <a:schemeClr val="dk1"/>
                          </a:solidFill>
                          <a:latin typeface="+mn-lt"/>
                          <a:ea typeface="+mn-ea"/>
                          <a:cs typeface="+mn-cs"/>
                        </a:rPr>
                        <a:t>4.890 </a:t>
                      </a:r>
                    </a:p>
                  </a:txBody>
                  <a:tcPr marL="6350" marR="6350" marT="6350" marB="0" anchor="ctr"/>
                </a:tc>
                <a:tc>
                  <a:txBody>
                    <a:bodyPr/>
                    <a:lstStyle/>
                    <a:p>
                      <a:pPr algn="r" fontAlgn="ctr">
                        <a:buNone/>
                      </a:pPr>
                      <a:r>
                        <a:rPr lang="en-US" sz="1800" kern="1200" dirty="0">
                          <a:solidFill>
                            <a:schemeClr val="dk1"/>
                          </a:solidFill>
                          <a:latin typeface="+mn-lt"/>
                          <a:ea typeface="+mn-ea"/>
                          <a:cs typeface="+mn-cs"/>
                        </a:rPr>
                        <a:t>4.890 </a:t>
                      </a: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a:ea typeface="+mn-ea"/>
                          <a:cs typeface="+mn-cs"/>
                        </a:rPr>
                        <a:t>100%</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txBody>
                  <a:tcPr/>
                </a:tc>
                <a:tc>
                  <a:txBody>
                    <a:bodyPr/>
                    <a:lstStyle/>
                    <a:p>
                      <a:r>
                        <a:rPr kumimoji="0" lang="fr-FR" altLang="en-US" sz="1800" b="0" i="0" u="none" strike="noStrike" kern="1200" cap="none" spc="0" normalizeH="0" baseline="0" noProof="0">
                          <a:ln>
                            <a:noFill/>
                          </a:ln>
                          <a:solidFill>
                            <a:prstClr val="black"/>
                          </a:solidFill>
                          <a:effectLst/>
                          <a:uLnTx/>
                          <a:uFillTx/>
                          <a:latin typeface="Calibri"/>
                          <a:ea typeface="+mn-ea"/>
                          <a:cs typeface="+mn-cs"/>
                        </a:rPr>
                        <a:t>Gavi</a:t>
                      </a:r>
                      <a:endParaRPr lang="en-US" dirty="0"/>
                    </a:p>
                  </a:txBody>
                  <a:tcPr/>
                </a:tc>
                <a:extLst>
                  <a:ext uri="{0D108BD9-81ED-4DB2-BD59-A6C34878D82A}">
                    <a16:rowId xmlns:a16="http://schemas.microsoft.com/office/drawing/2014/main" val="4066773982"/>
                  </a:ext>
                </a:extLst>
              </a:tr>
              <a:tr h="126577">
                <a:tc>
                  <a:txBody>
                    <a:bodyPr/>
                    <a:lstStyle/>
                    <a:p>
                      <a:pPr algn="l" fontAlgn="ctr">
                        <a:buNone/>
                      </a:pPr>
                      <a:r>
                        <a:rPr lang="en-US" sz="1800" kern="1200" dirty="0" err="1">
                          <a:solidFill>
                            <a:schemeClr val="dk1"/>
                          </a:solidFill>
                          <a:latin typeface="+mn-lt"/>
                          <a:ea typeface="+mn-ea"/>
                          <a:cs typeface="+mn-cs"/>
                        </a:rPr>
                        <a:t>Retraite</a:t>
                      </a:r>
                      <a:r>
                        <a:rPr lang="en-US" sz="1800" kern="1200" dirty="0">
                          <a:solidFill>
                            <a:schemeClr val="dk1"/>
                          </a:solidFill>
                          <a:latin typeface="+mn-lt"/>
                          <a:ea typeface="+mn-ea"/>
                          <a:cs typeface="+mn-cs"/>
                        </a:rPr>
                        <a:t> MoU </a:t>
                      </a:r>
                      <a:r>
                        <a:rPr lang="en-US" sz="1800" kern="1200" dirty="0" err="1">
                          <a:solidFill>
                            <a:schemeClr val="dk1"/>
                          </a:solidFill>
                          <a:latin typeface="+mn-lt"/>
                          <a:ea typeface="+mn-ea"/>
                          <a:cs typeface="+mn-cs"/>
                        </a:rPr>
                        <a:t>Likasi</a:t>
                      </a:r>
                      <a:endParaRPr lang="en-US" sz="1800" kern="1200" dirty="0">
                        <a:solidFill>
                          <a:schemeClr val="dk1"/>
                        </a:solidFill>
                        <a:latin typeface="+mn-lt"/>
                        <a:ea typeface="+mn-ea"/>
                        <a:cs typeface="+mn-cs"/>
                      </a:endParaRPr>
                    </a:p>
                  </a:txBody>
                  <a:tcPr marL="6350" marR="6350" marT="6350" marB="0" anchor="ctr"/>
                </a:tc>
                <a:tc>
                  <a:txBody>
                    <a:bodyPr/>
                    <a:lstStyle/>
                    <a:p>
                      <a:pPr algn="r" fontAlgn="ctr">
                        <a:buNone/>
                      </a:pPr>
                      <a:r>
                        <a:rPr lang="en-US" sz="1800" kern="1200" dirty="0">
                          <a:solidFill>
                            <a:schemeClr val="dk1"/>
                          </a:solidFill>
                          <a:latin typeface="+mn-lt"/>
                          <a:ea typeface="+mn-ea"/>
                          <a:cs typeface="+mn-cs"/>
                        </a:rPr>
                        <a:t> 24.390 </a:t>
                      </a:r>
                    </a:p>
                  </a:txBody>
                  <a:tcPr marL="6350" marR="6350" marT="6350" marB="0" anchor="ctr"/>
                </a:tc>
                <a:tc>
                  <a:txBody>
                    <a:bodyPr/>
                    <a:lstStyle/>
                    <a:p>
                      <a:pPr algn="r" fontAlgn="ctr">
                        <a:buNone/>
                      </a:pPr>
                      <a:r>
                        <a:rPr lang="en-US" sz="1800" kern="1200" dirty="0">
                          <a:solidFill>
                            <a:schemeClr val="dk1"/>
                          </a:solidFill>
                          <a:latin typeface="+mn-lt"/>
                          <a:ea typeface="+mn-ea"/>
                          <a:cs typeface="+mn-cs"/>
                        </a:rPr>
                        <a:t> 24.390 </a:t>
                      </a: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a:ea typeface="+mn-ea"/>
                          <a:cs typeface="+mn-cs"/>
                        </a:rPr>
                        <a:t>100%</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txBody>
                  <a:tcPr/>
                </a:tc>
                <a:tc>
                  <a:txBody>
                    <a:bodyPr/>
                    <a:lstStyle/>
                    <a:p>
                      <a:r>
                        <a:rPr kumimoji="0" lang="fr-FR" altLang="en-US" sz="1800" b="0" i="0" u="none" strike="noStrike" kern="1200" cap="none" spc="0" normalizeH="0" baseline="0" noProof="0">
                          <a:ln>
                            <a:noFill/>
                          </a:ln>
                          <a:solidFill>
                            <a:prstClr val="black"/>
                          </a:solidFill>
                          <a:effectLst/>
                          <a:uLnTx/>
                          <a:uFillTx/>
                          <a:latin typeface="Calibri"/>
                          <a:ea typeface="+mn-ea"/>
                          <a:cs typeface="+mn-cs"/>
                        </a:rPr>
                        <a:t>Gavi</a:t>
                      </a:r>
                      <a:endParaRPr lang="en-US" dirty="0"/>
                    </a:p>
                  </a:txBody>
                  <a:tcPr/>
                </a:tc>
                <a:extLst>
                  <a:ext uri="{0D108BD9-81ED-4DB2-BD59-A6C34878D82A}">
                    <a16:rowId xmlns:a16="http://schemas.microsoft.com/office/drawing/2014/main" val="4035289909"/>
                  </a:ext>
                </a:extLst>
              </a:tr>
              <a:tr h="0">
                <a:tc>
                  <a:txBody>
                    <a:bodyPr/>
                    <a:lstStyle/>
                    <a:p>
                      <a:pPr algn="l" fontAlgn="ctr">
                        <a:buNone/>
                      </a:pPr>
                      <a:r>
                        <a:rPr lang="en-US" sz="1800" kern="1200" dirty="0" err="1">
                          <a:solidFill>
                            <a:schemeClr val="dk1"/>
                          </a:solidFill>
                          <a:latin typeface="+mn-lt"/>
                          <a:ea typeface="+mn-ea"/>
                          <a:cs typeface="+mn-cs"/>
                        </a:rPr>
                        <a:t>Retraite</a:t>
                      </a:r>
                      <a:r>
                        <a:rPr lang="en-US" sz="1800" kern="1200" dirty="0">
                          <a:solidFill>
                            <a:schemeClr val="dk1"/>
                          </a:solidFill>
                          <a:latin typeface="+mn-lt"/>
                          <a:ea typeface="+mn-ea"/>
                          <a:cs typeface="+mn-cs"/>
                        </a:rPr>
                        <a:t> </a:t>
                      </a:r>
                      <a:r>
                        <a:rPr lang="en-US" sz="1800" kern="1200" dirty="0" err="1">
                          <a:solidFill>
                            <a:schemeClr val="dk1"/>
                          </a:solidFill>
                          <a:latin typeface="+mn-lt"/>
                          <a:ea typeface="+mn-ea"/>
                          <a:cs typeface="+mn-cs"/>
                        </a:rPr>
                        <a:t>annuelle</a:t>
                      </a:r>
                      <a:r>
                        <a:rPr lang="en-US" sz="1800" kern="1200" dirty="0">
                          <a:solidFill>
                            <a:schemeClr val="dk1"/>
                          </a:solidFill>
                          <a:latin typeface="+mn-lt"/>
                          <a:ea typeface="+mn-ea"/>
                          <a:cs typeface="+mn-cs"/>
                        </a:rPr>
                        <a:t> PEV Lubumbashi</a:t>
                      </a:r>
                    </a:p>
                  </a:txBody>
                  <a:tcPr marL="6350" marR="6350" marT="6350" marB="0" anchor="ctr"/>
                </a:tc>
                <a:tc>
                  <a:txBody>
                    <a:bodyPr/>
                    <a:lstStyle/>
                    <a:p>
                      <a:pPr algn="r" fontAlgn="ctr">
                        <a:buNone/>
                      </a:pPr>
                      <a:r>
                        <a:rPr lang="en-US" sz="1800" kern="1200" dirty="0">
                          <a:solidFill>
                            <a:schemeClr val="dk1"/>
                          </a:solidFill>
                          <a:latin typeface="+mn-lt"/>
                          <a:ea typeface="+mn-ea"/>
                          <a:cs typeface="+mn-cs"/>
                        </a:rPr>
                        <a:t> 3.300 </a:t>
                      </a:r>
                    </a:p>
                  </a:txBody>
                  <a:tcPr marL="6350" marR="6350" marT="6350" marB="0" anchor="ctr"/>
                </a:tc>
                <a:tc>
                  <a:txBody>
                    <a:bodyPr/>
                    <a:lstStyle/>
                    <a:p>
                      <a:pPr algn="r" fontAlgn="ctr">
                        <a:buNone/>
                      </a:pPr>
                      <a:r>
                        <a:rPr lang="en-US" sz="1800" kern="1200" dirty="0">
                          <a:solidFill>
                            <a:schemeClr val="dk1"/>
                          </a:solidFill>
                          <a:latin typeface="+mn-lt"/>
                          <a:ea typeface="+mn-ea"/>
                          <a:cs typeface="+mn-cs"/>
                        </a:rPr>
                        <a:t> 3.300 </a:t>
                      </a: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a:ea typeface="+mn-ea"/>
                          <a:cs typeface="+mn-cs"/>
                        </a:rPr>
                        <a:t>100%</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a:txBody>
                  <a:tcPr/>
                </a:tc>
                <a:tc>
                  <a:txBody>
                    <a:bodyPr/>
                    <a:lstStyle/>
                    <a:p>
                      <a:r>
                        <a:rPr kumimoji="0" lang="fr-FR" altLang="en-US" sz="1800" b="0" i="0" u="none" strike="noStrike" kern="1200" cap="none" spc="0" normalizeH="0" baseline="0" noProof="0">
                          <a:ln>
                            <a:noFill/>
                          </a:ln>
                          <a:solidFill>
                            <a:prstClr val="black"/>
                          </a:solidFill>
                          <a:effectLst/>
                          <a:uLnTx/>
                          <a:uFillTx/>
                          <a:latin typeface="Calibri"/>
                          <a:ea typeface="+mn-ea"/>
                          <a:cs typeface="+mn-cs"/>
                        </a:rPr>
                        <a:t>Gavi</a:t>
                      </a:r>
                      <a:endParaRPr lang="en-US" dirty="0"/>
                    </a:p>
                  </a:txBody>
                  <a:tcPr/>
                </a:tc>
                <a:extLst>
                  <a:ext uri="{0D108BD9-81ED-4DB2-BD59-A6C34878D82A}">
                    <a16:rowId xmlns:a16="http://schemas.microsoft.com/office/drawing/2014/main" val="635828031"/>
                  </a:ext>
                </a:extLst>
              </a:tr>
              <a:tr h="0">
                <a:tc>
                  <a:txBody>
                    <a:bodyPr/>
                    <a:lstStyle/>
                    <a:p>
                      <a:pPr algn="l" fontAlgn="ctr">
                        <a:buNone/>
                      </a:pPr>
                      <a:r>
                        <a:rPr lang="en-US" sz="1800" kern="1200" dirty="0">
                          <a:solidFill>
                            <a:schemeClr val="dk1"/>
                          </a:solidFill>
                          <a:latin typeface="+mn-lt"/>
                          <a:ea typeface="+mn-ea"/>
                          <a:cs typeface="+mn-cs"/>
                        </a:rPr>
                        <a:t>Internet BCZ</a:t>
                      </a:r>
                    </a:p>
                  </a:txBody>
                  <a:tcPr marL="6350" marR="6350" marT="6350" marB="0" anchor="ctr"/>
                </a:tc>
                <a:tc>
                  <a:txBody>
                    <a:bodyPr/>
                    <a:lstStyle/>
                    <a:p>
                      <a:pPr algn="r" fontAlgn="ctr">
                        <a:buNone/>
                      </a:pPr>
                      <a:r>
                        <a:rPr lang="en-US" sz="1800" kern="1200" dirty="0">
                          <a:solidFill>
                            <a:schemeClr val="dk1"/>
                          </a:solidFill>
                          <a:latin typeface="+mn-lt"/>
                          <a:ea typeface="+mn-ea"/>
                          <a:cs typeface="+mn-cs"/>
                        </a:rPr>
                        <a:t> 3.240 </a:t>
                      </a:r>
                    </a:p>
                  </a:txBody>
                  <a:tcPr marL="6350" marR="6350" marT="6350" marB="0" anchor="ctr"/>
                </a:tc>
                <a:tc>
                  <a:txBody>
                    <a:bodyPr/>
                    <a:lstStyle/>
                    <a:p>
                      <a:pPr algn="r" fontAlgn="ctr">
                        <a:buNone/>
                      </a:pPr>
                      <a:r>
                        <a:rPr lang="en-US" sz="1800" kern="1200" dirty="0">
                          <a:solidFill>
                            <a:schemeClr val="dk1"/>
                          </a:solidFill>
                          <a:latin typeface="+mn-lt"/>
                          <a:ea typeface="+mn-ea"/>
                          <a:cs typeface="+mn-cs"/>
                        </a:rPr>
                        <a:t> 3.240 </a:t>
                      </a: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100%</a:t>
                      </a:r>
                    </a:p>
                  </a:txBody>
                  <a:tcPr/>
                </a:tc>
                <a:tc>
                  <a:txBody>
                    <a:bodyPr/>
                    <a:lstStyle/>
                    <a:p>
                      <a:r>
                        <a:rPr kumimoji="0" lang="fr-FR" altLang="en-US" sz="1800" b="0" i="0" u="none" strike="noStrike" kern="1200" cap="none" spc="0" normalizeH="0" baseline="0" noProof="0" dirty="0">
                          <a:ln>
                            <a:noFill/>
                          </a:ln>
                          <a:solidFill>
                            <a:prstClr val="black"/>
                          </a:solidFill>
                          <a:effectLst/>
                          <a:uLnTx/>
                          <a:uFillTx/>
                          <a:latin typeface="Calibri"/>
                          <a:ea typeface="+mn-ea"/>
                          <a:cs typeface="+mn-cs"/>
                        </a:rPr>
                        <a:t>Gavi</a:t>
                      </a:r>
                      <a:endParaRPr lang="en-US" dirty="0"/>
                    </a:p>
                  </a:txBody>
                  <a:tcPr/>
                </a:tc>
                <a:extLst>
                  <a:ext uri="{0D108BD9-81ED-4DB2-BD59-A6C34878D82A}">
                    <a16:rowId xmlns:a16="http://schemas.microsoft.com/office/drawing/2014/main" val="1647146042"/>
                  </a:ext>
                </a:extLst>
              </a:tr>
              <a:tr h="0">
                <a:tc>
                  <a:txBody>
                    <a:bodyPr/>
                    <a:lstStyle/>
                    <a:p>
                      <a:pPr algn="ctr"/>
                      <a:r>
                        <a:rPr lang="fr-FR" b="1" dirty="0"/>
                        <a:t>Total</a:t>
                      </a:r>
                      <a:endParaRPr lang="en-US" b="1" dirty="0"/>
                    </a:p>
                  </a:txBody>
                  <a:tcPr marL="6350" marR="6350" marT="6350" marB="0" anchor="ctr"/>
                </a:tc>
                <a:tc>
                  <a:txBody>
                    <a:bodyPr/>
                    <a:lstStyle/>
                    <a:p>
                      <a:pPr algn="r"/>
                      <a:r>
                        <a:rPr lang="fr-FR" b="1" dirty="0"/>
                        <a:t>322.892</a:t>
                      </a:r>
                      <a:endParaRPr lang="en-US" b="1" dirty="0"/>
                    </a:p>
                  </a:txBody>
                  <a:tcPr marL="6350" marR="6350" marT="6350" marB="0" anchor="ctr"/>
                </a:tc>
                <a:tc>
                  <a:txBody>
                    <a:bodyPr/>
                    <a:lstStyle/>
                    <a:p>
                      <a:pPr algn="r"/>
                      <a:r>
                        <a:rPr lang="fr-FR" b="1" dirty="0"/>
                        <a:t>281.236</a:t>
                      </a:r>
                      <a:endParaRPr lang="en-US" b="1" dirty="0"/>
                    </a:p>
                  </a:txBody>
                  <a:tcPr/>
                </a:tc>
                <a:tc>
                  <a:txBody>
                    <a:bodyPr/>
                    <a:lstStyle/>
                    <a:p>
                      <a:pPr algn="r"/>
                      <a:r>
                        <a:rPr lang="fr-FR" b="1" dirty="0"/>
                        <a:t>87%</a:t>
                      </a:r>
                      <a:endParaRPr lang="en-US" b="1" dirty="0"/>
                    </a:p>
                  </a:txBody>
                  <a:tcPr/>
                </a:tc>
                <a:tc>
                  <a:txBody>
                    <a:bodyPr/>
                    <a:lstStyle/>
                    <a:p>
                      <a:r>
                        <a:rPr lang="fr-FR" b="1" dirty="0"/>
                        <a:t>Gavi</a:t>
                      </a:r>
                      <a:endParaRPr lang="en-US" b="1" dirty="0"/>
                    </a:p>
                  </a:txBody>
                  <a:tcPr/>
                </a:tc>
                <a:extLst>
                  <a:ext uri="{0D108BD9-81ED-4DB2-BD59-A6C34878D82A}">
                    <a16:rowId xmlns:a16="http://schemas.microsoft.com/office/drawing/2014/main" val="3033624735"/>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6752F8B3-193E-2A0E-2AE9-293AB8A64E97}"/>
            </a:ext>
          </a:extLst>
        </p:cNvPr>
        <p:cNvGrpSpPr/>
        <p:nvPr/>
      </p:nvGrpSpPr>
      <p:grpSpPr>
        <a:xfrm>
          <a:off x="0" y="0"/>
          <a:ext cx="0" cy="0"/>
          <a:chOff x="0" y="0"/>
          <a:chExt cx="0" cy="0"/>
        </a:xfrm>
      </p:grpSpPr>
      <p:sp>
        <p:nvSpPr>
          <p:cNvPr id="176" name="Google Shape;176;g3aabd3d1b2d_0_290">
            <a:extLst>
              <a:ext uri="{FF2B5EF4-FFF2-40B4-BE49-F238E27FC236}">
                <a16:creationId xmlns:a16="http://schemas.microsoft.com/office/drawing/2014/main" id="{23BB0947-D23F-5560-BDC4-17E162D10703}"/>
              </a:ext>
            </a:extLst>
          </p:cNvPr>
          <p:cNvSpPr txBox="1"/>
          <p:nvPr/>
        </p:nvSpPr>
        <p:spPr>
          <a:xfrm>
            <a:off x="267700" y="180357"/>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700" b="0" i="0" u="none" strike="noStrike" cap="none" dirty="0" err="1">
                <a:solidFill>
                  <a:srgbClr val="1155CC"/>
                </a:solidFill>
                <a:latin typeface="Times New Roman" panose="02020603050405020304"/>
                <a:ea typeface="Times New Roman" panose="02020603050405020304"/>
                <a:cs typeface="Times New Roman" panose="02020603050405020304"/>
                <a:sym typeface="Times New Roman" panose="02020603050405020304"/>
              </a:rPr>
              <a:t>Redevabilités</a:t>
            </a:r>
            <a:r>
              <a:rPr lang="en-US"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 </a:t>
            </a:r>
            <a:r>
              <a:rPr lang="en-US" sz="2700" b="0" i="0" u="none" strike="noStrike" cap="none" dirty="0" err="1">
                <a:solidFill>
                  <a:srgbClr val="1155CC"/>
                </a:solidFill>
                <a:latin typeface="Times New Roman" panose="02020603050405020304"/>
                <a:ea typeface="Times New Roman" panose="02020603050405020304"/>
                <a:cs typeface="Times New Roman" panose="02020603050405020304"/>
                <a:sym typeface="Times New Roman" panose="02020603050405020304"/>
              </a:rPr>
              <a:t>fina</a:t>
            </a:r>
            <a:r>
              <a:rPr lang="fr-FR" altLang="en-US"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n</a:t>
            </a:r>
            <a:r>
              <a:rPr lang="en-US" sz="2700" b="0" i="0" u="none" strike="noStrike" cap="none" dirty="0" err="1">
                <a:solidFill>
                  <a:srgbClr val="1155CC"/>
                </a:solidFill>
                <a:latin typeface="Times New Roman" panose="02020603050405020304"/>
                <a:ea typeface="Times New Roman" panose="02020603050405020304"/>
                <a:cs typeface="Times New Roman" panose="02020603050405020304"/>
                <a:sym typeface="Times New Roman" panose="02020603050405020304"/>
              </a:rPr>
              <a:t>cières</a:t>
            </a:r>
            <a:r>
              <a:rPr lang="en-US"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 : </a:t>
            </a:r>
            <a:r>
              <a:rPr lang="en-US" sz="2700" b="0" i="0" u="none" strike="noStrike" cap="none" dirty="0" err="1">
                <a:solidFill>
                  <a:srgbClr val="1155CC"/>
                </a:solidFill>
                <a:latin typeface="Times New Roman" panose="02020603050405020304"/>
                <a:ea typeface="Times New Roman" panose="02020603050405020304"/>
                <a:cs typeface="Times New Roman" panose="02020603050405020304"/>
                <a:sym typeface="Times New Roman" panose="02020603050405020304"/>
              </a:rPr>
              <a:t>Projet</a:t>
            </a:r>
            <a:r>
              <a:rPr lang="en-US"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 des MoU </a:t>
            </a:r>
            <a:r>
              <a:rPr lang="en-US" sz="2700" b="0" i="0" u="none" strike="noStrike" cap="none" dirty="0" err="1">
                <a:solidFill>
                  <a:srgbClr val="1155CC"/>
                </a:solidFill>
                <a:latin typeface="Times New Roman" panose="02020603050405020304"/>
                <a:ea typeface="Times New Roman" panose="02020603050405020304"/>
                <a:cs typeface="Times New Roman" panose="02020603050405020304"/>
                <a:sym typeface="Times New Roman" panose="02020603050405020304"/>
              </a:rPr>
              <a:t>provinciaux</a:t>
            </a:r>
            <a:r>
              <a:rPr lang="en-US"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 au 31 </a:t>
            </a:r>
            <a:r>
              <a:rPr lang="en-US" sz="2700" b="0" i="0" u="none" strike="noStrike" cap="none" dirty="0" err="1">
                <a:solidFill>
                  <a:srgbClr val="1155CC"/>
                </a:solidFill>
                <a:latin typeface="Times New Roman" panose="02020603050405020304"/>
                <a:ea typeface="Times New Roman" panose="02020603050405020304"/>
                <a:cs typeface="Times New Roman" panose="02020603050405020304"/>
                <a:sym typeface="Times New Roman" panose="02020603050405020304"/>
              </a:rPr>
              <a:t>octobre</a:t>
            </a:r>
            <a:r>
              <a:rPr lang="en-US"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 2025</a:t>
            </a:r>
            <a:endParaRPr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a:extLst>
              <a:ext uri="{FF2B5EF4-FFF2-40B4-BE49-F238E27FC236}">
                <a16:creationId xmlns:a16="http://schemas.microsoft.com/office/drawing/2014/main" id="{1A45C6C5-5408-DBCB-AD87-A7CD6438EFA3}"/>
              </a:ext>
            </a:extLst>
          </p:cNvPr>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a:extLst>
              <a:ext uri="{FF2B5EF4-FFF2-40B4-BE49-F238E27FC236}">
                <a16:creationId xmlns:a16="http://schemas.microsoft.com/office/drawing/2014/main" id="{52D36929-3182-34B9-161F-4E026875EEB8}"/>
              </a:ext>
            </a:extLst>
          </p:cNvPr>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a:extLst>
              <a:ext uri="{FF2B5EF4-FFF2-40B4-BE49-F238E27FC236}">
                <a16:creationId xmlns:a16="http://schemas.microsoft.com/office/drawing/2014/main" id="{AFC6A096-2E74-5280-4021-DDE658AE3DC1}"/>
              </a:ext>
            </a:extLst>
          </p:cNvPr>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14</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a:extLst>
              <a:ext uri="{FF2B5EF4-FFF2-40B4-BE49-F238E27FC236}">
                <a16:creationId xmlns:a16="http://schemas.microsoft.com/office/drawing/2014/main" id="{371B7F86-AD8C-DEB0-2349-93A9F11A3B9E}"/>
              </a:ext>
            </a:extLst>
          </p:cNvPr>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0">
            <a:extLst>
              <a:ext uri="{FF2B5EF4-FFF2-40B4-BE49-F238E27FC236}">
                <a16:creationId xmlns:a16="http://schemas.microsoft.com/office/drawing/2014/main" id="{628DB19F-9357-D5D9-332F-460BE89C17C3}"/>
              </a:ext>
            </a:extLst>
          </p:cNvPr>
          <p:cNvGraphicFramePr/>
          <p:nvPr>
            <p:custDataLst>
              <p:tags r:id="rId1"/>
            </p:custDataLst>
            <p:extLst>
              <p:ext uri="{D42A27DB-BD31-4B8C-83A1-F6EECF244321}">
                <p14:modId xmlns:p14="http://schemas.microsoft.com/office/powerpoint/2010/main" val="848825952"/>
              </p:ext>
            </p:extLst>
          </p:nvPr>
        </p:nvGraphicFramePr>
        <p:xfrm>
          <a:off x="243900" y="624457"/>
          <a:ext cx="11805345" cy="6123305"/>
        </p:xfrm>
        <a:graphic>
          <a:graphicData uri="http://schemas.openxmlformats.org/drawingml/2006/table">
            <a:tbl>
              <a:tblPr firstRow="1" bandRow="1">
                <a:tableStyleId>{5C22544A-7EE6-4342-B048-85BDC9FD1C3A}</a:tableStyleId>
              </a:tblPr>
              <a:tblGrid>
                <a:gridCol w="6781933">
                  <a:extLst>
                    <a:ext uri="{9D8B030D-6E8A-4147-A177-3AD203B41FA5}">
                      <a16:colId xmlns:a16="http://schemas.microsoft.com/office/drawing/2014/main" val="20000"/>
                    </a:ext>
                  </a:extLst>
                </a:gridCol>
                <a:gridCol w="1041721">
                  <a:extLst>
                    <a:ext uri="{9D8B030D-6E8A-4147-A177-3AD203B41FA5}">
                      <a16:colId xmlns:a16="http://schemas.microsoft.com/office/drawing/2014/main" val="20001"/>
                    </a:ext>
                  </a:extLst>
                </a:gridCol>
                <a:gridCol w="1250066">
                  <a:extLst>
                    <a:ext uri="{9D8B030D-6E8A-4147-A177-3AD203B41FA5}">
                      <a16:colId xmlns:a16="http://schemas.microsoft.com/office/drawing/2014/main" val="20002"/>
                    </a:ext>
                  </a:extLst>
                </a:gridCol>
                <a:gridCol w="1419921">
                  <a:extLst>
                    <a:ext uri="{9D8B030D-6E8A-4147-A177-3AD203B41FA5}">
                      <a16:colId xmlns:a16="http://schemas.microsoft.com/office/drawing/2014/main" val="20003"/>
                    </a:ext>
                  </a:extLst>
                </a:gridCol>
                <a:gridCol w="1311704">
                  <a:extLst>
                    <a:ext uri="{9D8B030D-6E8A-4147-A177-3AD203B41FA5}">
                      <a16:colId xmlns:a16="http://schemas.microsoft.com/office/drawing/2014/main" val="20004"/>
                    </a:ext>
                  </a:extLst>
                </a:gridCol>
              </a:tblGrid>
              <a:tr h="723265">
                <a:tc>
                  <a:txBody>
                    <a:bodyPr/>
                    <a:lstStyle/>
                    <a:p>
                      <a:pPr>
                        <a:buNone/>
                      </a:pPr>
                      <a:r>
                        <a:rPr lang="fr-FR" altLang="en-US" sz="1600" dirty="0"/>
                        <a:t>Activités </a:t>
                      </a:r>
                    </a:p>
                  </a:txBody>
                  <a:tcPr/>
                </a:tc>
                <a:tc>
                  <a:txBody>
                    <a:bodyPr/>
                    <a:lstStyle/>
                    <a:p>
                      <a:pPr>
                        <a:buNone/>
                      </a:pPr>
                      <a:r>
                        <a:rPr lang="fr-FR" altLang="en-US" sz="1600" dirty="0"/>
                        <a:t>Budget Prévu  ($)</a:t>
                      </a:r>
                    </a:p>
                  </a:txBody>
                  <a:tcPr/>
                </a:tc>
                <a:tc>
                  <a:txBody>
                    <a:bodyPr/>
                    <a:lstStyle/>
                    <a:p>
                      <a:pPr>
                        <a:buNone/>
                      </a:pPr>
                      <a:r>
                        <a:rPr lang="fr-FR" altLang="en-US" sz="1600" dirty="0"/>
                        <a:t>Budget décaissé ($)</a:t>
                      </a:r>
                    </a:p>
                  </a:txBody>
                  <a:tcPr/>
                </a:tc>
                <a:tc>
                  <a:txBody>
                    <a:bodyPr/>
                    <a:lstStyle/>
                    <a:p>
                      <a:pPr>
                        <a:buNone/>
                      </a:pPr>
                      <a:r>
                        <a:rPr lang="fr-FR" altLang="en-US" sz="1600" dirty="0" err="1"/>
                        <a:t>Tx</a:t>
                      </a:r>
                      <a:r>
                        <a:rPr lang="fr-FR" altLang="en-US" sz="1600" dirty="0"/>
                        <a:t> de décaissement </a:t>
                      </a:r>
                    </a:p>
                  </a:txBody>
                  <a:tcPr/>
                </a:tc>
                <a:tc>
                  <a:txBody>
                    <a:bodyPr/>
                    <a:lstStyle/>
                    <a:p>
                      <a:pPr>
                        <a:buNone/>
                      </a:pPr>
                      <a:r>
                        <a:rPr lang="fr-FR" altLang="en-US" sz="1600" dirty="0"/>
                        <a:t>Source de financement </a:t>
                      </a:r>
                    </a:p>
                  </a:txBody>
                  <a:tcPr/>
                </a:tc>
                <a:extLst>
                  <a:ext uri="{0D108BD9-81ED-4DB2-BD59-A6C34878D82A}">
                    <a16:rowId xmlns:a16="http://schemas.microsoft.com/office/drawing/2014/main" val="10000"/>
                  </a:ext>
                </a:extLst>
              </a:tr>
              <a:tr h="430530">
                <a:tc>
                  <a:txBody>
                    <a:bodyPr/>
                    <a:lstStyle/>
                    <a:p>
                      <a:pPr algn="l" fontAlgn="ctr">
                        <a:buNone/>
                      </a:pPr>
                      <a:r>
                        <a:rPr lang="fr-FR" sz="1800" kern="1200" dirty="0">
                          <a:solidFill>
                            <a:schemeClr val="dk1"/>
                          </a:solidFill>
                          <a:latin typeface="+mn-lt"/>
                          <a:ea typeface="+mn-ea"/>
                          <a:cs typeface="+mn-cs"/>
                        </a:rPr>
                        <a:t>Contribuer a la finalisation des documents </a:t>
                      </a:r>
                      <a:r>
                        <a:rPr lang="fr-FR" sz="1800" kern="1200" dirty="0" err="1">
                          <a:solidFill>
                            <a:schemeClr val="dk1"/>
                          </a:solidFill>
                          <a:latin typeface="+mn-lt"/>
                          <a:ea typeface="+mn-ea"/>
                          <a:cs typeface="+mn-cs"/>
                        </a:rPr>
                        <a:t>MoU</a:t>
                      </a:r>
                      <a:r>
                        <a:rPr lang="fr-FR" sz="1800" kern="1200" dirty="0">
                          <a:solidFill>
                            <a:schemeClr val="dk1"/>
                          </a:solidFill>
                          <a:latin typeface="+mn-lt"/>
                          <a:ea typeface="+mn-ea"/>
                          <a:cs typeface="+mn-cs"/>
                        </a:rPr>
                        <a:t> (le protocole d'entente, le cadre programmatique et le manuel de procédures de gestion) a Lubumbashi (PEV-CHAI)</a:t>
                      </a:r>
                    </a:p>
                  </a:txBody>
                  <a:tcPr marL="6350" marR="6350" marT="6350" marB="0" anchor="ctr"/>
                </a:tc>
                <a:tc>
                  <a:txBody>
                    <a:bodyPr/>
                    <a:lstStyle/>
                    <a:p>
                      <a:pPr algn="r" fontAlgn="ctr">
                        <a:buNone/>
                      </a:pPr>
                      <a:r>
                        <a:rPr lang="en-US" sz="1800" kern="1200" dirty="0">
                          <a:solidFill>
                            <a:schemeClr val="dk1"/>
                          </a:solidFill>
                          <a:latin typeface="+mn-lt"/>
                          <a:ea typeface="+mn-ea"/>
                          <a:cs typeface="+mn-cs"/>
                        </a:rPr>
                        <a:t>4.730 </a:t>
                      </a:r>
                    </a:p>
                  </a:txBody>
                  <a:tcPr marL="6350" marR="6350" marT="6350" marB="0" anchor="ctr"/>
                </a:tc>
                <a:tc>
                  <a:txBody>
                    <a:bodyPr/>
                    <a:lstStyle/>
                    <a:p>
                      <a:pPr algn="r" fontAlgn="ctr">
                        <a:buNone/>
                      </a:pPr>
                      <a:r>
                        <a:rPr lang="en-US" sz="1800" kern="1200" dirty="0">
                          <a:solidFill>
                            <a:schemeClr val="dk1"/>
                          </a:solidFill>
                          <a:latin typeface="+mn-lt"/>
                          <a:ea typeface="+mn-ea"/>
                          <a:cs typeface="+mn-cs"/>
                        </a:rPr>
                        <a:t>4.730 </a:t>
                      </a:r>
                    </a:p>
                  </a:txBody>
                  <a:tcPr marL="6350" marR="6350" marT="6350" marB="0" anchor="ctr"/>
                </a:tc>
                <a:tc>
                  <a:txBody>
                    <a:bodyPr/>
                    <a:lstStyle/>
                    <a:p>
                      <a:pPr algn="ctr">
                        <a:buNone/>
                      </a:pPr>
                      <a:r>
                        <a:rPr lang="fr-FR" altLang="en-US" dirty="0"/>
                        <a:t>100%</a:t>
                      </a:r>
                    </a:p>
                  </a:txBody>
                  <a:tcPr/>
                </a:tc>
                <a:tc>
                  <a:txBody>
                    <a:bodyPr/>
                    <a:lstStyle/>
                    <a:p>
                      <a:pPr>
                        <a:buNone/>
                      </a:pPr>
                      <a:r>
                        <a:rPr lang="fr-FR" altLang="en-US" dirty="0"/>
                        <a:t>Gavi</a:t>
                      </a:r>
                    </a:p>
                  </a:txBody>
                  <a:tcPr/>
                </a:tc>
                <a:extLst>
                  <a:ext uri="{0D108BD9-81ED-4DB2-BD59-A6C34878D82A}">
                    <a16:rowId xmlns:a16="http://schemas.microsoft.com/office/drawing/2014/main" val="10001"/>
                  </a:ext>
                </a:extLst>
              </a:tr>
              <a:tr h="430530">
                <a:tc>
                  <a:txBody>
                    <a:bodyPr/>
                    <a:lstStyle/>
                    <a:p>
                      <a:pPr algn="l" fontAlgn="ctr">
                        <a:buNone/>
                      </a:pPr>
                      <a:r>
                        <a:rPr lang="fr-FR" sz="1800" kern="1200" dirty="0">
                          <a:solidFill>
                            <a:schemeClr val="dk1"/>
                          </a:solidFill>
                          <a:latin typeface="+mn-lt"/>
                          <a:ea typeface="+mn-ea"/>
                          <a:cs typeface="+mn-cs"/>
                        </a:rPr>
                        <a:t>Organiser des Séances de plaidoyer et sensibilisation du des Gouverneur, ministres  provinciaux et assemblées provinciales et des OSC en faveur du modèle du </a:t>
                      </a:r>
                      <a:r>
                        <a:rPr lang="fr-FR" sz="1800" kern="1200" dirty="0" err="1">
                          <a:solidFill>
                            <a:schemeClr val="dk1"/>
                          </a:solidFill>
                          <a:latin typeface="+mn-lt"/>
                          <a:ea typeface="+mn-ea"/>
                          <a:cs typeface="+mn-cs"/>
                        </a:rPr>
                        <a:t>MoU</a:t>
                      </a:r>
                      <a:r>
                        <a:rPr lang="fr-FR" sz="1800" kern="1200" dirty="0">
                          <a:solidFill>
                            <a:schemeClr val="dk1"/>
                          </a:solidFill>
                          <a:latin typeface="+mn-lt"/>
                          <a:ea typeface="+mn-ea"/>
                          <a:cs typeface="+mn-cs"/>
                        </a:rPr>
                        <a:t> avant la signature des </a:t>
                      </a:r>
                      <a:r>
                        <a:rPr lang="fr-FR" sz="1800" kern="1200" dirty="0" err="1">
                          <a:solidFill>
                            <a:schemeClr val="dk1"/>
                          </a:solidFill>
                          <a:latin typeface="+mn-lt"/>
                          <a:ea typeface="+mn-ea"/>
                          <a:cs typeface="+mn-cs"/>
                        </a:rPr>
                        <a:t>MoU</a:t>
                      </a:r>
                      <a:endParaRPr lang="fr-FR" sz="1800" kern="1200" dirty="0">
                        <a:solidFill>
                          <a:schemeClr val="dk1"/>
                        </a:solidFill>
                        <a:latin typeface="+mn-lt"/>
                        <a:ea typeface="+mn-ea"/>
                        <a:cs typeface="+mn-cs"/>
                      </a:endParaRPr>
                    </a:p>
                  </a:txBody>
                  <a:tcPr marL="6350" marR="6350" marT="6350" marB="0" anchor="ctr"/>
                </a:tc>
                <a:tc>
                  <a:txBody>
                    <a:bodyPr/>
                    <a:lstStyle/>
                    <a:p>
                      <a:pPr algn="r" fontAlgn="ctr">
                        <a:buNone/>
                      </a:pPr>
                      <a:r>
                        <a:rPr lang="en-US" sz="1800" kern="1200" dirty="0">
                          <a:solidFill>
                            <a:schemeClr val="dk1"/>
                          </a:solidFill>
                          <a:latin typeface="+mn-lt"/>
                          <a:ea typeface="+mn-ea"/>
                          <a:cs typeface="+mn-cs"/>
                        </a:rPr>
                        <a:t> 2.465,5 </a:t>
                      </a:r>
                    </a:p>
                  </a:txBody>
                  <a:tcPr marL="6350" marR="6350" marT="6350" marB="0" anchor="ctr"/>
                </a:tc>
                <a:tc>
                  <a:txBody>
                    <a:bodyPr/>
                    <a:lstStyle/>
                    <a:p>
                      <a:pPr algn="r" fontAlgn="ctr">
                        <a:buNone/>
                      </a:pPr>
                      <a:r>
                        <a:rPr lang="en-US" sz="1800" kern="1200" dirty="0">
                          <a:solidFill>
                            <a:schemeClr val="dk1"/>
                          </a:solidFill>
                          <a:latin typeface="+mn-lt"/>
                          <a:ea typeface="+mn-ea"/>
                          <a:cs typeface="+mn-cs"/>
                        </a:rPr>
                        <a:t> 2.465,5 </a:t>
                      </a:r>
                    </a:p>
                  </a:txBody>
                  <a:tcPr marL="6350" marR="6350" marT="6350" marB="0" anchor="ctr"/>
                </a:tc>
                <a:tc>
                  <a:txBody>
                    <a:bodyPr/>
                    <a:lstStyle/>
                    <a:p>
                      <a:pPr algn="ctr">
                        <a:buNone/>
                      </a:pPr>
                      <a:r>
                        <a:rPr lang="fr-FR" altLang="en-US" dirty="0"/>
                        <a:t>100%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altLang="en-US" dirty="0"/>
                        <a:t>Gavi</a:t>
                      </a:r>
                    </a:p>
                  </a:txBody>
                  <a:tcPr/>
                </a:tc>
                <a:extLst>
                  <a:ext uri="{0D108BD9-81ED-4DB2-BD59-A6C34878D82A}">
                    <a16:rowId xmlns:a16="http://schemas.microsoft.com/office/drawing/2014/main" val="10002"/>
                  </a:ext>
                </a:extLst>
              </a:tr>
              <a:tr h="430530">
                <a:tc>
                  <a:txBody>
                    <a:bodyPr/>
                    <a:lstStyle/>
                    <a:p>
                      <a:pPr algn="l" fontAlgn="ctr">
                        <a:buNone/>
                      </a:pPr>
                      <a:r>
                        <a:rPr lang="fr-FR" sz="1800" kern="1200" dirty="0">
                          <a:solidFill>
                            <a:schemeClr val="dk1"/>
                          </a:solidFill>
                          <a:latin typeface="+mn-lt"/>
                          <a:ea typeface="+mn-ea"/>
                          <a:cs typeface="+mn-cs"/>
                        </a:rPr>
                        <a:t>Organiser le </a:t>
                      </a:r>
                      <a:r>
                        <a:rPr lang="fr-FR" sz="1800" kern="1200" dirty="0" err="1">
                          <a:solidFill>
                            <a:schemeClr val="dk1"/>
                          </a:solidFill>
                          <a:latin typeface="+mn-lt"/>
                          <a:ea typeface="+mn-ea"/>
                          <a:cs typeface="+mn-cs"/>
                        </a:rPr>
                        <a:t>deploiement</a:t>
                      </a:r>
                      <a:r>
                        <a:rPr lang="fr-FR" sz="1800" kern="1200" dirty="0">
                          <a:solidFill>
                            <a:schemeClr val="dk1"/>
                          </a:solidFill>
                          <a:latin typeface="+mn-lt"/>
                          <a:ea typeface="+mn-ea"/>
                          <a:cs typeface="+mn-cs"/>
                        </a:rPr>
                        <a:t> des </a:t>
                      </a:r>
                      <a:r>
                        <a:rPr lang="fr-FR" sz="1800" kern="1200" dirty="0" err="1">
                          <a:solidFill>
                            <a:schemeClr val="dk1"/>
                          </a:solidFill>
                          <a:latin typeface="+mn-lt"/>
                          <a:ea typeface="+mn-ea"/>
                          <a:cs typeface="+mn-cs"/>
                        </a:rPr>
                        <a:t>des</a:t>
                      </a:r>
                      <a:r>
                        <a:rPr lang="fr-FR" sz="1800" kern="1200" dirty="0">
                          <a:solidFill>
                            <a:schemeClr val="dk1"/>
                          </a:solidFill>
                          <a:latin typeface="+mn-lt"/>
                          <a:ea typeface="+mn-ea"/>
                          <a:cs typeface="+mn-cs"/>
                        </a:rPr>
                        <a:t> AT dans le Haut-Katanga et leur accompagnement pour </a:t>
                      </a:r>
                      <a:r>
                        <a:rPr lang="fr-FR" sz="1800" kern="1200" dirty="0" err="1">
                          <a:solidFill>
                            <a:schemeClr val="dk1"/>
                          </a:solidFill>
                          <a:latin typeface="+mn-lt"/>
                          <a:ea typeface="+mn-ea"/>
                          <a:cs typeface="+mn-cs"/>
                        </a:rPr>
                        <a:t>presentation</a:t>
                      </a:r>
                      <a:r>
                        <a:rPr lang="fr-FR" sz="1800" kern="1200" dirty="0">
                          <a:solidFill>
                            <a:schemeClr val="dk1"/>
                          </a:solidFill>
                          <a:latin typeface="+mn-lt"/>
                          <a:ea typeface="+mn-ea"/>
                          <a:cs typeface="+mn-cs"/>
                        </a:rPr>
                        <a:t> aux parties prenantes de </a:t>
                      </a:r>
                      <a:r>
                        <a:rPr lang="fr-FR" sz="1800" kern="1200" dirty="0" err="1">
                          <a:solidFill>
                            <a:schemeClr val="dk1"/>
                          </a:solidFill>
                          <a:latin typeface="+mn-lt"/>
                          <a:ea typeface="+mn-ea"/>
                          <a:cs typeface="+mn-cs"/>
                        </a:rPr>
                        <a:t>MoU</a:t>
                      </a:r>
                      <a:endParaRPr lang="fr-FR" sz="1800" kern="1200" dirty="0">
                        <a:solidFill>
                          <a:schemeClr val="dk1"/>
                        </a:solidFill>
                        <a:latin typeface="+mn-lt"/>
                        <a:ea typeface="+mn-ea"/>
                        <a:cs typeface="+mn-cs"/>
                      </a:endParaRPr>
                    </a:p>
                  </a:txBody>
                  <a:tcPr marL="6350" marR="6350" marT="6350" marB="0" anchor="ctr"/>
                </a:tc>
                <a:tc>
                  <a:txBody>
                    <a:bodyPr/>
                    <a:lstStyle/>
                    <a:p>
                      <a:pPr algn="r" fontAlgn="ctr">
                        <a:buNone/>
                      </a:pPr>
                      <a:r>
                        <a:rPr lang="en-US" sz="1800" kern="1200" dirty="0">
                          <a:solidFill>
                            <a:schemeClr val="dk1"/>
                          </a:solidFill>
                          <a:latin typeface="+mn-lt"/>
                          <a:ea typeface="+mn-ea"/>
                          <a:cs typeface="+mn-cs"/>
                        </a:rPr>
                        <a:t>5.340 </a:t>
                      </a:r>
                    </a:p>
                  </a:txBody>
                  <a:tcPr marL="6350" marR="6350" marT="6350" marB="0" anchor="ctr"/>
                </a:tc>
                <a:tc>
                  <a:txBody>
                    <a:bodyPr/>
                    <a:lstStyle/>
                    <a:p>
                      <a:pPr algn="r" fontAlgn="ctr">
                        <a:buNone/>
                      </a:pPr>
                      <a:r>
                        <a:rPr lang="en-US" sz="1800" kern="1200" dirty="0">
                          <a:solidFill>
                            <a:schemeClr val="dk1"/>
                          </a:solidFill>
                          <a:latin typeface="+mn-lt"/>
                          <a:ea typeface="+mn-ea"/>
                          <a:cs typeface="+mn-cs"/>
                        </a:rPr>
                        <a:t>5.340 </a:t>
                      </a:r>
                    </a:p>
                  </a:txBody>
                  <a:tcPr marL="6350" marR="6350" marT="6350" marB="0" anchor="ctr"/>
                </a:tc>
                <a:tc>
                  <a:txBody>
                    <a:bodyPr/>
                    <a:lstStyle/>
                    <a:p>
                      <a:pPr algn="ctr" fontAlgn="ctr">
                        <a:buNone/>
                      </a:pPr>
                      <a:r>
                        <a:rPr lang="en-US" sz="1800" kern="1200" dirty="0">
                          <a:solidFill>
                            <a:schemeClr val="dk1"/>
                          </a:solidFill>
                          <a:latin typeface="+mn-lt"/>
                          <a:ea typeface="+mn-ea"/>
                          <a:cs typeface="+mn-cs"/>
                        </a:rPr>
                        <a:t>100%</a:t>
                      </a:r>
                    </a:p>
                  </a:txBody>
                  <a:tcPr marL="6350" marR="635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altLang="en-US" sz="1800" b="0" i="0" u="none" strike="noStrike" kern="1200" cap="none" spc="0" normalizeH="0" baseline="0" noProof="0">
                          <a:ln>
                            <a:noFill/>
                          </a:ln>
                          <a:solidFill>
                            <a:prstClr val="black"/>
                          </a:solidFill>
                          <a:effectLst/>
                          <a:uLnTx/>
                          <a:uFillTx/>
                          <a:latin typeface="Calibri"/>
                          <a:ea typeface="+mn-ea"/>
                          <a:cs typeface="+mn-cs"/>
                        </a:rPr>
                        <a:t>Gavi</a:t>
                      </a:r>
                      <a:endParaRPr lang="fr-FR" altLang="en-US" dirty="0"/>
                    </a:p>
                  </a:txBody>
                  <a:tcPr/>
                </a:tc>
                <a:extLst>
                  <a:ext uri="{0D108BD9-81ED-4DB2-BD59-A6C34878D82A}">
                    <a16:rowId xmlns:a16="http://schemas.microsoft.com/office/drawing/2014/main" val="10003"/>
                  </a:ext>
                </a:extLst>
              </a:tr>
              <a:tr h="430530">
                <a:tc>
                  <a:txBody>
                    <a:bodyPr/>
                    <a:lstStyle/>
                    <a:p>
                      <a:pPr algn="l" fontAlgn="ctr">
                        <a:buNone/>
                      </a:pPr>
                      <a:r>
                        <a:rPr lang="fr-FR" sz="1800" kern="1200" dirty="0">
                          <a:solidFill>
                            <a:schemeClr val="dk1"/>
                          </a:solidFill>
                          <a:latin typeface="+mn-lt"/>
                          <a:ea typeface="+mn-ea"/>
                          <a:cs typeface="+mn-cs"/>
                        </a:rPr>
                        <a:t>Participer aux revues et nationales </a:t>
                      </a:r>
                      <a:r>
                        <a:rPr lang="fr-FR" sz="1800" kern="1200" dirty="0" err="1">
                          <a:solidFill>
                            <a:schemeClr val="dk1"/>
                          </a:solidFill>
                          <a:latin typeface="+mn-lt"/>
                          <a:ea typeface="+mn-ea"/>
                          <a:cs typeface="+mn-cs"/>
                        </a:rPr>
                        <a:t>provincialesde</a:t>
                      </a:r>
                      <a:r>
                        <a:rPr lang="fr-FR" sz="1800" kern="1200" dirty="0">
                          <a:solidFill>
                            <a:schemeClr val="dk1"/>
                          </a:solidFill>
                          <a:latin typeface="+mn-lt"/>
                          <a:ea typeface="+mn-ea"/>
                          <a:cs typeface="+mn-cs"/>
                        </a:rPr>
                        <a:t> la DPS Haut-Katanga</a:t>
                      </a:r>
                    </a:p>
                  </a:txBody>
                  <a:tcPr marL="6350" marR="6350" marT="6350" marB="0" anchor="ctr"/>
                </a:tc>
                <a:tc>
                  <a:txBody>
                    <a:bodyPr/>
                    <a:lstStyle/>
                    <a:p>
                      <a:pPr algn="r" fontAlgn="ctr">
                        <a:buNone/>
                      </a:pPr>
                      <a:r>
                        <a:rPr lang="en-US" sz="1800" kern="1200" dirty="0">
                          <a:solidFill>
                            <a:schemeClr val="dk1"/>
                          </a:solidFill>
                          <a:latin typeface="+mn-lt"/>
                          <a:ea typeface="+mn-ea"/>
                          <a:cs typeface="+mn-cs"/>
                        </a:rPr>
                        <a:t> 2.031 </a:t>
                      </a:r>
                    </a:p>
                  </a:txBody>
                  <a:tcPr marL="6350" marR="6350" marT="6350" marB="0" anchor="ctr"/>
                </a:tc>
                <a:tc>
                  <a:txBody>
                    <a:bodyPr/>
                    <a:lstStyle/>
                    <a:p>
                      <a:pPr algn="r" fontAlgn="ctr">
                        <a:buNone/>
                      </a:pPr>
                      <a:r>
                        <a:rPr lang="en-US" sz="1800" kern="1200" dirty="0">
                          <a:solidFill>
                            <a:schemeClr val="dk1"/>
                          </a:solidFill>
                          <a:latin typeface="+mn-lt"/>
                          <a:ea typeface="+mn-ea"/>
                          <a:cs typeface="+mn-cs"/>
                        </a:rPr>
                        <a:t> 2.031 </a:t>
                      </a:r>
                    </a:p>
                  </a:txBody>
                  <a:tcPr marL="6350" marR="6350" marT="6350" marB="0" anchor="ctr"/>
                </a:tc>
                <a:tc>
                  <a:txBody>
                    <a:bodyPr/>
                    <a:lstStyle/>
                    <a:p>
                      <a:pPr algn="ctr" fontAlgn="ctr">
                        <a:buNone/>
                      </a:pPr>
                      <a:r>
                        <a:rPr lang="en-US" sz="1800" kern="1200" dirty="0">
                          <a:solidFill>
                            <a:schemeClr val="dk1"/>
                          </a:solidFill>
                          <a:latin typeface="+mn-lt"/>
                          <a:ea typeface="+mn-ea"/>
                          <a:cs typeface="+mn-cs"/>
                        </a:rPr>
                        <a:t>100%</a:t>
                      </a:r>
                    </a:p>
                  </a:txBody>
                  <a:tcPr marL="6350" marR="6350" marT="6350" marB="0" anchor="ctr"/>
                </a:tc>
                <a:tc>
                  <a:txBody>
                    <a:bodyPr/>
                    <a:lstStyle/>
                    <a:p>
                      <a:r>
                        <a:rPr kumimoji="0" lang="fr-FR" altLang="en-US" sz="1800" b="0" i="0" u="none" strike="noStrike" kern="1200" cap="none" spc="0" normalizeH="0" baseline="0" noProof="0">
                          <a:ln>
                            <a:noFill/>
                          </a:ln>
                          <a:solidFill>
                            <a:prstClr val="black"/>
                          </a:solidFill>
                          <a:effectLst/>
                          <a:uLnTx/>
                          <a:uFillTx/>
                          <a:latin typeface="Calibri"/>
                          <a:ea typeface="+mn-ea"/>
                          <a:cs typeface="+mn-cs"/>
                        </a:rPr>
                        <a:t>Gavi</a:t>
                      </a:r>
                      <a:endParaRPr lang="en-US" dirty="0"/>
                    </a:p>
                  </a:txBody>
                  <a:tcPr/>
                </a:tc>
                <a:extLst>
                  <a:ext uri="{0D108BD9-81ED-4DB2-BD59-A6C34878D82A}">
                    <a16:rowId xmlns:a16="http://schemas.microsoft.com/office/drawing/2014/main" val="10004"/>
                  </a:ext>
                </a:extLst>
              </a:tr>
              <a:tr h="0">
                <a:tc>
                  <a:txBody>
                    <a:bodyPr/>
                    <a:lstStyle/>
                    <a:p>
                      <a:pPr algn="l" fontAlgn="ctr">
                        <a:buNone/>
                      </a:pPr>
                      <a:r>
                        <a:rPr lang="fr-FR" sz="1800" kern="1200" dirty="0">
                          <a:solidFill>
                            <a:schemeClr val="dk1"/>
                          </a:solidFill>
                          <a:latin typeface="+mn-lt"/>
                          <a:ea typeface="+mn-ea"/>
                          <a:cs typeface="+mn-cs"/>
                        </a:rPr>
                        <a:t>Contribuer a la finalisation des documents </a:t>
                      </a:r>
                      <a:r>
                        <a:rPr lang="fr-FR" sz="1800" kern="1200" dirty="0" err="1">
                          <a:solidFill>
                            <a:schemeClr val="dk1"/>
                          </a:solidFill>
                          <a:latin typeface="+mn-lt"/>
                          <a:ea typeface="+mn-ea"/>
                          <a:cs typeface="+mn-cs"/>
                        </a:rPr>
                        <a:t>MoU</a:t>
                      </a:r>
                      <a:r>
                        <a:rPr lang="fr-FR" sz="1800" kern="1200" dirty="0">
                          <a:solidFill>
                            <a:schemeClr val="dk1"/>
                          </a:solidFill>
                          <a:latin typeface="+mn-lt"/>
                          <a:ea typeface="+mn-ea"/>
                          <a:cs typeface="+mn-cs"/>
                        </a:rPr>
                        <a:t> (le protocole d'entente, le cadre programmatique et le manuel de procédures de gestion) a </a:t>
                      </a:r>
                      <a:r>
                        <a:rPr lang="fr-FR" sz="1800" kern="1200" dirty="0" err="1">
                          <a:solidFill>
                            <a:schemeClr val="dk1"/>
                          </a:solidFill>
                          <a:latin typeface="+mn-lt"/>
                          <a:ea typeface="+mn-ea"/>
                          <a:cs typeface="+mn-cs"/>
                        </a:rPr>
                        <a:t>Lbumbashi</a:t>
                      </a:r>
                      <a:endParaRPr lang="fr-FR" sz="1800" kern="1200" dirty="0">
                        <a:solidFill>
                          <a:schemeClr val="dk1"/>
                        </a:solidFill>
                        <a:latin typeface="+mn-lt"/>
                        <a:ea typeface="+mn-ea"/>
                        <a:cs typeface="+mn-cs"/>
                      </a:endParaRPr>
                    </a:p>
                  </a:txBody>
                  <a:tcPr marL="6350" marR="6350" marT="6350" marB="0" anchor="ctr"/>
                </a:tc>
                <a:tc>
                  <a:txBody>
                    <a:bodyPr/>
                    <a:lstStyle/>
                    <a:p>
                      <a:pPr algn="r" fontAlgn="ctr">
                        <a:buNone/>
                      </a:pPr>
                      <a:r>
                        <a:rPr lang="en-US" sz="1800" kern="1200" dirty="0">
                          <a:solidFill>
                            <a:schemeClr val="dk1"/>
                          </a:solidFill>
                          <a:latin typeface="+mn-lt"/>
                          <a:ea typeface="+mn-ea"/>
                          <a:cs typeface="+mn-cs"/>
                        </a:rPr>
                        <a:t>3.600 </a:t>
                      </a:r>
                    </a:p>
                  </a:txBody>
                  <a:tcPr marL="6350" marR="6350" marT="6350" marB="0" anchor="ctr"/>
                </a:tc>
                <a:tc>
                  <a:txBody>
                    <a:bodyPr/>
                    <a:lstStyle/>
                    <a:p>
                      <a:pPr algn="r" fontAlgn="ctr">
                        <a:buNone/>
                      </a:pPr>
                      <a:r>
                        <a:rPr lang="en-US" sz="1800" kern="1200" dirty="0">
                          <a:solidFill>
                            <a:schemeClr val="dk1"/>
                          </a:solidFill>
                          <a:latin typeface="+mn-lt"/>
                          <a:ea typeface="+mn-ea"/>
                          <a:cs typeface="+mn-cs"/>
                        </a:rPr>
                        <a:t>3.600 </a:t>
                      </a:r>
                    </a:p>
                  </a:txBody>
                  <a:tcPr marL="6350" marR="6350" marT="6350" marB="0" anchor="ctr"/>
                </a:tc>
                <a:tc>
                  <a:txBody>
                    <a:bodyPr/>
                    <a:lstStyle/>
                    <a:p>
                      <a:pPr algn="ctr" fontAlgn="ctr">
                        <a:buNone/>
                      </a:pPr>
                      <a:r>
                        <a:rPr lang="en-US" sz="1800" kern="1200" dirty="0">
                          <a:solidFill>
                            <a:schemeClr val="dk1"/>
                          </a:solidFill>
                          <a:latin typeface="+mn-lt"/>
                          <a:ea typeface="+mn-ea"/>
                          <a:cs typeface="+mn-cs"/>
                        </a:rPr>
                        <a:t>100%</a:t>
                      </a:r>
                    </a:p>
                  </a:txBody>
                  <a:tcPr marL="6350" marR="6350" marT="6350" marB="0" anchor="ctr"/>
                </a:tc>
                <a:tc>
                  <a:txBody>
                    <a:bodyPr/>
                    <a:lstStyle/>
                    <a:p>
                      <a:r>
                        <a:rPr kumimoji="0" lang="fr-FR" altLang="en-US" sz="1800" b="0" i="0" u="none" strike="noStrike" kern="1200" cap="none" spc="0" normalizeH="0" baseline="0" noProof="0">
                          <a:ln>
                            <a:noFill/>
                          </a:ln>
                          <a:solidFill>
                            <a:prstClr val="black"/>
                          </a:solidFill>
                          <a:effectLst/>
                          <a:uLnTx/>
                          <a:uFillTx/>
                          <a:latin typeface="Calibri"/>
                          <a:ea typeface="+mn-ea"/>
                          <a:cs typeface="+mn-cs"/>
                        </a:rPr>
                        <a:t>Gavi</a:t>
                      </a:r>
                      <a:endParaRPr lang="en-US" dirty="0"/>
                    </a:p>
                  </a:txBody>
                  <a:tcPr/>
                </a:tc>
                <a:extLst>
                  <a:ext uri="{0D108BD9-81ED-4DB2-BD59-A6C34878D82A}">
                    <a16:rowId xmlns:a16="http://schemas.microsoft.com/office/drawing/2014/main" val="10005"/>
                  </a:ext>
                </a:extLst>
              </a:tr>
              <a:tr h="317923">
                <a:tc>
                  <a:txBody>
                    <a:bodyPr/>
                    <a:lstStyle/>
                    <a:p>
                      <a:pPr algn="l" fontAlgn="ctr">
                        <a:buNone/>
                      </a:pPr>
                      <a:r>
                        <a:rPr lang="fr-FR" sz="1800" kern="1200" dirty="0">
                          <a:solidFill>
                            <a:schemeClr val="dk1"/>
                          </a:solidFill>
                          <a:latin typeface="+mn-lt"/>
                          <a:ea typeface="+mn-ea"/>
                          <a:cs typeface="+mn-cs"/>
                        </a:rPr>
                        <a:t>Organiser des Séances de plaidoyer et sensibilisation du des Gouverneur, ministres  provinciaux et assemblées provinciales et des OSC en faveur du modèle du </a:t>
                      </a:r>
                      <a:r>
                        <a:rPr lang="fr-FR" sz="1800" kern="1200" dirty="0" err="1">
                          <a:solidFill>
                            <a:schemeClr val="dk1"/>
                          </a:solidFill>
                          <a:latin typeface="+mn-lt"/>
                          <a:ea typeface="+mn-ea"/>
                          <a:cs typeface="+mn-cs"/>
                        </a:rPr>
                        <a:t>MoU</a:t>
                      </a:r>
                      <a:r>
                        <a:rPr lang="fr-FR" sz="1800" kern="1200" dirty="0">
                          <a:solidFill>
                            <a:schemeClr val="dk1"/>
                          </a:solidFill>
                          <a:latin typeface="+mn-lt"/>
                          <a:ea typeface="+mn-ea"/>
                          <a:cs typeface="+mn-cs"/>
                        </a:rPr>
                        <a:t> avant la signature des </a:t>
                      </a:r>
                      <a:r>
                        <a:rPr lang="fr-FR" sz="1800" kern="1200" dirty="0" err="1">
                          <a:solidFill>
                            <a:schemeClr val="dk1"/>
                          </a:solidFill>
                          <a:latin typeface="+mn-lt"/>
                          <a:ea typeface="+mn-ea"/>
                          <a:cs typeface="+mn-cs"/>
                        </a:rPr>
                        <a:t>MoU</a:t>
                      </a:r>
                      <a:endParaRPr lang="fr-FR" sz="1800" kern="1200" dirty="0">
                        <a:solidFill>
                          <a:schemeClr val="dk1"/>
                        </a:solidFill>
                        <a:latin typeface="+mn-lt"/>
                        <a:ea typeface="+mn-ea"/>
                        <a:cs typeface="+mn-cs"/>
                      </a:endParaRPr>
                    </a:p>
                  </a:txBody>
                  <a:tcPr marL="6350" marR="6350" marT="6350" marB="0" anchor="ctr"/>
                </a:tc>
                <a:tc>
                  <a:txBody>
                    <a:bodyPr/>
                    <a:lstStyle/>
                    <a:p>
                      <a:pPr algn="r" fontAlgn="ctr">
                        <a:buNone/>
                      </a:pPr>
                      <a:r>
                        <a:rPr lang="en-US" sz="1800" kern="1200" dirty="0">
                          <a:solidFill>
                            <a:schemeClr val="dk1"/>
                          </a:solidFill>
                          <a:latin typeface="+mn-lt"/>
                          <a:ea typeface="+mn-ea"/>
                          <a:cs typeface="+mn-cs"/>
                        </a:rPr>
                        <a:t>3.230 </a:t>
                      </a:r>
                    </a:p>
                  </a:txBody>
                  <a:tcPr marL="6350" marR="6350" marT="6350" marB="0" anchor="ctr"/>
                </a:tc>
                <a:tc>
                  <a:txBody>
                    <a:bodyPr/>
                    <a:lstStyle/>
                    <a:p>
                      <a:pPr algn="r" fontAlgn="ctr">
                        <a:buNone/>
                      </a:pPr>
                      <a:r>
                        <a:rPr lang="en-US" sz="1800" kern="1200" dirty="0">
                          <a:solidFill>
                            <a:schemeClr val="dk1"/>
                          </a:solidFill>
                          <a:latin typeface="+mn-lt"/>
                          <a:ea typeface="+mn-ea"/>
                          <a:cs typeface="+mn-cs"/>
                        </a:rPr>
                        <a:t>3.230 </a:t>
                      </a:r>
                    </a:p>
                  </a:txBody>
                  <a:tcPr marL="6350" marR="6350" marT="6350" marB="0" anchor="ctr"/>
                </a:tc>
                <a:tc>
                  <a:txBody>
                    <a:bodyPr/>
                    <a:lstStyle/>
                    <a:p>
                      <a:pPr algn="ctr" fontAlgn="ctr">
                        <a:buNone/>
                      </a:pPr>
                      <a:r>
                        <a:rPr lang="en-US" sz="1800" kern="1200" dirty="0">
                          <a:solidFill>
                            <a:schemeClr val="dk1"/>
                          </a:solidFill>
                          <a:latin typeface="+mn-lt"/>
                          <a:ea typeface="+mn-ea"/>
                          <a:cs typeface="+mn-cs"/>
                        </a:rPr>
                        <a:t>100%</a:t>
                      </a:r>
                    </a:p>
                  </a:txBody>
                  <a:tcPr marL="6350" marR="6350" marT="6350" marB="0" anchor="ctr"/>
                </a:tc>
                <a:tc>
                  <a:txBody>
                    <a:bodyPr/>
                    <a:lstStyle/>
                    <a:p>
                      <a:r>
                        <a:rPr kumimoji="0" lang="fr-FR" altLang="en-US" sz="1800" b="0" i="0" u="none" strike="noStrike" kern="1200" cap="none" spc="0" normalizeH="0" baseline="0" noProof="0">
                          <a:ln>
                            <a:noFill/>
                          </a:ln>
                          <a:solidFill>
                            <a:prstClr val="black"/>
                          </a:solidFill>
                          <a:effectLst/>
                          <a:uLnTx/>
                          <a:uFillTx/>
                          <a:latin typeface="Calibri"/>
                          <a:ea typeface="+mn-ea"/>
                          <a:cs typeface="+mn-cs"/>
                        </a:rPr>
                        <a:t>Gavi</a:t>
                      </a:r>
                      <a:endParaRPr lang="en-US" dirty="0"/>
                    </a:p>
                  </a:txBody>
                  <a:tcPr/>
                </a:tc>
                <a:extLst>
                  <a:ext uri="{0D108BD9-81ED-4DB2-BD59-A6C34878D82A}">
                    <a16:rowId xmlns:a16="http://schemas.microsoft.com/office/drawing/2014/main" val="391322453"/>
                  </a:ext>
                </a:extLst>
              </a:tr>
              <a:tr h="270087">
                <a:tc>
                  <a:txBody>
                    <a:bodyPr/>
                    <a:lstStyle/>
                    <a:p>
                      <a:pPr algn="l" fontAlgn="ctr">
                        <a:buNone/>
                      </a:pPr>
                      <a:r>
                        <a:rPr lang="en-US" sz="1800" kern="1200" dirty="0" err="1">
                          <a:solidFill>
                            <a:schemeClr val="dk1"/>
                          </a:solidFill>
                          <a:latin typeface="+mn-lt"/>
                          <a:ea typeface="+mn-ea"/>
                          <a:cs typeface="+mn-cs"/>
                        </a:rPr>
                        <a:t>Fonctionnement</a:t>
                      </a:r>
                      <a:r>
                        <a:rPr lang="en-US" sz="1800" kern="1200" dirty="0">
                          <a:solidFill>
                            <a:schemeClr val="dk1"/>
                          </a:solidFill>
                          <a:latin typeface="+mn-lt"/>
                          <a:ea typeface="+mn-ea"/>
                          <a:cs typeface="+mn-cs"/>
                        </a:rPr>
                        <a:t>  Lubumbashi et Kinshasa</a:t>
                      </a:r>
                    </a:p>
                  </a:txBody>
                  <a:tcPr marL="6350" marR="6350" marT="6350" marB="0" anchor="ctr"/>
                </a:tc>
                <a:tc>
                  <a:txBody>
                    <a:bodyPr/>
                    <a:lstStyle/>
                    <a:p>
                      <a:pPr algn="r" fontAlgn="ctr">
                        <a:buNone/>
                      </a:pPr>
                      <a:r>
                        <a:rPr lang="en-US" sz="1800" kern="1200" dirty="0">
                          <a:solidFill>
                            <a:schemeClr val="dk1"/>
                          </a:solidFill>
                          <a:latin typeface="+mn-lt"/>
                          <a:ea typeface="+mn-ea"/>
                          <a:cs typeface="+mn-cs"/>
                        </a:rPr>
                        <a:t>22.650 </a:t>
                      </a:r>
                    </a:p>
                  </a:txBody>
                  <a:tcPr marL="6350" marR="6350" marT="6350" marB="0" anchor="ctr"/>
                </a:tc>
                <a:tc>
                  <a:txBody>
                    <a:bodyPr/>
                    <a:lstStyle/>
                    <a:p>
                      <a:pPr algn="r" fontAlgn="ctr">
                        <a:buNone/>
                      </a:pPr>
                      <a:r>
                        <a:rPr lang="en-US" sz="1800" kern="1200" dirty="0">
                          <a:solidFill>
                            <a:schemeClr val="dk1"/>
                          </a:solidFill>
                          <a:latin typeface="+mn-lt"/>
                          <a:ea typeface="+mn-ea"/>
                          <a:cs typeface="+mn-cs"/>
                        </a:rPr>
                        <a:t>22.650 </a:t>
                      </a: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100%</a:t>
                      </a:r>
                    </a:p>
                  </a:txBody>
                  <a:tcPr/>
                </a:tc>
                <a:tc>
                  <a:txBody>
                    <a:bodyPr/>
                    <a:lstStyle/>
                    <a:p>
                      <a:r>
                        <a:rPr kumimoji="0" lang="fr-FR" altLang="en-US" sz="1800" b="0" i="0" u="none" strike="noStrike" kern="1200" cap="none" spc="0" normalizeH="0" baseline="0" noProof="0">
                          <a:ln>
                            <a:noFill/>
                          </a:ln>
                          <a:solidFill>
                            <a:prstClr val="black"/>
                          </a:solidFill>
                          <a:effectLst/>
                          <a:uLnTx/>
                          <a:uFillTx/>
                          <a:latin typeface="Calibri"/>
                          <a:ea typeface="+mn-ea"/>
                          <a:cs typeface="+mn-cs"/>
                        </a:rPr>
                        <a:t>Gavi</a:t>
                      </a:r>
                      <a:endParaRPr lang="en-US" dirty="0"/>
                    </a:p>
                  </a:txBody>
                  <a:tcPr/>
                </a:tc>
                <a:extLst>
                  <a:ext uri="{0D108BD9-81ED-4DB2-BD59-A6C34878D82A}">
                    <a16:rowId xmlns:a16="http://schemas.microsoft.com/office/drawing/2014/main" val="2139419370"/>
                  </a:ext>
                </a:extLst>
              </a:tr>
              <a:tr h="222250">
                <a:tc>
                  <a:txBody>
                    <a:bodyPr/>
                    <a:lstStyle/>
                    <a:p>
                      <a:pPr algn="l" fontAlgn="ctr">
                        <a:buNone/>
                      </a:pPr>
                      <a:r>
                        <a:rPr lang="fr-FR" sz="1800" kern="1200" dirty="0">
                          <a:solidFill>
                            <a:schemeClr val="dk1"/>
                          </a:solidFill>
                          <a:latin typeface="+mn-lt"/>
                          <a:ea typeface="+mn-ea"/>
                          <a:cs typeface="+mn-cs"/>
                        </a:rPr>
                        <a:t>Investissements pour </a:t>
                      </a:r>
                      <a:r>
                        <a:rPr lang="fr-FR" sz="1800" kern="1200" dirty="0" err="1">
                          <a:solidFill>
                            <a:schemeClr val="dk1"/>
                          </a:solidFill>
                          <a:latin typeface="+mn-lt"/>
                          <a:ea typeface="+mn-ea"/>
                          <a:cs typeface="+mn-cs"/>
                        </a:rPr>
                        <a:t>MoU</a:t>
                      </a:r>
                      <a:r>
                        <a:rPr lang="fr-FR" sz="1800" kern="1200" dirty="0">
                          <a:solidFill>
                            <a:schemeClr val="dk1"/>
                          </a:solidFill>
                          <a:latin typeface="+mn-lt"/>
                          <a:ea typeface="+mn-ea"/>
                          <a:cs typeface="+mn-cs"/>
                        </a:rPr>
                        <a:t> (ordinateurs et autres matériels</a:t>
                      </a:r>
                    </a:p>
                  </a:txBody>
                  <a:tcPr marL="6350" marR="6350" marT="6350" marB="0" anchor="ctr"/>
                </a:tc>
                <a:tc>
                  <a:txBody>
                    <a:bodyPr/>
                    <a:lstStyle/>
                    <a:p>
                      <a:pPr algn="r" fontAlgn="ctr">
                        <a:buNone/>
                      </a:pPr>
                      <a:r>
                        <a:rPr lang="en-US" sz="1800" kern="1200" dirty="0">
                          <a:solidFill>
                            <a:schemeClr val="dk1"/>
                          </a:solidFill>
                          <a:latin typeface="+mn-lt"/>
                          <a:ea typeface="+mn-ea"/>
                          <a:cs typeface="+mn-cs"/>
                        </a:rPr>
                        <a:t>16.250 </a:t>
                      </a:r>
                    </a:p>
                  </a:txBody>
                  <a:tcPr marL="6350" marR="6350" marT="6350" marB="0" anchor="ctr"/>
                </a:tc>
                <a:tc>
                  <a:txBody>
                    <a:bodyPr/>
                    <a:lstStyle/>
                    <a:p>
                      <a:pPr algn="r" fontAlgn="ctr">
                        <a:buNone/>
                      </a:pPr>
                      <a:r>
                        <a:rPr lang="en-US" sz="1800" kern="1200" dirty="0">
                          <a:solidFill>
                            <a:schemeClr val="dk1"/>
                          </a:solidFill>
                          <a:latin typeface="+mn-lt"/>
                          <a:ea typeface="+mn-ea"/>
                          <a:cs typeface="+mn-cs"/>
                        </a:rPr>
                        <a:t>16.250 </a:t>
                      </a:r>
                    </a:p>
                  </a:txBody>
                  <a:tcPr marL="6350" marR="6350" marT="635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100%</a:t>
                      </a:r>
                    </a:p>
                  </a:txBody>
                  <a:tcPr/>
                </a:tc>
                <a:tc>
                  <a:txBody>
                    <a:bodyPr/>
                    <a:lstStyle/>
                    <a:p>
                      <a:r>
                        <a:rPr kumimoji="0" lang="fr-FR" altLang="en-US" sz="1800" b="0" i="0" u="none" strike="noStrike" kern="1200" cap="none" spc="0" normalizeH="0" baseline="0" noProof="0">
                          <a:ln>
                            <a:noFill/>
                          </a:ln>
                          <a:solidFill>
                            <a:prstClr val="black"/>
                          </a:solidFill>
                          <a:effectLst/>
                          <a:uLnTx/>
                          <a:uFillTx/>
                          <a:latin typeface="Calibri"/>
                          <a:ea typeface="+mn-ea"/>
                          <a:cs typeface="+mn-cs"/>
                        </a:rPr>
                        <a:t>Gavi</a:t>
                      </a:r>
                      <a:endParaRPr lang="en-US" dirty="0"/>
                    </a:p>
                  </a:txBody>
                  <a:tcPr/>
                </a:tc>
                <a:extLst>
                  <a:ext uri="{0D108BD9-81ED-4DB2-BD59-A6C34878D82A}">
                    <a16:rowId xmlns:a16="http://schemas.microsoft.com/office/drawing/2014/main" val="3217013091"/>
                  </a:ext>
                </a:extLst>
              </a:tr>
              <a:tr h="0">
                <a:tc>
                  <a:txBody>
                    <a:bodyPr/>
                    <a:lstStyle/>
                    <a:p>
                      <a:pPr algn="ctr"/>
                      <a:r>
                        <a:rPr lang="fr-FR" b="1" dirty="0"/>
                        <a:t>Total</a:t>
                      </a:r>
                      <a:endParaRPr lang="en-US" b="1" dirty="0"/>
                    </a:p>
                  </a:txBody>
                  <a:tcPr marL="6350" marR="6350" marT="6350" marB="0" anchor="ctr"/>
                </a:tc>
                <a:tc>
                  <a:txBody>
                    <a:bodyPr/>
                    <a:lstStyle/>
                    <a:p>
                      <a:pPr algn="r"/>
                      <a:r>
                        <a:rPr lang="fr-FR" b="1" dirty="0"/>
                        <a:t>60.296,5</a:t>
                      </a:r>
                      <a:endParaRPr lang="en-US" b="1" dirty="0"/>
                    </a:p>
                  </a:txBody>
                  <a:tcPr marL="6350" marR="6350" marT="6350" marB="0" anchor="ctr"/>
                </a:tc>
                <a:tc>
                  <a:txBody>
                    <a:bodyPr/>
                    <a:lstStyle/>
                    <a:p>
                      <a:pPr algn="r"/>
                      <a:r>
                        <a:rPr lang="fr-FR" b="1" dirty="0"/>
                        <a:t>60.296,5</a:t>
                      </a:r>
                      <a:endParaRPr lang="en-US" b="1" dirty="0"/>
                    </a:p>
                  </a:txBody>
                  <a:tcPr marL="6350" marR="6350" marT="6350" marB="0" anchor="ctr"/>
                </a:tc>
                <a:tc>
                  <a:txBody>
                    <a:bodyPr/>
                    <a:lstStyle/>
                    <a:p>
                      <a:pPr algn="r"/>
                      <a:r>
                        <a:rPr lang="fr-FR" b="1" dirty="0"/>
                        <a:t>100%</a:t>
                      </a:r>
                      <a:endParaRPr lang="en-US" b="1" dirty="0"/>
                    </a:p>
                  </a:txBody>
                  <a:tcPr/>
                </a:tc>
                <a:tc>
                  <a:txBody>
                    <a:bodyPr/>
                    <a:lstStyle/>
                    <a:p>
                      <a:r>
                        <a:rPr lang="fr-FR" b="1" dirty="0"/>
                        <a:t>Gavi</a:t>
                      </a:r>
                      <a:endParaRPr lang="en-US" b="1" dirty="0"/>
                    </a:p>
                  </a:txBody>
                  <a:tcPr/>
                </a:tc>
                <a:extLst>
                  <a:ext uri="{0D108BD9-81ED-4DB2-BD59-A6C34878D82A}">
                    <a16:rowId xmlns:a16="http://schemas.microsoft.com/office/drawing/2014/main" val="3033624735"/>
                  </a:ext>
                </a:extLst>
              </a:tr>
            </a:tbl>
          </a:graphicData>
        </a:graphic>
      </p:graphicFrame>
    </p:spTree>
    <p:extLst>
      <p:ext uri="{BB962C8B-B14F-4D97-AF65-F5344CB8AC3E}">
        <p14:creationId xmlns:p14="http://schemas.microsoft.com/office/powerpoint/2010/main" val="2900031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0F91536F-FD18-2A6F-D05B-A2EF8A384589}"/>
            </a:ext>
          </a:extLst>
        </p:cNvPr>
        <p:cNvGrpSpPr/>
        <p:nvPr/>
      </p:nvGrpSpPr>
      <p:grpSpPr>
        <a:xfrm>
          <a:off x="0" y="0"/>
          <a:ext cx="0" cy="0"/>
          <a:chOff x="0" y="0"/>
          <a:chExt cx="0" cy="0"/>
        </a:xfrm>
      </p:grpSpPr>
      <p:sp>
        <p:nvSpPr>
          <p:cNvPr id="176" name="Google Shape;176;g3aabd3d1b2d_0_290">
            <a:extLst>
              <a:ext uri="{FF2B5EF4-FFF2-40B4-BE49-F238E27FC236}">
                <a16:creationId xmlns:a16="http://schemas.microsoft.com/office/drawing/2014/main" id="{D3516DF0-0405-5765-7020-229BCF93D76A}"/>
              </a:ext>
            </a:extLst>
          </p:cNvPr>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700" b="0" i="0" u="none" strike="noStrike" cap="none" dirty="0" err="1">
                <a:solidFill>
                  <a:srgbClr val="1155CC"/>
                </a:solidFill>
                <a:latin typeface="Times New Roman" panose="02020603050405020304"/>
                <a:ea typeface="Times New Roman" panose="02020603050405020304"/>
                <a:cs typeface="Times New Roman" panose="02020603050405020304"/>
                <a:sym typeface="Times New Roman" panose="02020603050405020304"/>
              </a:rPr>
              <a:t>Redevabilités</a:t>
            </a:r>
            <a:r>
              <a:rPr lang="en-US"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 </a:t>
            </a:r>
            <a:r>
              <a:rPr lang="en-US" sz="2700" b="0" i="0" u="none" strike="noStrike" cap="none" dirty="0" err="1">
                <a:solidFill>
                  <a:srgbClr val="1155CC"/>
                </a:solidFill>
                <a:latin typeface="Times New Roman" panose="02020603050405020304"/>
                <a:ea typeface="Times New Roman" panose="02020603050405020304"/>
                <a:cs typeface="Times New Roman" panose="02020603050405020304"/>
                <a:sym typeface="Times New Roman" panose="02020603050405020304"/>
              </a:rPr>
              <a:t>fina</a:t>
            </a:r>
            <a:r>
              <a:rPr lang="fr-FR" altLang="en-US"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n</a:t>
            </a:r>
            <a:r>
              <a:rPr lang="en-US" sz="2700" b="0" i="0" u="none" strike="noStrike" cap="none" dirty="0" err="1">
                <a:solidFill>
                  <a:srgbClr val="1155CC"/>
                </a:solidFill>
                <a:latin typeface="Times New Roman" panose="02020603050405020304"/>
                <a:ea typeface="Times New Roman" panose="02020603050405020304"/>
                <a:cs typeface="Times New Roman" panose="02020603050405020304"/>
                <a:sym typeface="Times New Roman" panose="02020603050405020304"/>
              </a:rPr>
              <a:t>cières</a:t>
            </a:r>
            <a:r>
              <a:rPr lang="en-US"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 : </a:t>
            </a:r>
            <a:r>
              <a:rPr lang="en-US" sz="2700" b="0" i="0" u="none" strike="noStrike" cap="none" dirty="0" err="1">
                <a:solidFill>
                  <a:srgbClr val="1155CC"/>
                </a:solidFill>
                <a:latin typeface="Times New Roman" panose="02020603050405020304"/>
                <a:ea typeface="Times New Roman" panose="02020603050405020304"/>
                <a:cs typeface="Times New Roman" panose="02020603050405020304"/>
                <a:sym typeface="Times New Roman" panose="02020603050405020304"/>
              </a:rPr>
              <a:t>Digitalisation</a:t>
            </a:r>
            <a:r>
              <a:rPr lang="en-US"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 </a:t>
            </a:r>
            <a:r>
              <a:rPr lang="en-US" sz="2700" b="0" i="0" u="none" strike="noStrike" cap="none" dirty="0" err="1">
                <a:solidFill>
                  <a:srgbClr val="1155CC"/>
                </a:solidFill>
                <a:latin typeface="Times New Roman" panose="02020603050405020304"/>
                <a:ea typeface="Times New Roman" panose="02020603050405020304"/>
                <a:cs typeface="Times New Roman" panose="02020603050405020304"/>
                <a:sym typeface="Times New Roman" panose="02020603050405020304"/>
              </a:rPr>
              <a:t>Intégrée</a:t>
            </a:r>
            <a:r>
              <a:rPr lang="en-US"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 des </a:t>
            </a:r>
            <a:r>
              <a:rPr lang="en-US" sz="2700" b="0" i="0" u="none" strike="noStrike" cap="none" dirty="0" err="1">
                <a:solidFill>
                  <a:srgbClr val="1155CC"/>
                </a:solidFill>
                <a:latin typeface="Times New Roman" panose="02020603050405020304"/>
                <a:ea typeface="Times New Roman" panose="02020603050405020304"/>
                <a:cs typeface="Times New Roman" panose="02020603050405020304"/>
                <a:sym typeface="Times New Roman" panose="02020603050405020304"/>
              </a:rPr>
              <a:t>Campagnes</a:t>
            </a:r>
            <a:endParaRPr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a:extLst>
              <a:ext uri="{FF2B5EF4-FFF2-40B4-BE49-F238E27FC236}">
                <a16:creationId xmlns:a16="http://schemas.microsoft.com/office/drawing/2014/main" id="{4FA852C9-132A-CDB5-A891-550F9A45FB86}"/>
              </a:ext>
            </a:extLst>
          </p:cNvPr>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a:extLst>
              <a:ext uri="{FF2B5EF4-FFF2-40B4-BE49-F238E27FC236}">
                <a16:creationId xmlns:a16="http://schemas.microsoft.com/office/drawing/2014/main" id="{BE1425BC-0849-DC04-49BD-A18BED364488}"/>
              </a:ext>
            </a:extLst>
          </p:cNvPr>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a:extLst>
              <a:ext uri="{FF2B5EF4-FFF2-40B4-BE49-F238E27FC236}">
                <a16:creationId xmlns:a16="http://schemas.microsoft.com/office/drawing/2014/main" id="{A332BE55-E9CE-7BA6-AEFF-3C0ED6597E4B}"/>
              </a:ext>
            </a:extLst>
          </p:cNvPr>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15</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a:extLst>
              <a:ext uri="{FF2B5EF4-FFF2-40B4-BE49-F238E27FC236}">
                <a16:creationId xmlns:a16="http://schemas.microsoft.com/office/drawing/2014/main" id="{DFA22620-0F57-9C77-CFBE-E2607CA02636}"/>
              </a:ext>
            </a:extLst>
          </p:cNvPr>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0">
            <a:extLst>
              <a:ext uri="{FF2B5EF4-FFF2-40B4-BE49-F238E27FC236}">
                <a16:creationId xmlns:a16="http://schemas.microsoft.com/office/drawing/2014/main" id="{1F8D029D-077A-BECB-6D30-BA8F5E299685}"/>
              </a:ext>
            </a:extLst>
          </p:cNvPr>
          <p:cNvGraphicFramePr/>
          <p:nvPr>
            <p:custDataLst>
              <p:tags r:id="rId1"/>
            </p:custDataLst>
            <p:extLst>
              <p:ext uri="{D42A27DB-BD31-4B8C-83A1-F6EECF244321}">
                <p14:modId xmlns:p14="http://schemas.microsoft.com/office/powerpoint/2010/main" val="4279048129"/>
              </p:ext>
            </p:extLst>
          </p:nvPr>
        </p:nvGraphicFramePr>
        <p:xfrm>
          <a:off x="493712" y="927441"/>
          <a:ext cx="11204575" cy="5303520"/>
        </p:xfrm>
        <a:graphic>
          <a:graphicData uri="http://schemas.openxmlformats.org/drawingml/2006/table">
            <a:tbl>
              <a:tblPr firstRow="1" bandRow="1">
                <a:tableStyleId>{5C22544A-7EE6-4342-B048-85BDC9FD1C3A}</a:tableStyleId>
              </a:tblPr>
              <a:tblGrid>
                <a:gridCol w="2769235">
                  <a:extLst>
                    <a:ext uri="{9D8B030D-6E8A-4147-A177-3AD203B41FA5}">
                      <a16:colId xmlns:a16="http://schemas.microsoft.com/office/drawing/2014/main" val="20000"/>
                    </a:ext>
                  </a:extLst>
                </a:gridCol>
                <a:gridCol w="1851660">
                  <a:extLst>
                    <a:ext uri="{9D8B030D-6E8A-4147-A177-3AD203B41FA5}">
                      <a16:colId xmlns:a16="http://schemas.microsoft.com/office/drawing/2014/main" val="20001"/>
                    </a:ext>
                  </a:extLst>
                </a:gridCol>
                <a:gridCol w="2101850">
                  <a:extLst>
                    <a:ext uri="{9D8B030D-6E8A-4147-A177-3AD203B41FA5}">
                      <a16:colId xmlns:a16="http://schemas.microsoft.com/office/drawing/2014/main" val="20002"/>
                    </a:ext>
                  </a:extLst>
                </a:gridCol>
                <a:gridCol w="2240915">
                  <a:extLst>
                    <a:ext uri="{9D8B030D-6E8A-4147-A177-3AD203B41FA5}">
                      <a16:colId xmlns:a16="http://schemas.microsoft.com/office/drawing/2014/main" val="20003"/>
                    </a:ext>
                  </a:extLst>
                </a:gridCol>
                <a:gridCol w="2240915">
                  <a:extLst>
                    <a:ext uri="{9D8B030D-6E8A-4147-A177-3AD203B41FA5}">
                      <a16:colId xmlns:a16="http://schemas.microsoft.com/office/drawing/2014/main" val="20004"/>
                    </a:ext>
                  </a:extLst>
                </a:gridCol>
              </a:tblGrid>
              <a:tr h="723265">
                <a:tc>
                  <a:txBody>
                    <a:bodyPr/>
                    <a:lstStyle/>
                    <a:p>
                      <a:pPr>
                        <a:buNone/>
                      </a:pPr>
                      <a:r>
                        <a:rPr lang="fr-FR" altLang="en-US" sz="2400"/>
                        <a:t>Activités </a:t>
                      </a:r>
                    </a:p>
                  </a:txBody>
                  <a:tcPr/>
                </a:tc>
                <a:tc>
                  <a:txBody>
                    <a:bodyPr/>
                    <a:lstStyle/>
                    <a:p>
                      <a:pPr>
                        <a:buNone/>
                      </a:pPr>
                      <a:r>
                        <a:rPr lang="fr-FR" altLang="en-US" sz="2400"/>
                        <a:t>Budget Prévu </a:t>
                      </a:r>
                    </a:p>
                  </a:txBody>
                  <a:tcPr/>
                </a:tc>
                <a:tc>
                  <a:txBody>
                    <a:bodyPr/>
                    <a:lstStyle/>
                    <a:p>
                      <a:pPr>
                        <a:buNone/>
                      </a:pPr>
                      <a:r>
                        <a:rPr lang="fr-FR" altLang="en-US" sz="2400"/>
                        <a:t>Budget décaissé </a:t>
                      </a:r>
                    </a:p>
                  </a:txBody>
                  <a:tcPr/>
                </a:tc>
                <a:tc>
                  <a:txBody>
                    <a:bodyPr/>
                    <a:lstStyle/>
                    <a:p>
                      <a:pPr>
                        <a:buNone/>
                      </a:pPr>
                      <a:r>
                        <a:rPr lang="fr-FR" altLang="en-US" sz="2400"/>
                        <a:t>Taux de décaissement </a:t>
                      </a:r>
                    </a:p>
                  </a:txBody>
                  <a:tcPr/>
                </a:tc>
                <a:tc>
                  <a:txBody>
                    <a:bodyPr/>
                    <a:lstStyle/>
                    <a:p>
                      <a:pPr>
                        <a:buNone/>
                      </a:pPr>
                      <a:r>
                        <a:rPr lang="fr-FR" altLang="en-US" sz="2400"/>
                        <a:t>Source de financement </a:t>
                      </a:r>
                    </a:p>
                  </a:txBody>
                  <a:tcPr/>
                </a:tc>
                <a:extLst>
                  <a:ext uri="{0D108BD9-81ED-4DB2-BD59-A6C34878D82A}">
                    <a16:rowId xmlns:a16="http://schemas.microsoft.com/office/drawing/2014/main" val="10000"/>
                  </a:ext>
                </a:extLst>
              </a:tr>
              <a:tr h="430530">
                <a:tc>
                  <a:txBody>
                    <a:bodyPr/>
                    <a:lstStyle/>
                    <a:p>
                      <a:pPr>
                        <a:buNone/>
                      </a:pPr>
                      <a:r>
                        <a:rPr lang="fr-FR" altLang="en-US" sz="2400" dirty="0"/>
                        <a:t>Digitalisation des campagnes (2)</a:t>
                      </a:r>
                    </a:p>
                  </a:txBody>
                  <a:tcPr/>
                </a:tc>
                <a:tc>
                  <a:txBody>
                    <a:bodyPr/>
                    <a:lstStyle/>
                    <a:p>
                      <a:pPr>
                        <a:buNone/>
                      </a:pPr>
                      <a:r>
                        <a:rPr lang="fr-FR" altLang="en-US" sz="2400" dirty="0"/>
                        <a:t>958.651,09$</a:t>
                      </a:r>
                    </a:p>
                  </a:txBody>
                  <a:tcPr anchor="ctr"/>
                </a:tc>
                <a:tc>
                  <a:txBody>
                    <a:bodyPr/>
                    <a:lstStyle/>
                    <a:p>
                      <a:pPr>
                        <a:buNone/>
                      </a:pPr>
                      <a:r>
                        <a:rPr lang="fr-FR" altLang="en-US" sz="2400" dirty="0"/>
                        <a:t>958.651,09$</a:t>
                      </a:r>
                    </a:p>
                  </a:txBody>
                  <a:tcPr anchor="ctr"/>
                </a:tc>
                <a:tc>
                  <a:txBody>
                    <a:bodyPr/>
                    <a:lstStyle/>
                    <a:p>
                      <a:pPr>
                        <a:buNone/>
                      </a:pPr>
                      <a:r>
                        <a:rPr lang="fr-FR" altLang="en-US" sz="2400" dirty="0"/>
                        <a:t>100%</a:t>
                      </a:r>
                    </a:p>
                  </a:txBody>
                  <a:tcPr anchor="ctr"/>
                </a:tc>
                <a:tc>
                  <a:txBody>
                    <a:bodyPr/>
                    <a:lstStyle/>
                    <a:p>
                      <a:pPr>
                        <a:buNone/>
                      </a:pPr>
                      <a:r>
                        <a:rPr lang="fr-FR" altLang="en-US" sz="2400" dirty="0"/>
                        <a:t>Gates </a:t>
                      </a:r>
                      <a:r>
                        <a:rPr lang="fr-FR" altLang="en-US" sz="2400" dirty="0" err="1"/>
                        <a:t>Foundation</a:t>
                      </a:r>
                      <a:r>
                        <a:rPr lang="fr-FR" altLang="en-US" sz="2400" dirty="0"/>
                        <a:t> </a:t>
                      </a:r>
                    </a:p>
                  </a:txBody>
                  <a:tcPr anchor="ctr"/>
                </a:tc>
                <a:extLst>
                  <a:ext uri="{0D108BD9-81ED-4DB2-BD59-A6C34878D82A}">
                    <a16:rowId xmlns:a16="http://schemas.microsoft.com/office/drawing/2014/main" val="10001"/>
                  </a:ext>
                </a:extLst>
              </a:tr>
              <a:tr h="430530">
                <a:tc>
                  <a:txBody>
                    <a:bodyPr/>
                    <a:lstStyle/>
                    <a:p>
                      <a:pPr>
                        <a:buNone/>
                      </a:pPr>
                      <a:r>
                        <a:rPr lang="fr-FR" altLang="en-US" sz="2400" dirty="0"/>
                        <a:t>Formation administration DHIS2 (6)</a:t>
                      </a:r>
                    </a:p>
                  </a:txBody>
                  <a:tcPr/>
                </a:tc>
                <a:tc>
                  <a:txBody>
                    <a:bodyPr/>
                    <a:lstStyle/>
                    <a:p>
                      <a:pPr>
                        <a:buNone/>
                      </a:pPr>
                      <a:r>
                        <a:rPr lang="fr-FR" altLang="en-US" sz="2400" dirty="0"/>
                        <a:t>12.960 $</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altLang="en-US" sz="2400" dirty="0"/>
                        <a:t>12.960 $</a:t>
                      </a:r>
                    </a:p>
                  </a:txBody>
                  <a:tcPr anchor="ctr"/>
                </a:tc>
                <a:tc>
                  <a:txBody>
                    <a:bodyPr/>
                    <a:lstStyle/>
                    <a:p>
                      <a:pPr>
                        <a:buNone/>
                      </a:pPr>
                      <a:r>
                        <a:rPr lang="fr-FR" altLang="en-US" sz="2400" dirty="0"/>
                        <a:t>100%</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altLang="en-US" sz="2400" dirty="0"/>
                        <a:t>Gates </a:t>
                      </a:r>
                      <a:r>
                        <a:rPr lang="fr-FR" altLang="en-US" sz="2400" dirty="0" err="1"/>
                        <a:t>Foundation</a:t>
                      </a:r>
                      <a:r>
                        <a:rPr lang="fr-FR" altLang="en-US" sz="2400" dirty="0"/>
                        <a:t> </a:t>
                      </a:r>
                    </a:p>
                  </a:txBody>
                  <a:tcPr anchor="ctr"/>
                </a:tc>
                <a:extLst>
                  <a:ext uri="{0D108BD9-81ED-4DB2-BD59-A6C34878D82A}">
                    <a16:rowId xmlns:a16="http://schemas.microsoft.com/office/drawing/2014/main" val="10002"/>
                  </a:ext>
                </a:extLst>
              </a:tr>
              <a:tr h="43053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altLang="en-US" sz="2400" dirty="0"/>
                        <a:t>Formation administration saisie et analyse des données  Tracker (2)</a:t>
                      </a:r>
                    </a:p>
                  </a:txBody>
                  <a:tcPr/>
                </a:tc>
                <a:tc>
                  <a:txBody>
                    <a:bodyPr/>
                    <a:lstStyle/>
                    <a:p>
                      <a:pPr>
                        <a:buNone/>
                      </a:pPr>
                      <a:r>
                        <a:rPr lang="fr-FR" altLang="en-US" sz="2400" dirty="0"/>
                        <a:t>2.100 $</a:t>
                      </a:r>
                    </a:p>
                  </a:txBody>
                  <a:tcPr anchor="ctr"/>
                </a:tc>
                <a:tc>
                  <a:txBody>
                    <a:bodyPr/>
                    <a:lstStyle/>
                    <a:p>
                      <a:pPr>
                        <a:buNone/>
                      </a:pPr>
                      <a:r>
                        <a:rPr lang="fr-FR" altLang="en-US" sz="2400" dirty="0"/>
                        <a:t>2.100 $</a:t>
                      </a:r>
                    </a:p>
                  </a:txBody>
                  <a:tcPr anchor="ctr"/>
                </a:tc>
                <a:tc>
                  <a:txBody>
                    <a:bodyPr/>
                    <a:lstStyle/>
                    <a:p>
                      <a:pPr>
                        <a:buNone/>
                      </a:pPr>
                      <a:r>
                        <a:rPr lang="fr-FR" altLang="en-US" sz="2400" dirty="0"/>
                        <a:t>100%</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altLang="en-US" sz="2400" dirty="0"/>
                        <a:t>Gates </a:t>
                      </a:r>
                      <a:r>
                        <a:rPr lang="fr-FR" altLang="en-US" sz="2400" dirty="0" err="1"/>
                        <a:t>Foundation</a:t>
                      </a:r>
                      <a:r>
                        <a:rPr lang="fr-FR" altLang="en-US" sz="2400" dirty="0"/>
                        <a:t> </a:t>
                      </a:r>
                    </a:p>
                  </a:txBody>
                  <a:tcPr anchor="ctr"/>
                </a:tc>
                <a:extLst>
                  <a:ext uri="{0D108BD9-81ED-4DB2-BD59-A6C34878D82A}">
                    <a16:rowId xmlns:a16="http://schemas.microsoft.com/office/drawing/2014/main" val="10003"/>
                  </a:ext>
                </a:extLst>
              </a:tr>
              <a:tr h="430530">
                <a:tc>
                  <a:txBody>
                    <a:bodyPr/>
                    <a:lstStyle/>
                    <a:p>
                      <a:endParaRPr lang="en-US" sz="2400"/>
                    </a:p>
                  </a:txBody>
                  <a:tcPr/>
                </a:tc>
                <a:tc>
                  <a:txBody>
                    <a:bodyPr/>
                    <a:lstStyle/>
                    <a:p>
                      <a:endParaRPr lang="en-US" sz="2400"/>
                    </a:p>
                  </a:txBody>
                  <a:tcPr/>
                </a:tc>
                <a:tc>
                  <a:txBody>
                    <a:bodyPr/>
                    <a:lstStyle/>
                    <a:p>
                      <a:endParaRPr lang="en-US" sz="2400"/>
                    </a:p>
                  </a:txBody>
                  <a:tcPr/>
                </a:tc>
                <a:tc>
                  <a:txBody>
                    <a:bodyPr/>
                    <a:lstStyle/>
                    <a:p>
                      <a:endParaRPr lang="en-US" sz="2400"/>
                    </a:p>
                  </a:txBody>
                  <a:tcPr/>
                </a:tc>
                <a:tc>
                  <a:txBody>
                    <a:bodyPr/>
                    <a:lstStyle/>
                    <a:p>
                      <a:endParaRPr lang="en-US" sz="2400"/>
                    </a:p>
                  </a:txBody>
                  <a:tcPr/>
                </a:tc>
                <a:extLst>
                  <a:ext uri="{0D108BD9-81ED-4DB2-BD59-A6C34878D82A}">
                    <a16:rowId xmlns:a16="http://schemas.microsoft.com/office/drawing/2014/main" val="10004"/>
                  </a:ext>
                </a:extLst>
              </a:tr>
              <a:tr h="430530">
                <a:tc>
                  <a:txBody>
                    <a:bodyPr/>
                    <a:lstStyle/>
                    <a:p>
                      <a:endParaRPr lang="en-US" sz="2400"/>
                    </a:p>
                  </a:txBody>
                  <a:tcPr/>
                </a:tc>
                <a:tc>
                  <a:txBody>
                    <a:bodyPr/>
                    <a:lstStyle/>
                    <a:p>
                      <a:endParaRPr lang="en-US" sz="2400"/>
                    </a:p>
                  </a:txBody>
                  <a:tcPr/>
                </a:tc>
                <a:tc>
                  <a:txBody>
                    <a:bodyPr/>
                    <a:lstStyle/>
                    <a:p>
                      <a:endParaRPr lang="en-US" sz="2400"/>
                    </a:p>
                  </a:txBody>
                  <a:tcPr/>
                </a:tc>
                <a:tc>
                  <a:txBody>
                    <a:bodyPr/>
                    <a:lstStyle/>
                    <a:p>
                      <a:endParaRPr lang="en-US" sz="2400"/>
                    </a:p>
                  </a:txBody>
                  <a:tcPr/>
                </a:tc>
                <a:tc>
                  <a:txBody>
                    <a:bodyPr/>
                    <a:lstStyle/>
                    <a:p>
                      <a:endParaRPr lang="en-US" sz="24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6465778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73EEDECB-9365-10C9-966B-DCE2BE14F9B2}"/>
            </a:ext>
          </a:extLst>
        </p:cNvPr>
        <p:cNvGrpSpPr/>
        <p:nvPr/>
      </p:nvGrpSpPr>
      <p:grpSpPr>
        <a:xfrm>
          <a:off x="0" y="0"/>
          <a:ext cx="0" cy="0"/>
          <a:chOff x="0" y="0"/>
          <a:chExt cx="0" cy="0"/>
        </a:xfrm>
      </p:grpSpPr>
      <p:sp>
        <p:nvSpPr>
          <p:cNvPr id="176" name="Google Shape;176;g3aabd3d1b2d_0_290">
            <a:extLst>
              <a:ext uri="{FF2B5EF4-FFF2-40B4-BE49-F238E27FC236}">
                <a16:creationId xmlns:a16="http://schemas.microsoft.com/office/drawing/2014/main" id="{C42127FD-44EB-6D51-1F98-24669BC74A4D}"/>
              </a:ext>
            </a:extLst>
          </p:cNvPr>
          <p:cNvSpPr txBox="1"/>
          <p:nvPr/>
        </p:nvSpPr>
        <p:spPr>
          <a:xfrm>
            <a:off x="267700" y="180357"/>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700" b="0" i="0" u="none" strike="noStrike" cap="none" dirty="0" err="1">
                <a:solidFill>
                  <a:srgbClr val="1155CC"/>
                </a:solidFill>
                <a:latin typeface="Times New Roman" panose="02020603050405020304"/>
                <a:ea typeface="Times New Roman" panose="02020603050405020304"/>
                <a:cs typeface="Times New Roman" panose="02020603050405020304"/>
                <a:sym typeface="Times New Roman" panose="02020603050405020304"/>
              </a:rPr>
              <a:t>Redevabilités</a:t>
            </a:r>
            <a:r>
              <a:rPr lang="en-US"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 </a:t>
            </a:r>
            <a:r>
              <a:rPr lang="en-US" sz="2700" b="0" i="0" u="none" strike="noStrike" cap="none" dirty="0" err="1">
                <a:solidFill>
                  <a:srgbClr val="1155CC"/>
                </a:solidFill>
                <a:latin typeface="Times New Roman" panose="02020603050405020304"/>
                <a:ea typeface="Times New Roman" panose="02020603050405020304"/>
                <a:cs typeface="Times New Roman" panose="02020603050405020304"/>
                <a:sym typeface="Times New Roman" panose="02020603050405020304"/>
              </a:rPr>
              <a:t>fina</a:t>
            </a:r>
            <a:r>
              <a:rPr lang="fr-FR" altLang="en-US"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n</a:t>
            </a:r>
            <a:r>
              <a:rPr lang="en-US" sz="2700" b="0" i="0" u="none" strike="noStrike" cap="none" dirty="0" err="1">
                <a:solidFill>
                  <a:srgbClr val="1155CC"/>
                </a:solidFill>
                <a:latin typeface="Times New Roman" panose="02020603050405020304"/>
                <a:ea typeface="Times New Roman" panose="02020603050405020304"/>
                <a:cs typeface="Times New Roman" panose="02020603050405020304"/>
                <a:sym typeface="Times New Roman" panose="02020603050405020304"/>
              </a:rPr>
              <a:t>cières</a:t>
            </a:r>
            <a:r>
              <a:rPr lang="en-US"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 : </a:t>
            </a:r>
            <a:r>
              <a:rPr lang="en-US" sz="2700" b="0" i="0" u="none" strike="noStrike" cap="none" dirty="0" err="1">
                <a:solidFill>
                  <a:srgbClr val="1155CC"/>
                </a:solidFill>
                <a:latin typeface="Times New Roman" panose="02020603050405020304"/>
                <a:ea typeface="Times New Roman" panose="02020603050405020304"/>
                <a:cs typeface="Times New Roman" panose="02020603050405020304"/>
                <a:sym typeface="Times New Roman" panose="02020603050405020304"/>
              </a:rPr>
              <a:t>Projet</a:t>
            </a:r>
            <a:r>
              <a:rPr lang="en-US"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 </a:t>
            </a:r>
            <a:r>
              <a:rPr lang="en-US" sz="2700" b="0" i="0" u="none" strike="noStrike" cap="none" dirty="0" err="1">
                <a:solidFill>
                  <a:srgbClr val="1155CC"/>
                </a:solidFill>
                <a:latin typeface="Times New Roman" panose="02020603050405020304"/>
                <a:ea typeface="Times New Roman" panose="02020603050405020304"/>
                <a:cs typeface="Times New Roman" panose="02020603050405020304"/>
                <a:sym typeface="Times New Roman" panose="02020603050405020304"/>
              </a:rPr>
              <a:t>d’AT</a:t>
            </a:r>
            <a:r>
              <a:rPr lang="en-US"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rPr>
              <a:t> Introduction &amp; mise à echelle du VAP</a:t>
            </a:r>
            <a:endParaRPr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dirty="0">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a:extLst>
              <a:ext uri="{FF2B5EF4-FFF2-40B4-BE49-F238E27FC236}">
                <a16:creationId xmlns:a16="http://schemas.microsoft.com/office/drawing/2014/main" id="{E57E27F6-92F8-F16E-9E46-411C17AFA4F2}"/>
              </a:ext>
            </a:extLst>
          </p:cNvPr>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a:extLst>
              <a:ext uri="{FF2B5EF4-FFF2-40B4-BE49-F238E27FC236}">
                <a16:creationId xmlns:a16="http://schemas.microsoft.com/office/drawing/2014/main" id="{E329003A-2581-EA2B-F7AD-781FF6141F25}"/>
              </a:ext>
            </a:extLst>
          </p:cNvPr>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a:extLst>
              <a:ext uri="{FF2B5EF4-FFF2-40B4-BE49-F238E27FC236}">
                <a16:creationId xmlns:a16="http://schemas.microsoft.com/office/drawing/2014/main" id="{A90B9574-3BA8-78A4-53E4-5EBECD01D59E}"/>
              </a:ext>
            </a:extLst>
          </p:cNvPr>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16</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a:extLst>
              <a:ext uri="{FF2B5EF4-FFF2-40B4-BE49-F238E27FC236}">
                <a16:creationId xmlns:a16="http://schemas.microsoft.com/office/drawing/2014/main" id="{1AC6891B-8ED9-376C-3AFB-CE6DF13A6F2B}"/>
              </a:ext>
            </a:extLst>
          </p:cNvPr>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graphicFrame>
        <p:nvGraphicFramePr>
          <p:cNvPr id="2" name="Table 0">
            <a:extLst>
              <a:ext uri="{FF2B5EF4-FFF2-40B4-BE49-F238E27FC236}">
                <a16:creationId xmlns:a16="http://schemas.microsoft.com/office/drawing/2014/main" id="{4C4C6B76-6EC6-17C7-2344-B0475EF31293}"/>
              </a:ext>
            </a:extLst>
          </p:cNvPr>
          <p:cNvGraphicFramePr/>
          <p:nvPr>
            <p:custDataLst>
              <p:tags r:id="rId1"/>
            </p:custDataLst>
            <p:extLst>
              <p:ext uri="{D42A27DB-BD31-4B8C-83A1-F6EECF244321}">
                <p14:modId xmlns:p14="http://schemas.microsoft.com/office/powerpoint/2010/main" val="3694619736"/>
              </p:ext>
            </p:extLst>
          </p:nvPr>
        </p:nvGraphicFramePr>
        <p:xfrm>
          <a:off x="243900" y="624457"/>
          <a:ext cx="11805345" cy="6169025"/>
        </p:xfrm>
        <a:graphic>
          <a:graphicData uri="http://schemas.openxmlformats.org/drawingml/2006/table">
            <a:tbl>
              <a:tblPr firstRow="1" bandRow="1">
                <a:tableStyleId>{5C22544A-7EE6-4342-B048-85BDC9FD1C3A}</a:tableStyleId>
              </a:tblPr>
              <a:tblGrid>
                <a:gridCol w="6781933">
                  <a:extLst>
                    <a:ext uri="{9D8B030D-6E8A-4147-A177-3AD203B41FA5}">
                      <a16:colId xmlns:a16="http://schemas.microsoft.com/office/drawing/2014/main" val="20000"/>
                    </a:ext>
                  </a:extLst>
                </a:gridCol>
                <a:gridCol w="1041721">
                  <a:extLst>
                    <a:ext uri="{9D8B030D-6E8A-4147-A177-3AD203B41FA5}">
                      <a16:colId xmlns:a16="http://schemas.microsoft.com/office/drawing/2014/main" val="20001"/>
                    </a:ext>
                  </a:extLst>
                </a:gridCol>
                <a:gridCol w="1250066">
                  <a:extLst>
                    <a:ext uri="{9D8B030D-6E8A-4147-A177-3AD203B41FA5}">
                      <a16:colId xmlns:a16="http://schemas.microsoft.com/office/drawing/2014/main" val="20002"/>
                    </a:ext>
                  </a:extLst>
                </a:gridCol>
                <a:gridCol w="1419921">
                  <a:extLst>
                    <a:ext uri="{9D8B030D-6E8A-4147-A177-3AD203B41FA5}">
                      <a16:colId xmlns:a16="http://schemas.microsoft.com/office/drawing/2014/main" val="20003"/>
                    </a:ext>
                  </a:extLst>
                </a:gridCol>
                <a:gridCol w="1311704">
                  <a:extLst>
                    <a:ext uri="{9D8B030D-6E8A-4147-A177-3AD203B41FA5}">
                      <a16:colId xmlns:a16="http://schemas.microsoft.com/office/drawing/2014/main" val="20004"/>
                    </a:ext>
                  </a:extLst>
                </a:gridCol>
              </a:tblGrid>
              <a:tr h="723265">
                <a:tc>
                  <a:txBody>
                    <a:bodyPr/>
                    <a:lstStyle/>
                    <a:p>
                      <a:pPr>
                        <a:buNone/>
                      </a:pPr>
                      <a:r>
                        <a:rPr lang="fr-FR" altLang="en-US" sz="1600" dirty="0"/>
                        <a:t>Activités </a:t>
                      </a:r>
                    </a:p>
                  </a:txBody>
                  <a:tcPr/>
                </a:tc>
                <a:tc>
                  <a:txBody>
                    <a:bodyPr/>
                    <a:lstStyle/>
                    <a:p>
                      <a:pPr>
                        <a:buNone/>
                      </a:pPr>
                      <a:r>
                        <a:rPr lang="fr-FR" altLang="en-US" sz="1600" dirty="0"/>
                        <a:t>Budget Prévu  ($)</a:t>
                      </a:r>
                    </a:p>
                  </a:txBody>
                  <a:tcPr/>
                </a:tc>
                <a:tc>
                  <a:txBody>
                    <a:bodyPr/>
                    <a:lstStyle/>
                    <a:p>
                      <a:pPr>
                        <a:buNone/>
                      </a:pPr>
                      <a:r>
                        <a:rPr lang="fr-FR" altLang="en-US" sz="1600" dirty="0"/>
                        <a:t>Budget décaissé ($)</a:t>
                      </a:r>
                    </a:p>
                  </a:txBody>
                  <a:tcPr/>
                </a:tc>
                <a:tc>
                  <a:txBody>
                    <a:bodyPr/>
                    <a:lstStyle/>
                    <a:p>
                      <a:pPr>
                        <a:buNone/>
                      </a:pPr>
                      <a:r>
                        <a:rPr lang="fr-FR" altLang="en-US" sz="1600" dirty="0" err="1"/>
                        <a:t>Tx</a:t>
                      </a:r>
                      <a:r>
                        <a:rPr lang="fr-FR" altLang="en-US" sz="1600" dirty="0"/>
                        <a:t> de décaissement </a:t>
                      </a:r>
                    </a:p>
                  </a:txBody>
                  <a:tcPr/>
                </a:tc>
                <a:tc>
                  <a:txBody>
                    <a:bodyPr/>
                    <a:lstStyle/>
                    <a:p>
                      <a:pPr>
                        <a:buNone/>
                      </a:pPr>
                      <a:r>
                        <a:rPr lang="fr-FR" altLang="en-US" sz="1600" dirty="0"/>
                        <a:t>Source de financement </a:t>
                      </a:r>
                    </a:p>
                  </a:txBody>
                  <a:tcPr/>
                </a:tc>
                <a:extLst>
                  <a:ext uri="{0D108BD9-81ED-4DB2-BD59-A6C34878D82A}">
                    <a16:rowId xmlns:a16="http://schemas.microsoft.com/office/drawing/2014/main" val="10000"/>
                  </a:ext>
                </a:extLst>
              </a:tr>
              <a:tr h="430530">
                <a:tc>
                  <a:txBody>
                    <a:bodyPr/>
                    <a:lstStyle/>
                    <a:p>
                      <a:pPr algn="l" fontAlgn="b">
                        <a:buNone/>
                      </a:pPr>
                      <a:r>
                        <a:rPr lang="fr-FR" sz="1800" kern="1200" dirty="0">
                          <a:solidFill>
                            <a:schemeClr val="dk1"/>
                          </a:solidFill>
                          <a:latin typeface="+mn-lt"/>
                          <a:ea typeface="+mn-ea"/>
                          <a:cs typeface="+mn-cs"/>
                        </a:rPr>
                        <a:t>Appui à l'atelier d'élaboration du PAO d'introduction et mise à échelle du VAP en RDC, des </a:t>
                      </a:r>
                      <a:r>
                        <a:rPr lang="fr-FR" sz="1800" kern="1200" dirty="0" err="1">
                          <a:solidFill>
                            <a:schemeClr val="dk1"/>
                          </a:solidFill>
                          <a:latin typeface="+mn-lt"/>
                          <a:ea typeface="+mn-ea"/>
                          <a:cs typeface="+mn-cs"/>
                        </a:rPr>
                        <a:t>TdR</a:t>
                      </a:r>
                      <a:r>
                        <a:rPr lang="fr-FR" sz="1800" kern="1200" dirty="0">
                          <a:solidFill>
                            <a:schemeClr val="dk1"/>
                          </a:solidFill>
                          <a:latin typeface="+mn-lt"/>
                          <a:ea typeface="+mn-ea"/>
                          <a:cs typeface="+mn-cs"/>
                        </a:rPr>
                        <a:t> du GTT VAP, plan de distribution du VAP …)</a:t>
                      </a:r>
                    </a:p>
                  </a:txBody>
                  <a:tcPr marL="6350" marR="6350" marT="6350" marB="0" anchor="b"/>
                </a:tc>
                <a:tc>
                  <a:txBody>
                    <a:bodyPr/>
                    <a:lstStyle/>
                    <a:p>
                      <a:pPr algn="r" fontAlgn="b">
                        <a:buNone/>
                      </a:pPr>
                      <a:r>
                        <a:rPr lang="en-US" sz="1800" kern="1200" dirty="0">
                          <a:solidFill>
                            <a:schemeClr val="dk1"/>
                          </a:solidFill>
                          <a:latin typeface="+mn-lt"/>
                          <a:ea typeface="+mn-ea"/>
                          <a:cs typeface="+mn-cs"/>
                        </a:rPr>
                        <a:t>               38.804   </a:t>
                      </a:r>
                    </a:p>
                  </a:txBody>
                  <a:tcPr marL="6350" marR="6350" marT="6350" marB="0" anchor="b"/>
                </a:tc>
                <a:tc>
                  <a:txBody>
                    <a:bodyPr/>
                    <a:lstStyle/>
                    <a:p>
                      <a:pPr algn="l" fontAlgn="b">
                        <a:buNone/>
                      </a:pPr>
                      <a:r>
                        <a:rPr lang="en-US" sz="1800" kern="1200" dirty="0">
                          <a:solidFill>
                            <a:schemeClr val="dk1"/>
                          </a:solidFill>
                          <a:latin typeface="+mn-lt"/>
                          <a:ea typeface="+mn-ea"/>
                          <a:cs typeface="+mn-cs"/>
                        </a:rPr>
                        <a:t>         38.804    </a:t>
                      </a:r>
                    </a:p>
                  </a:txBody>
                  <a:tcPr marL="6350" marR="6350" marT="6350" marB="0" anchor="b"/>
                </a:tc>
                <a:tc>
                  <a:txBody>
                    <a:bodyPr/>
                    <a:lstStyle/>
                    <a:p>
                      <a:pPr algn="r" fontAlgn="b">
                        <a:buNone/>
                      </a:pPr>
                      <a:r>
                        <a:rPr kumimoji="0" lang="en-US" sz="1800" b="0" i="0" u="none" strike="noStrike" kern="1200" cap="none" spc="0" normalizeH="0" baseline="0" dirty="0">
                          <a:ln>
                            <a:noFill/>
                          </a:ln>
                          <a:solidFill>
                            <a:prstClr val="black"/>
                          </a:solidFill>
                          <a:effectLst/>
                          <a:uLnTx/>
                          <a:uFillTx/>
                          <a:latin typeface="Calibri"/>
                          <a:ea typeface="+mn-ea"/>
                          <a:cs typeface="+mn-cs"/>
                        </a:rPr>
                        <a:t>100%</a:t>
                      </a:r>
                    </a:p>
                  </a:txBody>
                  <a:tcPr marL="6350" marR="6350" marT="6350" marB="0" anchor="b"/>
                </a:tc>
                <a:tc>
                  <a:txBody>
                    <a:bodyPr/>
                    <a:lstStyle/>
                    <a:p>
                      <a:pPr>
                        <a:buNone/>
                      </a:pPr>
                      <a:r>
                        <a:rPr lang="fr-FR" altLang="en-US" dirty="0"/>
                        <a:t>Gavi (PATH)</a:t>
                      </a:r>
                    </a:p>
                  </a:txBody>
                  <a:tcPr anchor="b"/>
                </a:tc>
                <a:extLst>
                  <a:ext uri="{0D108BD9-81ED-4DB2-BD59-A6C34878D82A}">
                    <a16:rowId xmlns:a16="http://schemas.microsoft.com/office/drawing/2014/main" val="10001"/>
                  </a:ext>
                </a:extLst>
              </a:tr>
              <a:tr h="430530">
                <a:tc>
                  <a:txBody>
                    <a:bodyPr/>
                    <a:lstStyle/>
                    <a:p>
                      <a:pPr algn="l" fontAlgn="b">
                        <a:buNone/>
                      </a:pPr>
                      <a:r>
                        <a:rPr lang="fr-FR" sz="1800" kern="1200" dirty="0">
                          <a:solidFill>
                            <a:schemeClr val="dk1"/>
                          </a:solidFill>
                          <a:latin typeface="+mn-lt"/>
                          <a:ea typeface="+mn-ea"/>
                          <a:cs typeface="+mn-cs"/>
                        </a:rPr>
                        <a:t>Appui aux missions d'évaluation de l'état de préparation et formation pré-introduction du VAP au niveau des DPS / antennes PEV dans les provinces du Kongo C (antenne Matadi), Eq, Sud Ubangi &amp; Nord Ubangi.</a:t>
                      </a:r>
                    </a:p>
                  </a:txBody>
                  <a:tcPr marL="6350" marR="6350" marT="6350" marB="0" anchor="b"/>
                </a:tc>
                <a:tc>
                  <a:txBody>
                    <a:bodyPr/>
                    <a:lstStyle/>
                    <a:p>
                      <a:pPr algn="r" fontAlgn="b">
                        <a:buNone/>
                      </a:pPr>
                      <a:r>
                        <a:rPr lang="en-US" sz="1800" kern="1200" dirty="0">
                          <a:solidFill>
                            <a:schemeClr val="dk1"/>
                          </a:solidFill>
                          <a:latin typeface="+mn-lt"/>
                          <a:ea typeface="+mn-ea"/>
                          <a:cs typeface="+mn-cs"/>
                        </a:rPr>
                        <a:t>               25.220    </a:t>
                      </a:r>
                    </a:p>
                  </a:txBody>
                  <a:tcPr marL="6350" marR="6350" marT="6350" marB="0" anchor="b"/>
                </a:tc>
                <a:tc>
                  <a:txBody>
                    <a:bodyPr/>
                    <a:lstStyle/>
                    <a:p>
                      <a:pPr algn="l" fontAlgn="b">
                        <a:buNone/>
                      </a:pPr>
                      <a:r>
                        <a:rPr lang="en-US" sz="1800" kern="1200" dirty="0">
                          <a:solidFill>
                            <a:schemeClr val="dk1"/>
                          </a:solidFill>
                          <a:latin typeface="+mn-lt"/>
                          <a:ea typeface="+mn-ea"/>
                          <a:cs typeface="+mn-cs"/>
                        </a:rPr>
                        <a:t>         10.209    </a:t>
                      </a:r>
                    </a:p>
                  </a:txBody>
                  <a:tcPr marL="6350" marR="6350" marT="6350" marB="0" anchor="b"/>
                </a:tc>
                <a:tc>
                  <a:txBody>
                    <a:bodyPr/>
                    <a:lstStyle/>
                    <a:p>
                      <a:pPr algn="r" fontAlgn="b">
                        <a:buNone/>
                      </a:pPr>
                      <a:r>
                        <a:rPr kumimoji="0" lang="en-US" sz="1800" b="0" i="0" u="none" strike="noStrike" kern="1200" cap="none" spc="0" normalizeH="0" baseline="0" dirty="0">
                          <a:ln>
                            <a:noFill/>
                          </a:ln>
                          <a:solidFill>
                            <a:prstClr val="black"/>
                          </a:solidFill>
                          <a:effectLst/>
                          <a:uLnTx/>
                          <a:uFillTx/>
                          <a:latin typeface="Calibri"/>
                          <a:ea typeface="+mn-ea"/>
                          <a:cs typeface="+mn-cs"/>
                        </a:rPr>
                        <a:t>40%</a:t>
                      </a:r>
                    </a:p>
                  </a:txBody>
                  <a:tcPr marL="6350" marR="6350" marT="6350" marB="0" anchor="b"/>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altLang="en-US" sz="1800" b="0" i="0" u="none" strike="noStrike" kern="1200" cap="none" spc="0" normalizeH="0" baseline="0" noProof="0">
                          <a:ln>
                            <a:noFill/>
                          </a:ln>
                          <a:solidFill>
                            <a:prstClr val="black"/>
                          </a:solidFill>
                          <a:effectLst/>
                          <a:uLnTx/>
                          <a:uFillTx/>
                          <a:latin typeface="Calibri"/>
                          <a:ea typeface="+mn-ea"/>
                          <a:cs typeface="+mn-cs"/>
                        </a:rPr>
                        <a:t>Gavi (PATH)</a:t>
                      </a:r>
                      <a:endParaRPr kumimoji="0" lang="fr-FR" altLang="en-US" sz="1800" b="0" i="0" u="none" strike="noStrike" kern="1200" cap="none" spc="0" normalizeH="0" baseline="0" noProof="0" dirty="0">
                        <a:ln>
                          <a:noFill/>
                        </a:ln>
                        <a:solidFill>
                          <a:prstClr val="black"/>
                        </a:solidFill>
                        <a:effectLst/>
                        <a:uLnTx/>
                        <a:uFillTx/>
                        <a:latin typeface="Calibri"/>
                        <a:ea typeface="+mn-ea"/>
                        <a:cs typeface="+mn-cs"/>
                      </a:endParaRPr>
                    </a:p>
                  </a:txBody>
                  <a:tcPr anchor="b"/>
                </a:tc>
                <a:extLst>
                  <a:ext uri="{0D108BD9-81ED-4DB2-BD59-A6C34878D82A}">
                    <a16:rowId xmlns:a16="http://schemas.microsoft.com/office/drawing/2014/main" val="10002"/>
                  </a:ext>
                </a:extLst>
              </a:tr>
              <a:tr h="430530">
                <a:tc>
                  <a:txBody>
                    <a:bodyPr/>
                    <a:lstStyle/>
                    <a:p>
                      <a:pPr algn="l" fontAlgn="b">
                        <a:buNone/>
                      </a:pPr>
                      <a:r>
                        <a:rPr lang="fr-FR" sz="1800" kern="1200">
                          <a:solidFill>
                            <a:schemeClr val="dk1"/>
                          </a:solidFill>
                          <a:latin typeface="+mn-lt"/>
                          <a:ea typeface="+mn-ea"/>
                          <a:cs typeface="+mn-cs"/>
                        </a:rPr>
                        <a:t>Appui au GTT VAP R21 Matrix-M au niveau des provinces / DPS</a:t>
                      </a:r>
                    </a:p>
                  </a:txBody>
                  <a:tcPr marL="6350" marR="6350" marT="6350" marB="0" anchor="b"/>
                </a:tc>
                <a:tc>
                  <a:txBody>
                    <a:bodyPr/>
                    <a:lstStyle/>
                    <a:p>
                      <a:pPr algn="r" fontAlgn="b">
                        <a:buNone/>
                      </a:pPr>
                      <a:r>
                        <a:rPr lang="en-US" sz="1800" kern="1200" dirty="0">
                          <a:solidFill>
                            <a:schemeClr val="dk1"/>
                          </a:solidFill>
                          <a:latin typeface="+mn-lt"/>
                          <a:ea typeface="+mn-ea"/>
                          <a:cs typeface="+mn-cs"/>
                        </a:rPr>
                        <a:t>               34.065    </a:t>
                      </a:r>
                    </a:p>
                  </a:txBody>
                  <a:tcPr marL="6350" marR="6350" marT="6350" marB="0" anchor="b"/>
                </a:tc>
                <a:tc>
                  <a:txBody>
                    <a:bodyPr/>
                    <a:lstStyle/>
                    <a:p>
                      <a:pPr algn="l" fontAlgn="b">
                        <a:buNone/>
                      </a:pPr>
                      <a:r>
                        <a:rPr lang="en-US" sz="1800" kern="1200" dirty="0">
                          <a:solidFill>
                            <a:schemeClr val="dk1"/>
                          </a:solidFill>
                          <a:latin typeface="+mn-lt"/>
                          <a:ea typeface="+mn-ea"/>
                          <a:cs typeface="+mn-cs"/>
                        </a:rPr>
                        <a:t>         12.333  </a:t>
                      </a:r>
                    </a:p>
                  </a:txBody>
                  <a:tcPr marL="6350" marR="6350" marT="6350" marB="0" anchor="b"/>
                </a:tc>
                <a:tc>
                  <a:txBody>
                    <a:bodyPr/>
                    <a:lstStyle/>
                    <a:p>
                      <a:pPr algn="r" fontAlgn="b">
                        <a:buNone/>
                      </a:pPr>
                      <a:r>
                        <a:rPr kumimoji="0" lang="en-US" sz="1800" b="0" i="0" u="none" strike="noStrike" kern="1200" cap="none" spc="0" normalizeH="0" baseline="0" dirty="0">
                          <a:ln>
                            <a:noFill/>
                          </a:ln>
                          <a:solidFill>
                            <a:prstClr val="black"/>
                          </a:solidFill>
                          <a:effectLst/>
                          <a:uLnTx/>
                          <a:uFillTx/>
                          <a:latin typeface="Calibri"/>
                          <a:ea typeface="+mn-ea"/>
                          <a:cs typeface="+mn-cs"/>
                        </a:rPr>
                        <a:t>36%</a:t>
                      </a:r>
                    </a:p>
                  </a:txBody>
                  <a:tcPr marL="6350" marR="6350" marT="6350" marB="0" anchor="b"/>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altLang="en-US" sz="1800" b="0" i="0" u="none" strike="noStrike" kern="1200" cap="none" spc="0" normalizeH="0" baseline="0" noProof="0" dirty="0">
                          <a:ln>
                            <a:noFill/>
                          </a:ln>
                          <a:solidFill>
                            <a:prstClr val="black"/>
                          </a:solidFill>
                          <a:effectLst/>
                          <a:uLnTx/>
                          <a:uFillTx/>
                          <a:latin typeface="Calibri"/>
                          <a:ea typeface="+mn-ea"/>
                          <a:cs typeface="+mn-cs"/>
                        </a:rPr>
                        <a:t>Gavi (PATH)</a:t>
                      </a:r>
                    </a:p>
                  </a:txBody>
                  <a:tcPr anchor="b"/>
                </a:tc>
                <a:extLst>
                  <a:ext uri="{0D108BD9-81ED-4DB2-BD59-A6C34878D82A}">
                    <a16:rowId xmlns:a16="http://schemas.microsoft.com/office/drawing/2014/main" val="10003"/>
                  </a:ext>
                </a:extLst>
              </a:tr>
              <a:tr h="0">
                <a:tc>
                  <a:txBody>
                    <a:bodyPr/>
                    <a:lstStyle/>
                    <a:p>
                      <a:pPr algn="l" fontAlgn="b">
                        <a:buNone/>
                      </a:pPr>
                      <a:r>
                        <a:rPr lang="fr-FR" sz="1800" kern="1200" dirty="0">
                          <a:solidFill>
                            <a:schemeClr val="dk1"/>
                          </a:solidFill>
                          <a:latin typeface="+mn-lt"/>
                          <a:ea typeface="+mn-ea"/>
                          <a:cs typeface="+mn-cs"/>
                        </a:rPr>
                        <a:t>Appui au GTT VAP R21 Matrix-M au niveau national</a:t>
                      </a:r>
                    </a:p>
                  </a:txBody>
                  <a:tcPr marL="6350" marR="6350" marT="6350" marB="0" anchor="b"/>
                </a:tc>
                <a:tc>
                  <a:txBody>
                    <a:bodyPr/>
                    <a:lstStyle/>
                    <a:p>
                      <a:pPr algn="r" fontAlgn="b">
                        <a:buNone/>
                      </a:pPr>
                      <a:r>
                        <a:rPr lang="en-US" sz="1800" kern="1200" dirty="0">
                          <a:solidFill>
                            <a:schemeClr val="dk1"/>
                          </a:solidFill>
                          <a:latin typeface="+mn-lt"/>
                          <a:ea typeface="+mn-ea"/>
                          <a:cs typeface="+mn-cs"/>
                        </a:rPr>
                        <a:t>9.688    </a:t>
                      </a:r>
                    </a:p>
                  </a:txBody>
                  <a:tcPr marL="6350" marR="6350" marT="6350" marB="0" anchor="b"/>
                </a:tc>
                <a:tc>
                  <a:txBody>
                    <a:bodyPr/>
                    <a:lstStyle/>
                    <a:p>
                      <a:pPr algn="l" fontAlgn="b">
                        <a:buNone/>
                      </a:pPr>
                      <a:r>
                        <a:rPr lang="en-US" sz="1800" kern="1200" dirty="0">
                          <a:solidFill>
                            <a:schemeClr val="dk1"/>
                          </a:solidFill>
                          <a:latin typeface="+mn-lt"/>
                          <a:ea typeface="+mn-ea"/>
                          <a:cs typeface="+mn-cs"/>
                        </a:rPr>
                        <a:t>-</a:t>
                      </a:r>
                    </a:p>
                  </a:txBody>
                  <a:tcPr marL="6350" marR="6350" marT="6350" marB="0" anchor="b"/>
                </a:tc>
                <a:tc>
                  <a:txBody>
                    <a:bodyPr/>
                    <a:lstStyle/>
                    <a:p>
                      <a:pPr algn="r" fontAlgn="b">
                        <a:buNone/>
                      </a:pPr>
                      <a:r>
                        <a:rPr kumimoji="0" lang="en-US" sz="1800" b="0" i="0" u="none" strike="noStrike" kern="1200" cap="none" spc="0" normalizeH="0" baseline="0" dirty="0">
                          <a:ln>
                            <a:noFill/>
                          </a:ln>
                          <a:solidFill>
                            <a:prstClr val="black"/>
                          </a:solidFill>
                          <a:effectLst/>
                          <a:uLnTx/>
                          <a:uFillTx/>
                          <a:latin typeface="Calibri"/>
                          <a:ea typeface="+mn-ea"/>
                          <a:cs typeface="+mn-cs"/>
                        </a:rPr>
                        <a:t>0%</a:t>
                      </a:r>
                    </a:p>
                  </a:txBody>
                  <a:tcPr marL="6350" marR="6350" marT="6350" marB="0" anchor="b"/>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altLang="en-US" sz="1800" b="0" i="0" u="none" strike="noStrike" kern="1200" cap="none" spc="0" normalizeH="0" baseline="0" noProof="0" dirty="0">
                          <a:ln>
                            <a:noFill/>
                          </a:ln>
                          <a:solidFill>
                            <a:prstClr val="black"/>
                          </a:solidFill>
                          <a:effectLst/>
                          <a:uLnTx/>
                          <a:uFillTx/>
                          <a:latin typeface="Calibri"/>
                          <a:ea typeface="+mn-ea"/>
                          <a:cs typeface="+mn-cs"/>
                        </a:rPr>
                        <a:t>Gavi (PATH)</a:t>
                      </a:r>
                    </a:p>
                  </a:txBody>
                  <a:tcPr anchor="b"/>
                </a:tc>
                <a:extLst>
                  <a:ext uri="{0D108BD9-81ED-4DB2-BD59-A6C34878D82A}">
                    <a16:rowId xmlns:a16="http://schemas.microsoft.com/office/drawing/2014/main" val="10004"/>
                  </a:ext>
                </a:extLst>
              </a:tr>
              <a:tr h="0">
                <a:tc>
                  <a:txBody>
                    <a:bodyPr/>
                    <a:lstStyle/>
                    <a:p>
                      <a:pPr algn="l" fontAlgn="b">
                        <a:buNone/>
                      </a:pPr>
                      <a:r>
                        <a:rPr lang="fr-FR" sz="1800" kern="1200">
                          <a:solidFill>
                            <a:schemeClr val="dk1"/>
                          </a:solidFill>
                          <a:latin typeface="+mn-lt"/>
                          <a:ea typeface="+mn-ea"/>
                          <a:cs typeface="+mn-cs"/>
                        </a:rPr>
                        <a:t>Appui aux réunions trimestrielles d'analyse des données VAP étendue au PEV de routine associant DPS / antennes PEV &amp; ZS (MCZS)</a:t>
                      </a:r>
                    </a:p>
                  </a:txBody>
                  <a:tcPr marL="6350" marR="6350" marT="6350" marB="0" anchor="b"/>
                </a:tc>
                <a:tc>
                  <a:txBody>
                    <a:bodyPr/>
                    <a:lstStyle/>
                    <a:p>
                      <a:pPr algn="r" fontAlgn="b">
                        <a:buNone/>
                      </a:pPr>
                      <a:r>
                        <a:rPr lang="en-US" sz="1800" kern="1200" dirty="0">
                          <a:solidFill>
                            <a:schemeClr val="dk1"/>
                          </a:solidFill>
                          <a:latin typeface="+mn-lt"/>
                          <a:ea typeface="+mn-ea"/>
                          <a:cs typeface="+mn-cs"/>
                        </a:rPr>
                        <a:t>               70.440   </a:t>
                      </a:r>
                    </a:p>
                  </a:txBody>
                  <a:tcPr marL="6350" marR="6350" marT="6350" marB="0" anchor="b"/>
                </a:tc>
                <a:tc>
                  <a:txBody>
                    <a:bodyPr/>
                    <a:lstStyle/>
                    <a:p>
                      <a:pPr algn="l" fontAlgn="b">
                        <a:buNone/>
                      </a:pPr>
                      <a:r>
                        <a:rPr lang="en-US" sz="1800" kern="1200" dirty="0">
                          <a:solidFill>
                            <a:schemeClr val="dk1"/>
                          </a:solidFill>
                          <a:latin typeface="+mn-lt"/>
                          <a:ea typeface="+mn-ea"/>
                          <a:cs typeface="+mn-cs"/>
                        </a:rPr>
                        <a:t>         21.627    </a:t>
                      </a:r>
                    </a:p>
                  </a:txBody>
                  <a:tcPr marL="6350" marR="6350" marT="6350" marB="0" anchor="b"/>
                </a:tc>
                <a:tc>
                  <a:txBody>
                    <a:bodyPr/>
                    <a:lstStyle/>
                    <a:p>
                      <a:pPr algn="r" fontAlgn="b">
                        <a:buNone/>
                      </a:pPr>
                      <a:r>
                        <a:rPr kumimoji="0" lang="en-US" sz="1800" b="0" i="0" u="none" strike="noStrike" kern="1200" cap="none" spc="0" normalizeH="0" baseline="0" dirty="0">
                          <a:ln>
                            <a:noFill/>
                          </a:ln>
                          <a:solidFill>
                            <a:prstClr val="black"/>
                          </a:solidFill>
                          <a:effectLst/>
                          <a:uLnTx/>
                          <a:uFillTx/>
                          <a:latin typeface="Calibri"/>
                          <a:ea typeface="+mn-ea"/>
                          <a:cs typeface="+mn-cs"/>
                        </a:rPr>
                        <a:t>31%</a:t>
                      </a:r>
                    </a:p>
                  </a:txBody>
                  <a:tcPr marL="6350" marR="6350" marT="6350" marB="0" anchor="b"/>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altLang="en-US" sz="1800" b="0" i="0" u="none" strike="noStrike" kern="1200" cap="none" spc="0" normalizeH="0" baseline="0" noProof="0" dirty="0">
                          <a:ln>
                            <a:noFill/>
                          </a:ln>
                          <a:solidFill>
                            <a:prstClr val="black"/>
                          </a:solidFill>
                          <a:effectLst/>
                          <a:uLnTx/>
                          <a:uFillTx/>
                          <a:latin typeface="Calibri"/>
                          <a:ea typeface="+mn-ea"/>
                          <a:cs typeface="+mn-cs"/>
                        </a:rPr>
                        <a:t>Gavi (PATH)</a:t>
                      </a:r>
                    </a:p>
                  </a:txBody>
                  <a:tcPr anchor="b"/>
                </a:tc>
                <a:extLst>
                  <a:ext uri="{0D108BD9-81ED-4DB2-BD59-A6C34878D82A}">
                    <a16:rowId xmlns:a16="http://schemas.microsoft.com/office/drawing/2014/main" val="10005"/>
                  </a:ext>
                </a:extLst>
              </a:tr>
              <a:tr h="317923">
                <a:tc>
                  <a:txBody>
                    <a:bodyPr/>
                    <a:lstStyle/>
                    <a:p>
                      <a:pPr algn="l" fontAlgn="b">
                        <a:buNone/>
                      </a:pPr>
                      <a:r>
                        <a:rPr lang="fr-FR" sz="1800" kern="1200">
                          <a:solidFill>
                            <a:schemeClr val="dk1"/>
                          </a:solidFill>
                          <a:latin typeface="+mn-lt"/>
                          <a:ea typeface="+mn-ea"/>
                          <a:cs typeface="+mn-cs"/>
                        </a:rPr>
                        <a:t>Appui aux supervisions conjointes (post-introduction du VAP) du niveau national vers les provinces / DPS / antennes PEV</a:t>
                      </a:r>
                    </a:p>
                  </a:txBody>
                  <a:tcPr marL="6350" marR="6350" marT="6350" marB="0" anchor="b"/>
                </a:tc>
                <a:tc>
                  <a:txBody>
                    <a:bodyPr/>
                    <a:lstStyle/>
                    <a:p>
                      <a:pPr algn="r" fontAlgn="b">
                        <a:buNone/>
                      </a:pPr>
                      <a:r>
                        <a:rPr lang="en-US" sz="1800" kern="1200" dirty="0">
                          <a:solidFill>
                            <a:schemeClr val="dk1"/>
                          </a:solidFill>
                          <a:latin typeface="+mn-lt"/>
                          <a:ea typeface="+mn-ea"/>
                          <a:cs typeface="+mn-cs"/>
                        </a:rPr>
                        <a:t>               75.566    </a:t>
                      </a:r>
                    </a:p>
                  </a:txBody>
                  <a:tcPr marL="6350" marR="6350" marT="6350" marB="0" anchor="b"/>
                </a:tc>
                <a:tc>
                  <a:txBody>
                    <a:bodyPr/>
                    <a:lstStyle/>
                    <a:p>
                      <a:pPr algn="l" fontAlgn="b">
                        <a:buNone/>
                      </a:pPr>
                      <a:r>
                        <a:rPr lang="en-US" sz="1800" kern="1200" dirty="0">
                          <a:solidFill>
                            <a:schemeClr val="dk1"/>
                          </a:solidFill>
                          <a:latin typeface="+mn-lt"/>
                          <a:ea typeface="+mn-ea"/>
                          <a:cs typeface="+mn-cs"/>
                        </a:rPr>
                        <a:t>       142.535    </a:t>
                      </a:r>
                    </a:p>
                  </a:txBody>
                  <a:tcPr marL="6350" marR="6350" marT="6350" marB="0" anchor="b"/>
                </a:tc>
                <a:tc>
                  <a:txBody>
                    <a:bodyPr/>
                    <a:lstStyle/>
                    <a:p>
                      <a:pPr algn="r" fontAlgn="b">
                        <a:buNone/>
                      </a:pPr>
                      <a:r>
                        <a:rPr kumimoji="0" lang="en-US" sz="1800" b="0" i="0" u="none" strike="noStrike" kern="1200" cap="none" spc="0" normalizeH="0" baseline="0" dirty="0">
                          <a:ln>
                            <a:noFill/>
                          </a:ln>
                          <a:solidFill>
                            <a:prstClr val="black"/>
                          </a:solidFill>
                          <a:effectLst/>
                          <a:uLnTx/>
                          <a:uFillTx/>
                          <a:latin typeface="Calibri"/>
                          <a:ea typeface="+mn-ea"/>
                          <a:cs typeface="+mn-cs"/>
                        </a:rPr>
                        <a:t>189%</a:t>
                      </a:r>
                    </a:p>
                  </a:txBody>
                  <a:tcPr marL="6350" marR="6350" marT="6350" marB="0" anchor="b"/>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altLang="en-US" sz="1800" b="0" i="0" u="none" strike="noStrike" kern="1200" cap="none" spc="0" normalizeH="0" baseline="0" noProof="0" dirty="0">
                          <a:ln>
                            <a:noFill/>
                          </a:ln>
                          <a:solidFill>
                            <a:prstClr val="black"/>
                          </a:solidFill>
                          <a:effectLst/>
                          <a:uLnTx/>
                          <a:uFillTx/>
                          <a:latin typeface="Calibri"/>
                          <a:ea typeface="+mn-ea"/>
                          <a:cs typeface="+mn-cs"/>
                        </a:rPr>
                        <a:t>Gavi (PATH)</a:t>
                      </a:r>
                    </a:p>
                  </a:txBody>
                  <a:tcPr anchor="b"/>
                </a:tc>
                <a:extLst>
                  <a:ext uri="{0D108BD9-81ED-4DB2-BD59-A6C34878D82A}">
                    <a16:rowId xmlns:a16="http://schemas.microsoft.com/office/drawing/2014/main" val="391322453"/>
                  </a:ext>
                </a:extLst>
              </a:tr>
              <a:tr h="270087">
                <a:tc>
                  <a:txBody>
                    <a:bodyPr/>
                    <a:lstStyle/>
                    <a:p>
                      <a:pPr algn="l" fontAlgn="b">
                        <a:buNone/>
                      </a:pPr>
                      <a:r>
                        <a:rPr lang="fr-FR" sz="1800" kern="1200">
                          <a:solidFill>
                            <a:schemeClr val="dk1"/>
                          </a:solidFill>
                          <a:latin typeface="+mn-lt"/>
                          <a:ea typeface="+mn-ea"/>
                          <a:cs typeface="+mn-cs"/>
                        </a:rPr>
                        <a:t>Appui aux supervisions conjointes du niveau intermédiaire (DPS &amp; antennes PEV) vers les ZS / AS / ESS</a:t>
                      </a:r>
                    </a:p>
                  </a:txBody>
                  <a:tcPr marL="6350" marR="6350" marT="6350" marB="0" anchor="b"/>
                </a:tc>
                <a:tc>
                  <a:txBody>
                    <a:bodyPr/>
                    <a:lstStyle/>
                    <a:p>
                      <a:pPr algn="r" fontAlgn="b">
                        <a:buNone/>
                      </a:pPr>
                      <a:r>
                        <a:rPr lang="en-US" sz="1800" kern="1200" dirty="0">
                          <a:solidFill>
                            <a:schemeClr val="dk1"/>
                          </a:solidFill>
                          <a:latin typeface="+mn-lt"/>
                          <a:ea typeface="+mn-ea"/>
                          <a:cs typeface="+mn-cs"/>
                        </a:rPr>
                        <a:t>               26.526   </a:t>
                      </a:r>
                    </a:p>
                  </a:txBody>
                  <a:tcPr marL="6350" marR="6350" marT="6350" marB="0" anchor="b"/>
                </a:tc>
                <a:tc>
                  <a:txBody>
                    <a:bodyPr/>
                    <a:lstStyle/>
                    <a:p>
                      <a:pPr algn="l" fontAlgn="b">
                        <a:buNone/>
                      </a:pPr>
                      <a:r>
                        <a:rPr lang="en-US" sz="1800" kern="1200" dirty="0">
                          <a:solidFill>
                            <a:schemeClr val="dk1"/>
                          </a:solidFill>
                          <a:latin typeface="+mn-lt"/>
                          <a:ea typeface="+mn-ea"/>
                          <a:cs typeface="+mn-cs"/>
                        </a:rPr>
                        <a:t>         72.264    </a:t>
                      </a:r>
                    </a:p>
                  </a:txBody>
                  <a:tcPr marL="6350" marR="6350" marT="6350" marB="0" anchor="b"/>
                </a:tc>
                <a:tc>
                  <a:txBody>
                    <a:bodyPr/>
                    <a:lstStyle/>
                    <a:p>
                      <a:pPr algn="r" fontAlgn="b">
                        <a:buNone/>
                      </a:pPr>
                      <a:r>
                        <a:rPr kumimoji="0" lang="en-US" sz="1800" b="0" i="0" u="none" strike="noStrike" kern="1200" cap="none" spc="0" normalizeH="0" baseline="0" dirty="0">
                          <a:ln>
                            <a:noFill/>
                          </a:ln>
                          <a:solidFill>
                            <a:prstClr val="black"/>
                          </a:solidFill>
                          <a:effectLst/>
                          <a:uLnTx/>
                          <a:uFillTx/>
                          <a:latin typeface="Calibri"/>
                          <a:ea typeface="+mn-ea"/>
                          <a:cs typeface="+mn-cs"/>
                        </a:rPr>
                        <a:t>272%</a:t>
                      </a:r>
                    </a:p>
                  </a:txBody>
                  <a:tcPr marL="6350" marR="6350" marT="6350" marB="0" anchor="b"/>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altLang="en-US" sz="1800" b="0" i="0" u="none" strike="noStrike" kern="1200" cap="none" spc="0" normalizeH="0" baseline="0" noProof="0" dirty="0">
                          <a:ln>
                            <a:noFill/>
                          </a:ln>
                          <a:solidFill>
                            <a:prstClr val="black"/>
                          </a:solidFill>
                          <a:effectLst/>
                          <a:uLnTx/>
                          <a:uFillTx/>
                          <a:latin typeface="Calibri"/>
                          <a:ea typeface="+mn-ea"/>
                          <a:cs typeface="+mn-cs"/>
                        </a:rPr>
                        <a:t>Gavi (PATH)</a:t>
                      </a:r>
                    </a:p>
                  </a:txBody>
                  <a:tcPr anchor="b"/>
                </a:tc>
                <a:extLst>
                  <a:ext uri="{0D108BD9-81ED-4DB2-BD59-A6C34878D82A}">
                    <a16:rowId xmlns:a16="http://schemas.microsoft.com/office/drawing/2014/main" val="2139419370"/>
                  </a:ext>
                </a:extLst>
              </a:tr>
              <a:tr h="121920">
                <a:tc>
                  <a:txBody>
                    <a:bodyPr/>
                    <a:lstStyle/>
                    <a:p>
                      <a:pPr algn="l" fontAlgn="b">
                        <a:buNone/>
                      </a:pPr>
                      <a:r>
                        <a:rPr lang="fr-FR" sz="1800" kern="1200">
                          <a:solidFill>
                            <a:schemeClr val="dk1"/>
                          </a:solidFill>
                          <a:latin typeface="+mn-lt"/>
                          <a:ea typeface="+mn-ea"/>
                          <a:cs typeface="+mn-cs"/>
                        </a:rPr>
                        <a:t>Développent et digitalisation des micro-plans PEV </a:t>
                      </a:r>
                    </a:p>
                  </a:txBody>
                  <a:tcPr marL="6350" marR="6350" marT="6350" marB="0" anchor="b"/>
                </a:tc>
                <a:tc>
                  <a:txBody>
                    <a:bodyPr/>
                    <a:lstStyle/>
                    <a:p>
                      <a:pPr algn="r" fontAlgn="b">
                        <a:buNone/>
                      </a:pPr>
                      <a:r>
                        <a:rPr lang="en-US" sz="1800" kern="1200" dirty="0">
                          <a:solidFill>
                            <a:schemeClr val="dk1"/>
                          </a:solidFill>
                          <a:latin typeface="+mn-lt"/>
                          <a:ea typeface="+mn-ea"/>
                          <a:cs typeface="+mn-cs"/>
                        </a:rPr>
                        <a:t>               25.278    </a:t>
                      </a:r>
                    </a:p>
                  </a:txBody>
                  <a:tcPr marL="6350" marR="6350" marT="6350" marB="0" anchor="b"/>
                </a:tc>
                <a:tc>
                  <a:txBody>
                    <a:bodyPr/>
                    <a:lstStyle/>
                    <a:p>
                      <a:pPr algn="l" fontAlgn="b">
                        <a:buNone/>
                      </a:pPr>
                      <a:r>
                        <a:rPr lang="en-US" sz="1800" kern="1200" dirty="0">
                          <a:solidFill>
                            <a:schemeClr val="dk1"/>
                          </a:solidFill>
                          <a:latin typeface="+mn-lt"/>
                          <a:ea typeface="+mn-ea"/>
                          <a:cs typeface="+mn-cs"/>
                        </a:rPr>
                        <a:t>         10.498    </a:t>
                      </a:r>
                    </a:p>
                  </a:txBody>
                  <a:tcPr marL="6350" marR="6350" marT="6350" marB="0" anchor="b"/>
                </a:tc>
                <a:tc>
                  <a:txBody>
                    <a:bodyPr/>
                    <a:lstStyle/>
                    <a:p>
                      <a:pPr algn="r" fontAlgn="b">
                        <a:buNone/>
                      </a:pPr>
                      <a:r>
                        <a:rPr kumimoji="0" lang="en-US" sz="1800" b="0" i="0" u="none" strike="noStrike" kern="1200" cap="none" spc="0" normalizeH="0" baseline="0" dirty="0">
                          <a:ln>
                            <a:noFill/>
                          </a:ln>
                          <a:solidFill>
                            <a:prstClr val="black"/>
                          </a:solidFill>
                          <a:effectLst/>
                          <a:uLnTx/>
                          <a:uFillTx/>
                          <a:latin typeface="Calibri"/>
                          <a:ea typeface="+mn-ea"/>
                          <a:cs typeface="+mn-cs"/>
                        </a:rPr>
                        <a:t>42%</a:t>
                      </a:r>
                    </a:p>
                  </a:txBody>
                  <a:tcPr marL="6350" marR="6350" marT="6350" marB="0" anchor="b"/>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altLang="en-US" sz="1800" b="0" i="0" u="none" strike="noStrike" kern="1200" cap="none" spc="0" normalizeH="0" baseline="0" noProof="0" dirty="0">
                          <a:ln>
                            <a:noFill/>
                          </a:ln>
                          <a:solidFill>
                            <a:prstClr val="black"/>
                          </a:solidFill>
                          <a:effectLst/>
                          <a:uLnTx/>
                          <a:uFillTx/>
                          <a:latin typeface="Calibri"/>
                          <a:ea typeface="+mn-ea"/>
                          <a:cs typeface="+mn-cs"/>
                        </a:rPr>
                        <a:t>Gavi (PATH)</a:t>
                      </a:r>
                    </a:p>
                  </a:txBody>
                  <a:tcPr anchor="b"/>
                </a:tc>
                <a:extLst>
                  <a:ext uri="{0D108BD9-81ED-4DB2-BD59-A6C34878D82A}">
                    <a16:rowId xmlns:a16="http://schemas.microsoft.com/office/drawing/2014/main" val="3217013091"/>
                  </a:ext>
                </a:extLst>
              </a:tr>
              <a:tr h="243840">
                <a:tc>
                  <a:txBody>
                    <a:bodyPr/>
                    <a:lstStyle/>
                    <a:p>
                      <a:pPr algn="l" fontAlgn="b">
                        <a:buNone/>
                      </a:pPr>
                      <a:r>
                        <a:rPr lang="fr-FR" sz="1800" kern="1200" dirty="0">
                          <a:solidFill>
                            <a:schemeClr val="dk1"/>
                          </a:solidFill>
                          <a:latin typeface="+mn-lt"/>
                          <a:ea typeface="+mn-ea"/>
                          <a:cs typeface="+mn-cs"/>
                        </a:rPr>
                        <a:t>Participation aux réunions nationales et internationales pertinentes du PEV et/ou liées à la vaccination .</a:t>
                      </a:r>
                    </a:p>
                  </a:txBody>
                  <a:tcPr marL="6350" marR="6350" marT="6350" marB="0" anchor="b"/>
                </a:tc>
                <a:tc>
                  <a:txBody>
                    <a:bodyPr/>
                    <a:lstStyle/>
                    <a:p>
                      <a:pPr algn="r" fontAlgn="b">
                        <a:buNone/>
                      </a:pPr>
                      <a:r>
                        <a:rPr lang="en-US" sz="1800" kern="1200" dirty="0">
                          <a:solidFill>
                            <a:schemeClr val="dk1"/>
                          </a:solidFill>
                          <a:latin typeface="+mn-lt"/>
                          <a:ea typeface="+mn-ea"/>
                          <a:cs typeface="+mn-cs"/>
                        </a:rPr>
                        <a:t>               13.470    </a:t>
                      </a:r>
                    </a:p>
                  </a:txBody>
                  <a:tcPr marL="6350" marR="6350" marT="6350" marB="0" anchor="b"/>
                </a:tc>
                <a:tc>
                  <a:txBody>
                    <a:bodyPr/>
                    <a:lstStyle/>
                    <a:p>
                      <a:pPr algn="l" fontAlgn="b">
                        <a:buNone/>
                      </a:pPr>
                      <a:r>
                        <a:rPr lang="en-US" sz="1800" kern="1200" dirty="0">
                          <a:solidFill>
                            <a:schemeClr val="dk1"/>
                          </a:solidFill>
                          <a:latin typeface="+mn-lt"/>
                          <a:ea typeface="+mn-ea"/>
                          <a:cs typeface="+mn-cs"/>
                        </a:rPr>
                        <a:t>           3.985    </a:t>
                      </a:r>
                    </a:p>
                  </a:txBody>
                  <a:tcPr marL="6350" marR="6350" marT="6350" marB="0" anchor="b"/>
                </a:tc>
                <a:tc>
                  <a:txBody>
                    <a:bodyPr/>
                    <a:lstStyle/>
                    <a:p>
                      <a:pPr algn="r" fontAlgn="b">
                        <a:buNone/>
                      </a:pPr>
                      <a:r>
                        <a:rPr kumimoji="0" lang="en-US" sz="1800" b="0" i="0" u="none" strike="noStrike" kern="1200" cap="none" spc="0" normalizeH="0" baseline="0" dirty="0">
                          <a:ln>
                            <a:noFill/>
                          </a:ln>
                          <a:solidFill>
                            <a:prstClr val="black"/>
                          </a:solidFill>
                          <a:effectLst/>
                          <a:uLnTx/>
                          <a:uFillTx/>
                          <a:latin typeface="Calibri"/>
                          <a:ea typeface="+mn-ea"/>
                          <a:cs typeface="+mn-cs"/>
                        </a:rPr>
                        <a:t>30%</a:t>
                      </a:r>
                    </a:p>
                  </a:txBody>
                  <a:tcPr marL="6350" marR="6350" marT="6350" marB="0" anchor="b"/>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altLang="en-US" sz="1800" b="0" i="0" u="none" strike="noStrike" kern="1200" cap="none" spc="0" normalizeH="0" baseline="0" noProof="0" dirty="0">
                          <a:ln>
                            <a:noFill/>
                          </a:ln>
                          <a:solidFill>
                            <a:prstClr val="black"/>
                          </a:solidFill>
                          <a:effectLst/>
                          <a:uLnTx/>
                          <a:uFillTx/>
                          <a:latin typeface="Calibri"/>
                          <a:ea typeface="+mn-ea"/>
                          <a:cs typeface="+mn-cs"/>
                        </a:rPr>
                        <a:t>Gavi (PATH)</a:t>
                      </a:r>
                    </a:p>
                  </a:txBody>
                  <a:tcPr anchor="b"/>
                </a:tc>
                <a:extLst>
                  <a:ext uri="{0D108BD9-81ED-4DB2-BD59-A6C34878D82A}">
                    <a16:rowId xmlns:a16="http://schemas.microsoft.com/office/drawing/2014/main" val="4247067089"/>
                  </a:ext>
                </a:extLst>
              </a:tr>
              <a:tr h="0">
                <a:tc>
                  <a:txBody>
                    <a:bodyPr/>
                    <a:lstStyle/>
                    <a:p>
                      <a:pPr algn="ctr"/>
                      <a:r>
                        <a:rPr lang="fr-FR" b="1" dirty="0"/>
                        <a:t>Total</a:t>
                      </a:r>
                      <a:endParaRPr lang="en-US" b="1" dirty="0"/>
                    </a:p>
                  </a:txBody>
                  <a:tcPr marL="6350" marR="6350" marT="6350" marB="0" anchor="ctr"/>
                </a:tc>
                <a:tc>
                  <a:txBody>
                    <a:bodyPr/>
                    <a:lstStyle/>
                    <a:p>
                      <a:pPr algn="r"/>
                      <a:r>
                        <a:rPr lang="fr-FR" b="1" dirty="0"/>
                        <a:t>319.056</a:t>
                      </a:r>
                      <a:endParaRPr lang="en-US" b="1" dirty="0"/>
                    </a:p>
                  </a:txBody>
                  <a:tcPr marL="6350" marR="6350" marT="6350" marB="0" anchor="ctr"/>
                </a:tc>
                <a:tc>
                  <a:txBody>
                    <a:bodyPr/>
                    <a:lstStyle/>
                    <a:p>
                      <a:pPr algn="r"/>
                      <a:r>
                        <a:rPr lang="fr-FR" b="1" dirty="0"/>
                        <a:t>312.254</a:t>
                      </a:r>
                      <a:endParaRPr lang="en-US" b="1" dirty="0"/>
                    </a:p>
                  </a:txBody>
                  <a:tcPr marL="6350" marR="6350" marT="6350" marB="0" anchor="ctr"/>
                </a:tc>
                <a:tc>
                  <a:txBody>
                    <a:bodyPr/>
                    <a:lstStyle/>
                    <a:p>
                      <a:pPr algn="r"/>
                      <a:r>
                        <a:rPr lang="fr-FR" b="1" dirty="0"/>
                        <a:t>98%</a:t>
                      </a:r>
                      <a:endParaRPr lang="en-US"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altLang="en-US" dirty="0"/>
                        <a:t>Gavi (PATH)</a:t>
                      </a:r>
                    </a:p>
                  </a:txBody>
                  <a:tcPr/>
                </a:tc>
                <a:extLst>
                  <a:ext uri="{0D108BD9-81ED-4DB2-BD59-A6C34878D82A}">
                    <a16:rowId xmlns:a16="http://schemas.microsoft.com/office/drawing/2014/main" val="3033624735"/>
                  </a:ext>
                </a:extLst>
              </a:tr>
            </a:tbl>
          </a:graphicData>
        </a:graphic>
      </p:graphicFrame>
    </p:spTree>
    <p:extLst>
      <p:ext uri="{BB962C8B-B14F-4D97-AF65-F5344CB8AC3E}">
        <p14:creationId xmlns:p14="http://schemas.microsoft.com/office/powerpoint/2010/main" val="30812088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9A458DB4-BC09-DF62-23FE-386AD31099E3}"/>
            </a:ext>
          </a:extLst>
        </p:cNvPr>
        <p:cNvGrpSpPr/>
        <p:nvPr/>
      </p:nvGrpSpPr>
      <p:grpSpPr>
        <a:xfrm>
          <a:off x="0" y="0"/>
          <a:ext cx="0" cy="0"/>
          <a:chOff x="0" y="0"/>
          <a:chExt cx="0" cy="0"/>
        </a:xfrm>
      </p:grpSpPr>
      <p:sp>
        <p:nvSpPr>
          <p:cNvPr id="176" name="Google Shape;176;g3aabd3d1b2d_0_290">
            <a:extLst>
              <a:ext uri="{FF2B5EF4-FFF2-40B4-BE49-F238E27FC236}">
                <a16:creationId xmlns:a16="http://schemas.microsoft.com/office/drawing/2014/main" id="{5FB65369-E67A-C704-985D-17F99B039460}"/>
              </a:ext>
            </a:extLst>
          </p:cNvPr>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fr-FR" sz="2700">
                <a:solidFill>
                  <a:srgbClr val="1155CC"/>
                </a:solidFill>
                <a:latin typeface="Times New Roman" panose="02020603050405020304"/>
                <a:ea typeface="Times New Roman" panose="02020603050405020304"/>
                <a:cs typeface="Times New Roman" panose="02020603050405020304"/>
                <a:sym typeface="Times New Roman" panose="02020603050405020304"/>
              </a:rPr>
              <a:t>Valeur ajoutée - Innovations - Bonnes pratiques</a:t>
            </a: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a:extLst>
              <a:ext uri="{FF2B5EF4-FFF2-40B4-BE49-F238E27FC236}">
                <a16:creationId xmlns:a16="http://schemas.microsoft.com/office/drawing/2014/main" id="{EEE5D9F0-4CD5-650C-3089-5C06915898B6}"/>
              </a:ext>
            </a:extLst>
          </p:cNvPr>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a:extLst>
              <a:ext uri="{FF2B5EF4-FFF2-40B4-BE49-F238E27FC236}">
                <a16:creationId xmlns:a16="http://schemas.microsoft.com/office/drawing/2014/main" id="{A6497F09-2751-9256-5F01-ACBDF25DB54D}"/>
              </a:ext>
            </a:extLst>
          </p:cNvPr>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a:extLst>
              <a:ext uri="{FF2B5EF4-FFF2-40B4-BE49-F238E27FC236}">
                <a16:creationId xmlns:a16="http://schemas.microsoft.com/office/drawing/2014/main" id="{CFBBB2FD-03C2-4A1D-C5F1-2530EAC95F2A}"/>
              </a:ext>
            </a:extLst>
          </p:cNvPr>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17</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a:extLst>
              <a:ext uri="{FF2B5EF4-FFF2-40B4-BE49-F238E27FC236}">
                <a16:creationId xmlns:a16="http://schemas.microsoft.com/office/drawing/2014/main" id="{EC31BDBE-70FD-E52E-510B-3B7253292814}"/>
              </a:ext>
            </a:extLst>
          </p:cNvPr>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sp>
        <p:nvSpPr>
          <p:cNvPr id="181" name="Google Shape;181;g3aabd3d1b2d_0_290">
            <a:extLst>
              <a:ext uri="{FF2B5EF4-FFF2-40B4-BE49-F238E27FC236}">
                <a16:creationId xmlns:a16="http://schemas.microsoft.com/office/drawing/2014/main" id="{639ED2C2-CB6A-24CA-0620-3B6E2E63BDAD}"/>
              </a:ext>
            </a:extLst>
          </p:cNvPr>
          <p:cNvSpPr/>
          <p:nvPr/>
        </p:nvSpPr>
        <p:spPr>
          <a:xfrm>
            <a:off x="458600" y="729206"/>
            <a:ext cx="3473320" cy="6013309"/>
          </a:xfrm>
          <a:prstGeom prst="rect">
            <a:avLst/>
          </a:prstGeom>
          <a:solidFill>
            <a:schemeClr val="lt2"/>
          </a:solidFill>
          <a:ln w="9800" cap="flat" cmpd="sng">
            <a:solidFill>
              <a:schemeClr val="dk2"/>
            </a:solidFill>
            <a:prstDash val="solid"/>
            <a:round/>
            <a:headEnd type="none" w="sm" len="sm"/>
            <a:tailEnd type="none" w="sm" len="sm"/>
          </a:ln>
        </p:spPr>
        <p:txBody>
          <a:bodyPr spcFirstLastPara="1" wrap="square" lIns="94100" tIns="94100" rIns="94100" bIns="94100" anchor="ctr" anchorCtr="0">
            <a:noAutofit/>
          </a:bodyPr>
          <a:lstStyle/>
          <a:p>
            <a:pPr marL="0" lvl="0" indent="0" algn="l" rtl="0">
              <a:spcBef>
                <a:spcPts val="0"/>
              </a:spcBef>
              <a:spcAft>
                <a:spcPts val="0"/>
              </a:spcAft>
              <a:buNone/>
            </a:pPr>
            <a:r>
              <a:rPr lang="fr-FR" altLang="en-US" sz="1600" b="1" dirty="0">
                <a:latin typeface="Calibri" panose="020F0502020204030204" charset="0"/>
                <a:cs typeface="Calibri" panose="020F0502020204030204" charset="0"/>
                <a:sym typeface="+mn-ea"/>
              </a:rPr>
              <a:t>Financement domestique </a:t>
            </a:r>
          </a:p>
          <a:p>
            <a:pPr marL="0" lvl="0" indent="0" algn="l" rtl="0">
              <a:spcBef>
                <a:spcPts val="0"/>
              </a:spcBef>
              <a:spcAft>
                <a:spcPts val="0"/>
              </a:spcAft>
              <a:buNone/>
            </a:pPr>
            <a:endParaRPr lang="fr-FR" altLang="en-US" sz="1600" b="1" dirty="0">
              <a:latin typeface="Calibri" panose="020F0502020204030204" charset="0"/>
              <a:cs typeface="Calibri" panose="020F0502020204030204" charset="0"/>
              <a:sym typeface="+mn-ea"/>
            </a:endParaRPr>
          </a:p>
          <a:p>
            <a:pPr marL="285750" lvl="0" indent="-285750" algn="l" rtl="0">
              <a:spcBef>
                <a:spcPts val="0"/>
              </a:spcBef>
              <a:spcAft>
                <a:spcPts val="0"/>
              </a:spcAft>
              <a:buFont typeface="Arial" panose="020B0604020202020204" pitchFamily="34" charset="0"/>
              <a:buChar char="•"/>
            </a:pPr>
            <a:r>
              <a:rPr lang="fr-FR" altLang="en-US" sz="1600" i="1" dirty="0">
                <a:latin typeface="Calibri" panose="020F0502020204030204" charset="0"/>
                <a:cs typeface="Calibri" panose="020F0502020204030204" charset="0"/>
                <a:sym typeface="+mn-ea"/>
              </a:rPr>
              <a:t>L’implémentation de l’application Gestion de la Trésorerie des ZS avec formation des AG des BCZ dotation en matériel des Provinces du Haut-Katanga, du Kasaï-Oriental et de la Tshopo</a:t>
            </a:r>
          </a:p>
          <a:p>
            <a:pPr marL="285750" lvl="0" indent="-285750" algn="l" rtl="0">
              <a:spcBef>
                <a:spcPts val="0"/>
              </a:spcBef>
              <a:spcAft>
                <a:spcPts val="0"/>
              </a:spcAft>
              <a:buFont typeface="Arial" panose="020B0604020202020204" pitchFamily="34" charset="0"/>
              <a:buChar char="•"/>
            </a:pPr>
            <a:endParaRPr lang="fr-FR" altLang="en-US" sz="1600" i="1" dirty="0">
              <a:latin typeface="Calibri" panose="020F0502020204030204" charset="0"/>
              <a:cs typeface="Calibri" panose="020F0502020204030204" charset="0"/>
              <a:sym typeface="+mn-ea"/>
            </a:endParaRPr>
          </a:p>
          <a:p>
            <a:pPr marL="285750" lvl="0" indent="-285750" algn="l" rtl="0">
              <a:spcBef>
                <a:spcPts val="0"/>
              </a:spcBef>
              <a:spcAft>
                <a:spcPts val="0"/>
              </a:spcAft>
              <a:buFont typeface="Arial" panose="020B0604020202020204" pitchFamily="34" charset="0"/>
              <a:buChar char="•"/>
            </a:pPr>
            <a:r>
              <a:rPr lang="fr-FR" altLang="en-US" sz="1600" i="1" dirty="0">
                <a:latin typeface="Calibri" panose="020F0502020204030204" charset="0"/>
                <a:cs typeface="Calibri" panose="020F0502020204030204" charset="0"/>
                <a:sym typeface="+mn-ea"/>
              </a:rPr>
              <a:t>Renforcement des capacités des REPACAV provinciaux en élaboration, exécution et suivi budgétaires (Provinces du Haut-Katanga, du Kasaï-Oriental et de la Tshopo)</a:t>
            </a:r>
          </a:p>
          <a:p>
            <a:pPr marL="285750" lvl="0" indent="-285750" algn="l" rtl="0">
              <a:spcBef>
                <a:spcPts val="0"/>
              </a:spcBef>
              <a:spcAft>
                <a:spcPts val="0"/>
              </a:spcAft>
              <a:buFont typeface="Arial" panose="020B0604020202020204" pitchFamily="34" charset="0"/>
              <a:buChar char="•"/>
            </a:pPr>
            <a:endParaRPr lang="fr-FR" altLang="en-US" sz="1600" i="1" dirty="0">
              <a:latin typeface="Calibri" panose="020F0502020204030204" charset="0"/>
              <a:cs typeface="Calibri" panose="020F0502020204030204" charset="0"/>
              <a:sym typeface="+mn-ea"/>
            </a:endParaRPr>
          </a:p>
          <a:p>
            <a:pPr marL="285750" lvl="0" indent="-285750" algn="l" rtl="0">
              <a:spcBef>
                <a:spcPts val="0"/>
              </a:spcBef>
              <a:spcAft>
                <a:spcPts val="0"/>
              </a:spcAft>
              <a:buFont typeface="Arial" panose="020B0604020202020204" pitchFamily="34" charset="0"/>
              <a:buChar char="•"/>
            </a:pPr>
            <a:r>
              <a:rPr lang="fr-FR" altLang="en-US" sz="1600" i="1" dirty="0">
                <a:latin typeface="Calibri" panose="020F0502020204030204" charset="0"/>
                <a:cs typeface="Calibri" panose="020F0502020204030204" charset="0"/>
                <a:sym typeface="+mn-ea"/>
              </a:rPr>
              <a:t>Formation en suivi des flux des financements de la vaccination avec utilisation de l’outil RMET et le Dashboard du financement de la vaccination avec dotation des matériels informatiques aux trois DPS</a:t>
            </a:r>
            <a:endParaRPr lang="fr-FR" sz="1600" i="1" dirty="0">
              <a:latin typeface="Calibri" panose="020F0502020204030204" charset="0"/>
              <a:cs typeface="Calibri" panose="020F0502020204030204" charset="0"/>
            </a:endParaRPr>
          </a:p>
        </p:txBody>
      </p:sp>
      <p:sp>
        <p:nvSpPr>
          <p:cNvPr id="2" name="Google Shape;181;g3aabd3d1b2d_0_290">
            <a:extLst>
              <a:ext uri="{FF2B5EF4-FFF2-40B4-BE49-F238E27FC236}">
                <a16:creationId xmlns:a16="http://schemas.microsoft.com/office/drawing/2014/main" id="{254DDF0E-9141-055B-BCCC-905A34449723}"/>
              </a:ext>
            </a:extLst>
          </p:cNvPr>
          <p:cNvSpPr/>
          <p:nvPr/>
        </p:nvSpPr>
        <p:spPr>
          <a:xfrm>
            <a:off x="4525156" y="729205"/>
            <a:ext cx="3215478" cy="6013307"/>
          </a:xfrm>
          <a:prstGeom prst="rect">
            <a:avLst/>
          </a:prstGeom>
          <a:solidFill>
            <a:schemeClr val="lt2"/>
          </a:solidFill>
          <a:ln w="9800" cap="flat" cmpd="sng">
            <a:solidFill>
              <a:schemeClr val="dk2"/>
            </a:solidFill>
            <a:prstDash val="solid"/>
            <a:round/>
            <a:headEnd type="none" w="sm" len="sm"/>
            <a:tailEnd type="none" w="sm" len="sm"/>
          </a:ln>
        </p:spPr>
        <p:txBody>
          <a:bodyPr spcFirstLastPara="1" wrap="square" lIns="94100" tIns="94100" rIns="94100" bIns="94100" anchor="ctr" anchorCtr="0">
            <a:noAutofit/>
          </a:bodyPr>
          <a:lstStyle/>
          <a:p>
            <a:pPr marL="0" lvl="0" indent="0" algn="l" rtl="0">
              <a:spcBef>
                <a:spcPts val="0"/>
              </a:spcBef>
              <a:spcAft>
                <a:spcPts val="0"/>
              </a:spcAft>
              <a:buNone/>
            </a:pPr>
            <a:endParaRPr lang="fr-FR" altLang="en-US" sz="1400" dirty="0">
              <a:latin typeface="Calibri" panose="020F0502020204030204" charset="0"/>
              <a:cs typeface="Calibri" panose="020F0502020204030204" charset="0"/>
              <a:sym typeface="+mn-ea"/>
            </a:endParaRPr>
          </a:p>
          <a:p>
            <a:r>
              <a:rPr lang="fr-FR" sz="1400" b="1" dirty="0">
                <a:latin typeface="Calibri" panose="020F0502020204030204" charset="0"/>
                <a:cs typeface="Calibri" panose="020F0502020204030204" charset="0"/>
              </a:rPr>
              <a:t>MoU provinciaux (pour également plus de qualité et d’efficacité, transparence, et  lors de la mise en œuvre du MoU)</a:t>
            </a:r>
          </a:p>
          <a:p>
            <a:endParaRPr lang="fr-FR" sz="1400" b="1" dirty="0">
              <a:latin typeface="Calibri" panose="020F0502020204030204" charset="0"/>
              <a:cs typeface="Calibri" panose="020F0502020204030204" charset="0"/>
            </a:endParaRPr>
          </a:p>
          <a:p>
            <a:pPr marL="285750" indent="-285750">
              <a:buFont typeface="Arial" panose="020B0604020202020204" pitchFamily="34" charset="0"/>
              <a:buChar char="•"/>
            </a:pPr>
            <a:r>
              <a:rPr lang="fr-FR" sz="1600" i="1" dirty="0">
                <a:latin typeface="Calibri" panose="020F0502020204030204" charset="0"/>
                <a:cs typeface="Calibri" panose="020F0502020204030204" charset="0"/>
              </a:rPr>
              <a:t>Dotation et formation des financiers de la DPS en logiciel comptable Tom2Pro et matériels informatiques</a:t>
            </a:r>
          </a:p>
          <a:p>
            <a:pPr marL="285750" indent="-285750">
              <a:buFont typeface="Arial" panose="020B0604020202020204" pitchFamily="34" charset="0"/>
              <a:buChar char="•"/>
            </a:pPr>
            <a:r>
              <a:rPr lang="fr-FR" sz="1600" i="1" dirty="0">
                <a:latin typeface="Calibri" panose="020F0502020204030204" charset="0"/>
                <a:cs typeface="Calibri" panose="020F0502020204030204" charset="0"/>
              </a:rPr>
              <a:t>La formation des financiers de la DPS Haut-Katanga sur le système comptable OHADA</a:t>
            </a:r>
          </a:p>
          <a:p>
            <a:pPr marL="285750" indent="-285750">
              <a:buFont typeface="Arial" panose="020B0604020202020204" pitchFamily="34" charset="0"/>
              <a:buChar char="•"/>
            </a:pPr>
            <a:r>
              <a:rPr lang="fr-FR" sz="1600" i="1" dirty="0">
                <a:latin typeface="Calibri" panose="020F0502020204030204" charset="0"/>
                <a:cs typeface="Calibri" panose="020F0502020204030204" charset="0"/>
              </a:rPr>
              <a:t>Le renforcement des capacités des cadres de la DPS Haut-Katanga sur la passation des marchés publics, en archivages électroniques et en papier, en gestion des avances et justification des fonds</a:t>
            </a:r>
          </a:p>
          <a:p>
            <a:pPr marL="285750" indent="-285750">
              <a:buFont typeface="Arial" panose="020B0604020202020204" pitchFamily="34" charset="0"/>
              <a:buChar char="•"/>
            </a:pPr>
            <a:r>
              <a:rPr lang="fr-FR" sz="1600" i="1" dirty="0">
                <a:latin typeface="Calibri" panose="020F0502020204030204" charset="0"/>
                <a:cs typeface="Calibri" panose="020F0502020204030204" charset="0"/>
              </a:rPr>
              <a:t>Forte implication des APA et des OSC dans le processus MoU</a:t>
            </a:r>
          </a:p>
          <a:p>
            <a:pPr marL="285750" indent="-285750">
              <a:buFont typeface="Arial" panose="020B0604020202020204" pitchFamily="34" charset="0"/>
              <a:buChar char="•"/>
            </a:pPr>
            <a:r>
              <a:rPr lang="fr-FR" sz="1600" i="1" dirty="0">
                <a:latin typeface="Calibri" panose="020F0502020204030204" charset="0"/>
                <a:cs typeface="Calibri" panose="020F0502020204030204" charset="0"/>
              </a:rPr>
              <a:t>La volonté politique dans la mobilisation et le décaissement des ressources domestiques</a:t>
            </a:r>
          </a:p>
          <a:p>
            <a:pPr marL="285750" indent="-285750">
              <a:buFont typeface="Arial" panose="020B0604020202020204" pitchFamily="34" charset="0"/>
              <a:buChar char="•"/>
            </a:pPr>
            <a:r>
              <a:rPr lang="fr-FR" sz="1600" i="1" dirty="0">
                <a:latin typeface="Calibri" panose="020F0502020204030204" charset="0"/>
                <a:cs typeface="Calibri" panose="020F0502020204030204" charset="0"/>
              </a:rPr>
              <a:t>Forte coordination du processus MoU par la direction PEV</a:t>
            </a:r>
          </a:p>
          <a:p>
            <a:pPr marL="800100" lvl="1" indent="-342900">
              <a:buFont typeface="Arial" panose="020B0604020202020204" pitchFamily="34" charset="0"/>
              <a:buChar char="•"/>
            </a:pPr>
            <a:endParaRPr lang="fr-FR" sz="1400" i="1" dirty="0">
              <a:latin typeface="Calibri" panose="020F0502020204030204" charset="0"/>
              <a:cs typeface="Calibri" panose="020F0502020204030204" charset="0"/>
            </a:endParaRPr>
          </a:p>
        </p:txBody>
      </p:sp>
      <p:sp>
        <p:nvSpPr>
          <p:cNvPr id="3" name="Google Shape;181;g3aabd3d1b2d_0_290">
            <a:extLst>
              <a:ext uri="{FF2B5EF4-FFF2-40B4-BE49-F238E27FC236}">
                <a16:creationId xmlns:a16="http://schemas.microsoft.com/office/drawing/2014/main" id="{D9BE4133-0310-9500-011E-5AA3E871C6ED}"/>
              </a:ext>
            </a:extLst>
          </p:cNvPr>
          <p:cNvSpPr/>
          <p:nvPr/>
        </p:nvSpPr>
        <p:spPr>
          <a:xfrm>
            <a:off x="8129016" y="729205"/>
            <a:ext cx="3904487" cy="5948437"/>
          </a:xfrm>
          <a:prstGeom prst="rect">
            <a:avLst/>
          </a:prstGeom>
          <a:solidFill>
            <a:schemeClr val="lt2"/>
          </a:solidFill>
          <a:ln w="9800" cap="flat" cmpd="sng">
            <a:solidFill>
              <a:schemeClr val="dk2"/>
            </a:solidFill>
            <a:prstDash val="solid"/>
            <a:round/>
            <a:headEnd type="none" w="sm" len="sm"/>
            <a:tailEnd type="none" w="sm" len="sm"/>
          </a:ln>
        </p:spPr>
        <p:txBody>
          <a:bodyPr spcFirstLastPara="1" wrap="square" lIns="94100" tIns="94100" rIns="94100" bIns="94100" anchor="ctr" anchorCtr="0">
            <a:noAutofit/>
          </a:bodyPr>
          <a:lstStyle/>
          <a:p>
            <a:pPr algn="just">
              <a:lnSpc>
                <a:spcPct val="107000"/>
              </a:lnSpc>
              <a:spcAft>
                <a:spcPts val="800"/>
              </a:spcAft>
            </a:pPr>
            <a:r>
              <a:rPr lang="fr-FR" sz="1600" b="1" kern="100" dirty="0">
                <a:ea typeface="Aptos" panose="020B0004020202020204" pitchFamily="34" charset="0"/>
                <a:cs typeface="Times New Roman" panose="02020603050405020304" pitchFamily="18" charset="0"/>
              </a:rPr>
              <a:t>DIGIALISATION</a:t>
            </a:r>
          </a:p>
          <a:p>
            <a:pPr marL="342900" indent="-342900" algn="just">
              <a:lnSpc>
                <a:spcPct val="107000"/>
              </a:lnSpc>
              <a:spcAft>
                <a:spcPts val="800"/>
              </a:spcAft>
              <a:buFont typeface="Arial" panose="020B0604020202020204" pitchFamily="34" charset="0"/>
              <a:buChar char="•"/>
            </a:pPr>
            <a:r>
              <a:rPr lang="fr-FR" sz="1600" i="1" kern="100" dirty="0">
                <a:ea typeface="Aptos" panose="020B0004020202020204" pitchFamily="34" charset="0"/>
                <a:cs typeface="Times New Roman" panose="02020603050405020304" pitchFamily="18" charset="0"/>
              </a:rPr>
              <a:t>La Rationalisation du flux d'informations et la promotion d'un environnement collaboratif améliorent la coordination des activités de digitalisation</a:t>
            </a:r>
          </a:p>
          <a:p>
            <a:pPr marL="342900" indent="-342900" algn="just">
              <a:lnSpc>
                <a:spcPct val="107000"/>
              </a:lnSpc>
              <a:spcAft>
                <a:spcPts val="800"/>
              </a:spcAft>
              <a:buFont typeface="Arial" panose="020B0604020202020204" pitchFamily="34" charset="0"/>
              <a:buChar char="•"/>
            </a:pPr>
            <a:r>
              <a:rPr lang="fr-FR" sz="1600" i="1" kern="100" dirty="0">
                <a:ea typeface="Aptos" panose="020B0004020202020204" pitchFamily="34" charset="0"/>
                <a:cs typeface="Times New Roman" panose="02020603050405020304" pitchFamily="18" charset="0"/>
              </a:rPr>
              <a:t>Garantir la disponibilité d'équipements et d'une infrastructure solide, y compris une connexion internet fiable assure le fonctionnement adéquat des outils numériques.</a:t>
            </a:r>
          </a:p>
          <a:p>
            <a:pPr marL="342900" indent="-342900" algn="just">
              <a:lnSpc>
                <a:spcPct val="107000"/>
              </a:lnSpc>
              <a:spcAft>
                <a:spcPts val="800"/>
              </a:spcAft>
              <a:buFont typeface="Arial" panose="020B0604020202020204" pitchFamily="34" charset="0"/>
              <a:buChar char="•"/>
            </a:pPr>
            <a:r>
              <a:rPr lang="fr-FR" sz="1600" i="1" kern="100" dirty="0">
                <a:ea typeface="Aptos" panose="020B0004020202020204" pitchFamily="34" charset="0"/>
                <a:cs typeface="Times New Roman" panose="02020603050405020304" pitchFamily="18" charset="0"/>
              </a:rPr>
              <a:t>L'implication des autorités provinciales permet une bonne appropriation de l'activité. </a:t>
            </a:r>
          </a:p>
          <a:p>
            <a:pPr marL="342900" indent="-342900" algn="just">
              <a:lnSpc>
                <a:spcPct val="107000"/>
              </a:lnSpc>
              <a:spcAft>
                <a:spcPts val="800"/>
              </a:spcAft>
              <a:buFont typeface="Arial" panose="020B0604020202020204" pitchFamily="34" charset="0"/>
              <a:buChar char="•"/>
            </a:pPr>
            <a:r>
              <a:rPr lang="fr-FR" sz="1600" i="1" kern="100" dirty="0">
                <a:ea typeface="Aptos" panose="020B0004020202020204" pitchFamily="34" charset="0"/>
                <a:cs typeface="Times New Roman" panose="02020603050405020304" pitchFamily="18" charset="0"/>
              </a:rPr>
              <a:t>La sélection des </a:t>
            </a:r>
            <a:r>
              <a:rPr lang="fr-FR" sz="1600" i="1" kern="100" dirty="0" err="1">
                <a:ea typeface="Aptos" panose="020B0004020202020204" pitchFamily="34" charset="0"/>
                <a:cs typeface="Times New Roman" panose="02020603050405020304" pitchFamily="18" charset="0"/>
              </a:rPr>
              <a:t>Réco</a:t>
            </a:r>
            <a:r>
              <a:rPr lang="fr-FR" sz="1600" i="1" kern="100" dirty="0">
                <a:ea typeface="Aptos" panose="020B0004020202020204" pitchFamily="34" charset="0"/>
                <a:cs typeface="Times New Roman" panose="02020603050405020304" pitchFamily="18" charset="0"/>
              </a:rPr>
              <a:t> devrait tenir en compte de critères spécifiques, notamment d'une certaine culture numérique, afin de faciliter l'adoption rapide des outils numériques et d'assurer une mise en œuvre efficace de la campagne.</a:t>
            </a:r>
            <a:endParaRPr lang="en-US" altLang="en-US" sz="1600" i="1" dirty="0">
              <a:ea typeface="Times New Roman" panose="02020603050405020304"/>
              <a:cs typeface="Times New Roman" panose="02020603050405020304"/>
              <a:sym typeface="Times New Roman" panose="02020603050405020304"/>
            </a:endParaRPr>
          </a:p>
        </p:txBody>
      </p:sp>
    </p:spTree>
    <p:extLst>
      <p:ext uri="{BB962C8B-B14F-4D97-AF65-F5344CB8AC3E}">
        <p14:creationId xmlns:p14="http://schemas.microsoft.com/office/powerpoint/2010/main" val="9858597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CCC6BFD0-8159-B836-96FB-B1EBF2936F7A}"/>
            </a:ext>
          </a:extLst>
        </p:cNvPr>
        <p:cNvGrpSpPr/>
        <p:nvPr/>
      </p:nvGrpSpPr>
      <p:grpSpPr>
        <a:xfrm>
          <a:off x="0" y="0"/>
          <a:ext cx="0" cy="0"/>
          <a:chOff x="0" y="0"/>
          <a:chExt cx="0" cy="0"/>
        </a:xfrm>
      </p:grpSpPr>
      <p:sp>
        <p:nvSpPr>
          <p:cNvPr id="176" name="Google Shape;176;g3aabd3d1b2d_0_290">
            <a:extLst>
              <a:ext uri="{FF2B5EF4-FFF2-40B4-BE49-F238E27FC236}">
                <a16:creationId xmlns:a16="http://schemas.microsoft.com/office/drawing/2014/main" id="{A746A815-C3BC-E9EE-8D3D-1747E66FBBD4}"/>
              </a:ext>
            </a:extLst>
          </p:cNvPr>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fr-FR" sz="2700">
                <a:solidFill>
                  <a:srgbClr val="1155CC"/>
                </a:solidFill>
                <a:latin typeface="Times New Roman" panose="02020603050405020304"/>
                <a:ea typeface="Times New Roman" panose="02020603050405020304"/>
                <a:cs typeface="Times New Roman" panose="02020603050405020304"/>
                <a:sym typeface="Times New Roman" panose="02020603050405020304"/>
              </a:rPr>
              <a:t>Valeur ajoutée - Innovations - Bonnes pratiques</a:t>
            </a: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a:extLst>
              <a:ext uri="{FF2B5EF4-FFF2-40B4-BE49-F238E27FC236}">
                <a16:creationId xmlns:a16="http://schemas.microsoft.com/office/drawing/2014/main" id="{49CE63EE-1673-7B34-2177-C544CE5D83C6}"/>
              </a:ext>
            </a:extLst>
          </p:cNvPr>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a:extLst>
              <a:ext uri="{FF2B5EF4-FFF2-40B4-BE49-F238E27FC236}">
                <a16:creationId xmlns:a16="http://schemas.microsoft.com/office/drawing/2014/main" id="{BCD00297-D769-B1D1-6C3C-3BB2182BB4F7}"/>
              </a:ext>
            </a:extLst>
          </p:cNvPr>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a:extLst>
              <a:ext uri="{FF2B5EF4-FFF2-40B4-BE49-F238E27FC236}">
                <a16:creationId xmlns:a16="http://schemas.microsoft.com/office/drawing/2014/main" id="{8D9C6E99-9E57-C9C1-E503-C89DDD726843}"/>
              </a:ext>
            </a:extLst>
          </p:cNvPr>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18</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a:extLst>
              <a:ext uri="{FF2B5EF4-FFF2-40B4-BE49-F238E27FC236}">
                <a16:creationId xmlns:a16="http://schemas.microsoft.com/office/drawing/2014/main" id="{7A511508-4CC1-2835-1ADD-8E8AE1A23782}"/>
              </a:ext>
            </a:extLst>
          </p:cNvPr>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sp>
        <p:nvSpPr>
          <p:cNvPr id="181" name="Google Shape;181;g3aabd3d1b2d_0_290">
            <a:extLst>
              <a:ext uri="{FF2B5EF4-FFF2-40B4-BE49-F238E27FC236}">
                <a16:creationId xmlns:a16="http://schemas.microsoft.com/office/drawing/2014/main" id="{9CDA0C1E-6121-1066-50B2-C21F0C7BB239}"/>
              </a:ext>
            </a:extLst>
          </p:cNvPr>
          <p:cNvSpPr/>
          <p:nvPr/>
        </p:nvSpPr>
        <p:spPr>
          <a:xfrm>
            <a:off x="458600" y="927441"/>
            <a:ext cx="11356500" cy="5161159"/>
          </a:xfrm>
          <a:prstGeom prst="rect">
            <a:avLst/>
          </a:prstGeom>
          <a:solidFill>
            <a:schemeClr val="lt2"/>
          </a:solidFill>
          <a:ln w="9800" cap="flat" cmpd="sng">
            <a:solidFill>
              <a:schemeClr val="dk2"/>
            </a:solidFill>
            <a:prstDash val="solid"/>
            <a:round/>
            <a:headEnd type="none" w="sm" len="sm"/>
            <a:tailEnd type="none" w="sm" len="sm"/>
          </a:ln>
        </p:spPr>
        <p:txBody>
          <a:bodyPr spcFirstLastPara="1" wrap="square" lIns="94100" tIns="94100" rIns="94100" bIns="94100" anchor="ctr" anchorCtr="0">
            <a:noAutofit/>
          </a:bodyPr>
          <a:lstStyle/>
          <a:p>
            <a:pPr marL="342900" indent="-342900" algn="just">
              <a:lnSpc>
                <a:spcPct val="107000"/>
              </a:lnSpc>
              <a:spcAft>
                <a:spcPts val="800"/>
              </a:spcAft>
              <a:buFont typeface="Arial" panose="020B0604020202020204" pitchFamily="34" charset="0"/>
              <a:buChar char="•"/>
            </a:pPr>
            <a:endParaRPr lang="fr-FR" sz="2000" kern="100" dirty="0">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pPr>
            <a:r>
              <a:rPr lang="fr-FR" sz="2000" b="1" kern="100" dirty="0">
                <a:latin typeface="Times New Roman" panose="02020603050405020304" pitchFamily="18" charset="0"/>
                <a:ea typeface="Aptos" panose="020B0004020202020204" pitchFamily="34" charset="0"/>
                <a:cs typeface="Times New Roman" panose="02020603050405020304" pitchFamily="18" charset="0"/>
              </a:rPr>
              <a:t>VAP</a:t>
            </a:r>
          </a:p>
          <a:p>
            <a:pPr marL="342900" indent="-342900" algn="just">
              <a:lnSpc>
                <a:spcPct val="107000"/>
              </a:lnSpc>
              <a:spcAft>
                <a:spcPts val="800"/>
              </a:spcAft>
              <a:buFont typeface="Arial" panose="020B0604020202020204" pitchFamily="34" charset="0"/>
              <a:buChar char="•"/>
            </a:pPr>
            <a:r>
              <a:rPr lang="fr-FR" sz="2000" kern="100" dirty="0">
                <a:latin typeface="Times New Roman" panose="02020603050405020304" pitchFamily="18" charset="0"/>
                <a:ea typeface="Aptos" panose="020B0004020202020204" pitchFamily="34" charset="0"/>
                <a:cs typeface="Times New Roman" panose="02020603050405020304" pitchFamily="18" charset="0"/>
              </a:rPr>
              <a:t>L’appui à la constitution d’un GTT VAP réunissant plusieurs programmes a permis une approche sur différents aspects de la lutte contre le paludisme</a:t>
            </a:r>
          </a:p>
          <a:p>
            <a:pPr marL="342900" indent="-342900" algn="just">
              <a:lnSpc>
                <a:spcPct val="107000"/>
              </a:lnSpc>
              <a:spcAft>
                <a:spcPts val="800"/>
              </a:spcAft>
              <a:buFont typeface="Arial" panose="020B0604020202020204" pitchFamily="34" charset="0"/>
              <a:buChar char="•"/>
            </a:pPr>
            <a:r>
              <a:rPr lang="fr-FR" sz="2000" kern="100" dirty="0">
                <a:latin typeface="Times New Roman" panose="02020603050405020304" pitchFamily="18" charset="0"/>
                <a:ea typeface="Aptos" panose="020B0004020202020204" pitchFamily="34" charset="0"/>
                <a:cs typeface="Times New Roman" panose="02020603050405020304" pitchFamily="18" charset="0"/>
              </a:rPr>
              <a:t>L’appui à la tenue des réunions d’analyse des données sous le leadership total de la DPS / antennes PEV a constitué une opportunité pour l’analyse de toutes les données PEV et contribuer à une appropriation des résultats et du processus au niveau de la province / antenne et ZS</a:t>
            </a:r>
          </a:p>
          <a:p>
            <a:pPr marL="342900" indent="-342900" algn="just">
              <a:lnSpc>
                <a:spcPct val="107000"/>
              </a:lnSpc>
              <a:spcAft>
                <a:spcPts val="800"/>
              </a:spcAft>
              <a:buFont typeface="Arial" panose="020B0604020202020204" pitchFamily="34" charset="0"/>
              <a:buChar char="•"/>
            </a:pPr>
            <a:r>
              <a:rPr lang="fr-FR" sz="2000" kern="100" dirty="0">
                <a:latin typeface="Times New Roman" panose="02020603050405020304" pitchFamily="18" charset="0"/>
                <a:ea typeface="Aptos" panose="020B0004020202020204" pitchFamily="34" charset="0"/>
                <a:cs typeface="Times New Roman" panose="02020603050405020304" pitchFamily="18" charset="0"/>
              </a:rPr>
              <a:t>L’appui au niveau DPS / antenne PEV pour les supervisions à permis d’assurer que le niveau intermédiaire soit présent sur terrain lors de la descente du niveau central vers les ZS / AS / ESS</a:t>
            </a:r>
          </a:p>
          <a:p>
            <a:pPr marL="342900" indent="-342900" algn="just">
              <a:lnSpc>
                <a:spcPct val="107000"/>
              </a:lnSpc>
              <a:spcAft>
                <a:spcPts val="800"/>
              </a:spcAft>
              <a:buFont typeface="Arial" panose="020B0604020202020204" pitchFamily="34" charset="0"/>
              <a:buChar char="•"/>
            </a:pPr>
            <a:r>
              <a:rPr lang="fr-FR" sz="2000" kern="100" dirty="0">
                <a:latin typeface="Times New Roman" panose="02020603050405020304" pitchFamily="18" charset="0"/>
                <a:ea typeface="Aptos" panose="020B0004020202020204" pitchFamily="34" charset="0"/>
                <a:cs typeface="Times New Roman" panose="02020603050405020304" pitchFamily="18" charset="0"/>
              </a:rPr>
              <a:t>La supervision conjointe des séances de vaccination a permis d’identifier des problèmes et difficultés en rapport avec la mise en œuvre effective de l’échéancier et du processus des recherche et récupération des perdus de vus</a:t>
            </a:r>
          </a:p>
          <a:p>
            <a:pPr marL="342900" indent="-342900" algn="just">
              <a:lnSpc>
                <a:spcPct val="107000"/>
              </a:lnSpc>
              <a:spcAft>
                <a:spcPts val="800"/>
              </a:spcAft>
              <a:buFont typeface="Arial" panose="020B0604020202020204" pitchFamily="34" charset="0"/>
              <a:buChar char="•"/>
            </a:pPr>
            <a:r>
              <a:rPr lang="fr-FR" sz="2000" kern="100" dirty="0">
                <a:latin typeface="Times New Roman" panose="02020603050405020304" pitchFamily="18" charset="0"/>
                <a:ea typeface="Aptos" panose="020B0004020202020204" pitchFamily="34" charset="0"/>
                <a:cs typeface="Times New Roman" panose="02020603050405020304" pitchFamily="18" charset="0"/>
              </a:rPr>
              <a:t>L’analyse des données par les producteurs direct (ZS, antenne, DPS) et organisation des réunions par la DPS contribue à une appropriation </a:t>
            </a:r>
          </a:p>
          <a:p>
            <a:pPr marL="0" lvl="0" indent="0" algn="ctr" rtl="0">
              <a:spcBef>
                <a:spcPts val="0"/>
              </a:spcBef>
              <a:spcAft>
                <a:spcPts val="0"/>
              </a:spcAft>
              <a:buNone/>
            </a:pPr>
            <a:endParaRPr lang="fr-FR" altLang="en-US" sz="2000" dirty="0"/>
          </a:p>
          <a:p>
            <a:pPr marL="0" lvl="0" indent="0" algn="ctr" rtl="0">
              <a:spcBef>
                <a:spcPts val="0"/>
              </a:spcBef>
              <a:spcAft>
                <a:spcPts val="0"/>
              </a:spcAft>
              <a:buNone/>
            </a:pPr>
            <a:endParaRPr lang="en-US" altLang="en-US" sz="2000" dirty="0">
              <a:latin typeface="Times New Roman" panose="02020603050405020304"/>
              <a:ea typeface="Times New Roman" panose="02020603050405020304"/>
              <a:cs typeface="Times New Roman" panose="02020603050405020304"/>
              <a:sym typeface="Times New Roman" panose="02020603050405020304"/>
            </a:endParaRPr>
          </a:p>
        </p:txBody>
      </p:sp>
    </p:spTree>
    <p:extLst>
      <p:ext uri="{BB962C8B-B14F-4D97-AF65-F5344CB8AC3E}">
        <p14:creationId xmlns:p14="http://schemas.microsoft.com/office/powerpoint/2010/main" val="39605609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aabd3d1b2d_0_290"/>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Défis rencontrés</a:t>
            </a: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19</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sp>
        <p:nvSpPr>
          <p:cNvPr id="181" name="Google Shape;181;g3aabd3d1b2d_0_290"/>
          <p:cNvSpPr/>
          <p:nvPr/>
        </p:nvSpPr>
        <p:spPr>
          <a:xfrm>
            <a:off x="235500" y="777242"/>
            <a:ext cx="3994528" cy="6080749"/>
          </a:xfrm>
          <a:prstGeom prst="rect">
            <a:avLst/>
          </a:prstGeom>
          <a:solidFill>
            <a:schemeClr val="lt2"/>
          </a:solidFill>
          <a:ln w="9800" cap="flat" cmpd="sng">
            <a:solidFill>
              <a:schemeClr val="dk2"/>
            </a:solidFill>
            <a:prstDash val="solid"/>
            <a:round/>
            <a:headEnd type="none" w="sm" len="sm"/>
            <a:tailEnd type="none" w="sm" len="sm"/>
          </a:ln>
        </p:spPr>
        <p:txBody>
          <a:bodyPr spcFirstLastPara="1" wrap="square" lIns="94100" tIns="94100" rIns="94100" bIns="94100" anchor="ctr" anchorCtr="0">
            <a:noAutofit/>
          </a:bodyPr>
          <a:lstStyle/>
          <a:p>
            <a:pPr lvl="0" algn="just"/>
            <a:r>
              <a:rPr lang="fr-FR" altLang="en-US" sz="1600" b="1" dirty="0">
                <a:ea typeface="Times New Roman" panose="02020603050405020304"/>
                <a:cs typeface="Times New Roman" panose="02020603050405020304"/>
                <a:sym typeface="Times New Roman" panose="02020603050405020304"/>
              </a:rPr>
              <a:t>FINANCEMENT DOMESTIQUE ET MoU</a:t>
            </a:r>
          </a:p>
          <a:p>
            <a:pPr marL="342900" lvl="0" indent="-342900" algn="just">
              <a:buFont typeface="Arial" panose="020B0604020202020204" pitchFamily="34" charset="0"/>
              <a:buChar char="•"/>
            </a:pPr>
            <a:r>
              <a:rPr lang="fr-FR" altLang="en-US" sz="1600" dirty="0">
                <a:ea typeface="Times New Roman" panose="02020603050405020304"/>
                <a:cs typeface="Times New Roman" panose="02020603050405020304"/>
                <a:sym typeface="Times New Roman" panose="02020603050405020304"/>
              </a:rPr>
              <a:t>Le retard dans </a:t>
            </a:r>
          </a:p>
          <a:p>
            <a:pPr marL="800100" lvl="1" indent="-342900" algn="just">
              <a:buFont typeface="Arial" panose="020B0604020202020204" pitchFamily="34" charset="0"/>
              <a:buChar char="•"/>
            </a:pPr>
            <a:r>
              <a:rPr lang="fr-FR" altLang="en-US" sz="1600" dirty="0">
                <a:ea typeface="Times New Roman" panose="02020603050405020304"/>
                <a:cs typeface="Times New Roman" panose="02020603050405020304"/>
                <a:sym typeface="Times New Roman" panose="02020603050405020304"/>
              </a:rPr>
              <a:t>l’installation officielle des institutions provinciales en 2024</a:t>
            </a:r>
          </a:p>
          <a:p>
            <a:pPr marL="800100" lvl="1" indent="-342900" algn="just">
              <a:buFont typeface="Arial" panose="020B0604020202020204" pitchFamily="34" charset="0"/>
              <a:buChar char="•"/>
            </a:pPr>
            <a:r>
              <a:rPr lang="fr-FR" altLang="en-US" sz="1600" dirty="0">
                <a:ea typeface="Times New Roman" panose="02020603050405020304"/>
                <a:cs typeface="Times New Roman" panose="02020603050405020304"/>
                <a:sym typeface="Times New Roman" panose="02020603050405020304"/>
              </a:rPr>
              <a:t>Le retard dans l’</a:t>
            </a:r>
            <a:r>
              <a:rPr lang="fr-FR" altLang="en-US" sz="1600" dirty="0" err="1">
                <a:ea typeface="Times New Roman" panose="02020603050405020304"/>
                <a:cs typeface="Times New Roman" panose="02020603050405020304"/>
                <a:sym typeface="Times New Roman" panose="02020603050405020304"/>
              </a:rPr>
              <a:t>elaboration</a:t>
            </a:r>
            <a:r>
              <a:rPr lang="fr-FR" altLang="en-US" sz="1600" dirty="0">
                <a:ea typeface="Times New Roman" panose="02020603050405020304"/>
                <a:cs typeface="Times New Roman" panose="02020603050405020304"/>
                <a:sym typeface="Times New Roman" panose="02020603050405020304"/>
              </a:rPr>
              <a:t> des PAO</a:t>
            </a:r>
          </a:p>
          <a:p>
            <a:pPr marL="800100" lvl="1" indent="-342900" algn="just">
              <a:buFont typeface="Arial" panose="020B0604020202020204" pitchFamily="34" charset="0"/>
              <a:buChar char="•"/>
            </a:pPr>
            <a:r>
              <a:rPr lang="fr-FR" altLang="en-US" sz="1600" dirty="0">
                <a:ea typeface="Times New Roman" panose="02020603050405020304"/>
                <a:cs typeface="Times New Roman" panose="02020603050405020304"/>
                <a:sym typeface="Times New Roman" panose="02020603050405020304"/>
              </a:rPr>
              <a:t>l’</a:t>
            </a:r>
            <a:r>
              <a:rPr lang="fr-FR" altLang="en-US" sz="1600" dirty="0" err="1">
                <a:ea typeface="Times New Roman" panose="02020603050405020304"/>
                <a:cs typeface="Times New Roman" panose="02020603050405020304"/>
                <a:sym typeface="Times New Roman" panose="02020603050405020304"/>
              </a:rPr>
              <a:t>elaboration</a:t>
            </a:r>
            <a:r>
              <a:rPr lang="fr-FR" altLang="en-US" sz="1600" dirty="0">
                <a:ea typeface="Times New Roman" panose="02020603050405020304"/>
                <a:cs typeface="Times New Roman" panose="02020603050405020304"/>
                <a:sym typeface="Times New Roman" panose="02020603050405020304"/>
              </a:rPr>
              <a:t> (DPS) et le traitement des requêtes (Gouvernements provinciaux)</a:t>
            </a:r>
          </a:p>
          <a:p>
            <a:pPr marL="342900" lvl="0" indent="-342900" algn="just">
              <a:buFont typeface="Arial" panose="020B0604020202020204" pitchFamily="34" charset="0"/>
              <a:buChar char="•"/>
            </a:pPr>
            <a:r>
              <a:rPr lang="fr-FR" altLang="en-US" sz="1600" dirty="0">
                <a:ea typeface="Times New Roman" panose="02020603050405020304"/>
                <a:cs typeface="Times New Roman" panose="02020603050405020304"/>
                <a:sym typeface="Times New Roman" panose="02020603050405020304"/>
              </a:rPr>
              <a:t>L’instabilité institutionnelle dans les trois provinces (Haut-Katanga, </a:t>
            </a:r>
            <a:r>
              <a:rPr lang="fr-FR" altLang="en-US" sz="1600" dirty="0" err="1">
                <a:ea typeface="Times New Roman" panose="02020603050405020304"/>
                <a:cs typeface="Times New Roman" panose="02020603050405020304"/>
                <a:sym typeface="Times New Roman" panose="02020603050405020304"/>
              </a:rPr>
              <a:t>Kasai-Oriental</a:t>
            </a:r>
            <a:r>
              <a:rPr lang="fr-FR" altLang="en-US" sz="1600" dirty="0">
                <a:ea typeface="Times New Roman" panose="02020603050405020304"/>
                <a:cs typeface="Times New Roman" panose="02020603050405020304"/>
                <a:sym typeface="Times New Roman" panose="02020603050405020304"/>
              </a:rPr>
              <a:t> et la </a:t>
            </a:r>
            <a:r>
              <a:rPr lang="fr-FR" altLang="en-US" sz="1600" dirty="0" err="1">
                <a:ea typeface="Times New Roman" panose="02020603050405020304"/>
                <a:cs typeface="Times New Roman" panose="02020603050405020304"/>
                <a:sym typeface="Times New Roman" panose="02020603050405020304"/>
              </a:rPr>
              <a:t>Tshopo</a:t>
            </a:r>
            <a:r>
              <a:rPr lang="fr-FR" altLang="en-US" sz="1600" dirty="0">
                <a:ea typeface="Times New Roman" panose="02020603050405020304"/>
                <a:cs typeface="Times New Roman" panose="02020603050405020304"/>
                <a:sym typeface="Times New Roman" panose="02020603050405020304"/>
              </a:rPr>
              <a:t>)</a:t>
            </a:r>
          </a:p>
          <a:p>
            <a:pPr marL="342900" lvl="0" indent="-342900" algn="just">
              <a:buFont typeface="Arial" panose="020B0604020202020204" pitchFamily="34" charset="0"/>
              <a:buChar char="•"/>
            </a:pPr>
            <a:r>
              <a:rPr lang="fr-FR" altLang="en-US" sz="1600" dirty="0">
                <a:ea typeface="Times New Roman" panose="02020603050405020304"/>
                <a:cs typeface="Times New Roman" panose="02020603050405020304"/>
                <a:sym typeface="Times New Roman" panose="02020603050405020304"/>
              </a:rPr>
              <a:t>Le chevauchement des activités ou conflit d’agendas entrainant le retard dans la mise en œuvre de certaines activités </a:t>
            </a:r>
          </a:p>
          <a:p>
            <a:pPr marL="342900" lvl="0" indent="-342900" algn="just">
              <a:buFont typeface="Arial" panose="020B0604020202020204" pitchFamily="34" charset="0"/>
              <a:buChar char="•"/>
            </a:pPr>
            <a:r>
              <a:rPr lang="fr-FR" altLang="en-US" sz="1600" dirty="0">
                <a:ea typeface="Times New Roman" panose="02020603050405020304"/>
                <a:cs typeface="Times New Roman" panose="02020603050405020304"/>
                <a:sym typeface="Times New Roman" panose="02020603050405020304"/>
              </a:rPr>
              <a:t>Globalement, faible disponibilité des données de financement de vaccination (engagements, décaissements et dépenses)</a:t>
            </a:r>
          </a:p>
          <a:p>
            <a:pPr marL="342900" lvl="0" indent="-342900" algn="just">
              <a:buFont typeface="Arial" panose="020B0604020202020204" pitchFamily="34" charset="0"/>
              <a:buChar char="•"/>
            </a:pPr>
            <a:r>
              <a:rPr lang="fr-FR" altLang="en-US" sz="1600" dirty="0">
                <a:ea typeface="Times New Roman" panose="02020603050405020304"/>
                <a:cs typeface="Times New Roman" panose="02020603050405020304"/>
                <a:sym typeface="Times New Roman" panose="02020603050405020304"/>
              </a:rPr>
              <a:t>Absence de la matrice des couts de la SNV 2025-2030</a:t>
            </a:r>
          </a:p>
          <a:p>
            <a:pPr marL="342900" lvl="0" indent="-342900" algn="just">
              <a:buFont typeface="Arial" panose="020B0604020202020204" pitchFamily="34" charset="0"/>
              <a:buChar char="•"/>
            </a:pPr>
            <a:r>
              <a:rPr lang="fr-FR" altLang="en-US" sz="1600" dirty="0">
                <a:ea typeface="Times New Roman" panose="02020603050405020304"/>
                <a:cs typeface="Times New Roman" panose="02020603050405020304"/>
                <a:sym typeface="Times New Roman" panose="02020603050405020304"/>
              </a:rPr>
              <a:t>Les récentes discussions </a:t>
            </a:r>
            <a:r>
              <a:rPr lang="fr-FR" altLang="en-US" sz="1600" dirty="0" err="1">
                <a:ea typeface="Times New Roman" panose="02020603050405020304"/>
                <a:cs typeface="Times New Roman" panose="02020603050405020304"/>
                <a:sym typeface="Times New Roman" panose="02020603050405020304"/>
              </a:rPr>
              <a:t>autourr</a:t>
            </a:r>
            <a:r>
              <a:rPr lang="fr-FR" altLang="en-US" sz="1600" dirty="0">
                <a:ea typeface="Times New Roman" panose="02020603050405020304"/>
                <a:cs typeface="Times New Roman" panose="02020603050405020304"/>
                <a:sym typeface="Times New Roman" panose="02020603050405020304"/>
              </a:rPr>
              <a:t> du modèle hybride « Contrat Unique – </a:t>
            </a:r>
            <a:r>
              <a:rPr lang="fr-FR" altLang="en-US" sz="1600" dirty="0" err="1">
                <a:ea typeface="Times New Roman" panose="02020603050405020304"/>
                <a:cs typeface="Times New Roman" panose="02020603050405020304"/>
                <a:sym typeface="Times New Roman" panose="02020603050405020304"/>
              </a:rPr>
              <a:t>MoU</a:t>
            </a:r>
            <a:r>
              <a:rPr lang="fr-FR" altLang="en-US" sz="1600" dirty="0">
                <a:ea typeface="Times New Roman" panose="02020603050405020304"/>
                <a:cs typeface="Times New Roman" panose="02020603050405020304"/>
                <a:sym typeface="Times New Roman" panose="02020603050405020304"/>
              </a:rPr>
              <a:t> » entrainent le retard dans la signature du </a:t>
            </a:r>
            <a:r>
              <a:rPr lang="fr-FR" altLang="en-US" sz="1600" dirty="0" err="1">
                <a:ea typeface="Times New Roman" panose="02020603050405020304"/>
                <a:cs typeface="Times New Roman" panose="02020603050405020304"/>
                <a:sym typeface="Times New Roman" panose="02020603050405020304"/>
              </a:rPr>
              <a:t>MoU</a:t>
            </a:r>
            <a:endParaRPr lang="fr-FR" altLang="en-US" sz="1600" dirty="0">
              <a:ea typeface="Times New Roman" panose="02020603050405020304"/>
              <a:cs typeface="Times New Roman" panose="02020603050405020304"/>
              <a:sym typeface="Times New Roman" panose="02020603050405020304"/>
            </a:endParaRPr>
          </a:p>
        </p:txBody>
      </p:sp>
      <p:sp>
        <p:nvSpPr>
          <p:cNvPr id="2" name="Google Shape;181;g3aabd3d1b2d_0_290">
            <a:extLst>
              <a:ext uri="{FF2B5EF4-FFF2-40B4-BE49-F238E27FC236}">
                <a16:creationId xmlns:a16="http://schemas.microsoft.com/office/drawing/2014/main" id="{BE20B202-5EE0-696F-EE88-C1108C22D5D4}"/>
              </a:ext>
            </a:extLst>
          </p:cNvPr>
          <p:cNvSpPr/>
          <p:nvPr/>
        </p:nvSpPr>
        <p:spPr>
          <a:xfrm>
            <a:off x="4453120" y="777244"/>
            <a:ext cx="3776480" cy="6080756"/>
          </a:xfrm>
          <a:prstGeom prst="rect">
            <a:avLst/>
          </a:prstGeom>
          <a:solidFill>
            <a:schemeClr val="lt2"/>
          </a:solidFill>
          <a:ln w="9800" cap="flat" cmpd="sng">
            <a:solidFill>
              <a:schemeClr val="dk2"/>
            </a:solidFill>
            <a:prstDash val="solid"/>
            <a:round/>
            <a:headEnd type="none" w="sm" len="sm"/>
            <a:tailEnd type="none" w="sm" len="sm"/>
          </a:ln>
        </p:spPr>
        <p:txBody>
          <a:bodyPr spcFirstLastPara="1" wrap="square" lIns="94100" tIns="94100" rIns="94100" bIns="94100" anchor="ctr" anchorCtr="0">
            <a:noAutofit/>
          </a:bodyPr>
          <a:lstStyle/>
          <a:p>
            <a:pPr lvl="0" algn="just"/>
            <a:r>
              <a:rPr lang="fr-FR" altLang="en-US" sz="1600" b="1" dirty="0">
                <a:ea typeface="Times New Roman" panose="02020603050405020304"/>
                <a:cs typeface="Times New Roman" panose="02020603050405020304"/>
                <a:sym typeface="Times New Roman" panose="02020603050405020304"/>
              </a:rPr>
              <a:t>DIGITALISATION</a:t>
            </a:r>
          </a:p>
          <a:p>
            <a:pPr marL="342900" lvl="0" indent="-342900" algn="just">
              <a:buFont typeface="Arial" panose="020B0604020202020204" pitchFamily="34" charset="0"/>
              <a:buChar char="•"/>
            </a:pPr>
            <a:r>
              <a:rPr lang="fr-FR" altLang="en-US" sz="1600" dirty="0">
                <a:ea typeface="Times New Roman" panose="02020603050405020304"/>
                <a:cs typeface="Times New Roman" panose="02020603050405020304"/>
                <a:sym typeface="Times New Roman" panose="02020603050405020304"/>
              </a:rPr>
              <a:t>Les infrastructures routières sont difficilement praticables en saison de pluie, ce qui complique les déplacements des agents et leur accès à la population. </a:t>
            </a:r>
          </a:p>
          <a:p>
            <a:pPr marL="342900" lvl="0" indent="-342900" algn="just">
              <a:buFont typeface="Arial" panose="020B0604020202020204" pitchFamily="34" charset="0"/>
              <a:buChar char="•"/>
            </a:pPr>
            <a:endParaRPr lang="fr-FR" altLang="en-US" sz="1600" dirty="0">
              <a:ea typeface="Times New Roman" panose="02020603050405020304"/>
              <a:cs typeface="Times New Roman" panose="02020603050405020304"/>
              <a:sym typeface="Times New Roman" panose="02020603050405020304"/>
            </a:endParaRPr>
          </a:p>
          <a:p>
            <a:pPr marL="342900" lvl="0" indent="-342900" algn="just">
              <a:buFont typeface="Arial" panose="020B0604020202020204" pitchFamily="34" charset="0"/>
              <a:buChar char="•"/>
            </a:pPr>
            <a:r>
              <a:rPr lang="fr-FR" altLang="en-US" sz="1600" dirty="0">
                <a:ea typeface="Times New Roman" panose="02020603050405020304"/>
                <a:cs typeface="Times New Roman" panose="02020603050405020304"/>
                <a:sym typeface="Times New Roman" panose="02020603050405020304"/>
              </a:rPr>
              <a:t>L’insécurité a causé la non mise en œuvre de la digitalisation dans certaines aires de santé</a:t>
            </a:r>
          </a:p>
          <a:p>
            <a:pPr marL="342900" lvl="0" indent="-342900" algn="just">
              <a:buFont typeface="Arial" panose="020B0604020202020204" pitchFamily="34" charset="0"/>
              <a:buChar char="•"/>
            </a:pPr>
            <a:endParaRPr lang="fr-FR" altLang="en-US" sz="1600" dirty="0">
              <a:ea typeface="Times New Roman" panose="02020603050405020304"/>
              <a:cs typeface="Times New Roman" panose="02020603050405020304"/>
              <a:sym typeface="Times New Roman" panose="02020603050405020304"/>
            </a:endParaRPr>
          </a:p>
          <a:p>
            <a:pPr marL="342900" lvl="0" indent="-342900" algn="just">
              <a:buFont typeface="Arial" panose="020B0604020202020204" pitchFamily="34" charset="0"/>
              <a:buChar char="•"/>
            </a:pPr>
            <a:r>
              <a:rPr lang="fr-FR" altLang="en-US" sz="1600" dirty="0">
                <a:ea typeface="Times New Roman" panose="02020603050405020304"/>
                <a:cs typeface="Times New Roman" panose="02020603050405020304"/>
                <a:sym typeface="Times New Roman" panose="02020603050405020304"/>
              </a:rPr>
              <a:t>L'adoption rapide de l'outil numérique a été entravée par le faible niveau de culture numérique des certains RECO, ce qui souligne l'importance de critères spécifiques pour la sélection des agents de santé. </a:t>
            </a:r>
          </a:p>
          <a:p>
            <a:pPr marL="342900" lvl="0" indent="-342900" algn="just">
              <a:buFont typeface="Arial" panose="020B0604020202020204" pitchFamily="34" charset="0"/>
              <a:buChar char="•"/>
            </a:pPr>
            <a:endParaRPr lang="fr-FR" altLang="en-US" sz="1600" dirty="0">
              <a:ea typeface="Times New Roman" panose="02020603050405020304"/>
              <a:cs typeface="Times New Roman" panose="02020603050405020304"/>
              <a:sym typeface="Times New Roman" panose="02020603050405020304"/>
            </a:endParaRPr>
          </a:p>
          <a:p>
            <a:pPr marL="342900" lvl="0" indent="-342900" algn="just">
              <a:buFont typeface="Arial" panose="020B0604020202020204" pitchFamily="34" charset="0"/>
              <a:buChar char="•"/>
            </a:pPr>
            <a:r>
              <a:rPr lang="fr-FR" altLang="en-US" sz="1600" dirty="0">
                <a:ea typeface="Times New Roman" panose="02020603050405020304"/>
                <a:cs typeface="Times New Roman" panose="02020603050405020304"/>
                <a:sym typeface="Times New Roman" panose="02020603050405020304"/>
              </a:rPr>
              <a:t>L'absence d'une couverture Internet et électrique fiable s'est révélée être un obstacle majeur à la digitalisation, ayant un impact significatif sur la synchronisation et l'utilisation des équipements. </a:t>
            </a:r>
            <a:endParaRPr lang="en-US" altLang="en-US" sz="1600" dirty="0">
              <a:ea typeface="Times New Roman" panose="02020603050405020304"/>
              <a:cs typeface="Times New Roman" panose="02020603050405020304"/>
              <a:sym typeface="Times New Roman" panose="02020603050405020304"/>
            </a:endParaRPr>
          </a:p>
        </p:txBody>
      </p:sp>
      <p:sp>
        <p:nvSpPr>
          <p:cNvPr id="3" name="Google Shape;181;g3aabd3d1b2d_0_290">
            <a:extLst>
              <a:ext uri="{FF2B5EF4-FFF2-40B4-BE49-F238E27FC236}">
                <a16:creationId xmlns:a16="http://schemas.microsoft.com/office/drawing/2014/main" id="{2D3C6F04-5BD1-D881-37E3-74285E530E64}"/>
              </a:ext>
            </a:extLst>
          </p:cNvPr>
          <p:cNvSpPr/>
          <p:nvPr/>
        </p:nvSpPr>
        <p:spPr>
          <a:xfrm>
            <a:off x="8359016" y="777242"/>
            <a:ext cx="3597484" cy="4114798"/>
          </a:xfrm>
          <a:prstGeom prst="rect">
            <a:avLst/>
          </a:prstGeom>
          <a:solidFill>
            <a:schemeClr val="lt2"/>
          </a:solidFill>
          <a:ln w="9800" cap="flat" cmpd="sng">
            <a:solidFill>
              <a:schemeClr val="dk2"/>
            </a:solidFill>
            <a:prstDash val="solid"/>
            <a:round/>
            <a:headEnd type="none" w="sm" len="sm"/>
            <a:tailEnd type="none" w="sm" len="sm"/>
          </a:ln>
        </p:spPr>
        <p:txBody>
          <a:bodyPr spcFirstLastPara="1" wrap="square" lIns="94100" tIns="94100" rIns="94100" bIns="94100" anchor="ctr" anchorCtr="0">
            <a:noAutofit/>
          </a:bodyPr>
          <a:lstStyle/>
          <a:p>
            <a:pPr marL="0" lvl="0" indent="0" algn="ctr" rtl="0">
              <a:spcBef>
                <a:spcPts val="0"/>
              </a:spcBef>
              <a:spcAft>
                <a:spcPts val="0"/>
              </a:spcAft>
              <a:buNone/>
            </a:pPr>
            <a:endParaRPr lang="en-US" altLang="fr-CA" sz="1600" b="1" dirty="0">
              <a:ea typeface="Times New Roman" panose="02020603050405020304"/>
              <a:cs typeface="Times New Roman" panose="02020603050405020304"/>
              <a:sym typeface="Times New Roman" panose="02020603050405020304"/>
            </a:endParaRPr>
          </a:p>
          <a:p>
            <a:pPr lvl="0" algn="just"/>
            <a:r>
              <a:rPr lang="fr-FR" altLang="en-US" sz="1600" b="1" dirty="0">
                <a:ea typeface="Times New Roman" panose="02020603050405020304"/>
                <a:cs typeface="Times New Roman" panose="02020603050405020304"/>
                <a:sym typeface="Times New Roman" panose="02020603050405020304"/>
              </a:rPr>
              <a:t>VAP</a:t>
            </a:r>
          </a:p>
          <a:p>
            <a:pPr marL="342900" lvl="0" indent="-342900" algn="just">
              <a:buFont typeface="Arial" panose="020B0604020202020204" pitchFamily="34" charset="0"/>
              <a:buChar char="•"/>
            </a:pPr>
            <a:r>
              <a:rPr lang="fr-FR" altLang="en-US" sz="1600" dirty="0">
                <a:ea typeface="Times New Roman" panose="02020603050405020304"/>
                <a:cs typeface="Times New Roman" panose="02020603050405020304"/>
                <a:sym typeface="Times New Roman" panose="02020603050405020304"/>
              </a:rPr>
              <a:t>Appui à la miro-planification des activités / mise à jour des micro-plans au niveau Zones de Santé, Antennes, Provinces et digitalisation (processus de micro-planification non financé, acteurs de la digitalisation du PEV </a:t>
            </a:r>
            <a:r>
              <a:rPr lang="fr-FR" altLang="en-US" sz="1600" dirty="0" err="1">
                <a:ea typeface="Times New Roman" panose="02020603050405020304"/>
                <a:cs typeface="Times New Roman" panose="02020603050405020304"/>
                <a:sym typeface="Times New Roman" panose="02020603050405020304"/>
              </a:rPr>
              <a:t>overbooked</a:t>
            </a:r>
            <a:r>
              <a:rPr lang="fr-FR" altLang="en-US" sz="1600" dirty="0">
                <a:ea typeface="Times New Roman" panose="02020603050405020304"/>
                <a:cs typeface="Times New Roman" panose="02020603050405020304"/>
                <a:sym typeface="Times New Roman" panose="02020603050405020304"/>
              </a:rPr>
              <a:t>, occupés à +100% …)</a:t>
            </a:r>
          </a:p>
          <a:p>
            <a:pPr marL="342900" lvl="0" indent="-342900" algn="just">
              <a:buFont typeface="Arial" panose="020B0604020202020204" pitchFamily="34" charset="0"/>
              <a:buChar char="•"/>
            </a:pPr>
            <a:endParaRPr lang="fr-FR" altLang="en-US" sz="1600" dirty="0">
              <a:ea typeface="Times New Roman" panose="02020603050405020304"/>
              <a:cs typeface="Times New Roman" panose="02020603050405020304"/>
              <a:sym typeface="Times New Roman" panose="02020603050405020304"/>
            </a:endParaRPr>
          </a:p>
          <a:p>
            <a:pPr marL="342900" lvl="0" indent="-342900" algn="just">
              <a:buFont typeface="Arial" panose="020B0604020202020204" pitchFamily="34" charset="0"/>
              <a:buChar char="•"/>
            </a:pPr>
            <a:r>
              <a:rPr lang="fr-FR" altLang="en-US" sz="1600" dirty="0">
                <a:ea typeface="Times New Roman" panose="02020603050405020304"/>
                <a:cs typeface="Times New Roman" panose="02020603050405020304"/>
                <a:sym typeface="Times New Roman" panose="02020603050405020304"/>
              </a:rPr>
              <a:t>Intégration effective du VAP dans le PEV de routine (outils de gestion de l'information, rapportage, identification et recherche des enfants perdus de vus)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aabd3d1b2d_0_290"/>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en-US"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Priorités et engagements pour 2026</a:t>
            </a: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500"/>
              <a:buFont typeface="Arial" panose="020B0604020202020204"/>
              <a:buNone/>
            </a:pPr>
            <a:endParaRP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7" name="Google Shape;177;g3aabd3d1b2d_0_2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20</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sp>
        <p:nvSpPr>
          <p:cNvPr id="181" name="Google Shape;181;g3aabd3d1b2d_0_290"/>
          <p:cNvSpPr/>
          <p:nvPr/>
        </p:nvSpPr>
        <p:spPr>
          <a:xfrm>
            <a:off x="305100" y="758960"/>
            <a:ext cx="5400206" cy="6016744"/>
          </a:xfrm>
          <a:prstGeom prst="rect">
            <a:avLst/>
          </a:prstGeom>
          <a:solidFill>
            <a:schemeClr val="lt2"/>
          </a:solidFill>
          <a:ln w="9800" cap="flat" cmpd="sng">
            <a:solidFill>
              <a:schemeClr val="dk2"/>
            </a:solidFill>
            <a:prstDash val="solid"/>
            <a:round/>
            <a:headEnd type="none" w="sm" len="sm"/>
            <a:tailEnd type="none" w="sm" len="sm"/>
          </a:ln>
        </p:spPr>
        <p:txBody>
          <a:bodyPr spcFirstLastPara="1" wrap="square" lIns="94100" tIns="94100" rIns="94100" bIns="94100" anchor="ctr" anchorCtr="0">
            <a:noAutofit/>
          </a:bodyPr>
          <a:lstStyle/>
          <a:p>
            <a:pPr lvl="0" algn="l" rtl="0">
              <a:spcBef>
                <a:spcPts val="0"/>
              </a:spcBef>
              <a:spcAft>
                <a:spcPts val="0"/>
              </a:spcAft>
            </a:pPr>
            <a:r>
              <a:rPr lang="fr-FR" altLang="fr-CA" b="1" dirty="0">
                <a:ea typeface="Times New Roman" panose="02020603050405020304"/>
                <a:cs typeface="Times New Roman" panose="02020603050405020304"/>
                <a:sym typeface="Times New Roman" panose="02020603050405020304"/>
              </a:rPr>
              <a:t>MoU PROVINCIAUX</a:t>
            </a:r>
          </a:p>
          <a:p>
            <a:pPr lvl="0" algn="l" rtl="0">
              <a:spcBef>
                <a:spcPts val="0"/>
              </a:spcBef>
              <a:spcAft>
                <a:spcPts val="0"/>
              </a:spcAft>
            </a:pPr>
            <a:endParaRPr lang="fr-FR" altLang="fr-CA" b="1" dirty="0">
              <a:ea typeface="Times New Roman" panose="02020603050405020304"/>
              <a:cs typeface="Times New Roman" panose="02020603050405020304"/>
              <a:sym typeface="Times New Roman" panose="02020603050405020304"/>
            </a:endParaRPr>
          </a:p>
          <a:p>
            <a:pPr marL="342900" lvl="0" indent="-342900" algn="l" rtl="0">
              <a:spcBef>
                <a:spcPts val="0"/>
              </a:spcBef>
              <a:spcAft>
                <a:spcPts val="0"/>
              </a:spcAft>
              <a:buFont typeface="Arial" panose="020B0604020202020204" pitchFamily="34" charset="0"/>
              <a:buChar char="•"/>
            </a:pPr>
            <a:r>
              <a:rPr lang="fr-FR" altLang="fr-CA" dirty="0">
                <a:ea typeface="Times New Roman" panose="02020603050405020304"/>
                <a:cs typeface="Times New Roman" panose="02020603050405020304"/>
                <a:sym typeface="Times New Roman" panose="02020603050405020304"/>
              </a:rPr>
              <a:t>Appuyer le PEV, la province et GAVI dans la mise en œuvre du MoU Haut-Katanga</a:t>
            </a:r>
          </a:p>
          <a:p>
            <a:pPr marL="342900" lvl="0" indent="-342900" algn="l" rtl="0">
              <a:spcBef>
                <a:spcPts val="0"/>
              </a:spcBef>
              <a:spcAft>
                <a:spcPts val="0"/>
              </a:spcAft>
              <a:buFont typeface="Arial" panose="020B0604020202020204" pitchFamily="34" charset="0"/>
              <a:buChar char="•"/>
            </a:pPr>
            <a:endParaRPr lang="fr-FR" altLang="fr-CA" dirty="0">
              <a:ea typeface="Times New Roman" panose="02020603050405020304"/>
              <a:cs typeface="Times New Roman" panose="02020603050405020304"/>
              <a:sym typeface="Times New Roman" panose="02020603050405020304"/>
            </a:endParaRPr>
          </a:p>
          <a:p>
            <a:pPr marL="342900" lvl="0" indent="-342900" algn="l" rtl="0">
              <a:spcBef>
                <a:spcPts val="0"/>
              </a:spcBef>
              <a:spcAft>
                <a:spcPts val="0"/>
              </a:spcAft>
              <a:buFont typeface="Arial" panose="020B0604020202020204" pitchFamily="34" charset="0"/>
              <a:buChar char="•"/>
            </a:pPr>
            <a:r>
              <a:rPr lang="fr-FR" altLang="fr-CA" dirty="0">
                <a:ea typeface="Times New Roman" panose="02020603050405020304"/>
                <a:cs typeface="Times New Roman" panose="02020603050405020304"/>
                <a:sym typeface="Times New Roman" panose="02020603050405020304"/>
              </a:rPr>
              <a:t>Appuyer le PEV et les provinces dans la préparation des MoU Kasaï-Oriental et de la Tshopo</a:t>
            </a:r>
          </a:p>
          <a:p>
            <a:pPr marL="342900" lvl="0" indent="-342900" algn="l" rtl="0">
              <a:spcBef>
                <a:spcPts val="0"/>
              </a:spcBef>
              <a:spcAft>
                <a:spcPts val="0"/>
              </a:spcAft>
              <a:buFont typeface="Arial" panose="020B0604020202020204" pitchFamily="34" charset="0"/>
              <a:buChar char="•"/>
            </a:pPr>
            <a:endParaRPr lang="fr-FR" altLang="fr-CA" dirty="0">
              <a:ea typeface="Times New Roman" panose="02020603050405020304"/>
              <a:cs typeface="Times New Roman" panose="02020603050405020304"/>
              <a:sym typeface="Times New Roman" panose="02020603050405020304"/>
            </a:endParaRPr>
          </a:p>
          <a:p>
            <a:pPr marL="342900" lvl="0" indent="-342900" algn="l" rtl="0">
              <a:spcBef>
                <a:spcPts val="0"/>
              </a:spcBef>
              <a:spcAft>
                <a:spcPts val="0"/>
              </a:spcAft>
              <a:buFont typeface="Arial" panose="020B0604020202020204" pitchFamily="34" charset="0"/>
              <a:buChar char="•"/>
            </a:pPr>
            <a:r>
              <a:rPr lang="fr-FR" altLang="fr-CA" dirty="0">
                <a:ea typeface="Times New Roman" panose="02020603050405020304"/>
                <a:cs typeface="Times New Roman" panose="02020603050405020304"/>
                <a:sym typeface="Times New Roman" panose="02020603050405020304"/>
              </a:rPr>
              <a:t>Appuyer le PEV dans suivi des flux des financements de la vaccination a travers les outils RMET et le Dashboard du financement de la vaccination du Niveau central, du Haut-Katanga, du Kasaï-Oriental et de la Tshopo</a:t>
            </a:r>
          </a:p>
          <a:p>
            <a:pPr marL="342900" lvl="0" indent="-342900" algn="l" rtl="0">
              <a:spcBef>
                <a:spcPts val="0"/>
              </a:spcBef>
              <a:spcAft>
                <a:spcPts val="0"/>
              </a:spcAft>
              <a:buFont typeface="Arial" panose="020B0604020202020204" pitchFamily="34" charset="0"/>
              <a:buChar char="•"/>
            </a:pPr>
            <a:endParaRPr lang="fr-FR" altLang="fr-CA" dirty="0">
              <a:ea typeface="Times New Roman" panose="02020603050405020304"/>
              <a:cs typeface="Times New Roman" panose="02020603050405020304"/>
              <a:sym typeface="Times New Roman" panose="02020603050405020304"/>
            </a:endParaRPr>
          </a:p>
          <a:p>
            <a:pPr marL="342900" lvl="0" indent="-342900" algn="l" rtl="0">
              <a:spcBef>
                <a:spcPts val="0"/>
              </a:spcBef>
              <a:spcAft>
                <a:spcPts val="0"/>
              </a:spcAft>
              <a:buFont typeface="Arial" panose="020B0604020202020204" pitchFamily="34" charset="0"/>
              <a:buChar char="•"/>
            </a:pPr>
            <a:r>
              <a:rPr lang="fr-FR" altLang="fr-CA" dirty="0">
                <a:ea typeface="Times New Roman" panose="02020603050405020304"/>
                <a:cs typeface="Times New Roman" panose="02020603050405020304"/>
                <a:sym typeface="Times New Roman" panose="02020603050405020304"/>
              </a:rPr>
              <a:t>Appuyer les provinces du Kasaï-Oriental, de la </a:t>
            </a:r>
            <a:r>
              <a:rPr lang="fr-FR" altLang="fr-CA" dirty="0" err="1">
                <a:ea typeface="Times New Roman" panose="02020603050405020304"/>
                <a:cs typeface="Times New Roman" panose="02020603050405020304"/>
                <a:sym typeface="Times New Roman" panose="02020603050405020304"/>
              </a:rPr>
              <a:t>Tshopo</a:t>
            </a:r>
            <a:r>
              <a:rPr lang="fr-FR" altLang="fr-CA" dirty="0">
                <a:ea typeface="Times New Roman" panose="02020603050405020304"/>
                <a:cs typeface="Times New Roman" panose="02020603050405020304"/>
                <a:sym typeface="Times New Roman" panose="02020603050405020304"/>
              </a:rPr>
              <a:t> et du Haut-Katanga dans les efforts de la mobilisation des ressources et la mise en œuvre des engagements en faveur de la vaccination</a:t>
            </a:r>
          </a:p>
          <a:p>
            <a:pPr marL="342900" lvl="0" indent="-342900" algn="l" rtl="0">
              <a:spcBef>
                <a:spcPts val="0"/>
              </a:spcBef>
              <a:spcAft>
                <a:spcPts val="0"/>
              </a:spcAft>
              <a:buFont typeface="Arial" panose="020B0604020202020204" pitchFamily="34" charset="0"/>
              <a:buChar char="•"/>
            </a:pPr>
            <a:endParaRPr lang="fr-FR" altLang="fr-CA" dirty="0">
              <a:ea typeface="Times New Roman" panose="02020603050405020304"/>
              <a:cs typeface="Times New Roman" panose="02020603050405020304"/>
              <a:sym typeface="Times New Roman" panose="02020603050405020304"/>
            </a:endParaRPr>
          </a:p>
          <a:p>
            <a:pPr marL="342900" indent="-342900">
              <a:buFont typeface="Arial" panose="020B0604020202020204" pitchFamily="34" charset="0"/>
              <a:buChar char="•"/>
            </a:pPr>
            <a:r>
              <a:rPr lang="en-US" altLang="fr-CA" dirty="0" err="1">
                <a:ea typeface="Times New Roman" panose="02020603050405020304"/>
                <a:cs typeface="Times New Roman" panose="02020603050405020304"/>
                <a:sym typeface="Times New Roman" panose="02020603050405020304"/>
              </a:rPr>
              <a:t>Mener</a:t>
            </a:r>
            <a:r>
              <a:rPr lang="en-US" altLang="fr-CA" dirty="0">
                <a:ea typeface="Times New Roman" panose="02020603050405020304"/>
                <a:cs typeface="Times New Roman" panose="02020603050405020304"/>
                <a:sym typeface="Times New Roman" panose="02020603050405020304"/>
              </a:rPr>
              <a:t> le plaidoyer et mobiliser des </a:t>
            </a:r>
            <a:r>
              <a:rPr lang="en-US" altLang="fr-CA" dirty="0" err="1">
                <a:ea typeface="Times New Roman" panose="02020603050405020304"/>
                <a:cs typeface="Times New Roman" panose="02020603050405020304"/>
                <a:sym typeface="Times New Roman" panose="02020603050405020304"/>
              </a:rPr>
              <a:t>ressources</a:t>
            </a:r>
            <a:r>
              <a:rPr lang="en-US" altLang="fr-CA" dirty="0">
                <a:ea typeface="Times New Roman" panose="02020603050405020304"/>
                <a:cs typeface="Times New Roman" panose="02020603050405020304"/>
                <a:sym typeface="Times New Roman" panose="02020603050405020304"/>
              </a:rPr>
              <a:t> en </a:t>
            </a:r>
            <a:r>
              <a:rPr lang="en-US" altLang="fr-CA" dirty="0" err="1">
                <a:ea typeface="Times New Roman" panose="02020603050405020304"/>
                <a:cs typeface="Times New Roman" panose="02020603050405020304"/>
                <a:sym typeface="Times New Roman" panose="02020603050405020304"/>
              </a:rPr>
              <a:t>faveur</a:t>
            </a:r>
            <a:r>
              <a:rPr lang="en-US" altLang="fr-CA" dirty="0">
                <a:ea typeface="Times New Roman" panose="02020603050405020304"/>
                <a:cs typeface="Times New Roman" panose="02020603050405020304"/>
                <a:sym typeface="Times New Roman" panose="02020603050405020304"/>
              </a:rPr>
              <a:t> de la digitalization et integration des </a:t>
            </a:r>
            <a:r>
              <a:rPr lang="en-US" altLang="fr-CA" dirty="0" err="1">
                <a:ea typeface="Times New Roman" panose="02020603050405020304"/>
                <a:cs typeface="Times New Roman" panose="02020603050405020304"/>
                <a:sym typeface="Times New Roman" panose="02020603050405020304"/>
              </a:rPr>
              <a:t>campagnes</a:t>
            </a:r>
            <a:r>
              <a:rPr lang="en-US" altLang="fr-CA" dirty="0">
                <a:ea typeface="Times New Roman" panose="02020603050405020304"/>
                <a:cs typeface="Times New Roman" panose="02020603050405020304"/>
                <a:sym typeface="Times New Roman" panose="02020603050405020304"/>
              </a:rPr>
              <a:t> de santé </a:t>
            </a:r>
            <a:r>
              <a:rPr lang="en-US" altLang="fr-CA" dirty="0" err="1">
                <a:ea typeface="Times New Roman" panose="02020603050405020304"/>
                <a:cs typeface="Times New Roman" panose="02020603050405020304"/>
                <a:sym typeface="Times New Roman" panose="02020603050405020304"/>
              </a:rPr>
              <a:t>publique</a:t>
            </a:r>
            <a:r>
              <a:rPr lang="en-US" altLang="fr-CA" dirty="0">
                <a:ea typeface="Times New Roman" panose="02020603050405020304"/>
                <a:cs typeface="Times New Roman" panose="02020603050405020304"/>
                <a:sym typeface="Times New Roman" panose="02020603050405020304"/>
              </a:rPr>
              <a:t> </a:t>
            </a:r>
            <a:endParaRPr lang="fr-FR" altLang="fr-CA" dirty="0">
              <a:ea typeface="Times New Roman" panose="02020603050405020304"/>
              <a:cs typeface="Times New Roman" panose="02020603050405020304"/>
              <a:sym typeface="Times New Roman" panose="02020603050405020304"/>
            </a:endParaRPr>
          </a:p>
        </p:txBody>
      </p:sp>
      <p:sp>
        <p:nvSpPr>
          <p:cNvPr id="2" name="Google Shape;181;g3aabd3d1b2d_0_290">
            <a:extLst>
              <a:ext uri="{FF2B5EF4-FFF2-40B4-BE49-F238E27FC236}">
                <a16:creationId xmlns:a16="http://schemas.microsoft.com/office/drawing/2014/main" id="{1C223B65-585A-8942-C83B-F28A5A80F1C7}"/>
              </a:ext>
            </a:extLst>
          </p:cNvPr>
          <p:cNvSpPr/>
          <p:nvPr/>
        </p:nvSpPr>
        <p:spPr>
          <a:xfrm>
            <a:off x="5980176" y="827968"/>
            <a:ext cx="5792574" cy="5947736"/>
          </a:xfrm>
          <a:prstGeom prst="rect">
            <a:avLst/>
          </a:prstGeom>
          <a:solidFill>
            <a:schemeClr val="lt2"/>
          </a:solidFill>
          <a:ln w="9800" cap="flat" cmpd="sng">
            <a:solidFill>
              <a:schemeClr val="dk2"/>
            </a:solidFill>
            <a:prstDash val="solid"/>
            <a:round/>
            <a:headEnd type="none" w="sm" len="sm"/>
            <a:tailEnd type="none" w="sm" len="sm"/>
          </a:ln>
        </p:spPr>
        <p:txBody>
          <a:bodyPr spcFirstLastPara="1" wrap="square" lIns="94100" tIns="94100" rIns="94100" bIns="94100" anchor="ctr" anchorCtr="0">
            <a:noAutofit/>
          </a:bodyPr>
          <a:lstStyle/>
          <a:p>
            <a:pPr lvl="0" algn="l" rtl="0">
              <a:spcBef>
                <a:spcPts val="0"/>
              </a:spcBef>
              <a:spcAft>
                <a:spcPts val="0"/>
              </a:spcAft>
            </a:pPr>
            <a:r>
              <a:rPr lang="fr-FR" altLang="fr-CA" b="1" dirty="0">
                <a:ea typeface="Times New Roman" panose="02020603050405020304"/>
                <a:cs typeface="Times New Roman" panose="02020603050405020304"/>
                <a:sym typeface="Times New Roman" panose="02020603050405020304"/>
              </a:rPr>
              <a:t>VAP</a:t>
            </a:r>
          </a:p>
          <a:p>
            <a:pPr marL="342900" lvl="0" indent="-342900" algn="l" rtl="0">
              <a:spcBef>
                <a:spcPts val="0"/>
              </a:spcBef>
              <a:spcAft>
                <a:spcPts val="0"/>
              </a:spcAft>
              <a:buFont typeface="Arial" panose="020B0604020202020204" pitchFamily="34" charset="0"/>
              <a:buChar char="•"/>
            </a:pPr>
            <a:r>
              <a:rPr lang="fr-FR" altLang="fr-CA" dirty="0">
                <a:ea typeface="Times New Roman" panose="02020603050405020304"/>
                <a:cs typeface="Times New Roman" panose="02020603050405020304"/>
                <a:sym typeface="Times New Roman" panose="02020603050405020304"/>
              </a:rPr>
              <a:t>Appuyer l’élaboration d’un plan d'action d'extension dans les autres provinces (10) / antennes PEV (17) sur base des leçons apprises de l'introduction et mise à échelle jusqu'alors</a:t>
            </a:r>
          </a:p>
          <a:p>
            <a:pPr marL="342900" lvl="0" indent="-342900" algn="l" rtl="0">
              <a:spcBef>
                <a:spcPts val="0"/>
              </a:spcBef>
              <a:spcAft>
                <a:spcPts val="0"/>
              </a:spcAft>
              <a:buFont typeface="Arial" panose="020B0604020202020204" pitchFamily="34" charset="0"/>
              <a:buChar char="•"/>
            </a:pPr>
            <a:r>
              <a:rPr lang="fr-FR" altLang="fr-CA" dirty="0">
                <a:ea typeface="Times New Roman" panose="02020603050405020304"/>
                <a:cs typeface="Times New Roman" panose="02020603050405020304"/>
                <a:sym typeface="Times New Roman" panose="02020603050405020304"/>
              </a:rPr>
              <a:t>Assurer un appui aux provinces / DPS / antennes / ZS où le VAP est déjà introduit à ce jour pour corriger les faiblesses persistantes encore et assurer la pérennité (transfert de compétences …)</a:t>
            </a:r>
          </a:p>
          <a:p>
            <a:pPr marL="342900" lvl="0" indent="-342900" algn="l" rtl="0">
              <a:spcBef>
                <a:spcPts val="0"/>
              </a:spcBef>
              <a:spcAft>
                <a:spcPts val="0"/>
              </a:spcAft>
              <a:buFont typeface="Arial" panose="020B0604020202020204" pitchFamily="34" charset="0"/>
              <a:buChar char="•"/>
            </a:pPr>
            <a:r>
              <a:rPr lang="fr-FR" altLang="fr-CA" dirty="0">
                <a:ea typeface="Times New Roman" panose="02020603050405020304"/>
                <a:cs typeface="Times New Roman" panose="02020603050405020304"/>
                <a:sym typeface="Times New Roman" panose="02020603050405020304"/>
              </a:rPr>
              <a:t>Appui à mobilisation des ressources pour l'introduction dans les 78 ZS à faible et très faible niveau d'endémicité du paludisme</a:t>
            </a:r>
          </a:p>
          <a:p>
            <a:pPr marL="342900" lvl="0" indent="-342900" algn="l" rtl="0">
              <a:spcBef>
                <a:spcPts val="0"/>
              </a:spcBef>
              <a:spcAft>
                <a:spcPts val="0"/>
              </a:spcAft>
              <a:buFont typeface="Arial" panose="020B0604020202020204" pitchFamily="34" charset="0"/>
              <a:buChar char="•"/>
            </a:pPr>
            <a:r>
              <a:rPr lang="fr-FR" altLang="fr-CA" dirty="0">
                <a:ea typeface="Times New Roman" panose="02020603050405020304"/>
                <a:cs typeface="Times New Roman" panose="02020603050405020304"/>
                <a:sym typeface="Times New Roman" panose="02020603050405020304"/>
              </a:rPr>
              <a:t>Appui à l'intégration effective du VAP dans le PEV de routine</a:t>
            </a:r>
          </a:p>
          <a:p>
            <a:pPr marL="342900" lvl="0" indent="-342900" algn="l" rtl="0">
              <a:spcBef>
                <a:spcPts val="0"/>
              </a:spcBef>
              <a:spcAft>
                <a:spcPts val="0"/>
              </a:spcAft>
              <a:buFont typeface="Arial" panose="020B0604020202020204" pitchFamily="34" charset="0"/>
              <a:buChar char="•"/>
            </a:pPr>
            <a:r>
              <a:rPr lang="fr-FR" altLang="fr-CA" dirty="0">
                <a:ea typeface="Times New Roman" panose="02020603050405020304"/>
                <a:cs typeface="Times New Roman" panose="02020603050405020304"/>
                <a:sym typeface="Times New Roman" panose="02020603050405020304"/>
              </a:rPr>
              <a:t>Appui au PEV de routine à travers l'introduction du VAP (opportunité) : saisir l’AT au VAP pour appuyer l’intégration du VAP dans le PEV de routine, mais aussi renforcer le PEV de routine (recherche et récupération des enfants perdues de vue, suivi de la vaccination, qualité des données, mise en effective de l’échéancier, gestion des stocks bien documentée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3aabd3d1b2d_0_290"/>
          <p:cNvSpPr txBox="1"/>
          <p:nvPr/>
        </p:nvSpPr>
        <p:spPr>
          <a:xfrm>
            <a:off x="458592" y="317941"/>
            <a:ext cx="11274900" cy="7317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500"/>
              <a:buFont typeface="Arial" panose="020B0604020202020204"/>
              <a:buNone/>
            </a:pPr>
            <a:r>
              <a:rPr lang="fr-FR" sz="2700" b="0"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rPr>
              <a:t>Recommandations </a:t>
            </a:r>
          </a:p>
        </p:txBody>
      </p:sp>
      <p:sp>
        <p:nvSpPr>
          <p:cNvPr id="177" name="Google Shape;177;g3aabd3d1b2d_0_290"/>
          <p:cNvSpPr/>
          <p:nvPr/>
        </p:nvSpPr>
        <p:spPr>
          <a:xfrm>
            <a:off x="0" y="272241"/>
            <a:ext cx="235500" cy="655200"/>
          </a:xfrm>
          <a:prstGeom prst="rect">
            <a:avLst/>
          </a:prstGeom>
          <a:solidFill>
            <a:srgbClr val="1155CC"/>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900"/>
              <a:buFont typeface="Arial" panose="020B0604020202020204"/>
              <a:buNone/>
            </a:pPr>
            <a:endParaRPr sz="1900" b="0"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g3aabd3d1b2d_0_290"/>
          <p:cNvSpPr txBox="1"/>
          <p:nvPr/>
        </p:nvSpPr>
        <p:spPr>
          <a:xfrm>
            <a:off x="267700" y="6492843"/>
            <a:ext cx="11414700" cy="184800"/>
          </a:xfrm>
          <a:prstGeom prst="rect">
            <a:avLst/>
          </a:prstGeom>
          <a:noFill/>
          <a:ln>
            <a:noFill/>
          </a:ln>
        </p:spPr>
        <p:txBody>
          <a:bodyPr spcFirstLastPara="1" wrap="square" lIns="0" tIns="0" rIns="121900" bIns="0" anchor="t" anchorCtr="0">
            <a:spAutoFit/>
          </a:bodyPr>
          <a:lstStyle/>
          <a:p>
            <a:pPr marL="0" marR="0" lvl="0" indent="0" algn="l" rtl="0">
              <a:lnSpc>
                <a:spcPct val="100000"/>
              </a:lnSpc>
              <a:spcBef>
                <a:spcPts val="0"/>
              </a:spcBef>
              <a:spcAft>
                <a:spcPts val="0"/>
              </a:spcAft>
              <a:buClr>
                <a:srgbClr val="000000"/>
              </a:buClr>
              <a:buSzPts val="1200"/>
              <a:buFont typeface="Arial" panose="020B0604020202020204"/>
              <a:buNone/>
            </a:pPr>
            <a:endParaRPr sz="1200" b="1" i="0" u="none" strike="noStrike" cap="none">
              <a:solidFill>
                <a:srgbClr val="1155C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9" name="Google Shape;179;g3aabd3d1b2d_0_290"/>
          <p:cNvSpPr txBox="1"/>
          <p:nvPr/>
        </p:nvSpPr>
        <p:spPr>
          <a:xfrm>
            <a:off x="11658600" y="6496067"/>
            <a:ext cx="228300" cy="1659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1155CC"/>
                </a:solidFill>
                <a:latin typeface="Arial" panose="020B0604020202020204"/>
                <a:ea typeface="Arial" panose="020B0604020202020204"/>
                <a:cs typeface="Arial" panose="020B0604020202020204"/>
                <a:sym typeface="Arial" panose="020B0604020202020204"/>
              </a:rPr>
              <a:t>21</a:t>
            </a:fld>
            <a:endParaRPr sz="1200" b="0" i="0" u="none" strike="noStrike" cap="none">
              <a:solidFill>
                <a:srgbClr val="1155CC"/>
              </a:solidFill>
              <a:latin typeface="Arial" panose="020B0604020202020204"/>
              <a:ea typeface="Arial" panose="020B0604020202020204"/>
              <a:cs typeface="Arial" panose="020B0604020202020204"/>
              <a:sym typeface="Arial" panose="020B0604020202020204"/>
            </a:endParaRPr>
          </a:p>
        </p:txBody>
      </p:sp>
      <p:cxnSp>
        <p:nvCxnSpPr>
          <p:cNvPr id="180" name="Google Shape;180;g3aabd3d1b2d_0_290"/>
          <p:cNvCxnSpPr/>
          <p:nvPr/>
        </p:nvCxnSpPr>
        <p:spPr>
          <a:xfrm>
            <a:off x="267700" y="6427967"/>
            <a:ext cx="11640300" cy="0"/>
          </a:xfrm>
          <a:prstGeom prst="straightConnector1">
            <a:avLst/>
          </a:prstGeom>
          <a:noFill/>
          <a:ln w="12700" cap="flat" cmpd="sng">
            <a:solidFill>
              <a:srgbClr val="9E9E9E"/>
            </a:solidFill>
            <a:prstDash val="solid"/>
            <a:round/>
            <a:headEnd type="none" w="sm" len="sm"/>
            <a:tailEnd type="none" w="sm" len="sm"/>
          </a:ln>
        </p:spPr>
      </p:cxnSp>
      <p:sp>
        <p:nvSpPr>
          <p:cNvPr id="2" name="Google Shape;181;g3aabd3d1b2d_0_290">
            <a:extLst>
              <a:ext uri="{FF2B5EF4-FFF2-40B4-BE49-F238E27FC236}">
                <a16:creationId xmlns:a16="http://schemas.microsoft.com/office/drawing/2014/main" id="{A669ADFB-4C24-B40D-BF4F-8EA80B42B30E}"/>
              </a:ext>
            </a:extLst>
          </p:cNvPr>
          <p:cNvSpPr/>
          <p:nvPr/>
        </p:nvSpPr>
        <p:spPr>
          <a:xfrm>
            <a:off x="458600" y="1323700"/>
            <a:ext cx="11356500" cy="3513470"/>
          </a:xfrm>
          <a:prstGeom prst="rect">
            <a:avLst/>
          </a:prstGeom>
          <a:solidFill>
            <a:schemeClr val="lt2"/>
          </a:solidFill>
          <a:ln w="9800" cap="flat" cmpd="sng">
            <a:solidFill>
              <a:schemeClr val="dk2"/>
            </a:solidFill>
            <a:prstDash val="solid"/>
            <a:round/>
            <a:headEnd type="none" w="sm" len="sm"/>
            <a:tailEnd type="none" w="sm" len="sm"/>
          </a:ln>
        </p:spPr>
        <p:txBody>
          <a:bodyPr spcFirstLastPara="1" wrap="square" lIns="94100" tIns="94100" rIns="94100" bIns="94100" anchor="ctr" anchorCtr="0">
            <a:noAutofit/>
          </a:bodyPr>
          <a:lstStyle/>
          <a:p>
            <a:pPr marL="342900" lvl="0" indent="-342900">
              <a:buFont typeface="Arial" panose="020B0604020202020204" pitchFamily="34" charset="0"/>
              <a:buChar char="•"/>
            </a:pPr>
            <a:r>
              <a:rPr lang="fr-FR" altLang="en-US" sz="3200" dirty="0">
                <a:latin typeface="Times New Roman" panose="02020603050405020304"/>
                <a:ea typeface="Times New Roman" panose="02020603050405020304"/>
                <a:cs typeface="Times New Roman" panose="02020603050405020304"/>
                <a:sym typeface="Times New Roman" panose="02020603050405020304"/>
              </a:rPr>
              <a:t>Rationaliser l’utilisation et optimiser les équipements dédiés à la digitalisation des interventions de santé publique</a:t>
            </a:r>
          </a:p>
          <a:p>
            <a:pPr marL="342900" lvl="0" indent="-342900">
              <a:buFont typeface="Arial" panose="020B0604020202020204" pitchFamily="34" charset="0"/>
              <a:buChar char="•"/>
            </a:pPr>
            <a:r>
              <a:rPr lang="fr-FR" altLang="en-US" sz="3200" dirty="0">
                <a:latin typeface="Times New Roman" panose="02020603050405020304"/>
                <a:ea typeface="Times New Roman" panose="02020603050405020304"/>
                <a:cs typeface="Times New Roman" panose="02020603050405020304"/>
                <a:sym typeface="Times New Roman" panose="02020603050405020304"/>
              </a:rPr>
              <a:t>Harmonisation à temps du chronogramme des activités de vaccination avec la province </a:t>
            </a:r>
          </a:p>
          <a:p>
            <a:pPr marL="342900" lvl="0" indent="-342900">
              <a:buFont typeface="Arial" panose="020B0604020202020204" pitchFamily="34" charset="0"/>
              <a:buChar char="•"/>
            </a:pPr>
            <a:r>
              <a:rPr lang="fr-FR" altLang="en-US" sz="3200" dirty="0">
                <a:latin typeface="Times New Roman" panose="02020603050405020304"/>
                <a:ea typeface="Times New Roman" panose="02020603050405020304"/>
                <a:cs typeface="Times New Roman" panose="02020603050405020304"/>
                <a:sym typeface="Times New Roman" panose="02020603050405020304"/>
              </a:rPr>
              <a:t>Rendre disponible à temps le micro-plan validé pour permettre une meilleure planification de la digitalisation</a:t>
            </a:r>
          </a:p>
          <a:p>
            <a:pPr marL="342900" lvl="0" indent="-342900">
              <a:buFont typeface="Arial" panose="020B0604020202020204" pitchFamily="34" charset="0"/>
              <a:buChar char="•"/>
            </a:pPr>
            <a:r>
              <a:rPr lang="fr-FR" altLang="en-US" sz="3200" dirty="0">
                <a:latin typeface="Times New Roman" panose="02020603050405020304"/>
                <a:ea typeface="Times New Roman" panose="02020603050405020304"/>
                <a:cs typeface="Times New Roman" panose="02020603050405020304"/>
                <a:sym typeface="Times New Roman" panose="02020603050405020304"/>
              </a:rPr>
              <a:t>Organiser la séance de la signature du MoU Haut-Katanga (PEV)</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g3aabd3d1b2d_0_178"/>
          <p:cNvSpPr txBox="1"/>
          <p:nvPr/>
        </p:nvSpPr>
        <p:spPr>
          <a:xfrm>
            <a:off x="733100" y="1202135"/>
            <a:ext cx="10707600" cy="3576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3200"/>
              <a:buFont typeface="Arial" panose="020B0604020202020204"/>
              <a:buNone/>
            </a:pPr>
            <a:r>
              <a:rPr lang="en-US" sz="3200" b="1"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rPr>
              <a:t>Merci</a:t>
            </a:r>
            <a:endParaRPr sz="3200" b="1" i="0" u="none" strike="noStrike" cap="none">
              <a:solidFill>
                <a:srgbClr val="0070C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3" name="Google Shape;223;g3aabd3d1b2d_0_178"/>
          <p:cNvSpPr/>
          <p:nvPr/>
        </p:nvSpPr>
        <p:spPr>
          <a:xfrm>
            <a:off x="1588" y="2654952"/>
            <a:ext cx="4500900" cy="654900"/>
          </a:xfrm>
          <a:prstGeom prst="rect">
            <a:avLst/>
          </a:prstGeom>
          <a:solidFill>
            <a:srgbClr val="0070C0"/>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500"/>
              <a:buFont typeface="Arial" panose="020B0604020202020204"/>
              <a:buNone/>
            </a:pPr>
            <a:endParaRPr sz="15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4" name="Google Shape;224;g3aabd3d1b2d_0_178"/>
          <p:cNvSpPr/>
          <p:nvPr/>
        </p:nvSpPr>
        <p:spPr>
          <a:xfrm>
            <a:off x="7689667" y="2654952"/>
            <a:ext cx="4501500" cy="654900"/>
          </a:xfrm>
          <a:prstGeom prst="rect">
            <a:avLst/>
          </a:prstGeom>
          <a:solidFill>
            <a:srgbClr val="0070C0"/>
          </a:solidFill>
          <a:ln>
            <a:noFill/>
          </a:ln>
        </p:spPr>
        <p:txBody>
          <a:bodyPr spcFirstLastPara="1" wrap="square" lIns="91400" tIns="91400" rIns="91400" bIns="91400" anchor="ctr" anchorCtr="0">
            <a:noAutofit/>
          </a:bodyPr>
          <a:lstStyle/>
          <a:p>
            <a:pPr marL="0" marR="0" lvl="0" indent="0" algn="l" rtl="0">
              <a:lnSpc>
                <a:spcPct val="100000"/>
              </a:lnSpc>
              <a:spcBef>
                <a:spcPts val="0"/>
              </a:spcBef>
              <a:spcAft>
                <a:spcPts val="0"/>
              </a:spcAft>
              <a:buClr>
                <a:srgbClr val="000000"/>
              </a:buClr>
              <a:buSzPts val="1500"/>
              <a:buFont typeface="Arial" panose="020B0604020202020204"/>
              <a:buNone/>
            </a:pPr>
            <a:endParaRPr sz="15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884*382"/>
  <p:tag name="TABLE_ENDDRAG_RECT" val="35*93*884*382"/>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899*355"/>
  <p:tag name="TABLE_ENDDRAG_RECT" val="36*120*900*355"/>
</p:tagLst>
</file>

<file path=ppt/tags/tag3.xml><?xml version="1.0" encoding="utf-8"?>
<p:tagLst xmlns:a="http://schemas.openxmlformats.org/drawingml/2006/main" xmlns:r="http://schemas.openxmlformats.org/officeDocument/2006/relationships" xmlns:p="http://schemas.openxmlformats.org/presentationml/2006/main">
  <p:tag name="TABLE_ENDDRAG_ORIGIN_RECT" val="899*355"/>
  <p:tag name="TABLE_ENDDRAG_RECT" val="36*120*900*355"/>
</p:tagLst>
</file>

<file path=ppt/tags/tag4.xml><?xml version="1.0" encoding="utf-8"?>
<p:tagLst xmlns:a="http://schemas.openxmlformats.org/drawingml/2006/main" xmlns:r="http://schemas.openxmlformats.org/officeDocument/2006/relationships" xmlns:p="http://schemas.openxmlformats.org/presentationml/2006/main">
  <p:tag name="TABLE_ENDDRAG_ORIGIN_RECT" val="899*355"/>
  <p:tag name="TABLE_ENDDRAG_RECT" val="36*120*900*355"/>
</p:tagLst>
</file>

<file path=ppt/tags/tag5.xml><?xml version="1.0" encoding="utf-8"?>
<p:tagLst xmlns:a="http://schemas.openxmlformats.org/drawingml/2006/main" xmlns:r="http://schemas.openxmlformats.org/officeDocument/2006/relationships" xmlns:p="http://schemas.openxmlformats.org/presentationml/2006/main">
  <p:tag name="TABLE_ENDDRAG_ORIGIN_RECT" val="899*355"/>
  <p:tag name="TABLE_ENDDRAG_RECT" val="36*120*900*355"/>
</p:tagLst>
</file>

<file path=ppt/tags/tag6.xml><?xml version="1.0" encoding="utf-8"?>
<p:tagLst xmlns:a="http://schemas.openxmlformats.org/drawingml/2006/main" xmlns:r="http://schemas.openxmlformats.org/officeDocument/2006/relationships" xmlns:p="http://schemas.openxmlformats.org/presentationml/2006/main">
  <p:tag name="TABLE_ENDDRAG_ORIGIN_RECT" val="899*355"/>
  <p:tag name="TABLE_ENDDRAG_RECT" val="36*120*900*355"/>
</p:tagLst>
</file>

<file path=ppt/tags/tag7.xml><?xml version="1.0" encoding="utf-8"?>
<p:tagLst xmlns:a="http://schemas.openxmlformats.org/drawingml/2006/main" xmlns:r="http://schemas.openxmlformats.org/officeDocument/2006/relationships" xmlns:p="http://schemas.openxmlformats.org/presentationml/2006/main">
  <p:tag name="TABLE_ENDDRAG_ORIGIN_RECT" val="899*355"/>
  <p:tag name="TABLE_ENDDRAG_RECT" val="36*120*900*355"/>
</p:tagLst>
</file>

<file path=ppt/tags/tag8.xml><?xml version="1.0" encoding="utf-8"?>
<p:tagLst xmlns:a="http://schemas.openxmlformats.org/drawingml/2006/main" xmlns:r="http://schemas.openxmlformats.org/officeDocument/2006/relationships" xmlns:p="http://schemas.openxmlformats.org/presentationml/2006/main">
  <p:tag name="TABLE_ENDDRAG_ORIGIN_RECT" val="899*355"/>
  <p:tag name="TABLE_ENDDRAG_RECT" val="36*120*900*355"/>
</p:tagLst>
</file>

<file path=ppt/tags/tag9.xml><?xml version="1.0" encoding="utf-8"?>
<p:tagLst xmlns:a="http://schemas.openxmlformats.org/drawingml/2006/main" xmlns:r="http://schemas.openxmlformats.org/officeDocument/2006/relationships" xmlns:p="http://schemas.openxmlformats.org/presentationml/2006/main">
  <p:tag name="TABLE_ENDDRAG_ORIGIN_RECT" val="899*355"/>
  <p:tag name="TABLE_ENDDRAG_RECT" val="36*120*900*355"/>
</p:tagLst>
</file>

<file path=ppt/tags/tag10.xml><?xml version="1.0" encoding="utf-8"?>
<p:tagLst xmlns:a="http://schemas.openxmlformats.org/drawingml/2006/main" xmlns:r="http://schemas.openxmlformats.org/officeDocument/2006/relationships" xmlns:p="http://schemas.openxmlformats.org/presentationml/2006/main">
  <p:tag name="TABLE_ENDDRAG_ORIGIN_RECT" val="882*362"/>
  <p:tag name="TABLE_ENDDRAG_RECT" val="36*103*882*362"/>
</p:tagLst>
</file>

<file path=ppt/tags/tag11.xml><?xml version="1.0" encoding="utf-8"?>
<p:tagLst xmlns:a="http://schemas.openxmlformats.org/drawingml/2006/main" xmlns:r="http://schemas.openxmlformats.org/officeDocument/2006/relationships" xmlns:p="http://schemas.openxmlformats.org/presentationml/2006/main">
  <p:tag name="TABLE_ENDDRAG_ORIGIN_RECT" val="882*362"/>
  <p:tag name="TABLE_ENDDRAG_RECT" val="36*103*882*362"/>
</p:tagLst>
</file>

<file path=ppt/tags/tag12.xml><?xml version="1.0" encoding="utf-8"?>
<p:tagLst xmlns:a="http://schemas.openxmlformats.org/drawingml/2006/main" xmlns:r="http://schemas.openxmlformats.org/officeDocument/2006/relationships" xmlns:p="http://schemas.openxmlformats.org/presentationml/2006/main">
  <p:tag name="TABLE_ENDDRAG_ORIGIN_RECT" val="882*362"/>
  <p:tag name="TABLE_ENDDRAG_RECT" val="36*103*882*362"/>
</p:tagLst>
</file>

<file path=ppt/tags/tag13.xml><?xml version="1.0" encoding="utf-8"?>
<p:tagLst xmlns:a="http://schemas.openxmlformats.org/drawingml/2006/main" xmlns:r="http://schemas.openxmlformats.org/officeDocument/2006/relationships" xmlns:p="http://schemas.openxmlformats.org/presentationml/2006/main">
  <p:tag name="TABLE_ENDDRAG_ORIGIN_RECT" val="882*362"/>
  <p:tag name="TABLE_ENDDRAG_RECT" val="36*103*882*36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Calibri"/>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1752</TotalTime>
  <Words>3637</Words>
  <Application>Microsoft Office PowerPoint</Application>
  <PresentationFormat>Grand écran</PresentationFormat>
  <Paragraphs>494</Paragraphs>
  <Slides>22</Slides>
  <Notes>22</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22</vt:i4>
      </vt:variant>
    </vt:vector>
  </HeadingPairs>
  <TitlesOfParts>
    <vt:vector size="30" baseType="lpstr">
      <vt:lpstr>微软雅黑</vt:lpstr>
      <vt:lpstr>Aptos</vt:lpstr>
      <vt:lpstr>Arial</vt:lpstr>
      <vt:lpstr>Calibri</vt:lpstr>
      <vt:lpstr>Calibri Light</vt:lpstr>
      <vt:lpstr>Courier New</vt:lpstr>
      <vt:lpstr>Times New Roman</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Crispin Lumbala wa Mbuyi</dc:creator>
  <cp:lastModifiedBy>Dieudonné Kambere</cp:lastModifiedBy>
  <cp:revision>24</cp:revision>
  <dcterms:created xsi:type="dcterms:W3CDTF">2025-07-23T00:59:00Z</dcterms:created>
  <dcterms:modified xsi:type="dcterms:W3CDTF">2025-12-15T17:05:52Z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1036-12.2.0.23155</vt:lpwstr>
  </property>
  <property fmtid="{D5CDD505-2E9C-101B-9397-08002B2CF9AE}" pid="3" name="ICV">
    <vt:lpwstr>7B1E43FCB6934876B8E89E70B7276213_13</vt:lpwstr>
  </property>
</Properties>
</file>