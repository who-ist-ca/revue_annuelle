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3"/>
    <p:sldMasterId id="2147483675" r:id="rId4"/>
  </p:sldMasterIdLst>
  <p:notesMasterIdLst>
    <p:notesMasterId r:id="rId6"/>
  </p:notesMasterIdLst>
  <p:sldIdLst>
    <p:sldId id="256" r:id="rId5"/>
    <p:sldId id="257" r:id="rId7"/>
    <p:sldId id="568" r:id="rId8"/>
    <p:sldId id="569" r:id="rId9"/>
    <p:sldId id="564" r:id="rId10"/>
    <p:sldId id="561" r:id="rId11"/>
    <p:sldId id="563" r:id="rId12"/>
    <p:sldId id="259" r:id="rId13"/>
    <p:sldId id="270" r:id="rId14"/>
    <p:sldId id="570" r:id="rId15"/>
    <p:sldId id="261" r:id="rId16"/>
    <p:sldId id="567" r:id="rId17"/>
    <p:sldId id="263" r:id="rId18"/>
    <p:sldId id="264" r:id="rId19"/>
    <p:sldId id="265" r:id="rId20"/>
    <p:sldId id="266" r:id="rId21"/>
    <p:sldId id="267" r:id="rId22"/>
    <p:sldId id="565" r:id="rId23"/>
    <p:sldId id="268" r:id="rId24"/>
    <p:sldId id="269" r:id="rId25"/>
  </p:sldIdLst>
  <p:sldSz cx="12192000" cy="6858000"/>
  <p:notesSz cx="6858000" cy="9144000"/>
  <p:embeddedFontLst>
    <p:embeddedFont>
      <p:font typeface="Play" panose="00000500000000000000"/>
      <p:regular r:id="rId29"/>
    </p:embeddedFont>
    <p:embeddedFont>
      <p:font typeface="Source Serif Pro" panose="02040603050405020204"/>
      <p:regular r:id="rId30"/>
    </p:embeddedFont>
    <p:embeddedFont>
      <p:font typeface="Wingdings 3" panose="05040102010807070707" charset="2"/>
      <p:regular r:id="rId31"/>
    </p:embeddedFont>
    <p:embeddedFont>
      <p:font typeface="Calibri" panose="020F0502020204030204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Franklin Gothic Book" panose="020B0503020102020204" pitchFamily="34" charset="0"/>
      <p:regular r:id="rId37"/>
    </p:embeddedFont>
    <p:embeddedFont>
      <p:font typeface="Century Gothic" panose="020B0502020202020204"/>
      <p:regular r:id="rId38"/>
    </p:embeddedFont>
    <p:embeddedFont>
      <p:font typeface="Tempus Sans ITC" panose="04020404030D07020202" pitchFamily="82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98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9" Type="http://schemas.openxmlformats.org/officeDocument/2006/relationships/font" Target="fonts/font11.fntdata"/><Relationship Id="rId38" Type="http://schemas.openxmlformats.org/officeDocument/2006/relationships/font" Target="fonts/font10.fntdata"/><Relationship Id="rId37" Type="http://schemas.openxmlformats.org/officeDocument/2006/relationships/font" Target="fonts/font9.fntdata"/><Relationship Id="rId36" Type="http://schemas.openxmlformats.org/officeDocument/2006/relationships/font" Target="fonts/font8.fntdata"/><Relationship Id="rId35" Type="http://schemas.openxmlformats.org/officeDocument/2006/relationships/font" Target="fonts/font7.fntdata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abc9d920d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aabc9d920d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abc9d920d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aabc9d920d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abc9d920d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aabc9d920d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79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re et contenu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Vide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e de titr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Titre de section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eux contenus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ison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re seul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u avec légende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 avec légende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re et texte vertical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itre vertical et texte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re et contenu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0ED2E-9A61-4DA4-9DE0-6B07709FE107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F826D-46B9-4577-8767-0C8874C57B5A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C9F9C-3F1B-426B-A144-2125443BB9A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E92A-7CC3-40A0-B33D-455E25C6C605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B8A4-A89C-4849-807E-7FA5AA980D88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F6E3-C3B8-4081-8762-720A85ACBEB5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0AC8-D685-406B-B961-E95010CE1D14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2086-FB97-4F2A-952D-4BC60B1F79A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852E-7F2D-4F9C-BF2E-2149B05E9940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3978E-99E6-4CC3-BB53-E777117AD26B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DB2A-4005-4768-AF68-C13184F77FAB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DD53-95FA-4718-90CB-C2C49ACC125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BC7E-9FA1-4CE0-9260-D5F7A7B61F4D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389B-E7A3-4098-A676-72674F02976F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03BB-FE4C-44ED-9D34-3269E7A8EDC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EFD6-534D-4BBA-A356-0176B209997B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9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3813" y="1"/>
            <a:ext cx="12215813" cy="371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fr-FR" dirty="0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E0A8C52-9F48-4F56-B7F6-40015D4D6335}" type="slidenum">
              <a:rPr lang="fr-FR" altLang="fr-FR"/>
            </a:fld>
            <a:endParaRPr lang="fr-FR" alt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8" Type="http://schemas.openxmlformats.org/officeDocument/2006/relationships/theme" Target="../theme/theme3.xml"/><Relationship Id="rId17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D2B76-F560-42E2-8FA6-4A19089CE31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2E7D88A-0A00-4DD6-BEE2-4EF1457D8857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4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aneva</a:t>
            </a:r>
            <a:r>
              <a:rPr lang="en-US" alt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provinces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organisés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spécifiques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approches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innovantes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FAE, IPVS</a:t>
            </a:r>
            <a:r>
              <a:rPr lang="en-US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stratégies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spéciales</a:t>
            </a:r>
            <a:r>
              <a:rPr lang="en-US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introduction des nouveaux </a:t>
            </a:r>
            <a:r>
              <a:rPr lang="en-US" alt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vaccins</a:t>
            </a:r>
            <a:r>
              <a:rPr lang="en-US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(VAP, RR, </a:t>
            </a:r>
            <a:r>
              <a:rPr lang="en-US" alt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etc</a:t>
            </a:r>
            <a:r>
              <a:rPr lang="en-US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400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en-US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MANIEMA</a:t>
            </a:r>
            <a:endParaRPr lang="en-US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566533" y="1550500"/>
            <a:ext cx="107145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 la Province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 (zones couvertes, impact sur la couverture)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de succès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rencontrés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capitaliser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 pour 2026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55" y="133985"/>
            <a:ext cx="9276080" cy="6612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19993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g3aabc9d920d_0_207"/>
          <p:cNvSpPr/>
          <p:nvPr/>
        </p:nvSpPr>
        <p:spPr>
          <a:xfrm>
            <a:off x="6096635" y="688340"/>
            <a:ext cx="5636895" cy="580771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PEV: 3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de ZS: 18  ,           FAE : 12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282,            FAE : 200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vaccinent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200 , FAE (…)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3406065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136 243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643746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ECF: 81 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fixe (…),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point de concentration (…), OVM (…)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DPS: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dans le PAO : 100 %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" y="688340"/>
            <a:ext cx="5901690" cy="5519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254323"/>
            <a:ext cx="11360700" cy="763500"/>
          </a:xfrm>
        </p:spPr>
        <p:txBody>
          <a:bodyPr>
            <a:normAutofit fontScale="90000"/>
          </a:bodyPr>
          <a:lstStyle/>
          <a:p>
            <a:r>
              <a:rPr lang="fr-FR" dirty="0"/>
              <a:t>Données démographiques</a:t>
            </a:r>
            <a:endParaRPr lang="fr-FR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228546" y="1232899"/>
          <a:ext cx="11547754" cy="4989583"/>
        </p:xfrm>
        <a:graphic>
          <a:graphicData uri="http://schemas.openxmlformats.org/drawingml/2006/table">
            <a:tbl>
              <a:tblPr/>
              <a:tblGrid>
                <a:gridCol w="695348"/>
                <a:gridCol w="1738372"/>
                <a:gridCol w="1961875"/>
                <a:gridCol w="1192027"/>
                <a:gridCol w="1490033"/>
                <a:gridCol w="1490033"/>
                <a:gridCol w="1490033"/>
                <a:gridCol w="1490033"/>
              </a:tblGrid>
              <a:tr h="260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ZS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Pop tot 2025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Nb AS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NV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12-23 MOIS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0-59 M0IS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Kabambare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188458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7538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6577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35619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Kampene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207969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8319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39306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Kasongo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308011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12320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10750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58214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Kibombo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138397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5536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4830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26157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Kunda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384315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15373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13413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72636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Lusangi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224059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8962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7820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42347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Samba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161881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6475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5650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30596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Saramabila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198437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7937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6925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37505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37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Tunda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117965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4719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22295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Alunguli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111920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21153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Ferekeni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72223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13650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Kailo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204885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8195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7150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38723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Kalima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189376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35792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Kindu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341522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13661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11919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64548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Lubutu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175582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7023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6128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33185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Obokote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100891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3521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19068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Pangi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123256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23295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Punia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156919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6277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5476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29658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8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Province Maniema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3406065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136243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118872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643746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91440" tIns="45720" rIns="91440" bIns="45720" numCol="1" rtlCol="0" anchor="ctr" anchorCtr="0" compatLnSpc="1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7063727-D63E-4DF6-8444-4011C74F9B3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1395" y="540129"/>
            <a:ext cx="5640129" cy="6344322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9931400" y="4356100"/>
            <a:ext cx="226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Limite entre antennes Kindu et Kasongo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9331" y="599659"/>
          <a:ext cx="6552064" cy="6264219"/>
        </p:xfrm>
        <a:graphic>
          <a:graphicData uri="http://schemas.openxmlformats.org/drawingml/2006/table">
            <a:tbl>
              <a:tblPr/>
              <a:tblGrid>
                <a:gridCol w="1787841"/>
                <a:gridCol w="4764223"/>
              </a:tblGrid>
              <a:tr h="9180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l" fontAlgn="t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Antennes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l" fontAlgn="ctr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Kasongo (9ZS) 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algn="l" fontAlgn="ctr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Kindu (5ZS)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algn="l" fontAlgn="ctr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Lubutu (4ZS)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69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l" fontAlgn="t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Zones de santé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18 BCZS et </a:t>
                      </a:r>
                      <a:r>
                        <a:rPr lang="fr-BE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282 CS</a:t>
                      </a:r>
                      <a:endParaRPr lang="fr-BE" alt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63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l" fontAlgn="t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PEV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-MEO de vaccination en avancée</a:t>
                      </a:r>
                      <a:endParaRPr lang="fr-FR" sz="2000" b="1" i="0" u="none" strike="noStrike" kern="120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 CF de la coordination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 chambre froide solaire de Kasongo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 chambre froide solaire de</a:t>
                      </a:r>
                      <a:r>
                        <a:rPr lang="fr-FR" sz="20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Lubutu</a:t>
                      </a:r>
                      <a:endParaRPr lang="fr-FR" sz="20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 chambre froide solaire de Kindu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alt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Interruption de la circulation du PVS 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algn="l" eaLnBrk="1" hangingPunct="1">
                        <a:lnSpc>
                          <a:spcPct val="90000"/>
                        </a:lnSpc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-     42% ECV (EDS 2014), 7% (MICS 2018) et </a:t>
                      </a:r>
                      <a:r>
                        <a:rPr lang="fr-F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13% ECV (ESP/UNIKIN 2022/2023 la province est parmi les 2 dernières du pays avec SANKURU et MONGALA)</a:t>
                      </a:r>
                      <a:endParaRPr lang="fr-FR" sz="2000" b="1" i="0" u="none" strike="noStrike" kern="120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indent="-342900" algn="l" eaLnBrk="1" hangingPunct="1">
                        <a:lnSpc>
                          <a:spcPct val="90000"/>
                        </a:lnSpc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Villages insuffisamment couverts en PEV systématique et AVS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Epidémies de rougeole/</a:t>
                      </a:r>
                      <a:r>
                        <a:rPr lang="fr-F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VDPV2</a:t>
                      </a: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/choléra/M </a:t>
                      </a:r>
                      <a:r>
                        <a:rPr lang="fr-FR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pox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marL="9527" marR="9527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Forme libre 4"/>
          <p:cNvSpPr/>
          <p:nvPr/>
        </p:nvSpPr>
        <p:spPr>
          <a:xfrm>
            <a:off x="8363858" y="2191796"/>
            <a:ext cx="1719943" cy="1175683"/>
          </a:xfrm>
          <a:custGeom>
            <a:avLst/>
            <a:gdLst>
              <a:gd name="connsiteX0" fmla="*/ 0 w 1719942"/>
              <a:gd name="connsiteY0" fmla="*/ 0 h 1175682"/>
              <a:gd name="connsiteX1" fmla="*/ 54428 w 1719942"/>
              <a:gd name="connsiteY1" fmla="*/ 54428 h 1175682"/>
              <a:gd name="connsiteX2" fmla="*/ 119742 w 1719942"/>
              <a:gd name="connsiteY2" fmla="*/ 185057 h 1175682"/>
              <a:gd name="connsiteX3" fmla="*/ 174171 w 1719942"/>
              <a:gd name="connsiteY3" fmla="*/ 228600 h 1175682"/>
              <a:gd name="connsiteX4" fmla="*/ 195942 w 1719942"/>
              <a:gd name="connsiteY4" fmla="*/ 293914 h 1175682"/>
              <a:gd name="connsiteX5" fmla="*/ 206828 w 1719942"/>
              <a:gd name="connsiteY5" fmla="*/ 326571 h 1175682"/>
              <a:gd name="connsiteX6" fmla="*/ 228600 w 1719942"/>
              <a:gd name="connsiteY6" fmla="*/ 348343 h 1175682"/>
              <a:gd name="connsiteX7" fmla="*/ 239485 w 1719942"/>
              <a:gd name="connsiteY7" fmla="*/ 381000 h 1175682"/>
              <a:gd name="connsiteX8" fmla="*/ 283028 w 1719942"/>
              <a:gd name="connsiteY8" fmla="*/ 424543 h 1175682"/>
              <a:gd name="connsiteX9" fmla="*/ 239485 w 1719942"/>
              <a:gd name="connsiteY9" fmla="*/ 468086 h 1175682"/>
              <a:gd name="connsiteX10" fmla="*/ 206828 w 1719942"/>
              <a:gd name="connsiteY10" fmla="*/ 533400 h 1175682"/>
              <a:gd name="connsiteX11" fmla="*/ 250371 w 1719942"/>
              <a:gd name="connsiteY11" fmla="*/ 620486 h 1175682"/>
              <a:gd name="connsiteX12" fmla="*/ 283028 w 1719942"/>
              <a:gd name="connsiteY12" fmla="*/ 685800 h 1175682"/>
              <a:gd name="connsiteX13" fmla="*/ 326571 w 1719942"/>
              <a:gd name="connsiteY13" fmla="*/ 729343 h 1175682"/>
              <a:gd name="connsiteX14" fmla="*/ 381000 w 1719942"/>
              <a:gd name="connsiteY14" fmla="*/ 772886 h 1175682"/>
              <a:gd name="connsiteX15" fmla="*/ 391885 w 1719942"/>
              <a:gd name="connsiteY15" fmla="*/ 805543 h 1175682"/>
              <a:gd name="connsiteX16" fmla="*/ 435428 w 1719942"/>
              <a:gd name="connsiteY16" fmla="*/ 849086 h 1175682"/>
              <a:gd name="connsiteX17" fmla="*/ 522514 w 1719942"/>
              <a:gd name="connsiteY17" fmla="*/ 914400 h 1175682"/>
              <a:gd name="connsiteX18" fmla="*/ 587828 w 1719942"/>
              <a:gd name="connsiteY18" fmla="*/ 936171 h 1175682"/>
              <a:gd name="connsiteX19" fmla="*/ 620485 w 1719942"/>
              <a:gd name="connsiteY19" fmla="*/ 947057 h 1175682"/>
              <a:gd name="connsiteX20" fmla="*/ 674914 w 1719942"/>
              <a:gd name="connsiteY20" fmla="*/ 914400 h 1175682"/>
              <a:gd name="connsiteX21" fmla="*/ 707571 w 1719942"/>
              <a:gd name="connsiteY21" fmla="*/ 903514 h 1175682"/>
              <a:gd name="connsiteX22" fmla="*/ 783771 w 1719942"/>
              <a:gd name="connsiteY22" fmla="*/ 881743 h 1175682"/>
              <a:gd name="connsiteX23" fmla="*/ 794657 w 1719942"/>
              <a:gd name="connsiteY23" fmla="*/ 849086 h 1175682"/>
              <a:gd name="connsiteX24" fmla="*/ 827314 w 1719942"/>
              <a:gd name="connsiteY24" fmla="*/ 838200 h 1175682"/>
              <a:gd name="connsiteX25" fmla="*/ 892628 w 1719942"/>
              <a:gd name="connsiteY25" fmla="*/ 805543 h 1175682"/>
              <a:gd name="connsiteX26" fmla="*/ 1077685 w 1719942"/>
              <a:gd name="connsiteY26" fmla="*/ 816428 h 1175682"/>
              <a:gd name="connsiteX27" fmla="*/ 1110342 w 1719942"/>
              <a:gd name="connsiteY27" fmla="*/ 881743 h 1175682"/>
              <a:gd name="connsiteX28" fmla="*/ 1175657 w 1719942"/>
              <a:gd name="connsiteY28" fmla="*/ 892628 h 1175682"/>
              <a:gd name="connsiteX29" fmla="*/ 1240971 w 1719942"/>
              <a:gd name="connsiteY29" fmla="*/ 914400 h 1175682"/>
              <a:gd name="connsiteX30" fmla="*/ 1273628 w 1719942"/>
              <a:gd name="connsiteY30" fmla="*/ 936171 h 1175682"/>
              <a:gd name="connsiteX31" fmla="*/ 1295400 w 1719942"/>
              <a:gd name="connsiteY31" fmla="*/ 957943 h 1175682"/>
              <a:gd name="connsiteX32" fmla="*/ 1328057 w 1719942"/>
              <a:gd name="connsiteY32" fmla="*/ 968828 h 1175682"/>
              <a:gd name="connsiteX33" fmla="*/ 1349828 w 1719942"/>
              <a:gd name="connsiteY33" fmla="*/ 990600 h 1175682"/>
              <a:gd name="connsiteX34" fmla="*/ 1426028 w 1719942"/>
              <a:gd name="connsiteY34" fmla="*/ 1012371 h 1175682"/>
              <a:gd name="connsiteX35" fmla="*/ 1491342 w 1719942"/>
              <a:gd name="connsiteY35" fmla="*/ 1034143 h 1175682"/>
              <a:gd name="connsiteX36" fmla="*/ 1567542 w 1719942"/>
              <a:gd name="connsiteY36" fmla="*/ 1088571 h 1175682"/>
              <a:gd name="connsiteX37" fmla="*/ 1589314 w 1719942"/>
              <a:gd name="connsiteY37" fmla="*/ 1110343 h 1175682"/>
              <a:gd name="connsiteX38" fmla="*/ 1632857 w 1719942"/>
              <a:gd name="connsiteY38" fmla="*/ 1121228 h 1175682"/>
              <a:gd name="connsiteX39" fmla="*/ 1665514 w 1719942"/>
              <a:gd name="connsiteY39" fmla="*/ 1132114 h 1175682"/>
              <a:gd name="connsiteX40" fmla="*/ 1719942 w 1719942"/>
              <a:gd name="connsiteY40" fmla="*/ 1175657 h 1175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719942" h="1175682">
                <a:moveTo>
                  <a:pt x="0" y="0"/>
                </a:moveTo>
                <a:cubicBezTo>
                  <a:pt x="18143" y="18143"/>
                  <a:pt x="40653" y="32782"/>
                  <a:pt x="54428" y="54428"/>
                </a:cubicBezTo>
                <a:cubicBezTo>
                  <a:pt x="86453" y="104754"/>
                  <a:pt x="61214" y="146040"/>
                  <a:pt x="119742" y="185057"/>
                </a:cubicBezTo>
                <a:cubicBezTo>
                  <a:pt x="160940" y="212521"/>
                  <a:pt x="143149" y="197577"/>
                  <a:pt x="174171" y="228600"/>
                </a:cubicBezTo>
                <a:lnTo>
                  <a:pt x="195942" y="293914"/>
                </a:lnTo>
                <a:cubicBezTo>
                  <a:pt x="199571" y="304800"/>
                  <a:pt x="198714" y="318457"/>
                  <a:pt x="206828" y="326571"/>
                </a:cubicBezTo>
                <a:lnTo>
                  <a:pt x="228600" y="348343"/>
                </a:lnTo>
                <a:cubicBezTo>
                  <a:pt x="232228" y="359229"/>
                  <a:pt x="232816" y="371663"/>
                  <a:pt x="239485" y="381000"/>
                </a:cubicBezTo>
                <a:cubicBezTo>
                  <a:pt x="251416" y="397703"/>
                  <a:pt x="283028" y="424543"/>
                  <a:pt x="283028" y="424543"/>
                </a:cubicBezTo>
                <a:cubicBezTo>
                  <a:pt x="259277" y="495795"/>
                  <a:pt x="292264" y="425862"/>
                  <a:pt x="239485" y="468086"/>
                </a:cubicBezTo>
                <a:cubicBezTo>
                  <a:pt x="220302" y="483433"/>
                  <a:pt x="213999" y="511888"/>
                  <a:pt x="206828" y="533400"/>
                </a:cubicBezTo>
                <a:cubicBezTo>
                  <a:pt x="231846" y="608450"/>
                  <a:pt x="212373" y="582486"/>
                  <a:pt x="250371" y="620486"/>
                </a:cubicBezTo>
                <a:cubicBezTo>
                  <a:pt x="260907" y="652093"/>
                  <a:pt x="260008" y="658944"/>
                  <a:pt x="283028" y="685800"/>
                </a:cubicBezTo>
                <a:cubicBezTo>
                  <a:pt x="296386" y="701385"/>
                  <a:pt x="315185" y="712264"/>
                  <a:pt x="326571" y="729343"/>
                </a:cubicBezTo>
                <a:cubicBezTo>
                  <a:pt x="354707" y="771548"/>
                  <a:pt x="335930" y="757863"/>
                  <a:pt x="381000" y="772886"/>
                </a:cubicBezTo>
                <a:cubicBezTo>
                  <a:pt x="384628" y="783772"/>
                  <a:pt x="385216" y="796206"/>
                  <a:pt x="391885" y="805543"/>
                </a:cubicBezTo>
                <a:cubicBezTo>
                  <a:pt x="403816" y="822246"/>
                  <a:pt x="420914" y="834572"/>
                  <a:pt x="435428" y="849086"/>
                </a:cubicBezTo>
                <a:cubicBezTo>
                  <a:pt x="461216" y="874874"/>
                  <a:pt x="485594" y="902093"/>
                  <a:pt x="522514" y="914400"/>
                </a:cubicBezTo>
                <a:lnTo>
                  <a:pt x="587828" y="936171"/>
                </a:lnTo>
                <a:lnTo>
                  <a:pt x="620485" y="947057"/>
                </a:lnTo>
                <a:cubicBezTo>
                  <a:pt x="712997" y="916219"/>
                  <a:pt x="600201" y="959227"/>
                  <a:pt x="674914" y="914400"/>
                </a:cubicBezTo>
                <a:cubicBezTo>
                  <a:pt x="684753" y="908496"/>
                  <a:pt x="696538" y="906666"/>
                  <a:pt x="707571" y="903514"/>
                </a:cubicBezTo>
                <a:cubicBezTo>
                  <a:pt x="803278" y="876168"/>
                  <a:pt x="705451" y="907848"/>
                  <a:pt x="783771" y="881743"/>
                </a:cubicBezTo>
                <a:cubicBezTo>
                  <a:pt x="787400" y="870857"/>
                  <a:pt x="786543" y="857200"/>
                  <a:pt x="794657" y="849086"/>
                </a:cubicBezTo>
                <a:cubicBezTo>
                  <a:pt x="802771" y="840972"/>
                  <a:pt x="817475" y="844104"/>
                  <a:pt x="827314" y="838200"/>
                </a:cubicBezTo>
                <a:cubicBezTo>
                  <a:pt x="896633" y="796607"/>
                  <a:pt x="785237" y="832389"/>
                  <a:pt x="892628" y="805543"/>
                </a:cubicBezTo>
                <a:cubicBezTo>
                  <a:pt x="954314" y="809171"/>
                  <a:pt x="1016649" y="806791"/>
                  <a:pt x="1077685" y="816428"/>
                </a:cubicBezTo>
                <a:cubicBezTo>
                  <a:pt x="1115258" y="822361"/>
                  <a:pt x="1089356" y="866753"/>
                  <a:pt x="1110342" y="881743"/>
                </a:cubicBezTo>
                <a:cubicBezTo>
                  <a:pt x="1128303" y="894572"/>
                  <a:pt x="1153885" y="889000"/>
                  <a:pt x="1175657" y="892628"/>
                </a:cubicBezTo>
                <a:cubicBezTo>
                  <a:pt x="1197428" y="899885"/>
                  <a:pt x="1221876" y="901670"/>
                  <a:pt x="1240971" y="914400"/>
                </a:cubicBezTo>
                <a:cubicBezTo>
                  <a:pt x="1251857" y="921657"/>
                  <a:pt x="1263412" y="927998"/>
                  <a:pt x="1273628" y="936171"/>
                </a:cubicBezTo>
                <a:cubicBezTo>
                  <a:pt x="1281642" y="942582"/>
                  <a:pt x="1286599" y="952663"/>
                  <a:pt x="1295400" y="957943"/>
                </a:cubicBezTo>
                <a:cubicBezTo>
                  <a:pt x="1305239" y="963846"/>
                  <a:pt x="1317171" y="965200"/>
                  <a:pt x="1328057" y="968828"/>
                </a:cubicBezTo>
                <a:cubicBezTo>
                  <a:pt x="1335314" y="976085"/>
                  <a:pt x="1341027" y="985319"/>
                  <a:pt x="1349828" y="990600"/>
                </a:cubicBezTo>
                <a:cubicBezTo>
                  <a:pt x="1362026" y="997919"/>
                  <a:pt x="1416534" y="1009523"/>
                  <a:pt x="1426028" y="1012371"/>
                </a:cubicBezTo>
                <a:cubicBezTo>
                  <a:pt x="1448009" y="1018965"/>
                  <a:pt x="1491342" y="1034143"/>
                  <a:pt x="1491342" y="1034143"/>
                </a:cubicBezTo>
                <a:cubicBezTo>
                  <a:pt x="1542999" y="1085800"/>
                  <a:pt x="1515412" y="1071195"/>
                  <a:pt x="1567542" y="1088571"/>
                </a:cubicBezTo>
                <a:cubicBezTo>
                  <a:pt x="1574799" y="1095828"/>
                  <a:pt x="1580134" y="1105753"/>
                  <a:pt x="1589314" y="1110343"/>
                </a:cubicBezTo>
                <a:cubicBezTo>
                  <a:pt x="1602696" y="1117034"/>
                  <a:pt x="1618472" y="1117118"/>
                  <a:pt x="1632857" y="1121228"/>
                </a:cubicBezTo>
                <a:cubicBezTo>
                  <a:pt x="1643890" y="1124380"/>
                  <a:pt x="1654628" y="1128485"/>
                  <a:pt x="1665514" y="1132114"/>
                </a:cubicBezTo>
                <a:cubicBezTo>
                  <a:pt x="1711623" y="1178223"/>
                  <a:pt x="1688531" y="1175657"/>
                  <a:pt x="1719942" y="1175657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0160002" y="3045831"/>
            <a:ext cx="192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Limite entre antennes Kindu et Lubutu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0"/>
            <a:ext cx="12191999" cy="573207"/>
          </a:xfrm>
          <a:prstGeom prst="rect">
            <a:avLst/>
          </a:prstGeom>
          <a:solidFill>
            <a:srgbClr val="00B0F0"/>
          </a:solidFill>
          <a:ln cap="flat">
            <a:solidFill>
              <a:srgbClr val="003399"/>
            </a:solidFill>
            <a:miter lim="800000"/>
          </a:ln>
        </p:spPr>
        <p:txBody>
          <a:bodyPr vert="horz" lIns="92075" tIns="46038" rIns="92075" bIns="46038" rtlCol="0" anchor="ctr">
            <a:noAutofit/>
          </a:bodyPr>
          <a:lstStyle>
            <a:lvl1pPr defTabSz="457200">
              <a:spcBef>
                <a:spcPct val="0"/>
              </a:spcBef>
              <a:buNone/>
              <a:defRPr sz="4000" b="1">
                <a:solidFill>
                  <a:schemeClr val="bg1"/>
                </a:solidFill>
                <a:latin typeface="Tempus Sans ITC" panose="04020404030D07020202" pitchFamily="82" charset="0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empus Sans ITC" panose="04020404030D07020202" pitchFamily="82" charset="0"/>
                <a:ea typeface="+mj-ea"/>
                <a:cs typeface="+mj-cs"/>
              </a:rPr>
              <a:t>1. Contexte du Maniema (1/4)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empus Sans ITC" panose="04020404030D07020202" pitchFamily="82" charset="0"/>
                <a:ea typeface="+mj-ea"/>
                <a:cs typeface="+mj-cs"/>
              </a:rPr>
              <a:t>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empus Sans ITC" panose="04020404030D07020202" pitchFamily="82" charset="0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0" y="113016"/>
          <a:ext cx="11989941" cy="7583182"/>
        </p:xfrm>
        <a:graphic>
          <a:graphicData uri="http://schemas.openxmlformats.org/drawingml/2006/table">
            <a:tbl>
              <a:tblPr/>
              <a:tblGrid>
                <a:gridCol w="1553462"/>
                <a:gridCol w="1682898"/>
                <a:gridCol w="1463822"/>
                <a:gridCol w="1042511"/>
                <a:gridCol w="645262"/>
                <a:gridCol w="1328899"/>
                <a:gridCol w="1105758"/>
                <a:gridCol w="3167329"/>
              </a:tblGrid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ZS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Pop tot 2025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Femmes E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NSV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CS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Superficie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Densité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Caractéristiques spéciale</a:t>
                      </a:r>
                      <a:endParaRPr lang="fr-FR" sz="200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553994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Kabambare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188458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7538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6577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8319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4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DEPLACES ET CAMPEMENTS DES PECHES, CHAMPETRES</a:t>
                      </a: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Kampene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207969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8319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7258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7005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30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CARRIERES DES MINES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6158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Kasongo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308011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12320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10750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21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3817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81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ISLAM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Kibombo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138397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5536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4830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11319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GARE/TRAIN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Kunda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384315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15373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13413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30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6073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63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4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cVDPV2, CARRIERES DES MINES</a:t>
                      </a:r>
                      <a:endParaRPr lang="fr-FR" sz="14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6158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Lusangi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224059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8962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7820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4900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46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4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DERNIER CAS PVS DE LA RDC</a:t>
                      </a:r>
                      <a:endParaRPr lang="fr-FR" sz="14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Samba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161881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6475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5650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6291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26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GARE/TRAIN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092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Saramabila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198437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7937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6925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6400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31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4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CARRIERES DES MINES /aVDPV</a:t>
                      </a:r>
                      <a:endParaRPr lang="fr-FR" sz="14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Tunda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117965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4719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4117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13634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PYGMES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9079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Alunguli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111920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4477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3906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4477 </a:t>
                      </a:r>
                      <a:endParaRPr lang="fr-FR" sz="2000" b="1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CHEF LIEU AVEC EXODE RURALE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Ferekeni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72223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2889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2521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5840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CARRIERES DES MINES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Kailo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204885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8195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7150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21500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PYGMES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6158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Kalima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189376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7575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6609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5320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36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CARRIERES DES MINES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377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Kindu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341522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13661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11919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78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4378 </a:t>
                      </a:r>
                      <a:endParaRPr lang="fr-FR" sz="2000" b="1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CHEF LIEU AVEC EXODE RURALE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6158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Lubutu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175582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7023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6128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8008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fr-FR" sz="1600" b="0" i="0" dirty="0">
                          <a:solidFill>
                            <a:srgbClr val="E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DEPLACES</a:t>
                      </a:r>
                      <a:endParaRPr lang="fr-FR" sz="1600" b="0" i="0" dirty="0">
                        <a:solidFill>
                          <a:srgbClr val="E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Obokote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100891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4036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3521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8087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CARRIERES DES MINES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Pangi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123256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4930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4302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15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17355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CARRIERES DES MINES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6158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Punia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156919 </a:t>
                      </a:r>
                      <a:endParaRPr lang="fr-FR" sz="16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6277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5476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10043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 CARRIERES DES MINES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56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fr-FR" sz="2000" b="0" i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TOTAL</a:t>
                      </a:r>
                      <a:endParaRPr lang="fr-FR" sz="2000" b="0" i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16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3406065 </a:t>
                      </a:r>
                      <a:endParaRPr lang="fr-FR" sz="16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136243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118872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282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0" i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144014 </a:t>
                      </a: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sz="2000" b="1" i="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24 </a:t>
                      </a:r>
                      <a:endParaRPr lang="fr-FR" sz="2000" b="1" i="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endParaRPr lang="fr-FR" sz="2000" b="0" i="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/>
        </p:nvGraphicFramePr>
        <p:xfrm>
          <a:off x="458600" y="1189100"/>
          <a:ext cx="11274900" cy="499836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818725"/>
                <a:gridCol w="2818725"/>
                <a:gridCol w="2818725"/>
                <a:gridCol w="2818725"/>
              </a:tblGrid>
              <a:tr h="41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 ou approches spéciale</a:t>
                      </a:r>
                      <a:r>
                        <a:rPr lang="en-US" alt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  <a:endParaRPr lang="en-US" altLang="en-US"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couverture vaccinale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FAE 2024-2025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91" name="Google Shape;191;g3aabc9d920d_0_390"/>
          <p:cNvGraphicFramePr/>
          <p:nvPr>
            <p:custDataLst>
              <p:tags r:id="rId1"/>
            </p:custDataLst>
          </p:nvPr>
        </p:nvGraphicFramePr>
        <p:xfrm>
          <a:off x="339090" y="1336040"/>
          <a:ext cx="11145520" cy="4704715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203450"/>
                <a:gridCol w="1058545"/>
                <a:gridCol w="1313815"/>
                <a:gridCol w="1313815"/>
                <a:gridCol w="1313815"/>
                <a:gridCol w="1313815"/>
                <a:gridCol w="1314450"/>
                <a:gridCol w="1313815"/>
              </a:tblGrid>
              <a:tr h="59626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lang="en-US" sz="16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ZS couvertes</a:t>
                      </a:r>
                      <a:endParaRPr lang="en-US" sz="16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identifié</a:t>
                      </a:r>
                      <a:endParaRPr lang="en-US" sz="16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récupéré</a:t>
                      </a:r>
                      <a:endParaRPr lang="en-US" sz="16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lang="en-US" sz="16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cPr/>
                </a:tc>
              </a:tr>
              <a:tr h="66294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lang="en-US" sz="1600" b="1" u="none" strike="noStrike" cap="none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lang="en-US" sz="16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lang="en-US" sz="1600" b="1" u="none" strike="noStrike" cap="none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lang="en-US" sz="16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  <a:endParaRPr lang="en-US" sz="16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6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  <a:endParaRPr lang="en-US" sz="16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78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 à </a:t>
                      </a:r>
                      <a:r>
                        <a:rPr lang="en-US" sz="1600" b="1" dirty="0" err="1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20215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43612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31321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41201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154,9%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94,5%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728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Point de concentration</a:t>
                      </a:r>
                      <a:endParaRPr lang="en-US" sz="1600" b="1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8120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12196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8713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11542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107,3%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94,6%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OMV</a:t>
                      </a:r>
                      <a:endParaRPr lang="en-US" sz="1600" b="1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effectLst/>
                          <a:latin typeface="+mj-lt"/>
                        </a:rPr>
                        <a:t>412</a:t>
                      </a:r>
                      <a:endParaRPr lang="en-US" sz="1600" b="1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1671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243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405,6%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121,5%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78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Horaire adapté</a:t>
                      </a:r>
                      <a:endParaRPr lang="en-US" sz="1600" b="1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effectLst/>
                          <a:latin typeface="+mj-lt"/>
                        </a:rPr>
                        <a:t>7205</a:t>
                      </a:r>
                      <a:endParaRPr lang="en-US" sz="1600" b="1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9587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8257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4627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114,6%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48,3%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35952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65595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49962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57613</a:t>
                      </a:r>
                      <a:endParaRPr lang="en-US" sz="16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139,0%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+mj-lt"/>
                        </a:rPr>
                        <a:t>87,8%</a:t>
                      </a:r>
                      <a:endParaRPr lang="en-US" sz="1600" b="1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0" name="Google Shape;200;g3aabc9d920d_0_40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68605" y="928370"/>
          <a:ext cx="11618595" cy="5483860"/>
        </p:xfrm>
        <a:graphic>
          <a:graphicData uri="http://schemas.openxmlformats.org/drawingml/2006/table">
            <a:tbl>
              <a:tblPr/>
              <a:tblGrid>
                <a:gridCol w="431800"/>
                <a:gridCol w="1315085"/>
                <a:gridCol w="744855"/>
                <a:gridCol w="824865"/>
                <a:gridCol w="843915"/>
                <a:gridCol w="824865"/>
                <a:gridCol w="902335"/>
                <a:gridCol w="785495"/>
                <a:gridCol w="765175"/>
                <a:gridCol w="922020"/>
                <a:gridCol w="766445"/>
                <a:gridCol w="803910"/>
                <a:gridCol w="863600"/>
                <a:gridCol w="824230"/>
              </a:tblGrid>
              <a:tr h="452755">
                <a:tc>
                  <a:txBody>
                    <a:bodyPr/>
                    <a:p>
                      <a:pPr algn="l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12">
                  <a:txBody>
                    <a:bodyPr/>
                    <a:p>
                      <a:pPr algn="ctr" fontAlgn="b"/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Enfants récupérés  12-23 mois</a:t>
                      </a:r>
                      <a:endParaRPr lang="en-US" altLang="zh-CN"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58775">
                <a:tc rowSpan="2"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N°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ZONE DE SANTE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DTC 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DTC 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VAR 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VAR 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9245">
                <a:tc vMerge="1">
                  <a:tcPr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010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KABAMBARE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2112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1340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63%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2185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1551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2148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1478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69%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2203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1558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KAMPENE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1193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1207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101%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1534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1514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1499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1296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86%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668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010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KASONGO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2060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3566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3102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87%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2697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2292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1142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87%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645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KIBOMBO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1323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1280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1992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1346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1303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1240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1028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58%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375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KUNDA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1818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1960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108%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4288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4392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102%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912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1060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116%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3353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3186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010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SAMBA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912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117%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1683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1800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866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124%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1649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1820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110%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375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SARAMABILA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886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2578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88%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2040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111%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1659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1698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102%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010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OBOKOTE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1858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1307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2076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1179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57%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1788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56%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1754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1029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010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KAILO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2809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1154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41%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2159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1200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56%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1521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1278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1015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120%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010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KALIMA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1614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52%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2935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1168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1936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1482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375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KINDU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544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545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64%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837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520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62%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61%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375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PUNIA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638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1721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1250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73%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2992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1750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58%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1889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1488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140"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17864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13338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27565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20859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76%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19771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16052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81%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18981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16043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85%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0" name="Google Shape;200;g3aabc9d920d_0_40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367030" y="805180"/>
          <a:ext cx="11541760" cy="5554345"/>
        </p:xfrm>
        <a:graphic>
          <a:graphicData uri="http://schemas.openxmlformats.org/drawingml/2006/table">
            <a:tbl>
              <a:tblPr/>
              <a:tblGrid>
                <a:gridCol w="428625"/>
                <a:gridCol w="1306195"/>
                <a:gridCol w="741045"/>
                <a:gridCol w="819150"/>
                <a:gridCol w="838200"/>
                <a:gridCol w="819150"/>
                <a:gridCol w="896620"/>
                <a:gridCol w="779780"/>
                <a:gridCol w="760095"/>
                <a:gridCol w="916305"/>
                <a:gridCol w="760730"/>
                <a:gridCol w="798830"/>
                <a:gridCol w="858520"/>
                <a:gridCol w="818515"/>
              </a:tblGrid>
              <a:tr h="436880"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12">
                  <a:txBody>
                    <a:bodyPr/>
                    <a:p>
                      <a:pPr algn="ctr" fontAlgn="b"/>
                      <a:r>
                        <a:rPr lang="en-US" altLang="zh-CN"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Enfants récupérés  24-59 mois</a:t>
                      </a:r>
                      <a:endParaRPr lang="en-US" altLang="zh-CN"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 rowSpan="2"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N°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ZONE DE SANTE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DTC 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DTC 3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VAR 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VAR 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9090">
                <a:tc vMerge="1">
                  <a:tcPr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KABAMBARE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2036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1318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1932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1257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2862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1686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1888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1338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090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KAMPENE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1038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678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87%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588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KASONGO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2390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1742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73%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3029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2826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2156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76%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2327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1953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KIBOMBO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1111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1471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1941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1869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96%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KUNDA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617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693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1642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1789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109%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669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113%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1844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2094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114%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SAMBA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533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863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1625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1360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928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156%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3086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3340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108%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090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SARAMABILA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2229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2327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104%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2728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1999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73%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2220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1953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88%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3021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3108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103%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OBOKOTE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2137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1109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1804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39%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1704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820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48%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1518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1210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090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KAILO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1374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1713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1371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1189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1381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116%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1643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1263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KALIMA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1494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697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47%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829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1948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55%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3773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2964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KINDU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681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552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81%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675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538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454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PUNIA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355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1087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537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49%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1390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672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15638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12272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21543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15605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18658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14625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23187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20778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b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autres interventions specifiques</a:t>
            </a:r>
            <a:r>
              <a:rPr lang="en-US" alt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(stratégie spéciale, introduction des nouveaux vaccins)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21" name="Google Shape;221;g3aabc9d920d_0_419"/>
          <p:cNvGraphicFramePr/>
          <p:nvPr/>
        </p:nvGraphicFramePr>
        <p:xfrm>
          <a:off x="458600" y="1189100"/>
          <a:ext cx="11274900" cy="475460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532125"/>
                <a:gridCol w="1876975"/>
                <a:gridCol w="2084050"/>
                <a:gridCol w="2390875"/>
                <a:gridCol w="2390875"/>
              </a:tblGrid>
              <a:tr h="79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Zone de santé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Résultats obtenus 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bc9d920d_0_21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expliquant la performance (leadership, mobilisation communautaire, intégration, supervision)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g3aabc9d920d_0_2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8" name="Google Shape;228;g3aabc9d920d_0_2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9" name="Google Shape;229;g3aabc9d920d_0_2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0" name="Google Shape;230;g3aabc9d920d_0_2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1" name="Google Shape;231;g3aabc9d920d_0_217"/>
          <p:cNvSpPr/>
          <p:nvPr/>
        </p:nvSpPr>
        <p:spPr>
          <a:xfrm>
            <a:off x="458600" y="1323700"/>
            <a:ext cx="113565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chaque facture mettre en évidence les bonnes pratiques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Problème résolu par la bonne pratique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Description de la bonne pratique, personnes impliqu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de la bonne pratique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 pour la replication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rencontrés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/>
        </p:nvGraphicFramePr>
        <p:xfrm>
          <a:off x="93212" y="1049652"/>
          <a:ext cx="11640299" cy="5073746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2054152"/>
                <a:gridCol w="2887201"/>
                <a:gridCol w="2710427"/>
                <a:gridCol w="2133002"/>
                <a:gridCol w="1855517"/>
              </a:tblGrid>
              <a:tr h="10648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1002219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1600" i="1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Absence des </a:t>
                      </a: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outils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collecte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données 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2219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2219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2219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abc9d920d_0_43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6" name="Google Shape;256;g3aabc9d920d_0_43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7" name="Google Shape;257;g3aabc9d920d_0_43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8" name="Google Shape;258;g3aabc9d920d_0_43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59" name="Google Shape;259;g3aabc9d920d_0_43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60" name="Google Shape;260;g3aabc9d920d_0_437"/>
          <p:cNvGraphicFramePr/>
          <p:nvPr/>
        </p:nvGraphicFramePr>
        <p:xfrm>
          <a:off x="458599" y="927452"/>
          <a:ext cx="11274925" cy="6247222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989675"/>
                <a:gridCol w="2796575"/>
                <a:gridCol w="2625350"/>
                <a:gridCol w="2066050"/>
                <a:gridCol w="1797275"/>
              </a:tblGrid>
              <a:tr h="53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50110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2. IPVS</a:t>
                      </a:r>
                      <a:endParaRPr sz="1600" b="0" i="1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Mise en place d’une 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coordiantion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des activités au niveau provincial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Insuffisance de coordination des activités IPVS dans certaines Zones</a:t>
                      </a: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lvl="0" indent="0">
                        <a:lnSpc>
                          <a:spcPct val="107000"/>
                        </a:lnSpc>
                        <a:buFont typeface="Wingdings" panose="05000000000000000000" pitchFamily="2" charset="2"/>
                        <a:buNone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Organisation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des AVS Polio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0909">
                <a:tc vMerge="1"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Bonne couverture de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l’aire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de santé par les sites de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vacciantion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Démarrage tardif de la mise en œuvre des IPVS par rapport au dénombrement réalisé (plus de 4mois d’intervalle entre le dénombrement et mise en œuvre des IPVS )</a:t>
                      </a: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Appui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technique des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partenaires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Début non synchronisé des activité surtout au premier et second passage</a:t>
                      </a: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 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Identification systématique des enfants</a:t>
                      </a:r>
                      <a:endParaRPr lang="fr-FR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 promptitude dans le rapportage journalier des données </a:t>
                      </a: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1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 réalisation de monitorage par les superviseurs d’axes et proximité</a:t>
                      </a: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abc9d920d_0_43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6" name="Google Shape;256;g3aabc9d920d_0_43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7" name="Google Shape;257;g3aabc9d920d_0_43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8" name="Google Shape;258;g3aabc9d920d_0_43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59" name="Google Shape;259;g3aabc9d920d_0_43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60" name="Google Shape;260;g3aabc9d920d_0_437"/>
          <p:cNvGraphicFramePr/>
          <p:nvPr/>
        </p:nvGraphicFramePr>
        <p:xfrm>
          <a:off x="458599" y="927452"/>
          <a:ext cx="11274925" cy="6295438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989675"/>
                <a:gridCol w="2796575"/>
                <a:gridCol w="2625350"/>
                <a:gridCol w="2066050"/>
                <a:gridCol w="1797275"/>
              </a:tblGrid>
              <a:tr h="53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50110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1. FAE</a:t>
                      </a:r>
                      <a:endParaRPr sz="1600" b="0" i="1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2. IPVS</a:t>
                      </a:r>
                      <a:endParaRPr sz="1600" b="0" i="1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Insuffisance de coordination des activités IPVS dans certaines Zones</a:t>
                      </a: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lvl="0" indent="0">
                        <a:lnSpc>
                          <a:spcPct val="107000"/>
                        </a:lnSpc>
                        <a:buFont typeface="Wingdings" panose="05000000000000000000" pitchFamily="2" charset="2"/>
                        <a:buNone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Démarrage tardif de la mise en œuvre des IPVS par rapport au dénombrement réalisé (plus de 4mois d’intervalle entre le dénombrement et mise en œuvre des IPVS )</a:t>
                      </a: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 pour 2026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60*540"/>
  <p:tag name="TABLE_ENDDRAG_RECT" val="0*0*960*540"/>
</p:tagLst>
</file>

<file path=ppt/tags/tag2.xml><?xml version="1.0" encoding="utf-8"?>
<p:tagLst xmlns:p="http://schemas.openxmlformats.org/presentationml/2006/main">
  <p:tag name="TABLE_ENDDRAG_ORIGIN_RECT" val="877*284"/>
  <p:tag name="TABLE_ENDDRAG_RECT" val="26*105*877*284"/>
</p:tagLst>
</file>

<file path=ppt/tags/tag3.xml><?xml version="1.0" encoding="utf-8"?>
<p:tagLst xmlns:p="http://schemas.openxmlformats.org/presentationml/2006/main">
  <p:tag name="TABLE_ENDDRAG_ORIGIN_RECT" val="914*431"/>
  <p:tag name="TABLE_ENDDRAG_RECT" val="21*73*914*431"/>
</p:tagLst>
</file>

<file path=ppt/tags/tag4.xml><?xml version="1.0" encoding="utf-8"?>
<p:tagLst xmlns:p="http://schemas.openxmlformats.org/presentationml/2006/main">
  <p:tag name="TABLE_ENDDRAG_ORIGIN_RECT" val="908*452"/>
  <p:tag name="TABLE_ENDDRAG_RECT" val="28*48*908*452"/>
</p:tagLst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8104</Words>
  <Application>WPS Presentation</Application>
  <PresentationFormat>Grand écran</PresentationFormat>
  <Paragraphs>2056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SimSun</vt:lpstr>
      <vt:lpstr>Wingdings</vt:lpstr>
      <vt:lpstr>Arial</vt:lpstr>
      <vt:lpstr>Play</vt:lpstr>
      <vt:lpstr>Source Serif Pro</vt:lpstr>
      <vt:lpstr>Wingdings 3</vt:lpstr>
      <vt:lpstr>Times New Roman</vt:lpstr>
      <vt:lpstr>Calibri</vt:lpstr>
      <vt:lpstr>Calibri</vt:lpstr>
      <vt:lpstr>Franklin Gothic Book</vt:lpstr>
      <vt:lpstr>Century Gothic</vt:lpstr>
      <vt:lpstr>Tempus Sans ITC</vt:lpstr>
      <vt:lpstr>Microsoft YaHei</vt:lpstr>
      <vt:lpstr>Arial Unicode MS</vt:lpstr>
      <vt:lpstr>Times New Roman</vt:lpstr>
      <vt:lpstr>Thème Office</vt:lpstr>
      <vt:lpstr>Simple Light</vt:lpstr>
      <vt:lpstr>Brin</vt:lpstr>
      <vt:lpstr>PowerPoint 演示文稿</vt:lpstr>
      <vt:lpstr>PowerPoint 演示文稿</vt:lpstr>
      <vt:lpstr>PowerPoint 演示文稿</vt:lpstr>
      <vt:lpstr>PowerPoint 演示文稿</vt:lpstr>
      <vt:lpstr>Données démographiques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Aimé CIKOMOLA</dc:creator>
  <cp:lastModifiedBy>Gilbert Walumba Omari</cp:lastModifiedBy>
  <cp:revision>8</cp:revision>
  <dcterms:created xsi:type="dcterms:W3CDTF">2025-11-28T20:10:00Z</dcterms:created>
  <dcterms:modified xsi:type="dcterms:W3CDTF">2025-12-13T15:29:48Z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1036-12.2.0.23155</vt:lpwstr>
  </property>
</Properties>
</file>