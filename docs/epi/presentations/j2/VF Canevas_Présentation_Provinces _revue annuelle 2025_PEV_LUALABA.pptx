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31"/>
  </p:notesMasterIdLst>
  <p:sldIdLst>
    <p:sldId id="256" r:id="rId3"/>
    <p:sldId id="257" r:id="rId4"/>
    <p:sldId id="277" r:id="rId5"/>
    <p:sldId id="259" r:id="rId6"/>
    <p:sldId id="274" r:id="rId7"/>
    <p:sldId id="275" r:id="rId8"/>
    <p:sldId id="276" r:id="rId9"/>
    <p:sldId id="279" r:id="rId10"/>
    <p:sldId id="280" r:id="rId11"/>
    <p:sldId id="281" r:id="rId12"/>
    <p:sldId id="282" r:id="rId13"/>
    <p:sldId id="283" r:id="rId14"/>
    <p:sldId id="287" r:id="rId15"/>
    <p:sldId id="288" r:id="rId16"/>
    <p:sldId id="289" r:id="rId17"/>
    <p:sldId id="290" r:id="rId18"/>
    <p:sldId id="291" r:id="rId19"/>
    <p:sldId id="270" r:id="rId20"/>
    <p:sldId id="271" r:id="rId21"/>
    <p:sldId id="273" r:id="rId22"/>
    <p:sldId id="265" r:id="rId23"/>
    <p:sldId id="266" r:id="rId24"/>
    <p:sldId id="284" r:id="rId25"/>
    <p:sldId id="285" r:id="rId26"/>
    <p:sldId id="286" r:id="rId27"/>
    <p:sldId id="292" r:id="rId28"/>
    <p:sldId id="268" r:id="rId29"/>
    <p:sldId id="269" r:id="rId30"/>
  </p:sldIdLst>
  <p:sldSz cx="12192000" cy="6858000"/>
  <p:notesSz cx="6858000" cy="9144000"/>
  <p:embeddedFontLst>
    <p:embeddedFont>
      <p:font typeface="Play" panose="020B0604020202020204" charset="0"/>
      <p:regular r:id="rId32"/>
    </p:embeddedFont>
    <p:embeddedFont>
      <p:font typeface="Source Serif Pro" panose="02040603050405020204" pitchFamily="18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6042B85-2813-40D6-8C08-B53CA4025A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628BBFD1-A734-4757-B910-67CC1CD1593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370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2.fntdata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4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dirty="0"/>
              <a:t>CV RIPOSTE ROUGOELE</a:t>
            </a:r>
          </a:p>
          <a:p>
            <a:pPr>
              <a:defRPr/>
            </a:pPr>
            <a:r>
              <a:rPr lang="fr-FR" dirty="0"/>
              <a:t>PROVINCE DU LUALABA</a:t>
            </a:r>
          </a:p>
          <a:p>
            <a:pPr>
              <a:defRPr/>
            </a:pPr>
            <a:r>
              <a:rPr lang="fr-FR" dirty="0"/>
              <a:t>ZS</a:t>
            </a:r>
            <a:r>
              <a:rPr lang="fr-FR" baseline="0" dirty="0"/>
              <a:t> DE KANZENZE ET KAFAKUMBA</a:t>
            </a:r>
            <a:endParaRPr lang="fr-F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Feuil9!$C$1</c:f>
              <c:strCache>
                <c:ptCount val="1"/>
                <c:pt idx="0">
                  <c:v>CV KZZ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Feuil9!$C$2:$C$3</c:f>
              <c:numCache>
                <c:formatCode>0%</c:formatCode>
                <c:ptCount val="2"/>
                <c:pt idx="1">
                  <c:v>0.95799999999999996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79-4CBE-8BB2-6A7A83BEB722}"/>
            </c:ext>
          </c:extLst>
        </c:ser>
        <c:ser>
          <c:idx val="1"/>
          <c:order val="1"/>
          <c:tx>
            <c:strRef>
              <c:f>Feuil9!$D$1</c:f>
              <c:strCache>
                <c:ptCount val="1"/>
                <c:pt idx="0">
                  <c:v>CV KFB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Feuil9!$D$2:$D$3</c:f>
              <c:numCache>
                <c:formatCode>0%</c:formatCode>
                <c:ptCount val="2"/>
                <c:pt idx="1">
                  <c:v>1.0089999999999999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79-4CBE-8BB2-6A7A83BEB7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60419728"/>
        <c:axId val="860424624"/>
      </c:barChart>
      <c:catAx>
        <c:axId val="8604197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60424624"/>
        <c:crosses val="autoZero"/>
        <c:auto val="1"/>
        <c:lblAlgn val="ctr"/>
        <c:lblOffset val="100"/>
        <c:noMultiLvlLbl val="0"/>
      </c:catAx>
      <c:valAx>
        <c:axId val="860424624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860419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69916393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abc9d920d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2738" y="652463"/>
            <a:ext cx="5805487" cy="3267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45" name="Google Shape;145;g3aabc9d920d_0_191:notes"/>
          <p:cNvSpPr txBox="1">
            <a:spLocks noGrp="1"/>
          </p:cNvSpPr>
          <p:nvPr>
            <p:ph type="body" idx="1"/>
          </p:nvPr>
        </p:nvSpPr>
        <p:spPr>
          <a:xfrm>
            <a:off x="642938" y="4136571"/>
            <a:ext cx="5143500" cy="3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39695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abc9d920d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aabc9d920d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7340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038dcc816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038dcc816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0202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c9d920d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aabc9d920d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1197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25820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7c04f4bd1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7c04f4bd1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99331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0178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78450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2782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25233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71997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20659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5" name="Google Shape;25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480575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3" name="Google Shape;27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458465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4422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86782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aabc9d920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1496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aabc9d920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54576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abc9d920d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aabc9d920d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98561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aabc9d920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1621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abc9d920d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3aabc9d920d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78106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13632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7c04f4bd1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7c04f4bd1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7472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315" name="Google Shape;315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467310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a7c04f4bd1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a7c04f4bd1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81020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abc9d920d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3aabc9d920d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22507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abc9d920d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3aabc9d920d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3105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e de titre">
  <p:cSld name="1_Diapositive de titr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3385430" y="3768780"/>
            <a:ext cx="8572500" cy="23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3041"/>
              </a:buClr>
              <a:buSzPts val="3600"/>
              <a:buFont typeface="Play" panose="00000500000000000000"/>
              <a:buNone/>
              <a:defRPr sz="3600">
                <a:solidFill>
                  <a:srgbClr val="0A304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pic>
        <p:nvPicPr>
          <p:cNvPr id="18" name="Google Shape;18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23811" y="0"/>
            <a:ext cx="12215811" cy="3717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bc9d920d_0_27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94" name="Google Shape;94;g3aabc9d920d_0_27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95" name="Google Shape;95;g3aabc9d920d_0_27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abc9d920d_0_276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8" name="Google Shape;98;g3aabc9d920d_0_27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abc9d920d_0_27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aabc9d920d_0_27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g3aabc9d920d_0_27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abc9d920d_0_28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3aabc9d920d_0_28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6" name="Google Shape;106;g3aabc9d920d_0_283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7" name="Google Shape;107;g3aabc9d920d_0_28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abc9d920d_0_28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3aabc9d920d_0_28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abc9d920d_0_291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13" name="Google Shape;113;g3aabc9d920d_0_291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14" name="Google Shape;114;g3aabc9d920d_0_29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abc9d920d_0_295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17" name="Google Shape;117;g3aabc9d920d_0_29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abc9d920d_0_298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0" name="Google Shape;120;g3aabc9d920d_0_298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1" name="Google Shape;121;g3aabc9d920d_0_298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2" name="Google Shape;122;g3aabc9d920d_0_298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g3aabc9d920d_0_2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abc9d920d_0_304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26" name="Google Shape;126;g3aabc9d920d_0_30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abc9d920d_0_307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29" name="Google Shape;129;g3aabc9d920d_0_307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g3aabc9d920d_0_30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abc9d920d_0_3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abc9d920d_0_313"/>
          <p:cNvSpPr txBox="1">
            <a:spLocks noGrp="1"/>
          </p:cNvSpPr>
          <p:nvPr>
            <p:ph type="body" idx="1"/>
          </p:nvPr>
        </p:nvSpPr>
        <p:spPr>
          <a:xfrm>
            <a:off x="609600" y="457200"/>
            <a:ext cx="4876800" cy="5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5" name="Google Shape;135;g3aabc9d920d_0_313"/>
          <p:cNvSpPr txBox="1">
            <a:spLocks noGrp="1"/>
          </p:cNvSpPr>
          <p:nvPr>
            <p:ph type="title"/>
          </p:nvPr>
        </p:nvSpPr>
        <p:spPr>
          <a:xfrm>
            <a:off x="6502400" y="457200"/>
            <a:ext cx="3759300" cy="5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3aabc9d920d_0_313"/>
          <p:cNvSpPr txBox="1">
            <a:spLocks noGrp="1"/>
          </p:cNvSpPr>
          <p:nvPr>
            <p:ph type="dt" idx="10"/>
          </p:nvPr>
        </p:nvSpPr>
        <p:spPr>
          <a:xfrm>
            <a:off x="6502401" y="6426201"/>
            <a:ext cx="37593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7" name="Google Shape;137;g3aabc9d920d_0_313"/>
          <p:cNvSpPr txBox="1">
            <a:spLocks noGrp="1"/>
          </p:cNvSpPr>
          <p:nvPr>
            <p:ph type="sldNum" idx="12"/>
          </p:nvPr>
        </p:nvSpPr>
        <p:spPr>
          <a:xfrm>
            <a:off x="10363200" y="6400800"/>
            <a:ext cx="711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 fontScale="25000" lnSpcReduction="20000"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sp>
        <p:nvSpPr>
          <p:cNvPr id="138" name="Google Shape;138;g3aabc9d920d_0_313"/>
          <p:cNvSpPr txBox="1">
            <a:spLocks noGrp="1"/>
          </p:cNvSpPr>
          <p:nvPr>
            <p:ph type="ftr" idx="11"/>
          </p:nvPr>
        </p:nvSpPr>
        <p:spPr>
          <a:xfrm>
            <a:off x="6500284" y="6296248"/>
            <a:ext cx="3761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b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 1">
  <p:cSld name="CUSTOM_1_1_1_3_2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abc9d920d_0_319"/>
          <p:cNvSpPr txBox="1"/>
          <p:nvPr/>
        </p:nvSpPr>
        <p:spPr>
          <a:xfrm>
            <a:off x="0" y="0"/>
            <a:ext cx="3495900" cy="6858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aabc9d920d_0_31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buNone/>
              <a:defRPr sz="1700"/>
            </a:lvl1pPr>
            <a:lvl2pPr lvl="1">
              <a:buNone/>
              <a:defRPr sz="1700"/>
            </a:lvl2pPr>
            <a:lvl3pPr lvl="2">
              <a:buNone/>
              <a:defRPr sz="1700"/>
            </a:lvl3pPr>
            <a:lvl4pPr lvl="3">
              <a:buNone/>
              <a:defRPr sz="1700"/>
            </a:lvl4pPr>
            <a:lvl5pPr lvl="4">
              <a:buNone/>
              <a:defRPr sz="1700"/>
            </a:lvl5pPr>
            <a:lvl6pPr lvl="5">
              <a:buNone/>
              <a:defRPr sz="1700"/>
            </a:lvl6pPr>
            <a:lvl7pPr lvl="6">
              <a:buNone/>
              <a:defRPr sz="1700"/>
            </a:lvl7pPr>
            <a:lvl8pPr lvl="7">
              <a:buNone/>
              <a:defRPr sz="1700"/>
            </a:lvl8pPr>
            <a:lvl9pPr lvl="8">
              <a:buNone/>
              <a:defRPr sz="17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sp>
        <p:nvSpPr>
          <p:cNvPr id="142" name="Google Shape;142;g3aabc9d920d_0_319"/>
          <p:cNvSpPr txBox="1">
            <a:spLocks noGrp="1"/>
          </p:cNvSpPr>
          <p:nvPr>
            <p:ph type="title"/>
          </p:nvPr>
        </p:nvSpPr>
        <p:spPr>
          <a:xfrm>
            <a:off x="325667" y="2918467"/>
            <a:ext cx="2844900" cy="763500"/>
          </a:xfrm>
          <a:prstGeom prst="rect">
            <a:avLst/>
          </a:prstGeom>
        </p:spPr>
        <p:txBody>
          <a:bodyPr spcFirstLastPara="1" wrap="square" lIns="0" tIns="0" rIns="12190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  <a:defRPr sz="4400" b="0" i="0" u="none" strike="noStrike" cap="none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abc9d920d_0_26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0" name="Google Shape;90;g3aabc9d920d_0_26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 panose="020B0604020202020204"/>
              <a:buChar char="●"/>
              <a:defRPr sz="2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1" name="Google Shape;91;g3aabc9d920d_0_26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aabc9d920d_0_191"/>
          <p:cNvPicPr preferRelativeResize="0"/>
          <p:nvPr/>
        </p:nvPicPr>
        <p:blipFill rotWithShape="1">
          <a:blip r:embed="rId3"/>
          <a:srcRect l="-17785"/>
          <a:stretch>
            <a:fillRect/>
          </a:stretch>
        </p:blipFill>
        <p:spPr>
          <a:xfrm>
            <a:off x="-681739" y="1646127"/>
            <a:ext cx="4525279" cy="370309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aabc9d920d_0_191"/>
          <p:cNvSpPr txBox="1"/>
          <p:nvPr/>
        </p:nvSpPr>
        <p:spPr>
          <a:xfrm>
            <a:off x="4210333" y="1516433"/>
            <a:ext cx="7894800" cy="18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43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</a:t>
            </a:r>
            <a:r>
              <a:rPr lang="en-US" sz="4300" b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annuelle</a:t>
            </a:r>
            <a:r>
              <a:rPr lang="en-US" sz="43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2025</a:t>
            </a:r>
            <a:endParaRPr sz="43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lang="" altLang="en-US" sz="4300" b="1" i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lang="" altLang="en-US" sz="4300" b="1" i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" altLang="en-US" sz="4300" b="1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</a:t>
            </a:r>
            <a:r>
              <a:rPr lang="en-US" sz="4300" b="1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rovince</a:t>
            </a:r>
            <a:r>
              <a:rPr lang="" altLang="en-US" sz="4300" b="1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du Lualaba</a:t>
            </a:r>
          </a:p>
        </p:txBody>
      </p:sp>
      <p:sp>
        <p:nvSpPr>
          <p:cNvPr id="149" name="Google Shape;149;g3aabc9d920d_0_191"/>
          <p:cNvSpPr/>
          <p:nvPr/>
        </p:nvSpPr>
        <p:spPr>
          <a:xfrm>
            <a:off x="3661467" y="1516428"/>
            <a:ext cx="373500" cy="186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g3aabc9d920d_0_191"/>
          <p:cNvSpPr/>
          <p:nvPr/>
        </p:nvSpPr>
        <p:spPr>
          <a:xfrm>
            <a:off x="3659879" y="1516428"/>
            <a:ext cx="373500" cy="1867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g3aabc9d920d_0_191"/>
          <p:cNvSpPr txBox="1"/>
          <p:nvPr/>
        </p:nvSpPr>
        <p:spPr>
          <a:xfrm>
            <a:off x="4717875" y="6162200"/>
            <a:ext cx="45252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0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Decembre 2025</a:t>
            </a:r>
            <a:endParaRPr sz="2000" b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abc9d920d_0_199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b="1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Agenda</a:t>
            </a: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7" name="Google Shape;157;g3aabc9d920d_0_19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8" name="Google Shape;158;g3aabc9d920d_0_19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9" name="Google Shape;159;g3aabc9d920d_0_19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Google Shape;160;g3aabc9d920d_0_199"/>
          <p:cNvSpPr txBox="1"/>
          <p:nvPr/>
        </p:nvSpPr>
        <p:spPr>
          <a:xfrm>
            <a:off x="566533" y="1550500"/>
            <a:ext cx="10714500" cy="47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Présentation de la Province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activités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 (zones couvertes, impact sur la couverture)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Facteurs de succès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 rencontrés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Bonnes pratiques à capitaliser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 FFOM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Recommandations pour 2026</a:t>
            </a:r>
            <a:endParaRPr sz="27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/>
          <p:nvPr/>
        </p:nvSpPr>
        <p:spPr>
          <a:xfrm>
            <a:off x="0" y="51616"/>
            <a:ext cx="235600" cy="65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>
              <a:buSzPts val="1400"/>
            </a:pPr>
            <a:endParaRPr sz="1867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3" name="Google Shape;163;p16"/>
          <p:cNvCxnSpPr/>
          <p:nvPr/>
        </p:nvCxnSpPr>
        <p:spPr>
          <a:xfrm>
            <a:off x="267700" y="6427967"/>
            <a:ext cx="116404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4" name="Google Shape;164;p16"/>
          <p:cNvSpPr txBox="1"/>
          <p:nvPr/>
        </p:nvSpPr>
        <p:spPr>
          <a:xfrm>
            <a:off x="267700" y="6492843"/>
            <a:ext cx="114148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endParaRPr sz="1067">
              <a:solidFill>
                <a:srgbClr val="451F61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267700" y="6492843"/>
            <a:ext cx="114148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endParaRPr sz="1067">
              <a:solidFill>
                <a:srgbClr val="451F61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pic>
        <p:nvPicPr>
          <p:cNvPr id="166" name="Google Shape;16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700" y="1675585"/>
            <a:ext cx="5313200" cy="325023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/>
          <p:nvPr/>
        </p:nvSpPr>
        <p:spPr>
          <a:xfrm>
            <a:off x="235600" y="5115967"/>
            <a:ext cx="3836800" cy="913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113636"/>
              </a:lnSpc>
              <a:buClr>
                <a:schemeClr val="dk1"/>
              </a:buClr>
              <a:buSzPts val="1100"/>
            </a:pPr>
            <a:r>
              <a:rPr lang="en-GB" sz="1333" b="1">
                <a:solidFill>
                  <a:schemeClr val="dk1"/>
                </a:solidFill>
              </a:rPr>
              <a:t>Défis géographiques</a:t>
            </a:r>
            <a:endParaRPr sz="1333" b="1">
              <a:solidFill>
                <a:schemeClr val="dk1"/>
              </a:solidFill>
            </a:endParaRPr>
          </a:p>
          <a:p>
            <a:pPr>
              <a:lnSpc>
                <a:spcPct val="118181"/>
              </a:lnSpc>
            </a:pPr>
            <a:r>
              <a:rPr lang="en-GB" sz="1200">
                <a:solidFill>
                  <a:schemeClr val="dk1"/>
                </a:solidFill>
              </a:rPr>
              <a:t>Deux zones de santé (Kalamba et Kapanga) ont une accessibilité géographique extrêmement difficile avec de mauvaises infrastructures routières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4426851" y="5115933"/>
            <a:ext cx="3519600" cy="913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113636"/>
              </a:lnSpc>
            </a:pPr>
            <a:r>
              <a:rPr lang="en-GB" sz="1333" b="1">
                <a:solidFill>
                  <a:schemeClr val="dk1"/>
                </a:solidFill>
              </a:rPr>
              <a:t>Difficulté d'Accès</a:t>
            </a:r>
            <a:endParaRPr sz="1333" b="1">
              <a:solidFill>
                <a:schemeClr val="dk1"/>
              </a:solidFill>
            </a:endParaRPr>
          </a:p>
          <a:p>
            <a:pPr>
              <a:lnSpc>
                <a:spcPct val="118181"/>
              </a:lnSpc>
            </a:pPr>
            <a:r>
              <a:rPr lang="en-GB" sz="1200">
                <a:solidFill>
                  <a:schemeClr val="dk1"/>
                </a:solidFill>
              </a:rPr>
              <a:t>27 aires de santé avec un accès difficile, représentant 11% du total des aires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8300900" y="5115967"/>
            <a:ext cx="3381600" cy="913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113636"/>
              </a:lnSpc>
            </a:pPr>
            <a:r>
              <a:rPr lang="en-GB" sz="1333" b="1">
                <a:solidFill>
                  <a:schemeClr val="dk1"/>
                </a:solidFill>
              </a:rPr>
              <a:t>Activité minière</a:t>
            </a:r>
            <a:endParaRPr sz="1333" b="1">
              <a:solidFill>
                <a:schemeClr val="dk1"/>
              </a:solidFill>
            </a:endParaRPr>
          </a:p>
          <a:p>
            <a:pPr>
              <a:lnSpc>
                <a:spcPct val="118181"/>
              </a:lnSpc>
            </a:pPr>
            <a:r>
              <a:rPr lang="en-GB" sz="1200">
                <a:solidFill>
                  <a:schemeClr val="dk1"/>
                </a:solidFill>
              </a:rPr>
              <a:t>13 sites miniers avec des populations importantes nécessitant des stratégies de vaccination ciblées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5823500" y="1571200"/>
            <a:ext cx="5916000" cy="33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36363"/>
              </a:lnSpc>
            </a:pPr>
            <a:r>
              <a:rPr lang="en-GB" sz="1600" b="1">
                <a:solidFill>
                  <a:srgbClr val="1255CC"/>
                </a:solidFill>
              </a:rPr>
              <a:t>Statistiques Démographiques</a:t>
            </a:r>
            <a:endParaRPr sz="1600" b="1">
              <a:solidFill>
                <a:srgbClr val="1255CC"/>
              </a:solidFill>
            </a:endParaRPr>
          </a:p>
          <a:p>
            <a:pPr>
              <a:lnSpc>
                <a:spcPct val="118181"/>
              </a:lnSpc>
            </a:pPr>
            <a:r>
              <a:rPr lang="en-GB" sz="1600" b="1">
                <a:solidFill>
                  <a:srgbClr val="2C2821"/>
                </a:solidFill>
              </a:rPr>
              <a:t>Population Actuelle :</a:t>
            </a:r>
            <a:r>
              <a:rPr lang="en-GB" sz="1600">
                <a:solidFill>
                  <a:srgbClr val="2C2821"/>
                </a:solidFill>
              </a:rPr>
              <a:t> 3 194 626 habitants</a:t>
            </a:r>
            <a:endParaRPr sz="1600">
              <a:solidFill>
                <a:srgbClr val="2C2821"/>
              </a:solidFill>
            </a:endParaRPr>
          </a:p>
          <a:p>
            <a:pPr>
              <a:lnSpc>
                <a:spcPct val="118181"/>
              </a:lnSpc>
            </a:pPr>
            <a:r>
              <a:rPr lang="en-GB" sz="1600" b="1">
                <a:solidFill>
                  <a:srgbClr val="2C2821"/>
                </a:solidFill>
              </a:rPr>
              <a:t>Population Cible (0-11 mois) :</a:t>
            </a:r>
            <a:r>
              <a:rPr lang="en-GB" sz="1600">
                <a:solidFill>
                  <a:srgbClr val="2C2821"/>
                </a:solidFill>
              </a:rPr>
              <a:t> 127 785 enfants</a:t>
            </a:r>
            <a:endParaRPr sz="1600">
              <a:solidFill>
                <a:srgbClr val="2C2821"/>
              </a:solidFill>
            </a:endParaRPr>
          </a:p>
          <a:p>
            <a:pPr>
              <a:lnSpc>
                <a:spcPct val="118181"/>
              </a:lnSpc>
            </a:pPr>
            <a:r>
              <a:rPr lang="en-GB" sz="1600" b="1">
                <a:solidFill>
                  <a:srgbClr val="2C2821"/>
                </a:solidFill>
              </a:rPr>
              <a:t>Population de Performance :</a:t>
            </a:r>
            <a:r>
              <a:rPr lang="en-GB" sz="1600">
                <a:solidFill>
                  <a:srgbClr val="2C2821"/>
                </a:solidFill>
              </a:rPr>
              <a:t> 5 248 760 habitants avec 209 450 enfants âgés de 0-11 mois</a:t>
            </a:r>
            <a:endParaRPr sz="1600">
              <a:solidFill>
                <a:srgbClr val="2C2821"/>
              </a:solidFill>
            </a:endParaRPr>
          </a:p>
          <a:p>
            <a:pPr>
              <a:lnSpc>
                <a:spcPct val="118181"/>
              </a:lnSpc>
            </a:pPr>
            <a:endParaRPr sz="1600">
              <a:solidFill>
                <a:srgbClr val="2C2821"/>
              </a:solidFill>
            </a:endParaRPr>
          </a:p>
          <a:p>
            <a:pPr>
              <a:lnSpc>
                <a:spcPct val="113636"/>
              </a:lnSpc>
            </a:pPr>
            <a:r>
              <a:rPr lang="en-GB" sz="1600" b="1">
                <a:solidFill>
                  <a:srgbClr val="1255CC"/>
                </a:solidFill>
              </a:rPr>
              <a:t>Infrastructure Sanitaire</a:t>
            </a:r>
            <a:endParaRPr sz="1600" b="1">
              <a:solidFill>
                <a:srgbClr val="1255CC"/>
              </a:solidFill>
            </a:endParaRPr>
          </a:p>
          <a:p>
            <a:pPr marL="609585" indent="-406390">
              <a:lnSpc>
                <a:spcPct val="118181"/>
              </a:lnSpc>
              <a:buClr>
                <a:srgbClr val="2C2821"/>
              </a:buClr>
              <a:buSzPts val="1200"/>
              <a:buChar char="●"/>
            </a:pPr>
            <a:r>
              <a:rPr lang="en-GB" sz="1600">
                <a:solidFill>
                  <a:srgbClr val="2C2821"/>
                </a:solidFill>
              </a:rPr>
              <a:t>14 Zones de Santé (ZS)</a:t>
            </a:r>
            <a:endParaRPr sz="1600">
              <a:solidFill>
                <a:srgbClr val="2C2821"/>
              </a:solidFill>
            </a:endParaRPr>
          </a:p>
          <a:p>
            <a:pPr marL="609585" indent="-406390">
              <a:lnSpc>
                <a:spcPct val="118181"/>
              </a:lnSpc>
              <a:buClr>
                <a:srgbClr val="2C2821"/>
              </a:buClr>
              <a:buSzPts val="1200"/>
              <a:buChar char="●"/>
            </a:pPr>
            <a:r>
              <a:rPr lang="en-GB" sz="1600">
                <a:solidFill>
                  <a:srgbClr val="2C2821"/>
                </a:solidFill>
              </a:rPr>
              <a:t>281 Aires de Santé</a:t>
            </a:r>
            <a:endParaRPr sz="1600">
              <a:solidFill>
                <a:srgbClr val="2C2821"/>
              </a:solidFill>
            </a:endParaRPr>
          </a:p>
          <a:p>
            <a:pPr marL="609585" indent="-406390">
              <a:lnSpc>
                <a:spcPct val="118181"/>
              </a:lnSpc>
              <a:buClr>
                <a:srgbClr val="2C2821"/>
              </a:buClr>
              <a:buSzPts val="1200"/>
              <a:buChar char="●"/>
            </a:pPr>
            <a:r>
              <a:rPr lang="en-GB" sz="1600">
                <a:solidFill>
                  <a:srgbClr val="2C2821"/>
                </a:solidFill>
              </a:rPr>
              <a:t>83,9% de couverture de la chaîne du froid au niveau périphérique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210701" y="4411"/>
            <a:ext cx="11981300" cy="549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SzPts val="2000"/>
            </a:pPr>
            <a:r>
              <a:rPr lang="en-GB" sz="2400" b="1" dirty="0">
                <a:solidFill>
                  <a:srgbClr val="2C4593"/>
                </a:solidFill>
                <a:sym typeface="Times New Roman"/>
              </a:rPr>
              <a:t>1. </a:t>
            </a:r>
            <a:r>
              <a:rPr lang="en-GB" sz="2400" b="1" dirty="0" err="1">
                <a:solidFill>
                  <a:srgbClr val="2C4593"/>
                </a:solidFill>
                <a:sym typeface="Times New Roman"/>
              </a:rPr>
              <a:t>Contexte</a:t>
            </a:r>
            <a:r>
              <a:rPr lang="en-GB" sz="2400" b="1" dirty="0">
                <a:solidFill>
                  <a:srgbClr val="2C4593"/>
                </a:solidFill>
                <a:sym typeface="Times New Roman"/>
              </a:rPr>
              <a:t> Provincial de la DPS Lualaba: </a:t>
            </a:r>
            <a:r>
              <a:rPr lang="en-GB" sz="2400" b="1" dirty="0" err="1">
                <a:solidFill>
                  <a:srgbClr val="2C4593"/>
                </a:solidFill>
                <a:sym typeface="Times New Roman"/>
              </a:rPr>
              <a:t>Profil</a:t>
            </a:r>
            <a:r>
              <a:rPr lang="en-GB" sz="2400" b="1" dirty="0">
                <a:solidFill>
                  <a:srgbClr val="2C4593"/>
                </a:solidFill>
                <a:sym typeface="Times New Roman"/>
              </a:rPr>
              <a:t> </a:t>
            </a:r>
            <a:r>
              <a:rPr lang="en-GB" sz="2400" b="1" dirty="0" err="1">
                <a:solidFill>
                  <a:srgbClr val="2C4593"/>
                </a:solidFill>
                <a:sym typeface="Times New Roman"/>
              </a:rPr>
              <a:t>Géographique</a:t>
            </a:r>
            <a:r>
              <a:rPr lang="en-GB" sz="2400" b="1" dirty="0">
                <a:solidFill>
                  <a:srgbClr val="2C4593"/>
                </a:solidFill>
                <a:sym typeface="Times New Roman"/>
              </a:rPr>
              <a:t> et </a:t>
            </a:r>
            <a:r>
              <a:rPr lang="en-GB" sz="2400" b="1" dirty="0" err="1">
                <a:solidFill>
                  <a:srgbClr val="2C4593"/>
                </a:solidFill>
                <a:sym typeface="Times New Roman"/>
              </a:rPr>
              <a:t>Démographique</a:t>
            </a:r>
            <a:endParaRPr sz="2400" b="1" dirty="0">
              <a:solidFill>
                <a:srgbClr val="2C4593"/>
              </a:solidFill>
              <a:sym typeface="Times New Roman"/>
            </a:endParaRPr>
          </a:p>
          <a:p>
            <a:pPr>
              <a:buSzPts val="2000"/>
            </a:pPr>
            <a:endParaRPr sz="2400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210700" y="1049517"/>
            <a:ext cx="4544800" cy="4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GB" sz="2000">
                <a:solidFill>
                  <a:srgbClr val="1255CC"/>
                </a:solidFill>
              </a:rPr>
              <a:t>Carte géographique de la province</a:t>
            </a:r>
            <a:endParaRPr sz="2000">
              <a:solidFill>
                <a:srgbClr val="1255CC"/>
              </a:solidFill>
            </a:endParaRPr>
          </a:p>
        </p:txBody>
      </p:sp>
      <p:cxnSp>
        <p:nvCxnSpPr>
          <p:cNvPr id="173" name="Google Shape;173;p16"/>
          <p:cNvCxnSpPr/>
          <p:nvPr/>
        </p:nvCxnSpPr>
        <p:spPr>
          <a:xfrm rot="10800000" flipH="1">
            <a:off x="228067" y="1533387"/>
            <a:ext cx="5310400" cy="3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971230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c9d920d_0_226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activités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c9d920d_0_22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c9d920d_0_22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c9d920d_0_22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c9d920d_0_226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81" name="Google Shape;181;g3aabc9d920d_0_226"/>
          <p:cNvGraphicFramePr/>
          <p:nvPr>
            <p:extLst>
              <p:ext uri="{D42A27DB-BD31-4B8C-83A1-F6EECF244321}">
                <p14:modId xmlns:p14="http://schemas.microsoft.com/office/powerpoint/2010/main" val="3451620089"/>
              </p:ext>
            </p:extLst>
          </p:nvPr>
        </p:nvGraphicFramePr>
        <p:xfrm>
          <a:off x="458600" y="1189100"/>
          <a:ext cx="11274900" cy="7345320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281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8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 </a:t>
                      </a:r>
                      <a:r>
                        <a:rPr lang="en-US" sz="1500" b="1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spécifiques</a:t>
                      </a:r>
                      <a:r>
                        <a:rPr lang="en-US" sz="15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ou </a:t>
                      </a:r>
                      <a:r>
                        <a:rPr lang="en-US" sz="1500" b="1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approches</a:t>
                      </a:r>
                      <a:r>
                        <a:rPr lang="en-US" sz="15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500" b="1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spéciale</a:t>
                      </a:r>
                      <a:r>
                        <a:rPr lang="" altLang="en-US" sz="15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Description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Objectifs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Perimetre d’intervention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CAMPAGNE</a:t>
                      </a:r>
                      <a:r>
                        <a:rPr lang="fr-FR" baseline="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ROUGEOLE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RIPOSTE DANS 2 ZS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Contribuer</a:t>
                      </a:r>
                      <a:r>
                        <a:rPr lang="fr-FR" baseline="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à l’élimination de la rougeole   dans le monde</a:t>
                      </a:r>
                      <a:endParaRPr lang="fr-FR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ZS de Kafakumba et Kafakumba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Campagne</a:t>
                      </a:r>
                      <a:r>
                        <a:rPr lang="fr-FR" baseline="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Nvpo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baseline="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baseline="0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VPOb</a:t>
                      </a:r>
                      <a:r>
                        <a:rPr lang="fr-FR" baseline="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et </a:t>
                      </a:r>
                      <a:r>
                        <a:rPr lang="fr-FR" baseline="0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nVPO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RIPOSTE DANS 14 ZS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Contribuer</a:t>
                      </a:r>
                      <a:r>
                        <a:rPr lang="fr-FR" baseline="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à l’éradication de la polio en agissant  sur son variant</a:t>
                      </a:r>
                      <a:endParaRPr lang="fr-FR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14 ZS de l’antenne</a:t>
                      </a:r>
                      <a:r>
                        <a:rPr lang="fr-FR" baseline="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 la province du Lualaba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Campagne</a:t>
                      </a:r>
                      <a:r>
                        <a:rPr lang="fr-FR" baseline="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contre la FJ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PREVENTION DE LA FJ 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Contribuer</a:t>
                      </a:r>
                      <a:r>
                        <a:rPr lang="fr-FR" baseline="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à l’élimination de la fièvre jaune   dans le monde</a:t>
                      </a:r>
                      <a:endParaRPr lang="fr-FR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10 ZS de la province</a:t>
                      </a:r>
                      <a:r>
                        <a:rPr lang="fr-FR" baseline="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du Lualaba dont 2 de l’antenne de Kisenge et 8 de l’antenne de Kolwezi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Campagne</a:t>
                      </a:r>
                      <a:r>
                        <a:rPr lang="fr-FR" baseline="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fr-FR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RR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INTRODUCTION</a:t>
                      </a:r>
                      <a:r>
                        <a:rPr lang="fr-FR" baseline="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D’UN NOUVEAU VACCIN RR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Contribuer</a:t>
                      </a:r>
                      <a:r>
                        <a:rPr lang="fr-FR" baseline="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à l’élimination de la rougeole et de la rubéole  dans le monde</a:t>
                      </a:r>
                      <a:endParaRPr lang="fr-FR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14 ZS de la province</a:t>
                      </a:r>
                      <a:r>
                        <a:rPr lang="fr-FR" baseline="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du Lualaba dont 6 de l’antenne de Kisenge et 8 de l’antenne de Kolwezi</a:t>
                      </a:r>
                      <a:endParaRPr lang="fr-FR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IPVS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LES AS AYANT DES ENFANTS 0 DOSES ET DES SOUS VACCINE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Récupérer</a:t>
                      </a:r>
                      <a:r>
                        <a:rPr lang="fr-FR" baseline="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tous les enfants zéros doses et les sous vacciné 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14 ZS de la province</a:t>
                      </a:r>
                      <a:r>
                        <a:rPr lang="fr-FR" baseline="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du Lualaba dont 6 de l’antenne de Kisenge et 8 de l’antenne de Kolwezi</a:t>
                      </a:r>
                      <a:endParaRPr lang="fr-FR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0" y="272215"/>
            <a:ext cx="235600" cy="655200"/>
          </a:xfrm>
          <a:prstGeom prst="rect">
            <a:avLst/>
          </a:prstGeom>
          <a:solidFill>
            <a:srgbClr val="2C4593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>
              <a:buSzPts val="1400"/>
            </a:pPr>
            <a:endParaRPr sz="1867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345600" y="283833"/>
            <a:ext cx="11846400" cy="6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indent="482588"/>
            <a:r>
              <a:rPr lang="en-GB" sz="2667" b="1" dirty="0">
                <a:solidFill>
                  <a:srgbClr val="2C4593"/>
                </a:solidFill>
              </a:rPr>
              <a:t>La couverture </a:t>
            </a:r>
            <a:r>
              <a:rPr lang="en-GB" sz="2667" b="1" dirty="0" err="1">
                <a:solidFill>
                  <a:srgbClr val="2C4593"/>
                </a:solidFill>
              </a:rPr>
              <a:t>vaccinale</a:t>
            </a:r>
            <a:r>
              <a:rPr lang="en-GB" sz="2667" b="1" dirty="0">
                <a:solidFill>
                  <a:srgbClr val="2C4593"/>
                </a:solidFill>
              </a:rPr>
              <a:t> </a:t>
            </a:r>
            <a:r>
              <a:rPr lang="en-GB" sz="2667" b="1" dirty="0" err="1">
                <a:solidFill>
                  <a:srgbClr val="2C4593"/>
                </a:solidFill>
              </a:rPr>
              <a:t>complète</a:t>
            </a:r>
            <a:r>
              <a:rPr lang="en-GB" sz="2667" b="1" dirty="0">
                <a:solidFill>
                  <a:srgbClr val="2C4593"/>
                </a:solidFill>
              </a:rPr>
              <a:t> chez les enfants de </a:t>
            </a:r>
            <a:r>
              <a:rPr lang="en-GB" sz="2667" b="1" dirty="0" err="1">
                <a:solidFill>
                  <a:srgbClr val="2C4593"/>
                </a:solidFill>
              </a:rPr>
              <a:t>moins</a:t>
            </a:r>
            <a:r>
              <a:rPr lang="en-GB" sz="2667" b="1" dirty="0">
                <a:solidFill>
                  <a:srgbClr val="2C4593"/>
                </a:solidFill>
              </a:rPr>
              <a:t> de 1 </a:t>
            </a:r>
            <a:r>
              <a:rPr lang="en-GB" sz="2667" b="1" dirty="0" err="1">
                <a:solidFill>
                  <a:srgbClr val="2C4593"/>
                </a:solidFill>
              </a:rPr>
              <a:t>ans</a:t>
            </a:r>
            <a:r>
              <a:rPr lang="en-GB" sz="2667" b="1" dirty="0">
                <a:solidFill>
                  <a:srgbClr val="2C4593"/>
                </a:solidFill>
              </a:rPr>
              <a:t> </a:t>
            </a:r>
            <a:r>
              <a:rPr lang="en-GB" sz="2667" b="1" dirty="0" err="1">
                <a:solidFill>
                  <a:srgbClr val="2C4593"/>
                </a:solidFill>
              </a:rPr>
              <a:t>demeure</a:t>
            </a:r>
            <a:r>
              <a:rPr lang="en-GB" sz="2667" b="1" dirty="0">
                <a:solidFill>
                  <a:srgbClr val="2C4593"/>
                </a:solidFill>
              </a:rPr>
              <a:t> </a:t>
            </a:r>
            <a:r>
              <a:rPr lang="en-GB" sz="2667" b="1" dirty="0" err="1">
                <a:solidFill>
                  <a:srgbClr val="2C4593"/>
                </a:solidFill>
              </a:rPr>
              <a:t>faible</a:t>
            </a:r>
            <a:r>
              <a:rPr lang="en-GB" sz="2667" b="1" dirty="0">
                <a:solidFill>
                  <a:srgbClr val="2C4593"/>
                </a:solidFill>
              </a:rPr>
              <a:t> </a:t>
            </a:r>
            <a:r>
              <a:rPr lang="en-GB" sz="2667" b="1" dirty="0" err="1">
                <a:solidFill>
                  <a:srgbClr val="2C4593"/>
                </a:solidFill>
              </a:rPr>
              <a:t>en</a:t>
            </a:r>
            <a:r>
              <a:rPr lang="en-GB" sz="2667" b="1" dirty="0">
                <a:solidFill>
                  <a:srgbClr val="2C4593"/>
                </a:solidFill>
              </a:rPr>
              <a:t> </a:t>
            </a:r>
            <a:r>
              <a:rPr lang="en-GB" sz="2667" b="1" dirty="0" err="1">
                <a:solidFill>
                  <a:srgbClr val="2C4593"/>
                </a:solidFill>
              </a:rPr>
              <a:t>dépit</a:t>
            </a:r>
            <a:r>
              <a:rPr lang="en-GB" sz="2667" b="1" dirty="0">
                <a:solidFill>
                  <a:srgbClr val="2C4593"/>
                </a:solidFill>
              </a:rPr>
              <a:t> des </a:t>
            </a:r>
            <a:r>
              <a:rPr lang="en-GB" sz="2667" b="1" dirty="0" err="1">
                <a:solidFill>
                  <a:srgbClr val="2C4593"/>
                </a:solidFill>
              </a:rPr>
              <a:t>progrès</a:t>
            </a:r>
            <a:r>
              <a:rPr lang="en-GB" sz="2667" b="1" dirty="0">
                <a:solidFill>
                  <a:srgbClr val="2C4593"/>
                </a:solidFill>
              </a:rPr>
              <a:t> notable </a:t>
            </a:r>
            <a:r>
              <a:rPr lang="en-GB" sz="2667" b="1" dirty="0" err="1">
                <a:solidFill>
                  <a:srgbClr val="2C4593"/>
                </a:solidFill>
              </a:rPr>
              <a:t>en</a:t>
            </a:r>
            <a:r>
              <a:rPr lang="en-GB" sz="2667" b="1" dirty="0">
                <a:solidFill>
                  <a:srgbClr val="2C4593"/>
                </a:solidFill>
              </a:rPr>
              <a:t> matière de vaccination</a:t>
            </a:r>
            <a:endParaRPr sz="2667" b="1" dirty="0">
              <a:solidFill>
                <a:srgbClr val="2C459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270833" y="4154048"/>
            <a:ext cx="4270400" cy="12056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141700" tIns="141700" rIns="141700" bIns="141700" anchor="t" anchorCtr="0">
            <a:noAutofit/>
          </a:bodyPr>
          <a:lstStyle/>
          <a:p>
            <a:pPr algn="ctr"/>
            <a:r>
              <a:rPr lang="en-GB" sz="2036">
                <a:solidFill>
                  <a:srgbClr val="274E13"/>
                </a:solidFill>
              </a:rPr>
              <a:t>Gain actuel</a:t>
            </a:r>
            <a:endParaRPr sz="1416">
              <a:solidFill>
                <a:srgbClr val="5B0F00"/>
              </a:solidFill>
            </a:endParaRPr>
          </a:p>
          <a:p>
            <a:pPr algn="ctr">
              <a:spcBef>
                <a:spcPts val="1333"/>
              </a:spcBef>
            </a:pPr>
            <a:r>
              <a:rPr lang="en-GB" sz="2811" b="1">
                <a:solidFill>
                  <a:srgbClr val="274E13"/>
                </a:solidFill>
              </a:rPr>
              <a:t>18,2%</a:t>
            </a:r>
            <a:endParaRPr sz="2036">
              <a:solidFill>
                <a:srgbClr val="274E13"/>
              </a:solidFill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270833" y="1276733"/>
            <a:ext cx="4270400" cy="1449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>
            <a:noFill/>
          </a:ln>
        </p:spPr>
        <p:txBody>
          <a:bodyPr spcFirstLastPara="1" wrap="square" lIns="141700" tIns="141700" rIns="141700" bIns="141700" anchor="t" anchorCtr="0">
            <a:noAutofit/>
          </a:bodyPr>
          <a:lstStyle/>
          <a:p>
            <a:pPr algn="ctr"/>
            <a:r>
              <a:rPr lang="en-GB" sz="2036">
                <a:solidFill>
                  <a:srgbClr val="5B0F00"/>
                </a:solidFill>
              </a:rPr>
              <a:t>Couverture complète</a:t>
            </a:r>
            <a:endParaRPr sz="1416">
              <a:solidFill>
                <a:srgbClr val="5B0F00"/>
              </a:solidFill>
            </a:endParaRPr>
          </a:p>
          <a:p>
            <a:pPr algn="ctr">
              <a:spcBef>
                <a:spcPts val="1333"/>
              </a:spcBef>
            </a:pPr>
            <a:r>
              <a:rPr lang="en-GB" sz="2811" b="1">
                <a:solidFill>
                  <a:srgbClr val="5B0F00"/>
                </a:solidFill>
              </a:rPr>
              <a:t>47,3%</a:t>
            </a:r>
            <a:r>
              <a:rPr lang="en-GB" sz="1733" b="1" i="1">
                <a:solidFill>
                  <a:srgbClr val="5B0F00"/>
                </a:solidFill>
              </a:rPr>
              <a:t> en 2025</a:t>
            </a:r>
            <a:endParaRPr sz="1733" b="1" i="1">
              <a:solidFill>
                <a:srgbClr val="5B0F00"/>
              </a:solidFill>
            </a:endParaRPr>
          </a:p>
          <a:p>
            <a:pPr algn="ctr"/>
            <a:r>
              <a:rPr lang="en-GB" sz="1467" i="1">
                <a:solidFill>
                  <a:srgbClr val="5B0F00"/>
                </a:solidFill>
              </a:rPr>
              <a:t>(Vs 29,1% en 2023)</a:t>
            </a:r>
            <a:endParaRPr sz="1467" b="1" i="1">
              <a:solidFill>
                <a:srgbClr val="5B0F00"/>
              </a:solidFill>
            </a:endParaRPr>
          </a:p>
        </p:txBody>
      </p:sp>
      <p:grpSp>
        <p:nvGrpSpPr>
          <p:cNvPr id="133" name="Google Shape;133;p6"/>
          <p:cNvGrpSpPr/>
          <p:nvPr/>
        </p:nvGrpSpPr>
        <p:grpSpPr>
          <a:xfrm>
            <a:off x="551453" y="4529969"/>
            <a:ext cx="371603" cy="516416"/>
            <a:chOff x="4844586" y="3458026"/>
            <a:chExt cx="266700" cy="370634"/>
          </a:xfrm>
        </p:grpSpPr>
        <p:sp>
          <p:nvSpPr>
            <p:cNvPr id="134" name="Google Shape;134;p6"/>
            <p:cNvSpPr/>
            <p:nvPr/>
          </p:nvSpPr>
          <p:spPr>
            <a:xfrm>
              <a:off x="4844586" y="3792737"/>
              <a:ext cx="73421" cy="35923"/>
            </a:xfrm>
            <a:custGeom>
              <a:avLst/>
              <a:gdLst/>
              <a:ahLst/>
              <a:cxnLst/>
              <a:rect l="l" t="t" r="r" b="b"/>
              <a:pathLst>
                <a:path w="2144" h="1049" extrusionOk="0">
                  <a:moveTo>
                    <a:pt x="0" y="1"/>
                  </a:moveTo>
                  <a:lnTo>
                    <a:pt x="0" y="715"/>
                  </a:lnTo>
                  <a:cubicBezTo>
                    <a:pt x="0" y="906"/>
                    <a:pt x="143" y="1049"/>
                    <a:pt x="310" y="1049"/>
                  </a:cubicBezTo>
                  <a:lnTo>
                    <a:pt x="1834" y="1049"/>
                  </a:lnTo>
                  <a:cubicBezTo>
                    <a:pt x="2001" y="1049"/>
                    <a:pt x="2144" y="906"/>
                    <a:pt x="2144" y="715"/>
                  </a:cubicBezTo>
                  <a:lnTo>
                    <a:pt x="2144" y="1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141700" tIns="141700" rIns="141700" bIns="1417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4844586" y="3733219"/>
              <a:ext cx="73421" cy="37533"/>
            </a:xfrm>
            <a:custGeom>
              <a:avLst/>
              <a:gdLst/>
              <a:ahLst/>
              <a:cxnLst/>
              <a:rect l="l" t="t" r="r" b="b"/>
              <a:pathLst>
                <a:path w="2144" h="1096" extrusionOk="0">
                  <a:moveTo>
                    <a:pt x="334" y="0"/>
                  </a:moveTo>
                  <a:cubicBezTo>
                    <a:pt x="143" y="0"/>
                    <a:pt x="0" y="143"/>
                    <a:pt x="0" y="334"/>
                  </a:cubicBezTo>
                  <a:lnTo>
                    <a:pt x="0" y="1096"/>
                  </a:lnTo>
                  <a:lnTo>
                    <a:pt x="2144" y="1096"/>
                  </a:lnTo>
                  <a:lnTo>
                    <a:pt x="2144" y="334"/>
                  </a:lnTo>
                  <a:cubicBezTo>
                    <a:pt x="2144" y="143"/>
                    <a:pt x="2001" y="0"/>
                    <a:pt x="1834" y="0"/>
                  </a:cubicBez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141700" tIns="141700" rIns="141700" bIns="1417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4940815" y="3792737"/>
              <a:ext cx="73421" cy="35923"/>
            </a:xfrm>
            <a:custGeom>
              <a:avLst/>
              <a:gdLst/>
              <a:ahLst/>
              <a:cxnLst/>
              <a:rect l="l" t="t" r="r" b="b"/>
              <a:pathLst>
                <a:path w="2144" h="1049" extrusionOk="0">
                  <a:moveTo>
                    <a:pt x="1" y="1"/>
                  </a:moveTo>
                  <a:lnTo>
                    <a:pt x="1" y="715"/>
                  </a:lnTo>
                  <a:cubicBezTo>
                    <a:pt x="1" y="906"/>
                    <a:pt x="143" y="1049"/>
                    <a:pt x="310" y="1049"/>
                  </a:cubicBezTo>
                  <a:lnTo>
                    <a:pt x="1834" y="1049"/>
                  </a:lnTo>
                  <a:cubicBezTo>
                    <a:pt x="2001" y="1049"/>
                    <a:pt x="2144" y="906"/>
                    <a:pt x="2144" y="715"/>
                  </a:cubicBezTo>
                  <a:lnTo>
                    <a:pt x="2144" y="1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141700" tIns="141700" rIns="141700" bIns="1417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4940815" y="3679386"/>
              <a:ext cx="73421" cy="38354"/>
            </a:xfrm>
            <a:custGeom>
              <a:avLst/>
              <a:gdLst/>
              <a:ahLst/>
              <a:cxnLst/>
              <a:rect l="l" t="t" r="r" b="b"/>
              <a:pathLst>
                <a:path w="2144" h="1120" extrusionOk="0">
                  <a:moveTo>
                    <a:pt x="310" y="1"/>
                  </a:moveTo>
                  <a:cubicBezTo>
                    <a:pt x="143" y="1"/>
                    <a:pt x="1" y="143"/>
                    <a:pt x="1" y="310"/>
                  </a:cubicBezTo>
                  <a:lnTo>
                    <a:pt x="1" y="1120"/>
                  </a:lnTo>
                  <a:lnTo>
                    <a:pt x="2144" y="1120"/>
                  </a:lnTo>
                  <a:lnTo>
                    <a:pt x="2144" y="310"/>
                  </a:lnTo>
                  <a:cubicBezTo>
                    <a:pt x="2144" y="143"/>
                    <a:pt x="2001" y="1"/>
                    <a:pt x="1834" y="1"/>
                  </a:cubicBez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141700" tIns="141700" rIns="141700" bIns="1417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4940815" y="3738903"/>
              <a:ext cx="73421" cy="31848"/>
            </a:xfrm>
            <a:custGeom>
              <a:avLst/>
              <a:gdLst/>
              <a:ahLst/>
              <a:cxnLst/>
              <a:rect l="l" t="t" r="r" b="b"/>
              <a:pathLst>
                <a:path w="2144" h="930" extrusionOk="0">
                  <a:moveTo>
                    <a:pt x="1" y="1"/>
                  </a:moveTo>
                  <a:lnTo>
                    <a:pt x="1" y="930"/>
                  </a:lnTo>
                  <a:lnTo>
                    <a:pt x="2144" y="930"/>
                  </a:lnTo>
                  <a:lnTo>
                    <a:pt x="2144" y="1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141700" tIns="141700" rIns="141700" bIns="1417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5037043" y="3633703"/>
              <a:ext cx="74243" cy="31026"/>
            </a:xfrm>
            <a:custGeom>
              <a:avLst/>
              <a:gdLst/>
              <a:ahLst/>
              <a:cxnLst/>
              <a:rect l="l" t="t" r="r" b="b"/>
              <a:pathLst>
                <a:path w="2168" h="906" extrusionOk="0">
                  <a:moveTo>
                    <a:pt x="1" y="1"/>
                  </a:moveTo>
                  <a:lnTo>
                    <a:pt x="1" y="906"/>
                  </a:lnTo>
                  <a:lnTo>
                    <a:pt x="2168" y="906"/>
                  </a:lnTo>
                  <a:lnTo>
                    <a:pt x="2168" y="1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141700" tIns="141700" rIns="141700" bIns="1417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5037043" y="3576616"/>
              <a:ext cx="73421" cy="35101"/>
            </a:xfrm>
            <a:custGeom>
              <a:avLst/>
              <a:gdLst/>
              <a:ahLst/>
              <a:cxnLst/>
              <a:rect l="l" t="t" r="r" b="b"/>
              <a:pathLst>
                <a:path w="2144" h="1025" extrusionOk="0">
                  <a:moveTo>
                    <a:pt x="310" y="1"/>
                  </a:moveTo>
                  <a:cubicBezTo>
                    <a:pt x="144" y="1"/>
                    <a:pt x="1" y="144"/>
                    <a:pt x="1" y="311"/>
                  </a:cubicBezTo>
                  <a:lnTo>
                    <a:pt x="1" y="1025"/>
                  </a:lnTo>
                  <a:lnTo>
                    <a:pt x="2144" y="1025"/>
                  </a:lnTo>
                  <a:lnTo>
                    <a:pt x="2144" y="311"/>
                  </a:lnTo>
                  <a:cubicBezTo>
                    <a:pt x="2144" y="144"/>
                    <a:pt x="2001" y="1"/>
                    <a:pt x="1834" y="1"/>
                  </a:cubicBez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141700" tIns="141700" rIns="141700" bIns="1417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5037043" y="3792737"/>
              <a:ext cx="74243" cy="35923"/>
            </a:xfrm>
            <a:custGeom>
              <a:avLst/>
              <a:gdLst/>
              <a:ahLst/>
              <a:cxnLst/>
              <a:rect l="l" t="t" r="r" b="b"/>
              <a:pathLst>
                <a:path w="2168" h="1049" extrusionOk="0">
                  <a:moveTo>
                    <a:pt x="1" y="1"/>
                  </a:moveTo>
                  <a:lnTo>
                    <a:pt x="1" y="715"/>
                  </a:lnTo>
                  <a:cubicBezTo>
                    <a:pt x="1" y="906"/>
                    <a:pt x="144" y="1049"/>
                    <a:pt x="334" y="1049"/>
                  </a:cubicBezTo>
                  <a:lnTo>
                    <a:pt x="1858" y="1049"/>
                  </a:lnTo>
                  <a:cubicBezTo>
                    <a:pt x="2025" y="1049"/>
                    <a:pt x="2168" y="906"/>
                    <a:pt x="2168" y="715"/>
                  </a:cubicBezTo>
                  <a:lnTo>
                    <a:pt x="2168" y="1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141700" tIns="141700" rIns="141700" bIns="1417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5037043" y="3738903"/>
              <a:ext cx="74243" cy="31848"/>
            </a:xfrm>
            <a:custGeom>
              <a:avLst/>
              <a:gdLst/>
              <a:ahLst/>
              <a:cxnLst/>
              <a:rect l="l" t="t" r="r" b="b"/>
              <a:pathLst>
                <a:path w="2168" h="930" extrusionOk="0">
                  <a:moveTo>
                    <a:pt x="1" y="1"/>
                  </a:moveTo>
                  <a:lnTo>
                    <a:pt x="1" y="930"/>
                  </a:lnTo>
                  <a:lnTo>
                    <a:pt x="2168" y="930"/>
                  </a:lnTo>
                  <a:lnTo>
                    <a:pt x="2168" y="1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141700" tIns="141700" rIns="141700" bIns="1417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5037043" y="3686714"/>
              <a:ext cx="74243" cy="31026"/>
            </a:xfrm>
            <a:custGeom>
              <a:avLst/>
              <a:gdLst/>
              <a:ahLst/>
              <a:cxnLst/>
              <a:rect l="l" t="t" r="r" b="b"/>
              <a:pathLst>
                <a:path w="2168" h="906" extrusionOk="0">
                  <a:moveTo>
                    <a:pt x="1" y="1"/>
                  </a:moveTo>
                  <a:lnTo>
                    <a:pt x="1" y="906"/>
                  </a:lnTo>
                  <a:lnTo>
                    <a:pt x="2168" y="906"/>
                  </a:lnTo>
                  <a:lnTo>
                    <a:pt x="2168" y="1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141700" tIns="141700" rIns="141700" bIns="1417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4848114" y="3458026"/>
              <a:ext cx="254201" cy="171670"/>
            </a:xfrm>
            <a:custGeom>
              <a:avLst/>
              <a:gdLst/>
              <a:ahLst/>
              <a:cxnLst/>
              <a:rect l="l" t="t" r="r" b="b"/>
              <a:pathLst>
                <a:path w="7423" h="5013" extrusionOk="0">
                  <a:moveTo>
                    <a:pt x="5978" y="1"/>
                  </a:moveTo>
                  <a:cubicBezTo>
                    <a:pt x="5619" y="1"/>
                    <a:pt x="5523" y="542"/>
                    <a:pt x="5899" y="630"/>
                  </a:cubicBezTo>
                  <a:lnTo>
                    <a:pt x="6280" y="725"/>
                  </a:lnTo>
                  <a:lnTo>
                    <a:pt x="302" y="4417"/>
                  </a:lnTo>
                  <a:cubicBezTo>
                    <a:pt x="1" y="4579"/>
                    <a:pt x="106" y="5013"/>
                    <a:pt x="442" y="5013"/>
                  </a:cubicBezTo>
                  <a:cubicBezTo>
                    <a:pt x="451" y="5013"/>
                    <a:pt x="460" y="5012"/>
                    <a:pt x="469" y="5012"/>
                  </a:cubicBezTo>
                  <a:cubicBezTo>
                    <a:pt x="517" y="5012"/>
                    <a:pt x="588" y="5012"/>
                    <a:pt x="636" y="4964"/>
                  </a:cubicBezTo>
                  <a:lnTo>
                    <a:pt x="6613" y="1273"/>
                  </a:lnTo>
                  <a:lnTo>
                    <a:pt x="6518" y="1654"/>
                  </a:lnTo>
                  <a:cubicBezTo>
                    <a:pt x="6470" y="1821"/>
                    <a:pt x="6589" y="1987"/>
                    <a:pt x="6756" y="2035"/>
                  </a:cubicBezTo>
                  <a:lnTo>
                    <a:pt x="6827" y="2035"/>
                  </a:lnTo>
                  <a:cubicBezTo>
                    <a:pt x="6970" y="2035"/>
                    <a:pt x="7089" y="1916"/>
                    <a:pt x="7137" y="1797"/>
                  </a:cubicBezTo>
                  <a:lnTo>
                    <a:pt x="7375" y="725"/>
                  </a:lnTo>
                  <a:cubicBezTo>
                    <a:pt x="7423" y="630"/>
                    <a:pt x="7423" y="511"/>
                    <a:pt x="7351" y="416"/>
                  </a:cubicBezTo>
                  <a:cubicBezTo>
                    <a:pt x="7328" y="344"/>
                    <a:pt x="7256" y="297"/>
                    <a:pt x="7161" y="273"/>
                  </a:cubicBezTo>
                  <a:lnTo>
                    <a:pt x="6065" y="11"/>
                  </a:lnTo>
                  <a:cubicBezTo>
                    <a:pt x="6035" y="4"/>
                    <a:pt x="6006" y="1"/>
                    <a:pt x="5978" y="1"/>
                  </a:cubicBez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  <p:txBody>
            <a:bodyPr spcFirstLastPara="1" wrap="square" lIns="141700" tIns="141700" rIns="141700" bIns="1417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145" name="Google Shape;145;p6"/>
          <p:cNvSpPr/>
          <p:nvPr/>
        </p:nvSpPr>
        <p:spPr>
          <a:xfrm>
            <a:off x="537569" y="5423548"/>
            <a:ext cx="11383600" cy="516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GB" sz="1333"/>
              <a:t>Résultats de l'Enquête de couverture vaccinale chez les enfants de 12 à 23  organisée par l'Ecole de Santé Publique de Kinshasa ( KSPH) </a:t>
            </a:r>
            <a:endParaRPr sz="1333"/>
          </a:p>
        </p:txBody>
      </p:sp>
      <p:grpSp>
        <p:nvGrpSpPr>
          <p:cNvPr id="146" name="Google Shape;146;p6"/>
          <p:cNvGrpSpPr/>
          <p:nvPr/>
        </p:nvGrpSpPr>
        <p:grpSpPr>
          <a:xfrm>
            <a:off x="502152" y="1826769"/>
            <a:ext cx="470171" cy="467636"/>
            <a:chOff x="-4118225" y="3253275"/>
            <a:chExt cx="292225" cy="290650"/>
          </a:xfrm>
        </p:grpSpPr>
        <p:sp>
          <p:nvSpPr>
            <p:cNvPr id="147" name="Google Shape;147;p6"/>
            <p:cNvSpPr/>
            <p:nvPr/>
          </p:nvSpPr>
          <p:spPr>
            <a:xfrm>
              <a:off x="-4118225" y="3287125"/>
              <a:ext cx="256725" cy="256800"/>
            </a:xfrm>
            <a:custGeom>
              <a:avLst/>
              <a:gdLst/>
              <a:ahLst/>
              <a:cxnLst/>
              <a:rect l="l" t="t" r="r" b="b"/>
              <a:pathLst>
                <a:path w="10269" h="10272" extrusionOk="0">
                  <a:moveTo>
                    <a:pt x="5104" y="1"/>
                  </a:moveTo>
                  <a:cubicBezTo>
                    <a:pt x="2268" y="1"/>
                    <a:pt x="0" y="2301"/>
                    <a:pt x="0" y="5136"/>
                  </a:cubicBezTo>
                  <a:cubicBezTo>
                    <a:pt x="0" y="7972"/>
                    <a:pt x="2268" y="10271"/>
                    <a:pt x="5104" y="10271"/>
                  </a:cubicBezTo>
                  <a:cubicBezTo>
                    <a:pt x="7939" y="10271"/>
                    <a:pt x="10239" y="8003"/>
                    <a:pt x="10239" y="5168"/>
                  </a:cubicBezTo>
                  <a:cubicBezTo>
                    <a:pt x="10268" y="4993"/>
                    <a:pt x="10108" y="4818"/>
                    <a:pt x="9910" y="4818"/>
                  </a:cubicBezTo>
                  <a:cubicBezTo>
                    <a:pt x="9894" y="4818"/>
                    <a:pt x="9877" y="4819"/>
                    <a:pt x="9861" y="4821"/>
                  </a:cubicBezTo>
                  <a:lnTo>
                    <a:pt x="5797" y="4821"/>
                  </a:lnTo>
                  <a:cubicBezTo>
                    <a:pt x="5639" y="4821"/>
                    <a:pt x="5450" y="4695"/>
                    <a:pt x="5450" y="4506"/>
                  </a:cubicBezTo>
                  <a:lnTo>
                    <a:pt x="5450" y="347"/>
                  </a:lnTo>
                  <a:cubicBezTo>
                    <a:pt x="5450" y="158"/>
                    <a:pt x="5324" y="1"/>
                    <a:pt x="5104" y="1"/>
                  </a:cubicBezTo>
                  <a:close/>
                </a:path>
              </a:pathLst>
            </a:custGeom>
            <a:solidFill>
              <a:srgbClr val="5B0F00"/>
            </a:solidFill>
            <a:ln>
              <a:noFill/>
            </a:ln>
          </p:spPr>
          <p:txBody>
            <a:bodyPr spcFirstLastPara="1" wrap="square" lIns="141700" tIns="141700" rIns="141700" bIns="1417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-3963850" y="3253275"/>
              <a:ext cx="137850" cy="137850"/>
            </a:xfrm>
            <a:custGeom>
              <a:avLst/>
              <a:gdLst/>
              <a:ahLst/>
              <a:cxnLst/>
              <a:rect l="l" t="t" r="r" b="b"/>
              <a:pathLst>
                <a:path w="5514" h="551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5135"/>
                  </a:lnTo>
                  <a:cubicBezTo>
                    <a:pt x="0" y="5356"/>
                    <a:pt x="158" y="5514"/>
                    <a:pt x="347" y="5514"/>
                  </a:cubicBezTo>
                  <a:lnTo>
                    <a:pt x="5167" y="5514"/>
                  </a:lnTo>
                  <a:cubicBezTo>
                    <a:pt x="5356" y="5514"/>
                    <a:pt x="5513" y="5356"/>
                    <a:pt x="5513" y="5135"/>
                  </a:cubicBezTo>
                  <a:cubicBezTo>
                    <a:pt x="5513" y="2269"/>
                    <a:pt x="3182" y="0"/>
                    <a:pt x="347" y="0"/>
                  </a:cubicBezTo>
                  <a:close/>
                </a:path>
              </a:pathLst>
            </a:custGeom>
            <a:solidFill>
              <a:srgbClr val="5B0F00"/>
            </a:solidFill>
            <a:ln>
              <a:noFill/>
            </a:ln>
          </p:spPr>
          <p:txBody>
            <a:bodyPr spcFirstLastPara="1" wrap="square" lIns="141700" tIns="141700" rIns="141700" bIns="1417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149" name="Google Shape;149;p6"/>
          <p:cNvSpPr/>
          <p:nvPr/>
        </p:nvSpPr>
        <p:spPr>
          <a:xfrm>
            <a:off x="270833" y="5423233"/>
            <a:ext cx="258000" cy="516000"/>
          </a:xfrm>
          <a:prstGeom prst="rect">
            <a:avLst/>
          </a:prstGeom>
          <a:solidFill>
            <a:srgbClr val="98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333"/>
          </a:p>
        </p:txBody>
      </p:sp>
      <p:sp>
        <p:nvSpPr>
          <p:cNvPr id="150" name="Google Shape;150;p6"/>
          <p:cNvSpPr/>
          <p:nvPr/>
        </p:nvSpPr>
        <p:spPr>
          <a:xfrm>
            <a:off x="270833" y="2835933"/>
            <a:ext cx="4270400" cy="12056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>
            <a:noFill/>
          </a:ln>
        </p:spPr>
        <p:txBody>
          <a:bodyPr spcFirstLastPara="1" wrap="square" lIns="141700" tIns="141700" rIns="141700" bIns="141700" anchor="t" anchorCtr="0">
            <a:noAutofit/>
          </a:bodyPr>
          <a:lstStyle/>
          <a:p>
            <a:pPr algn="ctr"/>
            <a:r>
              <a:rPr lang="en-GB" sz="2036">
                <a:solidFill>
                  <a:srgbClr val="073763"/>
                </a:solidFill>
              </a:rPr>
              <a:t>Cible du PEV</a:t>
            </a:r>
            <a:r>
              <a:rPr lang="en-GB" sz="1503" i="1">
                <a:solidFill>
                  <a:srgbClr val="073763"/>
                </a:solidFill>
              </a:rPr>
              <a:t>(0 à 15 mois)</a:t>
            </a:r>
            <a:endParaRPr sz="1503" i="1">
              <a:solidFill>
                <a:srgbClr val="073763"/>
              </a:solidFill>
            </a:endParaRPr>
          </a:p>
          <a:p>
            <a:pPr algn="ctr">
              <a:spcBef>
                <a:spcPts val="1333"/>
              </a:spcBef>
            </a:pPr>
            <a:r>
              <a:rPr lang="en-GB" sz="2811" b="1">
                <a:solidFill>
                  <a:srgbClr val="073763"/>
                </a:solidFill>
              </a:rPr>
              <a:t>80,0%</a:t>
            </a:r>
            <a:endParaRPr sz="2036">
              <a:solidFill>
                <a:srgbClr val="073763"/>
              </a:solidFill>
            </a:endParaRPr>
          </a:p>
        </p:txBody>
      </p:sp>
      <p:grpSp>
        <p:nvGrpSpPr>
          <p:cNvPr id="151" name="Google Shape;151;p6"/>
          <p:cNvGrpSpPr/>
          <p:nvPr/>
        </p:nvGrpSpPr>
        <p:grpSpPr>
          <a:xfrm>
            <a:off x="500886" y="3175207"/>
            <a:ext cx="472745" cy="473952"/>
            <a:chOff x="-1591550" y="3597475"/>
            <a:chExt cx="293825" cy="294575"/>
          </a:xfrm>
        </p:grpSpPr>
        <p:sp>
          <p:nvSpPr>
            <p:cNvPr id="152" name="Google Shape;152;p6"/>
            <p:cNvSpPr/>
            <p:nvPr/>
          </p:nvSpPr>
          <p:spPr>
            <a:xfrm>
              <a:off x="-1509625" y="3597475"/>
              <a:ext cx="211900" cy="207150"/>
            </a:xfrm>
            <a:custGeom>
              <a:avLst/>
              <a:gdLst/>
              <a:ahLst/>
              <a:cxnLst/>
              <a:rect l="l" t="t" r="r" b="b"/>
              <a:pathLst>
                <a:path w="8476" h="8286" extrusionOk="0">
                  <a:moveTo>
                    <a:pt x="6105" y="1"/>
                  </a:moveTo>
                  <a:cubicBezTo>
                    <a:pt x="6014" y="1"/>
                    <a:pt x="5916" y="39"/>
                    <a:pt x="5829" y="126"/>
                  </a:cubicBezTo>
                  <a:lnTo>
                    <a:pt x="3781" y="2205"/>
                  </a:lnTo>
                  <a:cubicBezTo>
                    <a:pt x="3718" y="2268"/>
                    <a:pt x="3655" y="2363"/>
                    <a:pt x="3655" y="2426"/>
                  </a:cubicBezTo>
                  <a:lnTo>
                    <a:pt x="3655" y="4253"/>
                  </a:lnTo>
                  <a:lnTo>
                    <a:pt x="1544" y="6332"/>
                  </a:lnTo>
                  <a:cubicBezTo>
                    <a:pt x="1400" y="6270"/>
                    <a:pt x="1256" y="6242"/>
                    <a:pt x="1119" y="6242"/>
                  </a:cubicBezTo>
                  <a:cubicBezTo>
                    <a:pt x="835" y="6242"/>
                    <a:pt x="580" y="6362"/>
                    <a:pt x="410" y="6553"/>
                  </a:cubicBezTo>
                  <a:cubicBezTo>
                    <a:pt x="0" y="6931"/>
                    <a:pt x="0" y="7592"/>
                    <a:pt x="410" y="8002"/>
                  </a:cubicBezTo>
                  <a:cubicBezTo>
                    <a:pt x="599" y="8191"/>
                    <a:pt x="859" y="8286"/>
                    <a:pt x="1123" y="8286"/>
                  </a:cubicBezTo>
                  <a:cubicBezTo>
                    <a:pt x="1387" y="8286"/>
                    <a:pt x="1655" y="8191"/>
                    <a:pt x="1859" y="8002"/>
                  </a:cubicBezTo>
                  <a:cubicBezTo>
                    <a:pt x="2174" y="7687"/>
                    <a:pt x="2206" y="7214"/>
                    <a:pt x="2048" y="6868"/>
                  </a:cubicBezTo>
                  <a:lnTo>
                    <a:pt x="4128" y="4757"/>
                  </a:lnTo>
                  <a:lnTo>
                    <a:pt x="5955" y="4757"/>
                  </a:lnTo>
                  <a:cubicBezTo>
                    <a:pt x="6018" y="4757"/>
                    <a:pt x="6144" y="4725"/>
                    <a:pt x="6175" y="4662"/>
                  </a:cubicBezTo>
                  <a:lnTo>
                    <a:pt x="8286" y="2552"/>
                  </a:lnTo>
                  <a:cubicBezTo>
                    <a:pt x="8475" y="2331"/>
                    <a:pt x="8349" y="1985"/>
                    <a:pt x="8034" y="1985"/>
                  </a:cubicBezTo>
                  <a:lnTo>
                    <a:pt x="6428" y="1985"/>
                  </a:lnTo>
                  <a:lnTo>
                    <a:pt x="6428" y="346"/>
                  </a:lnTo>
                  <a:cubicBezTo>
                    <a:pt x="6428" y="140"/>
                    <a:pt x="6278" y="1"/>
                    <a:pt x="6105" y="1"/>
                  </a:cubicBezTo>
                  <a:close/>
                </a:path>
              </a:pathLst>
            </a:custGeom>
            <a:solidFill>
              <a:srgbClr val="073763"/>
            </a:solidFill>
            <a:ln>
              <a:noFill/>
            </a:ln>
          </p:spPr>
          <p:txBody>
            <a:bodyPr spcFirstLastPara="1" wrap="square" lIns="141700" tIns="141700" rIns="141700" bIns="1417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-1541125" y="3719125"/>
              <a:ext cx="120525" cy="118275"/>
            </a:xfrm>
            <a:custGeom>
              <a:avLst/>
              <a:gdLst/>
              <a:ahLst/>
              <a:cxnLst/>
              <a:rect l="l" t="t" r="r" b="b"/>
              <a:pathLst>
                <a:path w="4821" h="4731" extrusionOk="0">
                  <a:moveTo>
                    <a:pt x="2340" y="1"/>
                  </a:moveTo>
                  <a:cubicBezTo>
                    <a:pt x="1722" y="1"/>
                    <a:pt x="1163" y="241"/>
                    <a:pt x="725" y="679"/>
                  </a:cubicBezTo>
                  <a:cubicBezTo>
                    <a:pt x="284" y="1120"/>
                    <a:pt x="0" y="1750"/>
                    <a:pt x="0" y="2380"/>
                  </a:cubicBezTo>
                  <a:cubicBezTo>
                    <a:pt x="0" y="3943"/>
                    <a:pt x="1211" y="4731"/>
                    <a:pt x="2420" y="4731"/>
                  </a:cubicBezTo>
                  <a:cubicBezTo>
                    <a:pt x="3622" y="4731"/>
                    <a:pt x="4821" y="3951"/>
                    <a:pt x="4821" y="2380"/>
                  </a:cubicBezTo>
                  <a:cubicBezTo>
                    <a:pt x="4821" y="2096"/>
                    <a:pt x="4758" y="1844"/>
                    <a:pt x="4663" y="1592"/>
                  </a:cubicBezTo>
                  <a:lnTo>
                    <a:pt x="4096" y="2159"/>
                  </a:lnTo>
                  <a:cubicBezTo>
                    <a:pt x="4253" y="3199"/>
                    <a:pt x="3434" y="4081"/>
                    <a:pt x="2395" y="4081"/>
                  </a:cubicBezTo>
                  <a:cubicBezTo>
                    <a:pt x="882" y="4081"/>
                    <a:pt x="126" y="2222"/>
                    <a:pt x="1197" y="1151"/>
                  </a:cubicBezTo>
                  <a:cubicBezTo>
                    <a:pt x="1522" y="827"/>
                    <a:pt x="1984" y="665"/>
                    <a:pt x="2428" y="665"/>
                  </a:cubicBezTo>
                  <a:cubicBezTo>
                    <a:pt x="2501" y="665"/>
                    <a:pt x="2575" y="670"/>
                    <a:pt x="2647" y="679"/>
                  </a:cubicBezTo>
                  <a:lnTo>
                    <a:pt x="3182" y="143"/>
                  </a:lnTo>
                  <a:cubicBezTo>
                    <a:pt x="2894" y="47"/>
                    <a:pt x="2611" y="1"/>
                    <a:pt x="2340" y="1"/>
                  </a:cubicBezTo>
                  <a:close/>
                </a:path>
              </a:pathLst>
            </a:custGeom>
            <a:solidFill>
              <a:srgbClr val="073763"/>
            </a:solidFill>
            <a:ln>
              <a:noFill/>
            </a:ln>
          </p:spPr>
          <p:txBody>
            <a:bodyPr spcFirstLastPara="1" wrap="square" lIns="141700" tIns="141700" rIns="141700" bIns="1417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4" name="Google Shape;154;p6"/>
            <p:cNvSpPr/>
            <p:nvPr/>
          </p:nvSpPr>
          <p:spPr>
            <a:xfrm>
              <a:off x="-1591550" y="3668825"/>
              <a:ext cx="222925" cy="223225"/>
            </a:xfrm>
            <a:custGeom>
              <a:avLst/>
              <a:gdLst/>
              <a:ahLst/>
              <a:cxnLst/>
              <a:rect l="l" t="t" r="r" b="b"/>
              <a:pathLst>
                <a:path w="8917" h="8929" extrusionOk="0">
                  <a:moveTo>
                    <a:pt x="4475" y="1"/>
                  </a:moveTo>
                  <a:cubicBezTo>
                    <a:pt x="3329" y="1"/>
                    <a:pt x="2187" y="454"/>
                    <a:pt x="1324" y="1336"/>
                  </a:cubicBezTo>
                  <a:cubicBezTo>
                    <a:pt x="474" y="2155"/>
                    <a:pt x="1" y="3289"/>
                    <a:pt x="1" y="4486"/>
                  </a:cubicBezTo>
                  <a:cubicBezTo>
                    <a:pt x="1" y="6912"/>
                    <a:pt x="2017" y="8929"/>
                    <a:pt x="4475" y="8929"/>
                  </a:cubicBezTo>
                  <a:cubicBezTo>
                    <a:pt x="6901" y="8929"/>
                    <a:pt x="8917" y="6912"/>
                    <a:pt x="8917" y="4486"/>
                  </a:cubicBezTo>
                  <a:cubicBezTo>
                    <a:pt x="8917" y="3604"/>
                    <a:pt x="8696" y="2817"/>
                    <a:pt x="8255" y="2124"/>
                  </a:cubicBezTo>
                  <a:cubicBezTo>
                    <a:pt x="8098" y="2218"/>
                    <a:pt x="7342" y="2943"/>
                    <a:pt x="7184" y="3100"/>
                  </a:cubicBezTo>
                  <a:cubicBezTo>
                    <a:pt x="8161" y="5148"/>
                    <a:pt x="6680" y="7511"/>
                    <a:pt x="4412" y="7511"/>
                  </a:cubicBezTo>
                  <a:cubicBezTo>
                    <a:pt x="1702" y="7511"/>
                    <a:pt x="316" y="4203"/>
                    <a:pt x="2269" y="2281"/>
                  </a:cubicBezTo>
                  <a:cubicBezTo>
                    <a:pt x="2869" y="1681"/>
                    <a:pt x="3659" y="1373"/>
                    <a:pt x="4447" y="1373"/>
                  </a:cubicBezTo>
                  <a:cubicBezTo>
                    <a:pt x="4900" y="1373"/>
                    <a:pt x="5352" y="1475"/>
                    <a:pt x="5766" y="1682"/>
                  </a:cubicBezTo>
                  <a:cubicBezTo>
                    <a:pt x="5924" y="1525"/>
                    <a:pt x="6617" y="800"/>
                    <a:pt x="6838" y="706"/>
                  </a:cubicBezTo>
                  <a:cubicBezTo>
                    <a:pt x="6115" y="233"/>
                    <a:pt x="5294" y="1"/>
                    <a:pt x="4475" y="1"/>
                  </a:cubicBezTo>
                  <a:close/>
                </a:path>
              </a:pathLst>
            </a:custGeom>
            <a:solidFill>
              <a:srgbClr val="073763"/>
            </a:solidFill>
            <a:ln>
              <a:noFill/>
            </a:ln>
          </p:spPr>
          <p:txBody>
            <a:bodyPr spcFirstLastPara="1" wrap="square" lIns="141700" tIns="141700" rIns="141700" bIns="1417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155" name="Google Shape;155;p6"/>
          <p:cNvSpPr/>
          <p:nvPr/>
        </p:nvSpPr>
        <p:spPr>
          <a:xfrm>
            <a:off x="4670867" y="1276733"/>
            <a:ext cx="7250400" cy="408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867"/>
          </a:p>
        </p:txBody>
      </p:sp>
      <p:sp>
        <p:nvSpPr>
          <p:cNvPr id="156" name="Google Shape;156;p6"/>
          <p:cNvSpPr/>
          <p:nvPr/>
        </p:nvSpPr>
        <p:spPr>
          <a:xfrm>
            <a:off x="4707937" y="4515724"/>
            <a:ext cx="7154400" cy="79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479988" algn="ctr"/>
            <a:r>
              <a:rPr lang="en-GB" sz="1867"/>
              <a:t>% des Zones de santé ayant une couverture complète supérieure à 50% pour tous les antigènes</a:t>
            </a:r>
            <a:endParaRPr sz="1867"/>
          </a:p>
        </p:txBody>
      </p:sp>
      <p:grpSp>
        <p:nvGrpSpPr>
          <p:cNvPr id="157" name="Google Shape;157;p6"/>
          <p:cNvGrpSpPr/>
          <p:nvPr/>
        </p:nvGrpSpPr>
        <p:grpSpPr>
          <a:xfrm>
            <a:off x="4822730" y="4701636"/>
            <a:ext cx="434013" cy="425403"/>
            <a:chOff x="5579739" y="4041816"/>
            <a:chExt cx="370192" cy="362848"/>
          </a:xfrm>
        </p:grpSpPr>
        <p:sp>
          <p:nvSpPr>
            <p:cNvPr id="158" name="Google Shape;158;p6"/>
            <p:cNvSpPr/>
            <p:nvPr/>
          </p:nvSpPr>
          <p:spPr>
            <a:xfrm>
              <a:off x="5579739" y="4383484"/>
              <a:ext cx="370192" cy="21179"/>
            </a:xfrm>
            <a:custGeom>
              <a:avLst/>
              <a:gdLst/>
              <a:ahLst/>
              <a:cxnLst/>
              <a:rect l="l" t="t" r="r" b="b"/>
              <a:pathLst>
                <a:path w="10837" h="620" extrusionOk="0">
                  <a:moveTo>
                    <a:pt x="429" y="0"/>
                  </a:moveTo>
                  <a:cubicBezTo>
                    <a:pt x="0" y="0"/>
                    <a:pt x="0" y="619"/>
                    <a:pt x="429" y="619"/>
                  </a:cubicBezTo>
                  <a:lnTo>
                    <a:pt x="10407" y="619"/>
                  </a:lnTo>
                  <a:cubicBezTo>
                    <a:pt x="10836" y="619"/>
                    <a:pt x="10836" y="0"/>
                    <a:pt x="1040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9" name="Google Shape;159;p6"/>
            <p:cNvSpPr/>
            <p:nvPr/>
          </p:nvSpPr>
          <p:spPr>
            <a:xfrm>
              <a:off x="5733493" y="4106891"/>
              <a:ext cx="62684" cy="61864"/>
            </a:xfrm>
            <a:custGeom>
              <a:avLst/>
              <a:gdLst/>
              <a:ahLst/>
              <a:cxnLst/>
              <a:rect l="l" t="t" r="r" b="b"/>
              <a:pathLst>
                <a:path w="1835" h="1811" extrusionOk="0">
                  <a:moveTo>
                    <a:pt x="620" y="0"/>
                  </a:moveTo>
                  <a:lnTo>
                    <a:pt x="620" y="310"/>
                  </a:lnTo>
                  <a:cubicBezTo>
                    <a:pt x="620" y="477"/>
                    <a:pt x="477" y="596"/>
                    <a:pt x="310" y="596"/>
                  </a:cubicBezTo>
                  <a:lnTo>
                    <a:pt x="0" y="596"/>
                  </a:lnTo>
                  <a:lnTo>
                    <a:pt x="0" y="1215"/>
                  </a:lnTo>
                  <a:lnTo>
                    <a:pt x="310" y="1215"/>
                  </a:lnTo>
                  <a:cubicBezTo>
                    <a:pt x="477" y="1215"/>
                    <a:pt x="620" y="1358"/>
                    <a:pt x="620" y="1524"/>
                  </a:cubicBezTo>
                  <a:lnTo>
                    <a:pt x="620" y="1810"/>
                  </a:lnTo>
                  <a:lnTo>
                    <a:pt x="1215" y="1810"/>
                  </a:lnTo>
                  <a:lnTo>
                    <a:pt x="1215" y="1524"/>
                  </a:lnTo>
                  <a:cubicBezTo>
                    <a:pt x="1215" y="1358"/>
                    <a:pt x="1358" y="1215"/>
                    <a:pt x="1525" y="1215"/>
                  </a:cubicBezTo>
                  <a:lnTo>
                    <a:pt x="1834" y="1215"/>
                  </a:lnTo>
                  <a:lnTo>
                    <a:pt x="1834" y="596"/>
                  </a:lnTo>
                  <a:lnTo>
                    <a:pt x="1525" y="596"/>
                  </a:lnTo>
                  <a:cubicBezTo>
                    <a:pt x="1358" y="596"/>
                    <a:pt x="1215" y="477"/>
                    <a:pt x="1215" y="310"/>
                  </a:cubicBezTo>
                  <a:lnTo>
                    <a:pt x="12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5579739" y="4041816"/>
              <a:ext cx="370192" cy="320523"/>
            </a:xfrm>
            <a:custGeom>
              <a:avLst/>
              <a:gdLst/>
              <a:ahLst/>
              <a:cxnLst/>
              <a:rect l="l" t="t" r="r" b="b"/>
              <a:pathLst>
                <a:path w="10837" h="9383" extrusionOk="0">
                  <a:moveTo>
                    <a:pt x="6002" y="1262"/>
                  </a:moveTo>
                  <a:cubicBezTo>
                    <a:pt x="6168" y="1262"/>
                    <a:pt x="6311" y="1405"/>
                    <a:pt x="6311" y="1572"/>
                  </a:cubicBezTo>
                  <a:lnTo>
                    <a:pt x="6311" y="1881"/>
                  </a:lnTo>
                  <a:lnTo>
                    <a:pt x="6597" y="1881"/>
                  </a:lnTo>
                  <a:cubicBezTo>
                    <a:pt x="6764" y="1881"/>
                    <a:pt x="6907" y="2024"/>
                    <a:pt x="6907" y="2191"/>
                  </a:cubicBezTo>
                  <a:lnTo>
                    <a:pt x="6907" y="3429"/>
                  </a:lnTo>
                  <a:cubicBezTo>
                    <a:pt x="6907" y="3596"/>
                    <a:pt x="6764" y="3715"/>
                    <a:pt x="6597" y="3715"/>
                  </a:cubicBezTo>
                  <a:lnTo>
                    <a:pt x="6311" y="3715"/>
                  </a:lnTo>
                  <a:lnTo>
                    <a:pt x="6311" y="4025"/>
                  </a:lnTo>
                  <a:cubicBezTo>
                    <a:pt x="6311" y="4191"/>
                    <a:pt x="6192" y="4334"/>
                    <a:pt x="6002" y="4334"/>
                  </a:cubicBezTo>
                  <a:lnTo>
                    <a:pt x="4763" y="4334"/>
                  </a:lnTo>
                  <a:cubicBezTo>
                    <a:pt x="4597" y="4334"/>
                    <a:pt x="4454" y="4191"/>
                    <a:pt x="4478" y="4025"/>
                  </a:cubicBezTo>
                  <a:lnTo>
                    <a:pt x="4478" y="3715"/>
                  </a:lnTo>
                  <a:lnTo>
                    <a:pt x="4168" y="3715"/>
                  </a:lnTo>
                  <a:cubicBezTo>
                    <a:pt x="4156" y="3717"/>
                    <a:pt x="4144" y="3718"/>
                    <a:pt x="4132" y="3718"/>
                  </a:cubicBezTo>
                  <a:cubicBezTo>
                    <a:pt x="3981" y="3718"/>
                    <a:pt x="3858" y="3584"/>
                    <a:pt x="3858" y="3429"/>
                  </a:cubicBezTo>
                  <a:lnTo>
                    <a:pt x="3858" y="2191"/>
                  </a:lnTo>
                  <a:cubicBezTo>
                    <a:pt x="3858" y="2001"/>
                    <a:pt x="4001" y="1881"/>
                    <a:pt x="4168" y="1881"/>
                  </a:cubicBezTo>
                  <a:lnTo>
                    <a:pt x="4478" y="1881"/>
                  </a:lnTo>
                  <a:lnTo>
                    <a:pt x="4478" y="1572"/>
                  </a:lnTo>
                  <a:cubicBezTo>
                    <a:pt x="4478" y="1405"/>
                    <a:pt x="4597" y="1262"/>
                    <a:pt x="4763" y="1262"/>
                  </a:cubicBezTo>
                  <a:close/>
                  <a:moveTo>
                    <a:pt x="429" y="0"/>
                  </a:moveTo>
                  <a:cubicBezTo>
                    <a:pt x="0" y="0"/>
                    <a:pt x="0" y="619"/>
                    <a:pt x="429" y="619"/>
                  </a:cubicBezTo>
                  <a:lnTo>
                    <a:pt x="715" y="619"/>
                  </a:lnTo>
                  <a:lnTo>
                    <a:pt x="715" y="9383"/>
                  </a:lnTo>
                  <a:lnTo>
                    <a:pt x="1977" y="9383"/>
                  </a:lnTo>
                  <a:lnTo>
                    <a:pt x="1977" y="5311"/>
                  </a:lnTo>
                  <a:cubicBezTo>
                    <a:pt x="1977" y="5144"/>
                    <a:pt x="2120" y="5025"/>
                    <a:pt x="2287" y="5025"/>
                  </a:cubicBezTo>
                  <a:lnTo>
                    <a:pt x="8526" y="5025"/>
                  </a:lnTo>
                  <a:cubicBezTo>
                    <a:pt x="8693" y="5025"/>
                    <a:pt x="8836" y="5144"/>
                    <a:pt x="8836" y="5311"/>
                  </a:cubicBezTo>
                  <a:lnTo>
                    <a:pt x="8836" y="8311"/>
                  </a:lnTo>
                  <a:cubicBezTo>
                    <a:pt x="8836" y="8478"/>
                    <a:pt x="8693" y="8621"/>
                    <a:pt x="8526" y="8621"/>
                  </a:cubicBezTo>
                  <a:lnTo>
                    <a:pt x="5121" y="8621"/>
                  </a:lnTo>
                  <a:lnTo>
                    <a:pt x="5121" y="9359"/>
                  </a:lnTo>
                  <a:lnTo>
                    <a:pt x="10122" y="9359"/>
                  </a:lnTo>
                  <a:lnTo>
                    <a:pt x="10122" y="619"/>
                  </a:lnTo>
                  <a:lnTo>
                    <a:pt x="10407" y="619"/>
                  </a:lnTo>
                  <a:cubicBezTo>
                    <a:pt x="10836" y="619"/>
                    <a:pt x="10836" y="0"/>
                    <a:pt x="1040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5754638" y="4233795"/>
              <a:ext cx="106613" cy="81369"/>
            </a:xfrm>
            <a:custGeom>
              <a:avLst/>
              <a:gdLst/>
              <a:ahLst/>
              <a:cxnLst/>
              <a:rect l="l" t="t" r="r" b="b"/>
              <a:pathLst>
                <a:path w="3121" h="2382" extrusionOk="0">
                  <a:moveTo>
                    <a:pt x="1" y="0"/>
                  </a:moveTo>
                  <a:lnTo>
                    <a:pt x="1" y="2382"/>
                  </a:lnTo>
                  <a:lnTo>
                    <a:pt x="620" y="2382"/>
                  </a:lnTo>
                  <a:lnTo>
                    <a:pt x="620" y="1858"/>
                  </a:lnTo>
                  <a:cubicBezTo>
                    <a:pt x="655" y="1274"/>
                    <a:pt x="1108" y="983"/>
                    <a:pt x="1560" y="983"/>
                  </a:cubicBezTo>
                  <a:cubicBezTo>
                    <a:pt x="2013" y="983"/>
                    <a:pt x="2465" y="1274"/>
                    <a:pt x="2501" y="1858"/>
                  </a:cubicBezTo>
                  <a:lnTo>
                    <a:pt x="2501" y="2382"/>
                  </a:lnTo>
                  <a:lnTo>
                    <a:pt x="3120" y="2382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2" name="Google Shape;162;p6"/>
            <p:cNvSpPr/>
            <p:nvPr/>
          </p:nvSpPr>
          <p:spPr>
            <a:xfrm>
              <a:off x="5669238" y="4233795"/>
              <a:ext cx="63469" cy="128544"/>
            </a:xfrm>
            <a:custGeom>
              <a:avLst/>
              <a:gdLst/>
              <a:ahLst/>
              <a:cxnLst/>
              <a:rect l="l" t="t" r="r" b="b"/>
              <a:pathLst>
                <a:path w="1858" h="3763" extrusionOk="0">
                  <a:moveTo>
                    <a:pt x="0" y="0"/>
                  </a:moveTo>
                  <a:lnTo>
                    <a:pt x="0" y="3763"/>
                  </a:lnTo>
                  <a:lnTo>
                    <a:pt x="1858" y="3763"/>
                  </a:lnTo>
                  <a:lnTo>
                    <a:pt x="185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5796928" y="4286880"/>
              <a:ext cx="21213" cy="28284"/>
            </a:xfrm>
            <a:custGeom>
              <a:avLst/>
              <a:gdLst/>
              <a:ahLst/>
              <a:cxnLst/>
              <a:rect l="l" t="t" r="r" b="b"/>
              <a:pathLst>
                <a:path w="621" h="828" extrusionOk="0">
                  <a:moveTo>
                    <a:pt x="310" y="0"/>
                  </a:moveTo>
                  <a:cubicBezTo>
                    <a:pt x="156" y="0"/>
                    <a:pt x="1" y="101"/>
                    <a:pt x="1" y="304"/>
                  </a:cubicBezTo>
                  <a:lnTo>
                    <a:pt x="1" y="828"/>
                  </a:lnTo>
                  <a:lnTo>
                    <a:pt x="620" y="828"/>
                  </a:lnTo>
                  <a:lnTo>
                    <a:pt x="620" y="304"/>
                  </a:lnTo>
                  <a:cubicBezTo>
                    <a:pt x="620" y="101"/>
                    <a:pt x="465" y="0"/>
                    <a:pt x="31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aphicFrame>
        <p:nvGraphicFramePr>
          <p:cNvPr id="164" name="Google Shape;164;p6"/>
          <p:cNvGraphicFramePr/>
          <p:nvPr/>
        </p:nvGraphicFramePr>
        <p:xfrm>
          <a:off x="5704533" y="1717418"/>
          <a:ext cx="5161199" cy="291613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30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200">
                          <a:solidFill>
                            <a:schemeClr val="lt1"/>
                          </a:solidFill>
                        </a:rPr>
                        <a:t>78,5%</a:t>
                      </a:r>
                      <a:endParaRPr sz="3200">
                        <a:solidFill>
                          <a:schemeClr val="lt1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5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74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500">
                        <a:solidFill>
                          <a:schemeClr val="lt1"/>
                        </a:solidFill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200">
                          <a:solidFill>
                            <a:schemeClr val="lt1"/>
                          </a:solidFill>
                        </a:rPr>
                        <a:t>50,0%</a:t>
                      </a:r>
                      <a:endParaRPr sz="4500">
                        <a:solidFill>
                          <a:schemeClr val="lt1"/>
                        </a:solidFill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74E1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6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Cible</a:t>
                      </a:r>
                      <a:endParaRPr sz="150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</a:rPr>
                        <a:t>ZS ayant atteint la cible</a:t>
                      </a:r>
                      <a:endParaRPr sz="150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65" name="Google Shape;165;p6"/>
          <p:cNvGrpSpPr/>
          <p:nvPr/>
        </p:nvGrpSpPr>
        <p:grpSpPr>
          <a:xfrm>
            <a:off x="345597" y="272211"/>
            <a:ext cx="354929" cy="339415"/>
            <a:chOff x="5045500" y="842250"/>
            <a:chExt cx="503875" cy="481850"/>
          </a:xfrm>
        </p:grpSpPr>
        <p:sp>
          <p:nvSpPr>
            <p:cNvPr id="166" name="Google Shape;166;p6"/>
            <p:cNvSpPr/>
            <p:nvPr/>
          </p:nvSpPr>
          <p:spPr>
            <a:xfrm>
              <a:off x="5045500" y="842250"/>
              <a:ext cx="503875" cy="481850"/>
            </a:xfrm>
            <a:custGeom>
              <a:avLst/>
              <a:gdLst/>
              <a:ahLst/>
              <a:cxnLst/>
              <a:rect l="l" t="t" r="r" b="b"/>
              <a:pathLst>
                <a:path w="20155" h="19274" extrusionOk="0">
                  <a:moveTo>
                    <a:pt x="12103" y="1130"/>
                  </a:moveTo>
                  <a:cubicBezTo>
                    <a:pt x="13694" y="1130"/>
                    <a:pt x="15284" y="1735"/>
                    <a:pt x="16496" y="2945"/>
                  </a:cubicBezTo>
                  <a:cubicBezTo>
                    <a:pt x="18917" y="5366"/>
                    <a:pt x="18917" y="9305"/>
                    <a:pt x="16496" y="11729"/>
                  </a:cubicBezTo>
                  <a:cubicBezTo>
                    <a:pt x="15286" y="12940"/>
                    <a:pt x="13695" y="13545"/>
                    <a:pt x="12104" y="13545"/>
                  </a:cubicBezTo>
                  <a:cubicBezTo>
                    <a:pt x="10514" y="13545"/>
                    <a:pt x="8923" y="12940"/>
                    <a:pt x="7712" y="11729"/>
                  </a:cubicBezTo>
                  <a:cubicBezTo>
                    <a:pt x="5288" y="9305"/>
                    <a:pt x="5288" y="5369"/>
                    <a:pt x="7712" y="2945"/>
                  </a:cubicBezTo>
                  <a:cubicBezTo>
                    <a:pt x="8923" y="1735"/>
                    <a:pt x="10513" y="1130"/>
                    <a:pt x="12103" y="1130"/>
                  </a:cubicBezTo>
                  <a:close/>
                  <a:moveTo>
                    <a:pt x="4918" y="13726"/>
                  </a:moveTo>
                  <a:lnTo>
                    <a:pt x="5716" y="14524"/>
                  </a:lnTo>
                  <a:lnTo>
                    <a:pt x="4918" y="15322"/>
                  </a:lnTo>
                  <a:lnTo>
                    <a:pt x="4120" y="14524"/>
                  </a:lnTo>
                  <a:lnTo>
                    <a:pt x="4918" y="13726"/>
                  </a:lnTo>
                  <a:close/>
                  <a:moveTo>
                    <a:pt x="12106" y="1"/>
                  </a:moveTo>
                  <a:cubicBezTo>
                    <a:pt x="10226" y="1"/>
                    <a:pt x="8345" y="717"/>
                    <a:pt x="6914" y="2147"/>
                  </a:cubicBezTo>
                  <a:cubicBezTo>
                    <a:pt x="4725" y="4333"/>
                    <a:pt x="4240" y="7516"/>
                    <a:pt x="5315" y="10133"/>
                  </a:cubicBezTo>
                  <a:lnTo>
                    <a:pt x="4518" y="10931"/>
                  </a:lnTo>
                  <a:cubicBezTo>
                    <a:pt x="4009" y="11434"/>
                    <a:pt x="3876" y="12208"/>
                    <a:pt x="4192" y="12852"/>
                  </a:cubicBezTo>
                  <a:lnTo>
                    <a:pt x="663" y="16382"/>
                  </a:lnTo>
                  <a:cubicBezTo>
                    <a:pt x="1" y="17044"/>
                    <a:pt x="1" y="18116"/>
                    <a:pt x="663" y="18778"/>
                  </a:cubicBezTo>
                  <a:cubicBezTo>
                    <a:pt x="994" y="19108"/>
                    <a:pt x="1428" y="19273"/>
                    <a:pt x="1862" y="19273"/>
                  </a:cubicBezTo>
                  <a:cubicBezTo>
                    <a:pt x="2295" y="19273"/>
                    <a:pt x="2729" y="19108"/>
                    <a:pt x="3060" y="18778"/>
                  </a:cubicBezTo>
                  <a:lnTo>
                    <a:pt x="6586" y="15249"/>
                  </a:lnTo>
                  <a:cubicBezTo>
                    <a:pt x="6820" y="15363"/>
                    <a:pt x="7071" y="15418"/>
                    <a:pt x="7320" y="15418"/>
                  </a:cubicBezTo>
                  <a:cubicBezTo>
                    <a:pt x="7757" y="15418"/>
                    <a:pt x="8188" y="15247"/>
                    <a:pt x="8510" y="14921"/>
                  </a:cubicBezTo>
                  <a:lnTo>
                    <a:pt x="9308" y="14126"/>
                  </a:lnTo>
                  <a:cubicBezTo>
                    <a:pt x="10192" y="14489"/>
                    <a:pt x="11145" y="14675"/>
                    <a:pt x="12104" y="14675"/>
                  </a:cubicBezTo>
                  <a:cubicBezTo>
                    <a:pt x="13962" y="14675"/>
                    <a:pt x="15843" y="13979"/>
                    <a:pt x="17294" y="12527"/>
                  </a:cubicBezTo>
                  <a:cubicBezTo>
                    <a:pt x="20155" y="9666"/>
                    <a:pt x="20155" y="5008"/>
                    <a:pt x="17294" y="2147"/>
                  </a:cubicBezTo>
                  <a:cubicBezTo>
                    <a:pt x="15864" y="716"/>
                    <a:pt x="13985" y="1"/>
                    <a:pt x="12106" y="1"/>
                  </a:cubicBezTo>
                  <a:close/>
                </a:path>
              </a:pathLst>
            </a:custGeom>
            <a:solidFill>
              <a:srgbClr val="2C459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>
                <a:solidFill>
                  <a:srgbClr val="435D74"/>
                </a:solidFill>
              </a:endParaRPr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5221050" y="898625"/>
              <a:ext cx="254100" cy="254100"/>
            </a:xfrm>
            <a:custGeom>
              <a:avLst/>
              <a:gdLst/>
              <a:ahLst/>
              <a:cxnLst/>
              <a:rect l="l" t="t" r="r" b="b"/>
              <a:pathLst>
                <a:path w="10164" h="10164" extrusionOk="0">
                  <a:moveTo>
                    <a:pt x="5081" y="1"/>
                  </a:moveTo>
                  <a:cubicBezTo>
                    <a:pt x="2274" y="1"/>
                    <a:pt x="1" y="2274"/>
                    <a:pt x="1" y="5081"/>
                  </a:cubicBezTo>
                  <a:cubicBezTo>
                    <a:pt x="1" y="7887"/>
                    <a:pt x="2274" y="10164"/>
                    <a:pt x="5081" y="10164"/>
                  </a:cubicBezTo>
                  <a:cubicBezTo>
                    <a:pt x="7887" y="10164"/>
                    <a:pt x="10164" y="7887"/>
                    <a:pt x="10164" y="5081"/>
                  </a:cubicBezTo>
                  <a:cubicBezTo>
                    <a:pt x="10164" y="2274"/>
                    <a:pt x="7887" y="1"/>
                    <a:pt x="5081" y="1"/>
                  </a:cubicBezTo>
                  <a:close/>
                </a:path>
              </a:pathLst>
            </a:custGeom>
            <a:solidFill>
              <a:srgbClr val="2C459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>
                <a:solidFill>
                  <a:srgbClr val="435D7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341308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7c04f4bd1_0_125"/>
          <p:cNvSpPr/>
          <p:nvPr/>
        </p:nvSpPr>
        <p:spPr>
          <a:xfrm>
            <a:off x="3906121" y="5053045"/>
            <a:ext cx="7710000" cy="841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98700" tIns="198700" rIns="198700" bIns="198700" anchor="ctr" anchorCtr="0">
            <a:noAutofit/>
          </a:bodyPr>
          <a:lstStyle/>
          <a:p>
            <a:r>
              <a:rPr lang="en-GB" sz="1373" dirty="0" err="1"/>
              <a:t>Résultats</a:t>
            </a:r>
            <a:r>
              <a:rPr lang="en-GB" sz="1373" dirty="0"/>
              <a:t> de </a:t>
            </a:r>
            <a:r>
              <a:rPr lang="en-GB" sz="1373" dirty="0" err="1"/>
              <a:t>l'Enquête</a:t>
            </a:r>
            <a:r>
              <a:rPr lang="en-GB" sz="1373" dirty="0"/>
              <a:t> de couverture </a:t>
            </a:r>
            <a:r>
              <a:rPr lang="en-GB" sz="1373" dirty="0" err="1"/>
              <a:t>vaccinale</a:t>
            </a:r>
            <a:r>
              <a:rPr lang="en-GB" sz="1373" dirty="0"/>
              <a:t> chez les enfants de 12 à 23 </a:t>
            </a:r>
            <a:r>
              <a:rPr lang="en-GB" sz="1373" dirty="0" err="1"/>
              <a:t>mois</a:t>
            </a:r>
            <a:r>
              <a:rPr lang="en-GB" sz="1373" dirty="0"/>
              <a:t>  </a:t>
            </a:r>
            <a:r>
              <a:rPr lang="en-GB" sz="1373" dirty="0" err="1"/>
              <a:t>organisée</a:t>
            </a:r>
            <a:r>
              <a:rPr lang="en-GB" sz="1373" dirty="0"/>
              <a:t> par </a:t>
            </a:r>
            <a:r>
              <a:rPr lang="en-GB" sz="1373" dirty="0" err="1"/>
              <a:t>l'Ecole</a:t>
            </a:r>
            <a:r>
              <a:rPr lang="en-GB" sz="1373" dirty="0"/>
              <a:t> de Santé </a:t>
            </a:r>
            <a:r>
              <a:rPr lang="en-GB" sz="1373" dirty="0" err="1"/>
              <a:t>Publique</a:t>
            </a:r>
            <a:r>
              <a:rPr lang="en-GB" sz="1373" dirty="0"/>
              <a:t> de Kinshasa ( KSPH) </a:t>
            </a:r>
            <a:endParaRPr sz="1373" dirty="0"/>
          </a:p>
        </p:txBody>
      </p:sp>
      <p:sp>
        <p:nvSpPr>
          <p:cNvPr id="173" name="Google Shape;173;g3a7c04f4bd1_0_125"/>
          <p:cNvSpPr/>
          <p:nvPr/>
        </p:nvSpPr>
        <p:spPr>
          <a:xfrm>
            <a:off x="3725467" y="5052533"/>
            <a:ext cx="174800" cy="841200"/>
          </a:xfrm>
          <a:prstGeom prst="rect">
            <a:avLst/>
          </a:prstGeom>
          <a:solidFill>
            <a:srgbClr val="980000"/>
          </a:solidFill>
          <a:ln w="15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8700" tIns="198700" rIns="198700" bIns="198700" anchor="ctr" anchorCtr="0">
            <a:noAutofit/>
          </a:bodyPr>
          <a:lstStyle/>
          <a:p>
            <a:pPr algn="ctr"/>
            <a:endParaRPr sz="1373"/>
          </a:p>
        </p:txBody>
      </p:sp>
      <p:pic>
        <p:nvPicPr>
          <p:cNvPr id="174" name="Google Shape;174;g3a7c04f4bd1_0_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1967" y="148301"/>
            <a:ext cx="8078325" cy="2408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a7c04f4bd1_0_1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1967" y="2557019"/>
            <a:ext cx="8078325" cy="240874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a7c04f4bd1_0_125"/>
          <p:cNvSpPr txBox="1"/>
          <p:nvPr/>
        </p:nvSpPr>
        <p:spPr>
          <a:xfrm>
            <a:off x="0" y="1408667"/>
            <a:ext cx="3535200" cy="3244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3067" b="1" dirty="0">
                <a:solidFill>
                  <a:srgbClr val="1E3A8A"/>
                </a:solidFill>
              </a:rPr>
              <a:t>Analyse de la Progression </a:t>
            </a:r>
            <a:r>
              <a:rPr lang="en-GB" sz="3067" b="1" dirty="0" err="1">
                <a:solidFill>
                  <a:srgbClr val="1E3A8A"/>
                </a:solidFill>
              </a:rPr>
              <a:t>Vaccinale</a:t>
            </a:r>
            <a:r>
              <a:rPr lang="en-GB" sz="3067" b="1" dirty="0">
                <a:solidFill>
                  <a:srgbClr val="1E3A8A"/>
                </a:solidFill>
              </a:rPr>
              <a:t> (2023 </a:t>
            </a:r>
            <a:r>
              <a:rPr lang="en-GB" sz="3067" b="1" dirty="0" err="1">
                <a:solidFill>
                  <a:srgbClr val="1E3A8A"/>
                </a:solidFill>
              </a:rPr>
              <a:t>vs</a:t>
            </a:r>
            <a:r>
              <a:rPr lang="en-GB" sz="3067" b="1" dirty="0">
                <a:solidFill>
                  <a:srgbClr val="1E3A8A"/>
                </a:solidFill>
              </a:rPr>
              <a:t> 2025)</a:t>
            </a:r>
            <a:endParaRPr sz="3067" b="1" dirty="0">
              <a:solidFill>
                <a:srgbClr val="1E3A8A"/>
              </a:solidFill>
            </a:endParaRP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1600"/>
              </a:spcAft>
            </a:pPr>
            <a:r>
              <a:rPr lang="en-GB" sz="1467" dirty="0" err="1">
                <a:solidFill>
                  <a:srgbClr val="4B5563"/>
                </a:solidFill>
              </a:rPr>
              <a:t>Comparaison</a:t>
            </a:r>
            <a:r>
              <a:rPr lang="en-GB" sz="1467" dirty="0">
                <a:solidFill>
                  <a:srgbClr val="4B5563"/>
                </a:solidFill>
              </a:rPr>
              <a:t> des </a:t>
            </a:r>
            <a:r>
              <a:rPr lang="en-GB" sz="1467" dirty="0" err="1">
                <a:solidFill>
                  <a:srgbClr val="4B5563"/>
                </a:solidFill>
              </a:rPr>
              <a:t>indicateurs</a:t>
            </a:r>
            <a:r>
              <a:rPr lang="en-GB" sz="1467" dirty="0">
                <a:solidFill>
                  <a:srgbClr val="4B5563"/>
                </a:solidFill>
              </a:rPr>
              <a:t> </a:t>
            </a:r>
            <a:r>
              <a:rPr lang="en-GB" sz="1467" dirty="0" err="1">
                <a:solidFill>
                  <a:srgbClr val="4B5563"/>
                </a:solidFill>
              </a:rPr>
              <a:t>clés</a:t>
            </a:r>
            <a:r>
              <a:rPr lang="en-GB" sz="1467" dirty="0">
                <a:solidFill>
                  <a:srgbClr val="4B5563"/>
                </a:solidFill>
              </a:rPr>
              <a:t> et des gains </a:t>
            </a:r>
            <a:r>
              <a:rPr lang="en-GB" sz="1467" dirty="0" err="1">
                <a:solidFill>
                  <a:srgbClr val="4B5563"/>
                </a:solidFill>
              </a:rPr>
              <a:t>obtenus</a:t>
            </a:r>
            <a:r>
              <a:rPr lang="en-GB" sz="1467" dirty="0">
                <a:solidFill>
                  <a:srgbClr val="4B5563"/>
                </a:solidFill>
              </a:rPr>
              <a:t> </a:t>
            </a:r>
            <a:r>
              <a:rPr lang="en-GB" sz="1467" dirty="0" err="1">
                <a:solidFill>
                  <a:srgbClr val="4B5563"/>
                </a:solidFill>
              </a:rPr>
              <a:t>sur</a:t>
            </a:r>
            <a:r>
              <a:rPr lang="en-GB" sz="1467" dirty="0">
                <a:solidFill>
                  <a:srgbClr val="4B5563"/>
                </a:solidFill>
              </a:rPr>
              <a:t> </a:t>
            </a:r>
            <a:r>
              <a:rPr lang="en-GB" sz="1467" dirty="0" err="1">
                <a:solidFill>
                  <a:srgbClr val="4B5563"/>
                </a:solidFill>
              </a:rPr>
              <a:t>deux</a:t>
            </a:r>
            <a:r>
              <a:rPr lang="en-GB" sz="1467" dirty="0">
                <a:solidFill>
                  <a:srgbClr val="4B5563"/>
                </a:solidFill>
              </a:rPr>
              <a:t> ans.</a:t>
            </a:r>
            <a:endParaRPr sz="3067" b="1" dirty="0">
              <a:solidFill>
                <a:srgbClr val="3730A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769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600" y="220830"/>
            <a:ext cx="11360700" cy="763500"/>
          </a:xfrm>
        </p:spPr>
        <p:txBody>
          <a:bodyPr>
            <a:noAutofit/>
          </a:bodyPr>
          <a:lstStyle/>
          <a:p>
            <a:r>
              <a:rPr lang="fr-FR" sz="2000" b="1" dirty="0"/>
              <a:t> Problèmes identifiés lors des ECV 2025 et solutions envisagées</a:t>
            </a:r>
            <a:br>
              <a:rPr lang="fr-FR" sz="2000" dirty="0"/>
            </a:br>
            <a:endParaRPr lang="fr-FR" sz="2000" dirty="0"/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647409"/>
              </p:ext>
            </p:extLst>
          </p:nvPr>
        </p:nvGraphicFramePr>
        <p:xfrm>
          <a:off x="601133" y="719662"/>
          <a:ext cx="10896601" cy="60497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64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7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7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PROBLEMES IDENTIFIES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Score 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effectLst/>
                        </a:rPr>
                        <a:t>Actions correctrices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1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Longues attentes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effectLst/>
                        </a:rPr>
                        <a:t>21,8%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Respecter le temps de début de la vaccination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Augmenter le nombre des séances de vaccination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7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Site de vaccination éloigné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effectLst/>
                        </a:rPr>
                        <a:t>18,5%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Organiser les séances en stratégies avancées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5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Séances de vaccination annulée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effectLst/>
                        </a:rPr>
                        <a:t>11,3%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Planifier  et  préparer des séances de vaccination et organiser les séances de vaccination planifiées sans les annuler quelle que soit la raison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55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Vaccins non disponible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effectLst/>
                        </a:rPr>
                        <a:t>9,7%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Planifier  et  préparer des séances de vaccination et faire une réquisition des vaccins à temps si vaccins disponibles au</a:t>
                      </a:r>
                      <a:r>
                        <a:rPr lang="fr-FR" sz="1600" baseline="0" dirty="0">
                          <a:effectLst/>
                        </a:rPr>
                        <a:t> BCZS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28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Problèmes familiaux, dont maladie de la mère.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effectLst/>
                        </a:rPr>
                        <a:t>8,1%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Faire les visites à domicile (familiarisation)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7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Enfant malade, non envoyé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effectLst/>
                        </a:rPr>
                        <a:t>6,8%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Faire les visites à domicile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983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Cout élevé de la vaccination ou de la séance CPS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effectLst/>
                        </a:rPr>
                        <a:t>4,1%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Reproduire les cartes CPS en quantité suffisante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Organiser des séances avancées de vaccination pour réduire le coût de déplacement des mères vers les sites de vaccination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635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Horaire de la vaccination mal connue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effectLst/>
                        </a:rPr>
                        <a:t>3,7%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Planifier  et  préparer des séances de vaccination et fixer l’horaire de la vaccination avec la communauté 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1982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9" name="Google Shape;189;p10"/>
          <p:cNvGraphicFramePr/>
          <p:nvPr/>
        </p:nvGraphicFramePr>
        <p:xfrm>
          <a:off x="4981303" y="11612"/>
          <a:ext cx="6432751" cy="600795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15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5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3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2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2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2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2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5240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Organisation</a:t>
                      </a:r>
                      <a:endParaRPr sz="1200" b="1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Completude</a:t>
                      </a:r>
                      <a:endParaRPr sz="1200" b="1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Promptitude</a:t>
                      </a:r>
                      <a:endParaRPr sz="1200" b="1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2025-T1</a:t>
                      </a:r>
                      <a:endParaRPr sz="1200" b="1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2025-T2</a:t>
                      </a:r>
                      <a:endParaRPr sz="1200" b="1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2025-T3</a:t>
                      </a:r>
                      <a:endParaRPr sz="1200" b="1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2025-T1</a:t>
                      </a:r>
                      <a:endParaRPr sz="1200" b="1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2025-T2</a:t>
                      </a:r>
                      <a:endParaRPr sz="1200" b="1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2025-T3</a:t>
                      </a:r>
                      <a:endParaRPr sz="1200" b="1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Province du Lualaba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97%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99%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92%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rgbClr val="FFFFFF"/>
                          </a:solidFill>
                        </a:rPr>
                        <a:t>74%</a:t>
                      </a:r>
                      <a:endParaRPr sz="12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94%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rgbClr val="FFFFFF"/>
                          </a:solidFill>
                        </a:rPr>
                        <a:t>82%</a:t>
                      </a:r>
                      <a:endParaRPr sz="12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Bunkeya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97%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rgbClr val="FFFFFF"/>
                          </a:solidFill>
                        </a:rPr>
                        <a:t>87%</a:t>
                      </a:r>
                      <a:endParaRPr sz="12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95%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95%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Dilala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94%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rgbClr val="FFFFFF"/>
                          </a:solidFill>
                        </a:rPr>
                        <a:t>68%</a:t>
                      </a:r>
                      <a:endParaRPr sz="12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99%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rgbClr val="FFFFFF"/>
                          </a:solidFill>
                        </a:rPr>
                        <a:t>69%</a:t>
                      </a:r>
                      <a:endParaRPr sz="12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Dilolo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99%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99%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rgbClr val="FFFFFF"/>
                          </a:solidFill>
                        </a:rPr>
                        <a:t>85%</a:t>
                      </a:r>
                      <a:endParaRPr sz="12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91%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rgbClr val="FFFFFF"/>
                          </a:solidFill>
                        </a:rPr>
                        <a:t>89%</a:t>
                      </a:r>
                      <a:endParaRPr sz="12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Fungurume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92%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99%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91%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rgbClr val="FFFFFF"/>
                          </a:solidFill>
                        </a:rPr>
                        <a:t>75%</a:t>
                      </a:r>
                      <a:endParaRPr sz="12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rgbClr val="FFFFFF"/>
                          </a:solidFill>
                        </a:rPr>
                        <a:t>81%</a:t>
                      </a:r>
                      <a:endParaRPr sz="12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rgbClr val="FFFFFF"/>
                          </a:solidFill>
                        </a:rPr>
                        <a:t>69%</a:t>
                      </a:r>
                      <a:endParaRPr sz="12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Kafakumba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99%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92%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99%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Kanzenze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Kalamba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rgbClr val="FFFFFF"/>
                          </a:solidFill>
                        </a:rPr>
                        <a:t>89%</a:t>
                      </a:r>
                      <a:endParaRPr sz="12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92%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91%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rgbClr val="FFFFFF"/>
                          </a:solidFill>
                        </a:rPr>
                        <a:t>55%</a:t>
                      </a:r>
                      <a:endParaRPr sz="12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91%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rgbClr val="FFFFFF"/>
                          </a:solidFill>
                        </a:rPr>
                        <a:t>68%</a:t>
                      </a:r>
                      <a:endParaRPr sz="12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Kapanga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rgbClr val="FFFFFF"/>
                          </a:solidFill>
                        </a:rPr>
                        <a:t>71%</a:t>
                      </a:r>
                      <a:endParaRPr sz="12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rgbClr val="FFFFFF"/>
                          </a:solidFill>
                        </a:rPr>
                        <a:t>83%</a:t>
                      </a:r>
                      <a:endParaRPr sz="12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99%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Kasaji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98%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98%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99%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Lualaba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91%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99%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Lubudi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91%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97%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rgbClr val="FFFFFF"/>
                          </a:solidFill>
                        </a:rPr>
                        <a:t>58%</a:t>
                      </a:r>
                      <a:endParaRPr sz="12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5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Manika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98%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rgbClr val="FFFFFF"/>
                          </a:solidFill>
                        </a:rPr>
                        <a:t>79%</a:t>
                      </a:r>
                      <a:endParaRPr sz="12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rgbClr val="FFFFFF"/>
                          </a:solidFill>
                        </a:rPr>
                        <a:t>42%</a:t>
                      </a:r>
                      <a:endParaRPr sz="12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100%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rgbClr val="FFFFFF"/>
                          </a:solidFill>
                        </a:rPr>
                        <a:t>78%</a:t>
                      </a:r>
                      <a:endParaRPr sz="12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5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Mutshatsha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94%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96%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rgbClr val="FFFFFF"/>
                          </a:solidFill>
                        </a:rPr>
                        <a:t>86%</a:t>
                      </a:r>
                      <a:endParaRPr sz="12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rgbClr val="FFFFFF"/>
                          </a:solidFill>
                        </a:rPr>
                        <a:t>67%</a:t>
                      </a:r>
                      <a:endParaRPr sz="12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96%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rgbClr val="FFFFFF"/>
                          </a:solidFill>
                        </a:rPr>
                        <a:t>71%</a:t>
                      </a:r>
                      <a:endParaRPr sz="12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5411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Sandoa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97%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99%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97%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92%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/>
                        <a:t>94%</a:t>
                      </a:r>
                      <a:endParaRPr sz="1200" u="none" strike="noStrike" cap="none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200" u="none" strike="noStrike" cap="none" dirty="0"/>
                        <a:t>97%</a:t>
                      </a:r>
                      <a:endParaRPr sz="1200" u="none" strike="noStrike" cap="none" dirty="0"/>
                    </a:p>
                  </a:txBody>
                  <a:tcPr marL="38100" marR="38100" marT="121900" marB="1219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90" name="Google Shape;190;p10"/>
          <p:cNvSpPr/>
          <p:nvPr/>
        </p:nvSpPr>
        <p:spPr>
          <a:xfrm>
            <a:off x="139337" y="545738"/>
            <a:ext cx="4648255" cy="53296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150000"/>
              </a:lnSpc>
              <a:buSzPts val="3000"/>
            </a:pPr>
            <a:r>
              <a:rPr lang="en-GB" sz="4000" dirty="0" err="1">
                <a:solidFill>
                  <a:schemeClr val="lt1"/>
                </a:solidFill>
              </a:rPr>
              <a:t>Faible</a:t>
            </a:r>
            <a:r>
              <a:rPr lang="en-GB" sz="4000" dirty="0">
                <a:solidFill>
                  <a:schemeClr val="lt1"/>
                </a:solidFill>
              </a:rPr>
              <a:t> promptitude des données</a:t>
            </a:r>
            <a:endParaRPr sz="4000" dirty="0">
              <a:solidFill>
                <a:schemeClr val="lt1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8882F17-95D3-34DA-F3BC-B096CC566C43}"/>
              </a:ext>
            </a:extLst>
          </p:cNvPr>
          <p:cNvSpPr txBox="1"/>
          <p:nvPr/>
        </p:nvSpPr>
        <p:spPr>
          <a:xfrm>
            <a:off x="139337" y="11613"/>
            <a:ext cx="4648255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67" b="1" dirty="0">
                <a:solidFill>
                  <a:srgbClr val="0070C0"/>
                </a:solidFill>
              </a:rPr>
              <a:t>Données collectées dans le DIHS2</a:t>
            </a:r>
            <a:endParaRPr lang="en-US" sz="1867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719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"/>
          <p:cNvSpPr txBox="1"/>
          <p:nvPr/>
        </p:nvSpPr>
        <p:spPr>
          <a:xfrm>
            <a:off x="267701" y="-35826"/>
            <a:ext cx="11924300" cy="73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09535"/>
              </a:lnSpc>
              <a:buClr>
                <a:srgbClr val="4A66AC"/>
              </a:buClr>
              <a:buSzPts val="2100"/>
            </a:pPr>
            <a:r>
              <a:rPr lang="en-GB" sz="2133" b="1" dirty="0">
                <a:solidFill>
                  <a:srgbClr val="0070C0"/>
                </a:solidFill>
              </a:rPr>
              <a:t>Analyse des données de couverture </a:t>
            </a:r>
            <a:r>
              <a:rPr lang="en-GB" sz="2133" b="1" dirty="0" err="1">
                <a:solidFill>
                  <a:srgbClr val="0070C0"/>
                </a:solidFill>
              </a:rPr>
              <a:t>vaccinale</a:t>
            </a:r>
            <a:r>
              <a:rPr lang="en-GB" sz="2133" b="1" dirty="0">
                <a:solidFill>
                  <a:srgbClr val="0070C0"/>
                </a:solidFill>
              </a:rPr>
              <a:t>:</a:t>
            </a:r>
            <a:r>
              <a:rPr lang="en-GB" sz="2133" dirty="0">
                <a:solidFill>
                  <a:srgbClr val="0070C0"/>
                </a:solidFill>
              </a:rPr>
              <a:t> </a:t>
            </a:r>
            <a:endParaRPr sz="1867" dirty="0"/>
          </a:p>
          <a:p>
            <a:pPr algn="just">
              <a:lnSpc>
                <a:spcPct val="109535"/>
              </a:lnSpc>
              <a:buClr>
                <a:srgbClr val="4A66AC"/>
              </a:buClr>
              <a:buSzPts val="2100"/>
            </a:pPr>
            <a:r>
              <a:rPr lang="en-GB" sz="2133" dirty="0">
                <a:solidFill>
                  <a:srgbClr val="0070C0"/>
                </a:solidFill>
              </a:rPr>
              <a:t>Les équipes, au point de prestation des services, </a:t>
            </a:r>
            <a:r>
              <a:rPr lang="en-GB" sz="2133" dirty="0" err="1">
                <a:solidFill>
                  <a:srgbClr val="0070C0"/>
                </a:solidFill>
              </a:rPr>
              <a:t>ont</a:t>
            </a:r>
            <a:r>
              <a:rPr lang="en-GB" sz="2133" dirty="0">
                <a:solidFill>
                  <a:srgbClr val="0070C0"/>
                </a:solidFill>
              </a:rPr>
              <a:t> </a:t>
            </a:r>
            <a:r>
              <a:rPr lang="en-GB" sz="2133" dirty="0" err="1">
                <a:solidFill>
                  <a:srgbClr val="0070C0"/>
                </a:solidFill>
              </a:rPr>
              <a:t>vacciné</a:t>
            </a:r>
            <a:r>
              <a:rPr lang="en-GB" sz="2133" dirty="0">
                <a:solidFill>
                  <a:srgbClr val="0070C0"/>
                </a:solidFill>
              </a:rPr>
              <a:t> un plus grand </a:t>
            </a:r>
            <a:r>
              <a:rPr lang="en-GB" sz="2133" dirty="0" err="1">
                <a:solidFill>
                  <a:srgbClr val="0070C0"/>
                </a:solidFill>
              </a:rPr>
              <a:t>nombre</a:t>
            </a:r>
            <a:r>
              <a:rPr lang="en-GB" sz="2133" dirty="0">
                <a:solidFill>
                  <a:srgbClr val="0070C0"/>
                </a:solidFill>
              </a:rPr>
              <a:t> d’enfant par rapport à la </a:t>
            </a:r>
            <a:r>
              <a:rPr lang="en-GB" sz="2133" dirty="0" err="1">
                <a:solidFill>
                  <a:srgbClr val="0070C0"/>
                </a:solidFill>
              </a:rPr>
              <a:t>même</a:t>
            </a:r>
            <a:r>
              <a:rPr lang="en-GB" sz="2133" dirty="0">
                <a:solidFill>
                  <a:srgbClr val="0070C0"/>
                </a:solidFill>
              </a:rPr>
              <a:t> </a:t>
            </a:r>
            <a:r>
              <a:rPr lang="en-GB" sz="2133" dirty="0" err="1">
                <a:solidFill>
                  <a:srgbClr val="0070C0"/>
                </a:solidFill>
              </a:rPr>
              <a:t>période</a:t>
            </a:r>
            <a:r>
              <a:rPr lang="en-GB" sz="2133" dirty="0">
                <a:solidFill>
                  <a:srgbClr val="0070C0"/>
                </a:solidFill>
              </a:rPr>
              <a:t> de </a:t>
            </a:r>
            <a:r>
              <a:rPr lang="en-GB" sz="2133" dirty="0" err="1">
                <a:solidFill>
                  <a:srgbClr val="0070C0"/>
                </a:solidFill>
              </a:rPr>
              <a:t>l’année</a:t>
            </a:r>
            <a:r>
              <a:rPr lang="en-GB" sz="2133" dirty="0">
                <a:solidFill>
                  <a:srgbClr val="0070C0"/>
                </a:solidFill>
              </a:rPr>
              <a:t> passée </a:t>
            </a:r>
            <a:r>
              <a:rPr lang="en-GB" sz="2133" dirty="0" err="1">
                <a:solidFill>
                  <a:srgbClr val="0070C0"/>
                </a:solidFill>
              </a:rPr>
              <a:t>mais</a:t>
            </a:r>
            <a:r>
              <a:rPr lang="en-GB" sz="2133" dirty="0">
                <a:solidFill>
                  <a:srgbClr val="0070C0"/>
                </a:solidFill>
              </a:rPr>
              <a:t> les performance pour les couverture VAR et VPI </a:t>
            </a:r>
            <a:r>
              <a:rPr lang="en-GB" sz="2133" dirty="0" err="1">
                <a:solidFill>
                  <a:srgbClr val="0070C0"/>
                </a:solidFill>
              </a:rPr>
              <a:t>restent</a:t>
            </a:r>
            <a:r>
              <a:rPr lang="en-GB" sz="2133" dirty="0">
                <a:solidFill>
                  <a:srgbClr val="0070C0"/>
                </a:solidFill>
              </a:rPr>
              <a:t> basses</a:t>
            </a:r>
            <a:endParaRPr sz="2133" dirty="0">
              <a:solidFill>
                <a:srgbClr val="0070C0"/>
              </a:solidFill>
            </a:endParaRPr>
          </a:p>
        </p:txBody>
      </p:sp>
      <p:pic>
        <p:nvPicPr>
          <p:cNvPr id="196" name="Google Shape;196;p11" title="Chart"/>
          <p:cNvPicPr preferRelativeResize="0"/>
          <p:nvPr/>
        </p:nvPicPr>
        <p:blipFill rotWithShape="1">
          <a:blip r:embed="rId3">
            <a:alphaModFix/>
          </a:blip>
          <a:srcRect l="8998" t="12226" r="3718"/>
          <a:stretch/>
        </p:blipFill>
        <p:spPr>
          <a:xfrm>
            <a:off x="952501" y="1375270"/>
            <a:ext cx="10287001" cy="447456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7" name="Google Shape;197;p11"/>
          <p:cNvGraphicFramePr/>
          <p:nvPr/>
        </p:nvGraphicFramePr>
        <p:xfrm>
          <a:off x="2190133" y="2479496"/>
          <a:ext cx="5026066" cy="35478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13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3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7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900" u="none" strike="noStrike" cap="none"/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900" u="none" strike="noStrike" cap="none"/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8" name="Google Shape;198;p11"/>
          <p:cNvGraphicFramePr/>
          <p:nvPr/>
        </p:nvGraphicFramePr>
        <p:xfrm>
          <a:off x="8632834" y="2479496"/>
          <a:ext cx="2513033" cy="35478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13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47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900" u="none" strike="noStrike" cap="none"/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9" name="Google Shape;199;p11"/>
          <p:cNvSpPr txBox="1"/>
          <p:nvPr/>
        </p:nvSpPr>
        <p:spPr>
          <a:xfrm>
            <a:off x="493300" y="5718274"/>
            <a:ext cx="114148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>
              <a:buSzPts val="800"/>
            </a:pPr>
            <a:r>
              <a:rPr lang="en-GB" sz="1067">
                <a:solidFill>
                  <a:schemeClr val="dk1"/>
                </a:solidFill>
              </a:rPr>
              <a:t>Source: Micro plan PEV, Lualaba, 2025 </a:t>
            </a:r>
            <a:endParaRPr sz="1067">
              <a:solidFill>
                <a:schemeClr val="dk1"/>
              </a:solidFill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0" y="28541"/>
            <a:ext cx="235600" cy="65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>
              <a:buSzPts val="1400"/>
            </a:pPr>
            <a:endParaRPr sz="1867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65576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2" title="Chart"/>
          <p:cNvPicPr preferRelativeResize="0"/>
          <p:nvPr/>
        </p:nvPicPr>
        <p:blipFill rotWithShape="1">
          <a:blip r:embed="rId3">
            <a:alphaModFix/>
          </a:blip>
          <a:srcRect l="6628" t="9362"/>
          <a:stretch/>
        </p:blipFill>
        <p:spPr>
          <a:xfrm>
            <a:off x="117801" y="1645228"/>
            <a:ext cx="11981308" cy="414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2"/>
          <p:cNvSpPr txBox="1"/>
          <p:nvPr/>
        </p:nvSpPr>
        <p:spPr>
          <a:xfrm>
            <a:off x="267701" y="-1"/>
            <a:ext cx="11924299" cy="147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09535"/>
              </a:lnSpc>
              <a:buClr>
                <a:srgbClr val="4A66AC"/>
              </a:buClr>
              <a:buSzPts val="2100"/>
            </a:pPr>
            <a:r>
              <a:rPr lang="en-GB" sz="2133" b="1">
                <a:solidFill>
                  <a:srgbClr val="0070C0"/>
                </a:solidFill>
              </a:rPr>
              <a:t>Analyse des données de couverture vaccinale:</a:t>
            </a:r>
            <a:r>
              <a:rPr lang="en-GB" sz="2133">
                <a:solidFill>
                  <a:srgbClr val="0070C0"/>
                </a:solidFill>
              </a:rPr>
              <a:t> </a:t>
            </a:r>
            <a:endParaRPr sz="1867"/>
          </a:p>
          <a:p>
            <a:pPr algn="just">
              <a:lnSpc>
                <a:spcPct val="109535"/>
              </a:lnSpc>
              <a:buClr>
                <a:srgbClr val="4A66AC"/>
              </a:buClr>
              <a:buSzPts val="2100"/>
            </a:pPr>
            <a:r>
              <a:rPr lang="en-GB" sz="2133">
                <a:solidFill>
                  <a:srgbClr val="0070C0"/>
                </a:solidFill>
              </a:rPr>
              <a:t>Les équipes, au point de prestation des services, ont vacciné un plus grand nombre d’enfant par rapport à la même période de l’année passée mais éprouvent encore des difficultés à fidéliser les gardiennes (2/2)</a:t>
            </a:r>
            <a:endParaRPr sz="2133">
              <a:solidFill>
                <a:srgbClr val="0070C0"/>
              </a:solidFill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0" y="38200"/>
            <a:ext cx="235600" cy="65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>
              <a:buSzPts val="1400"/>
            </a:pPr>
            <a:endParaRPr sz="1867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12"/>
          <p:cNvSpPr txBox="1"/>
          <p:nvPr/>
        </p:nvSpPr>
        <p:spPr>
          <a:xfrm>
            <a:off x="117800" y="5712103"/>
            <a:ext cx="114148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>
              <a:buSzPts val="800"/>
            </a:pPr>
            <a:r>
              <a:rPr lang="en-GB" sz="1067">
                <a:solidFill>
                  <a:schemeClr val="dk1"/>
                </a:solidFill>
              </a:rPr>
              <a:t>Source: Micro plan PEV, Lualaba, 2025 </a:t>
            </a:r>
            <a:endParaRPr sz="1067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099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"/>
          <p:cNvSpPr txBox="1"/>
          <p:nvPr/>
        </p:nvSpPr>
        <p:spPr>
          <a:xfrm>
            <a:off x="262101" y="-50698"/>
            <a:ext cx="11929899" cy="102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09535"/>
              </a:lnSpc>
              <a:buClr>
                <a:srgbClr val="4A66AC"/>
              </a:buClr>
              <a:buSzPts val="2100"/>
            </a:pPr>
            <a:r>
              <a:rPr lang="en-GB" sz="2133" b="1">
                <a:solidFill>
                  <a:srgbClr val="0070C0"/>
                </a:solidFill>
              </a:rPr>
              <a:t>Analyse des données de couverture vaccinale: </a:t>
            </a:r>
            <a:endParaRPr sz="1867"/>
          </a:p>
          <a:p>
            <a:pPr algn="just">
              <a:lnSpc>
                <a:spcPct val="109535"/>
              </a:lnSpc>
              <a:buClr>
                <a:srgbClr val="4A66AC"/>
              </a:buClr>
              <a:buSzPts val="2100"/>
            </a:pPr>
            <a:r>
              <a:rPr lang="en-GB" sz="2133">
                <a:solidFill>
                  <a:srgbClr val="0070C0"/>
                </a:solidFill>
              </a:rPr>
              <a:t>Les efforts en matière de fidélisation des bénéficiaires des services de vaccination doivent être poursuivent pour continuer à réduire les taux d’abandon.</a:t>
            </a:r>
            <a:endParaRPr sz="2133">
              <a:solidFill>
                <a:srgbClr val="0070C0"/>
              </a:solidFill>
            </a:endParaRPr>
          </a:p>
        </p:txBody>
      </p:sp>
      <p:pic>
        <p:nvPicPr>
          <p:cNvPr id="214" name="Google Shape;214;p13" title="Chart"/>
          <p:cNvPicPr preferRelativeResize="0"/>
          <p:nvPr/>
        </p:nvPicPr>
        <p:blipFill rotWithShape="1">
          <a:blip r:embed="rId3">
            <a:alphaModFix/>
          </a:blip>
          <a:srcRect l="4383" t="18613" r="3143"/>
          <a:stretch/>
        </p:blipFill>
        <p:spPr>
          <a:xfrm>
            <a:off x="235600" y="1048447"/>
            <a:ext cx="11414800" cy="1828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3" title="Chart"/>
          <p:cNvPicPr preferRelativeResize="0"/>
          <p:nvPr/>
        </p:nvPicPr>
        <p:blipFill rotWithShape="1">
          <a:blip r:embed="rId4">
            <a:alphaModFix/>
          </a:blip>
          <a:srcRect l="5857" t="14089" r="2598"/>
          <a:stretch/>
        </p:blipFill>
        <p:spPr>
          <a:xfrm>
            <a:off x="386800" y="3058976"/>
            <a:ext cx="11263600" cy="244868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3"/>
          <p:cNvSpPr/>
          <p:nvPr/>
        </p:nvSpPr>
        <p:spPr>
          <a:xfrm>
            <a:off x="0" y="0"/>
            <a:ext cx="235600" cy="65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>
              <a:buSzPts val="1400"/>
            </a:pPr>
            <a:endParaRPr sz="1867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13"/>
          <p:cNvSpPr txBox="1"/>
          <p:nvPr/>
        </p:nvSpPr>
        <p:spPr>
          <a:xfrm>
            <a:off x="117800" y="5572531"/>
            <a:ext cx="114148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>
              <a:buSzPts val="800"/>
            </a:pPr>
            <a:r>
              <a:rPr lang="en-GB" sz="1067">
                <a:solidFill>
                  <a:schemeClr val="dk1"/>
                </a:solidFill>
              </a:rPr>
              <a:t>Source: Micro plan PEV, Lualaba, 2025 </a:t>
            </a:r>
            <a:endParaRPr sz="1067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849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4" title="Chart"/>
          <p:cNvPicPr preferRelativeResize="0"/>
          <p:nvPr/>
        </p:nvPicPr>
        <p:blipFill rotWithShape="1">
          <a:blip r:embed="rId3">
            <a:alphaModFix/>
          </a:blip>
          <a:srcRect l="7606" t="9139" r="4147"/>
          <a:stretch/>
        </p:blipFill>
        <p:spPr>
          <a:xfrm>
            <a:off x="458601" y="1374827"/>
            <a:ext cx="11041500" cy="4159467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4"/>
          <p:cNvSpPr txBox="1"/>
          <p:nvPr/>
        </p:nvSpPr>
        <p:spPr>
          <a:xfrm>
            <a:off x="267699" y="-9659"/>
            <a:ext cx="11924300" cy="1066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09535"/>
              </a:lnSpc>
              <a:buClr>
                <a:srgbClr val="4A66AC"/>
              </a:buClr>
              <a:buSzPts val="2100"/>
            </a:pPr>
            <a:r>
              <a:rPr lang="en-GB" sz="2133" b="1">
                <a:solidFill>
                  <a:srgbClr val="0070C0"/>
                </a:solidFill>
              </a:rPr>
              <a:t>Qualité des données de la routine: </a:t>
            </a:r>
            <a:endParaRPr sz="1867"/>
          </a:p>
          <a:p>
            <a:pPr algn="just">
              <a:lnSpc>
                <a:spcPct val="109535"/>
              </a:lnSpc>
              <a:buClr>
                <a:srgbClr val="4A66AC"/>
              </a:buClr>
              <a:buSzPts val="2100"/>
            </a:pPr>
            <a:r>
              <a:rPr lang="en-GB" sz="2133">
                <a:solidFill>
                  <a:srgbClr val="0070C0"/>
                </a:solidFill>
              </a:rPr>
              <a:t>Les efforts pour l'amélioration de la qualité des données se poursuivront en vue de réduire les écarts entre les couvertures ajustées de l’OMS et celles administratives</a:t>
            </a:r>
            <a:endParaRPr sz="2133">
              <a:solidFill>
                <a:srgbClr val="0070C0"/>
              </a:solidFill>
            </a:endParaRPr>
          </a:p>
        </p:txBody>
      </p:sp>
      <p:sp>
        <p:nvSpPr>
          <p:cNvPr id="224" name="Google Shape;224;p14"/>
          <p:cNvSpPr txBox="1"/>
          <p:nvPr/>
        </p:nvSpPr>
        <p:spPr>
          <a:xfrm>
            <a:off x="117800" y="5599168"/>
            <a:ext cx="114148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>
              <a:buSzPts val="800"/>
            </a:pPr>
            <a:r>
              <a:rPr lang="en-GB" sz="1067">
                <a:solidFill>
                  <a:schemeClr val="dk1"/>
                </a:solidFill>
              </a:rPr>
              <a:t>Source: PEV, Province du Lualaba, 2025 ; cibles ajutées OMS, 2025 </a:t>
            </a:r>
            <a:endParaRPr sz="1067">
              <a:solidFill>
                <a:schemeClr val="dk1"/>
              </a:solidFill>
            </a:endParaRPr>
          </a:p>
        </p:txBody>
      </p:sp>
      <p:sp>
        <p:nvSpPr>
          <p:cNvPr id="225" name="Google Shape;225;p14"/>
          <p:cNvSpPr/>
          <p:nvPr/>
        </p:nvSpPr>
        <p:spPr>
          <a:xfrm rot="-2426395">
            <a:off x="338637" y="1871895"/>
            <a:ext cx="1447929" cy="850325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SzPts val="1400"/>
            </a:pPr>
            <a:endParaRPr sz="1867"/>
          </a:p>
        </p:txBody>
      </p:sp>
      <p:sp>
        <p:nvSpPr>
          <p:cNvPr id="226" name="Google Shape;226;p14"/>
          <p:cNvSpPr/>
          <p:nvPr/>
        </p:nvSpPr>
        <p:spPr>
          <a:xfrm rot="-2426395">
            <a:off x="3210637" y="2527995"/>
            <a:ext cx="1447929" cy="850325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SzPts val="1400"/>
            </a:pPr>
            <a:endParaRPr sz="1867"/>
          </a:p>
        </p:txBody>
      </p:sp>
      <p:sp>
        <p:nvSpPr>
          <p:cNvPr id="227" name="Google Shape;227;p14"/>
          <p:cNvSpPr/>
          <p:nvPr/>
        </p:nvSpPr>
        <p:spPr>
          <a:xfrm rot="-2426395">
            <a:off x="7328070" y="2779728"/>
            <a:ext cx="1447929" cy="850325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SzPts val="1400"/>
            </a:pPr>
            <a:endParaRPr sz="1867"/>
          </a:p>
        </p:txBody>
      </p:sp>
      <p:sp>
        <p:nvSpPr>
          <p:cNvPr id="228" name="Google Shape;228;p14"/>
          <p:cNvSpPr/>
          <p:nvPr/>
        </p:nvSpPr>
        <p:spPr>
          <a:xfrm>
            <a:off x="0" y="28541"/>
            <a:ext cx="235600" cy="65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>
              <a:buSzPts val="1400"/>
            </a:pPr>
            <a:endParaRPr sz="1867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84042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0705" y="835632"/>
            <a:ext cx="10216472" cy="546501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5"/>
          <p:cNvSpPr txBox="1"/>
          <p:nvPr/>
        </p:nvSpPr>
        <p:spPr>
          <a:xfrm>
            <a:off x="235600" y="-9659"/>
            <a:ext cx="112748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SzPts val="2000"/>
            </a:pPr>
            <a:r>
              <a:rPr lang="en-GB" sz="2133" b="1">
                <a:solidFill>
                  <a:srgbClr val="0070C0"/>
                </a:solidFill>
              </a:rPr>
              <a:t>Catégorisation:</a:t>
            </a:r>
            <a:endParaRPr sz="1867"/>
          </a:p>
          <a:p>
            <a:pPr>
              <a:buSzPts val="2000"/>
            </a:pPr>
            <a:r>
              <a:rPr lang="en-GB" sz="2133">
                <a:solidFill>
                  <a:srgbClr val="0070C0"/>
                </a:solidFill>
              </a:rPr>
              <a:t>1/14 ZS sont en catégorie 3 et la majorité sont en catégorie 1 et 2 </a:t>
            </a:r>
            <a:endParaRPr sz="2133">
              <a:solidFill>
                <a:srgbClr val="0070C0"/>
              </a:solidFill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0" y="28541"/>
            <a:ext cx="235600" cy="65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>
              <a:buSzPts val="1400"/>
            </a:pPr>
            <a:endParaRPr sz="1867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3217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8"/>
          <p:cNvPicPr preferRelativeResize="0"/>
          <p:nvPr/>
        </p:nvPicPr>
        <p:blipFill rotWithShape="1">
          <a:blip r:embed="rId3">
            <a:alphaModFix/>
          </a:blip>
          <a:srcRect l="1964" t="3827" r="2184"/>
          <a:stretch/>
        </p:blipFill>
        <p:spPr>
          <a:xfrm>
            <a:off x="266512" y="896895"/>
            <a:ext cx="5724000" cy="381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8"/>
          <p:cNvPicPr preferRelativeResize="0"/>
          <p:nvPr/>
        </p:nvPicPr>
        <p:blipFill rotWithShape="1">
          <a:blip r:embed="rId4">
            <a:alphaModFix/>
          </a:blip>
          <a:srcRect l="1991" t="3827" r="1770"/>
          <a:stretch/>
        </p:blipFill>
        <p:spPr>
          <a:xfrm>
            <a:off x="6442288" y="1107660"/>
            <a:ext cx="5483200" cy="381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8"/>
          <p:cNvSpPr/>
          <p:nvPr/>
        </p:nvSpPr>
        <p:spPr>
          <a:xfrm>
            <a:off x="0" y="-9659"/>
            <a:ext cx="235600" cy="65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>
              <a:buSzPts val="1400"/>
            </a:pPr>
            <a:endParaRPr sz="1867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18"/>
          <p:cNvSpPr txBox="1"/>
          <p:nvPr/>
        </p:nvSpPr>
        <p:spPr>
          <a:xfrm>
            <a:off x="235600" y="-4775"/>
            <a:ext cx="11956400" cy="650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09535"/>
              </a:lnSpc>
              <a:buClr>
                <a:srgbClr val="4A66AC"/>
              </a:buClr>
              <a:buSzPts val="2100"/>
            </a:pPr>
            <a:r>
              <a:rPr lang="en-GB" sz="1867" b="1">
                <a:solidFill>
                  <a:srgbClr val="0070C0"/>
                </a:solidFill>
              </a:rPr>
              <a:t>Logistique: </a:t>
            </a:r>
            <a:r>
              <a:rPr lang="en-GB" sz="1867">
                <a:solidFill>
                  <a:srgbClr val="0070C0"/>
                </a:solidFill>
              </a:rPr>
              <a:t>La rupture des Sdillution 2ml avait affecté les indicateurs de disponibilité complète au niveau de la province. </a:t>
            </a:r>
            <a:endParaRPr sz="2800">
              <a:solidFill>
                <a:srgbClr val="0070C0"/>
              </a:solidFill>
            </a:endParaRPr>
          </a:p>
        </p:txBody>
      </p:sp>
      <p:sp>
        <p:nvSpPr>
          <p:cNvPr id="261" name="Google Shape;261;p18"/>
          <p:cNvSpPr txBox="1"/>
          <p:nvPr/>
        </p:nvSpPr>
        <p:spPr>
          <a:xfrm>
            <a:off x="0" y="5176212"/>
            <a:ext cx="12192000" cy="5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09535"/>
              </a:lnSpc>
              <a:buClr>
                <a:srgbClr val="4A66AC"/>
              </a:buClr>
              <a:buSzPts val="2100"/>
            </a:pPr>
            <a:r>
              <a:rPr lang="en-GB" sz="1867">
                <a:solidFill>
                  <a:srgbClr val="0070C0"/>
                </a:solidFill>
              </a:rPr>
              <a:t>Le Rotarix, étant nouvellement introduit, il est normal d’avoir cette sous-performance qui prend en compte toute l’année.</a:t>
            </a:r>
            <a:endParaRPr sz="1867">
              <a:solidFill>
                <a:srgbClr val="0070C0"/>
              </a:solidFill>
            </a:endParaRPr>
          </a:p>
          <a:p>
            <a:pPr algn="just">
              <a:lnSpc>
                <a:spcPct val="109535"/>
              </a:lnSpc>
              <a:buClr>
                <a:srgbClr val="4A66AC"/>
              </a:buClr>
              <a:buSzPts val="2100"/>
            </a:pPr>
            <a:endParaRPr sz="1867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57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70218" y="1711333"/>
            <a:ext cx="5495317" cy="3677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34" y="1757907"/>
            <a:ext cx="6040583" cy="3440332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0"/>
          <p:cNvSpPr/>
          <p:nvPr/>
        </p:nvSpPr>
        <p:spPr>
          <a:xfrm>
            <a:off x="7493400" y="3229648"/>
            <a:ext cx="883600" cy="16508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SzPts val="1400"/>
            </a:pPr>
            <a:endParaRPr sz="1867"/>
          </a:p>
        </p:txBody>
      </p:sp>
      <p:sp>
        <p:nvSpPr>
          <p:cNvPr id="278" name="Google Shape;278;p20"/>
          <p:cNvSpPr/>
          <p:nvPr/>
        </p:nvSpPr>
        <p:spPr>
          <a:xfrm>
            <a:off x="5325360" y="3270116"/>
            <a:ext cx="883600" cy="16508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SzPts val="1400"/>
            </a:pPr>
            <a:endParaRPr sz="1867"/>
          </a:p>
        </p:txBody>
      </p:sp>
      <p:sp>
        <p:nvSpPr>
          <p:cNvPr id="279" name="Google Shape;279;p20"/>
          <p:cNvSpPr/>
          <p:nvPr/>
        </p:nvSpPr>
        <p:spPr>
          <a:xfrm>
            <a:off x="9243124" y="3229623"/>
            <a:ext cx="883600" cy="16508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SzPts val="1400"/>
            </a:pPr>
            <a:endParaRPr sz="1867"/>
          </a:p>
        </p:txBody>
      </p:sp>
      <p:sp>
        <p:nvSpPr>
          <p:cNvPr id="280" name="Google Shape;280;p20"/>
          <p:cNvSpPr/>
          <p:nvPr/>
        </p:nvSpPr>
        <p:spPr>
          <a:xfrm>
            <a:off x="0" y="28541"/>
            <a:ext cx="235600" cy="65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>
              <a:buSzPts val="1400"/>
            </a:pPr>
            <a:endParaRPr sz="1867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235600" y="2241"/>
            <a:ext cx="11956400" cy="120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602277" indent="-1602277" algn="just">
              <a:lnSpc>
                <a:spcPct val="109535"/>
              </a:lnSpc>
              <a:buClr>
                <a:srgbClr val="4A66AC"/>
              </a:buClr>
              <a:buSzPts val="2100"/>
            </a:pPr>
            <a:r>
              <a:rPr lang="en-GB" sz="2133" b="1">
                <a:solidFill>
                  <a:srgbClr val="0070C0"/>
                </a:solidFill>
              </a:rPr>
              <a:t>Logistique:</a:t>
            </a:r>
            <a:r>
              <a:rPr lang="en-GB" sz="3200" b="1">
                <a:solidFill>
                  <a:srgbClr val="0070C0"/>
                </a:solidFill>
              </a:rPr>
              <a:t> </a:t>
            </a:r>
            <a:r>
              <a:rPr lang="en-GB" sz="2133">
                <a:solidFill>
                  <a:srgbClr val="0070C0"/>
                </a:solidFill>
              </a:rPr>
              <a:t>Des défis en capacités de conservation au BCZ de 3/14 ZS doivent être au coeur des préoccupation pour le dernier trimestre</a:t>
            </a:r>
            <a:endParaRPr sz="2133">
              <a:solidFill>
                <a:srgbClr val="0070C0"/>
              </a:solidFill>
            </a:endParaRPr>
          </a:p>
          <a:p>
            <a:pPr algn="just">
              <a:lnSpc>
                <a:spcPct val="109535"/>
              </a:lnSpc>
              <a:buClr>
                <a:srgbClr val="4A66AC"/>
              </a:buClr>
              <a:buSzPts val="2100"/>
            </a:pPr>
            <a:endParaRPr sz="280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0788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1" title="Chart"/>
          <p:cNvPicPr preferRelativeResize="0"/>
          <p:nvPr/>
        </p:nvPicPr>
        <p:blipFill rotWithShape="1">
          <a:blip r:embed="rId3">
            <a:alphaModFix/>
          </a:blip>
          <a:srcRect l="4856" r="2446"/>
          <a:stretch/>
        </p:blipFill>
        <p:spPr>
          <a:xfrm>
            <a:off x="313152" y="1605000"/>
            <a:ext cx="11565697" cy="441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1"/>
          <p:cNvSpPr txBox="1"/>
          <p:nvPr/>
        </p:nvSpPr>
        <p:spPr>
          <a:xfrm>
            <a:off x="235600" y="-47859"/>
            <a:ext cx="119564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83108" indent="-383108" algn="just">
              <a:lnSpc>
                <a:spcPct val="109535"/>
              </a:lnSpc>
              <a:buClr>
                <a:srgbClr val="4A66AC"/>
              </a:buClr>
              <a:buSzPts val="2100"/>
            </a:pPr>
            <a:r>
              <a:rPr lang="en-GB" sz="2133">
                <a:solidFill>
                  <a:srgbClr val="0070C0"/>
                </a:solidFill>
              </a:rPr>
              <a:t>4. Surveillance épidémiologique: PFA pour 5 ZS, les nombres de cas de PFA notifiées sont généralement supérieurs aux cas attendus, rappelant ainsi la nécessité de poursuivre les actions de surveillance</a:t>
            </a:r>
            <a:endParaRPr sz="2133">
              <a:solidFill>
                <a:srgbClr val="0070C0"/>
              </a:solidFill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0" y="28541"/>
            <a:ext cx="235600" cy="65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>
              <a:buSzPts val="1400"/>
            </a:pPr>
            <a:endParaRPr sz="1867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2818133" y="2125533"/>
            <a:ext cx="1678000" cy="3890000"/>
          </a:xfrm>
          <a:prstGeom prst="rect">
            <a:avLst/>
          </a:prstGeom>
          <a:noFill/>
          <a:ln w="952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SzPts val="1400"/>
            </a:pPr>
            <a:endParaRPr sz="1867"/>
          </a:p>
        </p:txBody>
      </p:sp>
      <p:sp>
        <p:nvSpPr>
          <p:cNvPr id="290" name="Google Shape;290;p21"/>
          <p:cNvSpPr/>
          <p:nvPr/>
        </p:nvSpPr>
        <p:spPr>
          <a:xfrm>
            <a:off x="382400" y="2125400"/>
            <a:ext cx="1678000" cy="3890000"/>
          </a:xfrm>
          <a:prstGeom prst="rect">
            <a:avLst/>
          </a:prstGeom>
          <a:noFill/>
          <a:ln w="952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SzPts val="1400"/>
            </a:pPr>
            <a:endParaRPr sz="1867"/>
          </a:p>
        </p:txBody>
      </p:sp>
      <p:sp>
        <p:nvSpPr>
          <p:cNvPr id="291" name="Google Shape;291;p21"/>
          <p:cNvSpPr/>
          <p:nvPr/>
        </p:nvSpPr>
        <p:spPr>
          <a:xfrm>
            <a:off x="10950167" y="2125667"/>
            <a:ext cx="1014800" cy="3890000"/>
          </a:xfrm>
          <a:prstGeom prst="rect">
            <a:avLst/>
          </a:prstGeom>
          <a:noFill/>
          <a:ln w="952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SzPts val="1400"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898424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2" title="Chart"/>
          <p:cNvPicPr preferRelativeResize="0"/>
          <p:nvPr/>
        </p:nvPicPr>
        <p:blipFill rotWithShape="1">
          <a:blip r:embed="rId3">
            <a:alphaModFix/>
          </a:blip>
          <a:srcRect l="11490" t="15652" r="6495" b="3700"/>
          <a:stretch/>
        </p:blipFill>
        <p:spPr>
          <a:xfrm>
            <a:off x="1866385" y="1340768"/>
            <a:ext cx="8459233" cy="4740833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2"/>
          <p:cNvSpPr txBox="1"/>
          <p:nvPr/>
        </p:nvSpPr>
        <p:spPr>
          <a:xfrm>
            <a:off x="235600" y="17997"/>
            <a:ext cx="11956400" cy="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09535"/>
              </a:lnSpc>
              <a:buClr>
                <a:srgbClr val="4A66AC"/>
              </a:buClr>
              <a:buSzPts val="2100"/>
            </a:pPr>
            <a:r>
              <a:rPr lang="en-GB" sz="2133" b="1">
                <a:solidFill>
                  <a:srgbClr val="0070C0"/>
                </a:solidFill>
              </a:rPr>
              <a:t>Autres maladies: </a:t>
            </a:r>
            <a:r>
              <a:rPr lang="en-GB" sz="2133">
                <a:solidFill>
                  <a:srgbClr val="0070C0"/>
                </a:solidFill>
              </a:rPr>
              <a:t>La rougeole demeure le principal risque épidémiologique de la province. </a:t>
            </a:r>
            <a:endParaRPr sz="2133">
              <a:solidFill>
                <a:srgbClr val="0070C0"/>
              </a:solidFill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0" y="28541"/>
            <a:ext cx="235600" cy="65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>
              <a:buSzPts val="1400"/>
            </a:pPr>
            <a:endParaRPr sz="1867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94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couverture vaccinale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18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0" name="Google Shape;240;g3aabc9d920d_0_23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7" name="Graphique 6"/>
          <p:cNvGraphicFramePr/>
          <p:nvPr>
            <p:extLst>
              <p:ext uri="{D42A27DB-BD31-4B8C-83A1-F6EECF244321}">
                <p14:modId xmlns:p14="http://schemas.microsoft.com/office/powerpoint/2010/main" val="3317329899"/>
              </p:ext>
            </p:extLst>
          </p:nvPr>
        </p:nvGraphicFramePr>
        <p:xfrm>
          <a:off x="267700" y="927441"/>
          <a:ext cx="11619200" cy="51048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/>
          <p:cNvSpPr txBox="1"/>
          <p:nvPr/>
        </p:nvSpPr>
        <p:spPr>
          <a:xfrm>
            <a:off x="530886" y="206857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couverture vaccinale de la campagne preventive contre la FJ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19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0" name="Google Shape;240;g3aabc9d920d_0_23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" name="Google Shape;169;p17" title="Chart"/>
          <p:cNvPicPr preferRelativeResize="0"/>
          <p:nvPr/>
        </p:nvPicPr>
        <p:blipFill rotWithShape="1">
          <a:blip r:embed="rId3">
            <a:alphaModFix/>
          </a:blip>
          <a:srcRect l="7190" t="18824" r="3706"/>
          <a:stretch/>
        </p:blipFill>
        <p:spPr>
          <a:xfrm>
            <a:off x="863030" y="1997612"/>
            <a:ext cx="10870462" cy="403742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70;p17"/>
          <p:cNvSpPr txBox="1"/>
          <p:nvPr/>
        </p:nvSpPr>
        <p:spPr>
          <a:xfrm>
            <a:off x="1859800" y="1032804"/>
            <a:ext cx="845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7/10 ZS </a:t>
            </a:r>
            <a:r>
              <a:rPr lang="en-GB" sz="2000" b="1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ont</a:t>
            </a:r>
            <a:r>
              <a:rPr lang="en-GB" sz="2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1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atteint</a:t>
            </a:r>
            <a:r>
              <a:rPr lang="en-GB" sz="2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1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l’immunité</a:t>
            </a:r>
            <a:r>
              <a:rPr lang="en-GB" sz="2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collective (&gt;95%) au </a:t>
            </a:r>
            <a:r>
              <a:rPr lang="en-GB" sz="2000" b="1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</a:t>
            </a:r>
            <a:r>
              <a:rPr lang="en-GB" sz="2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GB" sz="2000" b="1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cette</a:t>
            </a:r>
            <a:r>
              <a:rPr lang="en-GB" sz="2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 b="1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campagne</a:t>
            </a:r>
            <a:r>
              <a:rPr lang="en-GB" sz="2000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endParaRPr sz="2000" b="0" i="0" u="none" strike="noStrike" cap="none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" name="Google Shape;171;p17"/>
          <p:cNvGraphicFramePr/>
          <p:nvPr>
            <p:extLst>
              <p:ext uri="{D42A27DB-BD31-4B8C-83A1-F6EECF244321}">
                <p14:modId xmlns:p14="http://schemas.microsoft.com/office/powerpoint/2010/main" val="3740928601"/>
              </p:ext>
            </p:extLst>
          </p:nvPr>
        </p:nvGraphicFramePr>
        <p:xfrm>
          <a:off x="137027" y="5248864"/>
          <a:ext cx="11545374" cy="13017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02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0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6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2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69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5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4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920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8433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2090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8207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222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>
                          <a:solidFill>
                            <a:srgbClr val="FFFFFF"/>
                          </a:solidFill>
                        </a:rPr>
                        <a:t>Zone de </a:t>
                      </a:r>
                      <a:r>
                        <a:rPr lang="en-GB" sz="900" dirty="0" err="1">
                          <a:solidFill>
                            <a:srgbClr val="FFFFFF"/>
                          </a:solidFill>
                        </a:rPr>
                        <a:t>sante</a:t>
                      </a:r>
                      <a:endParaRPr sz="900" dirty="0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FFFFFF"/>
                          </a:solidFill>
                        </a:rPr>
                        <a:t>Province de Lualaba</a:t>
                      </a:r>
                      <a:endParaRPr sz="900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FFFFFF"/>
                          </a:solidFill>
                        </a:rPr>
                        <a:t>Bunkeya</a:t>
                      </a:r>
                      <a:endParaRPr sz="900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FFFFFF"/>
                          </a:solidFill>
                        </a:rPr>
                        <a:t>Dilala</a:t>
                      </a:r>
                      <a:endParaRPr sz="900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FFFFFF"/>
                          </a:solidFill>
                        </a:rPr>
                        <a:t>Fungurume</a:t>
                      </a:r>
                      <a:endParaRPr sz="900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FFFFFF"/>
                          </a:solidFill>
                        </a:rPr>
                        <a:t>Kafakumba</a:t>
                      </a:r>
                      <a:endParaRPr sz="900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FFFFFF"/>
                          </a:solidFill>
                        </a:rPr>
                        <a:t>Kalamba</a:t>
                      </a:r>
                      <a:endParaRPr sz="900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FFFFFF"/>
                          </a:solidFill>
                        </a:rPr>
                        <a:t>Kanzenze</a:t>
                      </a:r>
                      <a:endParaRPr sz="900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FFFFFF"/>
                          </a:solidFill>
                        </a:rPr>
                        <a:t>Lualaba</a:t>
                      </a:r>
                      <a:endParaRPr sz="900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FFFFFF"/>
                          </a:solidFill>
                        </a:rPr>
                        <a:t>Lubudi</a:t>
                      </a:r>
                      <a:endParaRPr sz="900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FFFFFF"/>
                          </a:solidFill>
                        </a:rPr>
                        <a:t>Manika</a:t>
                      </a:r>
                      <a:endParaRPr sz="900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FFFFFF"/>
                          </a:solidFill>
                        </a:rPr>
                        <a:t>Mutshatsha</a:t>
                      </a:r>
                      <a:endParaRPr sz="900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0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/>
                        <a:t>Total </a:t>
                      </a:r>
                      <a:r>
                        <a:rPr lang="en-GB" sz="1000" dirty="0" err="1"/>
                        <a:t>Vaccinés</a:t>
                      </a:r>
                      <a:endParaRPr sz="1000" dirty="0"/>
                    </a:p>
                  </a:txBody>
                  <a:tcPr marL="28575" marR="28575" marT="91425" marB="914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2,102,503</a:t>
                      </a:r>
                      <a:endParaRPr sz="1000"/>
                    </a:p>
                  </a:txBody>
                  <a:tcPr marL="28575" marR="28575" marT="91425" marB="914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61,225</a:t>
                      </a:r>
                      <a:endParaRPr sz="1000"/>
                    </a:p>
                  </a:txBody>
                  <a:tcPr marL="28575" marR="28575" marT="91425" marB="914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237,598</a:t>
                      </a:r>
                      <a:endParaRPr sz="1000"/>
                    </a:p>
                  </a:txBody>
                  <a:tcPr marL="28575" marR="28575" marT="91425" marB="914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406,238</a:t>
                      </a:r>
                      <a:endParaRPr sz="1000"/>
                    </a:p>
                  </a:txBody>
                  <a:tcPr marL="28575" marR="28575" marT="91425" marB="914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150,895</a:t>
                      </a:r>
                      <a:endParaRPr sz="1000"/>
                    </a:p>
                  </a:txBody>
                  <a:tcPr marL="28575" marR="28575" marT="91425" marB="914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117,550</a:t>
                      </a:r>
                      <a:endParaRPr sz="1000"/>
                    </a:p>
                  </a:txBody>
                  <a:tcPr marL="28575" marR="28575" marT="91425" marB="914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257,955</a:t>
                      </a:r>
                      <a:endParaRPr sz="1000"/>
                    </a:p>
                  </a:txBody>
                  <a:tcPr marL="28575" marR="28575" marT="91425" marB="914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198,124</a:t>
                      </a:r>
                      <a:endParaRPr sz="1000"/>
                    </a:p>
                  </a:txBody>
                  <a:tcPr marL="28575" marR="28575" marT="91425" marB="914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135,427</a:t>
                      </a:r>
                      <a:endParaRPr sz="1000"/>
                    </a:p>
                  </a:txBody>
                  <a:tcPr marL="28575" marR="28575" marT="91425" marB="914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446,824</a:t>
                      </a:r>
                      <a:endParaRPr sz="1000"/>
                    </a:p>
                  </a:txBody>
                  <a:tcPr marL="28575" marR="28575" marT="91425" marB="914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90,667</a:t>
                      </a:r>
                      <a:endParaRPr sz="1000"/>
                    </a:p>
                  </a:txBody>
                  <a:tcPr marL="28575" marR="28575" marT="91425" marB="914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Cibles</a:t>
                      </a:r>
                      <a:endParaRPr sz="1000"/>
                    </a:p>
                  </a:txBody>
                  <a:tcPr marL="28575" marR="28575" marT="91425" marB="914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2,222,854</a:t>
                      </a:r>
                      <a:endParaRPr sz="1000"/>
                    </a:p>
                  </a:txBody>
                  <a:tcPr marL="28575" marR="28575" marT="91425" marB="914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68,262</a:t>
                      </a:r>
                      <a:endParaRPr sz="1000"/>
                    </a:p>
                  </a:txBody>
                  <a:tcPr marL="28575" marR="28575" marT="91425" marB="914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295925</a:t>
                      </a:r>
                      <a:endParaRPr sz="1000"/>
                    </a:p>
                  </a:txBody>
                  <a:tcPr marL="28575" marR="28575" marT="91425" marB="914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399,139</a:t>
                      </a:r>
                      <a:endParaRPr sz="1000"/>
                    </a:p>
                  </a:txBody>
                  <a:tcPr marL="28575" marR="28575" marT="91425" marB="914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153,595</a:t>
                      </a:r>
                      <a:endParaRPr sz="1000"/>
                    </a:p>
                  </a:txBody>
                  <a:tcPr marL="28575" marR="28575" marT="91425" marB="914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149,405</a:t>
                      </a:r>
                      <a:endParaRPr sz="1000"/>
                    </a:p>
                  </a:txBody>
                  <a:tcPr marL="28575" marR="28575" marT="91425" marB="914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262,166</a:t>
                      </a:r>
                      <a:endParaRPr sz="1000"/>
                    </a:p>
                  </a:txBody>
                  <a:tcPr marL="28575" marR="28575" marT="91425" marB="914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207,617</a:t>
                      </a:r>
                      <a:endParaRPr sz="1000"/>
                    </a:p>
                  </a:txBody>
                  <a:tcPr marL="28575" marR="28575" marT="91425" marB="914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138,984</a:t>
                      </a:r>
                      <a:endParaRPr sz="1000"/>
                    </a:p>
                  </a:txBody>
                  <a:tcPr marL="28575" marR="28575" marT="91425" marB="914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455,068</a:t>
                      </a:r>
                      <a:endParaRPr sz="1000"/>
                    </a:p>
                  </a:txBody>
                  <a:tcPr marL="28575" marR="28575" marT="91425" marB="914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/>
                        <a:t>92,693</a:t>
                      </a:r>
                      <a:endParaRPr sz="1000" dirty="0"/>
                    </a:p>
                  </a:txBody>
                  <a:tcPr marL="28575" marR="28575" marT="91425" marB="914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9895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abc9d920d_0_217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Facteurs expliquant la performance (leadership, mobilisation communautaire, intégration, supervision)</a:t>
            </a: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7" name="Google Shape;227;g3aabc9d920d_0_21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8" name="Google Shape;228;g3aabc9d920d_0_21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9" name="Google Shape;229;g3aabc9d920d_0_21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20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30" name="Google Shape;230;g3aabc9d920d_0_21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Rectangle 1"/>
          <p:cNvSpPr/>
          <p:nvPr/>
        </p:nvSpPr>
        <p:spPr>
          <a:xfrm>
            <a:off x="458592" y="1406768"/>
            <a:ext cx="11449408" cy="49530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1600" b="1" dirty="0">
                <a:solidFill>
                  <a:schemeClr val="tx1"/>
                </a:solidFill>
                <a:latin typeface="+mj-lt"/>
              </a:rPr>
              <a:t>LES FACTEURS EXPLIQUANT LA PERFORMANCE:</a:t>
            </a:r>
          </a:p>
          <a:p>
            <a:pPr algn="just"/>
            <a:endParaRPr lang="fr-FR" sz="1600" b="1" dirty="0">
              <a:solidFill>
                <a:schemeClr val="tx1"/>
              </a:solidFill>
            </a:endParaRPr>
          </a:p>
          <a:p>
            <a:pPr marL="342900" indent="-342900" algn="just">
              <a:buAutoNum type="arabicPeriod"/>
            </a:pPr>
            <a:r>
              <a:rPr lang="fr-FR" sz="2400" b="1" dirty="0">
                <a:solidFill>
                  <a:schemeClr val="tx1"/>
                </a:solidFill>
              </a:rPr>
              <a:t>Le problème résolu </a:t>
            </a:r>
            <a:r>
              <a:rPr lang="fr-FR" sz="2400" dirty="0">
                <a:solidFill>
                  <a:schemeClr val="tx1"/>
                </a:solidFill>
              </a:rPr>
              <a:t>est celui du nombre élevé des zones de santé rejeté après les AVS</a:t>
            </a:r>
          </a:p>
          <a:p>
            <a:pPr marL="342900" indent="-342900" algn="just">
              <a:buAutoNum type="arabicPeriod"/>
            </a:pPr>
            <a:r>
              <a:rPr lang="fr-FR" sz="2400" b="1" dirty="0">
                <a:solidFill>
                  <a:schemeClr val="tx1"/>
                </a:solidFill>
              </a:rPr>
              <a:t>La bonne pratique appliquée </a:t>
            </a:r>
            <a:r>
              <a:rPr lang="fr-FR" sz="2400" dirty="0">
                <a:solidFill>
                  <a:schemeClr val="tx1"/>
                </a:solidFill>
              </a:rPr>
              <a:t>est l’utilisation  de la géolocalisation tant de la population que des acteurs (vaccinateurs et superviseur) et en impliquant tous les AT dans les sous commissions suivant leur « spécialité » lors des AVS</a:t>
            </a:r>
          </a:p>
          <a:p>
            <a:pPr marL="342900" indent="-342900" algn="just">
              <a:buAutoNum type="arabicPeriod"/>
            </a:pPr>
            <a:r>
              <a:rPr lang="fr-FR" sz="2400" b="1" dirty="0">
                <a:solidFill>
                  <a:schemeClr val="tx1"/>
                </a:solidFill>
              </a:rPr>
              <a:t>Résultat de la bonne pratique: </a:t>
            </a:r>
            <a:r>
              <a:rPr lang="fr-FR" sz="2400" dirty="0">
                <a:solidFill>
                  <a:schemeClr val="tx1"/>
                </a:solidFill>
              </a:rPr>
              <a:t>le nombre des ZS rejetées entre 2 dernières campagne VPO est passé de 5 à 2 (dont une seule parmi les 5 ZS habituellement rejetées)</a:t>
            </a:r>
          </a:p>
          <a:p>
            <a:pPr marL="342900" indent="-342900" algn="just">
              <a:buAutoNum type="arabicPeriod"/>
            </a:pPr>
            <a:r>
              <a:rPr lang="fr-FR" sz="2400" b="1" dirty="0">
                <a:solidFill>
                  <a:schemeClr val="tx1"/>
                </a:solidFill>
              </a:rPr>
              <a:t>Recommandation: </a:t>
            </a:r>
            <a:r>
              <a:rPr lang="fr-FR" sz="2400" dirty="0">
                <a:solidFill>
                  <a:schemeClr val="tx1"/>
                </a:solidFill>
              </a:rPr>
              <a:t>GRID3 renforce les capacités du niveau intermédiaire pour pérenniser la cartographie de nos ZS et AS</a:t>
            </a:r>
          </a:p>
        </p:txBody>
      </p:sp>
    </p:spTree>
    <p:extLst>
      <p:ext uri="{BB962C8B-B14F-4D97-AF65-F5344CB8AC3E}">
        <p14:creationId xmlns:p14="http://schemas.microsoft.com/office/powerpoint/2010/main" val="2837876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rencontrés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En rapport avec les IPVS: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Tx/>
              <a:buChar char="-"/>
            </a:pPr>
            <a:r>
              <a:rPr lang="fr-FR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l’identification de l’élaboration des listes des zéros doses et des sous vaccinés repartis en tranche d’âges de 12 à 23 mois et de 24 à 59 mois.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Tx/>
              <a:buChar char="-"/>
            </a:pPr>
            <a:r>
              <a:rPr lang="fr-FR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La récupération de tous les enfants en conflit avec le calendrier vaccinal dans notre contexte de l’expansion incessante de la population immigrante.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21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0" name="Google Shape;240;g3aabc9d920d_0_23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abc9d920d_0_428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 FFOM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6" name="Google Shape;246;g3aabc9d920d_0_42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7" name="Google Shape;247;g3aabc9d920d_0_42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8" name="Google Shape;248;g3aabc9d920d_0_42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9" name="Google Shape;249;g3aabc9d920d_0_428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50" name="Google Shape;250;g3aabc9d920d_0_428"/>
          <p:cNvGraphicFramePr/>
          <p:nvPr>
            <p:extLst>
              <p:ext uri="{D42A27DB-BD31-4B8C-83A1-F6EECF244321}">
                <p14:modId xmlns:p14="http://schemas.microsoft.com/office/powerpoint/2010/main" val="359331901"/>
              </p:ext>
            </p:extLst>
          </p:nvPr>
        </p:nvGraphicFramePr>
        <p:xfrm>
          <a:off x="458586" y="1049653"/>
          <a:ext cx="11274925" cy="5530456"/>
        </p:xfrm>
        <a:graphic>
          <a:graphicData uri="http://schemas.openxmlformats.org/drawingml/2006/table">
            <a:tbl>
              <a:tblPr>
                <a:noFill/>
                <a:tableStyleId>{628BBFD1-A734-4757-B910-67CC1CD15934}</a:tableStyleId>
              </a:tblPr>
              <a:tblGrid>
                <a:gridCol w="198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5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59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69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631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 </a:t>
                      </a: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spécifiques</a:t>
                      </a:r>
                      <a:endParaRPr sz="1800" b="1" i="0" u="none" strike="noStrike" cap="none" dirty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Forces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Faiblesses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Opportunités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Menaces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466"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1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 FAE</a:t>
                      </a:r>
                      <a:endParaRPr sz="1600" i="1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46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46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46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551">
                <a:tc row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1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2. IPVS</a:t>
                      </a:r>
                      <a:endParaRPr sz="1600" i="1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Deux</a:t>
                      </a:r>
                      <a:r>
                        <a:rPr lang="en-US" sz="1600" i="0" u="none" strike="noStrike" cap="none" baseline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passages des IPVS </a:t>
                      </a:r>
                      <a:r>
                        <a:rPr lang="en-US" sz="1600" i="0" u="none" strike="noStrike" cap="none" baseline="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organisées</a:t>
                      </a:r>
                      <a:r>
                        <a:rPr lang="en-US" sz="1600" i="0" u="none" strike="noStrike" cap="none" baseline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dans la province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</a:t>
                      </a: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identification des enfants à </a:t>
                      </a:r>
                      <a:r>
                        <a:rPr lang="en-US" sz="160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recupérer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Engagement</a:t>
                      </a:r>
                      <a:r>
                        <a:rPr lang="en-US" sz="1600" i="0" u="none" strike="noStrike" cap="none" baseline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</a:t>
                      </a:r>
                      <a:r>
                        <a:rPr lang="en-US" sz="1600" i="0" u="none" strike="noStrike" cap="none" baseline="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Gouverneurs</a:t>
                      </a:r>
                      <a:r>
                        <a:rPr lang="en-US" sz="1600" i="0" u="none" strike="noStrike" cap="none" baseline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dans la vaccination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1600" i="0" u="none" strike="noStrike" cap="none" baseline="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Grognes</a:t>
                      </a:r>
                      <a:r>
                        <a:rPr lang="en-US" sz="1600" i="0" u="none" strike="noStrike" cap="none" baseline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Reco et des IT non </a:t>
                      </a:r>
                      <a:r>
                        <a:rPr lang="en-US" sz="1600" i="0" u="none" strike="noStrike" cap="none" baseline="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payés</a:t>
                      </a:r>
                      <a:r>
                        <a:rPr lang="en-US" sz="1600" i="0" u="none" strike="noStrike" cap="none" baseline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600" i="0" u="none" strike="noStrike" cap="none" baseline="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lors</a:t>
                      </a:r>
                      <a:r>
                        <a:rPr lang="en-US" sz="1600" i="0" u="none" strike="noStrike" cap="none" baseline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AVS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1635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Persistence</a:t>
                      </a:r>
                      <a:r>
                        <a:rPr lang="en-US" sz="1600" i="0" u="none" strike="noStrike" cap="none" baseline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zeros doses et sous </a:t>
                      </a:r>
                      <a:r>
                        <a:rPr lang="en-US" sz="1600" i="0" u="none" strike="noStrike" cap="none" baseline="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vaccinés</a:t>
                      </a:r>
                      <a:r>
                        <a:rPr lang="en-US" sz="1600" i="0" u="none" strike="noStrike" cap="none" baseline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dans les ZS 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</a:t>
                      </a: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identification</a:t>
                      </a:r>
                      <a:r>
                        <a:rPr lang="en-US" sz="1600" i="0" u="none" strike="noStrike" cap="none" baseline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des zeros doses et sous vaccines dans les ZS 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Engagement</a:t>
                      </a:r>
                      <a:r>
                        <a:rPr lang="fr-FR" sz="1600" i="0" u="none" strike="noStrike" cap="none" baseline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gouverneurs dans la vaccination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fr-FR"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Immigration</a:t>
                      </a:r>
                      <a:r>
                        <a:rPr lang="en-US" sz="1600" i="0" u="none" strike="noStrike" cap="none" baseline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600" i="0" u="none" strike="noStrike" cap="none" baseline="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toujours</a:t>
                      </a:r>
                      <a:r>
                        <a:rPr lang="en-US" sz="1600" i="0" u="none" strike="noStrike" cap="none" baseline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600" i="0" u="none" strike="noStrike" cap="none" baseline="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croissante</a:t>
                      </a:r>
                      <a:r>
                        <a:rPr lang="en-US" sz="1600" i="0" u="none" strike="noStrike" cap="none" baseline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et naissance des nouveaux quartiers et villages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baseline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Les camps </a:t>
                      </a:r>
                      <a:r>
                        <a:rPr lang="en-US" sz="1600" i="0" u="none" strike="noStrike" cap="none" baseline="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miniers</a:t>
                      </a:r>
                      <a:r>
                        <a:rPr lang="en-US" sz="1600" i="0" u="none" strike="noStrike" cap="none" baseline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(</a:t>
                      </a:r>
                      <a:r>
                        <a:rPr lang="en-US" sz="1600" i="0" u="none" strike="noStrike" cap="none" baseline="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phénomène</a:t>
                      </a:r>
                      <a:r>
                        <a:rPr lang="en-US" sz="1600" i="0" u="none" strike="noStrike" cap="none" baseline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600" i="0" u="none" strike="noStrike" cap="none" baseline="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creuseurs</a:t>
                      </a:r>
                      <a:r>
                        <a:rPr lang="en-US" sz="1600" i="0" u="none" strike="noStrike" cap="none" baseline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)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8622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466958" y="1321682"/>
            <a:ext cx="9249599" cy="106591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LA PROVINCE DU LUALABA N’A PAS ENCORE INTEGRE LE FAE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3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>
              <a:buSzPts val="1400"/>
            </a:pPr>
            <a:endParaRPr sz="1867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4" name="Google Shape;304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3200" y="927441"/>
            <a:ext cx="11785605" cy="5583426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3"/>
          <p:cNvSpPr txBox="1"/>
          <p:nvPr/>
        </p:nvSpPr>
        <p:spPr>
          <a:xfrm>
            <a:off x="336680" y="234041"/>
            <a:ext cx="11652125" cy="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02676" indent="-302676" algn="just">
              <a:lnSpc>
                <a:spcPct val="109535"/>
              </a:lnSpc>
              <a:buClr>
                <a:srgbClr val="4A66AC"/>
              </a:buClr>
              <a:buSzPts val="2100"/>
            </a:pPr>
            <a:r>
              <a:rPr lang="en-GB" sz="2400" dirty="0">
                <a:solidFill>
                  <a:srgbClr val="0070C0"/>
                </a:solidFill>
              </a:rPr>
              <a:t>5.Réalisation des IPVS</a:t>
            </a:r>
            <a:endParaRPr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376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a7c04f4bd1_0_103"/>
          <p:cNvPicPr preferRelativeResize="0"/>
          <p:nvPr/>
        </p:nvPicPr>
        <p:blipFill rotWithShape="1">
          <a:blip r:embed="rId3">
            <a:alphaModFix/>
          </a:blip>
          <a:srcRect t="2967" b="52872"/>
          <a:stretch/>
        </p:blipFill>
        <p:spPr>
          <a:xfrm>
            <a:off x="3535201" y="856301"/>
            <a:ext cx="8370369" cy="2437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a7c04f4bd1_0_103"/>
          <p:cNvPicPr preferRelativeResize="0"/>
          <p:nvPr/>
        </p:nvPicPr>
        <p:blipFill rotWithShape="1">
          <a:blip r:embed="rId3">
            <a:alphaModFix/>
          </a:blip>
          <a:srcRect t="52052" b="5018"/>
          <a:stretch/>
        </p:blipFill>
        <p:spPr>
          <a:xfrm>
            <a:off x="3535201" y="3293401"/>
            <a:ext cx="8370369" cy="236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a7c04f4bd1_0_103"/>
          <p:cNvSpPr txBox="1"/>
          <p:nvPr/>
        </p:nvSpPr>
        <p:spPr>
          <a:xfrm>
            <a:off x="0" y="1408667"/>
            <a:ext cx="3535200" cy="306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3067" b="1">
                <a:solidFill>
                  <a:srgbClr val="3730A3"/>
                </a:solidFill>
              </a:rPr>
              <a:t>Synthèse de la performance du Programme Élargi de Vaccination </a:t>
            </a:r>
            <a:endParaRPr sz="1867"/>
          </a:p>
        </p:txBody>
      </p:sp>
      <p:sp>
        <p:nvSpPr>
          <p:cNvPr id="121" name="Google Shape;121;g3a7c04f4bd1_0_103"/>
          <p:cNvSpPr txBox="1"/>
          <p:nvPr/>
        </p:nvSpPr>
        <p:spPr>
          <a:xfrm>
            <a:off x="-2600" y="4298267"/>
            <a:ext cx="3535200" cy="1175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3200"/>
              </a:spcAft>
            </a:pPr>
            <a:r>
              <a:rPr lang="en-GB" sz="1467">
                <a:solidFill>
                  <a:srgbClr val="4B5563"/>
                </a:solidFill>
              </a:rPr>
              <a:t>Indicateurs financiers, de performance et de gouvernance de la province.</a:t>
            </a:r>
            <a:endParaRPr sz="1467">
              <a:solidFill>
                <a:srgbClr val="4B5563"/>
              </a:solidFill>
            </a:endParaRPr>
          </a:p>
        </p:txBody>
      </p:sp>
      <p:grpSp>
        <p:nvGrpSpPr>
          <p:cNvPr id="122" name="Google Shape;122;g3a7c04f4bd1_0_103"/>
          <p:cNvGrpSpPr/>
          <p:nvPr/>
        </p:nvGrpSpPr>
        <p:grpSpPr>
          <a:xfrm>
            <a:off x="5858739" y="1709785"/>
            <a:ext cx="266651" cy="254995"/>
            <a:chOff x="5045500" y="842250"/>
            <a:chExt cx="503875" cy="481850"/>
          </a:xfrm>
        </p:grpSpPr>
        <p:sp>
          <p:nvSpPr>
            <p:cNvPr id="123" name="Google Shape;123;g3a7c04f4bd1_0_103"/>
            <p:cNvSpPr/>
            <p:nvPr/>
          </p:nvSpPr>
          <p:spPr>
            <a:xfrm>
              <a:off x="5045500" y="842250"/>
              <a:ext cx="503875" cy="481850"/>
            </a:xfrm>
            <a:custGeom>
              <a:avLst/>
              <a:gdLst/>
              <a:ahLst/>
              <a:cxnLst/>
              <a:rect l="l" t="t" r="r" b="b"/>
              <a:pathLst>
                <a:path w="20155" h="19274" extrusionOk="0">
                  <a:moveTo>
                    <a:pt x="12103" y="1130"/>
                  </a:moveTo>
                  <a:cubicBezTo>
                    <a:pt x="13694" y="1130"/>
                    <a:pt x="15284" y="1735"/>
                    <a:pt x="16496" y="2945"/>
                  </a:cubicBezTo>
                  <a:cubicBezTo>
                    <a:pt x="18917" y="5366"/>
                    <a:pt x="18917" y="9305"/>
                    <a:pt x="16496" y="11729"/>
                  </a:cubicBezTo>
                  <a:cubicBezTo>
                    <a:pt x="15286" y="12940"/>
                    <a:pt x="13695" y="13545"/>
                    <a:pt x="12104" y="13545"/>
                  </a:cubicBezTo>
                  <a:cubicBezTo>
                    <a:pt x="10514" y="13545"/>
                    <a:pt x="8923" y="12940"/>
                    <a:pt x="7712" y="11729"/>
                  </a:cubicBezTo>
                  <a:cubicBezTo>
                    <a:pt x="5288" y="9305"/>
                    <a:pt x="5288" y="5369"/>
                    <a:pt x="7712" y="2945"/>
                  </a:cubicBezTo>
                  <a:cubicBezTo>
                    <a:pt x="8923" y="1735"/>
                    <a:pt x="10513" y="1130"/>
                    <a:pt x="12103" y="1130"/>
                  </a:cubicBezTo>
                  <a:close/>
                  <a:moveTo>
                    <a:pt x="4918" y="13726"/>
                  </a:moveTo>
                  <a:lnTo>
                    <a:pt x="5716" y="14524"/>
                  </a:lnTo>
                  <a:lnTo>
                    <a:pt x="4918" y="15322"/>
                  </a:lnTo>
                  <a:lnTo>
                    <a:pt x="4120" y="14524"/>
                  </a:lnTo>
                  <a:lnTo>
                    <a:pt x="4918" y="13726"/>
                  </a:lnTo>
                  <a:close/>
                  <a:moveTo>
                    <a:pt x="12106" y="1"/>
                  </a:moveTo>
                  <a:cubicBezTo>
                    <a:pt x="10226" y="1"/>
                    <a:pt x="8345" y="717"/>
                    <a:pt x="6914" y="2147"/>
                  </a:cubicBezTo>
                  <a:cubicBezTo>
                    <a:pt x="4725" y="4333"/>
                    <a:pt x="4240" y="7516"/>
                    <a:pt x="5315" y="10133"/>
                  </a:cubicBezTo>
                  <a:lnTo>
                    <a:pt x="4518" y="10931"/>
                  </a:lnTo>
                  <a:cubicBezTo>
                    <a:pt x="4009" y="11434"/>
                    <a:pt x="3876" y="12208"/>
                    <a:pt x="4192" y="12852"/>
                  </a:cubicBezTo>
                  <a:lnTo>
                    <a:pt x="663" y="16382"/>
                  </a:lnTo>
                  <a:cubicBezTo>
                    <a:pt x="1" y="17044"/>
                    <a:pt x="1" y="18116"/>
                    <a:pt x="663" y="18778"/>
                  </a:cubicBezTo>
                  <a:cubicBezTo>
                    <a:pt x="994" y="19108"/>
                    <a:pt x="1428" y="19273"/>
                    <a:pt x="1862" y="19273"/>
                  </a:cubicBezTo>
                  <a:cubicBezTo>
                    <a:pt x="2295" y="19273"/>
                    <a:pt x="2729" y="19108"/>
                    <a:pt x="3060" y="18778"/>
                  </a:cubicBezTo>
                  <a:lnTo>
                    <a:pt x="6586" y="15249"/>
                  </a:lnTo>
                  <a:cubicBezTo>
                    <a:pt x="6820" y="15363"/>
                    <a:pt x="7071" y="15418"/>
                    <a:pt x="7320" y="15418"/>
                  </a:cubicBezTo>
                  <a:cubicBezTo>
                    <a:pt x="7757" y="15418"/>
                    <a:pt x="8188" y="15247"/>
                    <a:pt x="8510" y="14921"/>
                  </a:cubicBezTo>
                  <a:lnTo>
                    <a:pt x="9308" y="14126"/>
                  </a:lnTo>
                  <a:cubicBezTo>
                    <a:pt x="10192" y="14489"/>
                    <a:pt x="11145" y="14675"/>
                    <a:pt x="12104" y="14675"/>
                  </a:cubicBezTo>
                  <a:cubicBezTo>
                    <a:pt x="13962" y="14675"/>
                    <a:pt x="15843" y="13979"/>
                    <a:pt x="17294" y="12527"/>
                  </a:cubicBezTo>
                  <a:cubicBezTo>
                    <a:pt x="20155" y="9666"/>
                    <a:pt x="20155" y="5008"/>
                    <a:pt x="17294" y="2147"/>
                  </a:cubicBezTo>
                  <a:cubicBezTo>
                    <a:pt x="15864" y="716"/>
                    <a:pt x="13985" y="1"/>
                    <a:pt x="12106" y="1"/>
                  </a:cubicBezTo>
                  <a:close/>
                </a:path>
              </a:pathLst>
            </a:custGeom>
            <a:solidFill>
              <a:srgbClr val="2C4593"/>
            </a:solidFill>
            <a:ln>
              <a:noFill/>
            </a:ln>
          </p:spPr>
          <p:txBody>
            <a:bodyPr spcFirstLastPara="1" wrap="square" lIns="91567" tIns="91567" rIns="91567" bIns="91567" anchor="ctr" anchorCtr="0">
              <a:noAutofit/>
            </a:bodyPr>
            <a:lstStyle/>
            <a:p>
              <a:endParaRPr sz="1401">
                <a:solidFill>
                  <a:srgbClr val="435D74"/>
                </a:solidFill>
              </a:endParaRPr>
            </a:p>
          </p:txBody>
        </p:sp>
        <p:sp>
          <p:nvSpPr>
            <p:cNvPr id="124" name="Google Shape;124;g3a7c04f4bd1_0_103"/>
            <p:cNvSpPr/>
            <p:nvPr/>
          </p:nvSpPr>
          <p:spPr>
            <a:xfrm>
              <a:off x="5221050" y="898625"/>
              <a:ext cx="254100" cy="254100"/>
            </a:xfrm>
            <a:custGeom>
              <a:avLst/>
              <a:gdLst/>
              <a:ahLst/>
              <a:cxnLst/>
              <a:rect l="l" t="t" r="r" b="b"/>
              <a:pathLst>
                <a:path w="10164" h="10164" extrusionOk="0">
                  <a:moveTo>
                    <a:pt x="5081" y="1"/>
                  </a:moveTo>
                  <a:cubicBezTo>
                    <a:pt x="2274" y="1"/>
                    <a:pt x="1" y="2274"/>
                    <a:pt x="1" y="5081"/>
                  </a:cubicBezTo>
                  <a:cubicBezTo>
                    <a:pt x="1" y="7887"/>
                    <a:pt x="2274" y="10164"/>
                    <a:pt x="5081" y="10164"/>
                  </a:cubicBezTo>
                  <a:cubicBezTo>
                    <a:pt x="7887" y="10164"/>
                    <a:pt x="10164" y="7887"/>
                    <a:pt x="10164" y="5081"/>
                  </a:cubicBezTo>
                  <a:cubicBezTo>
                    <a:pt x="10164" y="2274"/>
                    <a:pt x="7887" y="1"/>
                    <a:pt x="5081" y="1"/>
                  </a:cubicBezTo>
                  <a:close/>
                </a:path>
              </a:pathLst>
            </a:custGeom>
            <a:solidFill>
              <a:srgbClr val="2C4593"/>
            </a:solidFill>
            <a:ln>
              <a:noFill/>
            </a:ln>
          </p:spPr>
          <p:txBody>
            <a:bodyPr spcFirstLastPara="1" wrap="square" lIns="91567" tIns="91567" rIns="91567" bIns="91567" anchor="ctr" anchorCtr="0">
              <a:noAutofit/>
            </a:bodyPr>
            <a:lstStyle/>
            <a:p>
              <a:endParaRPr sz="1401">
                <a:solidFill>
                  <a:srgbClr val="435D74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9280477" y="1408667"/>
            <a:ext cx="2402007" cy="17030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B050"/>
                </a:solidFill>
              </a:rPr>
              <a:t>Réunion CCPeV</a:t>
            </a:r>
          </a:p>
          <a:p>
            <a:pPr algn="ctr"/>
            <a:r>
              <a:rPr lang="fr-FR" dirty="0">
                <a:solidFill>
                  <a:srgbClr val="00B050"/>
                </a:solidFill>
              </a:rPr>
              <a:t>( Ministre</a:t>
            </a:r>
            <a:r>
              <a:rPr lang="fr-FR" dirty="0">
                <a:solidFill>
                  <a:srgbClr val="92D050"/>
                </a:solidFill>
              </a:rPr>
              <a:t>)</a:t>
            </a:r>
          </a:p>
          <a:p>
            <a:pPr algn="ctr"/>
            <a:r>
              <a:rPr lang="fr-FR" sz="1800" b="1" dirty="0">
                <a:solidFill>
                  <a:schemeClr val="tx1"/>
                </a:solidFill>
              </a:rPr>
              <a:t>81.8%</a:t>
            </a:r>
          </a:p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9/11 réunions ténues (12 prévues annuellement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9617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5"/>
          <p:cNvSpPr txBox="1">
            <a:spLocks noGrp="1"/>
          </p:cNvSpPr>
          <p:nvPr>
            <p:ph type="title"/>
          </p:nvPr>
        </p:nvSpPr>
        <p:spPr>
          <a:xfrm>
            <a:off x="291152" y="25959"/>
            <a:ext cx="11807952" cy="6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09535"/>
              </a:lnSpc>
              <a:buClr>
                <a:srgbClr val="4A66AC"/>
              </a:buClr>
              <a:buSzPts val="2100"/>
            </a:pPr>
            <a:r>
              <a:rPr lang="en-GB" sz="2133" dirty="0">
                <a:solidFill>
                  <a:srgbClr val="0070C0"/>
                </a:solidFill>
              </a:rPr>
              <a:t>Situation de </a:t>
            </a:r>
            <a:r>
              <a:rPr lang="en-GB" sz="2133" dirty="0" err="1">
                <a:solidFill>
                  <a:srgbClr val="0070C0"/>
                </a:solidFill>
              </a:rPr>
              <a:t>décaissement</a:t>
            </a:r>
            <a:r>
              <a:rPr lang="en-GB" sz="2133" dirty="0">
                <a:solidFill>
                  <a:srgbClr val="0070C0"/>
                </a:solidFill>
              </a:rPr>
              <a:t> des </a:t>
            </a:r>
            <a:r>
              <a:rPr lang="en-GB" sz="2133" dirty="0" err="1">
                <a:solidFill>
                  <a:srgbClr val="0070C0"/>
                </a:solidFill>
              </a:rPr>
              <a:t>bailleurs</a:t>
            </a:r>
            <a:r>
              <a:rPr lang="en-GB" sz="2133" dirty="0">
                <a:solidFill>
                  <a:srgbClr val="0070C0"/>
                </a:solidFill>
              </a:rPr>
              <a:t> au panier </a:t>
            </a:r>
            <a:r>
              <a:rPr lang="en-GB" sz="2133" dirty="0" err="1">
                <a:solidFill>
                  <a:srgbClr val="0070C0"/>
                </a:solidFill>
              </a:rPr>
              <a:t>commun</a:t>
            </a:r>
            <a:r>
              <a:rPr lang="en-GB" sz="2133" dirty="0">
                <a:solidFill>
                  <a:srgbClr val="0070C0"/>
                </a:solidFill>
              </a:rPr>
              <a:t> de la province du Lualaba de 2021 au  </a:t>
            </a:r>
            <a:r>
              <a:rPr lang="en-GB" sz="2133" dirty="0" err="1">
                <a:solidFill>
                  <a:srgbClr val="0070C0"/>
                </a:solidFill>
              </a:rPr>
              <a:t>novembre</a:t>
            </a:r>
            <a:r>
              <a:rPr lang="en-GB" sz="2133" dirty="0">
                <a:solidFill>
                  <a:srgbClr val="0070C0"/>
                </a:solidFill>
              </a:rPr>
              <a:t> 2025</a:t>
            </a:r>
            <a:endParaRPr sz="2133" dirty="0">
              <a:solidFill>
                <a:srgbClr val="0070C0"/>
              </a:solidFill>
            </a:endParaRPr>
          </a:p>
        </p:txBody>
      </p:sp>
      <p:graphicFrame>
        <p:nvGraphicFramePr>
          <p:cNvPr id="318" name="Google Shape;318;p25"/>
          <p:cNvGraphicFramePr/>
          <p:nvPr>
            <p:extLst>
              <p:ext uri="{D42A27DB-BD31-4B8C-83A1-F6EECF244321}">
                <p14:modId xmlns:p14="http://schemas.microsoft.com/office/powerpoint/2010/main" val="825422769"/>
              </p:ext>
            </p:extLst>
          </p:nvPr>
        </p:nvGraphicFramePr>
        <p:xfrm>
          <a:off x="127726" y="843562"/>
          <a:ext cx="12064233" cy="440667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64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6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1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88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03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30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529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363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5306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8153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693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10967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ANNEE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BMGF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GOUPRO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USAID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9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</a:t>
                      </a:r>
                      <a:r>
                        <a:rPr lang="en-GB" sz="16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</a:t>
                      </a:r>
                      <a:endParaRPr sz="1900" dirty="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2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2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SOUSCRIPTION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2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DECAISSEMENT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2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D'EXEC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2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SOUSCRIPTION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2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DECAISSEMENT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2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D'EXEC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2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SOUSCRIPTION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DECAISSEMENT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2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D'EXEC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2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SOUSCRIPTION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DECAISSEMENT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2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D'EXEC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609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$550,000.00 </a:t>
                      </a:r>
                      <a:endParaRPr sz="19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5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$550,000.00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$300,000.00 </a:t>
                      </a:r>
                      <a:endParaRPr sz="19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5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$300,000.00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                           -  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                              -  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                           -  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                           -  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609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2022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$280,000.00 </a:t>
                      </a:r>
                      <a:endParaRPr sz="19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5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$280,000.00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$400,000.00 </a:t>
                      </a:r>
                      <a:endParaRPr sz="19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5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$400,000.00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                           -  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                              -  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                           -  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                           -  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272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2023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$480,000.00 </a:t>
                      </a:r>
                      <a:endParaRPr sz="19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5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$480,000.00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$500,000.00 </a:t>
                      </a:r>
                      <a:endParaRPr sz="19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5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$500,000.00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                           -  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                              -  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                           -  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                           -  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4946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2024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$301,000.00 </a:t>
                      </a:r>
                      <a:endParaRPr sz="19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5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$301,000.00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$550,000.00 </a:t>
                      </a:r>
                      <a:endParaRPr sz="19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5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$510,000.00 </a:t>
                      </a:r>
                      <a:endParaRPr sz="19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5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93%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      300,000.00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         300,000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$55,296.00 </a:t>
                      </a:r>
                      <a:endParaRPr sz="19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5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$13,809.00 </a:t>
                      </a:r>
                      <a:endParaRPr sz="19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5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25%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7853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2025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$150,000.00 </a:t>
                      </a:r>
                      <a:endParaRPr sz="19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5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$150,000.00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$600,000.00 </a:t>
                      </a:r>
                      <a:endParaRPr sz="19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5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$406,767.00 </a:t>
                      </a:r>
                      <a:endParaRPr sz="19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5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68%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                           -  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                             -  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#DIV/0!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$55,294.22 </a:t>
                      </a:r>
                      <a:endParaRPr sz="19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5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$58,085.00 </a:t>
                      </a:r>
                      <a:endParaRPr sz="19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105%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1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3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      1,761,000.00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3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       1,761,000.00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3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3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         2,350,000.00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3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   2,116.767.00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3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90%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3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      300,000.00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3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         300,000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3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3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$110,590.22 </a:t>
                      </a:r>
                      <a:endParaRPr sz="19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3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3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$71,894.00 </a:t>
                      </a:r>
                      <a:endParaRPr sz="19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3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90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3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65%</a:t>
                      </a:r>
                      <a:endParaRPr sz="1900" dirty="0"/>
                    </a:p>
                  </a:txBody>
                  <a:tcPr marL="5533" marR="5533" marT="5533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9" name="Google Shape;319;p25"/>
          <p:cNvSpPr txBox="1"/>
          <p:nvPr/>
        </p:nvSpPr>
        <p:spPr>
          <a:xfrm>
            <a:off x="0" y="5211048"/>
            <a:ext cx="12192000" cy="1600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dirty="0"/>
              <a:t>N.B  Total Fonds </a:t>
            </a:r>
            <a:r>
              <a:rPr lang="en-GB" sz="1600" b="1" dirty="0" err="1"/>
              <a:t>recus</a:t>
            </a:r>
            <a:r>
              <a:rPr lang="en-GB" sz="1600" b="1" dirty="0"/>
              <a:t>  pour les 5 </a:t>
            </a:r>
            <a:r>
              <a:rPr lang="en-GB" sz="1600" b="1" dirty="0" err="1"/>
              <a:t>ans</a:t>
            </a:r>
            <a:r>
              <a:rPr lang="en-GB" sz="1600" b="1" dirty="0"/>
              <a:t> : GF =1,761,000$/1,761,000$ </a:t>
            </a:r>
            <a:r>
              <a:rPr lang="en-GB" sz="1600" b="1" dirty="0" err="1"/>
              <a:t>soit</a:t>
            </a:r>
            <a:r>
              <a:rPr lang="en-GB" sz="1600" b="1" dirty="0"/>
              <a:t> 100 % , GOUPRO = 2,116,767$/ 2,350,000 $ </a:t>
            </a:r>
            <a:r>
              <a:rPr lang="en-GB" sz="1600" b="1" dirty="0" err="1"/>
              <a:t>soit</a:t>
            </a:r>
            <a:r>
              <a:rPr lang="en-GB" sz="1600" b="1" dirty="0"/>
              <a:t> 90%  et GAVI  71894 $/110,590 $ </a:t>
            </a:r>
            <a:r>
              <a:rPr lang="en-GB" sz="1600" b="1" dirty="0" err="1"/>
              <a:t>soit</a:t>
            </a:r>
            <a:r>
              <a:rPr lang="en-GB" sz="1600" b="1" dirty="0"/>
              <a:t> 65 % (2 </a:t>
            </a:r>
            <a:r>
              <a:rPr lang="en-GB" sz="1600" b="1" dirty="0" err="1"/>
              <a:t>ans</a:t>
            </a:r>
            <a:r>
              <a:rPr lang="en-GB" sz="1600" b="1" dirty="0"/>
              <a:t>). </a:t>
            </a:r>
            <a:r>
              <a:rPr lang="en-GB" sz="1600" b="1" dirty="0" err="1">
                <a:solidFill>
                  <a:srgbClr val="00B0F0"/>
                </a:solidFill>
              </a:rPr>
              <a:t>Signalons</a:t>
            </a:r>
            <a:r>
              <a:rPr lang="en-GB" sz="1600" b="1" dirty="0">
                <a:solidFill>
                  <a:srgbClr val="00B0F0"/>
                </a:solidFill>
              </a:rPr>
              <a:t> que GAVI  à plus de fonds </a:t>
            </a:r>
            <a:r>
              <a:rPr lang="en-GB" sz="1600" b="1" dirty="0" err="1">
                <a:solidFill>
                  <a:srgbClr val="00B0F0"/>
                </a:solidFill>
              </a:rPr>
              <a:t>versés</a:t>
            </a:r>
            <a:r>
              <a:rPr lang="en-GB" sz="1600" b="1" dirty="0">
                <a:solidFill>
                  <a:srgbClr val="00B0F0"/>
                </a:solidFill>
              </a:rPr>
              <a:t> dans le panier </a:t>
            </a:r>
            <a:r>
              <a:rPr lang="en-GB" sz="1600" b="1" dirty="0" err="1">
                <a:solidFill>
                  <a:srgbClr val="00B0F0"/>
                </a:solidFill>
              </a:rPr>
              <a:t>commun</a:t>
            </a:r>
            <a:r>
              <a:rPr lang="en-GB" sz="1600" b="1" dirty="0">
                <a:solidFill>
                  <a:srgbClr val="00B0F0"/>
                </a:solidFill>
              </a:rPr>
              <a:t>, il verse des fonds  dans un </a:t>
            </a:r>
            <a:r>
              <a:rPr lang="en-GB" sz="1600" b="1" dirty="0" err="1">
                <a:solidFill>
                  <a:srgbClr val="00B0F0"/>
                </a:solidFill>
              </a:rPr>
              <a:t>autre</a:t>
            </a:r>
            <a:r>
              <a:rPr lang="en-GB" sz="1600" b="1" dirty="0">
                <a:solidFill>
                  <a:srgbClr val="00B0F0"/>
                </a:solidFill>
              </a:rPr>
              <a:t> </a:t>
            </a:r>
            <a:r>
              <a:rPr lang="en-GB" sz="1600" b="1" dirty="0" err="1">
                <a:solidFill>
                  <a:srgbClr val="00B0F0"/>
                </a:solidFill>
              </a:rPr>
              <a:t>compte</a:t>
            </a:r>
            <a:r>
              <a:rPr lang="en-GB" sz="1600" b="1" dirty="0">
                <a:solidFill>
                  <a:srgbClr val="00B0F0"/>
                </a:solidFill>
              </a:rPr>
              <a:t> de la DPS pour </a:t>
            </a:r>
            <a:r>
              <a:rPr lang="en-GB" sz="1600" b="1" dirty="0" err="1">
                <a:solidFill>
                  <a:srgbClr val="00B0F0"/>
                </a:solidFill>
              </a:rPr>
              <a:t>appuyer</a:t>
            </a:r>
            <a:r>
              <a:rPr lang="en-GB" sz="1600" b="1" dirty="0">
                <a:solidFill>
                  <a:srgbClr val="00B0F0"/>
                </a:solidFill>
              </a:rPr>
              <a:t> la vaccination de routine , la vaccination de masse et </a:t>
            </a:r>
            <a:r>
              <a:rPr lang="en-GB" sz="1600" b="1" dirty="0" err="1">
                <a:solidFill>
                  <a:srgbClr val="00B0F0"/>
                </a:solidFill>
              </a:rPr>
              <a:t>d’autres</a:t>
            </a:r>
            <a:r>
              <a:rPr lang="en-GB" sz="1600" b="1" dirty="0">
                <a:solidFill>
                  <a:srgbClr val="00B0F0"/>
                </a:solidFill>
              </a:rPr>
              <a:t> </a:t>
            </a:r>
            <a:r>
              <a:rPr lang="en-GB" sz="1600" b="1" dirty="0" err="1"/>
              <a:t>activités</a:t>
            </a:r>
            <a:r>
              <a:rPr lang="en-GB" sz="1600" b="1" dirty="0"/>
              <a:t>. </a:t>
            </a:r>
            <a:r>
              <a:rPr lang="en-GB" sz="1600" b="1" dirty="0" err="1"/>
              <a:t>Solde</a:t>
            </a:r>
            <a:r>
              <a:rPr lang="en-GB" sz="1600" b="1" dirty="0"/>
              <a:t> </a:t>
            </a:r>
            <a:r>
              <a:rPr lang="en-GB" sz="1600" b="1" dirty="0" err="1"/>
              <a:t>aujourd’hui</a:t>
            </a:r>
            <a:r>
              <a:rPr lang="en-GB" sz="1600" b="1" dirty="0"/>
              <a:t> </a:t>
            </a:r>
            <a:r>
              <a:rPr lang="en-GB" sz="1600" b="1" dirty="0" err="1"/>
              <a:t>en</a:t>
            </a:r>
            <a:r>
              <a:rPr lang="en-GB" sz="1600" b="1" dirty="0"/>
              <a:t> </a:t>
            </a:r>
            <a:r>
              <a:rPr lang="en-GB" sz="1600" b="1" dirty="0" err="1"/>
              <a:t>banque</a:t>
            </a:r>
            <a:r>
              <a:rPr lang="en-GB" sz="1600" b="1" dirty="0"/>
              <a:t> (MoU) </a:t>
            </a:r>
            <a:r>
              <a:rPr lang="en-GB" sz="1600" b="1" dirty="0" err="1"/>
              <a:t>est</a:t>
            </a:r>
            <a:r>
              <a:rPr lang="en-GB" sz="1600" b="1" dirty="0"/>
              <a:t> : </a:t>
            </a:r>
            <a:r>
              <a:rPr lang="en-GB" sz="1600" b="1" dirty="0">
                <a:highlight>
                  <a:srgbClr val="FFFF00"/>
                </a:highlight>
              </a:rPr>
              <a:t>537,235 Dollars</a:t>
            </a:r>
            <a:endParaRPr sz="1867" dirty="0"/>
          </a:p>
        </p:txBody>
      </p:sp>
      <p:sp>
        <p:nvSpPr>
          <p:cNvPr id="320" name="Google Shape;320;p25"/>
          <p:cNvSpPr/>
          <p:nvPr/>
        </p:nvSpPr>
        <p:spPr>
          <a:xfrm>
            <a:off x="0" y="25957"/>
            <a:ext cx="235600" cy="654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367" tIns="91367" rIns="91367" bIns="91367" anchor="ctr" anchorCtr="0">
            <a:noAutofit/>
          </a:bodyPr>
          <a:lstStyle/>
          <a:p>
            <a:pPr>
              <a:buSzPts val="1300"/>
            </a:pPr>
            <a:endParaRPr sz="1733"/>
          </a:p>
        </p:txBody>
      </p:sp>
    </p:spTree>
    <p:extLst>
      <p:ext uri="{BB962C8B-B14F-4D97-AF65-F5344CB8AC3E}">
        <p14:creationId xmlns:p14="http://schemas.microsoft.com/office/powerpoint/2010/main" val="2031923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a7c04f4bd1_0_157"/>
          <p:cNvSpPr txBox="1">
            <a:spLocks noGrp="1"/>
          </p:cNvSpPr>
          <p:nvPr>
            <p:ph type="title"/>
          </p:nvPr>
        </p:nvSpPr>
        <p:spPr>
          <a:xfrm>
            <a:off x="325667" y="2918467"/>
            <a:ext cx="2844800" cy="415498"/>
          </a:xfrm>
          <a:prstGeom prst="rect">
            <a:avLst/>
          </a:prstGeom>
        </p:spPr>
        <p:txBody>
          <a:bodyPr spcFirstLastPara="1" wrap="square" lIns="0" tIns="0" rIns="121900" bIns="0" anchor="t" anchorCtr="0">
            <a:spAutoFit/>
          </a:bodyPr>
          <a:lstStyle/>
          <a:p>
            <a:r>
              <a:rPr lang="en-GB" dirty="0"/>
              <a:t>Perspectives</a:t>
            </a:r>
            <a:endParaRPr dirty="0"/>
          </a:p>
        </p:txBody>
      </p:sp>
      <p:pic>
        <p:nvPicPr>
          <p:cNvPr id="423" name="Google Shape;423;g3a7c04f4bd1_0_157"/>
          <p:cNvPicPr preferRelativeResize="0"/>
          <p:nvPr/>
        </p:nvPicPr>
        <p:blipFill rotWithShape="1">
          <a:blip r:embed="rId3">
            <a:alphaModFix/>
          </a:blip>
          <a:srcRect b="3316"/>
          <a:stretch/>
        </p:blipFill>
        <p:spPr>
          <a:xfrm>
            <a:off x="3528868" y="8101909"/>
            <a:ext cx="7314201" cy="2850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g3a7c04f4bd1_0_157"/>
          <p:cNvPicPr preferRelativeResize="0"/>
          <p:nvPr/>
        </p:nvPicPr>
        <p:blipFill rotWithShape="1">
          <a:blip r:embed="rId4">
            <a:alphaModFix/>
          </a:blip>
          <a:srcRect t="4085" b="685"/>
          <a:stretch/>
        </p:blipFill>
        <p:spPr>
          <a:xfrm>
            <a:off x="3528867" y="37062"/>
            <a:ext cx="8110199" cy="2588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g3a7c04f4bd1_0_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8867" y="2625891"/>
            <a:ext cx="8110199" cy="2183952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g3a7c04f4bd1_0_157"/>
          <p:cNvSpPr/>
          <p:nvPr/>
        </p:nvSpPr>
        <p:spPr>
          <a:xfrm>
            <a:off x="3632900" y="4902533"/>
            <a:ext cx="7914400" cy="1065600"/>
          </a:xfrm>
          <a:prstGeom prst="roundRect">
            <a:avLst>
              <a:gd name="adj" fmla="val 16667"/>
            </a:avLst>
          </a:prstGeom>
          <a:solidFill>
            <a:srgbClr val="351C75"/>
          </a:solidFill>
          <a:ln w="952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defRPr/>
            </a:pPr>
            <a:endParaRPr sz="1867"/>
          </a:p>
        </p:txBody>
      </p:sp>
      <p:sp>
        <p:nvSpPr>
          <p:cNvPr id="427" name="Google Shape;427;g3a7c04f4bd1_0_157"/>
          <p:cNvSpPr/>
          <p:nvPr/>
        </p:nvSpPr>
        <p:spPr>
          <a:xfrm>
            <a:off x="3707207" y="4902533"/>
            <a:ext cx="7822000" cy="1065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130000"/>
              </a:lnSpc>
              <a:defRPr/>
            </a:pPr>
            <a:r>
              <a:rPr lang="en-GB" sz="1067" b="1">
                <a:solidFill>
                  <a:srgbClr val="20124D"/>
                </a:solidFill>
              </a:rPr>
              <a:t>       Communication</a:t>
            </a:r>
            <a:endParaRPr sz="1067" b="1">
              <a:solidFill>
                <a:srgbClr val="20124D"/>
              </a:solidFill>
            </a:endParaRPr>
          </a:p>
          <a:p>
            <a:pPr marL="119996" indent="-194728" defTabSz="1219170">
              <a:lnSpc>
                <a:spcPct val="130000"/>
              </a:lnSpc>
              <a:buClr>
                <a:srgbClr val="20124D"/>
              </a:buClr>
              <a:buSzPts val="800"/>
              <a:buFont typeface="Source Serif Pro"/>
              <a:buChar char="✓"/>
              <a:defRPr/>
            </a:pPr>
            <a:r>
              <a:rPr lang="en-GB" sz="1067">
                <a:solidFill>
                  <a:srgbClr val="37415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Redynamiser/Former les organes communautaires (14 ZS) sur la gestion des rumeurs/infodémie.</a:t>
            </a:r>
            <a:endParaRPr sz="1067">
              <a:solidFill>
                <a:srgbClr val="374151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  <a:p>
            <a:pPr marL="119996" indent="-194728" defTabSz="1219170">
              <a:lnSpc>
                <a:spcPct val="130000"/>
              </a:lnSpc>
              <a:buClr>
                <a:srgbClr val="20124D"/>
              </a:buClr>
              <a:buSzPts val="800"/>
              <a:buFont typeface="Source Serif Pro"/>
              <a:buChar char="✓"/>
              <a:defRPr/>
            </a:pPr>
            <a:r>
              <a:rPr lang="en-GB" sz="1067">
                <a:solidFill>
                  <a:srgbClr val="37415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Créer un cadre de concertation entre groupes réfractaires et services de santé.</a:t>
            </a:r>
            <a:endParaRPr sz="1067">
              <a:solidFill>
                <a:srgbClr val="374151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  <a:p>
            <a:pPr marL="119996" indent="-194728" defTabSz="1219170">
              <a:lnSpc>
                <a:spcPct val="130000"/>
              </a:lnSpc>
              <a:buClr>
                <a:srgbClr val="20124D"/>
              </a:buClr>
              <a:buSzPts val="800"/>
              <a:buFont typeface="Source Serif Pro"/>
              <a:buChar char="✓"/>
              <a:defRPr/>
            </a:pPr>
            <a:r>
              <a:rPr lang="en-GB" sz="1067">
                <a:solidFill>
                  <a:srgbClr val="37415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Fabriquer les échéanciers pour les établissements de soins qui en manquent</a:t>
            </a:r>
            <a:endParaRPr sz="1067">
              <a:solidFill>
                <a:srgbClr val="FFFFFF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grpSp>
        <p:nvGrpSpPr>
          <p:cNvPr id="428" name="Google Shape;428;g3a7c04f4bd1_0_157"/>
          <p:cNvGrpSpPr/>
          <p:nvPr/>
        </p:nvGrpSpPr>
        <p:grpSpPr>
          <a:xfrm>
            <a:off x="3781362" y="4902525"/>
            <a:ext cx="315653" cy="240924"/>
            <a:chOff x="-1951475" y="3273100"/>
            <a:chExt cx="291875" cy="222775"/>
          </a:xfrm>
        </p:grpSpPr>
        <p:sp>
          <p:nvSpPr>
            <p:cNvPr id="429" name="Google Shape;429;g3a7c04f4bd1_0_157"/>
            <p:cNvSpPr/>
            <p:nvPr/>
          </p:nvSpPr>
          <p:spPr>
            <a:xfrm>
              <a:off x="-1951475" y="3325050"/>
              <a:ext cx="51225" cy="119250"/>
            </a:xfrm>
            <a:custGeom>
              <a:avLst/>
              <a:gdLst/>
              <a:ahLst/>
              <a:cxnLst/>
              <a:rect l="l" t="t" r="r" b="b"/>
              <a:pathLst>
                <a:path w="2049" h="4770" extrusionOk="0">
                  <a:moveTo>
                    <a:pt x="1033" y="0"/>
                  </a:moveTo>
                  <a:cubicBezTo>
                    <a:pt x="518" y="0"/>
                    <a:pt x="0" y="339"/>
                    <a:pt x="0" y="1004"/>
                  </a:cubicBezTo>
                  <a:lnTo>
                    <a:pt x="0" y="3777"/>
                  </a:lnTo>
                  <a:cubicBezTo>
                    <a:pt x="0" y="4438"/>
                    <a:pt x="512" y="4769"/>
                    <a:pt x="1024" y="4769"/>
                  </a:cubicBezTo>
                  <a:cubicBezTo>
                    <a:pt x="1536" y="4769"/>
                    <a:pt x="2048" y="4438"/>
                    <a:pt x="2048" y="3777"/>
                  </a:cubicBezTo>
                  <a:lnTo>
                    <a:pt x="2048" y="1004"/>
                  </a:lnTo>
                  <a:cubicBezTo>
                    <a:pt x="2048" y="331"/>
                    <a:pt x="1542" y="0"/>
                    <a:pt x="1033" y="0"/>
                  </a:cubicBezTo>
                  <a:close/>
                </a:path>
              </a:pathLst>
            </a:custGeom>
            <a:solidFill>
              <a:srgbClr val="451F61"/>
            </a:solidFill>
            <a:ln>
              <a:noFill/>
            </a:ln>
          </p:spPr>
          <p:txBody>
            <a:bodyPr spcFirstLastPara="1" wrap="square" lIns="95233" tIns="95233" rIns="95233" bIns="95233" anchor="ctr" anchorCtr="0">
              <a:noAutofit/>
            </a:bodyPr>
            <a:lstStyle/>
            <a:p>
              <a:pPr defTabSz="1219170">
                <a:defRPr/>
              </a:pPr>
              <a:endParaRPr sz="1867"/>
            </a:p>
          </p:txBody>
        </p:sp>
        <p:sp>
          <p:nvSpPr>
            <p:cNvPr id="430" name="Google Shape;430;g3a7c04f4bd1_0_157"/>
            <p:cNvSpPr/>
            <p:nvPr/>
          </p:nvSpPr>
          <p:spPr>
            <a:xfrm>
              <a:off x="-1711250" y="3273100"/>
              <a:ext cx="51650" cy="221725"/>
            </a:xfrm>
            <a:custGeom>
              <a:avLst/>
              <a:gdLst/>
              <a:ahLst/>
              <a:cxnLst/>
              <a:rect l="l" t="t" r="r" b="b"/>
              <a:pathLst>
                <a:path w="2066" h="8869" extrusionOk="0">
                  <a:moveTo>
                    <a:pt x="1027" y="0"/>
                  </a:moveTo>
                  <a:cubicBezTo>
                    <a:pt x="608" y="0"/>
                    <a:pt x="186" y="229"/>
                    <a:pt x="32" y="719"/>
                  </a:cubicBezTo>
                  <a:cubicBezTo>
                    <a:pt x="0" y="814"/>
                    <a:pt x="0" y="940"/>
                    <a:pt x="0" y="1003"/>
                  </a:cubicBezTo>
                  <a:lnTo>
                    <a:pt x="0" y="7871"/>
                  </a:lnTo>
                  <a:cubicBezTo>
                    <a:pt x="0" y="7934"/>
                    <a:pt x="0" y="8060"/>
                    <a:pt x="32" y="8123"/>
                  </a:cubicBezTo>
                  <a:cubicBezTo>
                    <a:pt x="173" y="8632"/>
                    <a:pt x="594" y="8869"/>
                    <a:pt x="1015" y="8869"/>
                  </a:cubicBezTo>
                  <a:cubicBezTo>
                    <a:pt x="1532" y="8869"/>
                    <a:pt x="2048" y="8513"/>
                    <a:pt x="2048" y="7871"/>
                  </a:cubicBezTo>
                  <a:lnTo>
                    <a:pt x="2048" y="1003"/>
                  </a:lnTo>
                  <a:cubicBezTo>
                    <a:pt x="2066" y="356"/>
                    <a:pt x="1549" y="0"/>
                    <a:pt x="1027" y="0"/>
                  </a:cubicBezTo>
                  <a:close/>
                </a:path>
              </a:pathLst>
            </a:custGeom>
            <a:solidFill>
              <a:srgbClr val="451F61"/>
            </a:solidFill>
            <a:ln>
              <a:noFill/>
            </a:ln>
          </p:spPr>
          <p:txBody>
            <a:bodyPr spcFirstLastPara="1" wrap="square" lIns="95233" tIns="95233" rIns="95233" bIns="95233" anchor="ctr" anchorCtr="0">
              <a:noAutofit/>
            </a:bodyPr>
            <a:lstStyle/>
            <a:p>
              <a:pPr defTabSz="1219170">
                <a:defRPr/>
              </a:pPr>
              <a:endParaRPr sz="1867"/>
            </a:p>
          </p:txBody>
        </p:sp>
        <p:sp>
          <p:nvSpPr>
            <p:cNvPr id="431" name="Google Shape;431;g3a7c04f4bd1_0_157"/>
            <p:cNvSpPr/>
            <p:nvPr/>
          </p:nvSpPr>
          <p:spPr>
            <a:xfrm>
              <a:off x="-1886900" y="3296575"/>
              <a:ext cx="156775" cy="199300"/>
            </a:xfrm>
            <a:custGeom>
              <a:avLst/>
              <a:gdLst/>
              <a:ahLst/>
              <a:cxnLst/>
              <a:rect l="l" t="t" r="r" b="b"/>
              <a:pathLst>
                <a:path w="6271" h="7972" extrusionOk="0">
                  <a:moveTo>
                    <a:pt x="851" y="5672"/>
                  </a:moveTo>
                  <a:lnTo>
                    <a:pt x="3466" y="6333"/>
                  </a:lnTo>
                  <a:cubicBezTo>
                    <a:pt x="3277" y="6869"/>
                    <a:pt x="2773" y="7279"/>
                    <a:pt x="2174" y="7279"/>
                  </a:cubicBezTo>
                  <a:cubicBezTo>
                    <a:pt x="1418" y="7279"/>
                    <a:pt x="788" y="6648"/>
                    <a:pt x="788" y="5892"/>
                  </a:cubicBezTo>
                  <a:cubicBezTo>
                    <a:pt x="851" y="5798"/>
                    <a:pt x="851" y="5735"/>
                    <a:pt x="851" y="5672"/>
                  </a:cubicBezTo>
                  <a:close/>
                  <a:moveTo>
                    <a:pt x="6270" y="1"/>
                  </a:moveTo>
                  <a:lnTo>
                    <a:pt x="1" y="1576"/>
                  </a:lnTo>
                  <a:cubicBezTo>
                    <a:pt x="95" y="1734"/>
                    <a:pt x="127" y="1923"/>
                    <a:pt x="127" y="2143"/>
                  </a:cubicBezTo>
                  <a:lnTo>
                    <a:pt x="127" y="4916"/>
                  </a:lnTo>
                  <a:cubicBezTo>
                    <a:pt x="127" y="5105"/>
                    <a:pt x="95" y="5294"/>
                    <a:pt x="1" y="5514"/>
                  </a:cubicBezTo>
                  <a:lnTo>
                    <a:pt x="158" y="5546"/>
                  </a:lnTo>
                  <a:cubicBezTo>
                    <a:pt x="127" y="5672"/>
                    <a:pt x="127" y="5829"/>
                    <a:pt x="127" y="5924"/>
                  </a:cubicBezTo>
                  <a:cubicBezTo>
                    <a:pt x="127" y="7090"/>
                    <a:pt x="1040" y="7972"/>
                    <a:pt x="2174" y="7972"/>
                  </a:cubicBezTo>
                  <a:cubicBezTo>
                    <a:pt x="3120" y="7972"/>
                    <a:pt x="3907" y="7405"/>
                    <a:pt x="4159" y="6522"/>
                  </a:cubicBezTo>
                  <a:lnTo>
                    <a:pt x="6270" y="7090"/>
                  </a:lnTo>
                  <a:lnTo>
                    <a:pt x="6270" y="5672"/>
                  </a:lnTo>
                  <a:lnTo>
                    <a:pt x="6270" y="2238"/>
                  </a:lnTo>
                  <a:lnTo>
                    <a:pt x="6270" y="1"/>
                  </a:lnTo>
                  <a:close/>
                </a:path>
              </a:pathLst>
            </a:custGeom>
            <a:solidFill>
              <a:srgbClr val="451F61"/>
            </a:solidFill>
            <a:ln>
              <a:noFill/>
            </a:ln>
          </p:spPr>
          <p:txBody>
            <a:bodyPr spcFirstLastPara="1" wrap="square" lIns="95233" tIns="95233" rIns="95233" bIns="95233" anchor="ctr" anchorCtr="0">
              <a:noAutofit/>
            </a:bodyPr>
            <a:lstStyle/>
            <a:p>
              <a:pPr defTabSz="1219170">
                <a:defRPr/>
              </a:pPr>
              <a:endParaRPr sz="1867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7A32A84-624D-4687-48DB-FF86E0E3BE55}"/>
              </a:ext>
            </a:extLst>
          </p:cNvPr>
          <p:cNvSpPr/>
          <p:nvPr/>
        </p:nvSpPr>
        <p:spPr>
          <a:xfrm>
            <a:off x="4478867" y="1049867"/>
            <a:ext cx="1032933" cy="1354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81288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abc9d920d_0_242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Récommandations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pour 2026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7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Au niveau national: 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Tx/>
              <a:buChar char="-"/>
            </a:pPr>
            <a:r>
              <a:rPr lang="fr-FR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Supervisions formatives régulières 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Tx/>
              <a:buChar char="-"/>
            </a:pPr>
            <a:r>
              <a:rPr lang="fr-FR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Disponibilité à temps de tous les vaccins particulièrement le BCG (désiré par les parents) ainsi que le RR pour maintenir le plan du switch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Tx/>
              <a:buChar char="-"/>
            </a:pPr>
            <a:r>
              <a:rPr lang="fr-FR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Disponibilité des outils de gestion et plus particulièrement les cartes CPS en quantité suffisante.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Tx/>
              <a:buChar char="-"/>
            </a:pPr>
            <a:r>
              <a:rPr lang="fr-FR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Eviter au maximum le report des activités déjà programmées qui impacte très négativement avec le respect de notre chronogramme .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6" name="Google Shape;266;g3aabc9d920d_0_242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7" name="Google Shape;267;g3aabc9d920d_0_242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8" name="Google Shape;268;g3aabc9d920d_0_242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27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69" name="Google Shape;269;g3aabc9d920d_0_242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abc9d920d_0_262"/>
          <p:cNvSpPr txBox="1"/>
          <p:nvPr/>
        </p:nvSpPr>
        <p:spPr>
          <a:xfrm>
            <a:off x="733100" y="1202135"/>
            <a:ext cx="10707600" cy="3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Merci</a:t>
            </a:r>
            <a:endParaRPr sz="3200" b="1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5" name="Google Shape;275;g3aabc9d920d_0_262"/>
          <p:cNvSpPr/>
          <p:nvPr/>
        </p:nvSpPr>
        <p:spPr>
          <a:xfrm>
            <a:off x="1588" y="2654952"/>
            <a:ext cx="45009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6" name="Google Shape;276;g3aabc9d920d_0_262"/>
          <p:cNvSpPr/>
          <p:nvPr/>
        </p:nvSpPr>
        <p:spPr>
          <a:xfrm>
            <a:off x="7689667" y="2654952"/>
            <a:ext cx="45015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</TotalTime>
  <Words>2128</Words>
  <Application>Microsoft Office PowerPoint</Application>
  <PresentationFormat>Grand écran</PresentationFormat>
  <Paragraphs>484</Paragraphs>
  <Slides>28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28</vt:i4>
      </vt:variant>
    </vt:vector>
  </HeadingPairs>
  <TitlesOfParts>
    <vt:vector size="35" baseType="lpstr">
      <vt:lpstr>Arial</vt:lpstr>
      <vt:lpstr>Source Serif Pro</vt:lpstr>
      <vt:lpstr>Play</vt:lpstr>
      <vt:lpstr>Times New Roman</vt:lpstr>
      <vt:lpstr>Calibri</vt:lpstr>
      <vt:lpstr>Thème Office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 Problèmes identifiés lors des ECV 2025 et solutions envisagées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Situation de décaissement des bailleurs au panier commun de la province du Lualaba de 2021 au  novembre 2025</vt:lpstr>
      <vt:lpstr>Perspectives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Aimé CIKOMOLA</dc:creator>
  <cp:lastModifiedBy>USER</cp:lastModifiedBy>
  <cp:revision>51</cp:revision>
  <dcterms:created xsi:type="dcterms:W3CDTF">2025-11-28T20:10:05Z</dcterms:created>
  <dcterms:modified xsi:type="dcterms:W3CDTF">2025-12-16T10:55:56Z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93DF6B1B20AE4EE791A0860C13F9B9CC_13</vt:lpwstr>
  </property>
  <property fmtid="{D5CDD505-2E9C-101B-9397-08002B2CF9AE}" pid="3" name="KSOProductBuildVer">
    <vt:lpwstr>3084-12.2.0.23155</vt:lpwstr>
  </property>
</Properties>
</file>