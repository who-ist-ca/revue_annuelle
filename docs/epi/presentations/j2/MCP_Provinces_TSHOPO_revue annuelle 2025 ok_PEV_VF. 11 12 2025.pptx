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3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4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heme/themeOverride3.xml" ContentType="application/vnd.openxmlformats-officedocument.themeOverr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61" r:id="rId2"/>
    <p:sldMasterId id="2147483675" r:id="rId3"/>
    <p:sldMasterId id="2147483687" r:id="rId4"/>
    <p:sldMasterId id="2147483700" r:id="rId5"/>
  </p:sldMasterIdLst>
  <p:notesMasterIdLst>
    <p:notesMasterId r:id="rId27"/>
  </p:notesMasterIdLst>
  <p:sldIdLst>
    <p:sldId id="256" r:id="rId6"/>
    <p:sldId id="257" r:id="rId7"/>
    <p:sldId id="258" r:id="rId8"/>
    <p:sldId id="259" r:id="rId9"/>
    <p:sldId id="476" r:id="rId10"/>
    <p:sldId id="287" r:id="rId11"/>
    <p:sldId id="260" r:id="rId12"/>
    <p:sldId id="284" r:id="rId13"/>
    <p:sldId id="285" r:id="rId14"/>
    <p:sldId id="286" r:id="rId15"/>
    <p:sldId id="279" r:id="rId16"/>
    <p:sldId id="298" r:id="rId17"/>
    <p:sldId id="263" r:id="rId18"/>
    <p:sldId id="264" r:id="rId19"/>
    <p:sldId id="273" r:id="rId20"/>
    <p:sldId id="453" r:id="rId21"/>
    <p:sldId id="475" r:id="rId22"/>
    <p:sldId id="455" r:id="rId23"/>
    <p:sldId id="266" r:id="rId24"/>
    <p:sldId id="268" r:id="rId25"/>
    <p:sldId id="269" r:id="rId26"/>
  </p:sldIdLst>
  <p:sldSz cx="12192000" cy="6858000"/>
  <p:notesSz cx="6858000" cy="9144000"/>
  <p:embeddedFontLst>
    <p:embeddedFont>
      <p:font typeface="Arial Narrow" panose="020B0606020202030204" pitchFamily="34" charset="0"/>
      <p:regular r:id="rId28"/>
      <p:bold r:id="rId29"/>
      <p:italic r:id="rId30"/>
      <p:boldItalic r:id="rId31"/>
    </p:embeddedFont>
    <p:embeddedFont>
      <p:font typeface="Garamond" panose="02020404030301010803" pitchFamily="18" charset="0"/>
      <p:regular r:id="rId32"/>
      <p:bold r:id="rId33"/>
      <p:italic r:id="rId34"/>
    </p:embeddedFont>
    <p:embeddedFont>
      <p:font typeface="Play" panose="020B0604020202020204" charset="0"/>
      <p:regular r:id="rId35"/>
    </p:embeddedFont>
    <p:embeddedFont>
      <p:font typeface="Source Serif Pro" panose="02040603050405020204" pitchFamily="18" charset="0"/>
      <p:regular r:id="rId36"/>
      <p:bold r:id="rId37"/>
      <p:italic r:id="rId38"/>
      <p:boldItalic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6042B85-2813-40D6-8C08-B53CA4025A3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  <a:tblStyle styleId="{628BBFD1-A734-4757-B910-67CC1CD1593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 showGuides="1">
      <p:cViewPr varScale="1">
        <p:scale>
          <a:sx n="81" d="100"/>
          <a:sy n="81" d="100"/>
        </p:scale>
        <p:origin x="662" y="53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font" Target="fonts/font12.fntdata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6.xml"/><Relationship Id="rId34" Type="http://schemas.openxmlformats.org/officeDocument/2006/relationships/font" Target="fonts/font7.fntdata"/><Relationship Id="rId42" Type="http://schemas.openxmlformats.org/officeDocument/2006/relationships/theme" Target="theme/theme1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font" Target="fonts/font6.fntdata"/><Relationship Id="rId38" Type="http://schemas.openxmlformats.org/officeDocument/2006/relationships/font" Target="fonts/font11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font" Target="fonts/font2.fntdata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font" Target="fonts/font5.fntdata"/><Relationship Id="rId37" Type="http://schemas.openxmlformats.org/officeDocument/2006/relationships/font" Target="fonts/font10.fntdata"/><Relationship Id="rId40" Type="http://schemas.openxmlformats.org/officeDocument/2006/relationships/presProps" Target="presProp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font" Target="fonts/font1.fntdata"/><Relationship Id="rId36" Type="http://schemas.openxmlformats.org/officeDocument/2006/relationships/font" Target="fonts/font9.fntdata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font" Target="fonts/font4.fntdata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font" Target="fonts/font8.fntdata"/><Relationship Id="rId43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view3D>
      <c:rotX val="5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7.8257191201353632E-2"/>
          <c:y val="9.6570096570096575E-2"/>
          <c:w val="0.80227010805121446"/>
          <c:h val="0.86679986679986687"/>
        </c:manualLayout>
      </c:layout>
      <c:pie3D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  <a:sp3d/>
            </c:spPr>
            <c:extLst>
              <c:ext xmlns:c16="http://schemas.microsoft.com/office/drawing/2014/chart" uri="{C3380CC4-5D6E-409C-BE32-E72D297353CC}">
                <c16:uniqueId val="{00000001-473C-4B90-8980-9848B3D83B2A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  <a:sp3d/>
            </c:spPr>
            <c:extLst>
              <c:ext xmlns:c16="http://schemas.microsoft.com/office/drawing/2014/chart" uri="{C3380CC4-5D6E-409C-BE32-E72D297353CC}">
                <c16:uniqueId val="{00000003-473C-4B90-8980-9848B3D83B2A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  <a:sp3d/>
            </c:spPr>
            <c:extLst>
              <c:ext xmlns:c16="http://schemas.microsoft.com/office/drawing/2014/chart" uri="{C3380CC4-5D6E-409C-BE32-E72D297353CC}">
                <c16:uniqueId val="{00000005-473C-4B90-8980-9848B3D83B2A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  <a:sp3d/>
            </c:spPr>
            <c:extLst>
              <c:ext xmlns:c16="http://schemas.microsoft.com/office/drawing/2014/chart" uri="{C3380CC4-5D6E-409C-BE32-E72D297353CC}">
                <c16:uniqueId val="{00000007-473C-4B90-8980-9848B3D83B2A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  <a:sp3d/>
            </c:spPr>
            <c:extLst>
              <c:ext xmlns:c16="http://schemas.microsoft.com/office/drawing/2014/chart" uri="{C3380CC4-5D6E-409C-BE32-E72D297353CC}">
                <c16:uniqueId val="{00000009-473C-4B90-8980-9848B3D83B2A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  <a:sp3d/>
            </c:spPr>
            <c:extLst>
              <c:ext xmlns:c16="http://schemas.microsoft.com/office/drawing/2014/chart" uri="{C3380CC4-5D6E-409C-BE32-E72D297353CC}">
                <c16:uniqueId val="{0000000B-473C-4B90-8980-9848B3D83B2A}"/>
              </c:ext>
            </c:extLst>
          </c:dPt>
          <c:dLbls>
            <c:dLbl>
              <c:idx val="3"/>
              <c:layout>
                <c:manualLayout>
                  <c:x val="-6.3408975845024487E-2"/>
                  <c:y val="-4.2221557969589499E-2"/>
                </c:manualLayout>
              </c:layout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473C-4B90-8980-9848B3D83B2A}"/>
                </c:ext>
              </c:extLst>
            </c:dLbl>
            <c:dLbl>
              <c:idx val="4"/>
              <c:layout>
                <c:manualLayout>
                  <c:x val="1.682054971554874E-3"/>
                  <c:y val="-4.4975234739014269E-2"/>
                </c:manualLayout>
              </c:layout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473C-4B90-8980-9848B3D83B2A}"/>
                </c:ext>
              </c:extLst>
            </c:dLbl>
            <c:dLbl>
              <c:idx val="5"/>
              <c:layout>
                <c:manualLayout>
                  <c:x val="0.14593825359393528"/>
                  <c:y val="-9.5476701775914531E-3"/>
                </c:manualLayout>
              </c:layout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473C-4B90-8980-9848B3D83B2A}"/>
                </c:ext>
              </c:extLst>
            </c:dLbl>
            <c:spPr>
              <a:pattFill prst="pct75">
                <a:fgClr>
                  <a:schemeClr val="dk1">
                    <a:lumMod val="75000"/>
                    <a:lumOff val="25000"/>
                  </a:schemeClr>
                </a:fgClr>
                <a:bgClr>
                  <a:schemeClr val="dk1">
                    <a:lumMod val="65000"/>
                    <a:lumOff val="35000"/>
                  </a:schemeClr>
                </a:bgClr>
              </a:patt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ctr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>
                  <a:solidFill>
                    <a:schemeClr val="dk1">
                      <a:lumMod val="50000"/>
                      <a:lumOff val="50000"/>
                    </a:schemeClr>
                  </a:solidFill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Fonds!$F$14:$F$19</c:f>
              <c:strCache>
                <c:ptCount val="6"/>
                <c:pt idx="0">
                  <c:v>OMS</c:v>
                </c:pt>
                <c:pt idx="1">
                  <c:v>GAVI</c:v>
                </c:pt>
                <c:pt idx="2">
                  <c:v>Unicef</c:v>
                </c:pt>
                <c:pt idx="3">
                  <c:v>VR</c:v>
                </c:pt>
                <c:pt idx="4">
                  <c:v>APEC</c:v>
                </c:pt>
                <c:pt idx="5">
                  <c:v>CHAI</c:v>
                </c:pt>
              </c:strCache>
            </c:strRef>
          </c:cat>
          <c:val>
            <c:numRef>
              <c:f>Fonds!$G$14:$G$19</c:f>
              <c:numCache>
                <c:formatCode>0%</c:formatCode>
                <c:ptCount val="6"/>
                <c:pt idx="0">
                  <c:v>0.4334367894664628</c:v>
                </c:pt>
                <c:pt idx="1">
                  <c:v>0.3505778597749814</c:v>
                </c:pt>
                <c:pt idx="2">
                  <c:v>0.14915078991728409</c:v>
                </c:pt>
                <c:pt idx="3">
                  <c:v>4.780359382962876E-2</c:v>
                </c:pt>
                <c:pt idx="4">
                  <c:v>1.8194865047630248E-2</c:v>
                </c:pt>
                <c:pt idx="5">
                  <c:v>8.3610196401270138E-4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473C-4B90-8980-9848B3D83B2A}"/>
            </c:ext>
          </c:extLst>
        </c:ser>
        <c:dLbls>
          <c:dLblPos val="ctr"/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3DChart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86119837646269182"/>
          <c:y val="9.165716173590191E-2"/>
          <c:w val="0.12611110913138071"/>
          <c:h val="0.82001567985819956"/>
        </c:manualLayout>
      </c:layout>
      <c:overlay val="0"/>
      <c:spPr>
        <a:solidFill>
          <a:srgbClr val="FFFFFF"/>
        </a:solidFill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1" i="0" u="none" strike="noStrike" kern="1200" baseline="0">
              <a:solidFill>
                <a:schemeClr val="dk1">
                  <a:lumMod val="75000"/>
                  <a:lumOff val="2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 flip="none" rotWithShape="1">
      <a:gsLst>
        <a:gs pos="0">
          <a:schemeClr val="lt1"/>
        </a:gs>
        <a:gs pos="39000">
          <a:schemeClr val="lt1"/>
        </a:gs>
        <a:gs pos="100000">
          <a:schemeClr val="lt1">
            <a:lumMod val="75000"/>
          </a:schemeClr>
        </a:gs>
      </a:gsLst>
      <a:path path="circle">
        <a:fillToRect l="50000" t="-80000" r="50000" b="180000"/>
      </a:path>
      <a:tileRect/>
    </a:gradFill>
    <a:ln w="9525" cap="flat" cmpd="sng" algn="ctr">
      <a:solidFill>
        <a:schemeClr val="dk1">
          <a:lumMod val="25000"/>
          <a:lumOff val="75000"/>
        </a:schemeClr>
      </a:solidFill>
      <a:round/>
    </a:ln>
    <a:effectLst/>
  </c:spPr>
  <c:txPr>
    <a:bodyPr/>
    <a:lstStyle/>
    <a:p>
      <a:pPr>
        <a:defRPr/>
      </a:pPr>
      <a:endParaRPr lang="fr-FR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view3D>
      <c:rotX val="50"/>
      <c:rotY val="0"/>
      <c:depthPercent val="100"/>
      <c:rAngAx val="0"/>
      <c:perspective val="6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pie3D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20000"/>
                  </a:prstClr>
                </a:outerShdw>
              </a:effectLst>
              <a:scene3d>
                <a:camera prst="orthographicFront"/>
                <a:lightRig rig="threePt" dir="t"/>
              </a:scene3d>
              <a:sp3d prstMaterial="matte"/>
            </c:spPr>
            <c:extLst>
              <c:ext xmlns:c16="http://schemas.microsoft.com/office/drawing/2014/chart" uri="{C3380CC4-5D6E-409C-BE32-E72D297353CC}">
                <c16:uniqueId val="{00000001-4021-4DDF-81C6-0E4D482EBB5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20000"/>
                  </a:prstClr>
                </a:outerShdw>
              </a:effectLst>
              <a:scene3d>
                <a:camera prst="orthographicFront"/>
                <a:lightRig rig="threePt" dir="t"/>
              </a:scene3d>
              <a:sp3d prstMaterial="matte"/>
            </c:spPr>
            <c:extLst>
              <c:ext xmlns:c16="http://schemas.microsoft.com/office/drawing/2014/chart" uri="{C3380CC4-5D6E-409C-BE32-E72D297353CC}">
                <c16:uniqueId val="{00000003-4021-4DDF-81C6-0E4D482EBB5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20000"/>
                  </a:prstClr>
                </a:outerShdw>
              </a:effectLst>
              <a:scene3d>
                <a:camera prst="orthographicFront"/>
                <a:lightRig rig="threePt" dir="t"/>
              </a:scene3d>
              <a:sp3d prstMaterial="matte"/>
            </c:spPr>
            <c:extLst>
              <c:ext xmlns:c16="http://schemas.microsoft.com/office/drawing/2014/chart" uri="{C3380CC4-5D6E-409C-BE32-E72D297353CC}">
                <c16:uniqueId val="{00000005-4021-4DDF-81C6-0E4D482EBB52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20000"/>
                  </a:prstClr>
                </a:outerShdw>
              </a:effectLst>
              <a:scene3d>
                <a:camera prst="orthographicFront"/>
                <a:lightRig rig="threePt" dir="t"/>
              </a:scene3d>
              <a:sp3d prstMaterial="matte"/>
            </c:spPr>
            <c:extLst>
              <c:ext xmlns:c16="http://schemas.microsoft.com/office/drawing/2014/chart" uri="{C3380CC4-5D6E-409C-BE32-E72D297353CC}">
                <c16:uniqueId val="{00000007-4021-4DDF-81C6-0E4D482EBB52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20000"/>
                  </a:prstClr>
                </a:outerShdw>
              </a:effectLst>
              <a:scene3d>
                <a:camera prst="orthographicFront"/>
                <a:lightRig rig="threePt" dir="t"/>
              </a:scene3d>
              <a:sp3d prstMaterial="matte"/>
            </c:spPr>
            <c:extLst>
              <c:ext xmlns:c16="http://schemas.microsoft.com/office/drawing/2014/chart" uri="{C3380CC4-5D6E-409C-BE32-E72D297353CC}">
                <c16:uniqueId val="{00000009-4021-4DDF-81C6-0E4D482EBB52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20000"/>
                  </a:prstClr>
                </a:outerShdw>
              </a:effectLst>
              <a:scene3d>
                <a:camera prst="orthographicFront"/>
                <a:lightRig rig="threePt" dir="t"/>
              </a:scene3d>
              <a:sp3d prstMaterial="matte"/>
            </c:spPr>
            <c:extLst>
              <c:ext xmlns:c16="http://schemas.microsoft.com/office/drawing/2014/chart" uri="{C3380CC4-5D6E-409C-BE32-E72D297353CC}">
                <c16:uniqueId val="{0000000B-4021-4DDF-81C6-0E4D482EBB52}"/>
              </c:ext>
            </c:extLst>
          </c:dPt>
          <c:dLbls>
            <c:dLbl>
              <c:idx val="3"/>
              <c:layout>
                <c:manualLayout>
                  <c:x val="-5.2259107184215135E-2"/>
                  <c:y val="-8.4773932791015041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9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4021-4DDF-81C6-0E4D482EBB52}"/>
                </c:ext>
              </c:extLst>
            </c:dLbl>
            <c:dLbl>
              <c:idx val="5"/>
              <c:layout>
                <c:manualLayout>
                  <c:x val="0.22179902952590141"/>
                  <c:y val="-1.0223014275154563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9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4021-4DDF-81C6-0E4D482EBB5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inEnd"/>
            <c:showLegendKey val="0"/>
            <c:showVal val="0"/>
            <c:showCatName val="1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dk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Feuil7!$K$21:$K$26</c:f>
              <c:strCache>
                <c:ptCount val="6"/>
                <c:pt idx="0">
                  <c:v>AVS</c:v>
                </c:pt>
                <c:pt idx="1">
                  <c:v>PEV Routine</c:v>
                </c:pt>
                <c:pt idx="2">
                  <c:v>Logistique</c:v>
                </c:pt>
                <c:pt idx="3">
                  <c:v>Surveillance</c:v>
                </c:pt>
                <c:pt idx="4">
                  <c:v>Management et Renforc Capacité</c:v>
                </c:pt>
                <c:pt idx="5">
                  <c:v>Generation de la Demande</c:v>
                </c:pt>
              </c:strCache>
            </c:strRef>
          </c:cat>
          <c:val>
            <c:numRef>
              <c:f>Feuil7!$L$21:$L$26</c:f>
              <c:numCache>
                <c:formatCode>0%</c:formatCode>
                <c:ptCount val="6"/>
                <c:pt idx="0">
                  <c:v>0.41848955270688776</c:v>
                </c:pt>
                <c:pt idx="1">
                  <c:v>0.34456006948527973</c:v>
                </c:pt>
                <c:pt idx="2">
                  <c:v>0.11200029891410875</c:v>
                </c:pt>
                <c:pt idx="3">
                  <c:v>5.1463147810576662E-2</c:v>
                </c:pt>
                <c:pt idx="4">
                  <c:v>5.4455964071504173E-2</c:v>
                </c:pt>
                <c:pt idx="5">
                  <c:v>1.903096701164295E-2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4021-4DDF-81C6-0E4D482EBB52}"/>
            </c:ext>
          </c:extLst>
        </c:ser>
        <c:dLbls>
          <c:dLblPos val="inEnd"/>
          <c:showLegendKey val="0"/>
          <c:showVal val="0"/>
          <c:showCatName val="1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pattFill prst="dkDnDiag">
      <a:fgClr>
        <a:schemeClr val="lt1">
          <a:lumMod val="95000"/>
        </a:schemeClr>
      </a:fgClr>
      <a:bgClr>
        <a:schemeClr val="lt1"/>
      </a:bgClr>
    </a:pattFill>
    <a:ln w="9525" cap="flat" cmpd="sng" algn="ctr">
      <a:solidFill>
        <a:schemeClr val="dk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fr-FR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0"/>
          <c:cat>
            <c:strRef>
              <c:f>Feuil6!$M$18:$M$23</c:f>
              <c:strCache>
                <c:ptCount val="6"/>
                <c:pt idx="0">
                  <c:v>% EZD penta1 vaccinés</c:v>
                </c:pt>
                <c:pt idx="1">
                  <c:v>% SV PENTA3 vaccinés</c:v>
                </c:pt>
                <c:pt idx="2">
                  <c:v>% SV vaccinés en VPI1</c:v>
                </c:pt>
                <c:pt idx="3">
                  <c:v>% SV vaccinés en VPI2</c:v>
                </c:pt>
                <c:pt idx="4">
                  <c:v>% SV vaccinés en VAR1</c:v>
                </c:pt>
                <c:pt idx="5">
                  <c:v>% SV vaccinés en VAR2</c:v>
                </c:pt>
              </c:strCache>
            </c:strRef>
          </c:cat>
          <c:val>
            <c:numRef>
              <c:f>Feuil6!$N$18:$N$23</c:f>
              <c:numCache>
                <c:formatCode>General</c:formatCode>
                <c:ptCount val="6"/>
              </c:numCache>
            </c:numRef>
          </c:val>
          <c:extLst>
            <c:ext xmlns:c16="http://schemas.microsoft.com/office/drawing/2014/chart" uri="{C3380CC4-5D6E-409C-BE32-E72D297353CC}">
              <c16:uniqueId val="{00000000-CBE8-4BDA-8707-8BB4A744D67A}"/>
            </c:ext>
          </c:extLst>
        </c:ser>
        <c:ser>
          <c:idx val="1"/>
          <c:order val="1"/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dLbls>
            <c:spPr>
              <a:solidFill>
                <a:sysClr val="window" lastClr="FFFFFF"/>
              </a:solidFill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Feuil6!$M$18:$M$23</c:f>
              <c:strCache>
                <c:ptCount val="6"/>
                <c:pt idx="0">
                  <c:v>% EZD penta1 vaccinés</c:v>
                </c:pt>
                <c:pt idx="1">
                  <c:v>% SV PENTA3 vaccinés</c:v>
                </c:pt>
                <c:pt idx="2">
                  <c:v>% SV vaccinés en VPI1</c:v>
                </c:pt>
                <c:pt idx="3">
                  <c:v>% SV vaccinés en VPI2</c:v>
                </c:pt>
                <c:pt idx="4">
                  <c:v>% SV vaccinés en VAR1</c:v>
                </c:pt>
                <c:pt idx="5">
                  <c:v>% SV vaccinés en VAR2</c:v>
                </c:pt>
              </c:strCache>
            </c:strRef>
          </c:cat>
          <c:val>
            <c:numRef>
              <c:f>Feuil6!$O$18:$O$23</c:f>
              <c:numCache>
                <c:formatCode>0%</c:formatCode>
                <c:ptCount val="6"/>
                <c:pt idx="0">
                  <c:v>1.0201793374734789</c:v>
                </c:pt>
                <c:pt idx="1">
                  <c:v>0.87581451037277525</c:v>
                </c:pt>
                <c:pt idx="2">
                  <c:v>0.41816904975708596</c:v>
                </c:pt>
                <c:pt idx="3">
                  <c:v>0.41404756970827289</c:v>
                </c:pt>
                <c:pt idx="4">
                  <c:v>0.41451958278648893</c:v>
                </c:pt>
                <c:pt idx="5">
                  <c:v>0.49402500518063136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BE8-4BDA-8707-8BB4A744D67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622335200"/>
        <c:axId val="622329440"/>
        <c:axId val="0"/>
      </c:bar3DChart>
      <c:catAx>
        <c:axId val="6223352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622329440"/>
        <c:crosses val="autoZero"/>
        <c:auto val="1"/>
        <c:lblAlgn val="ctr"/>
        <c:lblOffset val="100"/>
        <c:noMultiLvlLbl val="0"/>
      </c:catAx>
      <c:valAx>
        <c:axId val="62232944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62233520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64">
  <cs:axisTitle>
    <cs:lnRef idx="0"/>
    <cs:fillRef idx="0"/>
    <cs:effectRef idx="0"/>
    <cs:fontRef idx="minor">
      <a:schemeClr val="dk1">
        <a:lumMod val="75000"/>
        <a:lumOff val="25000"/>
      </a:schemeClr>
    </cs:fontRef>
    <cs:defRPr sz="900" b="1" kern="1200"/>
  </cs:axisTitle>
  <cs:categoryAxis>
    <cs:lnRef idx="0"/>
    <cs:fillRef idx="0"/>
    <cs:effectRef idx="0"/>
    <cs:fontRef idx="minor">
      <a:schemeClr val="dk1">
        <a:lumMod val="75000"/>
        <a:lumOff val="25000"/>
      </a:schemeClr>
    </cs:fontRef>
    <cs:spPr>
      <a:ln w="190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900" kern="1200" cap="all" baseline="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lt1"/>
          </a:gs>
          <a:gs pos="39000">
            <a:schemeClr val="lt1"/>
          </a:gs>
          <a:gs pos="100000">
            <a:schemeClr val="lt1">
              <a:lumMod val="75000"/>
            </a:schemeClr>
          </a:gs>
        </a:gsLst>
        <a:path path="circle">
          <a:fillToRect l="50000" t="-80000" r="50000" b="180000"/>
        </a:path>
        <a:tileRect/>
      </a:gradFill>
      <a:ln w="9525" cap="flat" cmpd="sng" algn="ctr">
        <a:solidFill>
          <a:schemeClr val="dk1">
            <a:lumMod val="25000"/>
            <a:lumOff val="7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lt1"/>
    </cs:fontRef>
    <cs:spPr>
      <a:pattFill prst="pct75">
        <a:fgClr>
          <a:schemeClr val="dk1">
            <a:lumMod val="75000"/>
            <a:lumOff val="25000"/>
          </a:schemeClr>
        </a:fgClr>
        <a:bgClr>
          <a:schemeClr val="dk1">
            <a:lumMod val="65000"/>
            <a:lumOff val="35000"/>
          </a:schemeClr>
        </a:bgClr>
      </a:pattFill>
      <a:effectLst>
        <a:outerShdw blurRad="50800" dist="38100" dir="2700000" algn="tl" rotWithShape="0">
          <a:prstClr val="black">
            <a:alpha val="40000"/>
          </a:prstClr>
        </a:outerShdw>
      </a:effectLst>
    </cs:spPr>
    <cs:defRPr sz="1000" b="1" i="0" u="none" strike="noStrike" kern="1200" baseline="0"/>
  </cs:dataLabel>
  <cs:dataLabelCallout>
    <cs:lnRef idx="0"/>
    <cs:fillRef idx="0"/>
    <cs:effectRef idx="0"/>
    <cs:fontRef idx="minor">
      <a:schemeClr val="lt1"/>
    </cs:fontRef>
    <cs:spPr>
      <a:pattFill prst="pct75">
        <a:fgClr>
          <a:schemeClr val="dk1">
            <a:lumMod val="75000"/>
            <a:lumOff val="25000"/>
          </a:schemeClr>
        </a:fgClr>
        <a:bgClr>
          <a:schemeClr val="dk1">
            <a:lumMod val="65000"/>
            <a:lumOff val="35000"/>
          </a:schemeClr>
        </a:bgClr>
      </a:pattFill>
      <a:effectLst>
        <a:outerShdw blurRad="50800" dist="38100" dir="2700000" algn="tl" rotWithShape="0">
          <a:prstClr val="black">
            <a:alpha val="40000"/>
          </a:prstClr>
        </a:outerShdw>
      </a:effectLst>
    </cs:spPr>
    <cs:defRPr sz="1000" b="1" i="0" u="none" strike="noStrike" kern="1200" baseline="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254000" sx="102000" sy="102000" algn="ctr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254000" sx="102000" sy="102000" algn="ctr" rotWithShape="0">
          <a:prstClr val="black">
            <a:alpha val="20000"/>
          </a:prstClr>
        </a:outerShdw>
      </a:effectLst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31750" cap="rnd">
        <a:solidFill>
          <a:schemeClr val="phClr">
            <a:alpha val="85000"/>
          </a:schemeClr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75000"/>
        <a:lumOff val="25000"/>
      </a:schemeClr>
    </cs:fontRef>
    <cs:spPr>
      <a:ln w="9525">
        <a:solidFill>
          <a:schemeClr val="dk1">
            <a:lumMod val="35000"/>
            <a:lumOff val="6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50000"/>
          <a:lumOff val="50000"/>
        </a:schemeClr>
      </a:solidFill>
      <a:ln w="9525">
        <a:solidFill>
          <a:schemeClr val="dk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leaderLine>
  <cs:legend>
    <cs:lnRef idx="0"/>
    <cs:fillRef idx="0"/>
    <cs:effectRef idx="0"/>
    <cs:fontRef idx="minor">
      <a:schemeClr val="dk1">
        <a:lumMod val="75000"/>
        <a:lumOff val="25000"/>
      </a:schemeClr>
    </cs:fontRef>
    <cs:spPr>
      <a:solidFill>
        <a:schemeClr val="lt1">
          <a:lumMod val="95000"/>
          <a:alpha val="39000"/>
        </a:schemeClr>
      </a:solidFill>
    </cs:spPr>
    <cs:defRPr sz="900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75000"/>
        <a:lumOff val="25000"/>
      </a:schemeClr>
    </cs:fontRef>
    <cs:spPr>
      <a:ln w="317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75000"/>
        <a:lumOff val="25000"/>
      </a:schemeClr>
    </cs:fontRef>
    <cs:defRPr sz="1800" b="1" kern="120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75000"/>
        <a:lumOff val="2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dk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dk1">
        <a:lumMod val="75000"/>
        <a:lumOff val="25000"/>
      </a:schemeClr>
    </cs:fontRef>
    <cs:spPr>
      <a:ln>
        <a:noFill/>
      </a:ln>
    </cs:spPr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61">
  <cs:axisTitle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categoryAxis>
  <cs:chartArea>
    <cs:lnRef idx="0"/>
    <cs:fillRef idx="0"/>
    <cs:effectRef idx="0"/>
    <cs:fontRef idx="minor">
      <a:schemeClr val="dk1"/>
    </cs:fontRef>
    <cs:spPr>
      <a:pattFill prst="dkDnDiag">
        <a:fgClr>
          <a:schemeClr val="lt1">
            <a:lumMod val="95000"/>
          </a:schemeClr>
        </a:fgClr>
        <a:bgClr>
          <a:schemeClr val="lt1"/>
        </a:bgClr>
      </a:pattFill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lt1"/>
    </cs:fontRef>
    <cs:defRPr sz="900" b="1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>
          <a:alpha val="75000"/>
        </a:schemeClr>
      </a:solidFill>
      <a:ln w="9525"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317500" algn="ctr" rotWithShape="0">
          <a:prstClr val="black">
            <a:alpha val="25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88900" sx="102000" sy="102000" algn="ctr" rotWithShape="0">
          <a:prstClr val="black">
            <a:alpha val="20000"/>
          </a:prstClr>
        </a:outerShdw>
      </a:effectLst>
      <a:scene3d>
        <a:camera prst="orthographicFront"/>
        <a:lightRig rig="threePt" dir="t"/>
      </a:scene3d>
      <a:sp3d prstMaterial="matte"/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noFill/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dk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>
          <a:alpha val="78000"/>
        </a:schemeClr>
      </a:solidFill>
    </cs:spPr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65000"/>
        <a:lumOff val="35000"/>
      </a:schemeClr>
    </cs:fontRef>
    <cs:defRPr sz="1800" b="1" kern="120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dk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CD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aabc9d920d_0_1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2738" y="652463"/>
            <a:ext cx="5805487" cy="32670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chemeClr val="l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fr-CD"/>
          </a:p>
        </p:txBody>
      </p:sp>
      <p:sp>
        <p:nvSpPr>
          <p:cNvPr id="145" name="Google Shape;145;g3aabc9d920d_0_191:notes"/>
          <p:cNvSpPr txBox="1">
            <a:spLocks noGrp="1"/>
          </p:cNvSpPr>
          <p:nvPr>
            <p:ph type="body" idx="1"/>
          </p:nvPr>
        </p:nvSpPr>
        <p:spPr>
          <a:xfrm>
            <a:off x="642938" y="4136571"/>
            <a:ext cx="5143500" cy="391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275" tIns="86275" rIns="86275" bIns="862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 panose="020B0604020202020204"/>
              <a:buNone/>
            </a:pPr>
            <a:endParaRPr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aabc9d920d_0_1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CD"/>
          </a:p>
        </p:txBody>
      </p:sp>
      <p:sp>
        <p:nvSpPr>
          <p:cNvPr id="154" name="Google Shape;154;g3aabc9d920d_0_1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550" tIns="91550" rIns="91550" bIns="915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aabc9d920d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CD"/>
          </a:p>
        </p:txBody>
      </p:sp>
      <p:sp>
        <p:nvSpPr>
          <p:cNvPr id="163" name="Google Shape;163;g3aabc9d920d_0_2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550" tIns="91550" rIns="91550" bIns="915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aabc9d920d_0_2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CD"/>
          </a:p>
        </p:txBody>
      </p:sp>
      <p:sp>
        <p:nvSpPr>
          <p:cNvPr id="174" name="Google Shape;174;g3aabc9d920d_0_2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550" tIns="91550" rIns="91550" bIns="915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>
          <a:extLst>
            <a:ext uri="{FF2B5EF4-FFF2-40B4-BE49-F238E27FC236}">
              <a16:creationId xmlns:a16="http://schemas.microsoft.com/office/drawing/2014/main" id="{6CD0A234-2E33-48C4-0812-0024C35FA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aabc9d920d_0_226:notes">
            <a:extLst>
              <a:ext uri="{FF2B5EF4-FFF2-40B4-BE49-F238E27FC236}">
                <a16:creationId xmlns:a16="http://schemas.microsoft.com/office/drawing/2014/main" id="{531862CB-917C-0FC2-60BF-4DBC824030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CD"/>
          </a:p>
        </p:txBody>
      </p:sp>
      <p:sp>
        <p:nvSpPr>
          <p:cNvPr id="174" name="Google Shape;174;g3aabc9d920d_0_226:notes">
            <a:extLst>
              <a:ext uri="{FF2B5EF4-FFF2-40B4-BE49-F238E27FC236}">
                <a16:creationId xmlns:a16="http://schemas.microsoft.com/office/drawing/2014/main" id="{7B88D5CA-9B6A-B498-E1E9-DBD4898C3E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550" tIns="91550" rIns="91550" bIns="915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31875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aabc9d920d_0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CD"/>
          </a:p>
        </p:txBody>
      </p:sp>
      <p:sp>
        <p:nvSpPr>
          <p:cNvPr id="234" name="Google Shape;234;g3aabc9d920d_0_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550" tIns="91550" rIns="91550" bIns="915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aabc9d920d_0_3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CD"/>
          </a:p>
        </p:txBody>
      </p:sp>
      <p:sp>
        <p:nvSpPr>
          <p:cNvPr id="184" name="Google Shape;184;g3aabc9d920d_0_3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550" tIns="91550" rIns="91550" bIns="915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>
          <a:extLst>
            <a:ext uri="{FF2B5EF4-FFF2-40B4-BE49-F238E27FC236}">
              <a16:creationId xmlns:a16="http://schemas.microsoft.com/office/drawing/2014/main" id="{0C787CE9-FF71-081F-0D99-96CDFC36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aabc9d920d_0_390:notes">
            <a:extLst>
              <a:ext uri="{FF2B5EF4-FFF2-40B4-BE49-F238E27FC236}">
                <a16:creationId xmlns:a16="http://schemas.microsoft.com/office/drawing/2014/main" id="{BC3D509A-5B73-A98F-5F1B-5BBE3C1BE1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CD"/>
          </a:p>
        </p:txBody>
      </p:sp>
      <p:sp>
        <p:nvSpPr>
          <p:cNvPr id="184" name="Google Shape;184;g3aabc9d920d_0_390:notes">
            <a:extLst>
              <a:ext uri="{FF2B5EF4-FFF2-40B4-BE49-F238E27FC236}">
                <a16:creationId xmlns:a16="http://schemas.microsoft.com/office/drawing/2014/main" id="{BB554F28-C1E5-D22C-B4E8-30B6924DEC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550" tIns="91550" rIns="91550" bIns="915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5476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>
          <a:extLst>
            <a:ext uri="{FF2B5EF4-FFF2-40B4-BE49-F238E27FC236}">
              <a16:creationId xmlns:a16="http://schemas.microsoft.com/office/drawing/2014/main" id="{358E5DA9-1A3C-4408-C44F-62D341824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aabc9d920d_0_390:notes">
            <a:extLst>
              <a:ext uri="{FF2B5EF4-FFF2-40B4-BE49-F238E27FC236}">
                <a16:creationId xmlns:a16="http://schemas.microsoft.com/office/drawing/2014/main" id="{6B612C93-F69C-33BC-6480-7B138CEACA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CD"/>
          </a:p>
        </p:txBody>
      </p:sp>
      <p:sp>
        <p:nvSpPr>
          <p:cNvPr id="184" name="Google Shape;184;g3aabc9d920d_0_390:notes">
            <a:extLst>
              <a:ext uri="{FF2B5EF4-FFF2-40B4-BE49-F238E27FC236}">
                <a16:creationId xmlns:a16="http://schemas.microsoft.com/office/drawing/2014/main" id="{B21717B8-201E-1C33-AAF9-93B3911A21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550" tIns="91550" rIns="91550" bIns="915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69267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>
          <a:extLst>
            <a:ext uri="{FF2B5EF4-FFF2-40B4-BE49-F238E27FC236}">
              <a16:creationId xmlns:a16="http://schemas.microsoft.com/office/drawing/2014/main" id="{CC6938EF-FCBF-E88D-C041-5CB6DBFE8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aabc9d920d_0_390:notes">
            <a:extLst>
              <a:ext uri="{FF2B5EF4-FFF2-40B4-BE49-F238E27FC236}">
                <a16:creationId xmlns:a16="http://schemas.microsoft.com/office/drawing/2014/main" id="{801752A4-4FC0-5547-2146-A9B463145A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CD"/>
          </a:p>
        </p:txBody>
      </p:sp>
      <p:sp>
        <p:nvSpPr>
          <p:cNvPr id="184" name="Google Shape;184;g3aabc9d920d_0_390:notes">
            <a:extLst>
              <a:ext uri="{FF2B5EF4-FFF2-40B4-BE49-F238E27FC236}">
                <a16:creationId xmlns:a16="http://schemas.microsoft.com/office/drawing/2014/main" id="{4AB20781-4C88-CF1F-9295-D1C2D37E46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550" tIns="91550" rIns="91550" bIns="915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081159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g390345cf17d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65" name="Google Shape;465;g390345cf17d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aabc9d920d_0_4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CD"/>
          </a:p>
        </p:txBody>
      </p:sp>
      <p:sp>
        <p:nvSpPr>
          <p:cNvPr id="214" name="Google Shape;214;g3aabc9d920d_0_4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550" tIns="91550" rIns="91550" bIns="915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aabc9d920d_0_2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CD"/>
          </a:p>
        </p:txBody>
      </p:sp>
      <p:sp>
        <p:nvSpPr>
          <p:cNvPr id="224" name="Google Shape;224;g3aabc9d920d_0_2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550" tIns="91550" rIns="91550" bIns="915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>
          <a:extLst>
            <a:ext uri="{FF2B5EF4-FFF2-40B4-BE49-F238E27FC236}">
              <a16:creationId xmlns:a16="http://schemas.microsoft.com/office/drawing/2014/main" id="{E25963CB-3521-E191-2B91-878435C3B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aabc9d920d_0_234:notes">
            <a:extLst>
              <a:ext uri="{FF2B5EF4-FFF2-40B4-BE49-F238E27FC236}">
                <a16:creationId xmlns:a16="http://schemas.microsoft.com/office/drawing/2014/main" id="{445B87EE-0E16-A2AF-7423-CAC38982AA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CD"/>
          </a:p>
        </p:txBody>
      </p:sp>
      <p:sp>
        <p:nvSpPr>
          <p:cNvPr id="234" name="Google Shape;234;g3aabc9d920d_0_234:notes">
            <a:extLst>
              <a:ext uri="{FF2B5EF4-FFF2-40B4-BE49-F238E27FC236}">
                <a16:creationId xmlns:a16="http://schemas.microsoft.com/office/drawing/2014/main" id="{7C8F0AE1-5E73-620D-4A5E-F12110553A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550" tIns="91550" rIns="91550" bIns="915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842661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aabc9d920d_0_4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CD"/>
          </a:p>
        </p:txBody>
      </p:sp>
      <p:sp>
        <p:nvSpPr>
          <p:cNvPr id="243" name="Google Shape;243;g3aabc9d920d_0_4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550" tIns="91550" rIns="91550" bIns="915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aabc9d920d_0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CD"/>
          </a:p>
        </p:txBody>
      </p:sp>
      <p:sp>
        <p:nvSpPr>
          <p:cNvPr id="263" name="Google Shape;263;g3aabc9d920d_0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550" tIns="91550" rIns="91550" bIns="915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3aabc9d920d_0_2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CD"/>
          </a:p>
        </p:txBody>
      </p:sp>
      <p:sp>
        <p:nvSpPr>
          <p:cNvPr id="272" name="Google Shape;272;g3aabc9d920d_0_2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550" tIns="91550" rIns="91550" bIns="915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Diapositive de titre">
  <p:cSld name="1_Diapositive de titr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>
            <a:spLocks noGrp="1"/>
          </p:cNvSpPr>
          <p:nvPr>
            <p:ph type="ctrTitle"/>
          </p:nvPr>
        </p:nvSpPr>
        <p:spPr>
          <a:xfrm>
            <a:off x="3385430" y="3768780"/>
            <a:ext cx="8572500" cy="2341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A3041"/>
              </a:buClr>
              <a:buSzPts val="3600"/>
              <a:buFont typeface="Play" panose="00000500000000000000"/>
              <a:buNone/>
              <a:defRPr sz="3600">
                <a:solidFill>
                  <a:srgbClr val="0A304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‹N°›</a:t>
            </a:fld>
            <a:endParaRPr lang="en-US"/>
          </a:p>
        </p:txBody>
      </p:sp>
      <p:pic>
        <p:nvPicPr>
          <p:cNvPr id="18" name="Google Shape;18;p17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-23811" y="0"/>
            <a:ext cx="12215811" cy="37179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contenu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ide" type="blank">
  <p:cSld name="BLANK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" type="title">
  <p:cSld name="TITLE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 panose="00000500000000000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2" name="Google Shape;32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de section" type="secHead">
  <p:cSld name="SECTION_HEADER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3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 panose="00000500000000000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23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ux contenus" type="twoObj">
  <p:cSld name="TWO_OBJECTS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24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ison" type="twoTxTwoObj">
  <p:cSld name="TWO_OBJECTS_WITH_TEX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5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5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1" name="Google Shape;51;p25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25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3" name="Google Shape;53;p25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seul" type="titleOnly">
  <p:cSld name="TITLE_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u avec légende" type="objTx">
  <p:cSld name="OBJECT_WITH_CAPTIO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 panose="000005000000000000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7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5" name="Google Shape;65;p27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6" name="Google Shape;66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avec légende" type="picTx">
  <p:cSld name="PICTURE_WITH_CAPTION_TEX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8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 panose="000005000000000000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8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fr-CD"/>
          </a:p>
        </p:txBody>
      </p:sp>
      <p:sp>
        <p:nvSpPr>
          <p:cNvPr id="72" name="Google Shape;72;p28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3" name="Google Shape;73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texte vertical" type="vertTx">
  <p:cSld name="VERTICAL_TEXT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9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9" name="Google Shape;79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vertical et texte" type="vertTitleAndTx">
  <p:cSld name="VERTICAL_TITLE_AND_VERTICAL_TEXT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0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30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5" name="Google Shape;8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aabc9d920d_0_272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94" name="Google Shape;94;g3aabc9d920d_0_272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95" name="Google Shape;95;g3aabc9d920d_0_27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aabc9d920d_0_276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98" name="Google Shape;98;g3aabc9d920d_0_276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aabc9d920d_0_279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g3aabc9d920d_0_279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102" name="Google Shape;102;g3aabc9d920d_0_27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aabc9d920d_0_283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g3aabc9d920d_0_283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106" name="Google Shape;106;g3aabc9d920d_0_283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107" name="Google Shape;107;g3aabc9d920d_0_28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aabc9d920d_0_28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g3aabc9d920d_0_28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aabc9d920d_0_291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113" name="Google Shape;113;g3aabc9d920d_0_291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114" name="Google Shape;114;g3aabc9d920d_0_29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aabc9d920d_0_295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00" cy="54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117" name="Google Shape;117;g3aabc9d920d_0_29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aabc9d920d_0_298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 panose="020B0604020202020204"/>
              <a:buNone/>
            </a:pPr>
            <a:endParaRPr sz="19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20" name="Google Shape;120;g3aabc9d920d_0_298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7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121" name="Google Shape;121;g3aabc9d920d_0_298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700" cy="16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2" name="Google Shape;122;g3aabc9d920d_0_298"/>
          <p:cNvSpPr txBox="1">
            <a:spLocks noGrp="1"/>
          </p:cNvSpPr>
          <p:nvPr>
            <p:ph type="body" idx="2"/>
          </p:nvPr>
        </p:nvSpPr>
        <p:spPr>
          <a:xfrm>
            <a:off x="6586000" y="965433"/>
            <a:ext cx="5115900" cy="49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123" name="Google Shape;123;g3aabc9d920d_0_29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aabc9d920d_0_304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300" cy="80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126" name="Google Shape;126;g3aabc9d920d_0_30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aabc9d920d_0_307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00" cy="261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129" name="Google Shape;129;g3aabc9d920d_0_307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700" cy="1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81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130" name="Google Shape;130;g3aabc9d920d_0_30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aabc9d920d_0_31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contenu" type="obj">
  <p:cSld name="OBJECT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aabc9d920d_0_313"/>
          <p:cNvSpPr txBox="1">
            <a:spLocks noGrp="1"/>
          </p:cNvSpPr>
          <p:nvPr>
            <p:ph type="body" idx="1"/>
          </p:nvPr>
        </p:nvSpPr>
        <p:spPr>
          <a:xfrm>
            <a:off x="609600" y="457200"/>
            <a:ext cx="4876800" cy="571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ctr" anchorCtr="0">
            <a:normAutofit/>
          </a:bodyPr>
          <a:lstStyle>
            <a:lvl1pPr marL="457200" lvl="0" indent="-38100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8100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400"/>
              <a:buChar char="○"/>
              <a:defRPr/>
            </a:lvl2pPr>
            <a:lvl3pPr marL="1371600" lvl="2" indent="-38100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400"/>
              <a:buChar char="■"/>
              <a:defRPr/>
            </a:lvl3pPr>
            <a:lvl4pPr marL="1828800" lvl="3" indent="-38100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400"/>
              <a:buChar char="●"/>
              <a:defRPr/>
            </a:lvl4pPr>
            <a:lvl5pPr marL="2286000" lvl="4" indent="-3492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135" name="Google Shape;135;g3aabc9d920d_0_313"/>
          <p:cNvSpPr txBox="1">
            <a:spLocks noGrp="1"/>
          </p:cNvSpPr>
          <p:nvPr>
            <p:ph type="title"/>
          </p:nvPr>
        </p:nvSpPr>
        <p:spPr>
          <a:xfrm>
            <a:off x="6502400" y="457200"/>
            <a:ext cx="3759300" cy="571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ctr" anchorCtr="0">
            <a:norm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g3aabc9d920d_0_313"/>
          <p:cNvSpPr txBox="1">
            <a:spLocks noGrp="1"/>
          </p:cNvSpPr>
          <p:nvPr>
            <p:ph type="dt" idx="10"/>
          </p:nvPr>
        </p:nvSpPr>
        <p:spPr>
          <a:xfrm>
            <a:off x="6502401" y="6426201"/>
            <a:ext cx="3759300" cy="1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ctr" anchorCtr="0">
            <a:noAutofit/>
          </a:bodyPr>
          <a:lstStyle>
            <a:lvl1pPr marR="0"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 panose="020B0604020202020204"/>
              <a:buNone/>
              <a:defRPr sz="19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 panose="020B0604020202020204"/>
              <a:buNone/>
              <a:defRPr sz="19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 panose="020B0604020202020204"/>
              <a:buNone/>
              <a:defRPr sz="19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 panose="020B0604020202020204"/>
              <a:buNone/>
              <a:defRPr sz="19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 panose="020B0604020202020204"/>
              <a:buNone/>
              <a:defRPr sz="19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 panose="020B0604020202020204"/>
              <a:buNone/>
              <a:defRPr sz="19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 panose="020B0604020202020204"/>
              <a:buNone/>
              <a:defRPr sz="19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 panose="020B0604020202020204"/>
              <a:buNone/>
              <a:defRPr sz="19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 panose="020B0604020202020204"/>
              <a:buNone/>
              <a:defRPr sz="19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137" name="Google Shape;137;g3aabc9d920d_0_313"/>
          <p:cNvSpPr txBox="1">
            <a:spLocks noGrp="1"/>
          </p:cNvSpPr>
          <p:nvPr>
            <p:ph type="sldNum" idx="12"/>
          </p:nvPr>
        </p:nvSpPr>
        <p:spPr>
          <a:xfrm>
            <a:off x="10363200" y="6400800"/>
            <a:ext cx="711300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ctr" anchorCtr="0">
            <a:normAutofit fontScale="25000" lnSpcReduction="20000"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‹N°›</a:t>
            </a:fld>
            <a:endParaRPr lang="en-US"/>
          </a:p>
        </p:txBody>
      </p:sp>
      <p:sp>
        <p:nvSpPr>
          <p:cNvPr id="138" name="Google Shape;138;g3aabc9d920d_0_313"/>
          <p:cNvSpPr txBox="1">
            <a:spLocks noGrp="1"/>
          </p:cNvSpPr>
          <p:nvPr>
            <p:ph type="ftr" idx="11"/>
          </p:nvPr>
        </p:nvSpPr>
        <p:spPr>
          <a:xfrm>
            <a:off x="6500284" y="6296248"/>
            <a:ext cx="3761100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b" anchorCtr="0">
            <a:noAutofit/>
          </a:bodyPr>
          <a:lstStyle>
            <a:lvl1pPr marR="0"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 panose="020B0604020202020204"/>
              <a:buNone/>
              <a:defRPr sz="19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 panose="020B0604020202020204"/>
              <a:buNone/>
              <a:defRPr sz="19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 panose="020B0604020202020204"/>
              <a:buNone/>
              <a:defRPr sz="19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 panose="020B0604020202020204"/>
              <a:buNone/>
              <a:defRPr sz="19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 panose="020B0604020202020204"/>
              <a:buNone/>
              <a:defRPr sz="19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 panose="020B0604020202020204"/>
              <a:buNone/>
              <a:defRPr sz="19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 panose="020B0604020202020204"/>
              <a:buNone/>
              <a:defRPr sz="19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 panose="020B0604020202020204"/>
              <a:buNone/>
              <a:defRPr sz="19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 panose="020B0604020202020204"/>
              <a:buNone/>
              <a:defRPr sz="19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 1 1">
  <p:cSld name="CUSTOM_1_1_1_3_2"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aabc9d920d_0_319"/>
          <p:cNvSpPr txBox="1"/>
          <p:nvPr/>
        </p:nvSpPr>
        <p:spPr>
          <a:xfrm>
            <a:off x="0" y="0"/>
            <a:ext cx="3495900" cy="6858000"/>
          </a:xfrm>
          <a:prstGeom prst="rect">
            <a:avLst/>
          </a:prstGeom>
          <a:solidFill>
            <a:srgbClr val="D9D2E9"/>
          </a:solidFill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g3aabc9d920d_0_319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buNone/>
              <a:defRPr sz="1700"/>
            </a:lvl1pPr>
            <a:lvl2pPr lvl="1">
              <a:buNone/>
              <a:defRPr sz="1700"/>
            </a:lvl2pPr>
            <a:lvl3pPr lvl="2">
              <a:buNone/>
              <a:defRPr sz="1700"/>
            </a:lvl3pPr>
            <a:lvl4pPr lvl="3">
              <a:buNone/>
              <a:defRPr sz="1700"/>
            </a:lvl4pPr>
            <a:lvl5pPr lvl="4">
              <a:buNone/>
              <a:defRPr sz="1700"/>
            </a:lvl5pPr>
            <a:lvl6pPr lvl="5">
              <a:buNone/>
              <a:defRPr sz="1700"/>
            </a:lvl6pPr>
            <a:lvl7pPr lvl="6">
              <a:buNone/>
              <a:defRPr sz="1700"/>
            </a:lvl7pPr>
            <a:lvl8pPr lvl="7">
              <a:buNone/>
              <a:defRPr sz="1700"/>
            </a:lvl8pPr>
            <a:lvl9pPr lvl="8">
              <a:buNone/>
              <a:defRPr sz="17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‹N°›</a:t>
            </a:fld>
            <a:endParaRPr lang="en-US"/>
          </a:p>
        </p:txBody>
      </p:sp>
      <p:sp>
        <p:nvSpPr>
          <p:cNvPr id="142" name="Google Shape;142;g3aabc9d920d_0_319"/>
          <p:cNvSpPr txBox="1">
            <a:spLocks noGrp="1"/>
          </p:cNvSpPr>
          <p:nvPr>
            <p:ph type="title"/>
          </p:nvPr>
        </p:nvSpPr>
        <p:spPr>
          <a:xfrm>
            <a:off x="325667" y="2918467"/>
            <a:ext cx="2844900" cy="763500"/>
          </a:xfrm>
          <a:prstGeom prst="rect">
            <a:avLst/>
          </a:prstGeom>
        </p:spPr>
        <p:txBody>
          <a:bodyPr spcFirstLastPara="1" wrap="square" lIns="0" tIns="0" rIns="12190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700"/>
              <a:buFont typeface="Source Serif Pro"/>
              <a:buNone/>
              <a:defRPr sz="2700">
                <a:latin typeface="Source Serif Pro"/>
                <a:ea typeface="Source Serif Pro"/>
                <a:cs typeface="Source Serif Pro"/>
                <a:sym typeface="Source Serif Pr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700"/>
              <a:buFont typeface="Source Serif Pro"/>
              <a:buNone/>
              <a:defRPr sz="2700">
                <a:latin typeface="Source Serif Pro"/>
                <a:ea typeface="Source Serif Pro"/>
                <a:cs typeface="Source Serif Pro"/>
                <a:sym typeface="Source Serif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700"/>
              <a:buFont typeface="Source Serif Pro"/>
              <a:buNone/>
              <a:defRPr sz="2700">
                <a:latin typeface="Source Serif Pro"/>
                <a:ea typeface="Source Serif Pro"/>
                <a:cs typeface="Source Serif Pro"/>
                <a:sym typeface="Source Serif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700"/>
              <a:buFont typeface="Source Serif Pro"/>
              <a:buNone/>
              <a:defRPr sz="2700">
                <a:latin typeface="Source Serif Pro"/>
                <a:ea typeface="Source Serif Pro"/>
                <a:cs typeface="Source Serif Pro"/>
                <a:sym typeface="Source Serif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700"/>
              <a:buFont typeface="Source Serif Pro"/>
              <a:buNone/>
              <a:defRPr sz="2700">
                <a:latin typeface="Source Serif Pro"/>
                <a:ea typeface="Source Serif Pro"/>
                <a:cs typeface="Source Serif Pro"/>
                <a:sym typeface="Source Serif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700"/>
              <a:buFont typeface="Source Serif Pro"/>
              <a:buNone/>
              <a:defRPr sz="2700">
                <a:latin typeface="Source Serif Pro"/>
                <a:ea typeface="Source Serif Pro"/>
                <a:cs typeface="Source Serif Pro"/>
                <a:sym typeface="Source Serif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700"/>
              <a:buFont typeface="Source Serif Pro"/>
              <a:buNone/>
              <a:defRPr sz="2700">
                <a:latin typeface="Source Serif Pro"/>
                <a:ea typeface="Source Serif Pro"/>
                <a:cs typeface="Source Serif Pro"/>
                <a:sym typeface="Source Serif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700"/>
              <a:buFont typeface="Source Serif Pro"/>
              <a:buNone/>
              <a:defRPr sz="2700">
                <a:latin typeface="Source Serif Pro"/>
                <a:ea typeface="Source Serif Pro"/>
                <a:cs typeface="Source Serif Pro"/>
                <a:sym typeface="Source Serif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700"/>
              <a:buFont typeface="Source Serif Pro"/>
              <a:buNone/>
              <a:defRPr sz="2700">
                <a:latin typeface="Source Serif Pro"/>
                <a:ea typeface="Source Serif Pro"/>
                <a:cs typeface="Source Serif Pro"/>
                <a:sym typeface="Source Serif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9CC9AD-3470-3658-D6A6-8ED13AE633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x-none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EAF14CD-E32A-58DF-078F-D092410E4A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x-non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6F5EB1E-8E27-2FF4-E670-5C37EC98C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8A4D7-F9DF-4838-AB57-9AE92CACE4AA}" type="datetimeFigureOut">
              <a:rPr lang="x-none" smtClean="0"/>
              <a:t>15/12/2025</a:t>
            </a:fld>
            <a:endParaRPr lang="x-non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BAEBB80-766D-1F1B-E7EA-D97A72D63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D2E5783-6C09-D846-E32C-97834C0F2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81E52C-8765-46A3-B96B-798ED620B646}" type="slidenum">
              <a:rPr lang="x-none" smtClean="0"/>
              <a:t>‹N°›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419159810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58B6E5-7EC7-B3C3-9558-ACB29F298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x-non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977FF95-31A4-D0F4-A6BB-65CEEB8FB8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x-non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321C410-6393-D83D-AF76-9DE8B0AD0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8A4D7-F9DF-4838-AB57-9AE92CACE4AA}" type="datetimeFigureOut">
              <a:rPr lang="x-none" smtClean="0"/>
              <a:t>15/12/2025</a:t>
            </a:fld>
            <a:endParaRPr lang="x-non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38C63E6-05E4-AB6C-EE3A-8144DB0F1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34E1A37-65AA-2B5A-9D82-5F5DEDC7A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81E52C-8765-46A3-B96B-798ED620B646}" type="slidenum">
              <a:rPr lang="x-none" smtClean="0"/>
              <a:t>‹N°›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29636093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0677D5-153B-920D-FE3A-EA82587A9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x-non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1C72D61-E374-FCA1-B2AD-66B144E3BD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BB4CEB6-8C56-727A-52DB-0C1EC0A4A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8A4D7-F9DF-4838-AB57-9AE92CACE4AA}" type="datetimeFigureOut">
              <a:rPr lang="x-none" smtClean="0"/>
              <a:t>15/12/2025</a:t>
            </a:fld>
            <a:endParaRPr lang="x-non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A6684F2-506E-BB06-A2BE-0C025422C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BF904B7-1433-8D70-491D-6CEE308E4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81E52C-8765-46A3-B96B-798ED620B646}" type="slidenum">
              <a:rPr lang="x-none" smtClean="0"/>
              <a:t>‹N°›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5407294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06ECEA4-8CB3-F4DB-23D2-63FD647F7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x-non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0966A81-38B8-8491-93FF-00166D9038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x-none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79E1769-9048-C132-C292-4961E91202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x-non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2FFF565-74F8-A4F7-3559-A86B1FB07B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8A4D7-F9DF-4838-AB57-9AE92CACE4AA}" type="datetimeFigureOut">
              <a:rPr lang="x-none" smtClean="0"/>
              <a:t>15/12/2025</a:t>
            </a:fld>
            <a:endParaRPr lang="x-non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D641807-08A8-70EB-E680-EFC08B2CE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0F3A3A8-4522-2827-1BC0-CA6F7AFA4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81E52C-8765-46A3-B96B-798ED620B646}" type="slidenum">
              <a:rPr lang="x-none" smtClean="0"/>
              <a:t>‹N°›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79299114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918076-1C3E-D381-E4FC-79E3B7C2F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x-non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006E58D-8283-CA04-0050-1287DAE609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93719B1-FFDA-40E7-29F9-862B156873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x-none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88A9DC9-69B6-CFCF-2325-572269159A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7569D69-9E8E-29A3-CB9C-5A8F18B8B7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x-non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932C381F-B817-1494-BD6F-2992117FE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8A4D7-F9DF-4838-AB57-9AE92CACE4AA}" type="datetimeFigureOut">
              <a:rPr lang="x-none" smtClean="0"/>
              <a:t>15/12/2025</a:t>
            </a:fld>
            <a:endParaRPr lang="x-non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425CB175-5F70-4D4C-3B0B-7EE80B0F69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17265F9-D444-D900-0293-3CD569E01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81E52C-8765-46A3-B96B-798ED620B646}" type="slidenum">
              <a:rPr lang="x-none" smtClean="0"/>
              <a:t>‹N°›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81643253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4C2F973-2145-768B-294E-5B88C0F55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x-non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6470393-8E8D-3875-490F-52CA596336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8A4D7-F9DF-4838-AB57-9AE92CACE4AA}" type="datetimeFigureOut">
              <a:rPr lang="x-none" smtClean="0"/>
              <a:t>15/12/2025</a:t>
            </a:fld>
            <a:endParaRPr lang="x-non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941622C-4627-47D6-DA5C-279EE8ACA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0A9039E-71A5-5910-019A-3E9753DE5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81E52C-8765-46A3-B96B-798ED620B646}" type="slidenum">
              <a:rPr lang="x-none" smtClean="0"/>
              <a:t>‹N°›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5311024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34C5A867-6620-A566-CC51-6D850D3166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8A4D7-F9DF-4838-AB57-9AE92CACE4AA}" type="datetimeFigureOut">
              <a:rPr lang="x-none" smtClean="0"/>
              <a:t>15/12/2025</a:t>
            </a:fld>
            <a:endParaRPr lang="x-none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EFF772E1-9B5B-470B-707E-8F6A675B5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3152C3C-3879-F6FA-410A-E58AF0D36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81E52C-8765-46A3-B96B-798ED620B646}" type="slidenum">
              <a:rPr lang="x-none" smtClean="0"/>
              <a:t>‹N°›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78376726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852E98-82ED-50AA-AF6C-DDE97FEE6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x-non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9BBB251-9924-493E-56A4-A61585F1D4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x-non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2588838-F844-A45A-1F17-27DB5EB739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637E4C-6B60-4732-8A35-0AB861995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8A4D7-F9DF-4838-AB57-9AE92CACE4AA}" type="datetimeFigureOut">
              <a:rPr lang="x-none" smtClean="0"/>
              <a:t>15/12/2025</a:t>
            </a:fld>
            <a:endParaRPr lang="x-non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62E2105-9153-7DEB-4B1C-68874F82F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203D9A9-28BF-CD98-CB15-3C614A1FF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81E52C-8765-46A3-B96B-798ED620B646}" type="slidenum">
              <a:rPr lang="x-none" smtClean="0"/>
              <a:t>‹N°›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08702415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E5AE41D-167B-487A-539B-F4A0C4535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x-none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58D2918-602C-6648-2059-BD378304A0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x-non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F1BE77-ACAB-0E75-AA1F-923865F09C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F43C6EA-CA67-604E-9387-2B9A99C26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8A4D7-F9DF-4838-AB57-9AE92CACE4AA}" type="datetimeFigureOut">
              <a:rPr lang="x-none" smtClean="0"/>
              <a:t>15/12/2025</a:t>
            </a:fld>
            <a:endParaRPr lang="x-non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011E566-7E5A-BFDE-580A-4D50C19CF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99D721A-01DF-A486-DD13-C0F03E81E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81E52C-8765-46A3-B96B-798ED620B646}" type="slidenum">
              <a:rPr lang="x-none" smtClean="0"/>
              <a:t>‹N°›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60041238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215236-01BD-9DA5-A7E7-DC4011FD2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x-non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6280066-57DF-F854-1B53-83DD63508F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x-non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E79DB8E-E719-A9E2-6E55-412B679DD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8A4D7-F9DF-4838-AB57-9AE92CACE4AA}" type="datetimeFigureOut">
              <a:rPr lang="x-none" smtClean="0"/>
              <a:t>15/12/2025</a:t>
            </a:fld>
            <a:endParaRPr lang="x-non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12DC3A7-5ABA-9451-03F5-499F8A545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119659A-751F-49CD-DB1E-8A7C844DF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81E52C-8765-46A3-B96B-798ED620B646}" type="slidenum">
              <a:rPr lang="x-none" smtClean="0"/>
              <a:t>‹N°›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23792940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BB4DA8C-A039-BDE0-9A79-33AD7284DE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x-non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9F0B98A-E9C6-F076-F158-B560D2F741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x-non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5B19E0D-0B4E-AC0B-B0FE-3CBEBC995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8A4D7-F9DF-4838-AB57-9AE92CACE4AA}" type="datetimeFigureOut">
              <a:rPr lang="x-none" smtClean="0"/>
              <a:t>15/12/2025</a:t>
            </a:fld>
            <a:endParaRPr lang="x-non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75A4CD3-FDB8-D819-906E-A2C21004A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9CBFE03-963A-AA2E-8DE4-FE4790D2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81E52C-8765-46A3-B96B-798ED620B646}" type="slidenum">
              <a:rPr lang="x-none" smtClean="0"/>
              <a:t>‹N°›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64059263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1FB0CC-AFD9-D897-0512-F104FF4ACB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C2CB51A-28B0-D876-A9F9-BCDF37026F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A590A32-8A45-E3F2-2D5C-347C2F036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4D24C-F39A-4AE0-ABBF-F734CC02DB3B}" type="datetime1">
              <a:rPr lang="fr-FR" smtClean="0"/>
              <a:t>15/12/2025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55CC22D-31B7-B854-88CD-0DCF923E3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EVALUATION FAE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BB022BC-61A6-D869-DFAE-50E4BFADF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C269F-B456-E540-A4A4-C7B9A29FD6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341212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DEC86C-83A2-97CB-B3B3-6ADF41934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9564DB7-2813-DCD5-BB73-1A617DC05D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0D2A317-B14E-BDF5-3D5F-A5189F792D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455C6D-1368-44E1-9EC7-C19C6B9CEAB2}" type="datetime1">
              <a:rPr lang="fr-FR" smtClean="0"/>
              <a:t>15/12/2025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32C26A3-C205-C70E-2860-224CC7F1D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EVALUATION FAE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474D7A-2126-0CAE-E805-97999C3CD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C269F-B456-E540-A4A4-C7B9A29FD6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976495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22A534-4DC7-32A1-729E-A461BEFEA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F98A566-F821-B4AB-2705-DF96406A0F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C8444D-E944-1495-7FA5-66C4E5060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69BD3D-FCB5-4C47-AB98-6BB57179BBD4}" type="datetime1">
              <a:rPr lang="fr-FR" smtClean="0"/>
              <a:t>15/12/2025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05C56D0-5445-8027-9336-60F30FBF66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EVALUATION FAE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A124872-6101-9A07-7DBB-843E1F567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C269F-B456-E540-A4A4-C7B9A29FD6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265236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799B93-0198-17A2-8667-68D68BC69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35E1D5C-517E-1DB7-2A9D-405CECA89E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227DCC4-E4FD-9BBF-65A5-4B835A4E30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A1198D4-FE5D-237E-44FE-D049063DD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13CB5-86A2-46E6-8159-BA8FCA27B236}" type="datetime1">
              <a:rPr lang="fr-FR" smtClean="0"/>
              <a:t>15/12/2025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CB598EE-9F02-66A9-692E-3867FBA8F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EVALUATION FAE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2BAAEDF-F0C1-C70C-6337-766A2AEF5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C269F-B456-E540-A4A4-C7B9A29FD6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2539523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01E65D-D787-CBA6-7B47-248F1A7E4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28C2BA3-0FF6-ACAA-19D6-C6781F4AC9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4229DFE-C400-0BE8-4522-EA4BBE592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A57A7C-7DB0-183E-8428-1B940116F1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C92E1A5-07BE-E06C-87B2-7BC06288E5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45E7D635-F310-5A72-82F9-F2654CFE9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0CDBEC-EE00-4EA6-84B8-D28F7E7BFB7B}" type="datetime1">
              <a:rPr lang="fr-FR" smtClean="0"/>
              <a:t>15/12/2025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37D90A4-071E-68C8-26E9-817C7153D3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EVALUATION FAE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B25FC75-A568-097E-B4B3-34B29879A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C269F-B456-E540-A4A4-C7B9A29FD6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538396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38983DA-4C43-D92C-3777-B50A9974C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847A12B-AA99-C0F0-920D-A69F97EAD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7E04B-DB1B-4906-9176-5EED3EAB2010}" type="datetime1">
              <a:rPr lang="fr-FR" smtClean="0"/>
              <a:t>15/12/2025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89AEC5C-48BA-F072-E4D0-9D2AC42E5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EVALUATION FAE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33F38DA-F3C8-A714-F9E0-06E7C8905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C269F-B456-E540-A4A4-C7B9A29FD6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2547685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536CB71-0045-728A-92A9-9382ADEBB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4875E-6B83-4301-9C78-CBFFF6C58804}" type="datetime1">
              <a:rPr lang="fr-FR" smtClean="0"/>
              <a:t>15/12/2025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A21A65A3-2788-1658-2FCB-253724B33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EVALUATION FAE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AC42E17-4E0C-846E-6E7D-B7B548679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C269F-B456-E540-A4A4-C7B9A29FD6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3097511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421D9A-57C2-BE2B-9531-3AEFCFF73F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6E0081B-249F-40D4-5C9A-2A38E9D68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D436F87-07AD-50AB-6714-6EB140C329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FE60A57-7DA8-9863-688E-FBAB315BD1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226380-6703-4A12-BCEA-253BADC1E493}" type="datetime1">
              <a:rPr lang="fr-FR" smtClean="0"/>
              <a:t>15/12/2025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0BB91EF-8BAC-12B7-5155-6CDDF6E3F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EVALUATION FAE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091C80D-EE9F-69AC-7DB7-E57C7AAE8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C269F-B456-E540-A4A4-C7B9A29FD6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317147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4372A5-6016-8147-1751-E7646EFDD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665C171-4207-7505-FDDE-FA59700266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521015B-0B00-166A-831B-046D4E43F7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80EC5C0-A8A5-379F-46DE-FCCB02831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94C25B-32DF-489A-AC17-E0EA947AA4DF}" type="datetime1">
              <a:rPr lang="fr-FR" smtClean="0"/>
              <a:t>15/12/2025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F49EE3-D7DF-FCC2-275E-49A5FC94A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EVALUATION FAE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F73E3E4-1BC2-E913-0213-20A29F833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C269F-B456-E540-A4A4-C7B9A29FD6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864656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9F4BBF-5371-9B89-800F-2C254F9C6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8F0AA2A-1A4F-C460-4E4F-E0051DFCBB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2E4F592-2DE1-6003-C02F-BC6D29E329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615D9-9057-46D8-9158-7385F9DE2A25}" type="datetime1">
              <a:rPr lang="fr-FR" smtClean="0"/>
              <a:t>15/12/2025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4897216-A8D9-47BE-4D8C-A462A66C3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EVALUATION FAE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DFC9C0C-B923-B657-0E4C-2E49C6174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C269F-B456-E540-A4A4-C7B9A29FD6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012849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E2515351-03C1-C7B0-61E3-E9E89DA4BE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23B9313-7035-A72B-CF92-30DFAC4E34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494D5A0-6D7C-BC2E-61DA-0074A50CA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CA008-4CDE-47F1-A707-1048DA3FFE24}" type="datetime1">
              <a:rPr lang="fr-FR" smtClean="0"/>
              <a:t>15/12/2025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64904BA-A78F-0C20-B1BB-348DF0466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EVALUATION FAE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0FC55BB-2576-5849-DBC5-8A4787D00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C269F-B456-E540-A4A4-C7B9A29FD6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3429180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3385430" y="3768780"/>
            <a:ext cx="8572500" cy="2341563"/>
          </a:xfrm>
        </p:spPr>
        <p:txBody>
          <a:bodyPr anchor="b">
            <a:normAutofit/>
          </a:bodyPr>
          <a:lstStyle>
            <a:lvl1pPr algn="ctr">
              <a:defRPr sz="36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D1280-86C2-426A-AEFC-6C58FDD0CC12}" type="slidenum">
              <a:rPr lang="fr-FR" smtClean="0">
                <a:solidFill>
                  <a:prstClr val="black">
                    <a:tint val="75000"/>
                  </a:prstClr>
                </a:solidFill>
              </a:rPr>
              <a:pPr/>
              <a:t>‹N°›</a:t>
            </a:fld>
            <a:endParaRPr lang="fr-FR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3" name="Imag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811" y="0"/>
            <a:ext cx="12215811" cy="3717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51579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9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39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3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929836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4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4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4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473350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casus 1">
  <p:cSld name="Acasus 1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3882ac7a6fa_1_143"/>
          <p:cNvSpPr txBox="1">
            <a:spLocks noGrp="1"/>
          </p:cNvSpPr>
          <p:nvPr>
            <p:ph type="sldNum" idx="12"/>
          </p:nvPr>
        </p:nvSpPr>
        <p:spPr>
          <a:xfrm>
            <a:off x="11433756" y="6487117"/>
            <a:ext cx="731600" cy="369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19" name="Google Shape;19;g3882ac7a6fa_1_143"/>
          <p:cNvSpPr txBox="1"/>
          <p:nvPr/>
        </p:nvSpPr>
        <p:spPr>
          <a:xfrm>
            <a:off x="96000" y="88867"/>
            <a:ext cx="11904000" cy="548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00" tIns="48000" rIns="91200" bIns="480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endParaRPr sz="2933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g3882ac7a6fa_1_143"/>
          <p:cNvSpPr txBox="1"/>
          <p:nvPr/>
        </p:nvSpPr>
        <p:spPr>
          <a:xfrm>
            <a:off x="0" y="6467717"/>
            <a:ext cx="11072400" cy="410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g3882ac7a6fa_1_143"/>
          <p:cNvSpPr txBox="1">
            <a:spLocks noGrp="1"/>
          </p:cNvSpPr>
          <p:nvPr>
            <p:ph type="title"/>
          </p:nvPr>
        </p:nvSpPr>
        <p:spPr>
          <a:xfrm>
            <a:off x="96000" y="88867"/>
            <a:ext cx="11904000" cy="470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400" tIns="50400" rIns="68400" bIns="36000" anchor="t" anchorCtr="0">
            <a:sp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451F61"/>
              </a:buClr>
              <a:buSzPts val="2200"/>
              <a:buFont typeface="Arial"/>
              <a:buNone/>
              <a:defRPr sz="2933">
                <a:solidFill>
                  <a:srgbClr val="451F6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rial"/>
              <a:buNone/>
              <a:defRPr sz="2933">
                <a:latin typeface="Arial"/>
                <a:ea typeface="Arial"/>
                <a:cs typeface="Arial"/>
                <a:sym typeface="Arial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rial"/>
              <a:buNone/>
              <a:defRPr sz="2933">
                <a:latin typeface="Arial"/>
                <a:ea typeface="Arial"/>
                <a:cs typeface="Arial"/>
                <a:sym typeface="Arial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rial"/>
              <a:buNone/>
              <a:defRPr sz="2933">
                <a:latin typeface="Arial"/>
                <a:ea typeface="Arial"/>
                <a:cs typeface="Arial"/>
                <a:sym typeface="Arial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rial"/>
              <a:buNone/>
              <a:defRPr sz="2933">
                <a:latin typeface="Arial"/>
                <a:ea typeface="Arial"/>
                <a:cs typeface="Arial"/>
                <a:sym typeface="Arial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rial"/>
              <a:buNone/>
              <a:defRPr sz="2933">
                <a:latin typeface="Arial"/>
                <a:ea typeface="Arial"/>
                <a:cs typeface="Arial"/>
                <a:sym typeface="Arial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rial"/>
              <a:buNone/>
              <a:defRPr sz="2933">
                <a:latin typeface="Arial"/>
                <a:ea typeface="Arial"/>
                <a:cs typeface="Arial"/>
                <a:sym typeface="Arial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rial"/>
              <a:buNone/>
              <a:defRPr sz="2933">
                <a:latin typeface="Arial"/>
                <a:ea typeface="Arial"/>
                <a:cs typeface="Arial"/>
                <a:sym typeface="Arial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rial"/>
              <a:buNone/>
              <a:defRPr sz="2933"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2" name="Google Shape;22;g3882ac7a6fa_1_143"/>
          <p:cNvSpPr txBox="1">
            <a:spLocks noGrp="1"/>
          </p:cNvSpPr>
          <p:nvPr>
            <p:ph type="ctrTitle" idx="2"/>
          </p:nvPr>
        </p:nvSpPr>
        <p:spPr>
          <a:xfrm>
            <a:off x="11" y="6296700"/>
            <a:ext cx="116208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Arial"/>
              <a:buNone/>
              <a:defRPr sz="1067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Arial"/>
              <a:buNone/>
              <a:defRPr sz="1067">
                <a:latin typeface="Arial"/>
                <a:ea typeface="Arial"/>
                <a:cs typeface="Arial"/>
                <a:sym typeface="Arial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Arial"/>
              <a:buNone/>
              <a:defRPr sz="1067">
                <a:latin typeface="Arial"/>
                <a:ea typeface="Arial"/>
                <a:cs typeface="Arial"/>
                <a:sym typeface="Arial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Arial"/>
              <a:buNone/>
              <a:defRPr sz="1067">
                <a:latin typeface="Arial"/>
                <a:ea typeface="Arial"/>
                <a:cs typeface="Arial"/>
                <a:sym typeface="Arial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Arial"/>
              <a:buNone/>
              <a:defRPr sz="1067">
                <a:latin typeface="Arial"/>
                <a:ea typeface="Arial"/>
                <a:cs typeface="Arial"/>
                <a:sym typeface="Arial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Arial"/>
              <a:buNone/>
              <a:defRPr sz="1067">
                <a:latin typeface="Arial"/>
                <a:ea typeface="Arial"/>
                <a:cs typeface="Arial"/>
                <a:sym typeface="Arial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Arial"/>
              <a:buNone/>
              <a:defRPr sz="1067">
                <a:latin typeface="Arial"/>
                <a:ea typeface="Arial"/>
                <a:cs typeface="Arial"/>
                <a:sym typeface="Arial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Arial"/>
              <a:buNone/>
              <a:defRPr sz="1067">
                <a:latin typeface="Arial"/>
                <a:ea typeface="Arial"/>
                <a:cs typeface="Arial"/>
                <a:sym typeface="Arial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Arial"/>
              <a:buNone/>
              <a:defRPr sz="1067"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9111840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1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800" cy="11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25" name="Google Shape;25;p4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203480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2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42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2332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0639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p42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2332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0639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0" name="Google Shape;30;p4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746906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3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8510204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44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36" name="Google Shape;36;p44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0639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1219170" lvl="1" indent="-40639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7" name="Google Shape;37;p4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90180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45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400" cy="54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  <p:sp>
        <p:nvSpPr>
          <p:cNvPr id="40" name="Google Shape;40;p4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699290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46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867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46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4" name="Google Shape;44;p46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5" name="Google Shape;45;p46"/>
          <p:cNvSpPr txBox="1">
            <a:spLocks noGrp="1"/>
          </p:cNvSpPr>
          <p:nvPr>
            <p:ph type="body" idx="2"/>
          </p:nvPr>
        </p:nvSpPr>
        <p:spPr>
          <a:xfrm>
            <a:off x="6586000" y="965433"/>
            <a:ext cx="5116000" cy="49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609585" lvl="0" indent="-457189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6" name="Google Shape;46;p46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5042835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47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609585" lvl="0" indent="-30479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9" name="Google Shape;49;p4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522335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48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52" name="Google Shape;52;p48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4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6869919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9852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3.xml"/><Relationship Id="rId3" Type="http://schemas.openxmlformats.org/officeDocument/2006/relationships/slideLayout" Target="../slideLayouts/slideLayout28.xml"/><Relationship Id="rId7" Type="http://schemas.openxmlformats.org/officeDocument/2006/relationships/slideLayout" Target="../slideLayouts/slideLayout32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7.xml"/><Relationship Id="rId1" Type="http://schemas.openxmlformats.org/officeDocument/2006/relationships/slideLayout" Target="../slideLayouts/slideLayout26.xml"/><Relationship Id="rId6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5.xml"/><Relationship Id="rId4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4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8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1.xml"/><Relationship Id="rId10" Type="http://schemas.openxmlformats.org/officeDocument/2006/relationships/slideLayout" Target="../slideLayouts/slideLayout46.xml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6.xml"/><Relationship Id="rId13" Type="http://schemas.openxmlformats.org/officeDocument/2006/relationships/theme" Target="../theme/theme5.xml"/><Relationship Id="rId3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5.xml"/><Relationship Id="rId12" Type="http://schemas.openxmlformats.org/officeDocument/2006/relationships/slideLayout" Target="../slideLayouts/slideLayout60.xml"/><Relationship Id="rId2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11" Type="http://schemas.openxmlformats.org/officeDocument/2006/relationships/slideLayout" Target="../slideLayouts/slideLayout59.xml"/><Relationship Id="rId5" Type="http://schemas.openxmlformats.org/officeDocument/2006/relationships/slideLayout" Target="../slideLayouts/slideLayout53.xml"/><Relationship Id="rId10" Type="http://schemas.openxmlformats.org/officeDocument/2006/relationships/slideLayout" Target="../slideLayouts/slideLayout58.xml"/><Relationship Id="rId4" Type="http://schemas.openxmlformats.org/officeDocument/2006/relationships/slideLayout" Target="../slideLayouts/slideLayout52.xml"/><Relationship Id="rId9" Type="http://schemas.openxmlformats.org/officeDocument/2006/relationships/slideLayout" Target="../slideLayouts/slideLayout5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 panose="00000500000000000000"/>
              <a:buNone/>
              <a:defRPr sz="4400" b="0" i="0" u="none" strike="noStrike" cap="none">
                <a:solidFill>
                  <a:schemeClr val="dk1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•"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12" name="Google Shape;1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‹N°›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aabc9d920d_0_26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 panose="020B0604020202020204"/>
              <a:buNone/>
              <a:defRPr sz="37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 panose="020B0604020202020204"/>
              <a:buNone/>
              <a:defRPr sz="37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 panose="020B0604020202020204"/>
              <a:buNone/>
              <a:defRPr sz="37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 panose="020B0604020202020204"/>
              <a:buNone/>
              <a:defRPr sz="37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 panose="020B0604020202020204"/>
              <a:buNone/>
              <a:defRPr sz="37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 panose="020B0604020202020204"/>
              <a:buNone/>
              <a:defRPr sz="37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 panose="020B0604020202020204"/>
              <a:buNone/>
              <a:defRPr sz="37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 panose="020B0604020202020204"/>
              <a:buNone/>
              <a:defRPr sz="37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 panose="020B0604020202020204"/>
              <a:buNone/>
              <a:defRPr sz="37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90" name="Google Shape;90;g3aabc9d920d_0_26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marR="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 panose="020B0604020202020204"/>
              <a:buChar char="●"/>
              <a:defRPr sz="2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 panose="020B0604020202020204"/>
              <a:buChar char="○"/>
              <a:defRPr sz="19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 panose="020B0604020202020204"/>
              <a:buChar char="■"/>
              <a:defRPr sz="19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 panose="020B0604020202020204"/>
              <a:buChar char="●"/>
              <a:defRPr sz="19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 panose="020B0604020202020204"/>
              <a:buChar char="○"/>
              <a:defRPr sz="19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 panose="020B0604020202020204"/>
              <a:buChar char="■"/>
              <a:defRPr sz="19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 panose="020B0604020202020204"/>
              <a:buChar char="●"/>
              <a:defRPr sz="19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 panose="020B0604020202020204"/>
              <a:buChar char="○"/>
              <a:defRPr sz="19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 panose="020B0604020202020204"/>
              <a:buChar char="■"/>
              <a:defRPr sz="19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91" name="Google Shape;91;g3aabc9d920d_0_26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 panose="020B0604020202020204"/>
              <a:buNone/>
              <a:defRPr sz="13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‹N°›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36154D0E-BDBA-DD5D-351E-D5A611212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x-non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978E608-23FC-93FB-7706-7A88715CAC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x-non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9FB5D88-D3B2-7C15-AD3B-608011C7BF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68A4D7-F9DF-4838-AB57-9AE92CACE4AA}" type="datetimeFigureOut">
              <a:rPr lang="x-none" smtClean="0"/>
              <a:t>15/12/2025</a:t>
            </a:fld>
            <a:endParaRPr lang="x-non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1FBE270-633D-3504-9300-0600D8AF0E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x-non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A15D800-DB26-022E-C7E0-123F5AFEAC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81E52C-8765-46A3-B96B-798ED620B646}" type="slidenum">
              <a:rPr lang="x-none" smtClean="0"/>
              <a:t>‹N°›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4787473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x-non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CAC8740-5BE0-5AEF-895B-45453533A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45E65EF-54F3-440E-07E0-E7FBCD71EB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FB2344B-3815-2C25-B4DF-272A996EFE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414B0C-BD3A-401D-8B94-AF6D7BF93739}" type="datetime1">
              <a:rPr lang="fr-FR" smtClean="0"/>
              <a:t>15/12/2025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8C6DEAF-7E47-CCBF-C7A6-890E9A7C9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fr-FR"/>
              <a:t>EVALUATION FAE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DCD554A-9F9A-0AF8-CE2D-4E61E26A0C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C269F-B456-E540-A4A4-C7B9A29FD6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0869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3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3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058999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4" Type="http://schemas.openxmlformats.org/officeDocument/2006/relationships/chart" Target="../charts/char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8.png"/><Relationship Id="rId4" Type="http://schemas.openxmlformats.org/officeDocument/2006/relationships/image" Target="../media/image10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3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g3aabc9d920d_0_191"/>
          <p:cNvPicPr preferRelativeResize="0"/>
          <p:nvPr/>
        </p:nvPicPr>
        <p:blipFill rotWithShape="1">
          <a:blip r:embed="rId3"/>
          <a:srcRect l="-17785"/>
          <a:stretch>
            <a:fillRect/>
          </a:stretch>
        </p:blipFill>
        <p:spPr>
          <a:xfrm>
            <a:off x="-681739" y="1646127"/>
            <a:ext cx="4525279" cy="3703095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g3aabc9d920d_0_191"/>
          <p:cNvSpPr txBox="1"/>
          <p:nvPr/>
        </p:nvSpPr>
        <p:spPr>
          <a:xfrm>
            <a:off x="4210333" y="1516433"/>
            <a:ext cx="7894800" cy="186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 panose="020B0604020202020204"/>
              <a:buNone/>
            </a:pPr>
            <a:r>
              <a:rPr lang="en-US" sz="4300" b="1" dirty="0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Revue </a:t>
            </a:r>
            <a:r>
              <a:rPr lang="en-US" sz="4300" b="1" dirty="0" err="1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annuelle</a:t>
            </a:r>
            <a:r>
              <a:rPr lang="en-US" sz="4300" b="1" dirty="0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2025</a:t>
            </a:r>
            <a:endParaRPr sz="4300" b="1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 panose="020B0604020202020204"/>
              <a:buNone/>
            </a:pPr>
            <a:r>
              <a:rPr lang="en-US" sz="2400" b="1" i="1" dirty="0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Caneva</a:t>
            </a:r>
            <a:r>
              <a:rPr lang="" altLang="en-US" sz="2400" b="1" i="1" dirty="0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s</a:t>
            </a:r>
            <a:r>
              <a:rPr lang="en-US" sz="2400" b="1" i="1" dirty="0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de provinces </a:t>
            </a:r>
            <a:r>
              <a:rPr lang="en-US" sz="2400" b="1" i="1" dirty="0" err="1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ayant</a:t>
            </a:r>
            <a:r>
              <a:rPr lang="en-US" sz="2400" b="1" i="1" dirty="0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2400" b="1" i="1" dirty="0" err="1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organisés</a:t>
            </a:r>
            <a:r>
              <a:rPr lang="en-US" sz="2400" b="1" i="1" dirty="0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des activités spécifiques </a:t>
            </a:r>
            <a:r>
              <a:rPr lang="en-US" sz="2400" b="1" i="1" dirty="0" err="1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ou</a:t>
            </a:r>
            <a:r>
              <a:rPr lang="en-US" sz="2400" b="1" i="1" dirty="0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2400" b="1" i="1" dirty="0" err="1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approches</a:t>
            </a:r>
            <a:r>
              <a:rPr lang="en-US" sz="2400" b="1" i="1" dirty="0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2400" b="1" i="1" dirty="0" err="1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innovantes</a:t>
            </a:r>
            <a:r>
              <a:rPr lang="en-US" sz="2400" b="1" i="1" dirty="0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: FAE, IPVS</a:t>
            </a:r>
            <a:r>
              <a:rPr lang="" altLang="en-US" sz="2400" b="1" i="1" dirty="0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,</a:t>
            </a:r>
            <a:r>
              <a:rPr lang="en-US" sz="2400" b="1" i="1" dirty="0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2400" b="1" i="1" dirty="0" err="1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stratégies</a:t>
            </a:r>
            <a:r>
              <a:rPr lang="en-US" sz="2400" b="1" i="1" dirty="0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2400" b="1" i="1" dirty="0" err="1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spéciales</a:t>
            </a:r>
            <a:r>
              <a:rPr lang="" altLang="en-US" sz="2400" b="1" i="1" dirty="0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et introduction des nouveaux vaccins (VAP, RR, etc)</a:t>
            </a:r>
            <a:endParaRPr sz="2400" b="1" i="1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 panose="020B0604020202020204"/>
              <a:buNone/>
            </a:pPr>
            <a:endParaRPr lang="" altLang="en-US" sz="4300" b="1" i="1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 panose="020B0604020202020204"/>
              <a:buNone/>
            </a:pPr>
            <a:r>
              <a:rPr lang="" altLang="en-US" sz="4300" b="1" i="1" dirty="0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P</a:t>
            </a:r>
            <a:r>
              <a:rPr lang="en-US" sz="4300" b="1" i="1" dirty="0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rovince</a:t>
            </a:r>
            <a:r>
              <a:rPr lang="" altLang="en-US" sz="4300" b="1" i="1" dirty="0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de la Tshopo</a:t>
            </a:r>
          </a:p>
        </p:txBody>
      </p:sp>
      <p:sp>
        <p:nvSpPr>
          <p:cNvPr id="149" name="Google Shape;149;g3aabc9d920d_0_191"/>
          <p:cNvSpPr/>
          <p:nvPr/>
        </p:nvSpPr>
        <p:spPr>
          <a:xfrm>
            <a:off x="3661467" y="1516428"/>
            <a:ext cx="373500" cy="18672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 panose="020B0604020202020204"/>
              <a:buNone/>
            </a:pPr>
            <a:endParaRPr sz="1700" b="0" i="0" u="none" strike="noStrike" cap="none">
              <a:solidFill>
                <a:schemeClr val="dk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50" name="Google Shape;150;g3aabc9d920d_0_191"/>
          <p:cNvSpPr/>
          <p:nvPr/>
        </p:nvSpPr>
        <p:spPr>
          <a:xfrm>
            <a:off x="3659879" y="1516428"/>
            <a:ext cx="373500" cy="1867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 panose="020B0604020202020204"/>
              <a:buNone/>
            </a:pPr>
            <a:endParaRPr sz="1700" b="0" i="0" u="none" strike="noStrike" cap="none">
              <a:solidFill>
                <a:schemeClr val="dk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51" name="Google Shape;151;g3aabc9d920d_0_191"/>
          <p:cNvSpPr txBox="1"/>
          <p:nvPr/>
        </p:nvSpPr>
        <p:spPr>
          <a:xfrm>
            <a:off x="4717875" y="6162200"/>
            <a:ext cx="45252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 panose="020B0604020202020204"/>
              <a:buNone/>
            </a:pPr>
            <a:r>
              <a:rPr lang="en-US" sz="2000" b="1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Decembre 2025</a:t>
            </a:r>
            <a:endParaRPr sz="2000" b="1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aabc9d920d_0_199"/>
          <p:cNvSpPr txBox="1"/>
          <p:nvPr/>
        </p:nvSpPr>
        <p:spPr>
          <a:xfrm>
            <a:off x="458592" y="317941"/>
            <a:ext cx="11274900" cy="73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r>
              <a:rPr lang="en-US" sz="2700" b="1" i="0" u="none" strike="noStrike" cap="none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Agenda</a:t>
            </a:r>
            <a:endParaRPr sz="2700" b="0" i="0" u="none" strike="noStrike" cap="none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57" name="Google Shape;157;g3aabc9d920d_0_199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 panose="020B0604020202020204"/>
              <a:buNone/>
            </a:pPr>
            <a:endParaRPr sz="1900" b="0" i="0" u="none" strike="noStrike" cap="none">
              <a:solidFill>
                <a:srgbClr val="0070C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58" name="Google Shape;158;g3aabc9d920d_0_199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2190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endParaRPr sz="1200" b="1" i="0" u="none" strike="noStrike" cap="none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59" name="Google Shape;159;g3aabc9d920d_0_199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155CC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</a:t>
            </a:fld>
            <a:endParaRPr sz="1200" b="0" i="0" u="none" strike="noStrike" cap="none">
              <a:solidFill>
                <a:srgbClr val="1155CC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60" name="Google Shape;160;g3aabc9d920d_0_199"/>
          <p:cNvSpPr txBox="1"/>
          <p:nvPr/>
        </p:nvSpPr>
        <p:spPr>
          <a:xfrm>
            <a:off x="458508" y="845389"/>
            <a:ext cx="10822525" cy="49038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609600" marR="0" lvl="0" indent="-476250" algn="l" rtl="0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Times New Roman" panose="02020603050405020304"/>
              <a:buAutoNum type="arabicPeriod"/>
            </a:pPr>
            <a:r>
              <a:rPr lang="en-US" sz="2700" dirty="0" err="1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Présentation</a:t>
            </a:r>
            <a:r>
              <a:rPr lang="en-US" sz="2700" dirty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de la Province</a:t>
            </a:r>
            <a:endParaRPr sz="2700" dirty="0">
              <a:solidFill>
                <a:schemeClr val="dk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609600" marR="0" lvl="0" indent="-476250" algn="l" rtl="0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Times New Roman" panose="02020603050405020304"/>
              <a:buAutoNum type="arabicPeriod"/>
            </a:pPr>
            <a:r>
              <a:rPr lang="en-US" sz="2700" dirty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Presentation des activités</a:t>
            </a:r>
            <a:endParaRPr sz="2700" dirty="0">
              <a:solidFill>
                <a:schemeClr val="dk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609600" marR="0" lvl="0" indent="-476250" algn="l" rtl="0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Times New Roman" panose="02020603050405020304"/>
              <a:buAutoNum type="arabicPeriod"/>
            </a:pPr>
            <a:r>
              <a:rPr lang="en-US" sz="2700" dirty="0" err="1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Résultats</a:t>
            </a:r>
            <a:r>
              <a:rPr lang="en-US" sz="2700" dirty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obtenus (zones couvertes, impact sur la couverture)</a:t>
            </a:r>
            <a:endParaRPr sz="2700" dirty="0">
              <a:solidFill>
                <a:schemeClr val="dk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609600" marR="0" lvl="0" indent="-476250" algn="l" rtl="0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Times New Roman" panose="02020603050405020304"/>
              <a:buAutoNum type="arabicPeriod"/>
            </a:pPr>
            <a:r>
              <a:rPr lang="en-US" sz="2700" dirty="0" err="1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Facteurs</a:t>
            </a:r>
            <a:r>
              <a:rPr lang="en-US" sz="2700" dirty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de succès</a:t>
            </a:r>
            <a:endParaRPr sz="2700" dirty="0">
              <a:solidFill>
                <a:schemeClr val="dk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609600" marR="0" lvl="0" indent="-476250" algn="l" rtl="0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Times New Roman" panose="02020603050405020304"/>
              <a:buAutoNum type="arabicPeriod"/>
            </a:pPr>
            <a:r>
              <a:rPr lang="en-US" sz="2700" dirty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Défis rencontrés</a:t>
            </a:r>
            <a:endParaRPr sz="2700" dirty="0">
              <a:solidFill>
                <a:schemeClr val="dk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609600" marR="0" lvl="0" indent="-476250" algn="l" rtl="0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Times New Roman" panose="02020603050405020304"/>
              <a:buAutoNum type="arabicPeriod"/>
            </a:pPr>
            <a:r>
              <a:rPr lang="en-US" sz="2700" dirty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Bonnes pratiques à </a:t>
            </a:r>
            <a:r>
              <a:rPr lang="en-US" sz="2700" dirty="0" err="1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capitaliser</a:t>
            </a:r>
            <a:endParaRPr sz="2700" dirty="0">
              <a:solidFill>
                <a:schemeClr val="dk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609600" marR="0" lvl="0" indent="-476250" algn="l" rtl="0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Times New Roman" panose="02020603050405020304"/>
              <a:buAutoNum type="arabicPeriod"/>
            </a:pPr>
            <a:r>
              <a:rPr lang="en-US" sz="2700" dirty="0" err="1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Analyse</a:t>
            </a:r>
            <a:r>
              <a:rPr lang="en-US" sz="2700" dirty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FFOM</a:t>
            </a:r>
            <a:endParaRPr sz="2700" dirty="0">
              <a:solidFill>
                <a:schemeClr val="dk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609600" marR="0" lvl="0" indent="-476250" algn="l" rtl="0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Times New Roman" panose="02020603050405020304"/>
              <a:buAutoNum type="arabicPeriod"/>
            </a:pPr>
            <a:r>
              <a:rPr lang="en-US" sz="2700" dirty="0" err="1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Recommandations</a:t>
            </a:r>
            <a:r>
              <a:rPr lang="en-US" sz="2700" dirty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pour 2026</a:t>
            </a:r>
            <a:endParaRPr sz="2700" dirty="0">
              <a:solidFill>
                <a:schemeClr val="dk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aabc9d920d_0_207"/>
          <p:cNvSpPr txBox="1"/>
          <p:nvPr/>
        </p:nvSpPr>
        <p:spPr>
          <a:xfrm>
            <a:off x="458592" y="195390"/>
            <a:ext cx="11274900" cy="3984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r>
              <a:rPr lang="en-US" sz="2700" dirty="0" err="1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Profil</a:t>
            </a:r>
            <a:r>
              <a:rPr lang="en-US" sz="2700" dirty="0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des </a:t>
            </a:r>
            <a:r>
              <a:rPr lang="en-US" sz="2700" dirty="0" err="1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antennes</a:t>
            </a:r>
            <a:endParaRPr sz="2700" b="0" i="0" u="none" strike="noStrike" cap="none" dirty="0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b="0" i="0" u="none" strike="noStrike" cap="none" dirty="0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66" name="Google Shape;166;g3aabc9d920d_0_207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 panose="020B0604020202020204"/>
              <a:buNone/>
            </a:pPr>
            <a:endParaRPr sz="1900" b="0" i="0" u="none" strike="noStrike" cap="none">
              <a:solidFill>
                <a:srgbClr val="0070C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67" name="Google Shape;167;g3aabc9d920d_0_207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2190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endParaRPr sz="1200" b="1" i="0" u="none" strike="noStrike" cap="none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68" name="Google Shape;168;g3aabc9d920d_0_207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155CC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3</a:t>
            </a:fld>
            <a:endParaRPr sz="1200" b="0" i="0" u="none" strike="noStrike" cap="none">
              <a:solidFill>
                <a:srgbClr val="1155CC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69" name="Google Shape;169;g3aabc9d920d_0_207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w="12700" cap="flat" cmpd="sng">
            <a:solidFill>
              <a:srgbClr val="9E9E9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1" name="Google Shape;171;g3aabc9d920d_0_207"/>
          <p:cNvSpPr/>
          <p:nvPr/>
        </p:nvSpPr>
        <p:spPr>
          <a:xfrm>
            <a:off x="6087850" y="763573"/>
            <a:ext cx="5890408" cy="5914070"/>
          </a:xfrm>
          <a:prstGeom prst="rect">
            <a:avLst/>
          </a:prstGeom>
          <a:solidFill>
            <a:schemeClr val="bg1"/>
          </a:solidFill>
          <a:ln w="98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4100" tIns="94100" rIns="94100" bIns="941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dirty="0">
              <a:solidFill>
                <a:schemeClr val="dk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457200" lvl="0" indent="-3238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imes New Roman" panose="02020603050405020304"/>
              <a:buChar char="●"/>
            </a:pPr>
            <a:r>
              <a:rPr lang="en-US" dirty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Nombre d’antennes PEV: </a:t>
            </a:r>
            <a:r>
              <a:rPr lang="en-US" b="1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2</a:t>
            </a:r>
            <a:endParaRPr b="1" dirty="0">
              <a:solidFill>
                <a:schemeClr val="dk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457200" lvl="0" indent="-3238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imes New Roman" panose="02020603050405020304"/>
              <a:buChar char="●"/>
            </a:pPr>
            <a:r>
              <a:rPr lang="en-US" dirty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Nombre de ZS: Total (</a:t>
            </a:r>
            <a:r>
              <a:rPr lang="en-US" b="1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23</a:t>
            </a:r>
            <a:r>
              <a:rPr lang="en-US" dirty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), </a:t>
            </a:r>
          </a:p>
          <a:p>
            <a:pPr marL="457200" lvl="0" indent="-3238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imes New Roman" panose="02020603050405020304"/>
              <a:buChar char="●"/>
            </a:pPr>
            <a:r>
              <a:rPr lang="en-US" dirty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Nombre d’AS: Total (</a:t>
            </a:r>
            <a:r>
              <a:rPr lang="en-US" b="1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442</a:t>
            </a:r>
            <a:r>
              <a:rPr lang="en-US" dirty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), FAE (</a:t>
            </a:r>
            <a:r>
              <a:rPr lang="en-US" b="1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362</a:t>
            </a:r>
            <a:r>
              <a:rPr lang="en-US" dirty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)</a:t>
            </a:r>
            <a:endParaRPr dirty="0">
              <a:solidFill>
                <a:schemeClr val="dk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457200" lvl="0" indent="-3238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imes New Roman" panose="02020603050405020304"/>
              <a:buChar char="●"/>
            </a:pPr>
            <a:r>
              <a:rPr lang="en-US" dirty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Nombre </a:t>
            </a:r>
            <a:r>
              <a:rPr lang="en-US" dirty="0" err="1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d’ESS</a:t>
            </a:r>
            <a:r>
              <a:rPr lang="en-US" b="1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:  ++1033</a:t>
            </a:r>
            <a:endParaRPr b="1" dirty="0">
              <a:solidFill>
                <a:schemeClr val="dk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457200" lvl="0" indent="-3238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imes New Roman" panose="02020603050405020304"/>
              <a:buChar char="●"/>
            </a:pPr>
            <a:r>
              <a:rPr lang="en-US" dirty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Nombre </a:t>
            </a:r>
            <a:r>
              <a:rPr lang="en-US" dirty="0" err="1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d’ESS</a:t>
            </a:r>
            <a:r>
              <a:rPr lang="en-US" dirty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qui vaccinent: Total (492), FAE (362)</a:t>
            </a:r>
            <a:endParaRPr dirty="0">
              <a:solidFill>
                <a:schemeClr val="dk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457200" lvl="0" indent="-3238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imes New Roman" panose="02020603050405020304"/>
              <a:buChar char="●"/>
            </a:pPr>
            <a:r>
              <a:rPr lang="en-US" dirty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Pop totale:  </a:t>
            </a:r>
            <a:r>
              <a:rPr lang="en-US" b="1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4 687 555 </a:t>
            </a:r>
            <a:endParaRPr b="1" dirty="0">
              <a:solidFill>
                <a:schemeClr val="dk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457200" lvl="0" indent="-3238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imes New Roman" panose="02020603050405020304"/>
              <a:buChar char="●"/>
            </a:pPr>
            <a:r>
              <a:rPr lang="en-US" dirty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Pop de 0-11 mois: </a:t>
            </a:r>
            <a:r>
              <a:rPr lang="en-US" b="1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187 502 </a:t>
            </a:r>
            <a:endParaRPr b="1" dirty="0">
              <a:solidFill>
                <a:schemeClr val="dk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457200" lvl="0" indent="-3238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imes New Roman" panose="02020603050405020304"/>
              <a:buChar char="●"/>
            </a:pPr>
            <a:r>
              <a:rPr lang="en-US" dirty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Pop de 12-23 mois:</a:t>
            </a:r>
            <a:endParaRPr dirty="0">
              <a:solidFill>
                <a:schemeClr val="dk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457200" lvl="0" indent="-3238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imes New Roman" panose="02020603050405020304"/>
              <a:buChar char="●"/>
            </a:pPr>
            <a:r>
              <a:rPr lang="en-US" dirty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Pop de 0-59 mois:  </a:t>
            </a:r>
            <a:r>
              <a:rPr lang="en-US" b="1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885 948 </a:t>
            </a:r>
            <a:endParaRPr b="1" dirty="0">
              <a:solidFill>
                <a:schemeClr val="dk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457200" indent="-323850">
              <a:lnSpc>
                <a:spcPct val="200000"/>
              </a:lnSpc>
              <a:buClr>
                <a:schemeClr val="dk1"/>
              </a:buClr>
              <a:buSzPts val="1500"/>
              <a:buFont typeface="Times New Roman" panose="02020603050405020304"/>
              <a:buChar char="●"/>
            </a:pPr>
            <a:r>
              <a:rPr lang="en-US" dirty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Couverture en ECF: </a:t>
            </a:r>
            <a:r>
              <a:rPr lang="fr-FR" b="1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96</a:t>
            </a:r>
            <a:r>
              <a:rPr lang="fr-FR" b="1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% </a:t>
            </a:r>
            <a:r>
              <a:rPr lang="fr-FR" dirty="0">
                <a:solidFill>
                  <a:schemeClr val="dk1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(426/442 AS) dont </a:t>
            </a:r>
            <a:r>
              <a:rPr lang="fr-FR" b="1" dirty="0">
                <a:solidFill>
                  <a:srgbClr val="FF0000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85 en pannes</a:t>
            </a:r>
            <a:endParaRPr dirty="0">
              <a:solidFill>
                <a:schemeClr val="dk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457200" lvl="0" indent="-3238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imes New Roman" panose="02020603050405020304"/>
              <a:buChar char="●"/>
            </a:pPr>
            <a:r>
              <a:rPr lang="en-US" dirty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Séances de vaccination </a:t>
            </a:r>
            <a:r>
              <a:rPr lang="en-US" dirty="0" err="1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planifiées</a:t>
            </a:r>
            <a:r>
              <a:rPr lang="en-US" dirty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: fixe (…), </a:t>
            </a:r>
            <a:r>
              <a:rPr lang="en-US" dirty="0" err="1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avancée</a:t>
            </a:r>
            <a:r>
              <a:rPr lang="en-US" dirty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(…), porte à porte (…), point de concentration (…), OVM (…)</a:t>
            </a:r>
            <a:endParaRPr dirty="0">
              <a:solidFill>
                <a:schemeClr val="dk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457200" lvl="0" indent="-3238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imes New Roman" panose="02020603050405020304"/>
              <a:buChar char="●"/>
            </a:pPr>
            <a:r>
              <a:rPr lang="en-US" dirty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Existence du plan de </a:t>
            </a:r>
            <a:r>
              <a:rPr lang="en-US" dirty="0" err="1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contextualisation</a:t>
            </a:r>
            <a:r>
              <a:rPr lang="en-US" dirty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FAE DPS: OUI</a:t>
            </a:r>
            <a:endParaRPr dirty="0">
              <a:solidFill>
                <a:schemeClr val="dk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457200" lvl="0" indent="-3238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imes New Roman" panose="02020603050405020304"/>
              <a:buChar char="●"/>
            </a:pPr>
            <a:r>
              <a:rPr lang="en-US" dirty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% des ZS </a:t>
            </a:r>
            <a:r>
              <a:rPr lang="en-US" dirty="0" err="1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ayant</a:t>
            </a:r>
            <a:r>
              <a:rPr lang="en-US" dirty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dirty="0" err="1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intégré</a:t>
            </a:r>
            <a:r>
              <a:rPr lang="en-US" dirty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les activités FAE dans le PAO : 100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9911E620-21E4-F69B-29DE-8DC4C0EEDA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224" y="791477"/>
            <a:ext cx="5501860" cy="2862482"/>
          </a:xfrm>
          <a:prstGeom prst="rect">
            <a:avLst/>
          </a:prstGeom>
          <a:ln w="19050">
            <a:solidFill>
              <a:sysClr val="windowText" lastClr="000000"/>
            </a:solidFill>
          </a:ln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98F64CD5-9396-A860-4A99-203F483E0D2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78" t="9484" r="18178" b="6111"/>
          <a:stretch/>
        </p:blipFill>
        <p:spPr>
          <a:xfrm>
            <a:off x="307966" y="3653959"/>
            <a:ext cx="5535118" cy="3023684"/>
          </a:xfrm>
          <a:prstGeom prst="rect">
            <a:avLst/>
          </a:prstGeom>
          <a:ln>
            <a:solidFill>
              <a:srgbClr val="5B9BD5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aabc9d920d_0_226"/>
          <p:cNvSpPr txBox="1"/>
          <p:nvPr/>
        </p:nvSpPr>
        <p:spPr>
          <a:xfrm>
            <a:off x="458592" y="91693"/>
            <a:ext cx="11274900" cy="4190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r>
              <a:rPr lang="fr-FR" sz="2000" b="1" dirty="0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FINANCEMENTS MOBILISES EN 2025</a:t>
            </a:r>
            <a:endParaRPr sz="2000" b="1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000" b="1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000" b="1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000" b="1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000" b="1" i="0" u="none" strike="noStrike" cap="none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77" name="Google Shape;177;g3aabc9d920d_0_226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 panose="020B0604020202020204"/>
              <a:buNone/>
            </a:pPr>
            <a:endParaRPr sz="1900" b="0" i="0" u="none" strike="noStrike" cap="none">
              <a:solidFill>
                <a:srgbClr val="0070C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78" name="Google Shape;178;g3aabc9d920d_0_226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2190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endParaRPr sz="1200" b="1" i="0" u="none" strike="noStrike" cap="none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79" name="Google Shape;179;g3aabc9d920d_0_226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155CC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4</a:t>
            </a:fld>
            <a:endParaRPr sz="1200" b="0" i="0" u="none" strike="noStrike" cap="none">
              <a:solidFill>
                <a:srgbClr val="1155CC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80" name="Google Shape;180;g3aabc9d920d_0_226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w="12700" cap="flat" cmpd="sng">
            <a:solidFill>
              <a:srgbClr val="9E9E9E"/>
            </a:solidFill>
            <a:prstDash val="solid"/>
            <a:round/>
            <a:headEnd type="none" w="sm" len="sm"/>
            <a:tailEnd type="none" w="sm" len="sm"/>
          </a:ln>
        </p:spPr>
      </p:cxn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9C7F1EC6-2D72-4F47-5FE7-EBD98C591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2529287"/>
              </p:ext>
            </p:extLst>
          </p:nvPr>
        </p:nvGraphicFramePr>
        <p:xfrm>
          <a:off x="59379" y="478976"/>
          <a:ext cx="3439717" cy="6207548"/>
        </p:xfrm>
        <a:graphic>
          <a:graphicData uri="http://schemas.openxmlformats.org/drawingml/2006/table">
            <a:tbl>
              <a:tblPr/>
              <a:tblGrid>
                <a:gridCol w="1005850">
                  <a:extLst>
                    <a:ext uri="{9D8B030D-6E8A-4147-A177-3AD203B41FA5}">
                      <a16:colId xmlns:a16="http://schemas.microsoft.com/office/drawing/2014/main" val="2098166366"/>
                    </a:ext>
                  </a:extLst>
                </a:gridCol>
                <a:gridCol w="1685578">
                  <a:extLst>
                    <a:ext uri="{9D8B030D-6E8A-4147-A177-3AD203B41FA5}">
                      <a16:colId xmlns:a16="http://schemas.microsoft.com/office/drawing/2014/main" val="4139382409"/>
                    </a:ext>
                  </a:extLst>
                </a:gridCol>
                <a:gridCol w="748289">
                  <a:extLst>
                    <a:ext uri="{9D8B030D-6E8A-4147-A177-3AD203B41FA5}">
                      <a16:colId xmlns:a16="http://schemas.microsoft.com/office/drawing/2014/main" val="3299970274"/>
                    </a:ext>
                  </a:extLst>
                </a:gridCol>
              </a:tblGrid>
              <a:tr h="24404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CD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</a:rPr>
                        <a:t>PARTENAIRES</a:t>
                      </a:r>
                    </a:p>
                  </a:txBody>
                  <a:tcPr marL="6659" marR="6659" marT="665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CD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</a:rPr>
                        <a:t>Activités</a:t>
                      </a:r>
                    </a:p>
                  </a:txBody>
                  <a:tcPr marL="6659" marR="6659" marT="665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CD" sz="1200" b="1" i="0" u="none" strike="noStrike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</a:rPr>
                        <a:t>COUTS</a:t>
                      </a:r>
                    </a:p>
                  </a:txBody>
                  <a:tcPr marL="6659" marR="6659" marT="665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0904605"/>
                  </a:ext>
                </a:extLst>
              </a:tr>
              <a:tr h="195237">
                <a:tc rowSpan="6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OMS</a:t>
                      </a:r>
                    </a:p>
                  </a:txBody>
                  <a:tcPr marL="6659" marR="6659" marT="665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CD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AVS( Poliox4 et Cholera)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CD" sz="1200" b="1" i="0" u="none" strike="noStrike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1137977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7298247"/>
                  </a:ext>
                </a:extLst>
              </a:tr>
              <a:tr h="195237">
                <a:tc v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CD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Surveillance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CD" sz="1200" b="0" i="0" u="none" strike="noStrike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14532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9827529"/>
                  </a:ext>
                </a:extLst>
              </a:tr>
              <a:tr h="195237">
                <a:tc v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CD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Vaccination dans les Ilots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CD" sz="1200" b="0" i="0" u="none" strike="noStrike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109225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4668737"/>
                  </a:ext>
                </a:extLst>
              </a:tr>
              <a:tr h="195237">
                <a:tc v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CD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Formation eServ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CD" sz="1200" b="0" i="0" u="none" strike="noStrike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96562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6301881"/>
                  </a:ext>
                </a:extLst>
              </a:tr>
              <a:tr h="195237">
                <a:tc v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CD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Formation Digitalisation eSMT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CD" sz="1200" b="0" i="0" u="none" strike="noStrike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56941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949867"/>
                  </a:ext>
                </a:extLst>
              </a:tr>
              <a:tr h="195237">
                <a:tc v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CD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S/T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CD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1415237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5041774"/>
                  </a:ext>
                </a:extLst>
              </a:tr>
              <a:tr h="195237">
                <a:tc rowSpan="7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GAVI</a:t>
                      </a:r>
                    </a:p>
                  </a:txBody>
                  <a:tcPr marL="6659" marR="6659" marT="665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CD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Activités FAE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CD" sz="1200" b="0" i="0" u="none" strike="noStrike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335755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6731358"/>
                  </a:ext>
                </a:extLst>
              </a:tr>
              <a:tr h="195237">
                <a:tc v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CD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BCU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CD" sz="1200" b="0" i="0" u="none" strike="noStrike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526092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3411792"/>
                  </a:ext>
                </a:extLst>
              </a:tr>
              <a:tr h="195237">
                <a:tc v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Transport Vaccin T1 et T2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CD" sz="1200" b="0" i="0" u="none" strike="noStrike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97450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8839738"/>
                  </a:ext>
                </a:extLst>
              </a:tr>
              <a:tr h="195237">
                <a:tc v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CD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Switch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CD" sz="1200" b="0" i="0" u="none" strike="noStrike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26416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3338326"/>
                  </a:ext>
                </a:extLst>
              </a:tr>
              <a:tr h="195237">
                <a:tc v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CD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Mpox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CD" sz="1200" b="1" i="0" u="none" strike="noStrike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58374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5915455"/>
                  </a:ext>
                </a:extLst>
              </a:tr>
              <a:tr h="195237">
                <a:tc v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CD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VAP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CD" sz="1200" b="0" i="0" u="none" strike="noStrike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100603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125648"/>
                  </a:ext>
                </a:extLst>
              </a:tr>
              <a:tr h="195237">
                <a:tc v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CD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S/T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CD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1144690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2415613"/>
                  </a:ext>
                </a:extLst>
              </a:tr>
              <a:tr h="195237">
                <a:tc rowSpan="5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Unicef</a:t>
                      </a:r>
                    </a:p>
                  </a:txBody>
                  <a:tcPr marL="6659" marR="6659" marT="665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CD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AVS( Poliox4)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CD" sz="1200" b="1" i="0" u="none" strike="noStrike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170081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8037111"/>
                  </a:ext>
                </a:extLst>
              </a:tr>
              <a:tr h="380508">
                <a:tc v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CD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Formation en Management SSP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CD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177807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2152152"/>
                  </a:ext>
                </a:extLst>
              </a:tr>
              <a:tr h="195237">
                <a:tc v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CD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Hub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CD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61261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6833066"/>
                  </a:ext>
                </a:extLst>
              </a:tr>
              <a:tr h="195237">
                <a:tc v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Transport Vaccin T3 et T4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CD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77851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5872956"/>
                  </a:ext>
                </a:extLst>
              </a:tr>
              <a:tr h="195237">
                <a:tc v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CD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S/T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CD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487000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6410082"/>
                  </a:ext>
                </a:extLst>
              </a:tr>
              <a:tr h="195237">
                <a:tc rowSpan="4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VR</a:t>
                      </a:r>
                    </a:p>
                  </a:txBody>
                  <a:tcPr marL="6659" marR="6659" marT="665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CD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IPVS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CD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53366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963483"/>
                  </a:ext>
                </a:extLst>
              </a:tr>
              <a:tr h="195237">
                <a:tc v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CD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Formation PLST 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CD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6100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3823277"/>
                  </a:ext>
                </a:extLst>
              </a:tr>
              <a:tr h="195237">
                <a:tc v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CD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NGCA+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CD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96620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3558269"/>
                  </a:ext>
                </a:extLst>
              </a:tr>
              <a:tr h="195237">
                <a:tc v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CD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S/T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CD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156086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1669918"/>
                  </a:ext>
                </a:extLst>
              </a:tr>
              <a:tr h="5857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APEC</a:t>
                      </a:r>
                    </a:p>
                  </a:txBody>
                  <a:tcPr marL="6659" marR="6659" marT="665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Briefing et Accompagnement saisie des données ZD/SV DHIS2 Track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CD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59409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0898604"/>
                  </a:ext>
                </a:extLst>
              </a:tr>
              <a:tr h="24404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CHAI</a:t>
                      </a:r>
                    </a:p>
                  </a:txBody>
                  <a:tcPr marL="6659" marR="6659" marT="665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CD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CCPeV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CD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2730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5657594"/>
                  </a:ext>
                </a:extLst>
              </a:tr>
              <a:tr h="195237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CD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TOTAL GENERAL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B05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CD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3265152</a:t>
                      </a:r>
                    </a:p>
                  </a:txBody>
                  <a:tcPr marL="6659" marR="6659" marT="665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7475988"/>
                  </a:ext>
                </a:extLst>
              </a:tr>
            </a:tbl>
          </a:graphicData>
        </a:graphic>
      </p:graphicFrame>
      <p:graphicFrame>
        <p:nvGraphicFramePr>
          <p:cNvPr id="4" name="Graphique 3">
            <a:extLst>
              <a:ext uri="{FF2B5EF4-FFF2-40B4-BE49-F238E27FC236}">
                <a16:creationId xmlns:a16="http://schemas.microsoft.com/office/drawing/2014/main" id="{F73ADFF3-54F7-5CAC-71D3-343905477F6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85841605"/>
              </p:ext>
            </p:extLst>
          </p:nvPr>
        </p:nvGraphicFramePr>
        <p:xfrm>
          <a:off x="7362050" y="272241"/>
          <a:ext cx="4770571" cy="61646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7A92A1E7-132F-30DB-DC36-DBFF17B8A6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6478654"/>
              </p:ext>
            </p:extLst>
          </p:nvPr>
        </p:nvGraphicFramePr>
        <p:xfrm>
          <a:off x="3861912" y="575606"/>
          <a:ext cx="3137322" cy="1792071"/>
        </p:xfrm>
        <a:graphic>
          <a:graphicData uri="http://schemas.openxmlformats.org/drawingml/2006/table">
            <a:tbl>
              <a:tblPr/>
              <a:tblGrid>
                <a:gridCol w="2261133">
                  <a:extLst>
                    <a:ext uri="{9D8B030D-6E8A-4147-A177-3AD203B41FA5}">
                      <a16:colId xmlns:a16="http://schemas.microsoft.com/office/drawing/2014/main" val="2679475277"/>
                    </a:ext>
                  </a:extLst>
                </a:gridCol>
                <a:gridCol w="876189">
                  <a:extLst>
                    <a:ext uri="{9D8B030D-6E8A-4147-A177-3AD203B41FA5}">
                      <a16:colId xmlns:a16="http://schemas.microsoft.com/office/drawing/2014/main" val="386645890"/>
                    </a:ext>
                  </a:extLst>
                </a:gridCol>
              </a:tblGrid>
              <a:tr h="25453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CD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Activités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CD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COUTS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4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649326"/>
                  </a:ext>
                </a:extLst>
              </a:tr>
              <a:tr h="21942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CD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AVS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CD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1366432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058658"/>
                  </a:ext>
                </a:extLst>
              </a:tr>
              <a:tr h="21942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CD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PEV Routine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CD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1125041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8664051"/>
                  </a:ext>
                </a:extLst>
              </a:tr>
              <a:tr h="21942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CD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Logistique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CD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365698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813426"/>
                  </a:ext>
                </a:extLst>
              </a:tr>
              <a:tr h="21942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CD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Surveillance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CD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168035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6044702"/>
                  </a:ext>
                </a:extLst>
              </a:tr>
              <a:tr h="21942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CD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Management et </a:t>
                      </a:r>
                      <a:r>
                        <a:rPr lang="fr-CD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Renforc</a:t>
                      </a:r>
                      <a:r>
                        <a:rPr lang="fr-CD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Capacité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CD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177807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7634833"/>
                  </a:ext>
                </a:extLst>
              </a:tr>
              <a:tr h="21942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CD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Generation</a:t>
                      </a:r>
                      <a:r>
                        <a:rPr lang="fr-CD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de la Demande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CD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62139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4275108"/>
                  </a:ext>
                </a:extLst>
              </a:tr>
              <a:tr h="21942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CD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CD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3265152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2943310"/>
                  </a:ext>
                </a:extLst>
              </a:tr>
            </a:tbl>
          </a:graphicData>
        </a:graphic>
      </p:graphicFrame>
      <p:graphicFrame>
        <p:nvGraphicFramePr>
          <p:cNvPr id="6" name="Graphique 5">
            <a:extLst>
              <a:ext uri="{FF2B5EF4-FFF2-40B4-BE49-F238E27FC236}">
                <a16:creationId xmlns:a16="http://schemas.microsoft.com/office/drawing/2014/main" id="{46544F97-DCE6-77C5-0287-60CF192484A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49388014"/>
              </p:ext>
            </p:extLst>
          </p:nvPr>
        </p:nvGraphicFramePr>
        <p:xfrm>
          <a:off x="3689050" y="2686641"/>
          <a:ext cx="3531882" cy="373244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>
          <a:extLst>
            <a:ext uri="{FF2B5EF4-FFF2-40B4-BE49-F238E27FC236}">
              <a16:creationId xmlns:a16="http://schemas.microsoft.com/office/drawing/2014/main" id="{CDEC333E-B0B9-7F5D-A2DB-3E50E71B9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aabc9d920d_0_226">
            <a:extLst>
              <a:ext uri="{FF2B5EF4-FFF2-40B4-BE49-F238E27FC236}">
                <a16:creationId xmlns:a16="http://schemas.microsoft.com/office/drawing/2014/main" id="{A5D79E60-07DC-6B62-9992-988CE12B921A}"/>
              </a:ext>
            </a:extLst>
          </p:cNvPr>
          <p:cNvSpPr txBox="1"/>
          <p:nvPr/>
        </p:nvSpPr>
        <p:spPr>
          <a:xfrm>
            <a:off x="458592" y="91693"/>
            <a:ext cx="11274900" cy="4190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r>
              <a:rPr lang="en-US" sz="2400" b="1" dirty="0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Presentation des </a:t>
            </a:r>
            <a:r>
              <a:rPr lang="en-US" sz="2400" b="1" dirty="0" err="1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activités</a:t>
            </a:r>
            <a:endParaRPr sz="2400" b="1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400" b="1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400" b="1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400" b="1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400" b="1" i="0" u="none" strike="noStrike" cap="none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77" name="Google Shape;177;g3aabc9d920d_0_226">
            <a:extLst>
              <a:ext uri="{FF2B5EF4-FFF2-40B4-BE49-F238E27FC236}">
                <a16:creationId xmlns:a16="http://schemas.microsoft.com/office/drawing/2014/main" id="{7170CBB2-F5FA-5BA8-E4DB-047FA6A53BE3}"/>
              </a:ext>
            </a:extLst>
          </p:cNvPr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 panose="020B0604020202020204"/>
              <a:buNone/>
            </a:pPr>
            <a:endParaRPr sz="1900" b="0" i="0" u="none" strike="noStrike" cap="none">
              <a:solidFill>
                <a:srgbClr val="0070C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78" name="Google Shape;178;g3aabc9d920d_0_226">
            <a:extLst>
              <a:ext uri="{FF2B5EF4-FFF2-40B4-BE49-F238E27FC236}">
                <a16:creationId xmlns:a16="http://schemas.microsoft.com/office/drawing/2014/main" id="{65B2E23F-1CD7-2747-E6AA-547D1BD3124F}"/>
              </a:ext>
            </a:extLst>
          </p:cNvPr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2190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endParaRPr sz="1200" b="1" i="0" u="none" strike="noStrike" cap="none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79" name="Google Shape;179;g3aabc9d920d_0_226">
            <a:extLst>
              <a:ext uri="{FF2B5EF4-FFF2-40B4-BE49-F238E27FC236}">
                <a16:creationId xmlns:a16="http://schemas.microsoft.com/office/drawing/2014/main" id="{82E16481-AC92-3B17-E07B-78E8617BE239}"/>
              </a:ext>
            </a:extLst>
          </p:cNvPr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155CC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5</a:t>
            </a:fld>
            <a:endParaRPr sz="1200" b="0" i="0" u="none" strike="noStrike" cap="none">
              <a:solidFill>
                <a:srgbClr val="1155CC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80" name="Google Shape;180;g3aabc9d920d_0_226">
            <a:extLst>
              <a:ext uri="{FF2B5EF4-FFF2-40B4-BE49-F238E27FC236}">
                <a16:creationId xmlns:a16="http://schemas.microsoft.com/office/drawing/2014/main" id="{637B97D4-520D-3C25-7A3F-370D6BC3F994}"/>
              </a:ext>
            </a:extLst>
          </p:cNvPr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w="12700" cap="flat" cmpd="sng">
            <a:solidFill>
              <a:srgbClr val="9E9E9E"/>
            </a:solidFill>
            <a:prstDash val="solid"/>
            <a:round/>
            <a:headEnd type="none" w="sm" len="sm"/>
            <a:tailEnd type="none" w="sm" len="sm"/>
          </a:ln>
        </p:spPr>
      </p:cxn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3D708A75-DE75-1442-4220-AF0BE373CBE6}"/>
              </a:ext>
            </a:extLst>
          </p:cNvPr>
          <p:cNvGraphicFramePr>
            <a:graphicFrameLocks noGrp="1"/>
          </p:cNvGraphicFramePr>
          <p:nvPr/>
        </p:nvGraphicFramePr>
        <p:xfrm>
          <a:off x="226246" y="503226"/>
          <a:ext cx="11909573" cy="6358504"/>
        </p:xfrm>
        <a:graphic>
          <a:graphicData uri="http://schemas.openxmlformats.org/drawingml/2006/table">
            <a:tbl>
              <a:tblPr/>
              <a:tblGrid>
                <a:gridCol w="1989053">
                  <a:extLst>
                    <a:ext uri="{9D8B030D-6E8A-4147-A177-3AD203B41FA5}">
                      <a16:colId xmlns:a16="http://schemas.microsoft.com/office/drawing/2014/main" val="456049261"/>
                    </a:ext>
                  </a:extLst>
                </a:gridCol>
                <a:gridCol w="7588577">
                  <a:extLst>
                    <a:ext uri="{9D8B030D-6E8A-4147-A177-3AD203B41FA5}">
                      <a16:colId xmlns:a16="http://schemas.microsoft.com/office/drawing/2014/main" val="2523465516"/>
                    </a:ext>
                  </a:extLst>
                </a:gridCol>
                <a:gridCol w="1102936">
                  <a:extLst>
                    <a:ext uri="{9D8B030D-6E8A-4147-A177-3AD203B41FA5}">
                      <a16:colId xmlns:a16="http://schemas.microsoft.com/office/drawing/2014/main" val="401191938"/>
                    </a:ext>
                  </a:extLst>
                </a:gridCol>
                <a:gridCol w="1229007">
                  <a:extLst>
                    <a:ext uri="{9D8B030D-6E8A-4147-A177-3AD203B41FA5}">
                      <a16:colId xmlns:a16="http://schemas.microsoft.com/office/drawing/2014/main" val="1375124371"/>
                    </a:ext>
                  </a:extLst>
                </a:gridCol>
              </a:tblGrid>
              <a:tr h="433169">
                <a:tc>
                  <a:txBody>
                    <a:bodyPr/>
                    <a:lstStyle/>
                    <a:p>
                      <a:pPr algn="ctr" rtl="0" fontAlgn="ctr"/>
                      <a:r>
                        <a:rPr lang="fr-F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Activités spécifiques ou approches spéciales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Description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Objectifs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Périmetre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d’intervention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02113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1" dirty="0">
                          <a:solidFill>
                            <a:srgbClr val="1155CC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FAE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CD" sz="1200" b="0" i="0" u="none" strike="noStrike" cap="none" dirty="0">
                          <a:solidFill>
                            <a:srgbClr val="000000"/>
                          </a:solidFill>
                          <a:latin typeface="Times New Roman"/>
                          <a:ea typeface="+mn-ea"/>
                          <a:cs typeface="Times New Roman"/>
                          <a:sym typeface="Arial" panose="020B0604020202020204"/>
                        </a:rPr>
                        <a:t>Identification des EZD et ESV 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CD" sz="1200" b="1" i="0" u="none" strike="noStrike" cap="none" dirty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  <a:sym typeface="Arial" panose="020B0604020202020204"/>
                        </a:rPr>
                        <a:t>Vaccination porte à porte </a:t>
                      </a:r>
                      <a:r>
                        <a:rPr lang="fr-CD" sz="1200" b="0" i="0" u="none" strike="noStrike" cap="none" dirty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  <a:sym typeface="Arial" panose="020B0604020202020204"/>
                        </a:rPr>
                        <a:t>dans le rayon de 5 Km des centres santé </a:t>
                      </a:r>
                      <a:endParaRPr lang="fr-FR" sz="1200" b="0" i="0" u="none" strike="noStrike" cap="none" dirty="0">
                        <a:solidFill>
                          <a:schemeClr val="tx1"/>
                        </a:solidFill>
                        <a:latin typeface="Times New Roman"/>
                        <a:ea typeface="Times New Roman" panose="02020603050405020304"/>
                        <a:cs typeface="Times New Roman"/>
                        <a:sym typeface="Times New Roman" panose="02020603050405020304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1200" b="0" i="0" u="none" strike="noStrike" cap="none" dirty="0">
                          <a:solidFill>
                            <a:schemeClr val="tx1"/>
                          </a:solidFill>
                          <a:latin typeface="Times New Roman"/>
                          <a:ea typeface="Times New Roman" panose="02020603050405020304"/>
                          <a:cs typeface="Times New Roman"/>
                          <a:sym typeface="Times New Roman" panose="02020603050405020304"/>
                        </a:rPr>
                        <a:t> </a:t>
                      </a:r>
                      <a:r>
                        <a:rPr lang="fr-CD" sz="1200" b="0" i="0" u="none" strike="noStrike" cap="none" dirty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  <a:sym typeface="Arial" panose="020B0604020202020204"/>
                        </a:rPr>
                        <a:t>Stratégies avancées appuyées par la cartographie des enfants de l’AS  dans </a:t>
                      </a:r>
                      <a:r>
                        <a:rPr lang="fr-CD" sz="1200" b="1" i="0" u="none" strike="noStrike" cap="none" dirty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  <a:sym typeface="Arial" panose="020B0604020202020204"/>
                        </a:rPr>
                        <a:t>les sites éloignés à forte concentration des enfants zéro doses et sous-vaccinés</a:t>
                      </a:r>
                      <a:endParaRPr lang="fr-FR" sz="1200" b="1" i="0" u="none" strike="noStrike" cap="none" dirty="0">
                        <a:solidFill>
                          <a:schemeClr val="tx1"/>
                        </a:solidFill>
                        <a:latin typeface="Times New Roman"/>
                        <a:cs typeface="Times New Roman"/>
                        <a:sym typeface="Times New Roman" panose="02020603050405020304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1200" b="1" i="0" u="none" strike="noStrike" cap="none" dirty="0">
                          <a:solidFill>
                            <a:schemeClr val="tx1"/>
                          </a:solidFill>
                          <a:latin typeface="Times New Roman"/>
                          <a:cs typeface="Times New Roman"/>
                          <a:sym typeface="Times New Roman" panose="02020603050405020304"/>
                        </a:rPr>
                        <a:t>V</a:t>
                      </a:r>
                      <a:r>
                        <a:rPr lang="fr-CD" sz="1200" b="1" i="0" u="none" strike="noStrike" cap="none" dirty="0" err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  <a:sym typeface="Arial" panose="020B0604020202020204"/>
                        </a:rPr>
                        <a:t>accination</a:t>
                      </a:r>
                      <a:r>
                        <a:rPr lang="fr-CD" sz="1200" b="1" i="0" u="none" strike="noStrike" cap="none" dirty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  <a:sym typeface="Arial" panose="020B0604020202020204"/>
                        </a:rPr>
                        <a:t> à tout contact pour la réduction des occasions manquées de vaccination </a:t>
                      </a:r>
                      <a:r>
                        <a:rPr lang="fr-CD" sz="1200" b="0" i="0" u="none" strike="noStrike" cap="none" dirty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  <a:sym typeface="Arial" panose="020B0604020202020204"/>
                        </a:rPr>
                        <a:t>(OMV) au cours des activités curatives et préventives dans les Etablissements des soins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CD" sz="1200" b="1" i="0" u="none" strike="noStrike" cap="none" dirty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  <a:sym typeface="Arial" panose="020B0604020202020204"/>
                        </a:rPr>
                        <a:t>Vaccination dans les établissements des soins avec des horaires adaptés </a:t>
                      </a:r>
                      <a:r>
                        <a:rPr lang="fr-CD" sz="1200" b="0" i="0" u="none" strike="noStrike" cap="none" dirty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  <a:sym typeface="Arial" panose="020B0604020202020204"/>
                        </a:rPr>
                        <a:t>aux disponibilités des mères et des adolescentes (</a:t>
                      </a:r>
                      <a:r>
                        <a:rPr lang="fr-CD" sz="1200" b="1" i="0" u="none" strike="noStrike" cap="none" dirty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  <a:sym typeface="Arial" panose="020B0604020202020204"/>
                        </a:rPr>
                        <a:t>week-end, jours fériés</a:t>
                      </a:r>
                      <a:r>
                        <a:rPr lang="fr-CD" sz="1200" b="0" i="0" u="none" strike="noStrike" cap="none" dirty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  <a:sym typeface="Arial" panose="020B0604020202020204"/>
                        </a:rPr>
                        <a:t>, …) </a:t>
                      </a:r>
                      <a:endParaRPr lang="fr-FR" sz="1200" b="0" i="0" u="none" strike="noStrike" cap="none" dirty="0">
                        <a:solidFill>
                          <a:schemeClr val="tx1"/>
                        </a:solidFill>
                        <a:latin typeface="Times New Roman"/>
                        <a:ea typeface="Times New Roman" panose="02020603050405020304"/>
                        <a:cs typeface="Times New Roman"/>
                        <a:sym typeface="Times New Roman" panose="02020603050405020304"/>
                      </a:endParaRPr>
                    </a:p>
                  </a:txBody>
                  <a:tcPr marL="91425" marR="91425" marT="91425" marB="914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/>
                        <a:buNone/>
                        <a:tabLst/>
                        <a:defRPr/>
                      </a:pPr>
                      <a:r>
                        <a:rPr lang="fr-CD" sz="1400" b="1" dirty="0">
                          <a:solidFill>
                            <a:srgbClr val="0070C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35%</a:t>
                      </a:r>
                    </a:p>
                    <a:p>
                      <a:pPr algn="ctr" fontAlgn="t"/>
                      <a:endParaRPr lang="en-US" sz="1400" b="1" i="1" u="none" strike="noStrike" dirty="0">
                        <a:solidFill>
                          <a:srgbClr val="0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CD" sz="1600" b="1" dirty="0">
                          <a:solidFill>
                            <a:srgbClr val="0070C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19/23</a:t>
                      </a:r>
                      <a:endParaRPr sz="1600" b="1" dirty="0">
                        <a:solidFill>
                          <a:srgbClr val="0070C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91425" marR="91425" marT="91425" marB="91425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5093243"/>
                  </a:ext>
                </a:extLst>
              </a:tr>
              <a:tr h="490782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/>
                        <a:buNone/>
                        <a:tabLst/>
                        <a:defRPr/>
                      </a:pPr>
                      <a:r>
                        <a:rPr lang="fr-CD" sz="1400" b="1" dirty="0">
                          <a:solidFill>
                            <a:srgbClr val="0070C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GRAND</a:t>
                      </a:r>
                      <a:r>
                        <a:rPr lang="fr-CD" sz="1400" b="1" baseline="0" dirty="0">
                          <a:solidFill>
                            <a:srgbClr val="0070C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 RATTRAPAGE</a:t>
                      </a:r>
                      <a:endParaRPr lang="fr-CD" sz="1400" b="1" dirty="0">
                        <a:solidFill>
                          <a:srgbClr val="0070C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CD" sz="1200" b="1" i="0" u="none" strike="noStrike" cap="none" dirty="0">
                          <a:solidFill>
                            <a:srgbClr val="000000"/>
                          </a:solidFill>
                          <a:latin typeface="Times New Roman"/>
                          <a:ea typeface="+mn-ea"/>
                          <a:cs typeface="Times New Roman"/>
                          <a:sym typeface="Arial" panose="020B0604020202020204"/>
                        </a:rPr>
                        <a:t>Dénombrement de la population </a:t>
                      </a:r>
                      <a:r>
                        <a:rPr lang="fr-CD" sz="1200" b="0" i="0" u="none" strike="noStrike" cap="none" dirty="0">
                          <a:solidFill>
                            <a:srgbClr val="000000"/>
                          </a:solidFill>
                          <a:latin typeface="Times New Roman"/>
                          <a:ea typeface="+mn-ea"/>
                          <a:cs typeface="Times New Roman"/>
                          <a:sym typeface="Arial" panose="020B0604020202020204"/>
                        </a:rPr>
                        <a:t>dans tous les villages par les CAC de chaque village/quartier/localité 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CD" sz="1200" b="1" i="0" u="none" strike="noStrike" cap="none" dirty="0">
                          <a:solidFill>
                            <a:srgbClr val="000000"/>
                          </a:solidFill>
                          <a:latin typeface="Times New Roman"/>
                          <a:ea typeface="+mn-ea"/>
                          <a:cs typeface="Times New Roman"/>
                          <a:sym typeface="Arial" panose="020B0604020202020204"/>
                        </a:rPr>
                        <a:t>Identification des enfants cibles </a:t>
                      </a:r>
                      <a:r>
                        <a:rPr lang="fr-CD" sz="1200" b="0" i="0" u="none" strike="noStrike" cap="none" dirty="0">
                          <a:solidFill>
                            <a:srgbClr val="000000"/>
                          </a:solidFill>
                          <a:latin typeface="Times New Roman"/>
                          <a:ea typeface="+mn-ea"/>
                          <a:cs typeface="Times New Roman"/>
                          <a:sym typeface="Arial" panose="020B0604020202020204"/>
                        </a:rPr>
                        <a:t>(0-23 mois qui recevront tous les antigènes ; </a:t>
                      </a:r>
                      <a:r>
                        <a:rPr lang="fr-CD" sz="1200" b="1" i="0" u="none" strike="noStrike" cap="none" dirty="0">
                          <a:solidFill>
                            <a:srgbClr val="000000"/>
                          </a:solidFill>
                          <a:latin typeface="Times New Roman"/>
                          <a:ea typeface="+mn-ea"/>
                          <a:cs typeface="Times New Roman"/>
                          <a:sym typeface="Arial" panose="020B0604020202020204"/>
                        </a:rPr>
                        <a:t>et  ceux de 24 -59 mois  recevront uniquement 3 antigènes : Penta, VPI et VAR</a:t>
                      </a:r>
                      <a:r>
                        <a:rPr lang="fr-CD" sz="1200" b="0" i="0" u="none" strike="noStrike" cap="none" dirty="0">
                          <a:solidFill>
                            <a:srgbClr val="000000"/>
                          </a:solidFill>
                          <a:latin typeface="Times New Roman"/>
                          <a:ea typeface="+mn-ea"/>
                          <a:cs typeface="Times New Roman"/>
                          <a:sym typeface="Arial" panose="020B0604020202020204"/>
                        </a:rPr>
                        <a:t>))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CD" sz="1200" b="1" i="0" u="none" strike="noStrike" cap="none" dirty="0">
                          <a:solidFill>
                            <a:srgbClr val="000000"/>
                          </a:solidFill>
                          <a:latin typeface="Times New Roman"/>
                          <a:ea typeface="+mn-ea"/>
                          <a:cs typeface="Times New Roman"/>
                          <a:sym typeface="Arial" panose="020B0604020202020204"/>
                        </a:rPr>
                        <a:t>Elaboration des micros plans </a:t>
                      </a:r>
                      <a:r>
                        <a:rPr lang="fr-CD" sz="1200" b="0" i="0" u="none" strike="noStrike" cap="none" dirty="0">
                          <a:solidFill>
                            <a:srgbClr val="000000"/>
                          </a:solidFill>
                          <a:latin typeface="Times New Roman"/>
                          <a:ea typeface="+mn-ea"/>
                          <a:cs typeface="Times New Roman"/>
                          <a:sym typeface="Arial" panose="020B0604020202020204"/>
                        </a:rPr>
                        <a:t>en se basant sur la population dénombrée</a:t>
                      </a:r>
                      <a:endParaRPr lang="fr-FR" sz="1200" b="0" i="0" u="none" strike="noStrike" cap="none" dirty="0">
                        <a:solidFill>
                          <a:srgbClr val="000000"/>
                        </a:solidFill>
                        <a:latin typeface="Times New Roman"/>
                        <a:ea typeface="+mn-ea"/>
                        <a:cs typeface="Times New Roman"/>
                        <a:sym typeface="Arial" panose="020B0604020202020204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1200" b="1" i="0" u="none" strike="noStrike" cap="none" dirty="0">
                          <a:solidFill>
                            <a:srgbClr val="000000"/>
                          </a:solidFill>
                          <a:latin typeface="Times New Roman"/>
                          <a:ea typeface="+mn-ea"/>
                          <a:cs typeface="Times New Roman"/>
                          <a:sym typeface="Arial" panose="020B0604020202020204"/>
                        </a:rPr>
                        <a:t>Identification et suivi des enfants ZD et SV</a:t>
                      </a:r>
                      <a:endParaRPr lang="fr-CD" sz="1200" b="1" i="0" u="none" strike="noStrike" cap="none" dirty="0">
                        <a:solidFill>
                          <a:srgbClr val="000000"/>
                        </a:solidFill>
                        <a:latin typeface="Times New Roman"/>
                        <a:ea typeface="+mn-ea"/>
                        <a:cs typeface="Times New Roman"/>
                        <a:sym typeface="Arial" panose="020B0604020202020204"/>
                      </a:endParaRPr>
                    </a:p>
                  </a:txBody>
                  <a:tcPr marL="91425" marR="91425" marT="91425" marB="914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/>
                        <a:buNone/>
                        <a:tabLst/>
                        <a:defRPr/>
                      </a:pPr>
                      <a:r>
                        <a:rPr lang="fr-CD" sz="1400" b="1" i="0" u="none" strike="noStrike" cap="none" dirty="0">
                          <a:solidFill>
                            <a:srgbClr val="0070C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70%</a:t>
                      </a:r>
                      <a:endParaRPr lang="en-US" sz="1400" b="1" i="0" u="none" strike="noStrike" cap="none" dirty="0">
                        <a:solidFill>
                          <a:srgbClr val="0070C0"/>
                        </a:solidFill>
                        <a:latin typeface="Times New Roman" panose="02020603050405020304"/>
                        <a:cs typeface="Times New Roman" panose="02020603050405020304"/>
                        <a:sym typeface="Arial" panose="020B0604020202020204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CD" sz="1600" b="1" dirty="0">
                          <a:solidFill>
                            <a:srgbClr val="0070C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13/23</a:t>
                      </a:r>
                      <a:endParaRPr sz="1600" b="1" dirty="0">
                        <a:solidFill>
                          <a:srgbClr val="0070C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91425" marR="91425" marT="91425" marB="91425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6041971"/>
                  </a:ext>
                </a:extLst>
              </a:tr>
              <a:tr h="433633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/>
                        <a:buNone/>
                        <a:tabLst/>
                        <a:defRPr/>
                      </a:pPr>
                      <a:r>
                        <a:rPr lang="fr-FR" sz="1400" b="1" i="0" u="none" strike="noStrike" cap="none" dirty="0">
                          <a:solidFill>
                            <a:srgbClr val="0070C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VAP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FR" sz="1200" b="1" i="0" u="none" strike="noStrike" cap="none" dirty="0">
                          <a:solidFill>
                            <a:srgbClr val="000000"/>
                          </a:solidFill>
                          <a:latin typeface="Times New Roman"/>
                          <a:ea typeface="+mn-ea"/>
                          <a:cs typeface="Times New Roman"/>
                          <a:sym typeface="Arial" panose="020B0604020202020204"/>
                        </a:rPr>
                        <a:t>l’introduction du vaccin contre le paludisme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Times New Roman"/>
                        <a:ea typeface="+mn-ea"/>
                        <a:cs typeface="Times New Roman"/>
                        <a:sym typeface="Times New Roman" panose="02020603050405020304"/>
                      </a:endParaRPr>
                    </a:p>
                  </a:txBody>
                  <a:tcPr marL="91425" marR="91425" marT="91425" marB="914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/>
                        <a:buNone/>
                        <a:tabLst/>
                        <a:defRPr/>
                      </a:pPr>
                      <a:r>
                        <a:rPr lang="en-US" sz="1400" b="1" i="0" u="none" strike="noStrike" cap="none" dirty="0">
                          <a:solidFill>
                            <a:srgbClr val="0070C0"/>
                          </a:solidFill>
                          <a:latin typeface="Times New Roman" panose="02020603050405020304"/>
                          <a:cs typeface="Times New Roman" panose="02020603050405020304"/>
                          <a:sym typeface="Arial" panose="020B0604020202020204"/>
                        </a:rPr>
                        <a:t>80%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CD" sz="1600" b="1" dirty="0">
                          <a:solidFill>
                            <a:srgbClr val="0070C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23/23</a:t>
                      </a:r>
                      <a:endParaRPr sz="1600" b="1" dirty="0">
                        <a:solidFill>
                          <a:srgbClr val="0070C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91425" marR="91425" marT="91425" marB="91425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5018173"/>
                  </a:ext>
                </a:extLst>
              </a:tr>
              <a:tr h="101380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b="1" dirty="0">
                          <a:solidFill>
                            <a:srgbClr val="0070C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IPVS dans les Localités d’accès difficile 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1200" u="none" strike="noStrike" cap="none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La cartographie dans la province et estimation de  la population sur base des données </a:t>
                      </a:r>
                      <a:r>
                        <a:rPr lang="fr-FR" sz="1200" u="none" strike="noStrike" cap="none" dirty="0" err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géo-spatiales</a:t>
                      </a:r>
                      <a:endParaRPr lang="fr-FR" sz="1200" u="none" strike="noStrike" cap="none"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1200" u="none" strike="noStrike" cap="none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Définition des aires de vaccination pour les équipes des IPVS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1200" u="none" strike="noStrike" cap="none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La livraison </a:t>
                      </a:r>
                      <a:r>
                        <a:rPr lang="fr-FR" sz="1200" u="none" strike="noStrike" cap="none" dirty="0" err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apres</a:t>
                      </a:r>
                      <a:r>
                        <a:rPr lang="fr-FR" sz="1200" u="none" strike="noStrike" cap="none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r>
                        <a:rPr lang="en-GB" sz="1200" u="none" strike="noStrike" cap="none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estimation des </a:t>
                      </a:r>
                      <a:r>
                        <a:rPr lang="en-GB" sz="1200" u="none" strike="noStrike" cap="none" dirty="0" err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besoins</a:t>
                      </a:r>
                      <a:r>
                        <a:rPr lang="en-GB" sz="1200" u="none" strike="noStrike" cap="none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r>
                        <a:rPr lang="en-GB" sz="1200" u="none" strike="noStrike" cap="none" dirty="0" err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logistiques</a:t>
                      </a:r>
                      <a:r>
                        <a:rPr lang="en-GB" sz="1200" u="none" strike="noStrike" cap="none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r>
                        <a:rPr lang="fr-FR" sz="1200" u="none" strike="noStrike" cap="none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par zone de santé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1200" u="none" strike="noStrike" cap="none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Formation des équipes de vaccination à l'utilisation des outils de </a:t>
                      </a:r>
                      <a:r>
                        <a:rPr lang="fr-FR" sz="1200" u="none" strike="noStrike" cap="none" dirty="0" err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tracking</a:t>
                      </a:r>
                      <a:r>
                        <a:rPr lang="fr-FR" sz="1200" u="none" strike="noStrike" cap="none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et aux mesures spécifiques de vaccination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GB" sz="1200" b="0" i="0" u="none" strike="noStrike" cap="none" dirty="0" err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Suivi</a:t>
                      </a:r>
                      <a:r>
                        <a:rPr lang="en-GB" sz="1200" b="0" i="0" u="none" strike="noStrike" cap="none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de la vaccination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1200" u="none" strike="noStrike" cap="none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Tenir une enquête de couverture vaccinale rapide dans la province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/>
                        <a:buNone/>
                        <a:tabLst/>
                        <a:defRPr/>
                      </a:pPr>
                      <a:r>
                        <a:rPr lang="fr-CD" sz="1400" b="1" dirty="0">
                          <a:solidFill>
                            <a:srgbClr val="0070C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50%</a:t>
                      </a:r>
                    </a:p>
                    <a:p>
                      <a:pPr algn="ctr" fontAlgn="t"/>
                      <a:endParaRPr lang="en-US" sz="1400" b="1" i="1" u="none" strike="noStrike" dirty="0">
                        <a:solidFill>
                          <a:srgbClr val="0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/>
                        <a:buNone/>
                      </a:pPr>
                      <a:r>
                        <a:rPr lang="fr-FR" sz="1600" b="1" i="0" u="none" strike="noStrike" cap="none" dirty="0">
                          <a:solidFill>
                            <a:srgbClr val="0070C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8/23</a:t>
                      </a:r>
                      <a:endParaRPr sz="1600" b="1" i="0" u="none" strike="noStrike" cap="none" dirty="0">
                        <a:solidFill>
                          <a:srgbClr val="0070C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91425" marR="91425" marT="91425" marB="91425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55199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5040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aabc9d920d_0_234"/>
          <p:cNvSpPr txBox="1"/>
          <p:nvPr/>
        </p:nvSpPr>
        <p:spPr>
          <a:xfrm>
            <a:off x="458592" y="176536"/>
            <a:ext cx="11274900" cy="426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r>
              <a:rPr lang="" sz="2700" dirty="0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Résultats obtenus: couverture vaccinale</a:t>
            </a:r>
            <a:endParaRPr sz="2700" dirty="0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dirty="0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dirty="0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dirty="0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dirty="0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dirty="0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b="0" i="0" u="none" strike="noStrike" cap="none" dirty="0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237" name="Google Shape;237;g3aabc9d920d_0_234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 panose="020B0604020202020204"/>
              <a:buNone/>
            </a:pPr>
            <a:endParaRPr sz="1900" b="0" i="0" u="none" strike="noStrike" cap="none">
              <a:solidFill>
                <a:srgbClr val="0070C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238" name="Google Shape;238;g3aabc9d920d_0_234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2190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endParaRPr sz="1200" b="1" i="0" u="none" strike="noStrike" cap="none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239" name="Google Shape;239;g3aabc9d920d_0_234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155CC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6</a:t>
            </a:fld>
            <a:endParaRPr sz="1200" b="0" i="0" u="none" strike="noStrike" cap="none">
              <a:solidFill>
                <a:srgbClr val="1155CC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40" name="Google Shape;240;g3aabc9d920d_0_234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w="12700" cap="flat" cmpd="sng">
            <a:solidFill>
              <a:srgbClr val="9E9E9E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" name="Image 1">
            <a:extLst>
              <a:ext uri="{FF2B5EF4-FFF2-40B4-BE49-F238E27FC236}">
                <a16:creationId xmlns:a16="http://schemas.microsoft.com/office/drawing/2014/main" id="{3291F807-2F39-EA58-2AD4-2F4FA5B02C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296" y="681995"/>
            <a:ext cx="11640300" cy="57302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aabc9d920d_0_390"/>
          <p:cNvSpPr txBox="1"/>
          <p:nvPr/>
        </p:nvSpPr>
        <p:spPr>
          <a:xfrm>
            <a:off x="458592" y="317941"/>
            <a:ext cx="11274900" cy="73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r>
              <a:rPr lang="en-US" sz="2700" dirty="0" err="1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Résultats</a:t>
            </a:r>
            <a:r>
              <a:rPr lang="en-US" sz="2700" dirty="0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obtenus: FAE 2024-2025</a:t>
            </a:r>
            <a:endParaRPr sz="2700" dirty="0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dirty="0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dirty="0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dirty="0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dirty="0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b="0" i="0" u="none" strike="noStrike" cap="none" dirty="0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87" name="Google Shape;187;g3aabc9d920d_0_390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 panose="020B0604020202020204"/>
              <a:buNone/>
            </a:pPr>
            <a:endParaRPr sz="1900" b="0" i="0" u="none" strike="noStrike" cap="none">
              <a:solidFill>
                <a:srgbClr val="0070C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88" name="Google Shape;188;g3aabc9d920d_0_390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2190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endParaRPr sz="1200" b="1" i="0" u="none" strike="noStrike" cap="none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89" name="Google Shape;189;g3aabc9d920d_0_390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155CC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7</a:t>
            </a:fld>
            <a:endParaRPr sz="1200" b="0" i="0" u="none" strike="noStrike" cap="none">
              <a:solidFill>
                <a:srgbClr val="1155CC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90" name="Google Shape;190;g3aabc9d920d_0_390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w="12700" cap="flat" cmpd="sng">
            <a:solidFill>
              <a:srgbClr val="9E9E9E"/>
            </a:solidFill>
            <a:prstDash val="solid"/>
            <a:round/>
            <a:headEnd type="none" w="sm" len="sm"/>
            <a:tailEnd type="none" w="sm" len="sm"/>
          </a:ln>
        </p:spPr>
      </p:cxn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2B6669A2-9D75-EA39-55D4-3B1ACBFC2B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0212654"/>
              </p:ext>
            </p:extLst>
          </p:nvPr>
        </p:nvGraphicFramePr>
        <p:xfrm>
          <a:off x="458592" y="1339393"/>
          <a:ext cx="11200010" cy="4413957"/>
        </p:xfrm>
        <a:graphic>
          <a:graphicData uri="http://schemas.openxmlformats.org/drawingml/2006/table">
            <a:tbl>
              <a:tblPr/>
              <a:tblGrid>
                <a:gridCol w="2136844">
                  <a:extLst>
                    <a:ext uri="{9D8B030D-6E8A-4147-A177-3AD203B41FA5}">
                      <a16:colId xmlns:a16="http://schemas.microsoft.com/office/drawing/2014/main" val="1348580862"/>
                    </a:ext>
                  </a:extLst>
                </a:gridCol>
                <a:gridCol w="1237897">
                  <a:extLst>
                    <a:ext uri="{9D8B030D-6E8A-4147-A177-3AD203B41FA5}">
                      <a16:colId xmlns:a16="http://schemas.microsoft.com/office/drawing/2014/main" val="4210844786"/>
                    </a:ext>
                  </a:extLst>
                </a:gridCol>
                <a:gridCol w="913685">
                  <a:extLst>
                    <a:ext uri="{9D8B030D-6E8A-4147-A177-3AD203B41FA5}">
                      <a16:colId xmlns:a16="http://schemas.microsoft.com/office/drawing/2014/main" val="1065702089"/>
                    </a:ext>
                  </a:extLst>
                </a:gridCol>
                <a:gridCol w="913685">
                  <a:extLst>
                    <a:ext uri="{9D8B030D-6E8A-4147-A177-3AD203B41FA5}">
                      <a16:colId xmlns:a16="http://schemas.microsoft.com/office/drawing/2014/main" val="2119674789"/>
                    </a:ext>
                  </a:extLst>
                </a:gridCol>
                <a:gridCol w="913685">
                  <a:extLst>
                    <a:ext uri="{9D8B030D-6E8A-4147-A177-3AD203B41FA5}">
                      <a16:colId xmlns:a16="http://schemas.microsoft.com/office/drawing/2014/main" val="3157987573"/>
                    </a:ext>
                  </a:extLst>
                </a:gridCol>
                <a:gridCol w="1694738">
                  <a:extLst>
                    <a:ext uri="{9D8B030D-6E8A-4147-A177-3AD203B41FA5}">
                      <a16:colId xmlns:a16="http://schemas.microsoft.com/office/drawing/2014/main" val="4143187160"/>
                    </a:ext>
                  </a:extLst>
                </a:gridCol>
                <a:gridCol w="1694738">
                  <a:extLst>
                    <a:ext uri="{9D8B030D-6E8A-4147-A177-3AD203B41FA5}">
                      <a16:colId xmlns:a16="http://schemas.microsoft.com/office/drawing/2014/main" val="3724804390"/>
                    </a:ext>
                  </a:extLst>
                </a:gridCol>
                <a:gridCol w="1694738">
                  <a:extLst>
                    <a:ext uri="{9D8B030D-6E8A-4147-A177-3AD203B41FA5}">
                      <a16:colId xmlns:a16="http://schemas.microsoft.com/office/drawing/2014/main" val="2944810892"/>
                    </a:ext>
                  </a:extLst>
                </a:gridCol>
              </a:tblGrid>
              <a:tr h="677943">
                <a:tc row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CD" sz="16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Intervention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CD" sz="16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Nombre ZS couvertes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CD" sz="16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Nombre enfant identifié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CD" sz="16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Nombre Enfant récupéré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CD" sz="16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Contribution dans la CV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4275858"/>
                  </a:ext>
                </a:extLst>
              </a:tr>
              <a:tr h="367645">
                <a:tc v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CD" sz="16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ZD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CD" sz="16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SV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CD" sz="16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ZD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CD" sz="16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SV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CD" sz="16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DTC1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CD" sz="16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DTC3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8825937"/>
                  </a:ext>
                </a:extLst>
              </a:tr>
              <a:tr h="561395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fr-CD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Porte à porte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 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 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31682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28395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600" b="1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36%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600" b="1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36%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2317040"/>
                  </a:ext>
                </a:extLst>
              </a:tr>
              <a:tr h="1122789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fr-CD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Point de concentration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 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 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2099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1919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600" b="1" i="1" u="none" strike="noStrike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2%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600" b="1" i="1" u="none" strike="noStrike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2%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9215448"/>
                  </a:ext>
                </a:extLst>
              </a:tr>
              <a:tr h="561395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fr-CD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OMV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 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 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20220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17558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600" b="1" i="1" u="none" strike="noStrike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23%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600" b="1" i="1" u="none" strike="noStrike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22%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38686"/>
                  </a:ext>
                </a:extLst>
              </a:tr>
              <a:tr h="561395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fr-CD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Horaire adapté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 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 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33273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30785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600" b="1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38%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600" b="1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39%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8156915"/>
                  </a:ext>
                </a:extLst>
              </a:tr>
              <a:tr h="561395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fr-CD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TOTAL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CD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 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6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31185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6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59053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6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87274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6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78657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 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CD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 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019125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>
          <a:extLst>
            <a:ext uri="{FF2B5EF4-FFF2-40B4-BE49-F238E27FC236}">
              <a16:creationId xmlns:a16="http://schemas.microsoft.com/office/drawing/2014/main" id="{1D52D4C2-9261-D2FE-0CB7-A2A3AFE6D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545DB418-5BE4-15F9-4282-4CC4F936C7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50" y="1457869"/>
            <a:ext cx="5978250" cy="528464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3B4892D4-7167-979A-75A9-07901C3600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351174"/>
            <a:ext cx="5736349" cy="5391343"/>
          </a:xfrm>
          <a:prstGeom prst="rect">
            <a:avLst/>
          </a:prstGeom>
        </p:spPr>
      </p:pic>
      <p:sp>
        <p:nvSpPr>
          <p:cNvPr id="186" name="Google Shape;186;g3aabc9d920d_0_390">
            <a:extLst>
              <a:ext uri="{FF2B5EF4-FFF2-40B4-BE49-F238E27FC236}">
                <a16:creationId xmlns:a16="http://schemas.microsoft.com/office/drawing/2014/main" id="{D80C5FF3-AF47-5AE0-E286-0BF692EABF44}"/>
              </a:ext>
            </a:extLst>
          </p:cNvPr>
          <p:cNvSpPr txBox="1"/>
          <p:nvPr/>
        </p:nvSpPr>
        <p:spPr>
          <a:xfrm>
            <a:off x="458592" y="214426"/>
            <a:ext cx="11274900" cy="73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r>
              <a:rPr lang="en-US" sz="2700" b="1" dirty="0" err="1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Résultats</a:t>
            </a:r>
            <a:r>
              <a:rPr lang="en-US" sz="2700" b="1" dirty="0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obtenus: FAE 2023-2025 (</a:t>
            </a:r>
            <a:r>
              <a:rPr lang="en-US" sz="2000" b="1" dirty="0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Identification et la recuperation des enfants ZD et SV</a:t>
            </a:r>
            <a:r>
              <a:rPr lang="en-US" sz="2700" b="1" dirty="0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)</a:t>
            </a:r>
            <a:endParaRPr sz="2700" b="1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b="1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b="1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b="1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b="1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b="1" i="0" u="none" strike="noStrike" cap="none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87" name="Google Shape;187;g3aabc9d920d_0_390">
            <a:extLst>
              <a:ext uri="{FF2B5EF4-FFF2-40B4-BE49-F238E27FC236}">
                <a16:creationId xmlns:a16="http://schemas.microsoft.com/office/drawing/2014/main" id="{0B92B541-7408-400F-A7E8-8402C6ACFD16}"/>
              </a:ext>
            </a:extLst>
          </p:cNvPr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 panose="020B0604020202020204"/>
              <a:buNone/>
            </a:pPr>
            <a:endParaRPr sz="1900" b="0" i="0" u="none" strike="noStrike" cap="none">
              <a:solidFill>
                <a:srgbClr val="0070C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88" name="Google Shape;188;g3aabc9d920d_0_390">
            <a:extLst>
              <a:ext uri="{FF2B5EF4-FFF2-40B4-BE49-F238E27FC236}">
                <a16:creationId xmlns:a16="http://schemas.microsoft.com/office/drawing/2014/main" id="{D86E61A7-F38B-5295-7DC8-01181225AFED}"/>
              </a:ext>
            </a:extLst>
          </p:cNvPr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2190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endParaRPr sz="1200" b="1" i="0" u="none" strike="noStrike" cap="none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89" name="Google Shape;189;g3aabc9d920d_0_390">
            <a:extLst>
              <a:ext uri="{FF2B5EF4-FFF2-40B4-BE49-F238E27FC236}">
                <a16:creationId xmlns:a16="http://schemas.microsoft.com/office/drawing/2014/main" id="{1E892B7D-16F7-A120-EB9E-63FD1F1AD437}"/>
              </a:ext>
            </a:extLst>
          </p:cNvPr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155CC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8</a:t>
            </a:fld>
            <a:endParaRPr sz="1200" b="0" i="0" u="none" strike="noStrike" cap="none">
              <a:solidFill>
                <a:srgbClr val="1155CC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90" name="Google Shape;190;g3aabc9d920d_0_390">
            <a:extLst>
              <a:ext uri="{FF2B5EF4-FFF2-40B4-BE49-F238E27FC236}">
                <a16:creationId xmlns:a16="http://schemas.microsoft.com/office/drawing/2014/main" id="{53999236-F861-8688-9067-74DBC97E3D38}"/>
              </a:ext>
            </a:extLst>
          </p:cNvPr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w="12700" cap="flat" cmpd="sng">
            <a:solidFill>
              <a:srgbClr val="9E9E9E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8" name="Image 7">
            <a:extLst>
              <a:ext uri="{FF2B5EF4-FFF2-40B4-BE49-F238E27FC236}">
                <a16:creationId xmlns:a16="http://schemas.microsoft.com/office/drawing/2014/main" id="{EA6285E8-BF37-2EE7-871E-A940679AD9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1636" y="4865301"/>
            <a:ext cx="6246963" cy="1455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B22ACF22-C55F-C9D3-9ADC-7DC7B4FB9DCC}"/>
              </a:ext>
            </a:extLst>
          </p:cNvPr>
          <p:cNvSpPr/>
          <p:nvPr/>
        </p:nvSpPr>
        <p:spPr>
          <a:xfrm>
            <a:off x="235500" y="1051751"/>
            <a:ext cx="4914470" cy="319179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Narrow" panose="020B0606020202030204" pitchFamily="34" charset="0"/>
              </a:rPr>
              <a:t>Identification des enfants ZD selon les attendus</a:t>
            </a:r>
            <a:endParaRPr lang="fr-CD" sz="2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Narrow" panose="020B060602020203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36CC7CF-40A5-873E-59D9-148FF3B0AEBF}"/>
              </a:ext>
            </a:extLst>
          </p:cNvPr>
          <p:cNvSpPr/>
          <p:nvPr/>
        </p:nvSpPr>
        <p:spPr>
          <a:xfrm>
            <a:off x="6113729" y="1031994"/>
            <a:ext cx="5221380" cy="319179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Narrow" panose="020B0606020202030204" pitchFamily="34" charset="0"/>
              </a:rPr>
              <a:t>Récupération des enfants ZD selon les identifiés</a:t>
            </a:r>
            <a:endParaRPr lang="fr-CD" sz="2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Narrow" panose="020B0606020202030204" pitchFamily="34" charset="0"/>
            </a:endParaRPr>
          </a:p>
        </p:txBody>
      </p:sp>
      <p:sp>
        <p:nvSpPr>
          <p:cNvPr id="11" name="Étoile : 8 branches 10">
            <a:extLst>
              <a:ext uri="{FF2B5EF4-FFF2-40B4-BE49-F238E27FC236}">
                <a16:creationId xmlns:a16="http://schemas.microsoft.com/office/drawing/2014/main" id="{98BCCF4D-F88F-C512-CDF3-0DC119075DFC}"/>
              </a:ext>
            </a:extLst>
          </p:cNvPr>
          <p:cNvSpPr/>
          <p:nvPr/>
        </p:nvSpPr>
        <p:spPr>
          <a:xfrm>
            <a:off x="-359219" y="5193224"/>
            <a:ext cx="2236476" cy="1484419"/>
          </a:xfrm>
          <a:prstGeom prst="star8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Narrow" panose="020B0606020202030204" pitchFamily="34" charset="0"/>
              </a:rPr>
              <a:t>31185 </a:t>
            </a:r>
            <a:r>
              <a:rPr lang="fr-FR" sz="1600" dirty="0">
                <a:latin typeface="Arial Narrow" panose="020B0606020202030204" pitchFamily="34" charset="0"/>
              </a:rPr>
              <a:t>enfants identifiés soit </a:t>
            </a:r>
            <a:r>
              <a:rPr lang="fr-FR" sz="1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Narrow" panose="020B0606020202030204" pitchFamily="34" charset="0"/>
              </a:rPr>
              <a:t>47% </a:t>
            </a:r>
            <a:r>
              <a:rPr lang="fr-FR" sz="1600" dirty="0">
                <a:latin typeface="Arial Narrow" panose="020B0606020202030204" pitchFamily="34" charset="0"/>
              </a:rPr>
              <a:t>sur </a:t>
            </a:r>
            <a:r>
              <a:rPr lang="fr-FR" sz="1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Narrow" panose="020B0606020202030204" pitchFamily="34" charset="0"/>
              </a:rPr>
              <a:t>++66247 </a:t>
            </a:r>
            <a:r>
              <a:rPr lang="fr-FR" sz="1600" dirty="0">
                <a:latin typeface="Arial Narrow" panose="020B0606020202030204" pitchFamily="34" charset="0"/>
              </a:rPr>
              <a:t>enfants attendus</a:t>
            </a:r>
            <a:endParaRPr lang="fr-CD" sz="1600" dirty="0">
              <a:latin typeface="Arial Narrow" panose="020B0606020202030204" pitchFamily="34" charset="0"/>
            </a:endParaRPr>
          </a:p>
        </p:txBody>
      </p:sp>
      <p:sp>
        <p:nvSpPr>
          <p:cNvPr id="13" name="Étoile : 8 branches 12">
            <a:extLst>
              <a:ext uri="{FF2B5EF4-FFF2-40B4-BE49-F238E27FC236}">
                <a16:creationId xmlns:a16="http://schemas.microsoft.com/office/drawing/2014/main" id="{A483172B-3481-A32D-F05B-AC2BBF5E6795}"/>
              </a:ext>
            </a:extLst>
          </p:cNvPr>
          <p:cNvSpPr/>
          <p:nvPr/>
        </p:nvSpPr>
        <p:spPr>
          <a:xfrm>
            <a:off x="9821474" y="5137730"/>
            <a:ext cx="2236476" cy="1484419"/>
          </a:xfrm>
          <a:prstGeom prst="star8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Narrow" panose="020B0606020202030204" pitchFamily="34" charset="0"/>
              </a:rPr>
              <a:t>28596 </a:t>
            </a:r>
            <a:r>
              <a:rPr lang="fr-FR" sz="1600" dirty="0">
                <a:latin typeface="Arial Narrow" panose="020B0606020202030204" pitchFamily="34" charset="0"/>
              </a:rPr>
              <a:t>enfants identifiés soit </a:t>
            </a:r>
            <a:r>
              <a:rPr lang="fr-FR" sz="1600" b="1" dirty="0">
                <a:solidFill>
                  <a:srgbClr val="FF0000"/>
                </a:solidFill>
                <a:latin typeface="Arial Narrow" panose="020B0606020202030204" pitchFamily="34" charset="0"/>
              </a:rPr>
              <a:t>43</a:t>
            </a:r>
            <a:r>
              <a:rPr lang="fr-FR" sz="1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Narrow" panose="020B0606020202030204" pitchFamily="34" charset="0"/>
              </a:rPr>
              <a:t>% </a:t>
            </a:r>
            <a:r>
              <a:rPr lang="fr-FR" sz="1600" dirty="0">
                <a:latin typeface="Arial Narrow" panose="020B0606020202030204" pitchFamily="34" charset="0"/>
              </a:rPr>
              <a:t>sur </a:t>
            </a:r>
            <a:r>
              <a:rPr lang="fr-FR" sz="1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Narrow" panose="020B0606020202030204" pitchFamily="34" charset="0"/>
              </a:rPr>
              <a:t>++ 66247 </a:t>
            </a:r>
            <a:r>
              <a:rPr lang="fr-FR" sz="1600" dirty="0">
                <a:latin typeface="Arial Narrow" panose="020B0606020202030204" pitchFamily="34" charset="0"/>
              </a:rPr>
              <a:t>enfants attendus</a:t>
            </a:r>
            <a:endParaRPr lang="fr-CD" sz="1600" dirty="0"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56152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>
          <a:extLst>
            <a:ext uri="{FF2B5EF4-FFF2-40B4-BE49-F238E27FC236}">
              <a16:creationId xmlns:a16="http://schemas.microsoft.com/office/drawing/2014/main" id="{658BE5A5-3C97-C96C-C549-CF38CCE7D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>
            <a:extLst>
              <a:ext uri="{FF2B5EF4-FFF2-40B4-BE49-F238E27FC236}">
                <a16:creationId xmlns:a16="http://schemas.microsoft.com/office/drawing/2014/main" id="{25481B52-B3DE-1F31-C3D6-E64DB8EC4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9944" y="1351173"/>
            <a:ext cx="6246963" cy="5515004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A911F5D6-6391-7CEF-8E5C-3B6187EF41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700" y="1370930"/>
            <a:ext cx="5696079" cy="5374927"/>
          </a:xfrm>
          <a:prstGeom prst="rect">
            <a:avLst/>
          </a:prstGeom>
        </p:spPr>
      </p:pic>
      <p:sp>
        <p:nvSpPr>
          <p:cNvPr id="186" name="Google Shape;186;g3aabc9d920d_0_390">
            <a:extLst>
              <a:ext uri="{FF2B5EF4-FFF2-40B4-BE49-F238E27FC236}">
                <a16:creationId xmlns:a16="http://schemas.microsoft.com/office/drawing/2014/main" id="{F6FA3235-F925-E483-5B7F-ECAFA19E2002}"/>
              </a:ext>
            </a:extLst>
          </p:cNvPr>
          <p:cNvSpPr txBox="1"/>
          <p:nvPr/>
        </p:nvSpPr>
        <p:spPr>
          <a:xfrm>
            <a:off x="458592" y="214426"/>
            <a:ext cx="11274900" cy="73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r>
              <a:rPr lang="en-US" sz="2700" dirty="0" err="1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Résultats</a:t>
            </a:r>
            <a:r>
              <a:rPr lang="en-US" sz="2700" dirty="0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obtenus: FAE 2023-2025 (Identification et la recuperation des enfants ZD et SV)</a:t>
            </a:r>
            <a:endParaRPr sz="2700" dirty="0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dirty="0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dirty="0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dirty="0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dirty="0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b="0" i="0" u="none" strike="noStrike" cap="none" dirty="0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87" name="Google Shape;187;g3aabc9d920d_0_390">
            <a:extLst>
              <a:ext uri="{FF2B5EF4-FFF2-40B4-BE49-F238E27FC236}">
                <a16:creationId xmlns:a16="http://schemas.microsoft.com/office/drawing/2014/main" id="{17F407F8-1096-49D1-78FA-77D86FD7B36D}"/>
              </a:ext>
            </a:extLst>
          </p:cNvPr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 panose="020B0604020202020204"/>
              <a:buNone/>
            </a:pPr>
            <a:endParaRPr sz="1900" b="0" i="0" u="none" strike="noStrike" cap="none">
              <a:solidFill>
                <a:srgbClr val="0070C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88" name="Google Shape;188;g3aabc9d920d_0_390">
            <a:extLst>
              <a:ext uri="{FF2B5EF4-FFF2-40B4-BE49-F238E27FC236}">
                <a16:creationId xmlns:a16="http://schemas.microsoft.com/office/drawing/2014/main" id="{D81D5893-6C86-A4D5-0AAA-DFCCA69A8010}"/>
              </a:ext>
            </a:extLst>
          </p:cNvPr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2190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endParaRPr sz="1200" b="1" i="0" u="none" strike="noStrike" cap="none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89" name="Google Shape;189;g3aabc9d920d_0_390">
            <a:extLst>
              <a:ext uri="{FF2B5EF4-FFF2-40B4-BE49-F238E27FC236}">
                <a16:creationId xmlns:a16="http://schemas.microsoft.com/office/drawing/2014/main" id="{7DD3B44D-862C-EE3E-26B2-18CDC94C61F2}"/>
              </a:ext>
            </a:extLst>
          </p:cNvPr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155CC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9</a:t>
            </a:fld>
            <a:endParaRPr sz="1200" b="0" i="0" u="none" strike="noStrike" cap="none">
              <a:solidFill>
                <a:srgbClr val="1155CC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90" name="Google Shape;190;g3aabc9d920d_0_390">
            <a:extLst>
              <a:ext uri="{FF2B5EF4-FFF2-40B4-BE49-F238E27FC236}">
                <a16:creationId xmlns:a16="http://schemas.microsoft.com/office/drawing/2014/main" id="{4066DE47-E8DF-1D75-A428-0BE675C6B7ED}"/>
              </a:ext>
            </a:extLst>
          </p:cNvPr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w="12700" cap="flat" cmpd="sng">
            <a:solidFill>
              <a:srgbClr val="9E9E9E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8" name="Image 7">
            <a:extLst>
              <a:ext uri="{FF2B5EF4-FFF2-40B4-BE49-F238E27FC236}">
                <a16:creationId xmlns:a16="http://schemas.microsoft.com/office/drawing/2014/main" id="{00727ACA-3A9E-A1D7-C22E-019340281B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1636" y="4865301"/>
            <a:ext cx="6246963" cy="1455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2852281-D3A9-8705-4BF8-460B87E6CCD9}"/>
              </a:ext>
            </a:extLst>
          </p:cNvPr>
          <p:cNvSpPr/>
          <p:nvPr/>
        </p:nvSpPr>
        <p:spPr>
          <a:xfrm>
            <a:off x="235500" y="1051751"/>
            <a:ext cx="4914470" cy="319179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Narrow" panose="020B0606020202030204" pitchFamily="34" charset="0"/>
              </a:rPr>
              <a:t>Identification des enfants SV selon les attendus</a:t>
            </a:r>
            <a:endParaRPr lang="fr-CD" sz="2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Narrow" panose="020B060602020203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C313E7-CA3F-DDBD-2CE1-73208D678CA8}"/>
              </a:ext>
            </a:extLst>
          </p:cNvPr>
          <p:cNvSpPr/>
          <p:nvPr/>
        </p:nvSpPr>
        <p:spPr>
          <a:xfrm>
            <a:off x="6113729" y="1031994"/>
            <a:ext cx="5221380" cy="319179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Narrow" panose="020B0606020202030204" pitchFamily="34" charset="0"/>
              </a:rPr>
              <a:t>Récupération des enfants SV selon les identifiés</a:t>
            </a:r>
            <a:endParaRPr lang="fr-CD" sz="2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Narrow" panose="020B0606020202030204" pitchFamily="34" charset="0"/>
            </a:endParaRPr>
          </a:p>
        </p:txBody>
      </p:sp>
      <p:sp>
        <p:nvSpPr>
          <p:cNvPr id="11" name="Étoile : 8 branches 10">
            <a:extLst>
              <a:ext uri="{FF2B5EF4-FFF2-40B4-BE49-F238E27FC236}">
                <a16:creationId xmlns:a16="http://schemas.microsoft.com/office/drawing/2014/main" id="{2E993410-74C2-84F5-00E0-DCC7280D039C}"/>
              </a:ext>
            </a:extLst>
          </p:cNvPr>
          <p:cNvSpPr/>
          <p:nvPr/>
        </p:nvSpPr>
        <p:spPr>
          <a:xfrm>
            <a:off x="-359219" y="5193224"/>
            <a:ext cx="2236476" cy="1484419"/>
          </a:xfrm>
          <a:prstGeom prst="star8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Narrow" panose="020B0606020202030204" pitchFamily="34" charset="0"/>
              </a:rPr>
              <a:t>59053 </a:t>
            </a:r>
            <a:r>
              <a:rPr lang="fr-FR" sz="1600" dirty="0">
                <a:latin typeface="Arial Narrow" panose="020B0606020202030204" pitchFamily="34" charset="0"/>
              </a:rPr>
              <a:t>enfants identifiés soit </a:t>
            </a:r>
            <a:r>
              <a:rPr lang="fr-FR" sz="1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Narrow" panose="020B0606020202030204" pitchFamily="34" charset="0"/>
              </a:rPr>
              <a:t>58% </a:t>
            </a:r>
            <a:r>
              <a:rPr lang="fr-FR" sz="1600" dirty="0">
                <a:latin typeface="Arial Narrow" panose="020B0606020202030204" pitchFamily="34" charset="0"/>
              </a:rPr>
              <a:t>sur </a:t>
            </a:r>
            <a:r>
              <a:rPr lang="fr-FR" sz="1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Narrow" panose="020B0606020202030204" pitchFamily="34" charset="0"/>
              </a:rPr>
              <a:t>++101760 </a:t>
            </a:r>
            <a:r>
              <a:rPr lang="fr-FR" sz="1600" dirty="0">
                <a:latin typeface="Arial Narrow" panose="020B0606020202030204" pitchFamily="34" charset="0"/>
              </a:rPr>
              <a:t>enfants attendus</a:t>
            </a:r>
            <a:endParaRPr lang="fr-CD" sz="1600" dirty="0">
              <a:latin typeface="Arial Narrow" panose="020B0606020202030204" pitchFamily="34" charset="0"/>
            </a:endParaRPr>
          </a:p>
        </p:txBody>
      </p:sp>
      <p:sp>
        <p:nvSpPr>
          <p:cNvPr id="13" name="Étoile : 8 branches 12">
            <a:extLst>
              <a:ext uri="{FF2B5EF4-FFF2-40B4-BE49-F238E27FC236}">
                <a16:creationId xmlns:a16="http://schemas.microsoft.com/office/drawing/2014/main" id="{FF69CF69-6A75-92A7-4FFC-CECF7278EDE7}"/>
              </a:ext>
            </a:extLst>
          </p:cNvPr>
          <p:cNvSpPr/>
          <p:nvPr/>
        </p:nvSpPr>
        <p:spPr>
          <a:xfrm>
            <a:off x="9821474" y="5137730"/>
            <a:ext cx="2236476" cy="1484419"/>
          </a:xfrm>
          <a:prstGeom prst="star8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Narrow" panose="020B0606020202030204" pitchFamily="34" charset="0"/>
              </a:rPr>
              <a:t>55476 </a:t>
            </a:r>
            <a:r>
              <a:rPr lang="fr-FR" sz="1600" dirty="0">
                <a:latin typeface="Arial Narrow" panose="020B0606020202030204" pitchFamily="34" charset="0"/>
              </a:rPr>
              <a:t>enfants identifiés soit </a:t>
            </a:r>
            <a:r>
              <a:rPr lang="fr-FR" sz="1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Narrow" panose="020B0606020202030204" pitchFamily="34" charset="0"/>
              </a:rPr>
              <a:t>54% </a:t>
            </a:r>
            <a:r>
              <a:rPr lang="fr-FR" sz="1600" dirty="0">
                <a:latin typeface="Arial Narrow" panose="020B0606020202030204" pitchFamily="34" charset="0"/>
              </a:rPr>
              <a:t>sur </a:t>
            </a:r>
            <a:r>
              <a:rPr lang="fr-FR" sz="1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Narrow" panose="020B0606020202030204" pitchFamily="34" charset="0"/>
              </a:rPr>
              <a:t>++ 101760 </a:t>
            </a:r>
            <a:r>
              <a:rPr lang="fr-FR" sz="1600" dirty="0">
                <a:latin typeface="Arial Narrow" panose="020B0606020202030204" pitchFamily="34" charset="0"/>
              </a:rPr>
              <a:t>enfants attendus</a:t>
            </a:r>
            <a:endParaRPr lang="fr-CD" sz="1600" dirty="0"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50998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>
          <a:extLst>
            <a:ext uri="{FF2B5EF4-FFF2-40B4-BE49-F238E27FC236}">
              <a16:creationId xmlns:a16="http://schemas.microsoft.com/office/drawing/2014/main" id="{04CC3C72-D5B0-A287-DE78-FCCD51116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aabc9d920d_0_390">
            <a:extLst>
              <a:ext uri="{FF2B5EF4-FFF2-40B4-BE49-F238E27FC236}">
                <a16:creationId xmlns:a16="http://schemas.microsoft.com/office/drawing/2014/main" id="{4B265FE6-56B4-59BC-5EA0-6E9E1CD01908}"/>
              </a:ext>
            </a:extLst>
          </p:cNvPr>
          <p:cNvSpPr txBox="1"/>
          <p:nvPr/>
        </p:nvSpPr>
        <p:spPr>
          <a:xfrm>
            <a:off x="458592" y="214426"/>
            <a:ext cx="11274900" cy="73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r>
              <a:rPr lang="en-US" sz="2700" b="1" dirty="0" err="1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Résultats</a:t>
            </a:r>
            <a:r>
              <a:rPr lang="en-US" sz="2700" b="1" dirty="0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obtenus: FAE 2023-2025 </a:t>
            </a:r>
            <a:r>
              <a:rPr lang="en-US" sz="2000" b="1" dirty="0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(Identification et la recuperation des enfants ZD et SV)</a:t>
            </a:r>
            <a:endParaRPr sz="2700" b="1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b="1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b="1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b="1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b="1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b="1" i="0" u="none" strike="noStrike" cap="none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87" name="Google Shape;187;g3aabc9d920d_0_390">
            <a:extLst>
              <a:ext uri="{FF2B5EF4-FFF2-40B4-BE49-F238E27FC236}">
                <a16:creationId xmlns:a16="http://schemas.microsoft.com/office/drawing/2014/main" id="{2525A349-D7C1-3FF7-1CFE-E72ACD11C6F7}"/>
              </a:ext>
            </a:extLst>
          </p:cNvPr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 panose="020B0604020202020204"/>
              <a:buNone/>
            </a:pPr>
            <a:endParaRPr sz="1900" b="0" i="0" u="none" strike="noStrike" cap="none">
              <a:solidFill>
                <a:srgbClr val="0070C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88" name="Google Shape;188;g3aabc9d920d_0_390">
            <a:extLst>
              <a:ext uri="{FF2B5EF4-FFF2-40B4-BE49-F238E27FC236}">
                <a16:creationId xmlns:a16="http://schemas.microsoft.com/office/drawing/2014/main" id="{4DD74688-251F-5B19-FA4D-B45AE7E1E6A4}"/>
              </a:ext>
            </a:extLst>
          </p:cNvPr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2190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endParaRPr sz="1200" b="1" i="0" u="none" strike="noStrike" cap="none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89" name="Google Shape;189;g3aabc9d920d_0_390">
            <a:extLst>
              <a:ext uri="{FF2B5EF4-FFF2-40B4-BE49-F238E27FC236}">
                <a16:creationId xmlns:a16="http://schemas.microsoft.com/office/drawing/2014/main" id="{502FA151-7C5E-00CA-0E44-E8AE3F76E0E3}"/>
              </a:ext>
            </a:extLst>
          </p:cNvPr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155CC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10</a:t>
            </a:fld>
            <a:endParaRPr sz="1200" b="0" i="0" u="none" strike="noStrike" cap="none">
              <a:solidFill>
                <a:srgbClr val="1155CC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90" name="Google Shape;190;g3aabc9d920d_0_390">
            <a:extLst>
              <a:ext uri="{FF2B5EF4-FFF2-40B4-BE49-F238E27FC236}">
                <a16:creationId xmlns:a16="http://schemas.microsoft.com/office/drawing/2014/main" id="{0C7E5D75-6DAC-50A6-9A1C-65B47C2EE8DA}"/>
              </a:ext>
            </a:extLst>
          </p:cNvPr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w="12700" cap="flat" cmpd="sng">
            <a:solidFill>
              <a:srgbClr val="9E9E9E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4" name="Image 3">
            <a:extLst>
              <a:ext uri="{FF2B5EF4-FFF2-40B4-BE49-F238E27FC236}">
                <a16:creationId xmlns:a16="http://schemas.microsoft.com/office/drawing/2014/main" id="{603AD9DD-496D-DA86-8734-42A095526A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4" y="1138687"/>
            <a:ext cx="12000752" cy="5451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856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/>
          <p:cNvSpPr txBox="1"/>
          <p:nvPr/>
        </p:nvSpPr>
        <p:spPr>
          <a:xfrm>
            <a:off x="471340" y="368300"/>
            <a:ext cx="100442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buClrTx/>
              <a:defRPr/>
            </a:pPr>
            <a:r>
              <a:rPr lang="en-US" sz="2000" b="1" dirty="0" err="1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Résultats</a:t>
            </a:r>
            <a:r>
              <a:rPr lang="en-US" sz="2000" b="1" dirty="0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2000" b="1" dirty="0" err="1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obtenus</a:t>
            </a:r>
            <a:r>
              <a:rPr lang="en-US" sz="2000" b="1" dirty="0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IPVS </a:t>
            </a:r>
            <a:r>
              <a:rPr lang="en-US" sz="2000" dirty="0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: </a:t>
            </a:r>
            <a:r>
              <a:rPr kumimoji="0" lang="fr-CD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Synthèse PROVINCE</a:t>
            </a:r>
            <a:r>
              <a:rPr kumimoji="0" lang="fr-CD" sz="2000" b="1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fr-CD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PHASE I et phase II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90807A65-C29B-508C-0FE5-A289711345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9418031"/>
              </p:ext>
            </p:extLst>
          </p:nvPr>
        </p:nvGraphicFramePr>
        <p:xfrm>
          <a:off x="160256" y="983745"/>
          <a:ext cx="11821211" cy="2481843"/>
        </p:xfrm>
        <a:graphic>
          <a:graphicData uri="http://schemas.openxmlformats.org/drawingml/2006/table">
            <a:tbl>
              <a:tblPr/>
              <a:tblGrid>
                <a:gridCol w="1143407">
                  <a:extLst>
                    <a:ext uri="{9D8B030D-6E8A-4147-A177-3AD203B41FA5}">
                      <a16:colId xmlns:a16="http://schemas.microsoft.com/office/drawing/2014/main" val="3697287912"/>
                    </a:ext>
                  </a:extLst>
                </a:gridCol>
                <a:gridCol w="558198">
                  <a:extLst>
                    <a:ext uri="{9D8B030D-6E8A-4147-A177-3AD203B41FA5}">
                      <a16:colId xmlns:a16="http://schemas.microsoft.com/office/drawing/2014/main" val="2346108243"/>
                    </a:ext>
                  </a:extLst>
                </a:gridCol>
                <a:gridCol w="558198">
                  <a:extLst>
                    <a:ext uri="{9D8B030D-6E8A-4147-A177-3AD203B41FA5}">
                      <a16:colId xmlns:a16="http://schemas.microsoft.com/office/drawing/2014/main" val="1721760314"/>
                    </a:ext>
                  </a:extLst>
                </a:gridCol>
                <a:gridCol w="1035370">
                  <a:extLst>
                    <a:ext uri="{9D8B030D-6E8A-4147-A177-3AD203B41FA5}">
                      <a16:colId xmlns:a16="http://schemas.microsoft.com/office/drawing/2014/main" val="2055565306"/>
                    </a:ext>
                  </a:extLst>
                </a:gridCol>
                <a:gridCol w="558198">
                  <a:extLst>
                    <a:ext uri="{9D8B030D-6E8A-4147-A177-3AD203B41FA5}">
                      <a16:colId xmlns:a16="http://schemas.microsoft.com/office/drawing/2014/main" val="2119255657"/>
                    </a:ext>
                  </a:extLst>
                </a:gridCol>
                <a:gridCol w="558198">
                  <a:extLst>
                    <a:ext uri="{9D8B030D-6E8A-4147-A177-3AD203B41FA5}">
                      <a16:colId xmlns:a16="http://schemas.microsoft.com/office/drawing/2014/main" val="2877712289"/>
                    </a:ext>
                  </a:extLst>
                </a:gridCol>
                <a:gridCol w="1035370">
                  <a:extLst>
                    <a:ext uri="{9D8B030D-6E8A-4147-A177-3AD203B41FA5}">
                      <a16:colId xmlns:a16="http://schemas.microsoft.com/office/drawing/2014/main" val="2353823153"/>
                    </a:ext>
                  </a:extLst>
                </a:gridCol>
                <a:gridCol w="558198">
                  <a:extLst>
                    <a:ext uri="{9D8B030D-6E8A-4147-A177-3AD203B41FA5}">
                      <a16:colId xmlns:a16="http://schemas.microsoft.com/office/drawing/2014/main" val="3790778381"/>
                    </a:ext>
                  </a:extLst>
                </a:gridCol>
                <a:gridCol w="1035370">
                  <a:extLst>
                    <a:ext uri="{9D8B030D-6E8A-4147-A177-3AD203B41FA5}">
                      <a16:colId xmlns:a16="http://schemas.microsoft.com/office/drawing/2014/main" val="1255828576"/>
                    </a:ext>
                  </a:extLst>
                </a:gridCol>
                <a:gridCol w="558198">
                  <a:extLst>
                    <a:ext uri="{9D8B030D-6E8A-4147-A177-3AD203B41FA5}">
                      <a16:colId xmlns:a16="http://schemas.microsoft.com/office/drawing/2014/main" val="3381794675"/>
                    </a:ext>
                  </a:extLst>
                </a:gridCol>
                <a:gridCol w="1035370">
                  <a:extLst>
                    <a:ext uri="{9D8B030D-6E8A-4147-A177-3AD203B41FA5}">
                      <a16:colId xmlns:a16="http://schemas.microsoft.com/office/drawing/2014/main" val="3511220967"/>
                    </a:ext>
                  </a:extLst>
                </a:gridCol>
                <a:gridCol w="558198">
                  <a:extLst>
                    <a:ext uri="{9D8B030D-6E8A-4147-A177-3AD203B41FA5}">
                      <a16:colId xmlns:a16="http://schemas.microsoft.com/office/drawing/2014/main" val="2494259622"/>
                    </a:ext>
                  </a:extLst>
                </a:gridCol>
                <a:gridCol w="1035370">
                  <a:extLst>
                    <a:ext uri="{9D8B030D-6E8A-4147-A177-3AD203B41FA5}">
                      <a16:colId xmlns:a16="http://schemas.microsoft.com/office/drawing/2014/main" val="1458325578"/>
                    </a:ext>
                  </a:extLst>
                </a:gridCol>
                <a:gridCol w="558198">
                  <a:extLst>
                    <a:ext uri="{9D8B030D-6E8A-4147-A177-3AD203B41FA5}">
                      <a16:colId xmlns:a16="http://schemas.microsoft.com/office/drawing/2014/main" val="3477398176"/>
                    </a:ext>
                  </a:extLst>
                </a:gridCol>
                <a:gridCol w="1035370">
                  <a:extLst>
                    <a:ext uri="{9D8B030D-6E8A-4147-A177-3AD203B41FA5}">
                      <a16:colId xmlns:a16="http://schemas.microsoft.com/office/drawing/2014/main" val="1373298013"/>
                    </a:ext>
                  </a:extLst>
                </a:gridCol>
              </a:tblGrid>
              <a:tr h="205765">
                <a:tc gridSpan="4"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fr-CD" sz="1200" b="1" i="0" u="none" strike="noStrike" dirty="0">
                          <a:solidFill>
                            <a:srgbClr val="FF0000"/>
                          </a:solidFill>
                          <a:effectLst>
                            <a:outerShdw blurRad="50800" dist="38100" algn="tr" rotWithShape="0">
                              <a:prstClr val="black">
                                <a:alpha val="40000"/>
                              </a:prstClr>
                            </a:outerShdw>
                          </a:effectLst>
                          <a:latin typeface="Arial" panose="020B0604020202020204" pitchFamily="34" charset="0"/>
                        </a:rPr>
                        <a:t> ZEROS DOSES DE 12 à 59 MOIS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 gridSpan="11"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fr-FR" sz="1200" b="1" i="0" u="none" strike="noStrike" dirty="0">
                          <a:solidFill>
                            <a:srgbClr val="0070C0"/>
                          </a:solidFill>
                          <a:effectLst>
                            <a:outerShdw blurRad="50800" dist="38100" algn="tr" rotWithShape="0">
                              <a:prstClr val="black">
                                <a:alpha val="40000"/>
                              </a:prstClr>
                            </a:outerShdw>
                          </a:effectLst>
                          <a:latin typeface="Arial" panose="020B0604020202020204" pitchFamily="34" charset="0"/>
                        </a:rPr>
                        <a:t>SOUS  VACCINEES DE 12  à 59 mois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7181363"/>
                  </a:ext>
                </a:extLst>
              </a:tr>
              <a:tr h="858265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CD" sz="1000" b="1" i="0" u="none" strike="noStrike" dirty="0">
                          <a:solidFill>
                            <a:srgbClr val="000000"/>
                          </a:solidFill>
                          <a:effectLst>
                            <a:outerShdw blurRad="50800" dist="38100" algn="tr" rotWithShape="0">
                              <a:prstClr val="black">
                                <a:alpha val="40000"/>
                              </a:prstClr>
                            </a:outerShdw>
                          </a:effectLst>
                          <a:latin typeface="Arial" panose="020B0604020202020204" pitchFamily="34" charset="0"/>
                        </a:rPr>
                        <a:t>SYNTHSE ZONE DE SANTE</a:t>
                      </a:r>
                    </a:p>
                  </a:txBody>
                  <a:tcPr marL="4805" marR="4805" marT="48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000" b="1" i="0" u="none" strike="noStrike" dirty="0">
                          <a:solidFill>
                            <a:srgbClr val="000000"/>
                          </a:solidFill>
                          <a:effectLst>
                            <a:outerShdw blurRad="50800" dist="38100" algn="tr" rotWithShape="0">
                              <a:prstClr val="black">
                                <a:alpha val="40000"/>
                              </a:prstClr>
                            </a:outerShdw>
                          </a:effectLst>
                          <a:latin typeface="Arial" panose="020B0604020202020204" pitchFamily="34" charset="0"/>
                        </a:rPr>
                        <a:t>Nbre EZD identifié penta1 (cible dénombrée) </a:t>
                      </a:r>
                    </a:p>
                  </a:txBody>
                  <a:tcPr marL="4805" marR="4805" marT="48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CD" sz="1000" b="1" i="0" u="none" strike="noStrike" dirty="0">
                          <a:solidFill>
                            <a:srgbClr val="000000"/>
                          </a:solidFill>
                          <a:effectLst>
                            <a:outerShdw blurRad="50800" dist="38100" algn="tr" rotWithShape="0">
                              <a:prstClr val="black">
                                <a:alpha val="40000"/>
                              </a:prstClr>
                            </a:outerShdw>
                          </a:effectLst>
                          <a:latin typeface="Arial" panose="020B0604020202020204" pitchFamily="34" charset="0"/>
                        </a:rPr>
                        <a:t>Nbre EZD  penta1 vaccinés</a:t>
                      </a:r>
                    </a:p>
                  </a:txBody>
                  <a:tcPr marL="4805" marR="4805" marT="48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fr-CD" sz="1000" b="1" i="0" u="none" strike="noStrike" dirty="0">
                          <a:solidFill>
                            <a:srgbClr val="000000"/>
                          </a:solidFill>
                          <a:effectLst>
                            <a:outerShdw blurRad="50800" dist="38100" algn="tr" rotWithShape="0">
                              <a:prstClr val="black">
                                <a:alpha val="40000"/>
                              </a:prstClr>
                            </a:outerShdw>
                          </a:effectLst>
                          <a:latin typeface="Arial" panose="020B0604020202020204" pitchFamily="34" charset="0"/>
                        </a:rPr>
                        <a:t>% EZD penta1 vaccinés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000" b="1" i="0" u="none" strike="noStrike" dirty="0">
                          <a:solidFill>
                            <a:srgbClr val="000000"/>
                          </a:solidFill>
                          <a:effectLst>
                            <a:outerShdw blurRad="50800" dist="38100" algn="tr" rotWithShape="0">
                              <a:prstClr val="black">
                                <a:alpha val="40000"/>
                              </a:prstClr>
                            </a:outerShdw>
                          </a:effectLst>
                          <a:latin typeface="Arial" panose="020B0604020202020204" pitchFamily="34" charset="0"/>
                        </a:rPr>
                        <a:t>Nbre SV  identifié PENTA 3 (cible dénombrée)</a:t>
                      </a:r>
                    </a:p>
                  </a:txBody>
                  <a:tcPr marL="4805" marR="4805" marT="48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CD" sz="1000" b="1" i="0" u="none" strike="noStrike">
                          <a:solidFill>
                            <a:srgbClr val="000000"/>
                          </a:solidFill>
                          <a:effectLst>
                            <a:outerShdw blurRad="50800" dist="38100" algn="tr" rotWithShape="0">
                              <a:prstClr val="black">
                                <a:alpha val="40000"/>
                              </a:prstClr>
                            </a:outerShdw>
                          </a:effectLst>
                          <a:latin typeface="Arial" panose="020B0604020202020204" pitchFamily="34" charset="0"/>
                        </a:rPr>
                        <a:t>Nbre SV  PENTA3 vaccinés</a:t>
                      </a:r>
                    </a:p>
                  </a:txBody>
                  <a:tcPr marL="4805" marR="4805" marT="48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fr-CD" sz="1000" b="1" i="0" u="none" strike="noStrike" dirty="0">
                          <a:solidFill>
                            <a:srgbClr val="000000"/>
                          </a:solidFill>
                          <a:effectLst>
                            <a:outerShdw blurRad="50800" dist="38100" algn="tr" rotWithShape="0">
                              <a:prstClr val="black">
                                <a:alpha val="40000"/>
                              </a:prstClr>
                            </a:outerShdw>
                          </a:effectLst>
                          <a:latin typeface="Arial" panose="020B0604020202020204" pitchFamily="34" charset="0"/>
                        </a:rPr>
                        <a:t>% SV PENTA3 vaccinés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000" b="1" i="0" u="none" strike="noStrike" dirty="0">
                          <a:solidFill>
                            <a:srgbClr val="FFFFFF"/>
                          </a:solidFill>
                          <a:effectLst>
                            <a:outerShdw blurRad="50800" dist="38100" algn="tr" rotWithShape="0">
                              <a:prstClr val="black">
                                <a:alpha val="40000"/>
                              </a:prstClr>
                            </a:outerShdw>
                          </a:effectLst>
                          <a:latin typeface="Arial" panose="020B0604020202020204" pitchFamily="34" charset="0"/>
                        </a:rPr>
                        <a:t>Nbre SV vaccinées en VPI1</a:t>
                      </a:r>
                    </a:p>
                  </a:txBody>
                  <a:tcPr marL="4805" marR="4805" marT="48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fr-CD" sz="1000" b="1" i="0" u="none" strike="noStrike" dirty="0">
                          <a:solidFill>
                            <a:srgbClr val="FFFFFF"/>
                          </a:solidFill>
                          <a:effectLst>
                            <a:outerShdw blurRad="50800" dist="38100" algn="tr" rotWithShape="0">
                              <a:prstClr val="black">
                                <a:alpha val="40000"/>
                              </a:prstClr>
                            </a:outerShdw>
                          </a:effectLst>
                          <a:latin typeface="Arial" panose="020B0604020202020204" pitchFamily="34" charset="0"/>
                        </a:rPr>
                        <a:t>% SV vaccinés en VPI1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fr-FR" sz="1000" b="1" i="0" u="none" strike="noStrike" dirty="0">
                          <a:solidFill>
                            <a:srgbClr val="FFFFFF"/>
                          </a:solidFill>
                          <a:effectLst>
                            <a:outerShdw blurRad="50800" dist="38100" algn="tr" rotWithShape="0">
                              <a:prstClr val="black">
                                <a:alpha val="40000"/>
                              </a:prstClr>
                            </a:outerShdw>
                          </a:effectLst>
                          <a:latin typeface="Arial" panose="020B0604020202020204" pitchFamily="34" charset="0"/>
                        </a:rPr>
                        <a:t>Nbre SV vaccinées en VPI2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fr-CD" sz="1000" b="1" i="0" u="none" strike="noStrike" dirty="0">
                          <a:solidFill>
                            <a:srgbClr val="FFFFFF"/>
                          </a:solidFill>
                          <a:effectLst>
                            <a:outerShdw blurRad="50800" dist="38100" algn="tr" rotWithShape="0">
                              <a:prstClr val="black">
                                <a:alpha val="40000"/>
                              </a:prstClr>
                            </a:outerShdw>
                          </a:effectLst>
                          <a:latin typeface="Arial" panose="020B0604020202020204" pitchFamily="34" charset="0"/>
                        </a:rPr>
                        <a:t>% SV vaccinés en VPI2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sv-SE" sz="1000" b="1" i="0" u="none" strike="noStrike" dirty="0">
                          <a:solidFill>
                            <a:srgbClr val="000000"/>
                          </a:solidFill>
                          <a:effectLst>
                            <a:outerShdw blurRad="50800" dist="38100" algn="tr" rotWithShape="0">
                              <a:prstClr val="black">
                                <a:alpha val="40000"/>
                              </a:prstClr>
                            </a:outerShdw>
                          </a:effectLst>
                          <a:latin typeface="Arial" panose="020B0604020202020204" pitchFamily="34" charset="0"/>
                        </a:rPr>
                        <a:t>Nbre SV vaccinées en VAR1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fr-CD" sz="1000" b="1" i="0" u="none" strike="noStrike" dirty="0">
                          <a:solidFill>
                            <a:srgbClr val="000000"/>
                          </a:solidFill>
                          <a:effectLst>
                            <a:outerShdw blurRad="50800" dist="38100" algn="tr" rotWithShape="0">
                              <a:prstClr val="black">
                                <a:alpha val="40000"/>
                              </a:prstClr>
                            </a:outerShdw>
                          </a:effectLst>
                          <a:latin typeface="Arial" panose="020B0604020202020204" pitchFamily="34" charset="0"/>
                        </a:rPr>
                        <a:t>% SV vaccinés en VAR1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sv-SE" sz="1000" b="1" i="0" u="none" strike="noStrike" dirty="0">
                          <a:solidFill>
                            <a:srgbClr val="000000"/>
                          </a:solidFill>
                          <a:effectLst>
                            <a:outerShdw blurRad="50800" dist="38100" algn="tr" rotWithShape="0">
                              <a:prstClr val="black">
                                <a:alpha val="40000"/>
                              </a:prstClr>
                            </a:outerShdw>
                          </a:effectLst>
                          <a:latin typeface="Arial" panose="020B0604020202020204" pitchFamily="34" charset="0"/>
                        </a:rPr>
                        <a:t>Nbre SV vaccinées en VAR2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fr-CD" sz="1000" b="1" i="0" u="none" strike="noStrike" dirty="0">
                          <a:solidFill>
                            <a:srgbClr val="000000"/>
                          </a:solidFill>
                          <a:effectLst>
                            <a:outerShdw blurRad="50800" dist="38100" algn="tr" rotWithShape="0">
                              <a:prstClr val="black">
                                <a:alpha val="40000"/>
                              </a:prstClr>
                            </a:outerShdw>
                          </a:effectLst>
                          <a:latin typeface="Arial" panose="020B0604020202020204" pitchFamily="34" charset="0"/>
                        </a:rPr>
                        <a:t>% SV vaccinés en VAR2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2042532"/>
                  </a:ext>
                </a:extLst>
              </a:tr>
              <a:tr h="296491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fr-CD" sz="600" b="1" i="0" u="none" strike="noStrike">
                          <a:solidFill>
                            <a:srgbClr val="FF0000"/>
                          </a:solidFill>
                          <a:effectLst>
                            <a:outerShdw blurRad="50800" dist="38100" algn="tr" rotWithShape="0">
                              <a:prstClr val="black">
                                <a:alpha val="40000"/>
                              </a:prstClr>
                            </a:outerShdw>
                          </a:effectLst>
                          <a:latin typeface="Arial" panose="020B0604020202020204" pitchFamily="34" charset="0"/>
                        </a:rPr>
                        <a:t>PHASE I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CD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36111</a:t>
                      </a:r>
                    </a:p>
                  </a:txBody>
                  <a:tcPr marL="4805" marR="4805" marT="48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CD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39020</a:t>
                      </a:r>
                    </a:p>
                  </a:txBody>
                  <a:tcPr marL="4805" marR="4805" marT="48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CD" sz="11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108%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CD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52861</a:t>
                      </a:r>
                    </a:p>
                  </a:txBody>
                  <a:tcPr marL="4805" marR="4805" marT="48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CD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39946</a:t>
                      </a:r>
                    </a:p>
                  </a:txBody>
                  <a:tcPr marL="4805" marR="4805" marT="48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CD" sz="11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76%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CD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33712</a:t>
                      </a:r>
                    </a:p>
                  </a:txBody>
                  <a:tcPr marL="4805" marR="4805" marT="48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CD" sz="11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64%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CD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31558</a:t>
                      </a:r>
                    </a:p>
                  </a:txBody>
                  <a:tcPr marL="4805" marR="4805" marT="48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CD" sz="11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60%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CD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33515</a:t>
                      </a:r>
                    </a:p>
                  </a:txBody>
                  <a:tcPr marL="4805" marR="4805" marT="48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CD" sz="11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63%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CD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37897</a:t>
                      </a:r>
                    </a:p>
                  </a:txBody>
                  <a:tcPr marL="4805" marR="4805" marT="48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CD" sz="11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72%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4568499"/>
                  </a:ext>
                </a:extLst>
              </a:tr>
              <a:tr h="296491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fr-CD" sz="600" b="1" i="0" u="none" strike="noStrike">
                          <a:solidFill>
                            <a:srgbClr val="FF0000"/>
                          </a:solidFill>
                          <a:effectLst>
                            <a:outerShdw blurRad="50800" dist="38100" algn="tr" rotWithShape="0">
                              <a:prstClr val="black">
                                <a:alpha val="40000"/>
                              </a:prstClr>
                            </a:outerShdw>
                          </a:effectLst>
                          <a:latin typeface="Arial" panose="020B0604020202020204" pitchFamily="34" charset="0"/>
                        </a:rPr>
                        <a:t>PHASE II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CD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28460</a:t>
                      </a:r>
                    </a:p>
                  </a:txBody>
                  <a:tcPr marL="4805" marR="4805" marT="48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CD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26854</a:t>
                      </a:r>
                    </a:p>
                  </a:txBody>
                  <a:tcPr marL="4805" marR="4805" marT="48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CD" sz="11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94%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CD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34001</a:t>
                      </a:r>
                    </a:p>
                  </a:txBody>
                  <a:tcPr marL="4805" marR="4805" marT="48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CD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36129</a:t>
                      </a:r>
                    </a:p>
                  </a:txBody>
                  <a:tcPr marL="4805" marR="4805" marT="48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CD" sz="11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106%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CD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2611</a:t>
                      </a:r>
                    </a:p>
                  </a:txBody>
                  <a:tcPr marL="4805" marR="4805" marT="48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CD" sz="11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8%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CD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4407</a:t>
                      </a:r>
                    </a:p>
                  </a:txBody>
                  <a:tcPr marL="4805" marR="4805" marT="48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CD" sz="11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13%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CD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2491</a:t>
                      </a:r>
                    </a:p>
                  </a:txBody>
                  <a:tcPr marL="4805" marR="4805" marT="48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CD" sz="11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7%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CD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5015</a:t>
                      </a:r>
                    </a:p>
                  </a:txBody>
                  <a:tcPr marL="4805" marR="4805" marT="48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CD" sz="11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15%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5078611"/>
                  </a:ext>
                </a:extLst>
              </a:tr>
              <a:tr h="405726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fr-CD" sz="800" b="1" i="0" u="none" strike="noStrike">
                          <a:solidFill>
                            <a:srgbClr val="000000"/>
                          </a:solidFill>
                          <a:effectLst>
                            <a:outerShdw blurRad="50800" dist="38100" algn="tr" rotWithShape="0">
                              <a:prstClr val="black">
                                <a:alpha val="40000"/>
                              </a:prstClr>
                            </a:outerShdw>
                          </a:effectLst>
                          <a:latin typeface="Arial" panose="020B0604020202020204" pitchFamily="34" charset="0"/>
                        </a:rPr>
                        <a:t>TOTAL  PROVINCE (phase 1+2)</a:t>
                      </a:r>
                    </a:p>
                  </a:txBody>
                  <a:tcPr marL="4805" marR="4805" marT="48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CD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64571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CD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65874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CD" sz="11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102%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CD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86862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CD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76075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CD" sz="11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88%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CD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36323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CD" sz="11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42%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CD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35965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CD" sz="11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41%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CD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36006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CD" sz="11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41%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CD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42912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CD" sz="11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49%</a:t>
                      </a:r>
                    </a:p>
                  </a:txBody>
                  <a:tcPr marL="4805" marR="4805" marT="480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867817"/>
                  </a:ext>
                </a:extLst>
              </a:tr>
              <a:tr h="205765">
                <a:tc gridSpan="15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fr-FR" sz="800" b="1" i="0" u="none" strike="noStrike" dirty="0">
                          <a:solidFill>
                            <a:srgbClr val="FF0000"/>
                          </a:solidFill>
                          <a:effectLst>
                            <a:outerShdw blurRad="50800" dist="38100" algn="tr" rotWithShape="0">
                              <a:prstClr val="black">
                                <a:alpha val="40000"/>
                              </a:prstClr>
                            </a:outerShdw>
                          </a:effectLst>
                          <a:latin typeface="Arial" panose="020B0604020202020204" pitchFamily="34" charset="0"/>
                        </a:rPr>
                        <a:t>Commentaire Zone de santé  à problème ( moins de 50 % en PENTA1,PENTA3, VAR,VPI):</a:t>
                      </a:r>
                    </a:p>
                  </a:txBody>
                  <a:tcPr marL="4805" marR="4805" marT="48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CD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113471"/>
                  </a:ext>
                </a:extLst>
              </a:tr>
            </a:tbl>
          </a:graphicData>
        </a:graphic>
      </p:graphicFrame>
      <p:graphicFrame>
        <p:nvGraphicFramePr>
          <p:cNvPr id="5" name="Graphique 4">
            <a:extLst>
              <a:ext uri="{FF2B5EF4-FFF2-40B4-BE49-F238E27FC236}">
                <a16:creationId xmlns:a16="http://schemas.microsoft.com/office/drawing/2014/main" id="{79AB7CAA-B71E-634D-44C0-BD44ADFD27C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67878459"/>
              </p:ext>
            </p:extLst>
          </p:nvPr>
        </p:nvGraphicFramePr>
        <p:xfrm>
          <a:off x="160256" y="3622264"/>
          <a:ext cx="1182121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2873851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74"/>
          <p:cNvSpPr txBox="1">
            <a:spLocks noGrp="1"/>
          </p:cNvSpPr>
          <p:nvPr>
            <p:ph type="title"/>
          </p:nvPr>
        </p:nvSpPr>
        <p:spPr>
          <a:xfrm>
            <a:off x="307600" y="182533"/>
            <a:ext cx="11576800" cy="490484"/>
          </a:xfrm>
          <a:prstGeom prst="rect">
            <a:avLst/>
          </a:prstGeom>
        </p:spPr>
        <p:txBody>
          <a:bodyPr spcFirstLastPara="1" wrap="square" lIns="0" tIns="121900" rIns="121900" bIns="120000" anchor="t" anchorCtr="0">
            <a:spAutoFit/>
          </a:bodyPr>
          <a:lstStyle/>
          <a:p>
            <a:pPr>
              <a:buSzPts val="1100"/>
            </a:pPr>
            <a:r>
              <a:rPr lang="en-GB" sz="1600" dirty="0" err="1">
                <a:solidFill>
                  <a:srgbClr val="451F61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L’activation</a:t>
            </a:r>
            <a:r>
              <a:rPr lang="en-GB" sz="1600" dirty="0">
                <a:solidFill>
                  <a:srgbClr val="451F61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 GIS au 1-jour par les équipes de vaccination  était de 84% au 1er passage (8 ZS), 98% au 2e passage (8ZS)</a:t>
            </a:r>
            <a:endParaRPr sz="1600" dirty="0">
              <a:solidFill>
                <a:srgbClr val="451F61"/>
              </a:solidFill>
              <a:latin typeface="Source Serif Pro"/>
              <a:ea typeface="Source Serif Pro"/>
              <a:cs typeface="Source Serif Pro"/>
              <a:sym typeface="Source Serif Pro"/>
            </a:endParaRPr>
          </a:p>
        </p:txBody>
      </p:sp>
      <p:sp>
        <p:nvSpPr>
          <p:cNvPr id="468" name="Google Shape;468;p74"/>
          <p:cNvSpPr txBox="1"/>
          <p:nvPr/>
        </p:nvSpPr>
        <p:spPr>
          <a:xfrm>
            <a:off x="11658600" y="6496067"/>
            <a:ext cx="228400" cy="16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r" defTabSz="1219170"/>
            <a:fld id="{00000000-1234-1234-1234-123412341234}" type="slidenum">
              <a:rPr lang="en-GB" sz="1200">
                <a:solidFill>
                  <a:srgbClr val="451F61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pPr algn="r" defTabSz="1219170"/>
              <a:t>12</a:t>
            </a:fld>
            <a:endParaRPr sz="1200">
              <a:solidFill>
                <a:srgbClr val="451F61"/>
              </a:solidFill>
              <a:latin typeface="Source Serif Pro"/>
              <a:ea typeface="Source Serif Pro"/>
              <a:cs typeface="Source Serif Pro"/>
              <a:sym typeface="Source Serif Pro"/>
            </a:endParaRPr>
          </a:p>
        </p:txBody>
      </p:sp>
      <p:cxnSp>
        <p:nvCxnSpPr>
          <p:cNvPr id="469" name="Google Shape;469;p74"/>
          <p:cNvCxnSpPr/>
          <p:nvPr/>
        </p:nvCxnSpPr>
        <p:spPr>
          <a:xfrm>
            <a:off x="267700" y="6427967"/>
            <a:ext cx="11640400" cy="0"/>
          </a:xfrm>
          <a:prstGeom prst="straightConnector1">
            <a:avLst/>
          </a:prstGeom>
          <a:noFill/>
          <a:ln w="9525" cap="flat" cmpd="sng">
            <a:solidFill>
              <a:srgbClr val="9E9E9E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0" name="Google Shape;470;p74"/>
          <p:cNvSpPr txBox="1"/>
          <p:nvPr/>
        </p:nvSpPr>
        <p:spPr>
          <a:xfrm>
            <a:off x="267700" y="6492843"/>
            <a:ext cx="11414800" cy="1642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21900" bIns="0" anchor="t" anchorCtr="0">
            <a:spAutoFit/>
          </a:bodyPr>
          <a:lstStyle/>
          <a:p>
            <a:pPr defTabSz="1219170"/>
            <a:endParaRPr sz="1067">
              <a:solidFill>
                <a:srgbClr val="451F61"/>
              </a:solidFill>
              <a:latin typeface="Source Serif Pro"/>
              <a:ea typeface="Source Serif Pro"/>
              <a:cs typeface="Source Serif Pro"/>
              <a:sym typeface="Source Serif Pro"/>
            </a:endParaRPr>
          </a:p>
        </p:txBody>
      </p:sp>
      <p:sp>
        <p:nvSpPr>
          <p:cNvPr id="471" name="Google Shape;471;p74"/>
          <p:cNvSpPr txBox="1"/>
          <p:nvPr/>
        </p:nvSpPr>
        <p:spPr>
          <a:xfrm>
            <a:off x="267700" y="6492843"/>
            <a:ext cx="11414800" cy="1642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21900" bIns="0" anchor="t" anchorCtr="0">
            <a:spAutoFit/>
          </a:bodyPr>
          <a:lstStyle/>
          <a:p>
            <a:pPr defTabSz="1219170"/>
            <a:endParaRPr sz="1067">
              <a:solidFill>
                <a:srgbClr val="451F61"/>
              </a:solidFill>
              <a:latin typeface="Source Serif Pro"/>
              <a:ea typeface="Source Serif Pro"/>
              <a:cs typeface="Source Serif Pro"/>
              <a:sym typeface="Source Serif Pro"/>
            </a:endParaRPr>
          </a:p>
        </p:txBody>
      </p:sp>
      <p:sp>
        <p:nvSpPr>
          <p:cNvPr id="472" name="Google Shape;472;p74"/>
          <p:cNvSpPr txBox="1"/>
          <p:nvPr/>
        </p:nvSpPr>
        <p:spPr>
          <a:xfrm>
            <a:off x="267700" y="6492843"/>
            <a:ext cx="11414800" cy="1642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21900" bIns="0" anchor="t" anchorCtr="0">
            <a:spAutoFit/>
          </a:bodyPr>
          <a:lstStyle/>
          <a:p>
            <a:pPr defTabSz="1219170"/>
            <a:r>
              <a:rPr lang="en-GB" sz="1067">
                <a:solidFill>
                  <a:srgbClr val="451F61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Source: GestionPEV </a:t>
            </a:r>
            <a:endParaRPr sz="1067">
              <a:solidFill>
                <a:srgbClr val="451F61"/>
              </a:solidFill>
              <a:latin typeface="Source Serif Pro"/>
              <a:ea typeface="Source Serif Pro"/>
              <a:cs typeface="Source Serif Pro"/>
              <a:sym typeface="Source Serif Pro"/>
            </a:endParaRPr>
          </a:p>
        </p:txBody>
      </p:sp>
      <p:graphicFrame>
        <p:nvGraphicFramePr>
          <p:cNvPr id="473" name="Google Shape;473;p74"/>
          <p:cNvGraphicFramePr/>
          <p:nvPr>
            <p:extLst>
              <p:ext uri="{D42A27DB-BD31-4B8C-83A1-F6EECF244321}">
                <p14:modId xmlns:p14="http://schemas.microsoft.com/office/powerpoint/2010/main" val="610097918"/>
              </p:ext>
            </p:extLst>
          </p:nvPr>
        </p:nvGraphicFramePr>
        <p:xfrm>
          <a:off x="307601" y="681537"/>
          <a:ext cx="11061125" cy="271209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1669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18179">
                  <a:extLst>
                    <a:ext uri="{9D8B030D-6E8A-4147-A177-3AD203B41FA5}">
                      <a16:colId xmlns:a16="http://schemas.microsoft.com/office/drawing/2014/main" val="497539502"/>
                    </a:ext>
                  </a:extLst>
                </a:gridCol>
              </a:tblGrid>
              <a:tr h="231317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b="1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Health zones</a:t>
                      </a:r>
                      <a:endParaRPr sz="1300" b="1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b="1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Nombre d'équipes</a:t>
                      </a:r>
                      <a:endParaRPr sz="1300" b="1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GB" sz="1300" b="1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Nombre de localités</a:t>
                      </a:r>
                      <a:endParaRPr sz="1300" b="1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1317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b="1" dirty="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Banalia</a:t>
                      </a:r>
                      <a:endParaRPr sz="1300" b="1" dirty="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dirty="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12</a:t>
                      </a:r>
                      <a:endParaRPr sz="1300" dirty="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GB" sz="13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114</a:t>
                      </a:r>
                      <a:endParaRPr sz="13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1317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b="1" dirty="0" err="1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Basoko</a:t>
                      </a:r>
                      <a:endParaRPr sz="1300" b="1" dirty="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dirty="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6</a:t>
                      </a:r>
                      <a:endParaRPr sz="1300" dirty="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GB" sz="13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89</a:t>
                      </a:r>
                      <a:endParaRPr sz="13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7E1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1317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b="1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Lowa</a:t>
                      </a:r>
                      <a:endParaRPr sz="1300" b="1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7</a:t>
                      </a:r>
                      <a:endParaRPr sz="130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GB" sz="13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  <a:endParaRPr sz="13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8876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b="1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Lubunga</a:t>
                      </a:r>
                      <a:endParaRPr sz="1300" b="1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10</a:t>
                      </a:r>
                      <a:endParaRPr sz="130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GB" sz="13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82</a:t>
                      </a:r>
                      <a:endParaRPr sz="13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7E1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1317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b="1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Ubundu</a:t>
                      </a:r>
                      <a:endParaRPr sz="1300" b="1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6</a:t>
                      </a:r>
                      <a:endParaRPr sz="130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GB" sz="13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20</a:t>
                      </a:r>
                      <a:endParaRPr sz="13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8876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b="1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Yakusu</a:t>
                      </a:r>
                      <a:endParaRPr sz="1300" b="1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6</a:t>
                      </a:r>
                      <a:endParaRPr sz="130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GB" sz="13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19</a:t>
                      </a:r>
                      <a:endParaRPr sz="13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7E1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1317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b="1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Yahuma</a:t>
                      </a:r>
                      <a:endParaRPr sz="1300" b="1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6</a:t>
                      </a:r>
                      <a:endParaRPr sz="130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GB" sz="13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70</a:t>
                      </a:r>
                      <a:endParaRPr sz="13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4772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b="1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Yalimbongo</a:t>
                      </a:r>
                      <a:endParaRPr sz="1300" b="1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4</a:t>
                      </a:r>
                      <a:endParaRPr sz="130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GB" sz="13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112</a:t>
                      </a:r>
                      <a:endParaRPr sz="13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7E1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8876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b="1" dirty="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Total</a:t>
                      </a:r>
                      <a:endParaRPr sz="1300" b="1" dirty="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57</a:t>
                      </a:r>
                      <a:endParaRPr sz="130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GB" sz="1300" b="1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532</a:t>
                      </a:r>
                      <a:endParaRPr sz="1300" b="1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3" name="Google Shape;560;p80">
            <a:extLst>
              <a:ext uri="{FF2B5EF4-FFF2-40B4-BE49-F238E27FC236}">
                <a16:creationId xmlns:a16="http://schemas.microsoft.com/office/drawing/2014/main" id="{4969A12E-25F4-D6BF-1149-B9CAAD2060D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07816860"/>
              </p:ext>
            </p:extLst>
          </p:nvPr>
        </p:nvGraphicFramePr>
        <p:xfrm>
          <a:off x="307600" y="3594658"/>
          <a:ext cx="11061126" cy="308081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9070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56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56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56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256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256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567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08081">
                <a:tc gridSpan="7"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b="1" dirty="0">
                          <a:solidFill>
                            <a:srgbClr val="FFFFFF"/>
                          </a:solidFill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TSHOPO BLOC 2</a:t>
                      </a:r>
                      <a:endParaRPr sz="1300" b="1" dirty="0">
                        <a:solidFill>
                          <a:srgbClr val="FFFFFF"/>
                        </a:solidFill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51C7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081">
                <a:tc rowSpan="2"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b="1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Zones de santé</a:t>
                      </a:r>
                      <a:endParaRPr sz="1300" b="1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3"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b="1" dirty="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1er passage</a:t>
                      </a:r>
                      <a:endParaRPr sz="1300" b="1" dirty="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2D05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b="1" dirty="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2e passage</a:t>
                      </a:r>
                      <a:endParaRPr sz="1300" b="1" dirty="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808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b="1" i="1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Vaccinés</a:t>
                      </a:r>
                      <a:endParaRPr sz="1300" b="1" i="1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b="1" i="1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Attendus</a:t>
                      </a:r>
                      <a:endParaRPr sz="1300" b="1" i="1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b="1" i="1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Couverture</a:t>
                      </a:r>
                      <a:endParaRPr sz="1300" b="1" i="1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b="1" i="1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Vaccinés</a:t>
                      </a:r>
                      <a:endParaRPr sz="1300" b="1" i="1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b="1" i="1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Attendus</a:t>
                      </a:r>
                      <a:endParaRPr sz="1300" b="1" i="1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b="1" i="1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Couverture</a:t>
                      </a:r>
                      <a:endParaRPr sz="1300" b="1" i="1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8081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Banalia</a:t>
                      </a:r>
                      <a:endParaRPr sz="130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3,997</a:t>
                      </a:r>
                      <a:endParaRPr sz="130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4,125</a:t>
                      </a:r>
                      <a:endParaRPr sz="130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97%</a:t>
                      </a:r>
                      <a:endParaRPr sz="130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2,420</a:t>
                      </a:r>
                      <a:endParaRPr sz="130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2,494</a:t>
                      </a:r>
                      <a:endParaRPr sz="130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b="1" dirty="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97%</a:t>
                      </a:r>
                      <a:endParaRPr sz="1300" b="1" dirty="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8081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dirty="0">
                          <a:solidFill>
                            <a:srgbClr val="FF0000"/>
                          </a:solidFill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Basoko</a:t>
                      </a:r>
                      <a:endParaRPr sz="1300" dirty="0">
                        <a:solidFill>
                          <a:srgbClr val="FF0000"/>
                        </a:solidFill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dirty="0">
                          <a:solidFill>
                            <a:srgbClr val="FF0000"/>
                          </a:solidFill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1,162</a:t>
                      </a:r>
                      <a:endParaRPr sz="1300" dirty="0">
                        <a:solidFill>
                          <a:srgbClr val="FF0000"/>
                        </a:solidFill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dirty="0">
                          <a:solidFill>
                            <a:srgbClr val="FF0000"/>
                          </a:solidFill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832</a:t>
                      </a:r>
                      <a:endParaRPr sz="1300" dirty="0">
                        <a:solidFill>
                          <a:srgbClr val="FF0000"/>
                        </a:solidFill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dirty="0">
                          <a:solidFill>
                            <a:srgbClr val="FF0000"/>
                          </a:solidFill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140%</a:t>
                      </a:r>
                      <a:endParaRPr sz="1300" dirty="0">
                        <a:solidFill>
                          <a:srgbClr val="FF0000"/>
                        </a:solidFill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dirty="0">
                          <a:solidFill>
                            <a:srgbClr val="FF0000"/>
                          </a:solidFill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840</a:t>
                      </a:r>
                      <a:endParaRPr sz="1300" dirty="0">
                        <a:solidFill>
                          <a:srgbClr val="FF0000"/>
                        </a:solidFill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dirty="0">
                          <a:solidFill>
                            <a:srgbClr val="FF0000"/>
                          </a:solidFill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516</a:t>
                      </a:r>
                      <a:endParaRPr sz="1300" dirty="0">
                        <a:solidFill>
                          <a:srgbClr val="FF0000"/>
                        </a:solidFill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b="1" dirty="0">
                          <a:solidFill>
                            <a:srgbClr val="FF0000"/>
                          </a:solidFill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163%</a:t>
                      </a:r>
                      <a:endParaRPr sz="1300" b="1" dirty="0">
                        <a:solidFill>
                          <a:srgbClr val="FF0000"/>
                        </a:solidFill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8081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Lowa</a:t>
                      </a:r>
                      <a:endParaRPr sz="130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1,057</a:t>
                      </a:r>
                      <a:endParaRPr sz="130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1,609</a:t>
                      </a:r>
                      <a:endParaRPr sz="130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66%</a:t>
                      </a:r>
                      <a:endParaRPr sz="130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2,320</a:t>
                      </a:r>
                      <a:endParaRPr sz="130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3,117</a:t>
                      </a:r>
                      <a:endParaRPr sz="130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b="1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74%</a:t>
                      </a:r>
                      <a:endParaRPr sz="1300" b="1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8081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Ubundu</a:t>
                      </a:r>
                      <a:endParaRPr sz="130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342</a:t>
                      </a:r>
                      <a:endParaRPr sz="130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342</a:t>
                      </a:r>
                      <a:endParaRPr sz="130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100%</a:t>
                      </a:r>
                      <a:endParaRPr sz="130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1,079</a:t>
                      </a:r>
                      <a:endParaRPr sz="130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1,330</a:t>
                      </a:r>
                      <a:endParaRPr sz="130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b="1" dirty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81%</a:t>
                      </a:r>
                      <a:endParaRPr sz="1300" b="1" dirty="0">
                        <a:solidFill>
                          <a:schemeClr val="accent4">
                            <a:lumMod val="75000"/>
                          </a:schemeClr>
                        </a:solidFill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8081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dirty="0" err="1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Yahuma</a:t>
                      </a:r>
                      <a:endParaRPr sz="1300" dirty="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dirty="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874</a:t>
                      </a:r>
                      <a:endParaRPr sz="1300" dirty="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908</a:t>
                      </a:r>
                      <a:endParaRPr sz="130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96%</a:t>
                      </a:r>
                      <a:endParaRPr sz="130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1,201</a:t>
                      </a:r>
                      <a:endParaRPr sz="130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1,233</a:t>
                      </a:r>
                      <a:endParaRPr sz="130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b="1" dirty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97%</a:t>
                      </a:r>
                      <a:endParaRPr sz="1300" b="1" dirty="0">
                        <a:solidFill>
                          <a:schemeClr val="accent4">
                            <a:lumMod val="75000"/>
                          </a:schemeClr>
                        </a:solidFill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8081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dirty="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Yalimbongo</a:t>
                      </a:r>
                      <a:endParaRPr sz="1300" dirty="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541</a:t>
                      </a:r>
                      <a:endParaRPr sz="130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526</a:t>
                      </a:r>
                      <a:endParaRPr sz="130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103%</a:t>
                      </a:r>
                      <a:endParaRPr sz="130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631</a:t>
                      </a:r>
                      <a:endParaRPr sz="130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654</a:t>
                      </a:r>
                      <a:endParaRPr sz="130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b="1" dirty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96%</a:t>
                      </a:r>
                      <a:endParaRPr sz="1300" b="1" dirty="0">
                        <a:solidFill>
                          <a:schemeClr val="accent4">
                            <a:lumMod val="75000"/>
                          </a:schemeClr>
                        </a:solidFill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8081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b="1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Total</a:t>
                      </a:r>
                      <a:endParaRPr sz="1300" b="1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b="1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7,973</a:t>
                      </a:r>
                      <a:endParaRPr sz="1300" b="1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b="1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8,342</a:t>
                      </a:r>
                      <a:endParaRPr sz="1300" b="1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b="1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96%</a:t>
                      </a:r>
                      <a:endParaRPr sz="1300" b="1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b="1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8,491</a:t>
                      </a:r>
                      <a:endParaRPr sz="1300" b="1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b="1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9,344</a:t>
                      </a:r>
                      <a:endParaRPr sz="1300" b="1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 b="1" dirty="0">
                          <a:latin typeface="Source Serif Pro"/>
                          <a:ea typeface="Source Serif Pro"/>
                          <a:cs typeface="Source Serif Pro"/>
                          <a:sym typeface="Source Serif Pro"/>
                        </a:rPr>
                        <a:t>91%</a:t>
                      </a:r>
                      <a:endParaRPr sz="1300" b="1" dirty="0">
                        <a:latin typeface="Source Serif Pro"/>
                        <a:ea typeface="Source Serif Pro"/>
                        <a:cs typeface="Source Serif Pro"/>
                        <a:sym typeface="Source Serif Pro"/>
                      </a:endParaRPr>
                    </a:p>
                  </a:txBody>
                  <a:tcPr marL="38100" marR="38100" marT="25400" marB="2540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aabc9d920d_0_419"/>
          <p:cNvSpPr txBox="1"/>
          <p:nvPr/>
        </p:nvSpPr>
        <p:spPr>
          <a:xfrm>
            <a:off x="458592" y="317941"/>
            <a:ext cx="11274900" cy="445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r>
              <a:rPr lang="en-US" sz="2000" dirty="0" err="1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Résultats</a:t>
            </a:r>
            <a:r>
              <a:rPr lang="en-US" sz="2000" dirty="0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obtenus: </a:t>
            </a:r>
            <a:r>
              <a:rPr lang="en-US" sz="2000" dirty="0" err="1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autres</a:t>
            </a:r>
            <a:r>
              <a:rPr lang="en-US" sz="2000" dirty="0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interventions </a:t>
            </a:r>
            <a:r>
              <a:rPr lang="en-US" sz="2000" dirty="0" err="1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specifiques</a:t>
            </a:r>
            <a:r>
              <a:rPr lang="" altLang="en-US" sz="2000" dirty="0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(stratégie spéciale, introduction des nouveaux vaccins)</a:t>
            </a:r>
            <a:endParaRPr sz="2000" dirty="0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000" dirty="0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000" dirty="0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000" dirty="0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000" dirty="0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000" b="0" i="0" u="none" strike="noStrike" cap="none" dirty="0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217" name="Google Shape;217;g3aabc9d920d_0_419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 panose="020B0604020202020204"/>
              <a:buNone/>
            </a:pPr>
            <a:endParaRPr sz="1900" b="0" i="0" u="none" strike="noStrike" cap="none">
              <a:solidFill>
                <a:srgbClr val="0070C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218" name="Google Shape;218;g3aabc9d920d_0_419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2190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endParaRPr sz="1200" b="1" i="0" u="none" strike="noStrike" cap="none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219" name="Google Shape;219;g3aabc9d920d_0_419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155CC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13</a:t>
            </a:fld>
            <a:endParaRPr sz="1200" b="0" i="0" u="none" strike="noStrike" cap="none">
              <a:solidFill>
                <a:srgbClr val="1155CC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20" name="Google Shape;220;g3aabc9d920d_0_419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w="12700" cap="flat" cmpd="sng">
            <a:solidFill>
              <a:srgbClr val="9E9E9E"/>
            </a:solidFill>
            <a:prstDash val="solid"/>
            <a:round/>
            <a:headEnd type="none" w="sm" len="sm"/>
            <a:tailEnd type="none" w="sm" len="sm"/>
          </a:ln>
        </p:spPr>
      </p:cxnSp>
      <p:graphicFrame>
        <p:nvGraphicFramePr>
          <p:cNvPr id="221" name="Google Shape;221;g3aabc9d920d_0_419"/>
          <p:cNvGraphicFramePr/>
          <p:nvPr>
            <p:extLst>
              <p:ext uri="{D42A27DB-BD31-4B8C-83A1-F6EECF244321}">
                <p14:modId xmlns:p14="http://schemas.microsoft.com/office/powerpoint/2010/main" val="1775747504"/>
              </p:ext>
            </p:extLst>
          </p:nvPr>
        </p:nvGraphicFramePr>
        <p:xfrm>
          <a:off x="458600" y="915716"/>
          <a:ext cx="11274900" cy="4276799"/>
        </p:xfrm>
        <a:graphic>
          <a:graphicData uri="http://schemas.openxmlformats.org/drawingml/2006/table">
            <a:tbl>
              <a:tblPr>
                <a:noFill/>
                <a:tableStyleId>{26042B85-2813-40D6-8C08-B53CA4025A34}</a:tableStyleId>
              </a:tblPr>
              <a:tblGrid>
                <a:gridCol w="2532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6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4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0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08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1881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Intervention</a:t>
                      </a:r>
                      <a:endParaRPr sz="1500" b="1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Zone de santé</a:t>
                      </a:r>
                      <a:endParaRPr sz="1500" b="1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Objectifs</a:t>
                      </a:r>
                      <a:endParaRPr sz="1500" b="1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err="1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Résultats</a:t>
                      </a:r>
                      <a:r>
                        <a:rPr lang="en-US" sz="1500" b="1" dirty="0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 obtenus </a:t>
                      </a:r>
                      <a:endParaRPr sz="1500" b="1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91425" marR="91425" marT="91425" marB="914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Contribution dans la CV</a:t>
                      </a:r>
                      <a:endParaRPr sz="1500" b="1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91425" marR="91425" marT="91425" marB="914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642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CD" sz="1600" b="1" dirty="0">
                          <a:solidFill>
                            <a:srgbClr val="0070C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FAE</a:t>
                      </a:r>
                      <a:endParaRPr sz="1600" b="1" dirty="0">
                        <a:solidFill>
                          <a:srgbClr val="0070C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CD" sz="1600" b="1" dirty="0">
                          <a:solidFill>
                            <a:srgbClr val="0070C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19/23</a:t>
                      </a:r>
                      <a:endParaRPr sz="1600" b="1" dirty="0">
                        <a:solidFill>
                          <a:srgbClr val="0070C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CD" sz="1600" b="1" dirty="0">
                          <a:solidFill>
                            <a:srgbClr val="0070C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35%</a:t>
                      </a:r>
                      <a:endParaRPr sz="1600" b="1" dirty="0">
                        <a:solidFill>
                          <a:srgbClr val="0070C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CD" sz="1600" b="1" dirty="0">
                          <a:solidFill>
                            <a:srgbClr val="FF000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78657</a:t>
                      </a:r>
                      <a:r>
                        <a:rPr lang="fr-CD" sz="1600" b="1" dirty="0">
                          <a:solidFill>
                            <a:srgbClr val="0070C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/138119</a:t>
                      </a:r>
                      <a:endParaRPr sz="1600" b="1" dirty="0">
                        <a:solidFill>
                          <a:srgbClr val="0070C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CD" sz="1600" b="1" dirty="0">
                          <a:solidFill>
                            <a:srgbClr val="0070C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56%</a:t>
                      </a:r>
                      <a:endParaRPr sz="1600" b="1" dirty="0">
                        <a:solidFill>
                          <a:srgbClr val="0070C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642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CD" sz="1600" b="1" dirty="0">
                          <a:solidFill>
                            <a:srgbClr val="0070C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GRAND</a:t>
                      </a:r>
                      <a:r>
                        <a:rPr lang="fr-CD" sz="1600" b="1" baseline="0" dirty="0">
                          <a:solidFill>
                            <a:srgbClr val="0070C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 RATTRAPAGE</a:t>
                      </a:r>
                      <a:endParaRPr sz="1600" b="1" dirty="0">
                        <a:solidFill>
                          <a:srgbClr val="0070C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CD" sz="1600" b="1" dirty="0">
                          <a:solidFill>
                            <a:srgbClr val="0070C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13/23</a:t>
                      </a:r>
                      <a:endParaRPr sz="1600" b="1" dirty="0">
                        <a:solidFill>
                          <a:srgbClr val="0070C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CD" sz="1600" b="1" dirty="0">
                          <a:solidFill>
                            <a:srgbClr val="0070C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70%</a:t>
                      </a:r>
                      <a:endParaRPr sz="1600" b="1" dirty="0">
                        <a:solidFill>
                          <a:srgbClr val="0070C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CD" sz="1600" b="1" dirty="0">
                          <a:solidFill>
                            <a:srgbClr val="FF000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76075</a:t>
                      </a:r>
                      <a:r>
                        <a:rPr lang="fr-CD" sz="1600" b="1" dirty="0">
                          <a:solidFill>
                            <a:srgbClr val="0070C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/138119</a:t>
                      </a:r>
                      <a:endParaRPr sz="1600" b="1" dirty="0">
                        <a:solidFill>
                          <a:srgbClr val="0070C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CD" sz="1600" b="1" dirty="0">
                          <a:solidFill>
                            <a:srgbClr val="0070C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59%</a:t>
                      </a:r>
                      <a:endParaRPr sz="1600" b="1" dirty="0">
                        <a:solidFill>
                          <a:srgbClr val="0070C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870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CD" sz="1600" b="1" dirty="0">
                          <a:solidFill>
                            <a:srgbClr val="0070C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IPVS Localités d’</a:t>
                      </a:r>
                      <a:r>
                        <a:rPr lang="fr-CD" sz="1600" b="1" dirty="0" err="1">
                          <a:solidFill>
                            <a:srgbClr val="0070C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acces</a:t>
                      </a:r>
                      <a:r>
                        <a:rPr lang="fr-CD" sz="1600" b="1" dirty="0">
                          <a:solidFill>
                            <a:srgbClr val="0070C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 difficiles</a:t>
                      </a:r>
                      <a:endParaRPr sz="1600" b="1" dirty="0">
                        <a:solidFill>
                          <a:srgbClr val="0070C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CD" sz="1600" b="1" dirty="0">
                          <a:solidFill>
                            <a:srgbClr val="0070C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8/23</a:t>
                      </a:r>
                      <a:endParaRPr sz="1600" b="1" dirty="0">
                        <a:solidFill>
                          <a:srgbClr val="0070C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CD" sz="1600" b="1" dirty="0">
                          <a:solidFill>
                            <a:srgbClr val="0070C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35%</a:t>
                      </a:r>
                      <a:endParaRPr sz="1600" b="1" dirty="0">
                        <a:solidFill>
                          <a:srgbClr val="0070C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CD" sz="1600" b="1" dirty="0">
                          <a:solidFill>
                            <a:srgbClr val="FF000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24955</a:t>
                      </a:r>
                      <a:r>
                        <a:rPr lang="fr-CD" sz="1600" b="1" dirty="0">
                          <a:solidFill>
                            <a:srgbClr val="0070C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/138119</a:t>
                      </a:r>
                      <a:endParaRPr sz="1600" b="1" dirty="0">
                        <a:solidFill>
                          <a:srgbClr val="0070C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CD" sz="1600" b="1" dirty="0">
                          <a:solidFill>
                            <a:srgbClr val="0070C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18%</a:t>
                      </a:r>
                      <a:endParaRPr sz="1600" b="1" dirty="0">
                        <a:solidFill>
                          <a:srgbClr val="0070C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642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600" b="1" i="0" u="none" strike="noStrike" cap="none" dirty="0">
                          <a:solidFill>
                            <a:srgbClr val="0070C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VAP</a:t>
                      </a:r>
                      <a:endParaRPr sz="1600" b="1" i="0" u="none" strike="noStrike" cap="none" dirty="0">
                        <a:solidFill>
                          <a:srgbClr val="0070C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/>
                        <a:buNone/>
                      </a:pPr>
                      <a:r>
                        <a:rPr lang="fr-FR" sz="1600" b="1" i="0" u="none" strike="noStrike" cap="none" dirty="0">
                          <a:solidFill>
                            <a:srgbClr val="0070C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23/23</a:t>
                      </a:r>
                      <a:endParaRPr sz="1600" b="1" i="0" u="none" strike="noStrike" cap="none" dirty="0">
                        <a:solidFill>
                          <a:srgbClr val="0070C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/>
                        <a:buNone/>
                      </a:pPr>
                      <a:r>
                        <a:rPr lang="fr-FR" sz="1600" b="1" i="0" u="none" strike="noStrike" cap="none" dirty="0">
                          <a:solidFill>
                            <a:srgbClr val="0070C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80%</a:t>
                      </a:r>
                      <a:endParaRPr sz="1600" b="1" i="0" u="none" strike="noStrike" cap="none" dirty="0">
                        <a:solidFill>
                          <a:srgbClr val="0070C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600" b="1" i="0" u="none" strike="noStrike" cap="none" dirty="0">
                          <a:solidFill>
                            <a:srgbClr val="FF000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27742</a:t>
                      </a:r>
                      <a:r>
                        <a:rPr lang="fr-FR" sz="1600" b="1" i="0" u="none" strike="noStrike" cap="none" dirty="0">
                          <a:solidFill>
                            <a:srgbClr val="0070C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/136330</a:t>
                      </a:r>
                      <a:endParaRPr sz="1600" b="1" i="0" u="none" strike="noStrike" cap="none" dirty="0">
                        <a:solidFill>
                          <a:srgbClr val="0070C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600" b="1" i="0" u="none" strike="noStrike" cap="none" dirty="0">
                          <a:solidFill>
                            <a:srgbClr val="0070C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20%</a:t>
                      </a:r>
                      <a:endParaRPr sz="1600" b="1" i="0" u="none" strike="noStrike" cap="none" dirty="0">
                        <a:solidFill>
                          <a:srgbClr val="0070C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aabc9d920d_0_217"/>
          <p:cNvSpPr txBox="1"/>
          <p:nvPr/>
        </p:nvSpPr>
        <p:spPr>
          <a:xfrm>
            <a:off x="458592" y="317941"/>
            <a:ext cx="11274900" cy="417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r>
              <a:rPr lang="en-US" sz="2000" dirty="0" err="1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Facteurs</a:t>
            </a:r>
            <a:r>
              <a:rPr lang="en-US" sz="2000" dirty="0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2000" dirty="0" err="1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expliquant</a:t>
            </a:r>
            <a:r>
              <a:rPr lang="en-US" sz="2000" dirty="0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la performance (leadership, </a:t>
            </a:r>
            <a:r>
              <a:rPr lang="en-US" sz="2000" dirty="0" err="1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mobilisation</a:t>
            </a:r>
            <a:r>
              <a:rPr lang="en-US" sz="2000" dirty="0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2000" dirty="0" err="1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communautaire</a:t>
            </a:r>
            <a:r>
              <a:rPr lang="en-US" sz="2000" dirty="0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, </a:t>
            </a:r>
            <a:r>
              <a:rPr lang="en-US" sz="2000" dirty="0" err="1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intégration</a:t>
            </a:r>
            <a:r>
              <a:rPr lang="en-US" sz="2000" dirty="0">
                <a:solidFill>
                  <a:srgbClr val="1155C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, supervision)</a:t>
            </a:r>
            <a:endParaRPr sz="2000" b="0" i="0" u="none" strike="noStrike" cap="none" dirty="0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000" b="0" i="0" u="none" strike="noStrike" cap="none" dirty="0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227" name="Google Shape;227;g3aabc9d920d_0_217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 panose="020B0604020202020204"/>
              <a:buNone/>
            </a:pPr>
            <a:endParaRPr sz="1900" b="0" i="0" u="none" strike="noStrike" cap="none">
              <a:solidFill>
                <a:srgbClr val="0070C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228" name="Google Shape;228;g3aabc9d920d_0_217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2190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endParaRPr sz="1200" b="1" i="0" u="none" strike="noStrike" cap="none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229" name="Google Shape;229;g3aabc9d920d_0_217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155CC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14</a:t>
            </a:fld>
            <a:endParaRPr sz="1200" b="0" i="0" u="none" strike="noStrike" cap="none">
              <a:solidFill>
                <a:srgbClr val="1155CC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30" name="Google Shape;230;g3aabc9d920d_0_217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w="12700" cap="flat" cmpd="sng">
            <a:solidFill>
              <a:srgbClr val="9E9E9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31" name="Google Shape;231;g3aabc9d920d_0_217"/>
          <p:cNvSpPr/>
          <p:nvPr/>
        </p:nvSpPr>
        <p:spPr>
          <a:xfrm>
            <a:off x="458600" y="800161"/>
            <a:ext cx="11356500" cy="5791523"/>
          </a:xfrm>
          <a:prstGeom prst="rect">
            <a:avLst/>
          </a:prstGeom>
          <a:solidFill>
            <a:schemeClr val="bg1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4100" tIns="94100" rIns="94100" bIns="94100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imes New Roman" panose="02020603050405020304"/>
              <a:buAutoNum type="arabicPeriod"/>
            </a:pPr>
            <a:r>
              <a:rPr lang="en-US" sz="1800" b="1" dirty="0" err="1"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Problème</a:t>
            </a:r>
            <a:r>
              <a:rPr lang="en-US" sz="1800" b="1" dirty="0"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1800" b="1" dirty="0" err="1"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résolu</a:t>
            </a:r>
            <a:r>
              <a:rPr lang="en-US" sz="1800" b="1" dirty="0"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 par la bonne pratique </a:t>
            </a:r>
            <a:r>
              <a:rPr lang="en-US" sz="1800" dirty="0"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: </a:t>
            </a:r>
          </a:p>
          <a:p>
            <a:pPr marL="444500" lvl="0" indent="-3429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Font typeface="Wingdings" panose="05000000000000000000" pitchFamily="2" charset="2"/>
              <a:buChar char="ü"/>
            </a:pPr>
            <a:r>
              <a:rPr lang="en-US" sz="1600" dirty="0" err="1">
                <a:solidFill>
                  <a:srgbClr val="0070C0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Cible</a:t>
            </a:r>
            <a:r>
              <a:rPr lang="en-US" sz="1600" dirty="0">
                <a:solidFill>
                  <a:srgbClr val="0070C0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 non </a:t>
            </a:r>
            <a:r>
              <a:rPr lang="en-US" sz="1600" dirty="0" err="1">
                <a:solidFill>
                  <a:srgbClr val="0070C0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atteint</a:t>
            </a:r>
            <a:r>
              <a:rPr lang="en-US" sz="1600" dirty="0">
                <a:solidFill>
                  <a:srgbClr val="0070C0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1600" dirty="0" err="1">
                <a:solidFill>
                  <a:srgbClr val="0070C0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lors</a:t>
            </a:r>
            <a:r>
              <a:rPr lang="en-US" sz="1600" dirty="0">
                <a:solidFill>
                  <a:srgbClr val="0070C0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 du grand </a:t>
            </a:r>
            <a:r>
              <a:rPr lang="en-US" sz="1600" dirty="0" err="1">
                <a:solidFill>
                  <a:srgbClr val="0070C0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rattrappage</a:t>
            </a:r>
            <a:r>
              <a:rPr lang="en-US" sz="1600" dirty="0">
                <a:solidFill>
                  <a:srgbClr val="0070C0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  au 7 </a:t>
            </a:r>
            <a:r>
              <a:rPr lang="en-US" sz="1600" dirty="0" err="1">
                <a:solidFill>
                  <a:srgbClr val="0070C0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ieme</a:t>
            </a:r>
            <a:r>
              <a:rPr lang="en-US" sz="1600" dirty="0">
                <a:solidFill>
                  <a:srgbClr val="0070C0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1600" dirty="0" err="1">
                <a:solidFill>
                  <a:srgbClr val="0070C0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jours</a:t>
            </a:r>
            <a:endParaRPr lang="en-US" sz="1600" dirty="0">
              <a:solidFill>
                <a:srgbClr val="0070C0"/>
              </a:solidFill>
              <a:latin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444500" indent="-342900">
              <a:lnSpc>
                <a:spcPct val="150000"/>
              </a:lnSpc>
              <a:buSzPts val="2000"/>
              <a:buFont typeface="Wingdings" panose="05000000000000000000" pitchFamily="2" charset="2"/>
              <a:buChar char="ü"/>
            </a:pPr>
            <a:r>
              <a:rPr lang="fr-FR" sz="1600" dirty="0">
                <a:solidFill>
                  <a:srgbClr val="0070C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Retard dans l’encodage des données dans les DHIS2</a:t>
            </a:r>
            <a:endParaRPr sz="1600" dirty="0">
              <a:solidFill>
                <a:srgbClr val="0070C0"/>
              </a:solidFill>
              <a:latin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10160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</a:pPr>
            <a:r>
              <a:rPr lang="en-US" sz="1800" b="1" dirty="0"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2.  Description de la bonne pratique, </a:t>
            </a:r>
            <a:r>
              <a:rPr lang="en-US" sz="1800" b="1" dirty="0" err="1"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personnes</a:t>
            </a:r>
            <a:r>
              <a:rPr lang="en-US" sz="1800" b="1" dirty="0"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1800" b="1" dirty="0" err="1"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impliqu</a:t>
            </a:r>
            <a:r>
              <a:rPr lang="" altLang="en-US" sz="1800" b="1" dirty="0"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é</a:t>
            </a:r>
            <a:r>
              <a:rPr lang="en-US" sz="1800" b="1" dirty="0"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s </a:t>
            </a:r>
            <a:r>
              <a:rPr lang="en-US" sz="1800" dirty="0"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:</a:t>
            </a:r>
          </a:p>
          <a:p>
            <a:pPr marL="444500" indent="-342900">
              <a:lnSpc>
                <a:spcPct val="150000"/>
              </a:lnSpc>
              <a:buSzPts val="2000"/>
              <a:buFont typeface="Wingdings" panose="05000000000000000000" pitchFamily="2" charset="2"/>
              <a:buChar char="ü"/>
            </a:pPr>
            <a:r>
              <a:rPr lang="en-US" sz="1600" dirty="0">
                <a:solidFill>
                  <a:srgbClr val="0070C0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 Prolongation des 3 </a:t>
            </a:r>
            <a:r>
              <a:rPr lang="en-US" sz="1600" dirty="0" err="1">
                <a:solidFill>
                  <a:srgbClr val="0070C0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jours</a:t>
            </a:r>
            <a:r>
              <a:rPr lang="en-US" sz="1600" dirty="0">
                <a:solidFill>
                  <a:srgbClr val="0070C0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1600" dirty="0" err="1">
                <a:solidFill>
                  <a:srgbClr val="0070C0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d’activité</a:t>
            </a:r>
            <a:r>
              <a:rPr lang="en-US" sz="1600" dirty="0">
                <a:solidFill>
                  <a:srgbClr val="0070C0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 pour </a:t>
            </a:r>
            <a:r>
              <a:rPr lang="en-US" sz="1600" dirty="0" err="1">
                <a:solidFill>
                  <a:srgbClr val="0070C0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recuperer</a:t>
            </a:r>
            <a:r>
              <a:rPr lang="en-US" sz="1600" dirty="0">
                <a:solidFill>
                  <a:srgbClr val="0070C0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 les </a:t>
            </a:r>
            <a:r>
              <a:rPr lang="en-US" sz="1600" dirty="0" err="1">
                <a:solidFill>
                  <a:srgbClr val="0070C0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quelques</a:t>
            </a:r>
            <a:r>
              <a:rPr lang="en-US" sz="1600" dirty="0">
                <a:solidFill>
                  <a:srgbClr val="0070C0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 enfants en retards</a:t>
            </a:r>
          </a:p>
          <a:p>
            <a:pPr marL="444500" indent="-342900">
              <a:lnSpc>
                <a:spcPct val="150000"/>
              </a:lnSpc>
              <a:buSzPts val="2000"/>
              <a:buFont typeface="Wingdings" panose="05000000000000000000" pitchFamily="2" charset="2"/>
              <a:buChar char="ü"/>
            </a:pPr>
            <a:r>
              <a:rPr lang="fr-CD" sz="1600" dirty="0">
                <a:solidFill>
                  <a:srgbClr val="0070C0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Combinaison des toutes </a:t>
            </a:r>
            <a:r>
              <a:rPr lang="fr-CD" sz="1600" dirty="0" err="1">
                <a:solidFill>
                  <a:srgbClr val="0070C0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strategies</a:t>
            </a:r>
            <a:r>
              <a:rPr lang="fr-CD" sz="1600" dirty="0">
                <a:solidFill>
                  <a:srgbClr val="0070C0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 traditionnels et </a:t>
            </a:r>
            <a:r>
              <a:rPr lang="fr-CD" sz="1600" dirty="0" err="1">
                <a:solidFill>
                  <a:srgbClr val="0070C0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innonvantes</a:t>
            </a:r>
            <a:r>
              <a:rPr lang="fr-CD" sz="1600" dirty="0">
                <a:solidFill>
                  <a:srgbClr val="0070C0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 lors du grand rattrapage</a:t>
            </a:r>
          </a:p>
          <a:p>
            <a:pPr marL="444500" lvl="0" indent="-342900">
              <a:lnSpc>
                <a:spcPct val="150000"/>
              </a:lnSpc>
              <a:buSzPts val="2000"/>
              <a:buFont typeface="Wingdings" panose="05000000000000000000" pitchFamily="2" charset="2"/>
              <a:buChar char="ü"/>
            </a:pPr>
            <a:r>
              <a:rPr lang="fr-FR" sz="1600" dirty="0">
                <a:solidFill>
                  <a:srgbClr val="0070C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Supervision au BCZS et suivi de proximité auprès de DATA</a:t>
            </a:r>
          </a:p>
          <a:p>
            <a:pPr marL="444500" lvl="0" indent="-342900">
              <a:lnSpc>
                <a:spcPct val="150000"/>
              </a:lnSpc>
              <a:buSzPts val="2000"/>
              <a:buFont typeface="Wingdings" panose="05000000000000000000" pitchFamily="2" charset="2"/>
              <a:buChar char="ü"/>
            </a:pPr>
            <a:r>
              <a:rPr lang="fr-FR" sz="1600" dirty="0">
                <a:solidFill>
                  <a:srgbClr val="0070C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Monitorage des enfants de la tranche d'âge de 12 à 59 mois pour le rattrapage</a:t>
            </a:r>
            <a:endParaRPr sz="1600" dirty="0">
              <a:solidFill>
                <a:srgbClr val="0070C0"/>
              </a:solidFill>
              <a:latin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55880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 startAt="3"/>
            </a:pPr>
            <a:r>
              <a:rPr lang="en-US" sz="1800" b="1" dirty="0" err="1"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Résultats</a:t>
            </a:r>
            <a:r>
              <a:rPr lang="en-US" sz="1800" b="1" dirty="0"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 de la bonne pratique </a:t>
            </a:r>
            <a:r>
              <a:rPr lang="en-US" sz="1800" dirty="0"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: </a:t>
            </a:r>
          </a:p>
          <a:p>
            <a:pPr marL="444500" lvl="0" indent="-3429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Font typeface="Wingdings" panose="05000000000000000000" pitchFamily="2" charset="2"/>
              <a:buChar char="ü"/>
            </a:pPr>
            <a:r>
              <a:rPr lang="en-US" sz="1600" dirty="0">
                <a:solidFill>
                  <a:srgbClr val="0070C0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Amelioration des 10% de la couverture du grand </a:t>
            </a:r>
            <a:r>
              <a:rPr lang="en-US" sz="1600" dirty="0" err="1">
                <a:solidFill>
                  <a:srgbClr val="0070C0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rattrapage</a:t>
            </a:r>
            <a:endParaRPr lang="en-US" sz="1600" dirty="0">
              <a:solidFill>
                <a:srgbClr val="0070C0"/>
              </a:solidFill>
              <a:latin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444500" indent="-342900">
              <a:lnSpc>
                <a:spcPct val="150000"/>
              </a:lnSpc>
              <a:buSzPts val="2000"/>
              <a:buFont typeface="Wingdings" panose="05000000000000000000" pitchFamily="2" charset="2"/>
              <a:buChar char="ü"/>
            </a:pPr>
            <a:r>
              <a:rPr lang="fr-FR" sz="1600" dirty="0" err="1">
                <a:solidFill>
                  <a:srgbClr val="0070C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Amelioration</a:t>
            </a:r>
            <a:r>
              <a:rPr lang="fr-FR" sz="1600" dirty="0">
                <a:solidFill>
                  <a:srgbClr val="0070C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de  la </a:t>
            </a:r>
            <a:r>
              <a:rPr lang="fr-FR" sz="1600" dirty="0" err="1">
                <a:solidFill>
                  <a:srgbClr val="0070C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completude</a:t>
            </a:r>
            <a:r>
              <a:rPr lang="fr-FR" sz="1600" dirty="0">
                <a:solidFill>
                  <a:srgbClr val="0070C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des données dans le DHIS2</a:t>
            </a:r>
            <a:endParaRPr sz="1600" dirty="0">
              <a:solidFill>
                <a:srgbClr val="0070C0"/>
              </a:solidFill>
              <a:latin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10160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</a:pPr>
            <a:r>
              <a:rPr lang="en-US" sz="1800" b="1" dirty="0"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4.   </a:t>
            </a:r>
            <a:r>
              <a:rPr lang="en-US" sz="1800" b="1" dirty="0" err="1"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Recommandation</a:t>
            </a:r>
            <a:r>
              <a:rPr lang="en-US" sz="1800" b="1" dirty="0"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 pour la replication </a:t>
            </a:r>
            <a:r>
              <a:rPr lang="en-US" sz="1800" dirty="0"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: </a:t>
            </a:r>
            <a:endParaRPr lang="en-US" sz="1600" dirty="0">
              <a:latin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444500" lvl="0" indent="-3429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Font typeface="Wingdings" panose="05000000000000000000" pitchFamily="2" charset="2"/>
              <a:buChar char="ü"/>
            </a:pPr>
            <a:r>
              <a:rPr lang="en-US" sz="1600" dirty="0">
                <a:solidFill>
                  <a:srgbClr val="0070C0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Apppropriation des </a:t>
            </a:r>
            <a:r>
              <a:rPr lang="en-US" sz="1600" dirty="0" err="1">
                <a:solidFill>
                  <a:srgbClr val="0070C0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activités</a:t>
            </a:r>
            <a:r>
              <a:rPr lang="en-US" sz="1600" dirty="0">
                <a:solidFill>
                  <a:srgbClr val="0070C0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 par les IT et les RECOS</a:t>
            </a:r>
          </a:p>
          <a:p>
            <a:pPr marL="444500" indent="-342900">
              <a:lnSpc>
                <a:spcPct val="150000"/>
              </a:lnSpc>
              <a:buSzPts val="2000"/>
              <a:buFont typeface="Wingdings" panose="05000000000000000000" pitchFamily="2" charset="2"/>
              <a:buChar char="ü"/>
            </a:pPr>
            <a:r>
              <a:rPr lang="fr-FR" sz="1600" dirty="0">
                <a:solidFill>
                  <a:srgbClr val="0070C0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Implication du MCZS et DATA dans l analyse et validation des données de la vaccination  y compris celles de gestion des vaccins et surveillance des MPV+MAPI </a:t>
            </a:r>
          </a:p>
          <a:p>
            <a:pPr marL="101600" lvl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</a:pPr>
            <a:endParaRPr sz="2000" dirty="0">
              <a:solidFill>
                <a:srgbClr val="0070C0"/>
              </a:solidFill>
              <a:latin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>
          <a:extLst>
            <a:ext uri="{FF2B5EF4-FFF2-40B4-BE49-F238E27FC236}">
              <a16:creationId xmlns:a16="http://schemas.microsoft.com/office/drawing/2014/main" id="{E32D82E8-6764-DB9A-659A-7DE3691C6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aabc9d920d_0_234">
            <a:extLst>
              <a:ext uri="{FF2B5EF4-FFF2-40B4-BE49-F238E27FC236}">
                <a16:creationId xmlns:a16="http://schemas.microsoft.com/office/drawing/2014/main" id="{89C4FA1F-EDEF-110A-7E77-80B0C62BB8D2}"/>
              </a:ext>
            </a:extLst>
          </p:cNvPr>
          <p:cNvSpPr txBox="1"/>
          <p:nvPr/>
        </p:nvSpPr>
        <p:spPr>
          <a:xfrm>
            <a:off x="458592" y="148255"/>
            <a:ext cx="11274900" cy="3890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r>
              <a:rPr lang="en-US" sz="2800" b="1" dirty="0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Narrow" panose="020B0606020202030204" pitchFamily="34" charset="0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Défis rencontrés</a:t>
            </a:r>
            <a:endParaRPr sz="2800" b="1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Narrow" panose="020B0606020202030204" pitchFamily="34" charset="0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800" b="1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Narrow" panose="020B0606020202030204" pitchFamily="34" charset="0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800" b="1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Narrow" panose="020B0606020202030204" pitchFamily="34" charset="0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800" b="1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Narrow" panose="020B0606020202030204" pitchFamily="34" charset="0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800" b="1" i="0" u="none" strike="noStrike" cap="none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Narrow" panose="020B0606020202030204" pitchFamily="34" charset="0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237" name="Google Shape;237;g3aabc9d920d_0_234">
            <a:extLst>
              <a:ext uri="{FF2B5EF4-FFF2-40B4-BE49-F238E27FC236}">
                <a16:creationId xmlns:a16="http://schemas.microsoft.com/office/drawing/2014/main" id="{43CB140E-A485-8EFC-5795-0D8B6E847C1A}"/>
              </a:ext>
            </a:extLst>
          </p:cNvPr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 panose="020B0604020202020204"/>
              <a:buNone/>
            </a:pPr>
            <a:endParaRPr sz="1900" b="0" i="0" u="none" strike="noStrike" cap="none">
              <a:solidFill>
                <a:srgbClr val="0070C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238" name="Google Shape;238;g3aabc9d920d_0_234">
            <a:extLst>
              <a:ext uri="{FF2B5EF4-FFF2-40B4-BE49-F238E27FC236}">
                <a16:creationId xmlns:a16="http://schemas.microsoft.com/office/drawing/2014/main" id="{712B5838-BB70-E1DC-4C46-4C964D20174A}"/>
              </a:ext>
            </a:extLst>
          </p:cNvPr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2190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endParaRPr sz="1200" b="1" i="0" u="none" strike="noStrike" cap="none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239" name="Google Shape;239;g3aabc9d920d_0_234">
            <a:extLst>
              <a:ext uri="{FF2B5EF4-FFF2-40B4-BE49-F238E27FC236}">
                <a16:creationId xmlns:a16="http://schemas.microsoft.com/office/drawing/2014/main" id="{A8B77306-10B4-EBB2-2C15-031656506A6C}"/>
              </a:ext>
            </a:extLst>
          </p:cNvPr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155CC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15</a:t>
            </a:fld>
            <a:endParaRPr sz="1200" b="0" i="0" u="none" strike="noStrike" cap="none">
              <a:solidFill>
                <a:srgbClr val="1155CC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40" name="Google Shape;240;g3aabc9d920d_0_234">
            <a:extLst>
              <a:ext uri="{FF2B5EF4-FFF2-40B4-BE49-F238E27FC236}">
                <a16:creationId xmlns:a16="http://schemas.microsoft.com/office/drawing/2014/main" id="{C3574D47-6443-20A3-E967-D3A4441083A9}"/>
              </a:ext>
            </a:extLst>
          </p:cNvPr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w="12700" cap="flat" cmpd="sng">
            <a:solidFill>
              <a:srgbClr val="9E9E9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" name="ZoneTexte 4">
            <a:extLst>
              <a:ext uri="{FF2B5EF4-FFF2-40B4-BE49-F238E27FC236}">
                <a16:creationId xmlns:a16="http://schemas.microsoft.com/office/drawing/2014/main" id="{4ED9CBAC-D5C2-03C2-2A7A-6A0C7386B932}"/>
              </a:ext>
            </a:extLst>
          </p:cNvPr>
          <p:cNvSpPr txBox="1"/>
          <p:nvPr/>
        </p:nvSpPr>
        <p:spPr>
          <a:xfrm>
            <a:off x="235500" y="655292"/>
            <a:ext cx="11868516" cy="61555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fr-FR" sz="2000" b="1" dirty="0">
                <a:latin typeface="Arial Narrow" panose="020B0606020202030204" pitchFamily="34" charset="0"/>
              </a:rPr>
              <a:t>1</a:t>
            </a:r>
            <a:r>
              <a:rPr lang="fr-FR" sz="2000" b="1" dirty="0">
                <a:solidFill>
                  <a:srgbClr val="0070C0"/>
                </a:solidFill>
                <a:latin typeface="Arial Narrow" panose="020B0606020202030204" pitchFamily="34" charset="0"/>
              </a:rPr>
              <a:t>. </a:t>
            </a:r>
            <a:r>
              <a:rPr lang="fr-FR" sz="1600" b="1" dirty="0">
                <a:solidFill>
                  <a:srgbClr val="0070C0"/>
                </a:solidFill>
                <a:latin typeface="Arial Narrow" panose="020B0606020202030204" pitchFamily="34" charset="0"/>
              </a:rPr>
              <a:t>Défis opérationnels</a:t>
            </a:r>
            <a:endParaRPr lang="fr-FR" sz="2000" b="1" dirty="0">
              <a:solidFill>
                <a:srgbClr val="0070C0"/>
              </a:solidFill>
              <a:latin typeface="Arial Narrow" panose="020B0606020202030204" pitchFamily="34" charset="0"/>
            </a:endParaRPr>
          </a:p>
          <a:p>
            <a:pPr marL="622300" indent="-266700">
              <a:buFont typeface="Wingdings" panose="05000000000000000000" pitchFamily="2" charset="2"/>
              <a:buChar char="§"/>
            </a:pP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Difficultés d’accès à certaines aires de santé d’accès difficile (enclavement, longues distances, routes impraticables).</a:t>
            </a:r>
          </a:p>
          <a:p>
            <a:pPr marL="622300" indent="-266700">
              <a:buFont typeface="Wingdings" panose="05000000000000000000" pitchFamily="2" charset="2"/>
              <a:buChar char="§"/>
            </a:pP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Insuffisance de moyens logistiques pour la mise en œuvre optimale des stratégies avancées et spéciales (manque de carburant, motos en panne, etc.).</a:t>
            </a:r>
          </a:p>
          <a:p>
            <a:pPr marL="622300" indent="-266700">
              <a:buFont typeface="Wingdings" panose="05000000000000000000" pitchFamily="2" charset="2"/>
              <a:buChar char="§"/>
            </a:pP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Retards dans l’acheminement des intrants (vaccins, OVM, supports de collecte).</a:t>
            </a:r>
          </a:p>
          <a:p>
            <a:pPr>
              <a:lnSpc>
                <a:spcPct val="150000"/>
              </a:lnSpc>
            </a:pPr>
            <a:r>
              <a:rPr lang="fr-FR" b="1" dirty="0">
                <a:latin typeface="Arial Narrow" panose="020B0606020202030204" pitchFamily="34" charset="0"/>
              </a:rPr>
              <a:t>2</a:t>
            </a:r>
            <a:r>
              <a:rPr lang="fr-FR" sz="2000" b="1" dirty="0">
                <a:solidFill>
                  <a:srgbClr val="0070C0"/>
                </a:solidFill>
                <a:latin typeface="Arial Narrow" panose="020B0606020202030204" pitchFamily="34" charset="0"/>
              </a:rPr>
              <a:t>. </a:t>
            </a:r>
            <a:r>
              <a:rPr lang="fr-FR" sz="1600" b="1" dirty="0">
                <a:solidFill>
                  <a:srgbClr val="0070C0"/>
                </a:solidFill>
                <a:latin typeface="Arial Narrow" panose="020B0606020202030204" pitchFamily="34" charset="0"/>
              </a:rPr>
              <a:t>Défis liés à la qualité des données</a:t>
            </a:r>
            <a:endParaRPr lang="fr-FR" sz="2000" b="1" dirty="0">
              <a:solidFill>
                <a:srgbClr val="0070C0"/>
              </a:solidFill>
              <a:latin typeface="Arial Narrow" panose="020B0606020202030204" pitchFamily="34" charset="0"/>
            </a:endParaRPr>
          </a:p>
          <a:p>
            <a:pPr marL="622300" indent="-266700">
              <a:buFont typeface="Wingdings" panose="05000000000000000000" pitchFamily="2" charset="2"/>
              <a:buChar char="§"/>
            </a:pP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Faible complétude dans certaines Zones de Santé et incohérences dans les masques de saisie des activités vaccinales.</a:t>
            </a:r>
          </a:p>
          <a:p>
            <a:pPr marL="622300" indent="-266700">
              <a:buFont typeface="Wingdings" panose="05000000000000000000" pitchFamily="2" charset="2"/>
              <a:buChar char="§"/>
            </a:pP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Retards de transmission des données par certaines Zones de Santé.</a:t>
            </a:r>
          </a:p>
          <a:p>
            <a:pPr>
              <a:lnSpc>
                <a:spcPct val="150000"/>
              </a:lnSpc>
            </a:pPr>
            <a:r>
              <a:rPr lang="fr-FR" b="1" dirty="0">
                <a:latin typeface="Arial Narrow" panose="020B0606020202030204" pitchFamily="34" charset="0"/>
              </a:rPr>
              <a:t>3. </a:t>
            </a:r>
            <a:r>
              <a:rPr lang="fr-FR" sz="1600" b="1" dirty="0">
                <a:solidFill>
                  <a:srgbClr val="0070C0"/>
                </a:solidFill>
                <a:latin typeface="Arial Narrow" panose="020B0606020202030204" pitchFamily="34" charset="0"/>
              </a:rPr>
              <a:t>Défis liés aux ressources humaines</a:t>
            </a:r>
            <a:endParaRPr lang="fr-FR" sz="2000" b="1" dirty="0">
              <a:solidFill>
                <a:srgbClr val="0070C0"/>
              </a:solidFill>
              <a:latin typeface="Arial Narrow" panose="020B0606020202030204" pitchFamily="34" charset="0"/>
            </a:endParaRPr>
          </a:p>
          <a:p>
            <a:pPr marL="622300" indent="-266700">
              <a:buFont typeface="Wingdings" panose="05000000000000000000" pitchFamily="2" charset="2"/>
              <a:buChar char="§"/>
            </a:pP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Faible disponibilité de certains vaccinateurs et superviseurs sur terrain.</a:t>
            </a:r>
          </a:p>
          <a:p>
            <a:pPr marL="622300" indent="-266700">
              <a:buFont typeface="Wingdings" panose="05000000000000000000" pitchFamily="2" charset="2"/>
              <a:buChar char="§"/>
            </a:pP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Rotation fréquente du personnel dans certaines ZS, entraînant un besoin régulier de reformation.</a:t>
            </a:r>
          </a:p>
          <a:p>
            <a:pPr marL="622300" indent="-266700">
              <a:buFont typeface="Wingdings" panose="05000000000000000000" pitchFamily="2" charset="2"/>
              <a:buChar char="§"/>
            </a:pP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insuffisante des équipes lors des activités intensives (IPVS, FAE, stratégies spéciales).</a:t>
            </a:r>
          </a:p>
          <a:p>
            <a:pPr>
              <a:lnSpc>
                <a:spcPct val="150000"/>
              </a:lnSpc>
            </a:pPr>
            <a:r>
              <a:rPr lang="fr-FR" b="1" dirty="0">
                <a:latin typeface="Arial Narrow" panose="020B0606020202030204" pitchFamily="34" charset="0"/>
              </a:rPr>
              <a:t>4. </a:t>
            </a:r>
            <a:r>
              <a:rPr lang="fr-FR" sz="1600" b="1" dirty="0">
                <a:solidFill>
                  <a:srgbClr val="0070C0"/>
                </a:solidFill>
                <a:latin typeface="Arial Narrow" panose="020B0606020202030204" pitchFamily="34" charset="0"/>
              </a:rPr>
              <a:t>Défis communautaires</a:t>
            </a:r>
            <a:endParaRPr lang="fr-FR" sz="2000" b="1" dirty="0">
              <a:solidFill>
                <a:srgbClr val="0070C0"/>
              </a:solidFill>
              <a:latin typeface="Arial Narrow" panose="020B0606020202030204" pitchFamily="34" charset="0"/>
            </a:endParaRPr>
          </a:p>
          <a:p>
            <a:pPr marL="622300" indent="-266700">
              <a:buFont typeface="Wingdings" panose="05000000000000000000" pitchFamily="2" charset="2"/>
              <a:buChar char="§"/>
            </a:pP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Faible mobilisation communautaire dans certaines zones.</a:t>
            </a:r>
          </a:p>
          <a:p>
            <a:pPr marL="622300" indent="-266700">
              <a:buFont typeface="Wingdings" panose="05000000000000000000" pitchFamily="2" charset="2"/>
              <a:buChar char="§"/>
            </a:pP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Déplacements fréquents des populations, rendant difficile l’identification et le suivi des enfants non vaccinés.</a:t>
            </a:r>
          </a:p>
          <a:p>
            <a:pPr>
              <a:lnSpc>
                <a:spcPct val="200000"/>
              </a:lnSpc>
            </a:pPr>
            <a:r>
              <a:rPr lang="fr-FR" b="1" dirty="0">
                <a:latin typeface="Arial Narrow" panose="020B0606020202030204" pitchFamily="34" charset="0"/>
              </a:rPr>
              <a:t>5.  </a:t>
            </a:r>
            <a:r>
              <a:rPr lang="fr-FR" sz="1600" b="1" dirty="0">
                <a:solidFill>
                  <a:srgbClr val="0070C0"/>
                </a:solidFill>
                <a:latin typeface="Arial Narrow" panose="020B0606020202030204" pitchFamily="34" charset="0"/>
              </a:rPr>
              <a:t>Défis organisationnels</a:t>
            </a:r>
            <a:endParaRPr lang="fr-FR" sz="2000" b="1" dirty="0">
              <a:solidFill>
                <a:srgbClr val="0070C0"/>
              </a:solidFill>
              <a:latin typeface="Arial Narrow" panose="020B0606020202030204" pitchFamily="34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Faible documentation des supervisions et des bonnes pratiques.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Coordination parfois limitée entre DPS, partenaires et ZS pour certaines activités.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Intégration irrégulière des actions correctrices après les supervisions.</a:t>
            </a:r>
          </a:p>
          <a:p>
            <a:pPr>
              <a:lnSpc>
                <a:spcPct val="200000"/>
              </a:lnSpc>
            </a:pPr>
            <a:r>
              <a:rPr lang="fr-FR" b="1" dirty="0">
                <a:latin typeface="Arial Narrow" panose="020B0606020202030204" pitchFamily="34" charset="0"/>
              </a:rPr>
              <a:t>6. </a:t>
            </a:r>
            <a:r>
              <a:rPr lang="fr-FR" sz="1600" b="1" dirty="0">
                <a:solidFill>
                  <a:srgbClr val="0070C0"/>
                </a:solidFill>
                <a:latin typeface="Arial Narrow" panose="020B0606020202030204" pitchFamily="34" charset="0"/>
              </a:rPr>
              <a:t>Défis sécuritaires et contextuels</a:t>
            </a:r>
            <a:endParaRPr lang="fr-FR" sz="2000" b="1" dirty="0">
              <a:solidFill>
                <a:srgbClr val="0070C0"/>
              </a:solidFill>
              <a:latin typeface="Arial Narrow" panose="020B0606020202030204" pitchFamily="34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Zones affectées par l’insécurité perturbant les activités de routine ou intensifiées.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Catastrophes naturelles ou conditions climatiques défavorables ralentissant la vaccination (pluies, crues).</a:t>
            </a:r>
          </a:p>
        </p:txBody>
      </p:sp>
    </p:spTree>
    <p:extLst>
      <p:ext uri="{BB962C8B-B14F-4D97-AF65-F5344CB8AC3E}">
        <p14:creationId xmlns:p14="http://schemas.microsoft.com/office/powerpoint/2010/main" val="37727395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CB66F9-7AE1-1E4E-14FC-03D00CDD6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ABC44BD-785F-FCBD-4B5B-53A6DEE0D8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D6A085-E522-E747-A8B9-D1055679FD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EA57132-2F91-7E69-8D8C-E12E59FD5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E3A7378-2336-130D-12C1-3D9CAE9461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8C6947-0D6A-8991-AABE-3FE5BB3688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3BA506D-0AE4-7807-50E8-8006F9954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207" y="294539"/>
            <a:ext cx="11057343" cy="497314"/>
          </a:xfrm>
        </p:spPr>
        <p:txBody>
          <a:bodyPr>
            <a:normAutofit fontScale="90000"/>
          </a:bodyPr>
          <a:lstStyle/>
          <a:p>
            <a:r>
              <a:rPr lang="fr-FR" sz="4000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Narrow" panose="020B0606020202030204" pitchFamily="34" charset="0"/>
              </a:rPr>
              <a:t>ANALYSE FFOM</a:t>
            </a:r>
          </a:p>
        </p:txBody>
      </p:sp>
      <p:graphicFrame>
        <p:nvGraphicFramePr>
          <p:cNvPr id="4" name="Tableau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2386265"/>
              </p:ext>
            </p:extLst>
          </p:nvPr>
        </p:nvGraphicFramePr>
        <p:xfrm>
          <a:off x="210207" y="1667757"/>
          <a:ext cx="11755651" cy="3281315"/>
        </p:xfrm>
        <a:graphic>
          <a:graphicData uri="http://schemas.openxmlformats.org/drawingml/2006/table">
            <a:tbl>
              <a:tblPr/>
              <a:tblGrid>
                <a:gridCol w="1510450">
                  <a:extLst>
                    <a:ext uri="{9D8B030D-6E8A-4147-A177-3AD203B41FA5}">
                      <a16:colId xmlns:a16="http://schemas.microsoft.com/office/drawing/2014/main" val="3822749982"/>
                    </a:ext>
                  </a:extLst>
                </a:gridCol>
                <a:gridCol w="2952162">
                  <a:extLst>
                    <a:ext uri="{9D8B030D-6E8A-4147-A177-3AD203B41FA5}">
                      <a16:colId xmlns:a16="http://schemas.microsoft.com/office/drawing/2014/main" val="1277144272"/>
                    </a:ext>
                  </a:extLst>
                </a:gridCol>
                <a:gridCol w="4857680">
                  <a:extLst>
                    <a:ext uri="{9D8B030D-6E8A-4147-A177-3AD203B41FA5}">
                      <a16:colId xmlns:a16="http://schemas.microsoft.com/office/drawing/2014/main" val="1975168636"/>
                    </a:ext>
                  </a:extLst>
                </a:gridCol>
                <a:gridCol w="1348033">
                  <a:extLst>
                    <a:ext uri="{9D8B030D-6E8A-4147-A177-3AD203B41FA5}">
                      <a16:colId xmlns:a16="http://schemas.microsoft.com/office/drawing/2014/main" val="2480071149"/>
                    </a:ext>
                  </a:extLst>
                </a:gridCol>
                <a:gridCol w="1087326">
                  <a:extLst>
                    <a:ext uri="{9D8B030D-6E8A-4147-A177-3AD203B41FA5}">
                      <a16:colId xmlns:a16="http://schemas.microsoft.com/office/drawing/2014/main" val="3051213535"/>
                    </a:ext>
                  </a:extLst>
                </a:gridCol>
              </a:tblGrid>
              <a:tr h="240681"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</a:rPr>
                        <a:t>Domaines</a:t>
                      </a:r>
                    </a:p>
                  </a:txBody>
                  <a:tcPr marL="4737" marR="4737" marT="473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</a:rPr>
                        <a:t>Forces</a:t>
                      </a:r>
                    </a:p>
                  </a:txBody>
                  <a:tcPr marL="4737" marR="4737" marT="473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</a:rPr>
                        <a:t>Faiblesses</a:t>
                      </a:r>
                    </a:p>
                  </a:txBody>
                  <a:tcPr marL="4737" marR="4737" marT="473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</a:rPr>
                        <a:t>Opportunités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Arial Narrow" panose="020B0606020202030204" pitchFamily="34" charset="0"/>
                      </a:endParaRPr>
                    </a:p>
                  </a:txBody>
                  <a:tcPr marL="4737" marR="4737" marT="473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</a:rPr>
                        <a:t>Menaces</a:t>
                      </a:r>
                    </a:p>
                  </a:txBody>
                  <a:tcPr marL="4737" marR="4737" marT="473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299265"/>
                  </a:ext>
                </a:extLst>
              </a:tr>
              <a:tr h="948964">
                <a:tc rowSpan="5">
                  <a:txBody>
                    <a:bodyPr/>
                    <a:lstStyle/>
                    <a:p>
                      <a:pPr algn="l" fontAlgn="t"/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 Narrow" panose="020B0606020202030204" pitchFamily="34" charset="0"/>
                        </a:rPr>
                        <a:t>1. Prestation des services</a:t>
                      </a:r>
                    </a:p>
                  </a:txBody>
                  <a:tcPr marL="4737" marR="4737" marT="4737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400" b="0" i="0" u="none" strike="noStrike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 panose="020B0604020202020204"/>
                        </a:rPr>
                        <a:t>Disponibilité des directives pour l’organisation des séances de vaccination en fonction des tailles de population et des types des  stratégies. </a:t>
                      </a:r>
                    </a:p>
                  </a:txBody>
                  <a:tcPr marL="4737" marR="4737" marT="4737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fr-FR" sz="1400" b="0" i="0" u="none" strike="noStrike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 panose="020B0604020202020204"/>
                        </a:rPr>
                        <a:t>Faible identification des EZD (</a:t>
                      </a:r>
                      <a:r>
                        <a:rPr lang="fr-FR" sz="1400" b="1" i="0" u="none" strike="noStrike" cap="none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 panose="020B0604020202020204"/>
                        </a:rPr>
                        <a:t>47%</a:t>
                      </a:r>
                      <a:r>
                        <a:rPr lang="fr-FR" sz="1400" b="0" i="0" u="none" strike="noStrike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 panose="020B0604020202020204"/>
                        </a:rPr>
                        <a:t>) et SV(</a:t>
                      </a:r>
                      <a:r>
                        <a:rPr lang="fr-FR" sz="1400" b="1" i="0" u="none" strike="noStrike" cap="none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 panose="020B0604020202020204"/>
                        </a:rPr>
                        <a:t>58%</a:t>
                      </a:r>
                      <a:r>
                        <a:rPr lang="fr-FR" sz="1400" b="0" i="0" u="none" strike="noStrike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 panose="020B0604020202020204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fr-FR" sz="1400" b="0" i="0" u="none" strike="noStrike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 panose="020B0604020202020204"/>
                        </a:rPr>
                        <a:t>Faible réalisation des séances de vaccination (</a:t>
                      </a:r>
                      <a:r>
                        <a:rPr lang="fr-FR" sz="1400" b="1" i="0" u="none" strike="noStrike" cap="none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 panose="020B0604020202020204"/>
                        </a:rPr>
                        <a:t>40%)</a:t>
                      </a:r>
                    </a:p>
                  </a:txBody>
                  <a:tcPr marL="4737" marR="4737" marT="4737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 panose="020B0604020202020204"/>
                        </a:rPr>
                        <a:t> </a:t>
                      </a:r>
                    </a:p>
                  </a:txBody>
                  <a:tcPr marL="4737" marR="4737" marT="4737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 panose="020B0604020202020204"/>
                        </a:rPr>
                        <a:t> </a:t>
                      </a:r>
                    </a:p>
                  </a:txBody>
                  <a:tcPr marL="4737" marR="4737" marT="4737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2969519"/>
                  </a:ext>
                </a:extLst>
              </a:tr>
              <a:tr h="44350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 panose="020B0604020202020204"/>
                        </a:rPr>
                        <a:t> </a:t>
                      </a:r>
                    </a:p>
                  </a:txBody>
                  <a:tcPr marL="4737" marR="4737" marT="4737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u="none" strike="noStrike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 panose="020B0604020202020204"/>
                        </a:rPr>
                        <a:t>Faible suivi de performance de  séance de vaccination lors de la réunion de monitorage au BCZS et à la base ;</a:t>
                      </a:r>
                    </a:p>
                  </a:txBody>
                  <a:tcPr marL="4737" marR="4737" marT="4737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 panose="020B0604020202020204"/>
                        </a:rPr>
                        <a:t> </a:t>
                      </a:r>
                    </a:p>
                  </a:txBody>
                  <a:tcPr marL="4737" marR="4737" marT="4737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 panose="020B0604020202020204"/>
                        </a:rPr>
                        <a:t> </a:t>
                      </a:r>
                    </a:p>
                  </a:txBody>
                  <a:tcPr marL="4737" marR="4737" marT="4737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3183621"/>
                  </a:ext>
                </a:extLst>
              </a:tr>
              <a:tr h="71287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 panose="020B0604020202020204"/>
                        </a:rPr>
                        <a:t> </a:t>
                      </a:r>
                    </a:p>
                  </a:txBody>
                  <a:tcPr marL="4737" marR="4737" marT="4737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400" b="0" i="0" u="none" strike="noStrike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 panose="020B0604020202020204"/>
                        </a:rPr>
                        <a:t>Non  réalisation des séances de vaccination en stratégies  mobile pour atteindre des populations difficiles d’accès (riveraine, zones à risque)</a:t>
                      </a:r>
                    </a:p>
                  </a:txBody>
                  <a:tcPr marL="4737" marR="4737" marT="4737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 panose="020B0604020202020204"/>
                        </a:rPr>
                        <a:t> AVS</a:t>
                      </a:r>
                    </a:p>
                  </a:txBody>
                  <a:tcPr marL="4737" marR="4737" marT="4737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 panose="020B0604020202020204"/>
                        </a:rPr>
                        <a:t> </a:t>
                      </a:r>
                    </a:p>
                  </a:txBody>
                  <a:tcPr marL="4737" marR="4737" marT="4737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90854"/>
                  </a:ext>
                </a:extLst>
              </a:tr>
              <a:tr h="45605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 panose="020B0604020202020204"/>
                        </a:rPr>
                        <a:t> </a:t>
                      </a:r>
                    </a:p>
                  </a:txBody>
                  <a:tcPr marL="4737" marR="4737" marT="4737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u="none" strike="noStrike" cap="none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 panose="020B0604020202020204"/>
                        </a:rPr>
                        <a:t>Faible  réalisation des différentes stratégies de mise en œuvre pour atteindre la cible (porte à porte, OVM, point de concentration)</a:t>
                      </a:r>
                    </a:p>
                  </a:txBody>
                  <a:tcPr marL="4737" marR="4737" marT="4737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endParaRPr lang="en-US" sz="1400" b="0" i="0" u="none" strike="noStrike" cap="none" dirty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Arial" panose="020B0604020202020204"/>
                      </a:endParaRPr>
                    </a:p>
                  </a:txBody>
                  <a:tcPr marL="4737" marR="4737" marT="4737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 panose="020B0604020202020204"/>
                        </a:rPr>
                        <a:t> </a:t>
                      </a:r>
                    </a:p>
                  </a:txBody>
                  <a:tcPr marL="4737" marR="4737" marT="4737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2367351"/>
                  </a:ext>
                </a:extLst>
              </a:tr>
              <a:tr h="47134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 panose="020B0604020202020204"/>
                        </a:rPr>
                        <a:t> </a:t>
                      </a:r>
                    </a:p>
                  </a:txBody>
                  <a:tcPr marL="4737" marR="4737" marT="4737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u="none" strike="noStrike" cap="none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 panose="020B0604020202020204"/>
                        </a:rPr>
                        <a:t>Non intégration de la vaccination dans les HGR et ESS privés de la province </a:t>
                      </a:r>
                    </a:p>
                  </a:txBody>
                  <a:tcPr marL="4737" marR="4737" marT="4737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 panose="020B0604020202020204"/>
                        </a:rPr>
                        <a:t> </a:t>
                      </a:r>
                    </a:p>
                  </a:txBody>
                  <a:tcPr marL="4737" marR="4737" marT="4737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 panose="020B0604020202020204"/>
                        </a:rPr>
                        <a:t> </a:t>
                      </a:r>
                    </a:p>
                  </a:txBody>
                  <a:tcPr marL="4737" marR="4737" marT="4737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1057635"/>
                  </a:ext>
                </a:extLst>
              </a:tr>
            </a:tbl>
          </a:graphicData>
        </a:graphic>
      </p:graphicFrame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E637439-E8B6-D38A-9177-8D71611FC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6C74B9-2604-4CC9-AC21-BDDE82F9DE2C}" type="datetime1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15/12/2025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8D09750-7061-B582-9A4E-3363312C0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EAC269F-B456-E540-A4A4-C7B9A29FD61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855459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67AF75-3384-9BD6-5B00-15BEA75D0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5C64505-881B-5CD6-90CD-0C9E46AD07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6861D6-7FC4-65E8-16E0-6685D9E7B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06627F0-2193-8E35-A457-0DF11C373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D8B661-4844-CB32-31D1-1FB5174C8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22A1AE6-F9D8-CC1D-77C4-CC57D0C684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B13D770-1AEF-3A15-BFBF-949AA1B86C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3779" y="294538"/>
            <a:ext cx="10983771" cy="1033669"/>
          </a:xfrm>
        </p:spPr>
        <p:txBody>
          <a:bodyPr>
            <a:normAutofit/>
          </a:bodyPr>
          <a:lstStyle/>
          <a:p>
            <a:r>
              <a:rPr lang="fr-FR" sz="4000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Narrow" panose="020B0606020202030204" pitchFamily="34" charset="0"/>
              </a:rPr>
              <a:t>ANALYSE FFOM (2)</a:t>
            </a:r>
          </a:p>
        </p:txBody>
      </p:sp>
      <p:graphicFrame>
        <p:nvGraphicFramePr>
          <p:cNvPr id="3" name="Tableau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5738644"/>
              </p:ext>
            </p:extLst>
          </p:nvPr>
        </p:nvGraphicFramePr>
        <p:xfrm>
          <a:off x="75413" y="1597432"/>
          <a:ext cx="12038029" cy="3078847"/>
        </p:xfrm>
        <a:graphic>
          <a:graphicData uri="http://schemas.openxmlformats.org/drawingml/2006/table">
            <a:tbl>
              <a:tblPr/>
              <a:tblGrid>
                <a:gridCol w="2129112">
                  <a:extLst>
                    <a:ext uri="{9D8B030D-6E8A-4147-A177-3AD203B41FA5}">
                      <a16:colId xmlns:a16="http://schemas.microsoft.com/office/drawing/2014/main" val="3212066574"/>
                    </a:ext>
                  </a:extLst>
                </a:gridCol>
                <a:gridCol w="3211165">
                  <a:extLst>
                    <a:ext uri="{9D8B030D-6E8A-4147-A177-3AD203B41FA5}">
                      <a16:colId xmlns:a16="http://schemas.microsoft.com/office/drawing/2014/main" val="3193804082"/>
                    </a:ext>
                  </a:extLst>
                </a:gridCol>
                <a:gridCol w="2557182">
                  <a:extLst>
                    <a:ext uri="{9D8B030D-6E8A-4147-A177-3AD203B41FA5}">
                      <a16:colId xmlns:a16="http://schemas.microsoft.com/office/drawing/2014/main" val="3876234537"/>
                    </a:ext>
                  </a:extLst>
                </a:gridCol>
                <a:gridCol w="2505049">
                  <a:extLst>
                    <a:ext uri="{9D8B030D-6E8A-4147-A177-3AD203B41FA5}">
                      <a16:colId xmlns:a16="http://schemas.microsoft.com/office/drawing/2014/main" val="2236563428"/>
                    </a:ext>
                  </a:extLst>
                </a:gridCol>
                <a:gridCol w="1635521">
                  <a:extLst>
                    <a:ext uri="{9D8B030D-6E8A-4147-A177-3AD203B41FA5}">
                      <a16:colId xmlns:a16="http://schemas.microsoft.com/office/drawing/2014/main" val="4111570071"/>
                    </a:ext>
                  </a:extLst>
                </a:gridCol>
              </a:tblGrid>
              <a:tr h="260571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</a:rPr>
                        <a:t>Domaines</a:t>
                      </a:r>
                    </a:p>
                  </a:txBody>
                  <a:tcPr marL="3745" marR="3745" marT="374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</a:rPr>
                        <a:t>Forces</a:t>
                      </a:r>
                    </a:p>
                  </a:txBody>
                  <a:tcPr marL="3745" marR="3745" marT="374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</a:rPr>
                        <a:t>Faiblesses</a:t>
                      </a:r>
                    </a:p>
                  </a:txBody>
                  <a:tcPr marL="3745" marR="3745" marT="374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</a:rPr>
                        <a:t>Opportunités</a:t>
                      </a:r>
                    </a:p>
                  </a:txBody>
                  <a:tcPr marL="3745" marR="3745" marT="374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</a:rPr>
                        <a:t>Menaces</a:t>
                      </a:r>
                    </a:p>
                  </a:txBody>
                  <a:tcPr marL="3745" marR="3745" marT="374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0943589"/>
                  </a:ext>
                </a:extLst>
              </a:tr>
              <a:tr h="403935">
                <a:tc rowSpan="5">
                  <a:txBody>
                    <a:bodyPr/>
                    <a:lstStyle/>
                    <a:p>
                      <a:pPr algn="l" fontAlgn="t"/>
                      <a:r>
                        <a:rPr lang="en-US" sz="18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 Narrow" panose="020B0606020202030204" pitchFamily="34" charset="0"/>
                        </a:rPr>
                        <a:t>2. Chaîne d'approvisionnement</a:t>
                      </a:r>
                    </a:p>
                  </a:txBody>
                  <a:tcPr marL="3745" marR="3745" marT="374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77% de couverture en MCF solaire fonctionnels au niveau de Aires de Santé;</a:t>
                      </a:r>
                    </a:p>
                  </a:txBody>
                  <a:tcPr marL="3745" marR="3745" marT="374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400" b="0" i="0" u="none" strike="noStrike" kern="1200" cap="none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Panne des MCF (85 Réfrigérateurs solaires  </a:t>
                      </a:r>
                    </a:p>
                  </a:txBody>
                  <a:tcPr marL="3745" marR="3745" marT="374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Appui Unicef dans la distribution des vaccins et autres intrants.</a:t>
                      </a:r>
                    </a:p>
                  </a:txBody>
                  <a:tcPr marL="3745" marR="3745" marT="374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 </a:t>
                      </a:r>
                      <a:r>
                        <a:rPr lang="en-US" sz="1400" b="0" i="0" u="none" strike="noStrike" kern="1200" cap="none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Fermeture du Bureau </a:t>
                      </a:r>
                      <a:r>
                        <a:rPr lang="en-US" sz="1400" b="0" i="0" u="none" strike="noStrike" kern="1200" cap="none" dirty="0" err="1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Unicef</a:t>
                      </a:r>
                      <a:r>
                        <a:rPr lang="en-US" sz="1400" b="0" i="0" u="none" strike="noStrike" kern="1200" cap="none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fr-FR" sz="1400" b="0" i="0" u="none" strike="noStrike" kern="1200" cap="none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à Kisangani</a:t>
                      </a:r>
                      <a:endParaRPr lang="en-US" sz="1400" b="0" i="0" u="none" strike="noStrike" kern="1200" cap="none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3745" marR="3745" marT="374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153666"/>
                  </a:ext>
                </a:extLst>
              </a:tr>
              <a:tr h="65220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Dotation des 2 groupes électrogènes de secours ( 1 pour l’Antenne PEV Kisangani et 1 pour l’Antenne PEV Lokutu); </a:t>
                      </a:r>
                    </a:p>
                  </a:txBody>
                  <a:tcPr marL="3745" marR="3745" marT="374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400" b="0" i="0" u="none" strike="noStrike" kern="1200" cap="none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Insuffisance des fonds destinés à la maintenance curative des MCF ;</a:t>
                      </a:r>
                    </a:p>
                  </a:txBody>
                  <a:tcPr marL="3745" marR="3745" marT="374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NGCA opérationnelle dans la province avec l’appui du partenaire VILLAGE REACH.</a:t>
                      </a:r>
                    </a:p>
                  </a:txBody>
                  <a:tcPr marL="3745" marR="3745" marT="374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3745" marR="3745" marT="374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4072046"/>
                  </a:ext>
                </a:extLst>
              </a:tr>
              <a:tr h="45248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Disponibilité de deux maintenanciers MCF formés par INPP Kinshasa en 2019.</a:t>
                      </a:r>
                    </a:p>
                  </a:txBody>
                  <a:tcPr marL="3745" marR="3745" marT="374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u="none" strike="noStrike" kern="1200" cap="none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Absence d’un dépôt des intrants secs au niveau de l’Antenne PEV Kisangani et la Coordination</a:t>
                      </a:r>
                    </a:p>
                  </a:txBody>
                  <a:tcPr marL="3745" marR="3745" marT="374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 HUB</a:t>
                      </a:r>
                    </a:p>
                  </a:txBody>
                  <a:tcPr marL="3745" marR="3745" marT="374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3745" marR="3745" marT="374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5836526"/>
                  </a:ext>
                </a:extLst>
              </a:tr>
              <a:tr h="51711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Dotation des congélateurs TFW 40 SDD dans tous les 23 BCZS.</a:t>
                      </a:r>
                    </a:p>
                    <a:p>
                      <a:pPr algn="l" fontAlgn="t"/>
                      <a:endParaRPr lang="fr-FR" sz="1400" b="0" i="0" u="none" strike="noStrike" kern="1200" cap="none" dirty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3745" marR="3745" marT="374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Absence des pièces de rechange des réfrigérateurs solaires et des chambres froides.</a:t>
                      </a:r>
                    </a:p>
                  </a:txBody>
                  <a:tcPr marL="3745" marR="3745" marT="374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3745" marR="3745" marT="374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3745" marR="3745" marT="374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927052"/>
                  </a:ext>
                </a:extLst>
              </a:tr>
              <a:tr h="36389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endParaRPr lang="fr-FR" sz="1400" b="0" i="0" u="none" strike="noStrike" kern="1200" cap="none" dirty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3745" marR="3745" marT="374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Rupture des stocks de 14 jours en vaccins BCG et VAA ;</a:t>
                      </a:r>
                    </a:p>
                  </a:txBody>
                  <a:tcPr marL="3745" marR="3745" marT="374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kern="1200" cap="none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3745" marR="3745" marT="374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3745" marR="3745" marT="374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6043169"/>
                  </a:ext>
                </a:extLst>
              </a:tr>
            </a:tbl>
          </a:graphicData>
        </a:graphic>
      </p:graphicFrame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52E8F88-9507-FDB4-030C-2533FF8B7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D2365BF-F7B7-4620-857B-05B1F1DCA23C}" type="datetime1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15/12/2025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4670FB1-D66F-AC93-00E7-89A0BACAF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EAC269F-B456-E540-A4A4-C7B9A29FD61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2EF2B656-ABD1-2365-77CD-5EBF8BCEEB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5335583"/>
              </p:ext>
            </p:extLst>
          </p:nvPr>
        </p:nvGraphicFramePr>
        <p:xfrm>
          <a:off x="75413" y="4913400"/>
          <a:ext cx="12116584" cy="1585846"/>
        </p:xfrm>
        <a:graphic>
          <a:graphicData uri="http://schemas.openxmlformats.org/drawingml/2006/table">
            <a:tbl>
              <a:tblPr/>
              <a:tblGrid>
                <a:gridCol w="2111606">
                  <a:extLst>
                    <a:ext uri="{9D8B030D-6E8A-4147-A177-3AD203B41FA5}">
                      <a16:colId xmlns:a16="http://schemas.microsoft.com/office/drawing/2014/main" val="4040104722"/>
                    </a:ext>
                  </a:extLst>
                </a:gridCol>
                <a:gridCol w="2307877">
                  <a:extLst>
                    <a:ext uri="{9D8B030D-6E8A-4147-A177-3AD203B41FA5}">
                      <a16:colId xmlns:a16="http://schemas.microsoft.com/office/drawing/2014/main" val="2284398644"/>
                    </a:ext>
                  </a:extLst>
                </a:gridCol>
                <a:gridCol w="4404713">
                  <a:extLst>
                    <a:ext uri="{9D8B030D-6E8A-4147-A177-3AD203B41FA5}">
                      <a16:colId xmlns:a16="http://schemas.microsoft.com/office/drawing/2014/main" val="25503694"/>
                    </a:ext>
                  </a:extLst>
                </a:gridCol>
                <a:gridCol w="1646194">
                  <a:extLst>
                    <a:ext uri="{9D8B030D-6E8A-4147-A177-3AD203B41FA5}">
                      <a16:colId xmlns:a16="http://schemas.microsoft.com/office/drawing/2014/main" val="1935021702"/>
                    </a:ext>
                  </a:extLst>
                </a:gridCol>
                <a:gridCol w="1646194">
                  <a:extLst>
                    <a:ext uri="{9D8B030D-6E8A-4147-A177-3AD203B41FA5}">
                      <a16:colId xmlns:a16="http://schemas.microsoft.com/office/drawing/2014/main" val="193397098"/>
                    </a:ext>
                  </a:extLst>
                </a:gridCol>
              </a:tblGrid>
              <a:tr h="35097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</a:rPr>
                        <a:t>Domaines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</a:rPr>
                        <a:t>Forces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</a:rPr>
                        <a:t>Faiblesses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</a:rPr>
                        <a:t>Opportunités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</a:rPr>
                        <a:t>Menaces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416136"/>
                  </a:ext>
                </a:extLst>
              </a:tr>
              <a:tr h="527858">
                <a:tc rowSpan="3">
                  <a:txBody>
                    <a:bodyPr/>
                    <a:lstStyle/>
                    <a:p>
                      <a:pPr algn="l" fontAlgn="t"/>
                      <a:r>
                        <a:rPr lang="fr-FR" sz="18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 Narrow" panose="020B0606020202030204" pitchFamily="34" charset="0"/>
                        </a:rPr>
                        <a:t>3. Système d'informations médicales, suivi et apprentissage</a:t>
                      </a:r>
                    </a:p>
                  </a:txBody>
                  <a:tcPr marL="6350" marR="6350" marT="635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 </a:t>
                      </a:r>
                      <a:r>
                        <a:rPr lang="fr-FR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Dotation de 16 Kit V-SAT par UNICEF</a:t>
                      </a:r>
                      <a:endParaRPr lang="en-US" sz="1400" b="0" i="0" u="none" strike="noStrike" kern="1200" cap="none" dirty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400" b="0" i="0" u="none" strike="noStrike" kern="1200" cap="none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Faible analyse et de validation de données de vaccination</a:t>
                      </a: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u="none" strike="noStrike" kern="1200" cap="none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Faible qualité des données de vaccination 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kern="1200" cap="none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kern="1200" cap="none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072337"/>
                  </a:ext>
                </a:extLst>
              </a:tr>
              <a:tr h="42420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kern="1200" cap="none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Faible complétude des données de gestion de vaccins dans le DHI2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kern="1200" cap="none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396973"/>
                  </a:ext>
                </a:extLst>
              </a:tr>
              <a:tr h="27394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Faible suivi des enfants cibles et ZD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 AVS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2759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12040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94895E-FDF7-26E1-A00F-1F71238D7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AC3661D-94DA-D317-CCAF-D91EFCCC1A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FF1305-FFFF-47D2-8BF9-59D95A515A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490A951-FF11-3A8B-D369-658FDDF78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516994-C64D-3C71-9EF6-1C0945847E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C07A535-3521-7A6F-7DC4-759CEAC76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20B44C4-7810-A019-2174-A0986A5B7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8677" y="294538"/>
            <a:ext cx="11088874" cy="1033669"/>
          </a:xfrm>
        </p:spPr>
        <p:txBody>
          <a:bodyPr>
            <a:normAutofit/>
          </a:bodyPr>
          <a:lstStyle/>
          <a:p>
            <a:r>
              <a:rPr lang="fr-FR" sz="4000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Narrow" panose="020B0606020202030204" pitchFamily="34" charset="0"/>
              </a:rPr>
              <a:t>ANALYSE FFOM (3)</a:t>
            </a:r>
          </a:p>
        </p:txBody>
      </p:sp>
      <p:graphicFrame>
        <p:nvGraphicFramePr>
          <p:cNvPr id="3" name="Tableau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1080792"/>
              </p:ext>
            </p:extLst>
          </p:nvPr>
        </p:nvGraphicFramePr>
        <p:xfrm>
          <a:off x="178678" y="1527349"/>
          <a:ext cx="11810122" cy="2017129"/>
        </p:xfrm>
        <a:graphic>
          <a:graphicData uri="http://schemas.openxmlformats.org/drawingml/2006/table">
            <a:tbl>
              <a:tblPr/>
              <a:tblGrid>
                <a:gridCol w="1954922">
                  <a:extLst>
                    <a:ext uri="{9D8B030D-6E8A-4147-A177-3AD203B41FA5}">
                      <a16:colId xmlns:a16="http://schemas.microsoft.com/office/drawing/2014/main" val="3964660600"/>
                    </a:ext>
                  </a:extLst>
                </a:gridCol>
                <a:gridCol w="3289300">
                  <a:extLst>
                    <a:ext uri="{9D8B030D-6E8A-4147-A177-3AD203B41FA5}">
                      <a16:colId xmlns:a16="http://schemas.microsoft.com/office/drawing/2014/main" val="3857805389"/>
                    </a:ext>
                  </a:extLst>
                </a:gridCol>
                <a:gridCol w="2705100">
                  <a:extLst>
                    <a:ext uri="{9D8B030D-6E8A-4147-A177-3AD203B41FA5}">
                      <a16:colId xmlns:a16="http://schemas.microsoft.com/office/drawing/2014/main" val="3888837534"/>
                    </a:ext>
                  </a:extLst>
                </a:gridCol>
                <a:gridCol w="1778000">
                  <a:extLst>
                    <a:ext uri="{9D8B030D-6E8A-4147-A177-3AD203B41FA5}">
                      <a16:colId xmlns:a16="http://schemas.microsoft.com/office/drawing/2014/main" val="1517685115"/>
                    </a:ext>
                  </a:extLst>
                </a:gridCol>
                <a:gridCol w="2082800">
                  <a:extLst>
                    <a:ext uri="{9D8B030D-6E8A-4147-A177-3AD203B41FA5}">
                      <a16:colId xmlns:a16="http://schemas.microsoft.com/office/drawing/2014/main" val="1861237170"/>
                    </a:ext>
                  </a:extLst>
                </a:gridCol>
              </a:tblGrid>
              <a:tr h="32213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</a:rPr>
                        <a:t>Domaines</a:t>
                      </a:r>
                    </a:p>
                  </a:txBody>
                  <a:tcPr marL="4225" marR="4225" marT="42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</a:rPr>
                        <a:t>Forces</a:t>
                      </a:r>
                    </a:p>
                  </a:txBody>
                  <a:tcPr marL="4225" marR="4225" marT="42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</a:rPr>
                        <a:t>Faiblesses</a:t>
                      </a:r>
                    </a:p>
                  </a:txBody>
                  <a:tcPr marL="4225" marR="4225" marT="42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</a:rPr>
                        <a:t>Opportunités</a:t>
                      </a:r>
                    </a:p>
                  </a:txBody>
                  <a:tcPr marL="4225" marR="4225" marT="42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</a:rPr>
                        <a:t>Menaces</a:t>
                      </a:r>
                    </a:p>
                  </a:txBody>
                  <a:tcPr marL="4225" marR="4225" marT="42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0262283"/>
                  </a:ext>
                </a:extLst>
              </a:tr>
              <a:tr h="658049">
                <a:tc rowSpan="3">
                  <a:txBody>
                    <a:bodyPr/>
                    <a:lstStyle/>
                    <a:p>
                      <a:pPr algn="l" fontAlgn="t"/>
                      <a:r>
                        <a:rPr lang="fr-FR" sz="18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 Narrow" panose="020B0606020202030204" pitchFamily="34" charset="0"/>
                        </a:rPr>
                        <a:t>4. Génération de la demande et engagement de la communauté</a:t>
                      </a:r>
                    </a:p>
                  </a:txBody>
                  <a:tcPr marL="4225" marR="4225" marT="422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La mise en place des organes de PARTICOM dans les 19 ZS FAE(3071 CAC redynamisées)</a:t>
                      </a:r>
                    </a:p>
                  </a:txBody>
                  <a:tcPr marL="4225" marR="4225" marT="422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fr-FR" sz="1400" b="0" i="0" u="none" strike="noStrike" kern="1200" cap="none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Faible proportion des EZD/SV identifiés et récupérés par les CAC </a:t>
                      </a:r>
                    </a:p>
                    <a:p>
                      <a:pPr marL="0" indent="0" algn="l" fontAlgn="t">
                        <a:buFont typeface="Wingdings" panose="05000000000000000000" pitchFamily="2" charset="2"/>
                        <a:buNone/>
                      </a:pPr>
                      <a:endParaRPr lang="fr-FR" sz="1400" b="0" i="0" u="none" strike="noStrike" kern="1200" cap="none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4225" marR="4225" marT="422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AVS</a:t>
                      </a:r>
                    </a:p>
                  </a:txBody>
                  <a:tcPr marL="4225" marR="4225" marT="422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Existence des sectes réfractaires à la vaccination </a:t>
                      </a:r>
                    </a:p>
                  </a:txBody>
                  <a:tcPr marL="4225" marR="4225" marT="422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33404241"/>
                  </a:ext>
                </a:extLst>
              </a:tr>
              <a:tr h="5279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Existence de normes et directives sur la génération de la demande</a:t>
                      </a:r>
                    </a:p>
                  </a:txBody>
                  <a:tcPr marL="4225" marR="4225" marT="422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u="none" strike="noStrike" kern="1200" cap="none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Sélection des OAC non résidents </a:t>
                      </a:r>
                    </a:p>
                    <a:p>
                      <a:pPr algn="l" fontAlgn="t"/>
                      <a:endParaRPr lang="fr-FR" sz="1400" b="0" i="0" u="none" strike="noStrike" kern="1200" cap="none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4225" marR="4225" marT="422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4225" marR="4225" marT="422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kern="1200" cap="none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4225" marR="4225" marT="422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9656302"/>
                  </a:ext>
                </a:extLst>
              </a:tr>
              <a:tr h="50904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endParaRPr lang="fr-FR" sz="1400" b="0" i="0" u="none" strike="noStrike" kern="1200" cap="none" dirty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4225" marR="4225" marT="422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Faible participation de CAC à la réunion de monitorage à la base</a:t>
                      </a:r>
                    </a:p>
                  </a:txBody>
                  <a:tcPr marL="4225" marR="4225" marT="422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4225" marR="4225" marT="422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4225" marR="4225" marT="422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9258374"/>
                  </a:ext>
                </a:extLst>
              </a:tr>
            </a:tbl>
          </a:graphicData>
        </a:graphic>
      </p:graphicFrame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4211530-2211-1FD4-22E4-CF24B6304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1D144DB-EF98-4E90-B08E-B9EEFC5C250E}" type="datetime1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15/12/2025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482C087-98B8-BA0D-5152-4466A2C7F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EAC269F-B456-E540-A4A4-C7B9A29FD61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B2BEFE88-7138-4713-C693-A1AE6B1B60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9607109"/>
              </p:ext>
            </p:extLst>
          </p:nvPr>
        </p:nvGraphicFramePr>
        <p:xfrm>
          <a:off x="156325" y="3816542"/>
          <a:ext cx="11623461" cy="2785516"/>
        </p:xfrm>
        <a:graphic>
          <a:graphicData uri="http://schemas.openxmlformats.org/drawingml/2006/table">
            <a:tbl>
              <a:tblPr/>
              <a:tblGrid>
                <a:gridCol w="1823305">
                  <a:extLst>
                    <a:ext uri="{9D8B030D-6E8A-4147-A177-3AD203B41FA5}">
                      <a16:colId xmlns:a16="http://schemas.microsoft.com/office/drawing/2014/main" val="3983032411"/>
                    </a:ext>
                  </a:extLst>
                </a:gridCol>
                <a:gridCol w="2601798">
                  <a:extLst>
                    <a:ext uri="{9D8B030D-6E8A-4147-A177-3AD203B41FA5}">
                      <a16:colId xmlns:a16="http://schemas.microsoft.com/office/drawing/2014/main" val="1539337921"/>
                    </a:ext>
                  </a:extLst>
                </a:gridCol>
                <a:gridCol w="4039964">
                  <a:extLst>
                    <a:ext uri="{9D8B030D-6E8A-4147-A177-3AD203B41FA5}">
                      <a16:colId xmlns:a16="http://schemas.microsoft.com/office/drawing/2014/main" val="1496019307"/>
                    </a:ext>
                  </a:extLst>
                </a:gridCol>
                <a:gridCol w="2294849">
                  <a:extLst>
                    <a:ext uri="{9D8B030D-6E8A-4147-A177-3AD203B41FA5}">
                      <a16:colId xmlns:a16="http://schemas.microsoft.com/office/drawing/2014/main" val="3273487401"/>
                    </a:ext>
                  </a:extLst>
                </a:gridCol>
                <a:gridCol w="863545">
                  <a:extLst>
                    <a:ext uri="{9D8B030D-6E8A-4147-A177-3AD203B41FA5}">
                      <a16:colId xmlns:a16="http://schemas.microsoft.com/office/drawing/2014/main" val="750959801"/>
                    </a:ext>
                  </a:extLst>
                </a:gridCol>
              </a:tblGrid>
              <a:tr h="355351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</a:rPr>
                        <a:t>Domaines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</a:rPr>
                        <a:t>Forces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</a:rPr>
                        <a:t>Faiblesses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</a:rPr>
                        <a:t>Opportunités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</a:rPr>
                        <a:t>Menaces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9535186"/>
                  </a:ext>
                </a:extLst>
              </a:tr>
              <a:tr h="447241">
                <a:tc rowSpan="4">
                  <a:txBody>
                    <a:bodyPr/>
                    <a:lstStyle/>
                    <a:p>
                      <a:pPr algn="l" fontAlgn="t"/>
                      <a:r>
                        <a:rPr lang="fr-FR" sz="18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 Narrow" panose="020B0606020202030204" pitchFamily="34" charset="0"/>
                        </a:rPr>
                        <a:t>5. Gouvernance, politique, planification stratégique et gestion du programme</a:t>
                      </a:r>
                    </a:p>
                  </a:txBody>
                  <a:tcPr marL="6350" marR="6350" marT="635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70% de réunions de pilotage tenues au niveau provincial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400" b="0" i="0" u="none" strike="noStrike" kern="1200" cap="none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Faible suivi et mise en œuvre des recommandations et décisions en faveur de la vaccinations</a:t>
                      </a:r>
                      <a:r>
                        <a:rPr lang="fr-FR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.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 Les </a:t>
                      </a:r>
                      <a:r>
                        <a:rPr lang="en-US" sz="1400" b="0" i="0" u="none" strike="noStrike" kern="1200" cap="none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visites</a:t>
                      </a:r>
                      <a:r>
                        <a:rPr lang="en-US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du </a:t>
                      </a:r>
                      <a:r>
                        <a:rPr lang="fr-FR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REPACAV National</a:t>
                      </a:r>
                      <a:r>
                        <a:rPr lang="en-US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et </a:t>
                      </a:r>
                      <a:r>
                        <a:rPr lang="fr-FR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PTF en Province</a:t>
                      </a:r>
                      <a:endParaRPr lang="en-US" sz="1400" b="0" i="0" u="none" strike="noStrike" kern="1200" cap="none" dirty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kern="1200" cap="none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5900372"/>
                  </a:ext>
                </a:extLst>
              </a:tr>
              <a:tr h="87970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Sanctions prises à l’endroit des cadres des ZS sur leur absence au lieu de services et la non justification des fonds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Faible fonctionnalité de la coordination des activités dans les ZS  et AS </a:t>
                      </a:r>
                    </a:p>
                    <a:p>
                      <a:pPr algn="l" fontAlgn="b">
                        <a:buNone/>
                      </a:pPr>
                      <a:r>
                        <a:rPr lang="fr-FR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Un RECAPV provincial faiblement fonctionnel sans tenue des réunions et activités documentées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 </a:t>
                      </a:r>
                      <a:r>
                        <a:rPr lang="fr-FR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Présence de partenaires pour la mise en œuvre du plan MASHAKO  dans la province</a:t>
                      </a:r>
                    </a:p>
                    <a:p>
                      <a:pPr algn="l" fontAlgn="t"/>
                      <a:endParaRPr lang="en-US" sz="1400" b="0" i="0" u="none" strike="noStrike" kern="1200" cap="none" dirty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1406463"/>
                  </a:ext>
                </a:extLst>
              </a:tr>
              <a:tr h="45519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La signature des notes d’engagements avec les MCZ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Aucune  réunions du CPP </a:t>
                      </a:r>
                      <a:r>
                        <a:rPr lang="fr-FR" sz="1400" b="0" i="0" u="none" strike="noStrike" kern="1200" cap="none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presidées</a:t>
                      </a:r>
                      <a:r>
                        <a:rPr lang="fr-FR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par le gouverneur de province 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endParaRPr lang="en-US" sz="1400" b="0" i="0" u="none" strike="noStrike" kern="1200" cap="none" dirty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4133507"/>
                  </a:ext>
                </a:extLst>
              </a:tr>
              <a:tr h="64802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Existence d'une ligne budgétaire </a:t>
                      </a:r>
                      <a:r>
                        <a:rPr lang="fr-FR" sz="1400" b="0" i="0" u="none" strike="noStrike" kern="1200" cap="none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dedié</a:t>
                      </a:r>
                      <a:r>
                        <a:rPr lang="fr-FR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à la vaccination dans l'édit budgétaire de la province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400" b="0" i="0" u="none" strike="noStrike" kern="1200" cap="none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Absence de contribution financière  du gouvernement provincial </a:t>
                      </a:r>
                      <a:r>
                        <a:rPr lang="fr-FR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; </a:t>
                      </a:r>
                    </a:p>
                    <a:p>
                      <a:pPr algn="l" fontAlgn="t"/>
                      <a:endParaRPr lang="fr-FR" sz="1400" b="0" i="0" u="none" strike="noStrike" kern="1200" cap="none" dirty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kern="1200" cap="none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400" b="0" i="0" u="none" strike="noStrike" kern="1200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350" marR="6350" marT="635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04075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0649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aabc9d920d_0_428"/>
          <p:cNvSpPr txBox="1"/>
          <p:nvPr/>
        </p:nvSpPr>
        <p:spPr>
          <a:xfrm>
            <a:off x="458592" y="317941"/>
            <a:ext cx="11274900" cy="73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r>
              <a:rPr lang="en-US" sz="2700" b="1" dirty="0" err="1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Analyse</a:t>
            </a:r>
            <a:r>
              <a:rPr lang="en-US" sz="2700" b="1" dirty="0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FFOM (4)</a:t>
            </a:r>
            <a:endParaRPr sz="2700" b="1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b="1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b="1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b="1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b="1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b="1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b="1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b="1" i="0" u="none" strike="noStrike" cap="none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246" name="Google Shape;246;g3aabc9d920d_0_428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 panose="020B0604020202020204"/>
              <a:buNone/>
            </a:pPr>
            <a:endParaRPr sz="1900" b="0" i="0" u="none" strike="noStrike" cap="none">
              <a:solidFill>
                <a:srgbClr val="0070C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247" name="Google Shape;247;g3aabc9d920d_0_428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2190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endParaRPr sz="1200" b="1" i="0" u="none" strike="noStrike" cap="none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248" name="Google Shape;248;g3aabc9d920d_0_428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155CC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19</a:t>
            </a:fld>
            <a:endParaRPr sz="1200" b="0" i="0" u="none" strike="noStrike" cap="none">
              <a:solidFill>
                <a:srgbClr val="1155CC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49" name="Google Shape;249;g3aabc9d920d_0_428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w="12700" cap="flat" cmpd="sng">
            <a:solidFill>
              <a:srgbClr val="9E9E9E"/>
            </a:solidFill>
            <a:prstDash val="solid"/>
            <a:round/>
            <a:headEnd type="none" w="sm" len="sm"/>
            <a:tailEnd type="none" w="sm" len="sm"/>
          </a:ln>
        </p:spPr>
      </p:cxnSp>
      <p:graphicFrame>
        <p:nvGraphicFramePr>
          <p:cNvPr id="250" name="Google Shape;250;g3aabc9d920d_0_428"/>
          <p:cNvGraphicFramePr/>
          <p:nvPr>
            <p:extLst>
              <p:ext uri="{D42A27DB-BD31-4B8C-83A1-F6EECF244321}">
                <p14:modId xmlns:p14="http://schemas.microsoft.com/office/powerpoint/2010/main" val="319913849"/>
              </p:ext>
            </p:extLst>
          </p:nvPr>
        </p:nvGraphicFramePr>
        <p:xfrm>
          <a:off x="235501" y="1049641"/>
          <a:ext cx="12067335" cy="5041360"/>
        </p:xfrm>
        <a:graphic>
          <a:graphicData uri="http://schemas.openxmlformats.org/drawingml/2006/table">
            <a:tbl>
              <a:tblPr>
                <a:noFill/>
                <a:tableStyleId>{628BBFD1-A734-4757-B910-67CC1CD15934}</a:tableStyleId>
              </a:tblPr>
              <a:tblGrid>
                <a:gridCol w="12361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056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23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202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11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9480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Activités spécifiques</a:t>
                      </a:r>
                      <a:endParaRPr sz="1500" b="1" i="0" u="none" strike="noStrike" cap="none" dirty="0">
                        <a:solidFill>
                          <a:srgbClr val="FFFFFF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Times New Roman" panose="02020603050405020304"/>
                      </a:endParaRPr>
                    </a:p>
                  </a:txBody>
                  <a:tcPr marL="7000" marR="7000" marT="70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Forces</a:t>
                      </a:r>
                      <a:endParaRPr sz="1500" b="1" i="0" u="none" strike="noStrike" cap="none">
                        <a:solidFill>
                          <a:srgbClr val="FFFFFF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Times New Roman" panose="02020603050405020304"/>
                      </a:endParaRPr>
                    </a:p>
                  </a:txBody>
                  <a:tcPr marL="7000" marR="7000" marT="70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Faiblesses</a:t>
                      </a:r>
                      <a:endParaRPr sz="1500" b="1" i="0" u="none" strike="noStrike" cap="none">
                        <a:solidFill>
                          <a:srgbClr val="FFFFFF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Times New Roman" panose="02020603050405020304"/>
                      </a:endParaRPr>
                    </a:p>
                  </a:txBody>
                  <a:tcPr marL="7000" marR="7000" marT="70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Opportunités</a:t>
                      </a:r>
                      <a:endParaRPr sz="1500" b="1" i="0" u="none" strike="noStrike" cap="none">
                        <a:solidFill>
                          <a:srgbClr val="FFFFFF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Times New Roman" panose="02020603050405020304"/>
                      </a:endParaRPr>
                    </a:p>
                  </a:txBody>
                  <a:tcPr marL="7000" marR="7000" marT="70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Menaces</a:t>
                      </a:r>
                      <a:endParaRPr sz="1500" b="1" i="0" u="none" strike="noStrike" cap="none">
                        <a:solidFill>
                          <a:srgbClr val="FFFFFF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Times New Roman" panose="02020603050405020304"/>
                      </a:endParaRPr>
                    </a:p>
                  </a:txBody>
                  <a:tcPr marL="7000" marR="7000" marT="70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1351">
                <a:tc row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1" u="none" strike="noStrike" cap="none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1. FAE</a:t>
                      </a:r>
                      <a:endParaRPr sz="1500" b="1" i="1" u="none" strike="noStrike" cap="none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Times New Roman" panose="02020603050405020304"/>
                      </a:endParaRPr>
                    </a:p>
                  </a:txBody>
                  <a:tcPr marL="7000" marR="7000" marT="7000" marB="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CD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Leadership DPS engagé</a:t>
                      </a:r>
                      <a:endParaRPr sz="1500" b="1" i="0" u="none" strike="noStrike" cap="none" dirty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Times New Roman" panose="02020603050405020304"/>
                      </a:endParaRPr>
                    </a:p>
                  </a:txBody>
                  <a:tcPr marL="7000" marR="7000" marT="70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CD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Performance inégale entre ZS</a:t>
                      </a:r>
                      <a:endParaRPr sz="1500" b="1" i="0" u="none" strike="noStrike" cap="none" dirty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Times New Roman" panose="02020603050405020304"/>
                      </a:endParaRPr>
                    </a:p>
                  </a:txBody>
                  <a:tcPr marL="7000" marR="7000" marT="70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Introduction nouveaux vaccins (VAP, RR...)</a:t>
                      </a:r>
                      <a:endParaRPr sz="1500" b="1" i="0" u="none" strike="noStrike" cap="none" dirty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Times New Roman" panose="02020603050405020304"/>
                      </a:endParaRPr>
                    </a:p>
                  </a:txBody>
                  <a:tcPr marL="7000" marR="7000" marT="70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 </a:t>
                      </a:r>
                      <a:r>
                        <a:rPr lang="fr-FR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Instabilité et mouvements de population</a:t>
                      </a:r>
                      <a:endParaRPr sz="1500" b="1" i="0" u="none" strike="noStrike" cap="none" dirty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Times New Roman" panose="02020603050405020304"/>
                      </a:endParaRPr>
                    </a:p>
                  </a:txBody>
                  <a:tcPr marL="7000" marR="7000" marT="70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7072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/>
                        <a:buNone/>
                        <a:tabLst/>
                        <a:defRPr/>
                      </a:pPr>
                      <a:r>
                        <a:rPr lang="fr-CD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Intégration FAE à </a:t>
                      </a:r>
                      <a:r>
                        <a:rPr lang="fr-CD" sz="1500" b="1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80</a:t>
                      </a:r>
                      <a:r>
                        <a:rPr lang="fr-CD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500" b="1" i="0" u="none" strike="noStrike" cap="none" dirty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Times New Roman" panose="02020603050405020304"/>
                      </a:endParaRPr>
                    </a:p>
                  </a:txBody>
                  <a:tcPr marL="7000" marR="7000" marT="70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/>
                        <a:buNone/>
                        <a:tabLst/>
                        <a:defRPr/>
                      </a:pPr>
                      <a:r>
                        <a:rPr lang="fr-FR" sz="150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Faible qualité et complétude des données</a:t>
                      </a:r>
                    </a:p>
                  </a:txBody>
                  <a:tcPr marL="7000" marR="7000" marT="70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 </a:t>
                      </a:r>
                      <a:r>
                        <a:rPr lang="fr-CD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Approches innovantes FAE</a:t>
                      </a:r>
                      <a:endParaRPr sz="1500" b="1" i="0" u="none" strike="noStrike" cap="none" dirty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Times New Roman" panose="02020603050405020304"/>
                      </a:endParaRPr>
                    </a:p>
                  </a:txBody>
                  <a:tcPr marL="7000" marR="7000" marT="70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 </a:t>
                      </a:r>
                      <a:r>
                        <a:rPr lang="fr-CD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Risque persistant de poliovirus</a:t>
                      </a:r>
                      <a:endParaRPr sz="1500" b="1" i="0" u="none" strike="noStrike" cap="none" dirty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Times New Roman" panose="02020603050405020304"/>
                      </a:endParaRPr>
                    </a:p>
                  </a:txBody>
                  <a:tcPr marL="7000" marR="7000" marT="70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5839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CD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Plan de contextualisation existant</a:t>
                      </a:r>
                      <a:endParaRPr sz="1500" i="0" u="none" strike="noStrike" cap="none" dirty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Times New Roman" panose="02020603050405020304"/>
                      </a:endParaRPr>
                    </a:p>
                  </a:txBody>
                  <a:tcPr marL="7000" marR="7000" marT="70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i="0" u="none" strike="noStrike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 </a:t>
                      </a:r>
                      <a:r>
                        <a:rPr lang="fr-CD" sz="150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Supervision irrégulièrement documentée</a:t>
                      </a:r>
                      <a:endParaRPr sz="1500" i="0" u="none" strike="noStrike" cap="none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Times New Roman" panose="02020603050405020304"/>
                      </a:endParaRPr>
                    </a:p>
                  </a:txBody>
                  <a:tcPr marL="7000" marR="7000" marT="70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i="0" u="none" strike="noStrike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 </a:t>
                      </a:r>
                      <a:r>
                        <a:rPr lang="fr-CD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Appui accru des partenaires</a:t>
                      </a:r>
                      <a:endParaRPr sz="1500" i="0" u="none" strike="noStrike" cap="none" dirty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Times New Roman" panose="02020603050405020304"/>
                      </a:endParaRPr>
                    </a:p>
                  </a:txBody>
                  <a:tcPr marL="7000" marR="7000" marT="70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CD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Dépendance au financement externe</a:t>
                      </a:r>
                      <a:endParaRPr sz="1500" i="0" u="none" strike="noStrike" cap="none" dirty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Times New Roman" panose="02020603050405020304"/>
                      </a:endParaRPr>
                    </a:p>
                  </a:txBody>
                  <a:tcPr marL="7000" marR="7000" marT="70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8915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/>
                        <a:buNone/>
                        <a:tabLst/>
                        <a:defRPr/>
                      </a:pPr>
                      <a:r>
                        <a:rPr lang="fr-CD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Multiples stratégies opérationnelles</a:t>
                      </a:r>
                    </a:p>
                  </a:txBody>
                  <a:tcPr marL="7000" marR="7000" marT="70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CD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Mobilisation communautaire variable</a:t>
                      </a:r>
                      <a:endParaRPr sz="1500" i="0" u="none" strike="noStrike" cap="none" dirty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Times New Roman" panose="02020603050405020304"/>
                      </a:endParaRPr>
                    </a:p>
                  </a:txBody>
                  <a:tcPr marL="7000" marR="7000" marT="70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/>
                        <a:buNone/>
                        <a:tabLst/>
                        <a:defRPr/>
                      </a:pPr>
                      <a:r>
                        <a:rPr lang="en-US" sz="1500" i="0" u="none" strike="noStrike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 </a:t>
                      </a:r>
                      <a:r>
                        <a:rPr lang="fr-CD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Sensibilisation post-IPVS</a:t>
                      </a:r>
                    </a:p>
                  </a:txBody>
                  <a:tcPr marL="7000" marR="7000" marT="70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i="0" u="none" strike="noStrike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 </a:t>
                      </a:r>
                      <a:endParaRPr sz="1500" i="0" u="none" strike="noStrike" cap="none" dirty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Times New Roman" panose="02020603050405020304"/>
                      </a:endParaRPr>
                    </a:p>
                  </a:txBody>
                  <a:tcPr marL="7000" marR="7000" marT="70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4809">
                <a:tc row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1" u="none" strike="noStrike" cap="none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2. IPVS</a:t>
                      </a:r>
                      <a:endParaRPr sz="1500" b="1" i="1" u="none" strike="noStrike" cap="none" dirty="0">
                        <a:solidFill>
                          <a:srgbClr val="000000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Times New Roman" panose="02020603050405020304"/>
                      </a:endParaRPr>
                    </a:p>
                  </a:txBody>
                  <a:tcPr marL="7000" marR="7000" marT="7000" marB="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CD" sz="15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La micro plan  et dénombrement </a:t>
                      </a:r>
                      <a:r>
                        <a:rPr lang="fr-CD" sz="1500" baseline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du grand rattrapage</a:t>
                      </a:r>
                      <a:endParaRPr lang="en-US" sz="15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00" marR="7000" marT="70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/>
                        <a:buNone/>
                      </a:pPr>
                      <a:r>
                        <a:rPr lang="fr-CD" sz="1500" b="0" i="0" u="none" strike="noStrike" cap="none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Arial" panose="020B0604020202020204"/>
                        </a:rPr>
                        <a:t>Absence de  KIT d</a:t>
                      </a:r>
                      <a:r>
                        <a:rPr lang="fr-CD" sz="1500" b="0" i="0" u="none" strike="noStrike" cap="none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Arial" panose="020B0604020202020204"/>
                        </a:rPr>
                        <a:t>e prise en charge de MAPI</a:t>
                      </a:r>
                      <a:endParaRPr lang="en-US" sz="1500" b="0" i="0" u="none" strike="noStrike" cap="none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Arial" panose="020B0604020202020204"/>
                      </a:endParaRPr>
                    </a:p>
                  </a:txBody>
                  <a:tcPr marL="7000" marR="7000" marT="70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i="0" u="none" strike="noStrike" cap="none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Continuité des identification des</a:t>
                      </a:r>
                      <a:r>
                        <a:rPr lang="en-US" sz="1500" i="0" u="none" strike="noStrike" cap="none" baseline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 ZS et SV</a:t>
                      </a:r>
                      <a:r>
                        <a:rPr lang="en-US" sz="1500" i="0" u="none" strike="noStrike" cap="none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 pendants les IPVS</a:t>
                      </a:r>
                      <a:endParaRPr sz="1500" i="0" u="none" strike="noStrike" cap="none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Times New Roman" panose="02020603050405020304"/>
                      </a:endParaRPr>
                    </a:p>
                  </a:txBody>
                  <a:tcPr marL="7000" marR="7000" marT="70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i="0" u="none" strike="noStrike" cap="none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 </a:t>
                      </a:r>
                      <a:endParaRPr sz="1500" i="0" u="none" strike="noStrike" cap="none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Times New Roman" panose="02020603050405020304"/>
                      </a:endParaRPr>
                    </a:p>
                  </a:txBody>
                  <a:tcPr marL="7000" marR="7000" marT="70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4809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/>
                        <a:buNone/>
                      </a:pPr>
                      <a:r>
                        <a:rPr lang="fr-CD" sz="1500" b="0" i="0" u="none" strike="noStrike" cap="none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Arial" panose="020B0604020202020204"/>
                        </a:rPr>
                        <a:t>Bonne préparation ,</a:t>
                      </a:r>
                      <a:r>
                        <a:rPr lang="fr-CD" sz="1500" b="0" i="0" u="none" strike="noStrike" cap="none" baseline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Arial" panose="020B0604020202020204"/>
                        </a:rPr>
                        <a:t> </a:t>
                      </a:r>
                      <a:r>
                        <a:rPr lang="fr-CD" sz="1500" b="0" i="0" u="none" strike="noStrike" cap="none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Arial" panose="020B0604020202020204"/>
                        </a:rPr>
                        <a:t>et sensibilisation de la population ainsi</a:t>
                      </a:r>
                      <a:r>
                        <a:rPr lang="fr-CD" sz="1500" b="0" i="0" u="none" strike="noStrike" cap="none" baseline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Arial" panose="020B0604020202020204"/>
                        </a:rPr>
                        <a:t> que la combinaison des differentes stratégies traditionnelles et innovantes</a:t>
                      </a:r>
                      <a:endParaRPr lang="en-US" sz="1500" b="0" i="0" u="none" strike="noStrike" cap="none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Arial" panose="020B0604020202020204"/>
                      </a:endParaRPr>
                    </a:p>
                  </a:txBody>
                  <a:tcPr marL="7000" marR="7000" marT="70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i="0" u="none" strike="noStrike" cap="none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 Insuffisance de site au premier passage</a:t>
                      </a:r>
                      <a:endParaRPr sz="1500" i="0" u="none" strike="noStrike" cap="none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Times New Roman" panose="02020603050405020304"/>
                      </a:endParaRPr>
                    </a:p>
                  </a:txBody>
                  <a:tcPr marL="7000" marR="7000" marT="7000" marB="0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i="0" u="none" strike="noStrike" cap="none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 </a:t>
                      </a:r>
                      <a:endParaRPr sz="1500" i="0" u="none" strike="noStrike" cap="none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Times New Roman" panose="02020603050405020304"/>
                      </a:endParaRPr>
                    </a:p>
                  </a:txBody>
                  <a:tcPr marL="7000" marR="7000" marT="7000" marB="0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i="0" u="none" strike="noStrike" cap="none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 </a:t>
                      </a:r>
                      <a:endParaRPr sz="1500" i="0" u="none" strike="noStrike" cap="none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Times New Roman" panose="02020603050405020304"/>
                      </a:endParaRPr>
                    </a:p>
                  </a:txBody>
                  <a:tcPr marL="7000" marR="7000" marT="70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307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i="0" u="none" strike="noStrike" cap="none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Prolongation des IPVS pendant 10 Jours </a:t>
                      </a:r>
                      <a:endParaRPr sz="1500" i="0" u="none" strike="noStrike" cap="none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Times New Roman" panose="02020603050405020304"/>
                      </a:endParaRPr>
                    </a:p>
                  </a:txBody>
                  <a:tcPr marL="7000" marR="7000" marT="70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i="0" u="none" strike="noStrike" cap="none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 Retard</a:t>
                      </a:r>
                      <a:r>
                        <a:rPr lang="en-US" sz="1500" i="0" u="none" strike="noStrike" cap="none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s dans l’encodage des données dans les DHIS2</a:t>
                      </a:r>
                      <a:endParaRPr sz="1500" i="0" u="none" strike="noStrike" cap="none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Times New Roman" panose="02020603050405020304"/>
                      </a:endParaRPr>
                    </a:p>
                  </a:txBody>
                  <a:tcPr marL="7000" marR="7000" marT="7000" marB="0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i="0" u="none" strike="noStrike" cap="none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 </a:t>
                      </a:r>
                      <a:endParaRPr sz="1500" i="0" u="none" strike="noStrike" cap="none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Times New Roman" panose="02020603050405020304"/>
                      </a:endParaRPr>
                    </a:p>
                  </a:txBody>
                  <a:tcPr marL="7000" marR="7000" marT="70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i="0" u="none" strike="noStrike" cap="none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 </a:t>
                      </a:r>
                      <a:endParaRPr sz="1500" i="0" u="none" strike="noStrike" cap="none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Times New Roman" panose="02020603050405020304"/>
                      </a:endParaRPr>
                    </a:p>
                  </a:txBody>
                  <a:tcPr marL="7000" marR="7000" marT="70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1307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i="0" u="none" strike="noStrike" cap="none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Suivi de proximité des activités</a:t>
                      </a:r>
                      <a:r>
                        <a:rPr lang="en-US" sz="1500" i="0" u="none" strike="noStrike" cap="none" baseline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 par les </a:t>
                      </a:r>
                      <a:r>
                        <a:rPr lang="en-US" sz="1500" i="0" u="none" strike="noStrike" cap="none" baseline="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superviseurs</a:t>
                      </a:r>
                      <a:r>
                        <a:rPr lang="en-US" sz="1500" i="0" u="none" strike="noStrike" cap="none" baseline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 et dans les </a:t>
                      </a:r>
                      <a:r>
                        <a:rPr lang="en-US" sz="1500" i="0" u="none" strike="noStrike" cap="none" baseline="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differents</a:t>
                      </a:r>
                      <a:r>
                        <a:rPr lang="en-US" sz="1500" i="0" u="none" strike="noStrike" cap="none" baseline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 plateforme </a:t>
                      </a:r>
                      <a:r>
                        <a:rPr lang="en-US" sz="1500" i="0" u="none" strike="noStrike" cap="none" baseline="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watshapp</a:t>
                      </a:r>
                      <a:endParaRPr sz="1500" i="0" u="none" strike="noStrike" cap="none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Times New Roman" panose="02020603050405020304"/>
                      </a:endParaRPr>
                    </a:p>
                  </a:txBody>
                  <a:tcPr marL="7000" marR="7000" marT="70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i="0" u="none" strike="noStrike" cap="none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 Faible disponibilité des Carte CPS</a:t>
                      </a:r>
                      <a:endParaRPr sz="1500" i="0" u="none" strike="noStrike" cap="none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Times New Roman" panose="02020603050405020304"/>
                      </a:endParaRPr>
                    </a:p>
                  </a:txBody>
                  <a:tcPr marL="7000" marR="7000" marT="7000" marB="0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i="0" u="none" strike="noStrike" cap="none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 </a:t>
                      </a:r>
                      <a:endParaRPr sz="1500" i="0" u="none" strike="noStrike" cap="none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Times New Roman" panose="02020603050405020304"/>
                      </a:endParaRPr>
                    </a:p>
                  </a:txBody>
                  <a:tcPr marL="7000" marR="7000" marT="70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i="0" u="none" strike="noStrike" cap="none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Times New Roman" panose="02020603050405020304"/>
                          <a:cs typeface="Times New Roman" panose="02020603050405020304" pitchFamily="18" charset="0"/>
                          <a:sym typeface="Times New Roman" panose="02020603050405020304"/>
                        </a:rPr>
                        <a:t> </a:t>
                      </a:r>
                      <a:endParaRPr sz="1500" i="0" u="none" strike="noStrike" cap="none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Times New Roman" panose="02020603050405020304"/>
                        <a:cs typeface="Times New Roman" panose="02020603050405020304" pitchFamily="18" charset="0"/>
                        <a:sym typeface="Times New Roman" panose="02020603050405020304"/>
                      </a:endParaRPr>
                    </a:p>
                  </a:txBody>
                  <a:tcPr marL="7000" marR="7000" marT="70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3aabc9d920d_0_242"/>
          <p:cNvSpPr txBox="1"/>
          <p:nvPr/>
        </p:nvSpPr>
        <p:spPr>
          <a:xfrm>
            <a:off x="458592" y="317941"/>
            <a:ext cx="11274900" cy="73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r>
              <a:rPr lang="en-US" sz="2700" dirty="0">
                <a:solidFill>
                  <a:srgbClr val="1155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Recommendation pour 2026</a:t>
            </a:r>
            <a:endParaRPr sz="2700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/>
              <a:cs typeface="Times New Roman" panose="02020603050405020304" pitchFamily="18" charset="0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/>
              <a:cs typeface="Times New Roman" panose="02020603050405020304" pitchFamily="18" charset="0"/>
              <a:sym typeface="Times New Roman" panose="02020603050405020304"/>
            </a:endParaRPr>
          </a:p>
          <a:p>
            <a:pPr marL="514350" marR="0" lvl="0" indent="-5143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+mj-lt"/>
              <a:buAutoNum type="arabicPeriod"/>
            </a:pPr>
            <a:r>
              <a:rPr lang="fr-CD" dirty="0">
                <a:latin typeface="Times New Roman" panose="02020603050405020304" pitchFamily="18" charset="0"/>
                <a:cs typeface="Times New Roman" panose="02020603050405020304" pitchFamily="18" charset="0"/>
                <a:sym typeface="Times New Roman" panose="02020603050405020304"/>
              </a:rPr>
              <a:t>Maintenir les IPVS pour renforcer les PEV des Routine dans les ZS avec un grand nombres des enfants ZD/SV</a:t>
            </a:r>
          </a:p>
          <a:p>
            <a:pPr marL="514350" marR="0" lvl="0" indent="-5143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+mj-lt"/>
              <a:buAutoNum type="arabicPeriod"/>
            </a:pPr>
            <a:r>
              <a:rPr lang="fr-CD" dirty="0">
                <a:latin typeface="Times New Roman" panose="02020603050405020304" pitchFamily="18" charset="0"/>
                <a:cs typeface="Times New Roman" panose="02020603050405020304" pitchFamily="18" charset="0"/>
                <a:sym typeface="Times New Roman" panose="02020603050405020304"/>
              </a:rPr>
              <a:t>Renforcement des stratégies mobiles ou fluviales dans les ilots , campements dans les zones d’accès difficiles</a:t>
            </a:r>
          </a:p>
          <a:p>
            <a:pPr marL="514350" marR="0" lvl="0" indent="-5143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+mj-lt"/>
              <a:buAutoNum type="arabicPeriod"/>
            </a:pPr>
            <a:r>
              <a:rPr lang="fr-CD" dirty="0">
                <a:latin typeface="Times New Roman" panose="02020603050405020304" pitchFamily="18" charset="0"/>
                <a:cs typeface="Times New Roman" panose="02020603050405020304" pitchFamily="18" charset="0"/>
                <a:sym typeface="Times New Roman" panose="02020603050405020304"/>
              </a:rPr>
              <a:t>Rendre disponibles les outils de gestion (des cartes CPS en quantité suffisante, nouveau calendrier vaccinale )</a:t>
            </a:r>
          </a:p>
          <a:p>
            <a:pPr marL="514350" marR="0" lvl="0" indent="-5143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+mj-lt"/>
              <a:buAutoNum type="arabicPeriod"/>
            </a:pP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Appuyer les DQS de la qualité des données dans les ZS </a:t>
            </a:r>
          </a:p>
          <a:p>
            <a:pPr marL="514350" marR="0" lvl="0" indent="-5143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+mj-lt"/>
              <a:buAutoNum type="arabicPeriod"/>
            </a:pP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et  le  suivi de récupération des CAC / Recos  des enfants zéros doses  et sous vaccinées</a:t>
            </a:r>
          </a:p>
          <a:p>
            <a:pPr marL="514350" marR="0" lvl="0" indent="-5143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+mj-lt"/>
              <a:buAutoNum type="arabicPeriod"/>
            </a:pP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Appui à la maintenance curative de chaine de froid</a:t>
            </a:r>
          </a:p>
          <a:p>
            <a:pPr marL="514350" marR="0" lvl="0" indent="-5143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+mj-lt"/>
              <a:buAutoNum type="arabicPeriod"/>
            </a:pP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Appui du gouvernement provincial</a:t>
            </a:r>
          </a:p>
          <a:p>
            <a:pPr marL="514350" marR="0" lvl="0" indent="-514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+mj-lt"/>
              <a:buAutoNum type="arabicPeriod"/>
            </a:pPr>
            <a:endParaRPr 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lang="en-US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/>
              <a:cs typeface="Times New Roman" panose="02020603050405020304" pitchFamily="18" charset="0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/>
              <a:cs typeface="Times New Roman" panose="02020603050405020304" pitchFamily="18" charset="0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/>
              <a:cs typeface="Times New Roman" panose="02020603050405020304" pitchFamily="18" charset="0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None/>
            </a:pPr>
            <a:endParaRPr sz="2700" i="0" u="none" strike="noStrike" cap="none" dirty="0">
              <a:solidFill>
                <a:srgbClr val="1155C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/>
              <a:cs typeface="Times New Roman" panose="02020603050405020304" pitchFamily="18" charset="0"/>
              <a:sym typeface="Times New Roman" panose="02020603050405020304"/>
            </a:endParaRPr>
          </a:p>
        </p:txBody>
      </p:sp>
      <p:sp>
        <p:nvSpPr>
          <p:cNvPr id="266" name="Google Shape;266;g3aabc9d920d_0_242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 panose="020B0604020202020204"/>
              <a:buNone/>
            </a:pPr>
            <a:endParaRPr sz="1900" b="0" i="0" u="none" strike="noStrike" cap="none">
              <a:solidFill>
                <a:srgbClr val="0070C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267" name="Google Shape;267;g3aabc9d920d_0_242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2190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endParaRPr sz="1200" b="1" i="0" u="none" strike="noStrike" cap="none">
              <a:solidFill>
                <a:srgbClr val="1155CC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268" name="Google Shape;268;g3aabc9d920d_0_242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155CC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20</a:t>
            </a:fld>
            <a:endParaRPr sz="1200" b="0" i="0" u="none" strike="noStrike" cap="none">
              <a:solidFill>
                <a:srgbClr val="1155CC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69" name="Google Shape;269;g3aabc9d920d_0_242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w="12700" cap="flat" cmpd="sng">
            <a:solidFill>
              <a:srgbClr val="9E9E9E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aabc9d920d_0_262"/>
          <p:cNvSpPr txBox="1"/>
          <p:nvPr/>
        </p:nvSpPr>
        <p:spPr>
          <a:xfrm>
            <a:off x="733100" y="1202135"/>
            <a:ext cx="10707600" cy="35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 panose="020B0604020202020204"/>
              <a:buNone/>
            </a:pPr>
            <a:r>
              <a:rPr lang="en-US" sz="3200" b="1" i="0" u="none" strike="noStrike" cap="none">
                <a:solidFill>
                  <a:srgbClr val="0070C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Merci</a:t>
            </a:r>
            <a:endParaRPr sz="3200" b="1" i="0" u="none" strike="noStrike" cap="none">
              <a:solidFill>
                <a:srgbClr val="0070C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275" name="Google Shape;275;g3aabc9d920d_0_262"/>
          <p:cNvSpPr/>
          <p:nvPr/>
        </p:nvSpPr>
        <p:spPr>
          <a:xfrm>
            <a:off x="1588" y="2654952"/>
            <a:ext cx="4500900" cy="6549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 panose="020B0604020202020204"/>
              <a:buNone/>
            </a:pPr>
            <a:endParaRPr sz="1500" b="0" i="0" u="none" strike="noStrike" cap="none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276" name="Google Shape;276;g3aabc9d920d_0_262"/>
          <p:cNvSpPr/>
          <p:nvPr/>
        </p:nvSpPr>
        <p:spPr>
          <a:xfrm>
            <a:off x="7689667" y="2654952"/>
            <a:ext cx="4501500" cy="6549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 panose="020B0604020202020204"/>
              <a:buNone/>
            </a:pPr>
            <a:endParaRPr sz="1500" b="0" i="0" u="none" strike="noStrike" cap="none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2_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Thèm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3014</TotalTime>
  <Words>2554</Words>
  <Application>Microsoft Office PowerPoint</Application>
  <PresentationFormat>Grand écran</PresentationFormat>
  <Paragraphs>642</Paragraphs>
  <Slides>21</Slides>
  <Notes>17</Notes>
  <HiddenSlides>0</HiddenSlides>
  <MMClips>0</MMClips>
  <ScaleCrop>false</ScaleCrop>
  <HeadingPairs>
    <vt:vector size="6" baseType="variant">
      <vt:variant>
        <vt:lpstr>Polices utilisées</vt:lpstr>
      </vt:variant>
      <vt:variant>
        <vt:i4>11</vt:i4>
      </vt:variant>
      <vt:variant>
        <vt:lpstr>Thème</vt:lpstr>
      </vt:variant>
      <vt:variant>
        <vt:i4>5</vt:i4>
      </vt:variant>
      <vt:variant>
        <vt:lpstr>Titres des diapositives</vt:lpstr>
      </vt:variant>
      <vt:variant>
        <vt:i4>21</vt:i4>
      </vt:variant>
    </vt:vector>
  </HeadingPairs>
  <TitlesOfParts>
    <vt:vector size="37" baseType="lpstr">
      <vt:lpstr>Aptos Display</vt:lpstr>
      <vt:lpstr>Times New Roman</vt:lpstr>
      <vt:lpstr>Aptos</vt:lpstr>
      <vt:lpstr>Arial Narrow</vt:lpstr>
      <vt:lpstr>Play</vt:lpstr>
      <vt:lpstr>Wingdings</vt:lpstr>
      <vt:lpstr>Arial</vt:lpstr>
      <vt:lpstr>Calibri Light</vt:lpstr>
      <vt:lpstr>Garamond</vt:lpstr>
      <vt:lpstr>Source Serif Pro</vt:lpstr>
      <vt:lpstr>Calibri</vt:lpstr>
      <vt:lpstr>Thème Office</vt:lpstr>
      <vt:lpstr>Simple Light</vt:lpstr>
      <vt:lpstr>1_Thème Office</vt:lpstr>
      <vt:lpstr>2_Thème Office</vt:lpstr>
      <vt:lpstr>1_Simple Light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L’activation GIS au 1-jour par les équipes de vaccination  était de 84% au 1er passage (8 ZS), 98% au 2e passage (8ZS)</vt:lpstr>
      <vt:lpstr>Présentation PowerPoint</vt:lpstr>
      <vt:lpstr>Présentation PowerPoint</vt:lpstr>
      <vt:lpstr>Présentation PowerPoint</vt:lpstr>
      <vt:lpstr>ANALYSE FFOM</vt:lpstr>
      <vt:lpstr>ANALYSE FFOM (2)</vt:lpstr>
      <vt:lpstr>ANALYSE FFOM (3)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Aimé CIKOMOLA</dc:creator>
  <cp:lastModifiedBy>BONJOUR</cp:lastModifiedBy>
  <cp:revision>75</cp:revision>
  <dcterms:created xsi:type="dcterms:W3CDTF">2025-11-28T20:10:05Z</dcterms:created>
  <dcterms:modified xsi:type="dcterms:W3CDTF">2025-12-15T12:25:06Z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93DF6B1B20AE4EE791A0860C13F9B9CC_13</vt:lpwstr>
  </property>
  <property fmtid="{D5CDD505-2E9C-101B-9397-08002B2CF9AE}" pid="3" name="KSOProductBuildVer">
    <vt:lpwstr>3084-12.2.0.23155</vt:lpwstr>
  </property>
</Properties>
</file>