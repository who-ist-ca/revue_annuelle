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1" r:id="rId2"/>
    <p:sldMasterId id="2147483675" r:id="rId3"/>
    <p:sldMasterId id="2147483687" r:id="rId4"/>
    <p:sldMasterId id="2147483700" r:id="rId5"/>
  </p:sldMasterIdLst>
  <p:notesMasterIdLst>
    <p:notesMasterId r:id="rId26"/>
  </p:notesMasterIdLst>
  <p:sldIdLst>
    <p:sldId id="256" r:id="rId6"/>
    <p:sldId id="257" r:id="rId7"/>
    <p:sldId id="258" r:id="rId8"/>
    <p:sldId id="259" r:id="rId9"/>
    <p:sldId id="287" r:id="rId10"/>
    <p:sldId id="260" r:id="rId11"/>
    <p:sldId id="284" r:id="rId12"/>
    <p:sldId id="285" r:id="rId13"/>
    <p:sldId id="286" r:id="rId14"/>
    <p:sldId id="279" r:id="rId15"/>
    <p:sldId id="298" r:id="rId16"/>
    <p:sldId id="263" r:id="rId17"/>
    <p:sldId id="264" r:id="rId18"/>
    <p:sldId id="273" r:id="rId19"/>
    <p:sldId id="453" r:id="rId20"/>
    <p:sldId id="475" r:id="rId21"/>
    <p:sldId id="455" r:id="rId22"/>
    <p:sldId id="266" r:id="rId23"/>
    <p:sldId id="268" r:id="rId24"/>
    <p:sldId id="269" r:id="rId25"/>
  </p:sldIdLst>
  <p:sldSz cx="12192000" cy="6858000"/>
  <p:notesSz cx="6858000" cy="9144000"/>
  <p:embeddedFontLst>
    <p:embeddedFont>
      <p:font typeface="Arial Narrow" panose="020B0606020202030204" pitchFamily="34" charset="0"/>
      <p:regular r:id="rId27"/>
      <p:bold r:id="rId28"/>
      <p:italic r:id="rId29"/>
      <p:boldItalic r:id="rId30"/>
    </p:embeddedFont>
    <p:embeddedFont>
      <p:font typeface="Play" panose="020B0604020202020204" charset="0"/>
      <p:regular r:id="rId31"/>
    </p:embeddedFont>
    <p:embeddedFont>
      <p:font typeface="Source Serif Pro" panose="02040603050405020204" pitchFamily="18" charset="0"/>
      <p:regular r:id="rId32"/>
      <p:bold r:id="rId33"/>
      <p:italic r:id="rId34"/>
      <p:boldItalic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6042B85-2813-40D6-8C08-B53CA4025A3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  <a:tblStyle styleId="{628BBFD1-A734-4757-B910-67CC1CD15934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 showGuides="1">
      <p:cViewPr varScale="1">
        <p:scale>
          <a:sx n="81" d="100"/>
          <a:sy n="81" d="100"/>
        </p:scale>
        <p:origin x="662" y="5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notesMaster" Target="notesMasters/notesMaster1.xml"/><Relationship Id="rId39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6.xml"/><Relationship Id="rId34" Type="http://schemas.openxmlformats.org/officeDocument/2006/relationships/font" Target="fonts/font8.fntdata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font" Target="fonts/font7.fntdata"/><Relationship Id="rId38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font" Target="fonts/font6.fntdata"/><Relationship Id="rId37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font" Target="fonts/font2.fntdata"/><Relationship Id="rId36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font" Target="fonts/font5.fntdata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font" Target="fonts/font9.fntdata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cat>
            <c:strRef>
              <c:f>Feuil6!$M$18:$M$23</c:f>
              <c:strCache>
                <c:ptCount val="6"/>
                <c:pt idx="0">
                  <c:v>% EZD penta1 vaccinés</c:v>
                </c:pt>
                <c:pt idx="1">
                  <c:v>% SV PENTA3 vaccinés</c:v>
                </c:pt>
                <c:pt idx="2">
                  <c:v>% SV vaccinés en VPI1</c:v>
                </c:pt>
                <c:pt idx="3">
                  <c:v>% SV vaccinés en VPI2</c:v>
                </c:pt>
                <c:pt idx="4">
                  <c:v>% SV vaccinés en VAR1</c:v>
                </c:pt>
                <c:pt idx="5">
                  <c:v>% SV vaccinés en VAR2</c:v>
                </c:pt>
              </c:strCache>
            </c:strRef>
          </c:cat>
          <c:val>
            <c:numRef>
              <c:f>Feuil6!$N$18:$N$23</c:f>
              <c:numCache>
                <c:formatCode>General</c:formatCode>
                <c:ptCount val="6"/>
              </c:numCache>
            </c:numRef>
          </c:val>
          <c:extLst>
            <c:ext xmlns:c16="http://schemas.microsoft.com/office/drawing/2014/chart" uri="{C3380CC4-5D6E-409C-BE32-E72D297353CC}">
              <c16:uniqueId val="{00000000-CBE8-4BDA-8707-8BB4A744D67A}"/>
            </c:ext>
          </c:extLst>
        </c:ser>
        <c:ser>
          <c:idx val="1"/>
          <c:order val="1"/>
          <c:spPr>
            <a:solidFill>
              <a:schemeClr val="accent2"/>
            </a:solidFill>
            <a:ln>
              <a:noFill/>
            </a:ln>
            <a:effectLst/>
            <a:sp3d/>
          </c:spPr>
          <c:invertIfNegative val="0"/>
          <c:dLbls>
            <c:spPr>
              <a:solidFill>
                <a:sysClr val="window" lastClr="FFFFFF"/>
              </a:solidFill>
              <a:ln>
                <a:noFill/>
              </a:ln>
              <a:effectLst/>
            </c:spPr>
            <c:txPr>
              <a:bodyPr rot="-5400000" spcFirstLastPara="1" vertOverflow="ellipsis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Feuil6!$M$18:$M$23</c:f>
              <c:strCache>
                <c:ptCount val="6"/>
                <c:pt idx="0">
                  <c:v>% EZD penta1 vaccinés</c:v>
                </c:pt>
                <c:pt idx="1">
                  <c:v>% SV PENTA3 vaccinés</c:v>
                </c:pt>
                <c:pt idx="2">
                  <c:v>% SV vaccinés en VPI1</c:v>
                </c:pt>
                <c:pt idx="3">
                  <c:v>% SV vaccinés en VPI2</c:v>
                </c:pt>
                <c:pt idx="4">
                  <c:v>% SV vaccinés en VAR1</c:v>
                </c:pt>
                <c:pt idx="5">
                  <c:v>% SV vaccinés en VAR2</c:v>
                </c:pt>
              </c:strCache>
            </c:strRef>
          </c:cat>
          <c:val>
            <c:numRef>
              <c:f>Feuil6!$O$18:$O$23</c:f>
              <c:numCache>
                <c:formatCode>0%</c:formatCode>
                <c:ptCount val="6"/>
                <c:pt idx="0">
                  <c:v>1.0201793374734789</c:v>
                </c:pt>
                <c:pt idx="1">
                  <c:v>0.87581451037277525</c:v>
                </c:pt>
                <c:pt idx="2">
                  <c:v>0.41816904975708596</c:v>
                </c:pt>
                <c:pt idx="3">
                  <c:v>0.41404756970827289</c:v>
                </c:pt>
                <c:pt idx="4">
                  <c:v>0.41451958278648893</c:v>
                </c:pt>
                <c:pt idx="5">
                  <c:v>0.49402500518063136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BE8-4BDA-8707-8BB4A744D67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622335200"/>
        <c:axId val="622329440"/>
        <c:axId val="0"/>
      </c:bar3DChart>
      <c:catAx>
        <c:axId val="6223352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622329440"/>
        <c:crosses val="autoZero"/>
        <c:auto val="1"/>
        <c:lblAlgn val="ctr"/>
        <c:lblOffset val="100"/>
        <c:noMultiLvlLbl val="0"/>
      </c:catAx>
      <c:valAx>
        <c:axId val="62232944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62233520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CD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‹N°›</a:t>
            </a:fld>
            <a:endParaRPr sz="12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aabc9d920d_0_1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2738" y="652463"/>
            <a:ext cx="5805487" cy="32670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chemeClr val="lt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/>
          <a:lstStyle/>
          <a:p>
            <a:endParaRPr lang="fr-CD"/>
          </a:p>
        </p:txBody>
      </p:sp>
      <p:sp>
        <p:nvSpPr>
          <p:cNvPr id="145" name="Google Shape;145;g3aabc9d920d_0_191:notes"/>
          <p:cNvSpPr txBox="1">
            <a:spLocks noGrp="1"/>
          </p:cNvSpPr>
          <p:nvPr>
            <p:ph type="body" idx="1"/>
          </p:nvPr>
        </p:nvSpPr>
        <p:spPr>
          <a:xfrm>
            <a:off x="642938" y="4136571"/>
            <a:ext cx="5143500" cy="391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275" tIns="86275" rIns="86275" bIns="862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 panose="020B0604020202020204"/>
              <a:buNone/>
            </a:pPr>
            <a:endParaRPr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aabc9d920d_0_1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CD"/>
          </a:p>
        </p:txBody>
      </p:sp>
      <p:sp>
        <p:nvSpPr>
          <p:cNvPr id="154" name="Google Shape;154;g3aabc9d920d_0_1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aabc9d920d_0_2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CD"/>
          </a:p>
        </p:txBody>
      </p:sp>
      <p:sp>
        <p:nvSpPr>
          <p:cNvPr id="163" name="Google Shape;163;g3aabc9d920d_0_2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aabc9d920d_0_2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CD"/>
          </a:p>
        </p:txBody>
      </p:sp>
      <p:sp>
        <p:nvSpPr>
          <p:cNvPr id="174" name="Google Shape;174;g3aabc9d920d_0_2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aabc9d920d_0_2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CD"/>
          </a:p>
        </p:txBody>
      </p:sp>
      <p:sp>
        <p:nvSpPr>
          <p:cNvPr id="234" name="Google Shape;234;g3aabc9d920d_0_2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aabc9d920d_0_3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CD"/>
          </a:p>
        </p:txBody>
      </p:sp>
      <p:sp>
        <p:nvSpPr>
          <p:cNvPr id="184" name="Google Shape;184;g3aabc9d920d_0_3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>
          <a:extLst>
            <a:ext uri="{FF2B5EF4-FFF2-40B4-BE49-F238E27FC236}">
              <a16:creationId xmlns:a16="http://schemas.microsoft.com/office/drawing/2014/main" id="{0C787CE9-FF71-081F-0D99-96CDFC36D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aabc9d920d_0_390:notes">
            <a:extLst>
              <a:ext uri="{FF2B5EF4-FFF2-40B4-BE49-F238E27FC236}">
                <a16:creationId xmlns:a16="http://schemas.microsoft.com/office/drawing/2014/main" id="{BC3D509A-5B73-A98F-5F1B-5BBE3C1BE1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CD"/>
          </a:p>
        </p:txBody>
      </p:sp>
      <p:sp>
        <p:nvSpPr>
          <p:cNvPr id="184" name="Google Shape;184;g3aabc9d920d_0_390:notes">
            <a:extLst>
              <a:ext uri="{FF2B5EF4-FFF2-40B4-BE49-F238E27FC236}">
                <a16:creationId xmlns:a16="http://schemas.microsoft.com/office/drawing/2014/main" id="{BB554F28-C1E5-D22C-B4E8-30B6924DEC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15476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>
          <a:extLst>
            <a:ext uri="{FF2B5EF4-FFF2-40B4-BE49-F238E27FC236}">
              <a16:creationId xmlns:a16="http://schemas.microsoft.com/office/drawing/2014/main" id="{358E5DA9-1A3C-4408-C44F-62D3418240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aabc9d920d_0_390:notes">
            <a:extLst>
              <a:ext uri="{FF2B5EF4-FFF2-40B4-BE49-F238E27FC236}">
                <a16:creationId xmlns:a16="http://schemas.microsoft.com/office/drawing/2014/main" id="{6B612C93-F69C-33BC-6480-7B138CEACA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CD"/>
          </a:p>
        </p:txBody>
      </p:sp>
      <p:sp>
        <p:nvSpPr>
          <p:cNvPr id="184" name="Google Shape;184;g3aabc9d920d_0_390:notes">
            <a:extLst>
              <a:ext uri="{FF2B5EF4-FFF2-40B4-BE49-F238E27FC236}">
                <a16:creationId xmlns:a16="http://schemas.microsoft.com/office/drawing/2014/main" id="{B21717B8-201E-1C33-AAF9-93B3911A21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369267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>
          <a:extLst>
            <a:ext uri="{FF2B5EF4-FFF2-40B4-BE49-F238E27FC236}">
              <a16:creationId xmlns:a16="http://schemas.microsoft.com/office/drawing/2014/main" id="{CC6938EF-FCBF-E88D-C041-5CB6DBFE8A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aabc9d920d_0_390:notes">
            <a:extLst>
              <a:ext uri="{FF2B5EF4-FFF2-40B4-BE49-F238E27FC236}">
                <a16:creationId xmlns:a16="http://schemas.microsoft.com/office/drawing/2014/main" id="{801752A4-4FC0-5547-2146-A9B463145A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CD"/>
          </a:p>
        </p:txBody>
      </p:sp>
      <p:sp>
        <p:nvSpPr>
          <p:cNvPr id="184" name="Google Shape;184;g3aabc9d920d_0_390:notes">
            <a:extLst>
              <a:ext uri="{FF2B5EF4-FFF2-40B4-BE49-F238E27FC236}">
                <a16:creationId xmlns:a16="http://schemas.microsoft.com/office/drawing/2014/main" id="{4AB20781-4C88-CF1F-9295-D1C2D37E46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081159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390345cf17d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65" name="Google Shape;465;g390345cf17d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aabc9d920d_0_4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CD"/>
          </a:p>
        </p:txBody>
      </p:sp>
      <p:sp>
        <p:nvSpPr>
          <p:cNvPr id="214" name="Google Shape;214;g3aabc9d920d_0_4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aabc9d920d_0_2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CD"/>
          </a:p>
        </p:txBody>
      </p:sp>
      <p:sp>
        <p:nvSpPr>
          <p:cNvPr id="224" name="Google Shape;224;g3aabc9d920d_0_2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>
          <a:extLst>
            <a:ext uri="{FF2B5EF4-FFF2-40B4-BE49-F238E27FC236}">
              <a16:creationId xmlns:a16="http://schemas.microsoft.com/office/drawing/2014/main" id="{E25963CB-3521-E191-2B91-878435C3B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aabc9d920d_0_234:notes">
            <a:extLst>
              <a:ext uri="{FF2B5EF4-FFF2-40B4-BE49-F238E27FC236}">
                <a16:creationId xmlns:a16="http://schemas.microsoft.com/office/drawing/2014/main" id="{445B87EE-0E16-A2AF-7423-CAC38982AAD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CD"/>
          </a:p>
        </p:txBody>
      </p:sp>
      <p:sp>
        <p:nvSpPr>
          <p:cNvPr id="234" name="Google Shape;234;g3aabc9d920d_0_234:notes">
            <a:extLst>
              <a:ext uri="{FF2B5EF4-FFF2-40B4-BE49-F238E27FC236}">
                <a16:creationId xmlns:a16="http://schemas.microsoft.com/office/drawing/2014/main" id="{7C8F0AE1-5E73-620D-4A5E-F12110553A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8426618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aabc9d920d_0_4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CD"/>
          </a:p>
        </p:txBody>
      </p:sp>
      <p:sp>
        <p:nvSpPr>
          <p:cNvPr id="243" name="Google Shape;243;g3aabc9d920d_0_4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aabc9d920d_0_2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CD"/>
          </a:p>
        </p:txBody>
      </p:sp>
      <p:sp>
        <p:nvSpPr>
          <p:cNvPr id="263" name="Google Shape;263;g3aabc9d920d_0_2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aabc9d920d_0_2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CD"/>
          </a:p>
        </p:txBody>
      </p:sp>
      <p:sp>
        <p:nvSpPr>
          <p:cNvPr id="272" name="Google Shape;272;g3aabc9d920d_0_2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Diapositive de titre">
  <p:cSld name="1_Diapositive de titr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7"/>
          <p:cNvSpPr txBox="1">
            <a:spLocks noGrp="1"/>
          </p:cNvSpPr>
          <p:nvPr>
            <p:ph type="ctrTitle"/>
          </p:nvPr>
        </p:nvSpPr>
        <p:spPr>
          <a:xfrm>
            <a:off x="3385430" y="3768780"/>
            <a:ext cx="8572500" cy="2341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3041"/>
              </a:buClr>
              <a:buSzPts val="3600"/>
              <a:buFont typeface="Play" panose="00000500000000000000"/>
              <a:buNone/>
              <a:defRPr sz="3600">
                <a:solidFill>
                  <a:srgbClr val="0A304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  <p:pic>
        <p:nvPicPr>
          <p:cNvPr id="18" name="Google Shape;18;p17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-23811" y="0"/>
            <a:ext cx="12215811" cy="37179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contenu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ide" type="blank">
  <p:cSld name="BLANK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e de titre" type="title">
  <p:cSld name="TITLE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 panose="00000500000000000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2" name="Google Shape;32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de section" type="secHead">
  <p:cSld name="SECTION_HEADER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3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 panose="00000500000000000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23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8" name="Google Shape;38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ux contenus" type="twoObj">
  <p:cSld name="TWO_OBJECTS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24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ison" type="twoTxTwoObj">
  <p:cSld name="TWO_OBJECTS_WITH_TEX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5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25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1" name="Google Shape;51;p25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25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3" name="Google Shape;53;p25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seul" type="titleOnly">
  <p:cSld name="TITLE_ONLY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u avec légende" type="objTx">
  <p:cSld name="OBJECT_WITH_CAPTIO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 panose="000005000000000000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7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5" name="Google Shape;65;p27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6" name="Google Shape;66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avec légende" type="picTx">
  <p:cSld name="PICTURE_WITH_CAPTION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 panose="000005000000000000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8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fr-CD"/>
          </a:p>
        </p:txBody>
      </p:sp>
      <p:sp>
        <p:nvSpPr>
          <p:cNvPr id="72" name="Google Shape;72;p28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3" name="Google Shape;73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texte vertical" type="vertTx">
  <p:cSld name="VERTICAL_TEX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9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9" name="Google Shape;79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vertical et texte" type="vertTitleAndTx">
  <p:cSld name="VERTICAL_TITLE_AND_VERTICAL_TEXT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0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30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5" name="Google Shape;8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aabc9d920d_0_272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>
            <a:endParaRPr/>
          </a:p>
        </p:txBody>
      </p:sp>
      <p:sp>
        <p:nvSpPr>
          <p:cNvPr id="94" name="Google Shape;94;g3aabc9d920d_0_272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endParaRPr/>
          </a:p>
        </p:txBody>
      </p:sp>
      <p:sp>
        <p:nvSpPr>
          <p:cNvPr id="95" name="Google Shape;95;g3aabc9d920d_0_27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aabc9d920d_0_276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700" cy="11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98" name="Google Shape;98;g3aabc9d920d_0_27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aabc9d920d_0_279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g3aabc9d920d_0_279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102" name="Google Shape;102;g3aabc9d920d_0_279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aabc9d920d_0_283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g3aabc9d920d_0_283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106" name="Google Shape;106;g3aabc9d920d_0_283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107" name="Google Shape;107;g3aabc9d920d_0_28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aabc9d920d_0_288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g3aabc9d920d_0_28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aabc9d920d_0_291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113" name="Google Shape;113;g3aabc9d920d_0_291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114" name="Google Shape;114;g3aabc9d920d_0_29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aabc9d920d_0_295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300" cy="54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>
            <a:endParaRPr/>
          </a:p>
        </p:txBody>
      </p:sp>
      <p:sp>
        <p:nvSpPr>
          <p:cNvPr id="117" name="Google Shape;117;g3aabc9d920d_0_29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aabc9d920d_0_298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20" name="Google Shape;120;g3aabc9d920d_0_298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700" cy="19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>
            <a:endParaRPr/>
          </a:p>
        </p:txBody>
      </p:sp>
      <p:sp>
        <p:nvSpPr>
          <p:cNvPr id="121" name="Google Shape;121;g3aabc9d920d_0_298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700" cy="16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2" name="Google Shape;122;g3aabc9d920d_0_298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5900" cy="49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457200" lvl="0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123" name="Google Shape;123;g3aabc9d920d_0_29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aabc9d920d_0_304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300" cy="80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>
            <a:endParaRPr/>
          </a:p>
        </p:txBody>
      </p:sp>
      <p:sp>
        <p:nvSpPr>
          <p:cNvPr id="126" name="Google Shape;126;g3aabc9d920d_0_30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aabc9d920d_0_307"/>
          <p:cNvSpPr txBox="1">
            <a:spLocks noGrp="1"/>
          </p:cNvSpPr>
          <p:nvPr>
            <p:ph type="title" hasCustomPrompt="1"/>
          </p:nvPr>
        </p:nvSpPr>
        <p:spPr>
          <a:xfrm>
            <a:off x="415600" y="1474833"/>
            <a:ext cx="11360700" cy="26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129" name="Google Shape;129;g3aabc9d920d_0_307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700" cy="1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1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130" name="Google Shape;130;g3aabc9d920d_0_30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aabc9d920d_0_31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contenu" type="obj">
  <p:cSld name="OBJECT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aabc9d920d_0_313"/>
          <p:cNvSpPr txBox="1">
            <a:spLocks noGrp="1"/>
          </p:cNvSpPr>
          <p:nvPr>
            <p:ph type="body" idx="1"/>
          </p:nvPr>
        </p:nvSpPr>
        <p:spPr>
          <a:xfrm>
            <a:off x="609600" y="457200"/>
            <a:ext cx="4876800" cy="57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rmAutofit/>
          </a:bodyPr>
          <a:lstStyle>
            <a:lvl1pPr marL="457200" lvl="0" indent="-3810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810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400"/>
              <a:buChar char="○"/>
              <a:defRPr/>
            </a:lvl2pPr>
            <a:lvl3pPr marL="1371600" lvl="2" indent="-3810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400"/>
              <a:buChar char="■"/>
              <a:defRPr/>
            </a:lvl3pPr>
            <a:lvl4pPr marL="1828800" lvl="3" indent="-3810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400"/>
              <a:buChar char="●"/>
              <a:defRPr/>
            </a:lvl4pPr>
            <a:lvl5pPr marL="2286000" lvl="4" indent="-3492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135" name="Google Shape;135;g3aabc9d920d_0_313"/>
          <p:cNvSpPr txBox="1">
            <a:spLocks noGrp="1"/>
          </p:cNvSpPr>
          <p:nvPr>
            <p:ph type="title"/>
          </p:nvPr>
        </p:nvSpPr>
        <p:spPr>
          <a:xfrm>
            <a:off x="6502400" y="457200"/>
            <a:ext cx="3759300" cy="57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g3aabc9d920d_0_313"/>
          <p:cNvSpPr txBox="1">
            <a:spLocks noGrp="1"/>
          </p:cNvSpPr>
          <p:nvPr>
            <p:ph type="dt" idx="10"/>
          </p:nvPr>
        </p:nvSpPr>
        <p:spPr>
          <a:xfrm>
            <a:off x="6502401" y="6426201"/>
            <a:ext cx="3759300" cy="1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>
            <a:lvl1pPr marR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37" name="Google Shape;137;g3aabc9d920d_0_313"/>
          <p:cNvSpPr txBox="1">
            <a:spLocks noGrp="1"/>
          </p:cNvSpPr>
          <p:nvPr>
            <p:ph type="sldNum" idx="12"/>
          </p:nvPr>
        </p:nvSpPr>
        <p:spPr>
          <a:xfrm>
            <a:off x="10363200" y="6400800"/>
            <a:ext cx="7113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rmAutofit fontScale="25000" lnSpcReduction="20000"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  <p:sp>
        <p:nvSpPr>
          <p:cNvPr id="138" name="Google Shape;138;g3aabc9d920d_0_313"/>
          <p:cNvSpPr txBox="1">
            <a:spLocks noGrp="1"/>
          </p:cNvSpPr>
          <p:nvPr>
            <p:ph type="ftr" idx="11"/>
          </p:nvPr>
        </p:nvSpPr>
        <p:spPr>
          <a:xfrm>
            <a:off x="6500284" y="6296248"/>
            <a:ext cx="37611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b" anchorCtr="0">
            <a:noAutofit/>
          </a:bodyPr>
          <a:lstStyle>
            <a:lvl1pPr marR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2 1 1">
  <p:cSld name="CUSTOM_1_1_1_3_2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aabc9d920d_0_319"/>
          <p:cNvSpPr txBox="1"/>
          <p:nvPr/>
        </p:nvSpPr>
        <p:spPr>
          <a:xfrm>
            <a:off x="0" y="0"/>
            <a:ext cx="3495900" cy="68580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g3aabc9d920d_0_319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buNone/>
              <a:defRPr sz="1700"/>
            </a:lvl1pPr>
            <a:lvl2pPr lvl="1">
              <a:buNone/>
              <a:defRPr sz="1700"/>
            </a:lvl2pPr>
            <a:lvl3pPr lvl="2">
              <a:buNone/>
              <a:defRPr sz="1700"/>
            </a:lvl3pPr>
            <a:lvl4pPr lvl="3">
              <a:buNone/>
              <a:defRPr sz="1700"/>
            </a:lvl4pPr>
            <a:lvl5pPr lvl="4">
              <a:buNone/>
              <a:defRPr sz="1700"/>
            </a:lvl5pPr>
            <a:lvl6pPr lvl="5">
              <a:buNone/>
              <a:defRPr sz="1700"/>
            </a:lvl6pPr>
            <a:lvl7pPr lvl="6">
              <a:buNone/>
              <a:defRPr sz="1700"/>
            </a:lvl7pPr>
            <a:lvl8pPr lvl="7">
              <a:buNone/>
              <a:defRPr sz="1700"/>
            </a:lvl8pPr>
            <a:lvl9pPr lvl="8">
              <a:buNone/>
              <a:defRPr sz="17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  <p:sp>
        <p:nvSpPr>
          <p:cNvPr id="142" name="Google Shape;142;g3aabc9d920d_0_319"/>
          <p:cNvSpPr txBox="1">
            <a:spLocks noGrp="1"/>
          </p:cNvSpPr>
          <p:nvPr>
            <p:ph type="title"/>
          </p:nvPr>
        </p:nvSpPr>
        <p:spPr>
          <a:xfrm>
            <a:off x="325667" y="2918467"/>
            <a:ext cx="2844900" cy="763500"/>
          </a:xfrm>
          <a:prstGeom prst="rect">
            <a:avLst/>
          </a:prstGeom>
        </p:spPr>
        <p:txBody>
          <a:bodyPr spcFirstLastPara="1" wrap="square" lIns="0" tIns="0" rIns="12190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Font typeface="Source Serif Pro"/>
              <a:buNone/>
              <a:defRPr sz="2700">
                <a:latin typeface="Source Serif Pro"/>
                <a:ea typeface="Source Serif Pro"/>
                <a:cs typeface="Source Serif Pro"/>
                <a:sym typeface="Source Serif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700"/>
              <a:buFont typeface="Source Serif Pro"/>
              <a:buNone/>
              <a:defRPr sz="2700">
                <a:latin typeface="Source Serif Pro"/>
                <a:ea typeface="Source Serif Pro"/>
                <a:cs typeface="Source Serif Pro"/>
                <a:sym typeface="Source Serif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700"/>
              <a:buFont typeface="Source Serif Pro"/>
              <a:buNone/>
              <a:defRPr sz="2700">
                <a:latin typeface="Source Serif Pro"/>
                <a:ea typeface="Source Serif Pro"/>
                <a:cs typeface="Source Serif Pro"/>
                <a:sym typeface="Source Serif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700"/>
              <a:buFont typeface="Source Serif Pro"/>
              <a:buNone/>
              <a:defRPr sz="2700">
                <a:latin typeface="Source Serif Pro"/>
                <a:ea typeface="Source Serif Pro"/>
                <a:cs typeface="Source Serif Pro"/>
                <a:sym typeface="Source Serif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700"/>
              <a:buFont typeface="Source Serif Pro"/>
              <a:buNone/>
              <a:defRPr sz="2700">
                <a:latin typeface="Source Serif Pro"/>
                <a:ea typeface="Source Serif Pro"/>
                <a:cs typeface="Source Serif Pro"/>
                <a:sym typeface="Source Serif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700"/>
              <a:buFont typeface="Source Serif Pro"/>
              <a:buNone/>
              <a:defRPr sz="2700">
                <a:latin typeface="Source Serif Pro"/>
                <a:ea typeface="Source Serif Pro"/>
                <a:cs typeface="Source Serif Pro"/>
                <a:sym typeface="Source Serif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700"/>
              <a:buFont typeface="Source Serif Pro"/>
              <a:buNone/>
              <a:defRPr sz="2700">
                <a:latin typeface="Source Serif Pro"/>
                <a:ea typeface="Source Serif Pro"/>
                <a:cs typeface="Source Serif Pro"/>
                <a:sym typeface="Source Serif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700"/>
              <a:buFont typeface="Source Serif Pro"/>
              <a:buNone/>
              <a:defRPr sz="2700">
                <a:latin typeface="Source Serif Pro"/>
                <a:ea typeface="Source Serif Pro"/>
                <a:cs typeface="Source Serif Pro"/>
                <a:sym typeface="Source Serif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700"/>
              <a:buFont typeface="Source Serif Pro"/>
              <a:buNone/>
              <a:defRPr sz="2700">
                <a:latin typeface="Source Serif Pro"/>
                <a:ea typeface="Source Serif Pro"/>
                <a:cs typeface="Source Serif Pro"/>
                <a:sym typeface="Source Serif Pr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D9CC9AD-3470-3658-D6A6-8ED13AE633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x-none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2EAF14CD-E32A-58DF-078F-D092410E4A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x-non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6F5EB1E-8E27-2FF4-E670-5C37EC98C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8A4D7-F9DF-4838-AB57-9AE92CACE4AA}" type="datetimeFigureOut">
              <a:rPr lang="x-none" smtClean="0"/>
              <a:t>12/12/2025</a:t>
            </a:fld>
            <a:endParaRPr lang="x-non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BAEBB80-766D-1F1B-E7EA-D97A72D63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D2E5783-6C09-D846-E32C-97834C0F2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1E52C-8765-46A3-B96B-798ED620B646}" type="slidenum">
              <a:rPr lang="x-none" smtClean="0"/>
              <a:t>‹N°›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419159810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258B6E5-7EC7-B3C3-9558-ACB29F298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x-non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977FF95-31A4-D0F4-A6BB-65CEEB8FB8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x-non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321C410-6393-D83D-AF76-9DE8B0AD0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8A4D7-F9DF-4838-AB57-9AE92CACE4AA}" type="datetimeFigureOut">
              <a:rPr lang="x-none" smtClean="0"/>
              <a:t>12/12/2025</a:t>
            </a:fld>
            <a:endParaRPr lang="x-non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38C63E6-05E4-AB6C-EE3A-8144DB0F1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34E1A37-65AA-2B5A-9D82-5F5DEDC7A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1E52C-8765-46A3-B96B-798ED620B646}" type="slidenum">
              <a:rPr lang="x-none" smtClean="0"/>
              <a:t>‹N°›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29636093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20677D5-153B-920D-FE3A-EA82587A9B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x-none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1C72D61-E374-FCA1-B2AD-66B144E3BD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BB4CEB6-8C56-727A-52DB-0C1EC0A4A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8A4D7-F9DF-4838-AB57-9AE92CACE4AA}" type="datetimeFigureOut">
              <a:rPr lang="x-none" smtClean="0"/>
              <a:t>12/12/2025</a:t>
            </a:fld>
            <a:endParaRPr lang="x-non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A6684F2-506E-BB06-A2BE-0C025422C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BF904B7-1433-8D70-491D-6CEE308E4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1E52C-8765-46A3-B96B-798ED620B646}" type="slidenum">
              <a:rPr lang="x-none" smtClean="0"/>
              <a:t>‹N°›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5407294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06ECEA4-8CB3-F4DB-23D2-63FD647F7A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x-non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0966A81-38B8-8491-93FF-00166D9038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x-none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79E1769-9048-C132-C292-4961E91202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x-none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2FFF565-74F8-A4F7-3559-A86B1FB07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8A4D7-F9DF-4838-AB57-9AE92CACE4AA}" type="datetimeFigureOut">
              <a:rPr lang="x-none" smtClean="0"/>
              <a:t>12/12/2025</a:t>
            </a:fld>
            <a:endParaRPr lang="x-non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D641807-08A8-70EB-E680-EFC08B2CE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0F3A3A8-4522-2827-1BC0-CA6F7AFA4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1E52C-8765-46A3-B96B-798ED620B646}" type="slidenum">
              <a:rPr lang="x-none" smtClean="0"/>
              <a:t>‹N°›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79299114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9918076-1C3E-D381-E4FC-79E3B7C2F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x-none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006E58D-8283-CA04-0050-1287DAE609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93719B1-FFDA-40E7-29F9-862B156873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x-none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788A9DC9-69B6-CFCF-2325-572269159A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E7569D69-9E8E-29A3-CB9C-5A8F18B8B7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x-none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932C381F-B817-1494-BD6F-2992117FE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8A4D7-F9DF-4838-AB57-9AE92CACE4AA}" type="datetimeFigureOut">
              <a:rPr lang="x-none" smtClean="0"/>
              <a:t>12/12/2025</a:t>
            </a:fld>
            <a:endParaRPr lang="x-none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425CB175-5F70-4D4C-3B0B-7EE80B0F69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117265F9-D444-D900-0293-3CD569E01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1E52C-8765-46A3-B96B-798ED620B646}" type="slidenum">
              <a:rPr lang="x-none" smtClean="0"/>
              <a:t>‹N°›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81643253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4C2F973-2145-768B-294E-5B88C0F55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x-none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46470393-8E8D-3875-490F-52CA59633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8A4D7-F9DF-4838-AB57-9AE92CACE4AA}" type="datetimeFigureOut">
              <a:rPr lang="x-none" smtClean="0"/>
              <a:t>12/12/2025</a:t>
            </a:fld>
            <a:endParaRPr lang="x-none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941622C-4627-47D6-DA5C-279EE8ACA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0A9039E-71A5-5910-019A-3E9753DE5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1E52C-8765-46A3-B96B-798ED620B646}" type="slidenum">
              <a:rPr lang="x-none" smtClean="0"/>
              <a:t>‹N°›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5311024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34C5A867-6620-A566-CC51-6D850D3166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8A4D7-F9DF-4838-AB57-9AE92CACE4AA}" type="datetimeFigureOut">
              <a:rPr lang="x-none" smtClean="0"/>
              <a:t>12/12/2025</a:t>
            </a:fld>
            <a:endParaRPr lang="x-none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EFF772E1-9B5B-470B-707E-8F6A675B5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3152C3C-3879-F6FA-410A-E58AF0D36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1E52C-8765-46A3-B96B-798ED620B646}" type="slidenum">
              <a:rPr lang="x-none" smtClean="0"/>
              <a:t>‹N°›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78376726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4852E98-82ED-50AA-AF6C-DDE97FEE6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x-non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9BBB251-9924-493E-56A4-A61585F1D4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x-none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2588838-F844-A45A-1F17-27DB5EB739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3637E4C-6B60-4732-8A35-0AB8619959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8A4D7-F9DF-4838-AB57-9AE92CACE4AA}" type="datetimeFigureOut">
              <a:rPr lang="x-none" smtClean="0"/>
              <a:t>12/12/2025</a:t>
            </a:fld>
            <a:endParaRPr lang="x-non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62E2105-9153-7DEB-4B1C-68874F82F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203D9A9-28BF-CD98-CB15-3C614A1FF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1E52C-8765-46A3-B96B-798ED620B646}" type="slidenum">
              <a:rPr lang="x-none" smtClean="0"/>
              <a:t>‹N°›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08702415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E5AE41D-167B-487A-539B-F4A0C4535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x-none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758D2918-602C-6648-2059-BD378304A0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x-none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4F1BE77-ACAB-0E75-AA1F-923865F09C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F43C6EA-CA67-604E-9387-2B9A99C26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8A4D7-F9DF-4838-AB57-9AE92CACE4AA}" type="datetimeFigureOut">
              <a:rPr lang="x-none" smtClean="0"/>
              <a:t>12/12/2025</a:t>
            </a:fld>
            <a:endParaRPr lang="x-non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011E566-7E5A-BFDE-580A-4D50C19CF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99D721A-01DF-A486-DD13-C0F03E81E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1E52C-8765-46A3-B96B-798ED620B646}" type="slidenum">
              <a:rPr lang="x-none" smtClean="0"/>
              <a:t>‹N°›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60041238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A215236-01BD-9DA5-A7E7-DC4011FD2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x-none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76280066-57DF-F854-1B53-83DD63508F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x-non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E79DB8E-E719-A9E2-6E55-412B679DD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8A4D7-F9DF-4838-AB57-9AE92CACE4AA}" type="datetimeFigureOut">
              <a:rPr lang="x-none" smtClean="0"/>
              <a:t>12/12/2025</a:t>
            </a:fld>
            <a:endParaRPr lang="x-non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12DC3A7-5ABA-9451-03F5-499F8A545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119659A-751F-49CD-DB1E-8A7C844DF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1E52C-8765-46A3-B96B-798ED620B646}" type="slidenum">
              <a:rPr lang="x-none" smtClean="0"/>
              <a:t>‹N°›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23792940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2BB4DA8C-A039-BDE0-9A79-33AD7284DE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x-none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9F0B98A-E9C6-F076-F158-B560D2F741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x-non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5B19E0D-0B4E-AC0B-B0FE-3CBEBC995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8A4D7-F9DF-4838-AB57-9AE92CACE4AA}" type="datetimeFigureOut">
              <a:rPr lang="x-none" smtClean="0"/>
              <a:t>12/12/2025</a:t>
            </a:fld>
            <a:endParaRPr lang="x-non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75A4CD3-FDB8-D819-906E-A2C21004AF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9CBFE03-963A-AA2E-8DE4-FE4790D28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1E52C-8765-46A3-B96B-798ED620B646}" type="slidenum">
              <a:rPr lang="x-none" smtClean="0"/>
              <a:t>‹N°›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64059263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F1FB0CC-AFD9-D897-0512-F104FF4ACB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C2CB51A-28B0-D876-A9F9-BCDF37026F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A590A32-8A45-E3F2-2D5C-347C2F036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4D24C-F39A-4AE0-ABBF-F734CC02DB3B}" type="datetime1">
              <a:rPr lang="fr-FR" smtClean="0"/>
              <a:t>12/12/2025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55CC22D-31B7-B854-88CD-0DCF923E34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EVALUATION FAE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BB022BC-61A6-D869-DFAE-50E4BFADF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C269F-B456-E540-A4A4-C7B9A29FD6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7341212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ADEC86C-83A2-97CB-B3B3-6ADF41934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9564DB7-2813-DCD5-BB73-1A617DC05D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0D2A317-B14E-BDF5-3D5F-A5189F792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55C6D-1368-44E1-9EC7-C19C6B9CEAB2}" type="datetime1">
              <a:rPr lang="fr-FR" smtClean="0"/>
              <a:t>12/12/2025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32C26A3-C205-C70E-2860-224CC7F1D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EVALUATION FAE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B474D7A-2126-0CAE-E805-97999C3CD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C269F-B456-E540-A4A4-C7B9A29FD6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0976495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B22A534-4DC7-32A1-729E-A461BEFEAB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F98A566-F821-B4AB-2705-DF96406A0F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DC8444D-E944-1495-7FA5-66C4E5060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9BD3D-FCB5-4C47-AB98-6BB57179BBD4}" type="datetime1">
              <a:rPr lang="fr-FR" smtClean="0"/>
              <a:t>12/12/2025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05C56D0-5445-8027-9336-60F30FBF6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EVALUATION FAE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A124872-6101-9A07-7DBB-843E1F567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C269F-B456-E540-A4A4-C7B9A29FD6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4265236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7799B93-0198-17A2-8667-68D68BC69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35E1D5C-517E-1DB7-2A9D-405CECA89E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227DCC4-E4FD-9BBF-65A5-4B835A4E30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A1198D4-FE5D-237E-44FE-D049063DD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13CB5-86A2-46E6-8159-BA8FCA27B236}" type="datetime1">
              <a:rPr lang="fr-FR" smtClean="0"/>
              <a:t>12/12/2025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CB598EE-9F02-66A9-692E-3867FBA8F2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EVALUATION FAE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2BAAEDF-F0C1-C70C-6337-766A2AEF5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C269F-B456-E540-A4A4-C7B9A29FD6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2539523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501E65D-D787-CBA6-7B47-248F1A7E4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28C2BA3-0FF6-ACAA-19D6-C6781F4AC9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4229DFE-C400-0BE8-4522-EA4BBE5923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2DA57A7C-7DB0-183E-8428-1B940116F1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8C92E1A5-07BE-E06C-87B2-7BC06288E5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45E7D635-F310-5A72-82F9-F2654CFE9E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CDBEC-EE00-4EA6-84B8-D28F7E7BFB7B}" type="datetime1">
              <a:rPr lang="fr-FR" smtClean="0"/>
              <a:t>12/12/2025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C37D90A4-071E-68C8-26E9-817C7153D3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EVALUATION FAE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BB25FC75-A568-097E-B4B3-34B29879AA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C269F-B456-E540-A4A4-C7B9A29FD6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8538396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38983DA-4C43-D92C-3777-B50A9974C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847A12B-AA99-C0F0-920D-A69F97EAD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7E04B-DB1B-4906-9176-5EED3EAB2010}" type="datetime1">
              <a:rPr lang="fr-FR" smtClean="0"/>
              <a:t>12/12/2025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89AEC5C-48BA-F072-E4D0-9D2AC42E5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EVALUATION FAE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33F38DA-F3C8-A714-F9E0-06E7C8905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C269F-B456-E540-A4A4-C7B9A29FD6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2547685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9536CB71-0045-728A-92A9-9382ADEBB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4875E-6B83-4301-9C78-CBFFF6C58804}" type="datetime1">
              <a:rPr lang="fr-FR" smtClean="0"/>
              <a:t>12/12/2025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21A65A3-2788-1658-2FCB-253724B33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EVALUATION FAE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AC42E17-4E0C-846E-6E7D-B7B548679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C269F-B456-E540-A4A4-C7B9A29FD6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3097511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F421D9A-57C2-BE2B-9531-3AEFCFF73F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6E0081B-249F-40D4-5C9A-2A38E9D68D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D436F87-07AD-50AB-6714-6EB140C329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FE60A57-7DA8-9863-688E-FBAB315BD1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26380-6703-4A12-BCEA-253BADC1E493}" type="datetime1">
              <a:rPr lang="fr-FR" smtClean="0"/>
              <a:t>12/12/2025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0BB91EF-8BAC-12B7-5155-6CDDF6E3F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EVALUATION FAE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091C80D-EE9F-69AC-7DB7-E57C7AAE8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C269F-B456-E540-A4A4-C7B9A29FD6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0317147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E4372A5-6016-8147-1751-E7646EFDD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C665C171-4207-7505-FDDE-FA59700266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521015B-0B00-166A-831B-046D4E43F7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80EC5C0-A8A5-379F-46DE-FCCB02831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4C25B-32DF-489A-AC17-E0EA947AA4DF}" type="datetime1">
              <a:rPr lang="fr-FR" smtClean="0"/>
              <a:t>12/12/2025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0F49EE3-D7DF-FCC2-275E-49A5FC94A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EVALUATION FAE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F73E3E4-1BC2-E913-0213-20A29F833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C269F-B456-E540-A4A4-C7B9A29FD6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0864656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C9F4BBF-5371-9B89-800F-2C254F9C6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8F0AA2A-1A4F-C460-4E4F-E0051DFCBB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2E4F592-2DE1-6003-C02F-BC6D29E329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615D9-9057-46D8-9158-7385F9DE2A25}" type="datetime1">
              <a:rPr lang="fr-FR" smtClean="0"/>
              <a:t>12/12/2025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4897216-A8D9-47BE-4D8C-A462A66C3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EVALUATION FAE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DFC9C0C-B923-B657-0E4C-2E49C6174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C269F-B456-E540-A4A4-C7B9A29FD6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4012849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E2515351-03C1-C7B0-61E3-E9E89DA4BE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423B9313-7035-A72B-CF92-30DFAC4E34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494D5A0-6D7C-BC2E-61DA-0074A50CA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CA008-4CDE-47F1-A707-1048DA3FFE24}" type="datetime1">
              <a:rPr lang="fr-FR" smtClean="0"/>
              <a:t>12/12/2025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64904BA-A78F-0C20-B1BB-348DF0466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EVALUATION FAE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0FC55BB-2576-5849-DBC5-8A4787D00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C269F-B456-E540-A4A4-C7B9A29FD6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3429180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3385430" y="3768780"/>
            <a:ext cx="8572500" cy="2341563"/>
          </a:xfrm>
        </p:spPr>
        <p:txBody>
          <a:bodyPr anchor="b">
            <a:normAutofit/>
          </a:bodyPr>
          <a:lstStyle>
            <a:lvl1pPr algn="ctr">
              <a:defRPr sz="36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D1280-86C2-426A-AEFC-6C58FDD0CC12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3" name="Imag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811" y="0"/>
            <a:ext cx="12215811" cy="3717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951579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9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/>
          </a:p>
        </p:txBody>
      </p:sp>
      <p:sp>
        <p:nvSpPr>
          <p:cNvPr id="11" name="Google Shape;11;p39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sp>
        <p:nvSpPr>
          <p:cNvPr id="12" name="Google Shape;12;p39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GB" smtClean="0"/>
              <a:pPr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9298366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0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40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40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GB" smtClean="0"/>
              <a:pPr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473350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casus 1">
  <p:cSld name="Acasus 1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3882ac7a6fa_1_143"/>
          <p:cNvSpPr txBox="1">
            <a:spLocks noGrp="1"/>
          </p:cNvSpPr>
          <p:nvPr>
            <p:ph type="sldNum" idx="12"/>
          </p:nvPr>
        </p:nvSpPr>
        <p:spPr>
          <a:xfrm>
            <a:off x="11433756" y="6487117"/>
            <a:ext cx="731600" cy="369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GB" smtClean="0"/>
              <a:pPr/>
              <a:t>‹N°›</a:t>
            </a:fld>
            <a:endParaRPr lang="en-GB"/>
          </a:p>
        </p:txBody>
      </p:sp>
      <p:sp>
        <p:nvSpPr>
          <p:cNvPr id="19" name="Google Shape;19;g3882ac7a6fa_1_143"/>
          <p:cNvSpPr txBox="1"/>
          <p:nvPr/>
        </p:nvSpPr>
        <p:spPr>
          <a:xfrm>
            <a:off x="96000" y="88867"/>
            <a:ext cx="11904000" cy="548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00" tIns="48000" rIns="91200" bIns="480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endParaRPr sz="2933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g3882ac7a6fa_1_143"/>
          <p:cNvSpPr txBox="1"/>
          <p:nvPr/>
        </p:nvSpPr>
        <p:spPr>
          <a:xfrm>
            <a:off x="0" y="6467717"/>
            <a:ext cx="11072400" cy="410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1067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g3882ac7a6fa_1_143"/>
          <p:cNvSpPr txBox="1">
            <a:spLocks noGrp="1"/>
          </p:cNvSpPr>
          <p:nvPr>
            <p:ph type="title"/>
          </p:nvPr>
        </p:nvSpPr>
        <p:spPr>
          <a:xfrm>
            <a:off x="96000" y="88867"/>
            <a:ext cx="11904000" cy="470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00" tIns="50400" rIns="68400" bIns="36000" anchor="t" anchorCtr="0">
            <a:sp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51F61"/>
              </a:buClr>
              <a:buSzPts val="2200"/>
              <a:buFont typeface="Arial"/>
              <a:buNone/>
              <a:defRPr sz="2933">
                <a:solidFill>
                  <a:srgbClr val="451F6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/>
              <a:buNone/>
              <a:defRPr sz="2933">
                <a:latin typeface="Arial"/>
                <a:ea typeface="Arial"/>
                <a:cs typeface="Arial"/>
                <a:sym typeface="Arial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/>
              <a:buNone/>
              <a:defRPr sz="2933">
                <a:latin typeface="Arial"/>
                <a:ea typeface="Arial"/>
                <a:cs typeface="Arial"/>
                <a:sym typeface="Arial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/>
              <a:buNone/>
              <a:defRPr sz="2933">
                <a:latin typeface="Arial"/>
                <a:ea typeface="Arial"/>
                <a:cs typeface="Arial"/>
                <a:sym typeface="Arial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/>
              <a:buNone/>
              <a:defRPr sz="2933">
                <a:latin typeface="Arial"/>
                <a:ea typeface="Arial"/>
                <a:cs typeface="Arial"/>
                <a:sym typeface="Arial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/>
              <a:buNone/>
              <a:defRPr sz="2933">
                <a:latin typeface="Arial"/>
                <a:ea typeface="Arial"/>
                <a:cs typeface="Arial"/>
                <a:sym typeface="Arial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/>
              <a:buNone/>
              <a:defRPr sz="2933">
                <a:latin typeface="Arial"/>
                <a:ea typeface="Arial"/>
                <a:cs typeface="Arial"/>
                <a:sym typeface="Arial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/>
              <a:buNone/>
              <a:defRPr sz="2933">
                <a:latin typeface="Arial"/>
                <a:ea typeface="Arial"/>
                <a:cs typeface="Arial"/>
                <a:sym typeface="Arial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/>
              <a:buNone/>
              <a:defRPr sz="2933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" name="Google Shape;22;g3882ac7a6fa_1_143"/>
          <p:cNvSpPr txBox="1">
            <a:spLocks noGrp="1"/>
          </p:cNvSpPr>
          <p:nvPr>
            <p:ph type="ctrTitle" idx="2"/>
          </p:nvPr>
        </p:nvSpPr>
        <p:spPr>
          <a:xfrm>
            <a:off x="11" y="6296700"/>
            <a:ext cx="116208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Arial"/>
              <a:buNone/>
              <a:defRPr sz="1067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Arial"/>
              <a:buNone/>
              <a:defRPr sz="1067">
                <a:latin typeface="Arial"/>
                <a:ea typeface="Arial"/>
                <a:cs typeface="Arial"/>
                <a:sym typeface="Arial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Arial"/>
              <a:buNone/>
              <a:defRPr sz="1067">
                <a:latin typeface="Arial"/>
                <a:ea typeface="Arial"/>
                <a:cs typeface="Arial"/>
                <a:sym typeface="Arial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Arial"/>
              <a:buNone/>
              <a:defRPr sz="1067">
                <a:latin typeface="Arial"/>
                <a:ea typeface="Arial"/>
                <a:cs typeface="Arial"/>
                <a:sym typeface="Arial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Arial"/>
              <a:buNone/>
              <a:defRPr sz="1067">
                <a:latin typeface="Arial"/>
                <a:ea typeface="Arial"/>
                <a:cs typeface="Arial"/>
                <a:sym typeface="Arial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Arial"/>
              <a:buNone/>
              <a:defRPr sz="1067">
                <a:latin typeface="Arial"/>
                <a:ea typeface="Arial"/>
                <a:cs typeface="Arial"/>
                <a:sym typeface="Arial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Arial"/>
              <a:buNone/>
              <a:defRPr sz="1067">
                <a:latin typeface="Arial"/>
                <a:ea typeface="Arial"/>
                <a:cs typeface="Arial"/>
                <a:sym typeface="Arial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Arial"/>
              <a:buNone/>
              <a:defRPr sz="1067">
                <a:latin typeface="Arial"/>
                <a:ea typeface="Arial"/>
                <a:cs typeface="Arial"/>
                <a:sym typeface="Arial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Arial"/>
              <a:buNone/>
              <a:defRPr sz="1067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91118401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1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800" cy="11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25" name="Google Shape;25;p4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GB" smtClean="0"/>
              <a:pPr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203480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2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2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2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29" name="Google Shape;29;p42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2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30" name="Google Shape;30;p4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GB" smtClean="0"/>
              <a:pPr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746906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3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4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GB" smtClean="0"/>
              <a:pPr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8510204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4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36" name="Google Shape;36;p44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marL="1219170" lvl="1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37" name="Google Shape;37;p4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GB" smtClean="0"/>
              <a:pPr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4901808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45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400" cy="54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  <p:sp>
        <p:nvSpPr>
          <p:cNvPr id="40" name="Google Shape;40;p4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GB" smtClean="0"/>
              <a:pPr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6992904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6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46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600" cy="19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44" name="Google Shape;44;p46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600" cy="16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45" name="Google Shape;45;p46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6000" cy="492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609585" lvl="0" indent="-457189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6" name="Google Shape;46;p4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GB" smtClean="0"/>
              <a:pPr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5042835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47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400" cy="8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609585" lvl="0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9" name="Google Shape;49;p4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GB" smtClean="0"/>
              <a:pPr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5223351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48"/>
          <p:cNvSpPr txBox="1">
            <a:spLocks noGrp="1"/>
          </p:cNvSpPr>
          <p:nvPr>
            <p:ph type="title" hasCustomPrompt="1"/>
          </p:nvPr>
        </p:nvSpPr>
        <p:spPr>
          <a:xfrm>
            <a:off x="415600" y="1474833"/>
            <a:ext cx="11360800" cy="2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52" name="Google Shape;52;p48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800" cy="1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3" name="Google Shape;53;p4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GB" smtClean="0"/>
              <a:pPr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6869919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9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GB" smtClean="0"/>
              <a:pPr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39852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8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slideLayout" Target="../slideLayouts/slideLayout60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 panose="00000500000000000000"/>
              <a:buNone/>
              <a:defRPr sz="4400" b="0" i="0" u="none" strike="noStrike" cap="none">
                <a:solidFill>
                  <a:schemeClr val="dk1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2" name="Google Shape;12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3" name="Google Shape;13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4" name="Google Shape;14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aabc9d920d_0_268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 panose="020B0604020202020204"/>
              <a:buNone/>
              <a:defRPr sz="37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 panose="020B0604020202020204"/>
              <a:buNone/>
              <a:defRPr sz="37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 panose="020B0604020202020204"/>
              <a:buNone/>
              <a:defRPr sz="37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 panose="020B0604020202020204"/>
              <a:buNone/>
              <a:defRPr sz="37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 panose="020B0604020202020204"/>
              <a:buNone/>
              <a:defRPr sz="37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 panose="020B0604020202020204"/>
              <a:buNone/>
              <a:defRPr sz="37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 panose="020B0604020202020204"/>
              <a:buNone/>
              <a:defRPr sz="37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 panose="020B0604020202020204"/>
              <a:buNone/>
              <a:defRPr sz="37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 panose="020B0604020202020204"/>
              <a:buNone/>
              <a:defRPr sz="37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90" name="Google Shape;90;g3aabc9d920d_0_268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marR="0" lvl="0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 panose="020B0604020202020204"/>
              <a:buChar char="●"/>
              <a:defRPr sz="2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 panose="020B0604020202020204"/>
              <a:buChar char="○"/>
              <a:defRPr sz="19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 panose="020B0604020202020204"/>
              <a:buChar char="■"/>
              <a:defRPr sz="19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 panose="020B0604020202020204"/>
              <a:buChar char="●"/>
              <a:defRPr sz="19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 panose="020B0604020202020204"/>
              <a:buChar char="○"/>
              <a:defRPr sz="19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 panose="020B0604020202020204"/>
              <a:buChar char="■"/>
              <a:defRPr sz="19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 panose="020B0604020202020204"/>
              <a:buChar char="●"/>
              <a:defRPr sz="19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 panose="020B0604020202020204"/>
              <a:buChar char="○"/>
              <a:defRPr sz="19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 panose="020B0604020202020204"/>
              <a:buChar char="■"/>
              <a:defRPr sz="19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91" name="Google Shape;91;g3aabc9d920d_0_26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36154D0E-BDBA-DD5D-351E-D5A611212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x-none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978E608-23FC-93FB-7706-7A88715CAC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x-non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9FB5D88-D3B2-7C15-AD3B-608011C7BF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68A4D7-F9DF-4838-AB57-9AE92CACE4AA}" type="datetimeFigureOut">
              <a:rPr lang="x-none" smtClean="0"/>
              <a:t>12/12/2025</a:t>
            </a:fld>
            <a:endParaRPr lang="x-non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1FBE270-633D-3504-9300-0600D8AF0E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x-non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A15D800-DB26-022E-C7E0-123F5AFEAC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81E52C-8765-46A3-B96B-798ED620B646}" type="slidenum">
              <a:rPr lang="x-none" smtClean="0"/>
              <a:t>‹N°›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4787473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ECAC8740-5BE0-5AEF-895B-45453533A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45E65EF-54F3-440E-07E0-E7FBCD71EB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FB2344B-3815-2C25-B4DF-272A996EFE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414B0C-BD3A-401D-8B94-AF6D7BF93739}" type="datetime1">
              <a:rPr lang="fr-FR" smtClean="0"/>
              <a:t>12/12/2025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8C6DEAF-7E47-CCBF-C7A6-890E9A7C9E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fr-FR"/>
              <a:t>EVALUATION FAE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DCD554A-9F9A-0AF8-CE2D-4E61E26A0C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AC269F-B456-E540-A4A4-C7B9A29FD6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408694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8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38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3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GB" smtClean="0"/>
              <a:pPr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058999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  <p:sldLayoutId id="2147483712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8.png"/><Relationship Id="rId4" Type="http://schemas.openxmlformats.org/officeDocument/2006/relationships/image" Target="../media/image10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3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g3aabc9d920d_0_191"/>
          <p:cNvPicPr preferRelativeResize="0"/>
          <p:nvPr/>
        </p:nvPicPr>
        <p:blipFill rotWithShape="1">
          <a:blip r:embed="rId3"/>
          <a:srcRect l="-17785"/>
          <a:stretch>
            <a:fillRect/>
          </a:stretch>
        </p:blipFill>
        <p:spPr>
          <a:xfrm>
            <a:off x="-681739" y="1646127"/>
            <a:ext cx="4525279" cy="370309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g3aabc9d920d_0_191"/>
          <p:cNvSpPr txBox="1"/>
          <p:nvPr/>
        </p:nvSpPr>
        <p:spPr>
          <a:xfrm>
            <a:off x="4210333" y="1516433"/>
            <a:ext cx="7894800" cy="18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20204"/>
              <a:buNone/>
            </a:pPr>
            <a:r>
              <a:rPr lang="en-US" sz="4300" b="1" dirty="0">
                <a:solidFill>
                  <a:srgbClr val="1155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Revue </a:t>
            </a:r>
            <a:r>
              <a:rPr lang="en-US" sz="4300" b="1" dirty="0" err="1">
                <a:solidFill>
                  <a:srgbClr val="1155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annuelle</a:t>
            </a:r>
            <a:r>
              <a:rPr lang="en-US" sz="4300" b="1" dirty="0">
                <a:solidFill>
                  <a:srgbClr val="1155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2025</a:t>
            </a:r>
            <a:endParaRPr sz="4300" b="1" dirty="0">
              <a:solidFill>
                <a:srgbClr val="1155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20204"/>
              <a:buNone/>
            </a:pPr>
            <a:r>
              <a:rPr lang="en-US" sz="2400" b="1" i="1" dirty="0">
                <a:solidFill>
                  <a:srgbClr val="1155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Caneva</a:t>
            </a:r>
            <a:r>
              <a:rPr lang="" altLang="en-US" sz="2400" b="1" i="1" dirty="0">
                <a:solidFill>
                  <a:srgbClr val="1155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</a:t>
            </a:r>
            <a:r>
              <a:rPr lang="en-US" sz="2400" b="1" i="1" dirty="0">
                <a:solidFill>
                  <a:srgbClr val="1155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de provinces </a:t>
            </a:r>
            <a:r>
              <a:rPr lang="en-US" sz="2400" b="1" i="1" dirty="0" err="1">
                <a:solidFill>
                  <a:srgbClr val="1155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ayant</a:t>
            </a:r>
            <a:r>
              <a:rPr lang="en-US" sz="2400" b="1" i="1" dirty="0">
                <a:solidFill>
                  <a:srgbClr val="1155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2400" b="1" i="1" dirty="0" err="1">
                <a:solidFill>
                  <a:srgbClr val="1155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organisés</a:t>
            </a:r>
            <a:r>
              <a:rPr lang="en-US" sz="2400" b="1" i="1" dirty="0">
                <a:solidFill>
                  <a:srgbClr val="1155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des activités spécifiques </a:t>
            </a:r>
            <a:r>
              <a:rPr lang="en-US" sz="2400" b="1" i="1" dirty="0" err="1">
                <a:solidFill>
                  <a:srgbClr val="1155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ou</a:t>
            </a:r>
            <a:r>
              <a:rPr lang="en-US" sz="2400" b="1" i="1" dirty="0">
                <a:solidFill>
                  <a:srgbClr val="1155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2400" b="1" i="1" dirty="0" err="1">
                <a:solidFill>
                  <a:srgbClr val="1155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approches</a:t>
            </a:r>
            <a:r>
              <a:rPr lang="en-US" sz="2400" b="1" i="1" dirty="0">
                <a:solidFill>
                  <a:srgbClr val="1155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2400" b="1" i="1" dirty="0" err="1">
                <a:solidFill>
                  <a:srgbClr val="1155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innovantes</a:t>
            </a:r>
            <a:r>
              <a:rPr lang="en-US" sz="2400" b="1" i="1" dirty="0">
                <a:solidFill>
                  <a:srgbClr val="1155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: FAE, IPVS</a:t>
            </a:r>
            <a:r>
              <a:rPr lang="" altLang="en-US" sz="2400" b="1" i="1" dirty="0">
                <a:solidFill>
                  <a:srgbClr val="1155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,</a:t>
            </a:r>
            <a:r>
              <a:rPr lang="en-US" sz="2400" b="1" i="1" dirty="0">
                <a:solidFill>
                  <a:srgbClr val="1155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2400" b="1" i="1" dirty="0" err="1">
                <a:solidFill>
                  <a:srgbClr val="1155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stratégies</a:t>
            </a:r>
            <a:r>
              <a:rPr lang="en-US" sz="2400" b="1" i="1" dirty="0">
                <a:solidFill>
                  <a:srgbClr val="1155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2400" b="1" i="1" dirty="0" err="1">
                <a:solidFill>
                  <a:srgbClr val="1155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spéciales</a:t>
            </a:r>
            <a:r>
              <a:rPr lang="" altLang="en-US" sz="2400" b="1" i="1" dirty="0">
                <a:solidFill>
                  <a:srgbClr val="1155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et introduction des nouveaux vaccins (VAP, RR, etc)</a:t>
            </a:r>
            <a:endParaRPr sz="2400" b="1" i="1" dirty="0">
              <a:solidFill>
                <a:srgbClr val="1155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20204"/>
              <a:buNone/>
            </a:pPr>
            <a:endParaRPr lang="" altLang="en-US" sz="4300" b="1" i="1" dirty="0">
              <a:solidFill>
                <a:srgbClr val="1155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20204"/>
              <a:buNone/>
            </a:pPr>
            <a:r>
              <a:rPr lang="" altLang="en-US" sz="4300" b="1" i="1" dirty="0">
                <a:solidFill>
                  <a:srgbClr val="1155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</a:t>
            </a:r>
            <a:r>
              <a:rPr lang="en-US" sz="4300" b="1" i="1" dirty="0">
                <a:solidFill>
                  <a:srgbClr val="1155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rovince</a:t>
            </a:r>
            <a:r>
              <a:rPr lang="" altLang="en-US" sz="4300" b="1" i="1" dirty="0">
                <a:solidFill>
                  <a:srgbClr val="1155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de la Tshopo</a:t>
            </a:r>
          </a:p>
        </p:txBody>
      </p:sp>
      <p:sp>
        <p:nvSpPr>
          <p:cNvPr id="149" name="Google Shape;149;g3aabc9d920d_0_191"/>
          <p:cNvSpPr/>
          <p:nvPr/>
        </p:nvSpPr>
        <p:spPr>
          <a:xfrm>
            <a:off x="3661467" y="1516428"/>
            <a:ext cx="373500" cy="18672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 panose="020B0604020202020204"/>
              <a:buNone/>
            </a:pPr>
            <a:endParaRPr sz="17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50" name="Google Shape;150;g3aabc9d920d_0_191"/>
          <p:cNvSpPr/>
          <p:nvPr/>
        </p:nvSpPr>
        <p:spPr>
          <a:xfrm>
            <a:off x="3659879" y="1516428"/>
            <a:ext cx="373500" cy="1867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 panose="020B0604020202020204"/>
              <a:buNone/>
            </a:pPr>
            <a:endParaRPr sz="17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51" name="Google Shape;151;g3aabc9d920d_0_191"/>
          <p:cNvSpPr txBox="1"/>
          <p:nvPr/>
        </p:nvSpPr>
        <p:spPr>
          <a:xfrm>
            <a:off x="4717875" y="6162200"/>
            <a:ext cx="45252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20204"/>
              <a:buNone/>
            </a:pPr>
            <a:r>
              <a:rPr lang="en-US" sz="2000" b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Decembre 2025</a:t>
            </a:r>
            <a:endParaRPr sz="2000" b="1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aabc9d920d_0_199"/>
          <p:cNvSpPr txBox="1"/>
          <p:nvPr/>
        </p:nvSpPr>
        <p:spPr>
          <a:xfrm>
            <a:off x="458592" y="317941"/>
            <a:ext cx="11274900" cy="7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en-US" sz="2700" b="1" i="0" u="none" strike="noStrike" cap="none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Agenda</a:t>
            </a:r>
            <a:endParaRPr sz="2700" b="0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57" name="Google Shape;157;g3aabc9d920d_0_199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58" name="Google Shape;158;g3aabc9d920d_0_199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59" name="Google Shape;159;g3aabc9d920d_0_199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60" name="Google Shape;160;g3aabc9d920d_0_199"/>
          <p:cNvSpPr txBox="1"/>
          <p:nvPr/>
        </p:nvSpPr>
        <p:spPr>
          <a:xfrm>
            <a:off x="458508" y="845389"/>
            <a:ext cx="10822525" cy="4903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609600" marR="0" lvl="0" indent="-476250" algn="l" rtl="0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 panose="02020603050405020304"/>
              <a:buAutoNum type="arabicPeriod"/>
            </a:pPr>
            <a:r>
              <a:rPr lang="en-US" sz="27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Présentation</a:t>
            </a:r>
            <a:r>
              <a:rPr lang="en-US" sz="27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de la Province</a:t>
            </a:r>
            <a:endParaRPr sz="27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609600" marR="0" lvl="0" indent="-476250" algn="l" rtl="0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 panose="02020603050405020304"/>
              <a:buAutoNum type="arabicPeriod"/>
            </a:pPr>
            <a:r>
              <a:rPr lang="en-US" sz="27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Presentation des activités</a:t>
            </a:r>
            <a:endParaRPr sz="27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609600" marR="0" lvl="0" indent="-476250" algn="l" rtl="0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 panose="02020603050405020304"/>
              <a:buAutoNum type="arabicPeriod"/>
            </a:pPr>
            <a:r>
              <a:rPr lang="en-US" sz="27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Résultats</a:t>
            </a:r>
            <a:r>
              <a:rPr lang="en-US" sz="27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obtenus (zones couvertes, impact sur la couverture)</a:t>
            </a:r>
            <a:endParaRPr sz="27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609600" marR="0" lvl="0" indent="-476250" algn="l" rtl="0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 panose="02020603050405020304"/>
              <a:buAutoNum type="arabicPeriod"/>
            </a:pPr>
            <a:r>
              <a:rPr lang="en-US" sz="27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Facteurs</a:t>
            </a:r>
            <a:r>
              <a:rPr lang="en-US" sz="27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de succès</a:t>
            </a:r>
            <a:endParaRPr sz="27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609600" marR="0" lvl="0" indent="-476250" algn="l" rtl="0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 panose="02020603050405020304"/>
              <a:buAutoNum type="arabicPeriod"/>
            </a:pPr>
            <a:r>
              <a:rPr lang="en-US" sz="27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Défis rencontrés</a:t>
            </a:r>
            <a:endParaRPr sz="27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609600" marR="0" lvl="0" indent="-476250" algn="l" rtl="0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 panose="02020603050405020304"/>
              <a:buAutoNum type="arabicPeriod"/>
            </a:pPr>
            <a:r>
              <a:rPr lang="en-US" sz="27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Bonnes pratiques à </a:t>
            </a:r>
            <a:r>
              <a:rPr lang="en-US" sz="27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capitaliser</a:t>
            </a:r>
            <a:endParaRPr sz="27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609600" marR="0" lvl="0" indent="-476250" algn="l" rtl="0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 panose="02020603050405020304"/>
              <a:buAutoNum type="arabicPeriod"/>
            </a:pPr>
            <a:r>
              <a:rPr lang="en-US" sz="27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Analyse</a:t>
            </a:r>
            <a:r>
              <a:rPr lang="en-US" sz="27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FFOM</a:t>
            </a:r>
            <a:endParaRPr sz="27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609600" marR="0" lvl="0" indent="-476250" algn="l" rtl="0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 panose="02020603050405020304"/>
              <a:buAutoNum type="arabicPeriod"/>
            </a:pPr>
            <a:r>
              <a:rPr lang="en-US" sz="27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Recommandations</a:t>
            </a:r>
            <a:r>
              <a:rPr lang="en-US" sz="27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pour 2026</a:t>
            </a:r>
            <a:endParaRPr sz="27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aabc9d920d_0_207"/>
          <p:cNvSpPr txBox="1"/>
          <p:nvPr/>
        </p:nvSpPr>
        <p:spPr>
          <a:xfrm>
            <a:off x="458592" y="195390"/>
            <a:ext cx="11274900" cy="3984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en-US" sz="2700" dirty="0" err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Profil</a:t>
            </a:r>
            <a:r>
              <a:rPr lang="en-US" sz="2700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des </a:t>
            </a:r>
            <a:r>
              <a:rPr lang="en-US" sz="2700" dirty="0" err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antennes</a:t>
            </a:r>
            <a:endParaRPr sz="2700" b="0" i="0" u="none" strike="noStrike" cap="none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b="0" i="0" u="none" strike="noStrike" cap="none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66" name="Google Shape;166;g3aabc9d920d_0_207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67" name="Google Shape;167;g3aabc9d920d_0_207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68" name="Google Shape;168;g3aabc9d920d_0_207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169" name="Google Shape;169;g3aabc9d920d_0_207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w="12700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1" name="Google Shape;171;g3aabc9d920d_0_207"/>
          <p:cNvSpPr/>
          <p:nvPr/>
        </p:nvSpPr>
        <p:spPr>
          <a:xfrm>
            <a:off x="6087850" y="763573"/>
            <a:ext cx="5890408" cy="5914070"/>
          </a:xfrm>
          <a:prstGeom prst="rect">
            <a:avLst/>
          </a:prstGeom>
          <a:solidFill>
            <a:schemeClr val="bg1"/>
          </a:solidFill>
          <a:ln w="98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4100" tIns="94100" rIns="94100" bIns="941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238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 panose="02020603050405020304"/>
              <a:buChar char="●"/>
            </a:pPr>
            <a:r>
              <a:rPr lang="en-US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Nombre d’antennes PEV: </a:t>
            </a:r>
            <a:r>
              <a:rPr lang="en-US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2</a:t>
            </a:r>
            <a:endParaRPr b="1" dirty="0">
              <a:solidFill>
                <a:schemeClr val="dk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238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 panose="02020603050405020304"/>
              <a:buChar char="●"/>
            </a:pPr>
            <a:r>
              <a:rPr lang="en-US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Nombre de ZS: Total (</a:t>
            </a:r>
            <a:r>
              <a:rPr lang="en-US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23</a:t>
            </a:r>
            <a:r>
              <a:rPr lang="en-US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), FAE (</a:t>
            </a:r>
            <a:r>
              <a:rPr lang="en-US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442</a:t>
            </a:r>
            <a:r>
              <a:rPr lang="en-US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)</a:t>
            </a:r>
            <a:endParaRPr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238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 panose="02020603050405020304"/>
              <a:buChar char="●"/>
            </a:pPr>
            <a:r>
              <a:rPr lang="en-US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Nombre d’AS: Total (</a:t>
            </a:r>
            <a:r>
              <a:rPr lang="en-US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442</a:t>
            </a:r>
            <a:r>
              <a:rPr lang="en-US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), FAE (</a:t>
            </a:r>
            <a:r>
              <a:rPr lang="en-US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362</a:t>
            </a:r>
            <a:r>
              <a:rPr lang="en-US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)</a:t>
            </a:r>
            <a:endParaRPr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238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 panose="02020603050405020304"/>
              <a:buChar char="●"/>
            </a:pPr>
            <a:r>
              <a:rPr lang="en-US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Nombre </a:t>
            </a:r>
            <a:r>
              <a:rPr lang="en-US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d’ESS</a:t>
            </a:r>
            <a:r>
              <a:rPr lang="en-US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:  ++1033</a:t>
            </a:r>
            <a:endParaRPr b="1" dirty="0">
              <a:solidFill>
                <a:schemeClr val="dk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238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 panose="02020603050405020304"/>
              <a:buChar char="●"/>
            </a:pPr>
            <a:r>
              <a:rPr lang="en-US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Nombre </a:t>
            </a:r>
            <a:r>
              <a:rPr lang="en-US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d’ESS</a:t>
            </a:r>
            <a:r>
              <a:rPr lang="en-US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qui vaccinent: Total (492), FAE (362)</a:t>
            </a:r>
            <a:endParaRPr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238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 panose="02020603050405020304"/>
              <a:buChar char="●"/>
            </a:pPr>
            <a:r>
              <a:rPr lang="en-US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Pop totale:  </a:t>
            </a:r>
            <a:r>
              <a:rPr lang="en-US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4 687 555 </a:t>
            </a:r>
            <a:endParaRPr b="1" dirty="0">
              <a:solidFill>
                <a:schemeClr val="dk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238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 panose="02020603050405020304"/>
              <a:buChar char="●"/>
            </a:pPr>
            <a:r>
              <a:rPr lang="en-US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Pop de 0-11 mois: </a:t>
            </a:r>
            <a:r>
              <a:rPr lang="en-US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187 502 </a:t>
            </a:r>
            <a:endParaRPr b="1" dirty="0">
              <a:solidFill>
                <a:schemeClr val="dk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238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 panose="02020603050405020304"/>
              <a:buChar char="●"/>
            </a:pPr>
            <a:r>
              <a:rPr lang="en-US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Pop de 12-23 mois:</a:t>
            </a:r>
            <a:endParaRPr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238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 panose="02020603050405020304"/>
              <a:buChar char="●"/>
            </a:pPr>
            <a:r>
              <a:rPr lang="en-US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Pop de 0-59 mois:  </a:t>
            </a:r>
            <a:r>
              <a:rPr lang="en-US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885 948 </a:t>
            </a:r>
            <a:endParaRPr b="1" dirty="0">
              <a:solidFill>
                <a:schemeClr val="dk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indent="-323850">
              <a:lnSpc>
                <a:spcPct val="200000"/>
              </a:lnSpc>
              <a:buClr>
                <a:schemeClr val="dk1"/>
              </a:buClr>
              <a:buSzPts val="1500"/>
              <a:buFont typeface="Times New Roman" panose="02020603050405020304"/>
              <a:buChar char="●"/>
            </a:pPr>
            <a:r>
              <a:rPr lang="en-US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Couverture en ECF: </a:t>
            </a:r>
            <a:r>
              <a:rPr lang="fr-FR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96</a:t>
            </a:r>
            <a:r>
              <a:rPr lang="fr-FR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/>
                <a:cs typeface="Times New Roman" panose="02020603050405020304"/>
                <a:sym typeface="Times New Roman" panose="02020603050405020304"/>
              </a:rPr>
              <a:t>% </a:t>
            </a:r>
            <a:r>
              <a:rPr lang="fr-FR" dirty="0">
                <a:solidFill>
                  <a:schemeClr val="dk1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</a:rPr>
              <a:t>(426/442 AS) dont </a:t>
            </a:r>
            <a:r>
              <a:rPr lang="fr-FR" b="1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</a:rPr>
              <a:t>85 en pannes</a:t>
            </a:r>
            <a:endParaRPr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238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 panose="02020603050405020304"/>
              <a:buChar char="●"/>
            </a:pPr>
            <a:r>
              <a:rPr lang="en-US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Séances de vaccination </a:t>
            </a:r>
            <a:r>
              <a:rPr lang="en-US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planifiées</a:t>
            </a:r>
            <a:r>
              <a:rPr lang="en-US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: fixe (…), </a:t>
            </a:r>
            <a:r>
              <a:rPr lang="en-US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avancée</a:t>
            </a:r>
            <a:r>
              <a:rPr lang="en-US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(…), porte à porte (…), point de concentration (…), OVM (…)</a:t>
            </a:r>
            <a:endParaRPr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238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 panose="02020603050405020304"/>
              <a:buChar char="●"/>
            </a:pPr>
            <a:r>
              <a:rPr lang="en-US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Existence du plan de </a:t>
            </a:r>
            <a:r>
              <a:rPr lang="en-US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contextualisation</a:t>
            </a:r>
            <a:r>
              <a:rPr lang="en-US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FAE DPS: OUI</a:t>
            </a:r>
            <a:endParaRPr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238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 panose="02020603050405020304"/>
              <a:buChar char="●"/>
            </a:pPr>
            <a:r>
              <a:rPr lang="en-US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% des ZS </a:t>
            </a:r>
            <a:r>
              <a:rPr lang="en-US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ayant</a:t>
            </a:r>
            <a:r>
              <a:rPr lang="en-US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intégré</a:t>
            </a:r>
            <a:r>
              <a:rPr lang="en-US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les activités FAE dans le PAO : 100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9911E620-21E4-F69B-29DE-8DC4C0EEDA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224" y="791477"/>
            <a:ext cx="5501860" cy="2862482"/>
          </a:xfrm>
          <a:prstGeom prst="rect">
            <a:avLst/>
          </a:prstGeom>
          <a:ln w="19050">
            <a:solidFill>
              <a:sysClr val="windowText" lastClr="000000"/>
            </a:solidFill>
          </a:ln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98F64CD5-9396-A860-4A99-203F483E0D2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78" t="9484" r="18178" b="6111"/>
          <a:stretch/>
        </p:blipFill>
        <p:spPr>
          <a:xfrm>
            <a:off x="307966" y="3653959"/>
            <a:ext cx="5535118" cy="3023684"/>
          </a:xfrm>
          <a:prstGeom prst="rect">
            <a:avLst/>
          </a:prstGeom>
          <a:ln>
            <a:solidFill>
              <a:srgbClr val="5B9BD5"/>
            </a:solidFill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aabc9d920d_0_226"/>
          <p:cNvSpPr txBox="1"/>
          <p:nvPr/>
        </p:nvSpPr>
        <p:spPr>
          <a:xfrm>
            <a:off x="458592" y="91693"/>
            <a:ext cx="11274900" cy="419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en-US" sz="2400" b="1" dirty="0">
                <a:solidFill>
                  <a:srgbClr val="1155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Presentation des </a:t>
            </a:r>
            <a:r>
              <a:rPr lang="en-US" sz="2400" b="1" dirty="0" err="1">
                <a:solidFill>
                  <a:srgbClr val="1155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activités</a:t>
            </a:r>
            <a:endParaRPr sz="2400" b="1" dirty="0">
              <a:solidFill>
                <a:srgbClr val="1155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400" b="1" dirty="0">
              <a:solidFill>
                <a:srgbClr val="1155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400" b="1" dirty="0">
              <a:solidFill>
                <a:srgbClr val="1155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400" b="1" dirty="0">
              <a:solidFill>
                <a:srgbClr val="1155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400" b="1" i="0" u="none" strike="noStrike" cap="none" dirty="0">
              <a:solidFill>
                <a:srgbClr val="1155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77" name="Google Shape;177;g3aabc9d920d_0_226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78" name="Google Shape;178;g3aabc9d920d_0_226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79" name="Google Shape;179;g3aabc9d920d_0_226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4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180" name="Google Shape;180;g3aabc9d920d_0_226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w="12700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graphicFrame>
        <p:nvGraphicFramePr>
          <p:cNvPr id="2" name="Tableau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3144882"/>
              </p:ext>
            </p:extLst>
          </p:nvPr>
        </p:nvGraphicFramePr>
        <p:xfrm>
          <a:off x="226246" y="503226"/>
          <a:ext cx="11909573" cy="6358504"/>
        </p:xfrm>
        <a:graphic>
          <a:graphicData uri="http://schemas.openxmlformats.org/drawingml/2006/table">
            <a:tbl>
              <a:tblPr/>
              <a:tblGrid>
                <a:gridCol w="1989053">
                  <a:extLst>
                    <a:ext uri="{9D8B030D-6E8A-4147-A177-3AD203B41FA5}">
                      <a16:colId xmlns:a16="http://schemas.microsoft.com/office/drawing/2014/main" val="456049261"/>
                    </a:ext>
                  </a:extLst>
                </a:gridCol>
                <a:gridCol w="7588577">
                  <a:extLst>
                    <a:ext uri="{9D8B030D-6E8A-4147-A177-3AD203B41FA5}">
                      <a16:colId xmlns:a16="http://schemas.microsoft.com/office/drawing/2014/main" val="2523465516"/>
                    </a:ext>
                  </a:extLst>
                </a:gridCol>
                <a:gridCol w="1102936">
                  <a:extLst>
                    <a:ext uri="{9D8B030D-6E8A-4147-A177-3AD203B41FA5}">
                      <a16:colId xmlns:a16="http://schemas.microsoft.com/office/drawing/2014/main" val="401191938"/>
                    </a:ext>
                  </a:extLst>
                </a:gridCol>
                <a:gridCol w="1229007">
                  <a:extLst>
                    <a:ext uri="{9D8B030D-6E8A-4147-A177-3AD203B41FA5}">
                      <a16:colId xmlns:a16="http://schemas.microsoft.com/office/drawing/2014/main" val="1375124371"/>
                    </a:ext>
                  </a:extLst>
                </a:gridCol>
              </a:tblGrid>
              <a:tr h="433169"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Activités spécifiques ou approches spéciales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Objectifs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Périmetre</a:t>
                      </a: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d’intervention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02113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1" dirty="0">
                          <a:solidFill>
                            <a:srgbClr val="1155CC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FAE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CD" sz="1200" b="0" i="0" u="none" strike="noStrike" cap="none" dirty="0">
                          <a:solidFill>
                            <a:srgbClr val="000000"/>
                          </a:solidFill>
                          <a:latin typeface="Times New Roman"/>
                          <a:ea typeface="+mn-ea"/>
                          <a:cs typeface="Times New Roman"/>
                          <a:sym typeface="Arial" panose="020B0604020202020204"/>
                        </a:rPr>
                        <a:t>Identification des EZD et ESV 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CD" sz="1200" b="1" i="0" u="none" strike="noStrike" cap="none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  <a:sym typeface="Arial" panose="020B0604020202020204"/>
                        </a:rPr>
                        <a:t>Vaccination porte à porte </a:t>
                      </a:r>
                      <a:r>
                        <a:rPr lang="fr-CD" sz="1200" b="0" i="0" u="none" strike="noStrike" cap="none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  <a:sym typeface="Arial" panose="020B0604020202020204"/>
                        </a:rPr>
                        <a:t>dans le rayon de 5 Km des centres santé </a:t>
                      </a:r>
                      <a:endParaRPr lang="fr-FR" sz="1200" b="0" i="0" u="none" strike="noStrike" cap="none" dirty="0">
                        <a:solidFill>
                          <a:schemeClr val="tx1"/>
                        </a:solidFill>
                        <a:latin typeface="Times New Roman"/>
                        <a:ea typeface="Times New Roman" panose="02020603050405020304"/>
                        <a:cs typeface="Times New Roman"/>
                        <a:sym typeface="Times New Roman" panose="02020603050405020304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1200" b="0" i="0" u="none" strike="noStrike" cap="none" dirty="0">
                          <a:solidFill>
                            <a:schemeClr val="tx1"/>
                          </a:solidFill>
                          <a:latin typeface="Times New Roman"/>
                          <a:ea typeface="Times New Roman" panose="02020603050405020304"/>
                          <a:cs typeface="Times New Roman"/>
                          <a:sym typeface="Times New Roman" panose="02020603050405020304"/>
                        </a:rPr>
                        <a:t> </a:t>
                      </a:r>
                      <a:r>
                        <a:rPr lang="fr-CD" sz="1200" b="0" i="0" u="none" strike="noStrike" cap="none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  <a:sym typeface="Arial" panose="020B0604020202020204"/>
                        </a:rPr>
                        <a:t>Stratégies avancées appuyées par la cartographie des enfants de l’AS  dans </a:t>
                      </a:r>
                      <a:r>
                        <a:rPr lang="fr-CD" sz="1200" b="1" i="0" u="none" strike="noStrike" cap="none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  <a:sym typeface="Arial" panose="020B0604020202020204"/>
                        </a:rPr>
                        <a:t>les sites éloignés à forte concentration des enfants zéro doses et sous-vaccinés</a:t>
                      </a:r>
                      <a:endParaRPr lang="fr-FR" sz="1200" b="1" i="0" u="none" strike="noStrike" cap="none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  <a:sym typeface="Times New Roman" panose="02020603050405020304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1200" b="1" i="0" u="none" strike="noStrike" cap="none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  <a:sym typeface="Times New Roman" panose="02020603050405020304"/>
                        </a:rPr>
                        <a:t>V</a:t>
                      </a:r>
                      <a:r>
                        <a:rPr lang="fr-CD" sz="1200" b="1" i="0" u="none" strike="noStrike" cap="none" dirty="0" err="1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  <a:sym typeface="Arial" panose="020B0604020202020204"/>
                        </a:rPr>
                        <a:t>accination</a:t>
                      </a:r>
                      <a:r>
                        <a:rPr lang="fr-CD" sz="1200" b="1" i="0" u="none" strike="noStrike" cap="none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  <a:sym typeface="Arial" panose="020B0604020202020204"/>
                        </a:rPr>
                        <a:t> à tout contact pour la réduction des occasions manquées de vaccination </a:t>
                      </a:r>
                      <a:r>
                        <a:rPr lang="fr-CD" sz="1200" b="0" i="0" u="none" strike="noStrike" cap="none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  <a:sym typeface="Arial" panose="020B0604020202020204"/>
                        </a:rPr>
                        <a:t>(OMV) au cours des activités curatives et préventives dans les Etablissements des soins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CD" sz="1200" b="1" i="0" u="none" strike="noStrike" cap="none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  <a:sym typeface="Arial" panose="020B0604020202020204"/>
                        </a:rPr>
                        <a:t>Vaccination dans les établissements des soins avec des horaires adaptés </a:t>
                      </a:r>
                      <a:r>
                        <a:rPr lang="fr-CD" sz="1200" b="0" i="0" u="none" strike="noStrike" cap="none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  <a:sym typeface="Arial" panose="020B0604020202020204"/>
                        </a:rPr>
                        <a:t>aux disponibilités des mères et des adolescentes (</a:t>
                      </a:r>
                      <a:r>
                        <a:rPr lang="fr-CD" sz="1200" b="1" i="0" u="none" strike="noStrike" cap="none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  <a:sym typeface="Arial" panose="020B0604020202020204"/>
                        </a:rPr>
                        <a:t>week-end, jours fériés</a:t>
                      </a:r>
                      <a:r>
                        <a:rPr lang="fr-CD" sz="1200" b="0" i="0" u="none" strike="noStrike" cap="none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  <a:sym typeface="Arial" panose="020B0604020202020204"/>
                        </a:rPr>
                        <a:t>, …) </a:t>
                      </a:r>
                      <a:endParaRPr lang="fr-FR" sz="1200" b="0" i="0" u="none" strike="noStrike" cap="none" dirty="0">
                        <a:solidFill>
                          <a:schemeClr val="tx1"/>
                        </a:solidFill>
                        <a:latin typeface="Times New Roman"/>
                        <a:ea typeface="Times New Roman" panose="02020603050405020304"/>
                        <a:cs typeface="Times New Roman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fr-CD" sz="1400" b="1" dirty="0">
                          <a:solidFill>
                            <a:srgbClr val="0070C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35%</a:t>
                      </a:r>
                    </a:p>
                    <a:p>
                      <a:pPr algn="ctr" fontAlgn="t"/>
                      <a:endParaRPr lang="en-US" sz="1400" b="1" i="1" u="none" strike="noStrike" dirty="0"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CD" sz="1600" b="1" dirty="0">
                          <a:solidFill>
                            <a:srgbClr val="0070C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19/23</a:t>
                      </a:r>
                      <a:endParaRPr sz="1600" b="1" dirty="0">
                        <a:solidFill>
                          <a:srgbClr val="0070C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5093243"/>
                  </a:ext>
                </a:extLst>
              </a:tr>
              <a:tr h="490782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fr-CD" sz="1400" b="1" dirty="0">
                          <a:solidFill>
                            <a:srgbClr val="0070C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GRAND</a:t>
                      </a:r>
                      <a:r>
                        <a:rPr lang="fr-CD" sz="1400" b="1" baseline="0" dirty="0">
                          <a:solidFill>
                            <a:srgbClr val="0070C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RATTRAPAGE</a:t>
                      </a:r>
                      <a:endParaRPr lang="fr-CD" sz="1400" b="1" dirty="0">
                        <a:solidFill>
                          <a:srgbClr val="0070C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CD" sz="1200" b="1" i="0" u="none" strike="noStrike" cap="none" dirty="0">
                          <a:solidFill>
                            <a:srgbClr val="000000"/>
                          </a:solidFill>
                          <a:latin typeface="Times New Roman"/>
                          <a:ea typeface="+mn-ea"/>
                          <a:cs typeface="Times New Roman"/>
                          <a:sym typeface="Arial" panose="020B0604020202020204"/>
                        </a:rPr>
                        <a:t>Dénombrement de la population </a:t>
                      </a:r>
                      <a:r>
                        <a:rPr lang="fr-CD" sz="1200" b="0" i="0" u="none" strike="noStrike" cap="none" dirty="0">
                          <a:solidFill>
                            <a:srgbClr val="000000"/>
                          </a:solidFill>
                          <a:latin typeface="Times New Roman"/>
                          <a:ea typeface="+mn-ea"/>
                          <a:cs typeface="Times New Roman"/>
                          <a:sym typeface="Arial" panose="020B0604020202020204"/>
                        </a:rPr>
                        <a:t>dans tous les villages par les CAC de chaque village/quartier/localité 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CD" sz="1200" b="1" i="0" u="none" strike="noStrike" cap="none" dirty="0">
                          <a:solidFill>
                            <a:srgbClr val="000000"/>
                          </a:solidFill>
                          <a:latin typeface="Times New Roman"/>
                          <a:ea typeface="+mn-ea"/>
                          <a:cs typeface="Times New Roman"/>
                          <a:sym typeface="Arial" panose="020B0604020202020204"/>
                        </a:rPr>
                        <a:t>Identification des enfants cibles </a:t>
                      </a:r>
                      <a:r>
                        <a:rPr lang="fr-CD" sz="1200" b="0" i="0" u="none" strike="noStrike" cap="none" dirty="0">
                          <a:solidFill>
                            <a:srgbClr val="000000"/>
                          </a:solidFill>
                          <a:latin typeface="Times New Roman"/>
                          <a:ea typeface="+mn-ea"/>
                          <a:cs typeface="Times New Roman"/>
                          <a:sym typeface="Arial" panose="020B0604020202020204"/>
                        </a:rPr>
                        <a:t>(0-23 mois qui recevront tous les antigènes ; </a:t>
                      </a:r>
                      <a:r>
                        <a:rPr lang="fr-CD" sz="1200" b="1" i="0" u="none" strike="noStrike" cap="none" dirty="0">
                          <a:solidFill>
                            <a:srgbClr val="000000"/>
                          </a:solidFill>
                          <a:latin typeface="Times New Roman"/>
                          <a:ea typeface="+mn-ea"/>
                          <a:cs typeface="Times New Roman"/>
                          <a:sym typeface="Arial" panose="020B0604020202020204"/>
                        </a:rPr>
                        <a:t>et  ceux de 24 -59 mois  recevront uniquement 3 antigènes : Penta, VPI et VAR</a:t>
                      </a:r>
                      <a:r>
                        <a:rPr lang="fr-CD" sz="1200" b="0" i="0" u="none" strike="noStrike" cap="none" dirty="0">
                          <a:solidFill>
                            <a:srgbClr val="000000"/>
                          </a:solidFill>
                          <a:latin typeface="Times New Roman"/>
                          <a:ea typeface="+mn-ea"/>
                          <a:cs typeface="Times New Roman"/>
                          <a:sym typeface="Arial" panose="020B0604020202020204"/>
                        </a:rPr>
                        <a:t>))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CD" sz="1200" b="1" i="0" u="none" strike="noStrike" cap="none" dirty="0">
                          <a:solidFill>
                            <a:srgbClr val="000000"/>
                          </a:solidFill>
                          <a:latin typeface="Times New Roman"/>
                          <a:ea typeface="+mn-ea"/>
                          <a:cs typeface="Times New Roman"/>
                          <a:sym typeface="Arial" panose="020B0604020202020204"/>
                        </a:rPr>
                        <a:t>Elaboration des micros plans </a:t>
                      </a:r>
                      <a:r>
                        <a:rPr lang="fr-CD" sz="1200" b="0" i="0" u="none" strike="noStrike" cap="none" dirty="0">
                          <a:solidFill>
                            <a:srgbClr val="000000"/>
                          </a:solidFill>
                          <a:latin typeface="Times New Roman"/>
                          <a:ea typeface="+mn-ea"/>
                          <a:cs typeface="Times New Roman"/>
                          <a:sym typeface="Arial" panose="020B0604020202020204"/>
                        </a:rPr>
                        <a:t>en se basant sur la population dénombrée</a:t>
                      </a:r>
                      <a:endParaRPr lang="fr-FR" sz="1200" b="0" i="0" u="none" strike="noStrike" cap="none" dirty="0">
                        <a:solidFill>
                          <a:srgbClr val="000000"/>
                        </a:solidFill>
                        <a:latin typeface="Times New Roman"/>
                        <a:ea typeface="+mn-ea"/>
                        <a:cs typeface="Times New Roman"/>
                        <a:sym typeface="Arial" panose="020B0604020202020204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1200" b="1" i="0" u="none" strike="noStrike" cap="none" dirty="0">
                          <a:solidFill>
                            <a:srgbClr val="000000"/>
                          </a:solidFill>
                          <a:latin typeface="Times New Roman"/>
                          <a:ea typeface="+mn-ea"/>
                          <a:cs typeface="Times New Roman"/>
                          <a:sym typeface="Arial" panose="020B0604020202020204"/>
                        </a:rPr>
                        <a:t>Identification et suivi des enfants ZD et SV</a:t>
                      </a:r>
                      <a:endParaRPr lang="fr-CD" sz="1200" b="1" i="0" u="none" strike="noStrike" cap="none" dirty="0">
                        <a:solidFill>
                          <a:srgbClr val="000000"/>
                        </a:solidFill>
                        <a:latin typeface="Times New Roman"/>
                        <a:ea typeface="+mn-ea"/>
                        <a:cs typeface="Times New Roman"/>
                        <a:sym typeface="Arial" panose="020B0604020202020204"/>
                      </a:endParaRPr>
                    </a:p>
                  </a:txBody>
                  <a:tcPr marL="91425" marR="91425" marT="91425" marB="914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fr-CD" sz="1400" b="1" i="0" u="none" strike="noStrike" cap="none" dirty="0">
                          <a:solidFill>
                            <a:srgbClr val="0070C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70%</a:t>
                      </a:r>
                      <a:endParaRPr lang="en-US" sz="1400" b="1" i="0" u="none" strike="noStrike" cap="none" dirty="0">
                        <a:solidFill>
                          <a:srgbClr val="0070C0"/>
                        </a:solidFill>
                        <a:latin typeface="Times New Roman" panose="02020603050405020304"/>
                        <a:cs typeface="Times New Roman" panose="02020603050405020304"/>
                        <a:sym typeface="Arial" panose="020B0604020202020204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CD" sz="1600" b="1" dirty="0">
                          <a:solidFill>
                            <a:srgbClr val="0070C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13/23</a:t>
                      </a:r>
                      <a:endParaRPr sz="1600" b="1" dirty="0">
                        <a:solidFill>
                          <a:srgbClr val="0070C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6041971"/>
                  </a:ext>
                </a:extLst>
              </a:tr>
              <a:tr h="433633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fr-FR" sz="1400" b="1" i="0" u="none" strike="noStrike" cap="none" dirty="0">
                          <a:solidFill>
                            <a:srgbClr val="0070C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VAP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fr-FR" sz="1200" b="1" i="0" u="none" strike="noStrike" cap="none" dirty="0">
                          <a:solidFill>
                            <a:srgbClr val="000000"/>
                          </a:solidFill>
                          <a:latin typeface="Times New Roman"/>
                          <a:ea typeface="+mn-ea"/>
                          <a:cs typeface="Times New Roman"/>
                          <a:sym typeface="Arial" panose="020B0604020202020204"/>
                        </a:rPr>
                        <a:t>l’introduction du vaccin contre le paludisme</a:t>
                      </a:r>
                      <a:endParaRPr sz="1200" b="1" i="0" u="none" strike="noStrike" cap="none" dirty="0">
                        <a:solidFill>
                          <a:srgbClr val="000000"/>
                        </a:solidFill>
                        <a:latin typeface="Times New Roman"/>
                        <a:ea typeface="+mn-ea"/>
                        <a:cs typeface="Times New Roman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en-US" sz="1400" b="1" i="0" u="none" strike="noStrike" cap="none" dirty="0">
                          <a:solidFill>
                            <a:srgbClr val="0070C0"/>
                          </a:solidFill>
                          <a:latin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80%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CD" sz="1600" b="1" dirty="0">
                          <a:solidFill>
                            <a:srgbClr val="0070C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23/23</a:t>
                      </a:r>
                      <a:endParaRPr sz="1600" b="1" dirty="0">
                        <a:solidFill>
                          <a:srgbClr val="0070C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5018173"/>
                  </a:ext>
                </a:extLst>
              </a:tr>
              <a:tr h="1013807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b="1" dirty="0">
                          <a:solidFill>
                            <a:srgbClr val="0070C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IPVS dans les Localités d’accès difficile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12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La cartographie dans la province et estimation de  la population sur base des données </a:t>
                      </a:r>
                      <a:r>
                        <a:rPr lang="fr-FR" sz="1200" u="none" strike="noStrike" cap="none" dirty="0" err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géo-spatiales</a:t>
                      </a:r>
                      <a:endParaRPr lang="fr-FR" sz="12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12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Définition des aires de vaccination pour les équipes des IPVS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12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La livraison </a:t>
                      </a:r>
                      <a:r>
                        <a:rPr lang="fr-FR" sz="1200" u="none" strike="noStrike" cap="none" dirty="0" err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apres</a:t>
                      </a:r>
                      <a:r>
                        <a:rPr lang="fr-FR" sz="12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12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estimation des </a:t>
                      </a:r>
                      <a:r>
                        <a:rPr lang="en-GB" sz="1200" u="none" strike="noStrike" cap="none" dirty="0" err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besoins</a:t>
                      </a:r>
                      <a:r>
                        <a:rPr lang="en-GB" sz="12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1200" u="none" strike="noStrike" cap="none" dirty="0" err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logistiques</a:t>
                      </a:r>
                      <a:r>
                        <a:rPr lang="en-GB" sz="12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fr-FR" sz="12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par zone de santé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12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Formation des équipes de vaccination à l'utilisation des outils de </a:t>
                      </a:r>
                      <a:r>
                        <a:rPr lang="fr-FR" sz="1200" u="none" strike="noStrike" cap="none" dirty="0" err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tracking</a:t>
                      </a:r>
                      <a:r>
                        <a:rPr lang="fr-FR" sz="12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et aux mesures spécifiques de vaccination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 i="0" u="none" strike="noStrike" cap="none" dirty="0" err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Suivi</a:t>
                      </a:r>
                      <a:r>
                        <a:rPr lang="en-GB" sz="1200" b="0" i="0" u="none" strike="noStrike" cap="none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de la vaccination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12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Tenir une enquête de couverture vaccinale rapide dans la province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fr-CD" sz="1400" b="1" dirty="0">
                          <a:solidFill>
                            <a:srgbClr val="0070C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50%</a:t>
                      </a:r>
                    </a:p>
                    <a:p>
                      <a:pPr algn="ctr" fontAlgn="t"/>
                      <a:endParaRPr lang="en-US" sz="1400" b="1" i="1" u="none" strike="noStrike" dirty="0"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FR" sz="1600" b="1" i="0" u="none" strike="noStrike" cap="none" dirty="0">
                          <a:solidFill>
                            <a:srgbClr val="0070C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8/23</a:t>
                      </a:r>
                      <a:endParaRPr sz="1600" b="1" i="0" u="none" strike="noStrike" cap="none" dirty="0">
                        <a:solidFill>
                          <a:srgbClr val="0070C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551999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aabc9d920d_0_234"/>
          <p:cNvSpPr txBox="1"/>
          <p:nvPr/>
        </p:nvSpPr>
        <p:spPr>
          <a:xfrm>
            <a:off x="458592" y="176536"/>
            <a:ext cx="11274900" cy="426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" sz="2700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Résultats obtenus: couverture vaccinale</a:t>
            </a: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b="0" i="0" u="none" strike="noStrike" cap="none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37" name="Google Shape;237;g3aabc9d920d_0_234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38" name="Google Shape;238;g3aabc9d920d_0_234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39" name="Google Shape;239;g3aabc9d920d_0_234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5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240" name="Google Shape;240;g3aabc9d920d_0_234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w="12700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" name="Image 1">
            <a:extLst>
              <a:ext uri="{FF2B5EF4-FFF2-40B4-BE49-F238E27FC236}">
                <a16:creationId xmlns:a16="http://schemas.microsoft.com/office/drawing/2014/main" id="{3291F807-2F39-EA58-2AD4-2F4FA5B02C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296" y="681995"/>
            <a:ext cx="11640300" cy="573029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aabc9d920d_0_390"/>
          <p:cNvSpPr txBox="1"/>
          <p:nvPr/>
        </p:nvSpPr>
        <p:spPr>
          <a:xfrm>
            <a:off x="458592" y="317941"/>
            <a:ext cx="11274900" cy="7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en-US" sz="2700" dirty="0" err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Résultats</a:t>
            </a:r>
            <a:r>
              <a:rPr lang="en-US" sz="2700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obtenus: FAE 2024-2025</a:t>
            </a: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b="0" i="0" u="none" strike="noStrike" cap="none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87" name="Google Shape;187;g3aabc9d920d_0_390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88" name="Google Shape;188;g3aabc9d920d_0_390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89" name="Google Shape;189;g3aabc9d920d_0_390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6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190" name="Google Shape;190;g3aabc9d920d_0_390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w="12700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graphicFrame>
        <p:nvGraphicFramePr>
          <p:cNvPr id="3" name="Tableau 2">
            <a:extLst>
              <a:ext uri="{FF2B5EF4-FFF2-40B4-BE49-F238E27FC236}">
                <a16:creationId xmlns:a16="http://schemas.microsoft.com/office/drawing/2014/main" id="{2B6669A2-9D75-EA39-55D4-3B1ACBFC2B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0212654"/>
              </p:ext>
            </p:extLst>
          </p:nvPr>
        </p:nvGraphicFramePr>
        <p:xfrm>
          <a:off x="458592" y="1339393"/>
          <a:ext cx="11200010" cy="4413957"/>
        </p:xfrm>
        <a:graphic>
          <a:graphicData uri="http://schemas.openxmlformats.org/drawingml/2006/table">
            <a:tbl>
              <a:tblPr/>
              <a:tblGrid>
                <a:gridCol w="2136844">
                  <a:extLst>
                    <a:ext uri="{9D8B030D-6E8A-4147-A177-3AD203B41FA5}">
                      <a16:colId xmlns:a16="http://schemas.microsoft.com/office/drawing/2014/main" val="1348580862"/>
                    </a:ext>
                  </a:extLst>
                </a:gridCol>
                <a:gridCol w="1237897">
                  <a:extLst>
                    <a:ext uri="{9D8B030D-6E8A-4147-A177-3AD203B41FA5}">
                      <a16:colId xmlns:a16="http://schemas.microsoft.com/office/drawing/2014/main" val="4210844786"/>
                    </a:ext>
                  </a:extLst>
                </a:gridCol>
                <a:gridCol w="913685">
                  <a:extLst>
                    <a:ext uri="{9D8B030D-6E8A-4147-A177-3AD203B41FA5}">
                      <a16:colId xmlns:a16="http://schemas.microsoft.com/office/drawing/2014/main" val="1065702089"/>
                    </a:ext>
                  </a:extLst>
                </a:gridCol>
                <a:gridCol w="913685">
                  <a:extLst>
                    <a:ext uri="{9D8B030D-6E8A-4147-A177-3AD203B41FA5}">
                      <a16:colId xmlns:a16="http://schemas.microsoft.com/office/drawing/2014/main" val="2119674789"/>
                    </a:ext>
                  </a:extLst>
                </a:gridCol>
                <a:gridCol w="913685">
                  <a:extLst>
                    <a:ext uri="{9D8B030D-6E8A-4147-A177-3AD203B41FA5}">
                      <a16:colId xmlns:a16="http://schemas.microsoft.com/office/drawing/2014/main" val="3157987573"/>
                    </a:ext>
                  </a:extLst>
                </a:gridCol>
                <a:gridCol w="1694738">
                  <a:extLst>
                    <a:ext uri="{9D8B030D-6E8A-4147-A177-3AD203B41FA5}">
                      <a16:colId xmlns:a16="http://schemas.microsoft.com/office/drawing/2014/main" val="4143187160"/>
                    </a:ext>
                  </a:extLst>
                </a:gridCol>
                <a:gridCol w="1694738">
                  <a:extLst>
                    <a:ext uri="{9D8B030D-6E8A-4147-A177-3AD203B41FA5}">
                      <a16:colId xmlns:a16="http://schemas.microsoft.com/office/drawing/2014/main" val="3724804390"/>
                    </a:ext>
                  </a:extLst>
                </a:gridCol>
                <a:gridCol w="1694738">
                  <a:extLst>
                    <a:ext uri="{9D8B030D-6E8A-4147-A177-3AD203B41FA5}">
                      <a16:colId xmlns:a16="http://schemas.microsoft.com/office/drawing/2014/main" val="2944810892"/>
                    </a:ext>
                  </a:extLst>
                </a:gridCol>
              </a:tblGrid>
              <a:tr h="677943"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CD" sz="16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Intervention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CD" sz="16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Nombre ZS couvertes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CD" sz="16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Nombre enfant identifié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fr-CD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CD" sz="16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Nombre Enfant récupéré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fr-CD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CD" sz="16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Contribution dans la CV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fr-C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4275858"/>
                  </a:ext>
                </a:extLst>
              </a:tr>
              <a:tr h="367645">
                <a:tc vMerge="1">
                  <a:txBody>
                    <a:bodyPr/>
                    <a:lstStyle/>
                    <a:p>
                      <a:endParaRPr lang="fr-CD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C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CD" sz="16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ZD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CD" sz="16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SV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CD" sz="16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ZD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CD" sz="16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SV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CD" sz="16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DTC1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CD" sz="16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DTC3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8825937"/>
                  </a:ext>
                </a:extLst>
              </a:tr>
              <a:tr h="561395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fr-CD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Porte à porte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D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19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D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D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D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31682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D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28395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D" sz="1600" b="1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36%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D" sz="1600" b="1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36%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2317040"/>
                  </a:ext>
                </a:extLst>
              </a:tr>
              <a:tr h="1122789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fr-CD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Point de concentration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D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19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D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D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D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2099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D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1919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D" sz="1600" b="1" i="1" u="none" strike="noStrike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2%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D" sz="1600" b="1" i="1" u="none" strike="noStrike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2%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9215448"/>
                  </a:ext>
                </a:extLst>
              </a:tr>
              <a:tr h="561395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fr-CD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OMV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D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D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D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D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20220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D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17558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D" sz="1600" b="1" i="1" u="none" strike="noStrike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23%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D" sz="1600" b="1" i="1" u="none" strike="noStrike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22%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138686"/>
                  </a:ext>
                </a:extLst>
              </a:tr>
              <a:tr h="561395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fr-CD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Horaire adapté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D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19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D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D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D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33273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D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30785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D" sz="1600" b="1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38%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D" sz="1600" b="1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39%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8156915"/>
                  </a:ext>
                </a:extLst>
              </a:tr>
              <a:tr h="561395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fr-CD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TOTAL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CD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D" sz="16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31185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D" sz="16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59053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D" sz="16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87274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D" sz="16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78657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D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D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019125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>
          <a:extLst>
            <a:ext uri="{FF2B5EF4-FFF2-40B4-BE49-F238E27FC236}">
              <a16:creationId xmlns:a16="http://schemas.microsoft.com/office/drawing/2014/main" id="{1D52D4C2-9261-D2FE-0CB7-A2A3AFE6DF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545DB418-5BE4-15F9-4282-4CC4F936C7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750" y="1457869"/>
            <a:ext cx="5978250" cy="5284648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3B4892D4-7167-979A-75A9-07901C3600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351174"/>
            <a:ext cx="5736349" cy="5391343"/>
          </a:xfrm>
          <a:prstGeom prst="rect">
            <a:avLst/>
          </a:prstGeom>
        </p:spPr>
      </p:pic>
      <p:sp>
        <p:nvSpPr>
          <p:cNvPr id="186" name="Google Shape;186;g3aabc9d920d_0_390">
            <a:extLst>
              <a:ext uri="{FF2B5EF4-FFF2-40B4-BE49-F238E27FC236}">
                <a16:creationId xmlns:a16="http://schemas.microsoft.com/office/drawing/2014/main" id="{D80C5FF3-AF47-5AE0-E286-0BF692EABF44}"/>
              </a:ext>
            </a:extLst>
          </p:cNvPr>
          <p:cNvSpPr txBox="1"/>
          <p:nvPr/>
        </p:nvSpPr>
        <p:spPr>
          <a:xfrm>
            <a:off x="458592" y="214426"/>
            <a:ext cx="11274900" cy="7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en-US" sz="2700" b="1" dirty="0" err="1">
                <a:solidFill>
                  <a:srgbClr val="1155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Résultats</a:t>
            </a:r>
            <a:r>
              <a:rPr lang="en-US" sz="2700" b="1" dirty="0">
                <a:solidFill>
                  <a:srgbClr val="1155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obtenus: FAE 2023-2025 (</a:t>
            </a:r>
            <a:r>
              <a:rPr lang="en-US" sz="2000" b="1" dirty="0">
                <a:solidFill>
                  <a:srgbClr val="1155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Identification et la recuperation des enfants ZD et SV</a:t>
            </a:r>
            <a:r>
              <a:rPr lang="en-US" sz="2700" b="1" dirty="0">
                <a:solidFill>
                  <a:srgbClr val="1155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)</a:t>
            </a:r>
            <a:endParaRPr sz="2700" b="1" dirty="0">
              <a:solidFill>
                <a:srgbClr val="1155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b="1" dirty="0">
              <a:solidFill>
                <a:srgbClr val="1155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b="1" dirty="0">
              <a:solidFill>
                <a:srgbClr val="1155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b="1" dirty="0">
              <a:solidFill>
                <a:srgbClr val="1155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b="1" dirty="0">
              <a:solidFill>
                <a:srgbClr val="1155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b="1" i="0" u="none" strike="noStrike" cap="none" dirty="0">
              <a:solidFill>
                <a:srgbClr val="1155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87" name="Google Shape;187;g3aabc9d920d_0_390">
            <a:extLst>
              <a:ext uri="{FF2B5EF4-FFF2-40B4-BE49-F238E27FC236}">
                <a16:creationId xmlns:a16="http://schemas.microsoft.com/office/drawing/2014/main" id="{0B92B541-7408-400F-A7E8-8402C6ACFD16}"/>
              </a:ext>
            </a:extLst>
          </p:cNvPr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88" name="Google Shape;188;g3aabc9d920d_0_390">
            <a:extLst>
              <a:ext uri="{FF2B5EF4-FFF2-40B4-BE49-F238E27FC236}">
                <a16:creationId xmlns:a16="http://schemas.microsoft.com/office/drawing/2014/main" id="{D86E61A7-F38B-5295-7DC8-01181225AFED}"/>
              </a:ext>
            </a:extLst>
          </p:cNvPr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89" name="Google Shape;189;g3aabc9d920d_0_390">
            <a:extLst>
              <a:ext uri="{FF2B5EF4-FFF2-40B4-BE49-F238E27FC236}">
                <a16:creationId xmlns:a16="http://schemas.microsoft.com/office/drawing/2014/main" id="{1E892B7D-16F7-A120-EB9E-63FD1F1AD437}"/>
              </a:ext>
            </a:extLst>
          </p:cNvPr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7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190" name="Google Shape;190;g3aabc9d920d_0_390">
            <a:extLst>
              <a:ext uri="{FF2B5EF4-FFF2-40B4-BE49-F238E27FC236}">
                <a16:creationId xmlns:a16="http://schemas.microsoft.com/office/drawing/2014/main" id="{53999236-F861-8688-9067-74DBC97E3D38}"/>
              </a:ext>
            </a:extLst>
          </p:cNvPr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w="12700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8" name="Image 7">
            <a:extLst>
              <a:ext uri="{FF2B5EF4-FFF2-40B4-BE49-F238E27FC236}">
                <a16:creationId xmlns:a16="http://schemas.microsoft.com/office/drawing/2014/main" id="{EA6285E8-BF37-2EE7-871E-A940679AD9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1636" y="4865301"/>
            <a:ext cx="6246963" cy="1455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22ACF22-C55F-C9D3-9ADC-7DC7B4FB9DCC}"/>
              </a:ext>
            </a:extLst>
          </p:cNvPr>
          <p:cNvSpPr/>
          <p:nvPr/>
        </p:nvSpPr>
        <p:spPr>
          <a:xfrm>
            <a:off x="235500" y="1051751"/>
            <a:ext cx="4914470" cy="319179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anose="020B0606020202030204" pitchFamily="34" charset="0"/>
              </a:rPr>
              <a:t>Identification des enfants ZD selon les attendus</a:t>
            </a:r>
            <a:endParaRPr lang="fr-CD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anose="020B060602020203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36CC7CF-40A5-873E-59D9-148FF3B0AEBF}"/>
              </a:ext>
            </a:extLst>
          </p:cNvPr>
          <p:cNvSpPr/>
          <p:nvPr/>
        </p:nvSpPr>
        <p:spPr>
          <a:xfrm>
            <a:off x="6113729" y="1031994"/>
            <a:ext cx="5221380" cy="319179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anose="020B0606020202030204" pitchFamily="34" charset="0"/>
              </a:rPr>
              <a:t>Récupération des enfants ZD selon les identifiés</a:t>
            </a:r>
            <a:endParaRPr lang="fr-CD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anose="020B0606020202030204" pitchFamily="34" charset="0"/>
            </a:endParaRPr>
          </a:p>
        </p:txBody>
      </p:sp>
      <p:sp>
        <p:nvSpPr>
          <p:cNvPr id="11" name="Étoile : 8 branches 10">
            <a:extLst>
              <a:ext uri="{FF2B5EF4-FFF2-40B4-BE49-F238E27FC236}">
                <a16:creationId xmlns:a16="http://schemas.microsoft.com/office/drawing/2014/main" id="{98BCCF4D-F88F-C512-CDF3-0DC119075DFC}"/>
              </a:ext>
            </a:extLst>
          </p:cNvPr>
          <p:cNvSpPr/>
          <p:nvPr/>
        </p:nvSpPr>
        <p:spPr>
          <a:xfrm>
            <a:off x="-359219" y="5193224"/>
            <a:ext cx="2236476" cy="1484419"/>
          </a:xfrm>
          <a:prstGeom prst="star8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anose="020B0606020202030204" pitchFamily="34" charset="0"/>
              </a:rPr>
              <a:t>31185 </a:t>
            </a:r>
            <a:r>
              <a:rPr lang="fr-FR" sz="1600" dirty="0">
                <a:latin typeface="Arial Narrow" panose="020B0606020202030204" pitchFamily="34" charset="0"/>
              </a:rPr>
              <a:t>enfants identifiés soit </a:t>
            </a:r>
            <a:r>
              <a:rPr lang="fr-FR" sz="1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anose="020B0606020202030204" pitchFamily="34" charset="0"/>
              </a:rPr>
              <a:t>47% </a:t>
            </a:r>
            <a:r>
              <a:rPr lang="fr-FR" sz="1600" dirty="0">
                <a:latin typeface="Arial Narrow" panose="020B0606020202030204" pitchFamily="34" charset="0"/>
              </a:rPr>
              <a:t>sur </a:t>
            </a:r>
            <a:r>
              <a:rPr lang="fr-FR" sz="1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anose="020B0606020202030204" pitchFamily="34" charset="0"/>
              </a:rPr>
              <a:t>++66247 </a:t>
            </a:r>
            <a:r>
              <a:rPr lang="fr-FR" sz="1600" dirty="0">
                <a:latin typeface="Arial Narrow" panose="020B0606020202030204" pitchFamily="34" charset="0"/>
              </a:rPr>
              <a:t>enfants attendus</a:t>
            </a:r>
            <a:endParaRPr lang="fr-CD" sz="1600" dirty="0">
              <a:latin typeface="Arial Narrow" panose="020B0606020202030204" pitchFamily="34" charset="0"/>
            </a:endParaRPr>
          </a:p>
        </p:txBody>
      </p:sp>
      <p:sp>
        <p:nvSpPr>
          <p:cNvPr id="13" name="Étoile : 8 branches 12">
            <a:extLst>
              <a:ext uri="{FF2B5EF4-FFF2-40B4-BE49-F238E27FC236}">
                <a16:creationId xmlns:a16="http://schemas.microsoft.com/office/drawing/2014/main" id="{A483172B-3481-A32D-F05B-AC2BBF5E6795}"/>
              </a:ext>
            </a:extLst>
          </p:cNvPr>
          <p:cNvSpPr/>
          <p:nvPr/>
        </p:nvSpPr>
        <p:spPr>
          <a:xfrm>
            <a:off x="9821474" y="5137730"/>
            <a:ext cx="2236476" cy="1484419"/>
          </a:xfrm>
          <a:prstGeom prst="star8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anose="020B0606020202030204" pitchFamily="34" charset="0"/>
              </a:rPr>
              <a:t>28596 </a:t>
            </a:r>
            <a:r>
              <a:rPr lang="fr-FR" sz="1600" dirty="0">
                <a:latin typeface="Arial Narrow" panose="020B0606020202030204" pitchFamily="34" charset="0"/>
              </a:rPr>
              <a:t>enfants identifiés soit ….</a:t>
            </a:r>
            <a:r>
              <a:rPr lang="fr-FR" sz="1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anose="020B0606020202030204" pitchFamily="34" charset="0"/>
              </a:rPr>
              <a:t>% </a:t>
            </a:r>
            <a:r>
              <a:rPr lang="fr-FR" sz="1600" dirty="0">
                <a:latin typeface="Arial Narrow" panose="020B0606020202030204" pitchFamily="34" charset="0"/>
              </a:rPr>
              <a:t>sur </a:t>
            </a:r>
            <a:r>
              <a:rPr lang="fr-FR" sz="1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anose="020B0606020202030204" pitchFamily="34" charset="0"/>
              </a:rPr>
              <a:t>++ 66247 </a:t>
            </a:r>
            <a:r>
              <a:rPr lang="fr-FR" sz="1600" dirty="0">
                <a:latin typeface="Arial Narrow" panose="020B0606020202030204" pitchFamily="34" charset="0"/>
              </a:rPr>
              <a:t>enfants attendus</a:t>
            </a:r>
            <a:endParaRPr lang="fr-CD" sz="1600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56152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>
          <a:extLst>
            <a:ext uri="{FF2B5EF4-FFF2-40B4-BE49-F238E27FC236}">
              <a16:creationId xmlns:a16="http://schemas.microsoft.com/office/drawing/2014/main" id="{658BE5A5-3C97-C96C-C549-CF38CCE7D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25481B52-B3DE-1F31-C3D6-E64DB8EC46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9944" y="1351173"/>
            <a:ext cx="6246963" cy="5515004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A911F5D6-6391-7CEF-8E5C-3B6187EF41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700" y="1370930"/>
            <a:ext cx="5696079" cy="5374927"/>
          </a:xfrm>
          <a:prstGeom prst="rect">
            <a:avLst/>
          </a:prstGeom>
        </p:spPr>
      </p:pic>
      <p:sp>
        <p:nvSpPr>
          <p:cNvPr id="186" name="Google Shape;186;g3aabc9d920d_0_390">
            <a:extLst>
              <a:ext uri="{FF2B5EF4-FFF2-40B4-BE49-F238E27FC236}">
                <a16:creationId xmlns:a16="http://schemas.microsoft.com/office/drawing/2014/main" id="{F6FA3235-F925-E483-5B7F-ECAFA19E2002}"/>
              </a:ext>
            </a:extLst>
          </p:cNvPr>
          <p:cNvSpPr txBox="1"/>
          <p:nvPr/>
        </p:nvSpPr>
        <p:spPr>
          <a:xfrm>
            <a:off x="458592" y="214426"/>
            <a:ext cx="11274900" cy="7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en-US" sz="2700" dirty="0" err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Résultats</a:t>
            </a:r>
            <a:r>
              <a:rPr lang="en-US" sz="2700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obtenus: FAE 2023-2025 (Identification et la recuperation des enfants ZD et SV)</a:t>
            </a: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b="0" i="0" u="none" strike="noStrike" cap="none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87" name="Google Shape;187;g3aabc9d920d_0_390">
            <a:extLst>
              <a:ext uri="{FF2B5EF4-FFF2-40B4-BE49-F238E27FC236}">
                <a16:creationId xmlns:a16="http://schemas.microsoft.com/office/drawing/2014/main" id="{17F407F8-1096-49D1-78FA-77D86FD7B36D}"/>
              </a:ext>
            </a:extLst>
          </p:cNvPr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88" name="Google Shape;188;g3aabc9d920d_0_390">
            <a:extLst>
              <a:ext uri="{FF2B5EF4-FFF2-40B4-BE49-F238E27FC236}">
                <a16:creationId xmlns:a16="http://schemas.microsoft.com/office/drawing/2014/main" id="{D81D5893-6C86-A4D5-0AAA-DFCCA69A8010}"/>
              </a:ext>
            </a:extLst>
          </p:cNvPr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89" name="Google Shape;189;g3aabc9d920d_0_390">
            <a:extLst>
              <a:ext uri="{FF2B5EF4-FFF2-40B4-BE49-F238E27FC236}">
                <a16:creationId xmlns:a16="http://schemas.microsoft.com/office/drawing/2014/main" id="{7DD3B44D-862C-EE3E-26B2-18CDC94C61F2}"/>
              </a:ext>
            </a:extLst>
          </p:cNvPr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8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190" name="Google Shape;190;g3aabc9d920d_0_390">
            <a:extLst>
              <a:ext uri="{FF2B5EF4-FFF2-40B4-BE49-F238E27FC236}">
                <a16:creationId xmlns:a16="http://schemas.microsoft.com/office/drawing/2014/main" id="{4066DE47-E8DF-1D75-A428-0BE675C6B7ED}"/>
              </a:ext>
            </a:extLst>
          </p:cNvPr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w="12700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8" name="Image 7">
            <a:extLst>
              <a:ext uri="{FF2B5EF4-FFF2-40B4-BE49-F238E27FC236}">
                <a16:creationId xmlns:a16="http://schemas.microsoft.com/office/drawing/2014/main" id="{00727ACA-3A9E-A1D7-C22E-019340281B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1636" y="4865301"/>
            <a:ext cx="6246963" cy="1455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D2852281-D3A9-8705-4BF8-460B87E6CCD9}"/>
              </a:ext>
            </a:extLst>
          </p:cNvPr>
          <p:cNvSpPr/>
          <p:nvPr/>
        </p:nvSpPr>
        <p:spPr>
          <a:xfrm>
            <a:off x="235500" y="1051751"/>
            <a:ext cx="4914470" cy="319179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anose="020B0606020202030204" pitchFamily="34" charset="0"/>
              </a:rPr>
              <a:t>Identification des enfants SV selon les attendus</a:t>
            </a:r>
            <a:endParaRPr lang="fr-CD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anose="020B060602020203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9C313E7-CA3F-DDBD-2CE1-73208D678CA8}"/>
              </a:ext>
            </a:extLst>
          </p:cNvPr>
          <p:cNvSpPr/>
          <p:nvPr/>
        </p:nvSpPr>
        <p:spPr>
          <a:xfrm>
            <a:off x="6113729" y="1031994"/>
            <a:ext cx="5221380" cy="319179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anose="020B0606020202030204" pitchFamily="34" charset="0"/>
              </a:rPr>
              <a:t>Récupération des enfants SV selon les identifiés</a:t>
            </a:r>
            <a:endParaRPr lang="fr-CD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anose="020B0606020202030204" pitchFamily="34" charset="0"/>
            </a:endParaRPr>
          </a:p>
        </p:txBody>
      </p:sp>
      <p:sp>
        <p:nvSpPr>
          <p:cNvPr id="11" name="Étoile : 8 branches 10">
            <a:extLst>
              <a:ext uri="{FF2B5EF4-FFF2-40B4-BE49-F238E27FC236}">
                <a16:creationId xmlns:a16="http://schemas.microsoft.com/office/drawing/2014/main" id="{2E993410-74C2-84F5-00E0-DCC7280D039C}"/>
              </a:ext>
            </a:extLst>
          </p:cNvPr>
          <p:cNvSpPr/>
          <p:nvPr/>
        </p:nvSpPr>
        <p:spPr>
          <a:xfrm>
            <a:off x="-359219" y="5193224"/>
            <a:ext cx="2236476" cy="1484419"/>
          </a:xfrm>
          <a:prstGeom prst="star8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anose="020B0606020202030204" pitchFamily="34" charset="0"/>
              </a:rPr>
              <a:t>59053 </a:t>
            </a:r>
            <a:r>
              <a:rPr lang="fr-FR" sz="1600" dirty="0">
                <a:latin typeface="Arial Narrow" panose="020B0606020202030204" pitchFamily="34" charset="0"/>
              </a:rPr>
              <a:t>enfants identifiés soit </a:t>
            </a:r>
            <a:r>
              <a:rPr lang="fr-FR" sz="1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anose="020B0606020202030204" pitchFamily="34" charset="0"/>
              </a:rPr>
              <a:t>58% </a:t>
            </a:r>
            <a:r>
              <a:rPr lang="fr-FR" sz="1600" dirty="0">
                <a:latin typeface="Arial Narrow" panose="020B0606020202030204" pitchFamily="34" charset="0"/>
              </a:rPr>
              <a:t>sur </a:t>
            </a:r>
            <a:r>
              <a:rPr lang="fr-FR" sz="1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anose="020B0606020202030204" pitchFamily="34" charset="0"/>
              </a:rPr>
              <a:t>++101760 </a:t>
            </a:r>
            <a:r>
              <a:rPr lang="fr-FR" sz="1600" dirty="0">
                <a:latin typeface="Arial Narrow" panose="020B0606020202030204" pitchFamily="34" charset="0"/>
              </a:rPr>
              <a:t>enfants attendus</a:t>
            </a:r>
            <a:endParaRPr lang="fr-CD" sz="1600" dirty="0">
              <a:latin typeface="Arial Narrow" panose="020B0606020202030204" pitchFamily="34" charset="0"/>
            </a:endParaRPr>
          </a:p>
        </p:txBody>
      </p:sp>
      <p:sp>
        <p:nvSpPr>
          <p:cNvPr id="13" name="Étoile : 8 branches 12">
            <a:extLst>
              <a:ext uri="{FF2B5EF4-FFF2-40B4-BE49-F238E27FC236}">
                <a16:creationId xmlns:a16="http://schemas.microsoft.com/office/drawing/2014/main" id="{FF69CF69-6A75-92A7-4FFC-CECF7278EDE7}"/>
              </a:ext>
            </a:extLst>
          </p:cNvPr>
          <p:cNvSpPr/>
          <p:nvPr/>
        </p:nvSpPr>
        <p:spPr>
          <a:xfrm>
            <a:off x="9821474" y="5137730"/>
            <a:ext cx="2236476" cy="1484419"/>
          </a:xfrm>
          <a:prstGeom prst="star8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anose="020B0606020202030204" pitchFamily="34" charset="0"/>
              </a:rPr>
              <a:t>55476 </a:t>
            </a:r>
            <a:r>
              <a:rPr lang="fr-FR" sz="1600" dirty="0">
                <a:latin typeface="Arial Narrow" panose="020B0606020202030204" pitchFamily="34" charset="0"/>
              </a:rPr>
              <a:t>enfants identifiés soit </a:t>
            </a:r>
            <a:r>
              <a:rPr lang="fr-FR" sz="1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anose="020B0606020202030204" pitchFamily="34" charset="0"/>
              </a:rPr>
              <a:t>…% </a:t>
            </a:r>
            <a:r>
              <a:rPr lang="fr-FR" sz="1600" dirty="0">
                <a:latin typeface="Arial Narrow" panose="020B0606020202030204" pitchFamily="34" charset="0"/>
              </a:rPr>
              <a:t>sur </a:t>
            </a:r>
            <a:r>
              <a:rPr lang="fr-FR" sz="1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anose="020B0606020202030204" pitchFamily="34" charset="0"/>
              </a:rPr>
              <a:t>++ 101760 </a:t>
            </a:r>
            <a:r>
              <a:rPr lang="fr-FR" sz="1600" dirty="0">
                <a:latin typeface="Arial Narrow" panose="020B0606020202030204" pitchFamily="34" charset="0"/>
              </a:rPr>
              <a:t>enfants attendus</a:t>
            </a:r>
            <a:endParaRPr lang="fr-CD" sz="1600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50998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>
          <a:extLst>
            <a:ext uri="{FF2B5EF4-FFF2-40B4-BE49-F238E27FC236}">
              <a16:creationId xmlns:a16="http://schemas.microsoft.com/office/drawing/2014/main" id="{04CC3C72-D5B0-A287-DE78-FCCD511165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aabc9d920d_0_390">
            <a:extLst>
              <a:ext uri="{FF2B5EF4-FFF2-40B4-BE49-F238E27FC236}">
                <a16:creationId xmlns:a16="http://schemas.microsoft.com/office/drawing/2014/main" id="{4B265FE6-56B4-59BC-5EA0-6E9E1CD01908}"/>
              </a:ext>
            </a:extLst>
          </p:cNvPr>
          <p:cNvSpPr txBox="1"/>
          <p:nvPr/>
        </p:nvSpPr>
        <p:spPr>
          <a:xfrm>
            <a:off x="458592" y="214426"/>
            <a:ext cx="11274900" cy="7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en-US" sz="2700" b="1" dirty="0" err="1">
                <a:solidFill>
                  <a:srgbClr val="1155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Résultats</a:t>
            </a:r>
            <a:r>
              <a:rPr lang="en-US" sz="2700" b="1" dirty="0">
                <a:solidFill>
                  <a:srgbClr val="1155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obtenus: FAE 2023-2025 </a:t>
            </a:r>
            <a:r>
              <a:rPr lang="en-US" sz="2000" b="1" dirty="0">
                <a:solidFill>
                  <a:srgbClr val="1155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(Identification et la recuperation des enfants ZD et SV)</a:t>
            </a:r>
            <a:endParaRPr sz="2700" b="1" dirty="0">
              <a:solidFill>
                <a:srgbClr val="1155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b="1" dirty="0">
              <a:solidFill>
                <a:srgbClr val="1155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b="1" dirty="0">
              <a:solidFill>
                <a:srgbClr val="1155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b="1" dirty="0">
              <a:solidFill>
                <a:srgbClr val="1155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b="1" dirty="0">
              <a:solidFill>
                <a:srgbClr val="1155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b="1" i="0" u="none" strike="noStrike" cap="none" dirty="0">
              <a:solidFill>
                <a:srgbClr val="1155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87" name="Google Shape;187;g3aabc9d920d_0_390">
            <a:extLst>
              <a:ext uri="{FF2B5EF4-FFF2-40B4-BE49-F238E27FC236}">
                <a16:creationId xmlns:a16="http://schemas.microsoft.com/office/drawing/2014/main" id="{2525A349-D7C1-3FF7-1CFE-E72ACD11C6F7}"/>
              </a:ext>
            </a:extLst>
          </p:cNvPr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88" name="Google Shape;188;g3aabc9d920d_0_390">
            <a:extLst>
              <a:ext uri="{FF2B5EF4-FFF2-40B4-BE49-F238E27FC236}">
                <a16:creationId xmlns:a16="http://schemas.microsoft.com/office/drawing/2014/main" id="{4DD74688-251F-5B19-FA4D-B45AE7E1E6A4}"/>
              </a:ext>
            </a:extLst>
          </p:cNvPr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89" name="Google Shape;189;g3aabc9d920d_0_390">
            <a:extLst>
              <a:ext uri="{FF2B5EF4-FFF2-40B4-BE49-F238E27FC236}">
                <a16:creationId xmlns:a16="http://schemas.microsoft.com/office/drawing/2014/main" id="{502FA151-7C5E-00CA-0E44-E8AE3F76E0E3}"/>
              </a:ext>
            </a:extLst>
          </p:cNvPr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9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190" name="Google Shape;190;g3aabc9d920d_0_390">
            <a:extLst>
              <a:ext uri="{FF2B5EF4-FFF2-40B4-BE49-F238E27FC236}">
                <a16:creationId xmlns:a16="http://schemas.microsoft.com/office/drawing/2014/main" id="{0C7E5D75-6DAC-50A6-9A1C-65B47C2EE8DA}"/>
              </a:ext>
            </a:extLst>
          </p:cNvPr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w="12700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4" name="Image 3">
            <a:extLst>
              <a:ext uri="{FF2B5EF4-FFF2-40B4-BE49-F238E27FC236}">
                <a16:creationId xmlns:a16="http://schemas.microsoft.com/office/drawing/2014/main" id="{603AD9DD-496D-DA86-8734-42A095526A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54" y="1138687"/>
            <a:ext cx="12000752" cy="5451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3856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471340" y="368300"/>
            <a:ext cx="100442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buClrTx/>
              <a:defRPr/>
            </a:pPr>
            <a:r>
              <a:rPr lang="en-US" sz="2000" b="1" dirty="0" err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Résultats</a:t>
            </a:r>
            <a:r>
              <a:rPr lang="en-US" sz="2000" b="1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2000" b="1" dirty="0" err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obtenus</a:t>
            </a:r>
            <a:r>
              <a:rPr lang="en-US" sz="2000" b="1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IPVS </a:t>
            </a:r>
            <a:r>
              <a:rPr lang="en-US" sz="2000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: </a:t>
            </a:r>
            <a:r>
              <a:rPr kumimoji="0" lang="fr-CD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Synthèse PROVINCE</a:t>
            </a:r>
            <a:r>
              <a:rPr kumimoji="0" lang="fr-CD" sz="20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fr-CD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PHASE I et phase II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90807A65-C29B-508C-0FE5-A289711345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9418031"/>
              </p:ext>
            </p:extLst>
          </p:nvPr>
        </p:nvGraphicFramePr>
        <p:xfrm>
          <a:off x="160256" y="983745"/>
          <a:ext cx="11821211" cy="2481843"/>
        </p:xfrm>
        <a:graphic>
          <a:graphicData uri="http://schemas.openxmlformats.org/drawingml/2006/table">
            <a:tbl>
              <a:tblPr/>
              <a:tblGrid>
                <a:gridCol w="1143407">
                  <a:extLst>
                    <a:ext uri="{9D8B030D-6E8A-4147-A177-3AD203B41FA5}">
                      <a16:colId xmlns:a16="http://schemas.microsoft.com/office/drawing/2014/main" val="3697287912"/>
                    </a:ext>
                  </a:extLst>
                </a:gridCol>
                <a:gridCol w="558198">
                  <a:extLst>
                    <a:ext uri="{9D8B030D-6E8A-4147-A177-3AD203B41FA5}">
                      <a16:colId xmlns:a16="http://schemas.microsoft.com/office/drawing/2014/main" val="2346108243"/>
                    </a:ext>
                  </a:extLst>
                </a:gridCol>
                <a:gridCol w="558198">
                  <a:extLst>
                    <a:ext uri="{9D8B030D-6E8A-4147-A177-3AD203B41FA5}">
                      <a16:colId xmlns:a16="http://schemas.microsoft.com/office/drawing/2014/main" val="1721760314"/>
                    </a:ext>
                  </a:extLst>
                </a:gridCol>
                <a:gridCol w="1035370">
                  <a:extLst>
                    <a:ext uri="{9D8B030D-6E8A-4147-A177-3AD203B41FA5}">
                      <a16:colId xmlns:a16="http://schemas.microsoft.com/office/drawing/2014/main" val="2055565306"/>
                    </a:ext>
                  </a:extLst>
                </a:gridCol>
                <a:gridCol w="558198">
                  <a:extLst>
                    <a:ext uri="{9D8B030D-6E8A-4147-A177-3AD203B41FA5}">
                      <a16:colId xmlns:a16="http://schemas.microsoft.com/office/drawing/2014/main" val="2119255657"/>
                    </a:ext>
                  </a:extLst>
                </a:gridCol>
                <a:gridCol w="558198">
                  <a:extLst>
                    <a:ext uri="{9D8B030D-6E8A-4147-A177-3AD203B41FA5}">
                      <a16:colId xmlns:a16="http://schemas.microsoft.com/office/drawing/2014/main" val="2877712289"/>
                    </a:ext>
                  </a:extLst>
                </a:gridCol>
                <a:gridCol w="1035370">
                  <a:extLst>
                    <a:ext uri="{9D8B030D-6E8A-4147-A177-3AD203B41FA5}">
                      <a16:colId xmlns:a16="http://schemas.microsoft.com/office/drawing/2014/main" val="2353823153"/>
                    </a:ext>
                  </a:extLst>
                </a:gridCol>
                <a:gridCol w="558198">
                  <a:extLst>
                    <a:ext uri="{9D8B030D-6E8A-4147-A177-3AD203B41FA5}">
                      <a16:colId xmlns:a16="http://schemas.microsoft.com/office/drawing/2014/main" val="3790778381"/>
                    </a:ext>
                  </a:extLst>
                </a:gridCol>
                <a:gridCol w="1035370">
                  <a:extLst>
                    <a:ext uri="{9D8B030D-6E8A-4147-A177-3AD203B41FA5}">
                      <a16:colId xmlns:a16="http://schemas.microsoft.com/office/drawing/2014/main" val="1255828576"/>
                    </a:ext>
                  </a:extLst>
                </a:gridCol>
                <a:gridCol w="558198">
                  <a:extLst>
                    <a:ext uri="{9D8B030D-6E8A-4147-A177-3AD203B41FA5}">
                      <a16:colId xmlns:a16="http://schemas.microsoft.com/office/drawing/2014/main" val="3381794675"/>
                    </a:ext>
                  </a:extLst>
                </a:gridCol>
                <a:gridCol w="1035370">
                  <a:extLst>
                    <a:ext uri="{9D8B030D-6E8A-4147-A177-3AD203B41FA5}">
                      <a16:colId xmlns:a16="http://schemas.microsoft.com/office/drawing/2014/main" val="3511220967"/>
                    </a:ext>
                  </a:extLst>
                </a:gridCol>
                <a:gridCol w="558198">
                  <a:extLst>
                    <a:ext uri="{9D8B030D-6E8A-4147-A177-3AD203B41FA5}">
                      <a16:colId xmlns:a16="http://schemas.microsoft.com/office/drawing/2014/main" val="2494259622"/>
                    </a:ext>
                  </a:extLst>
                </a:gridCol>
                <a:gridCol w="1035370">
                  <a:extLst>
                    <a:ext uri="{9D8B030D-6E8A-4147-A177-3AD203B41FA5}">
                      <a16:colId xmlns:a16="http://schemas.microsoft.com/office/drawing/2014/main" val="1458325578"/>
                    </a:ext>
                  </a:extLst>
                </a:gridCol>
                <a:gridCol w="558198">
                  <a:extLst>
                    <a:ext uri="{9D8B030D-6E8A-4147-A177-3AD203B41FA5}">
                      <a16:colId xmlns:a16="http://schemas.microsoft.com/office/drawing/2014/main" val="3477398176"/>
                    </a:ext>
                  </a:extLst>
                </a:gridCol>
                <a:gridCol w="1035370">
                  <a:extLst>
                    <a:ext uri="{9D8B030D-6E8A-4147-A177-3AD203B41FA5}">
                      <a16:colId xmlns:a16="http://schemas.microsoft.com/office/drawing/2014/main" val="1373298013"/>
                    </a:ext>
                  </a:extLst>
                </a:gridCol>
              </a:tblGrid>
              <a:tr h="205765">
                <a:tc gridSpan="4"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fr-CD" sz="1200" b="1" i="0" u="none" strike="noStrike" dirty="0">
                          <a:solidFill>
                            <a:srgbClr val="FF0000"/>
                          </a:solidFill>
                          <a:effectLst>
                            <a:outerShdw blurRad="50800" dist="38100" algn="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Arial" panose="020B0604020202020204" pitchFamily="34" charset="0"/>
                        </a:rPr>
                        <a:t> ZEROS DOSES DE 12 à 59 MOIS</a:t>
                      </a:r>
                    </a:p>
                  </a:txBody>
                  <a:tcPr marL="4805" marR="4805" marT="480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fr-C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C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CD"/>
                    </a:p>
                  </a:txBody>
                  <a:tcPr/>
                </a:tc>
                <a:tc gridSpan="11"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fr-FR" sz="1200" b="1" i="0" u="none" strike="noStrike" dirty="0">
                          <a:solidFill>
                            <a:srgbClr val="0070C0"/>
                          </a:solidFill>
                          <a:effectLst>
                            <a:outerShdw blurRad="50800" dist="38100" algn="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Arial" panose="020B0604020202020204" pitchFamily="34" charset="0"/>
                        </a:rPr>
                        <a:t>SOUS  VACCINEES DE 12  à 59 mois</a:t>
                      </a:r>
                    </a:p>
                  </a:txBody>
                  <a:tcPr marL="4805" marR="4805" marT="480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fr-C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C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C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C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C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C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C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C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C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C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7181363"/>
                  </a:ext>
                </a:extLst>
              </a:tr>
              <a:tr h="85826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CD" sz="1000" b="1" i="0" u="none" strike="noStrike" dirty="0">
                          <a:solidFill>
                            <a:srgbClr val="000000"/>
                          </a:solidFill>
                          <a:effectLst>
                            <a:outerShdw blurRad="50800" dist="38100" algn="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Arial" panose="020B0604020202020204" pitchFamily="34" charset="0"/>
                        </a:rPr>
                        <a:t>SYNTHSE ZONE DE SANTE</a:t>
                      </a:r>
                    </a:p>
                  </a:txBody>
                  <a:tcPr marL="4805" marR="4805" marT="48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1000" b="1" i="0" u="none" strike="noStrike" dirty="0">
                          <a:solidFill>
                            <a:srgbClr val="000000"/>
                          </a:solidFill>
                          <a:effectLst>
                            <a:outerShdw blurRad="50800" dist="38100" algn="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Arial" panose="020B0604020202020204" pitchFamily="34" charset="0"/>
                        </a:rPr>
                        <a:t>Nbre EZD identifié penta1 (cible dénombrée) </a:t>
                      </a:r>
                    </a:p>
                  </a:txBody>
                  <a:tcPr marL="4805" marR="4805" marT="48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CD" sz="1000" b="1" i="0" u="none" strike="noStrike" dirty="0">
                          <a:solidFill>
                            <a:srgbClr val="000000"/>
                          </a:solidFill>
                          <a:effectLst>
                            <a:outerShdw blurRad="50800" dist="38100" algn="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Arial" panose="020B0604020202020204" pitchFamily="34" charset="0"/>
                        </a:rPr>
                        <a:t>Nbre EZD  penta1 vaccinés</a:t>
                      </a:r>
                    </a:p>
                  </a:txBody>
                  <a:tcPr marL="4805" marR="4805" marT="48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fr-CD" sz="1000" b="1" i="0" u="none" strike="noStrike" dirty="0">
                          <a:solidFill>
                            <a:srgbClr val="000000"/>
                          </a:solidFill>
                          <a:effectLst>
                            <a:outerShdw blurRad="50800" dist="38100" algn="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Arial" panose="020B0604020202020204" pitchFamily="34" charset="0"/>
                        </a:rPr>
                        <a:t>% EZD penta1 vaccinés</a:t>
                      </a:r>
                    </a:p>
                  </a:txBody>
                  <a:tcPr marL="4805" marR="4805" marT="480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1000" b="1" i="0" u="none" strike="noStrike" dirty="0">
                          <a:solidFill>
                            <a:srgbClr val="000000"/>
                          </a:solidFill>
                          <a:effectLst>
                            <a:outerShdw blurRad="50800" dist="38100" algn="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Arial" panose="020B0604020202020204" pitchFamily="34" charset="0"/>
                        </a:rPr>
                        <a:t>Nbre SV  identifié PENTA 3 (cible dénombrée)</a:t>
                      </a:r>
                    </a:p>
                  </a:txBody>
                  <a:tcPr marL="4805" marR="4805" marT="48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CD" sz="1000" b="1" i="0" u="none" strike="noStrike">
                          <a:solidFill>
                            <a:srgbClr val="000000"/>
                          </a:solidFill>
                          <a:effectLst>
                            <a:outerShdw blurRad="50800" dist="38100" algn="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Arial" panose="020B0604020202020204" pitchFamily="34" charset="0"/>
                        </a:rPr>
                        <a:t>Nbre SV  PENTA3 vaccinés</a:t>
                      </a:r>
                    </a:p>
                  </a:txBody>
                  <a:tcPr marL="4805" marR="4805" marT="48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fr-CD" sz="1000" b="1" i="0" u="none" strike="noStrike" dirty="0">
                          <a:solidFill>
                            <a:srgbClr val="000000"/>
                          </a:solidFill>
                          <a:effectLst>
                            <a:outerShdw blurRad="50800" dist="38100" algn="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Arial" panose="020B0604020202020204" pitchFamily="34" charset="0"/>
                        </a:rPr>
                        <a:t>% SV PENTA3 vaccinés</a:t>
                      </a:r>
                    </a:p>
                  </a:txBody>
                  <a:tcPr marL="4805" marR="4805" marT="480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1000" b="1" i="0" u="none" strike="noStrike" dirty="0">
                          <a:solidFill>
                            <a:srgbClr val="FFFFFF"/>
                          </a:solidFill>
                          <a:effectLst>
                            <a:outerShdw blurRad="50800" dist="38100" algn="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Arial" panose="020B0604020202020204" pitchFamily="34" charset="0"/>
                        </a:rPr>
                        <a:t>Nbre SV vaccinées en VPI1</a:t>
                      </a:r>
                    </a:p>
                  </a:txBody>
                  <a:tcPr marL="4805" marR="4805" marT="48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fr-CD" sz="1000" b="1" i="0" u="none" strike="noStrike" dirty="0">
                          <a:solidFill>
                            <a:srgbClr val="FFFFFF"/>
                          </a:solidFill>
                          <a:effectLst>
                            <a:outerShdw blurRad="50800" dist="38100" algn="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Arial" panose="020B0604020202020204" pitchFamily="34" charset="0"/>
                        </a:rPr>
                        <a:t>% SV vaccinés en VPI1</a:t>
                      </a:r>
                    </a:p>
                  </a:txBody>
                  <a:tcPr marL="4805" marR="4805" marT="480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fr-FR" sz="1000" b="1" i="0" u="none" strike="noStrike" dirty="0">
                          <a:solidFill>
                            <a:srgbClr val="FFFFFF"/>
                          </a:solidFill>
                          <a:effectLst>
                            <a:outerShdw blurRad="50800" dist="38100" algn="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Arial" panose="020B0604020202020204" pitchFamily="34" charset="0"/>
                        </a:rPr>
                        <a:t>Nbre SV vaccinées en VPI2</a:t>
                      </a:r>
                    </a:p>
                  </a:txBody>
                  <a:tcPr marL="4805" marR="4805" marT="480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fr-CD" sz="1000" b="1" i="0" u="none" strike="noStrike" dirty="0">
                          <a:solidFill>
                            <a:srgbClr val="FFFFFF"/>
                          </a:solidFill>
                          <a:effectLst>
                            <a:outerShdw blurRad="50800" dist="38100" algn="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Arial" panose="020B0604020202020204" pitchFamily="34" charset="0"/>
                        </a:rPr>
                        <a:t>% SV vaccinés en VPI2</a:t>
                      </a:r>
                    </a:p>
                  </a:txBody>
                  <a:tcPr marL="4805" marR="4805" marT="480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sv-SE" sz="1000" b="1" i="0" u="none" strike="noStrike" dirty="0">
                          <a:solidFill>
                            <a:srgbClr val="000000"/>
                          </a:solidFill>
                          <a:effectLst>
                            <a:outerShdw blurRad="50800" dist="38100" algn="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Arial" panose="020B0604020202020204" pitchFamily="34" charset="0"/>
                        </a:rPr>
                        <a:t>Nbre SV vaccinées en VAR1</a:t>
                      </a:r>
                    </a:p>
                  </a:txBody>
                  <a:tcPr marL="4805" marR="4805" marT="480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fr-CD" sz="1000" b="1" i="0" u="none" strike="noStrike" dirty="0">
                          <a:solidFill>
                            <a:srgbClr val="000000"/>
                          </a:solidFill>
                          <a:effectLst>
                            <a:outerShdw blurRad="50800" dist="38100" algn="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Arial" panose="020B0604020202020204" pitchFamily="34" charset="0"/>
                        </a:rPr>
                        <a:t>% SV vaccinés en VAR1</a:t>
                      </a:r>
                    </a:p>
                  </a:txBody>
                  <a:tcPr marL="4805" marR="4805" marT="480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sv-SE" sz="1000" b="1" i="0" u="none" strike="noStrike" dirty="0">
                          <a:solidFill>
                            <a:srgbClr val="000000"/>
                          </a:solidFill>
                          <a:effectLst>
                            <a:outerShdw blurRad="50800" dist="38100" algn="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Arial" panose="020B0604020202020204" pitchFamily="34" charset="0"/>
                        </a:rPr>
                        <a:t>Nbre SV vaccinées en VAR2</a:t>
                      </a:r>
                    </a:p>
                  </a:txBody>
                  <a:tcPr marL="4805" marR="4805" marT="480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fr-CD" sz="1000" b="1" i="0" u="none" strike="noStrike" dirty="0">
                          <a:solidFill>
                            <a:srgbClr val="000000"/>
                          </a:solidFill>
                          <a:effectLst>
                            <a:outerShdw blurRad="50800" dist="38100" algn="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Arial" panose="020B0604020202020204" pitchFamily="34" charset="0"/>
                        </a:rPr>
                        <a:t>% SV vaccinés en VAR2</a:t>
                      </a:r>
                    </a:p>
                  </a:txBody>
                  <a:tcPr marL="4805" marR="4805" marT="480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2042532"/>
                  </a:ext>
                </a:extLst>
              </a:tr>
              <a:tr h="296491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fr-CD" sz="600" b="1" i="0" u="none" strike="noStrike">
                          <a:solidFill>
                            <a:srgbClr val="FF0000"/>
                          </a:solidFill>
                          <a:effectLst>
                            <a:outerShdw blurRad="50800" dist="38100" algn="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Arial" panose="020B0604020202020204" pitchFamily="34" charset="0"/>
                        </a:rPr>
                        <a:t>PHASE I</a:t>
                      </a:r>
                    </a:p>
                  </a:txBody>
                  <a:tcPr marL="4805" marR="4805" marT="480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CD" sz="9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36111</a:t>
                      </a:r>
                    </a:p>
                  </a:txBody>
                  <a:tcPr marL="4805" marR="4805" marT="48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CD" sz="9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39020</a:t>
                      </a:r>
                    </a:p>
                  </a:txBody>
                  <a:tcPr marL="4805" marR="4805" marT="48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108%</a:t>
                      </a:r>
                    </a:p>
                  </a:txBody>
                  <a:tcPr marL="4805" marR="4805" marT="480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CD" sz="9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52861</a:t>
                      </a:r>
                    </a:p>
                  </a:txBody>
                  <a:tcPr marL="4805" marR="4805" marT="48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CD" sz="9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39946</a:t>
                      </a:r>
                    </a:p>
                  </a:txBody>
                  <a:tcPr marL="4805" marR="4805" marT="48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76%</a:t>
                      </a:r>
                    </a:p>
                  </a:txBody>
                  <a:tcPr marL="4805" marR="4805" marT="480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CD" sz="9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33712</a:t>
                      </a:r>
                    </a:p>
                  </a:txBody>
                  <a:tcPr marL="4805" marR="4805" marT="48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64%</a:t>
                      </a:r>
                    </a:p>
                  </a:txBody>
                  <a:tcPr marL="4805" marR="4805" marT="480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CD" sz="9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31558</a:t>
                      </a:r>
                    </a:p>
                  </a:txBody>
                  <a:tcPr marL="4805" marR="4805" marT="48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60%</a:t>
                      </a:r>
                    </a:p>
                  </a:txBody>
                  <a:tcPr marL="4805" marR="4805" marT="480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CD" sz="9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33515</a:t>
                      </a:r>
                    </a:p>
                  </a:txBody>
                  <a:tcPr marL="4805" marR="4805" marT="48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63%</a:t>
                      </a:r>
                    </a:p>
                  </a:txBody>
                  <a:tcPr marL="4805" marR="4805" marT="480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CD" sz="9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37897</a:t>
                      </a:r>
                    </a:p>
                  </a:txBody>
                  <a:tcPr marL="4805" marR="4805" marT="48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72%</a:t>
                      </a:r>
                    </a:p>
                  </a:txBody>
                  <a:tcPr marL="4805" marR="4805" marT="480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4568499"/>
                  </a:ext>
                </a:extLst>
              </a:tr>
              <a:tr h="296491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fr-CD" sz="600" b="1" i="0" u="none" strike="noStrike">
                          <a:solidFill>
                            <a:srgbClr val="FF0000"/>
                          </a:solidFill>
                          <a:effectLst>
                            <a:outerShdw blurRad="50800" dist="38100" algn="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Arial" panose="020B0604020202020204" pitchFamily="34" charset="0"/>
                        </a:rPr>
                        <a:t>PHASE II</a:t>
                      </a:r>
                    </a:p>
                  </a:txBody>
                  <a:tcPr marL="4805" marR="4805" marT="480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CD" sz="9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28460</a:t>
                      </a:r>
                    </a:p>
                  </a:txBody>
                  <a:tcPr marL="4805" marR="4805" marT="48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CD" sz="9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26854</a:t>
                      </a:r>
                    </a:p>
                  </a:txBody>
                  <a:tcPr marL="4805" marR="4805" marT="48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94%</a:t>
                      </a:r>
                    </a:p>
                  </a:txBody>
                  <a:tcPr marL="4805" marR="4805" marT="480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CD" sz="9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34001</a:t>
                      </a:r>
                    </a:p>
                  </a:txBody>
                  <a:tcPr marL="4805" marR="4805" marT="48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CD" sz="9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36129</a:t>
                      </a:r>
                    </a:p>
                  </a:txBody>
                  <a:tcPr marL="4805" marR="4805" marT="48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106%</a:t>
                      </a:r>
                    </a:p>
                  </a:txBody>
                  <a:tcPr marL="4805" marR="4805" marT="480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CD" sz="9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2611</a:t>
                      </a:r>
                    </a:p>
                  </a:txBody>
                  <a:tcPr marL="4805" marR="4805" marT="48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8%</a:t>
                      </a:r>
                    </a:p>
                  </a:txBody>
                  <a:tcPr marL="4805" marR="4805" marT="480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CD" sz="9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4407</a:t>
                      </a:r>
                    </a:p>
                  </a:txBody>
                  <a:tcPr marL="4805" marR="4805" marT="48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13%</a:t>
                      </a:r>
                    </a:p>
                  </a:txBody>
                  <a:tcPr marL="4805" marR="4805" marT="480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CD" sz="9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2491</a:t>
                      </a:r>
                    </a:p>
                  </a:txBody>
                  <a:tcPr marL="4805" marR="4805" marT="48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7%</a:t>
                      </a:r>
                    </a:p>
                  </a:txBody>
                  <a:tcPr marL="4805" marR="4805" marT="480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CD" sz="9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5015</a:t>
                      </a:r>
                    </a:p>
                  </a:txBody>
                  <a:tcPr marL="4805" marR="4805" marT="48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15%</a:t>
                      </a:r>
                    </a:p>
                  </a:txBody>
                  <a:tcPr marL="4805" marR="4805" marT="480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5078611"/>
                  </a:ext>
                </a:extLst>
              </a:tr>
              <a:tr h="405726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fr-CD" sz="800" b="1" i="0" u="none" strike="noStrike">
                          <a:solidFill>
                            <a:srgbClr val="000000"/>
                          </a:solidFill>
                          <a:effectLst>
                            <a:outerShdw blurRad="50800" dist="38100" algn="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Arial" panose="020B0604020202020204" pitchFamily="34" charset="0"/>
                        </a:rPr>
                        <a:t>TOTAL  PROVINCE (phase 1+2)</a:t>
                      </a:r>
                    </a:p>
                  </a:txBody>
                  <a:tcPr marL="4805" marR="4805" marT="48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64571</a:t>
                      </a:r>
                    </a:p>
                  </a:txBody>
                  <a:tcPr marL="4805" marR="4805" marT="480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65874</a:t>
                      </a:r>
                    </a:p>
                  </a:txBody>
                  <a:tcPr marL="4805" marR="4805" marT="480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102%</a:t>
                      </a:r>
                    </a:p>
                  </a:txBody>
                  <a:tcPr marL="4805" marR="4805" marT="480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86862</a:t>
                      </a:r>
                    </a:p>
                  </a:txBody>
                  <a:tcPr marL="4805" marR="4805" marT="480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76075</a:t>
                      </a:r>
                    </a:p>
                  </a:txBody>
                  <a:tcPr marL="4805" marR="4805" marT="480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88%</a:t>
                      </a:r>
                    </a:p>
                  </a:txBody>
                  <a:tcPr marL="4805" marR="4805" marT="480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36323</a:t>
                      </a:r>
                    </a:p>
                  </a:txBody>
                  <a:tcPr marL="4805" marR="4805" marT="480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42%</a:t>
                      </a:r>
                    </a:p>
                  </a:txBody>
                  <a:tcPr marL="4805" marR="4805" marT="480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35965</a:t>
                      </a:r>
                    </a:p>
                  </a:txBody>
                  <a:tcPr marL="4805" marR="4805" marT="480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41%</a:t>
                      </a:r>
                    </a:p>
                  </a:txBody>
                  <a:tcPr marL="4805" marR="4805" marT="480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36006</a:t>
                      </a:r>
                    </a:p>
                  </a:txBody>
                  <a:tcPr marL="4805" marR="4805" marT="480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41%</a:t>
                      </a:r>
                    </a:p>
                  </a:txBody>
                  <a:tcPr marL="4805" marR="4805" marT="480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42912</a:t>
                      </a:r>
                    </a:p>
                  </a:txBody>
                  <a:tcPr marL="4805" marR="4805" marT="480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49%</a:t>
                      </a:r>
                    </a:p>
                  </a:txBody>
                  <a:tcPr marL="4805" marR="4805" marT="480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867817"/>
                  </a:ext>
                </a:extLst>
              </a:tr>
              <a:tr h="205765">
                <a:tc gridSpan="15"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fr-FR" sz="800" b="1" i="0" u="none" strike="noStrike" dirty="0">
                          <a:solidFill>
                            <a:srgbClr val="FF0000"/>
                          </a:solidFill>
                          <a:effectLst>
                            <a:outerShdw blurRad="50800" dist="38100" algn="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Arial" panose="020B0604020202020204" pitchFamily="34" charset="0"/>
                        </a:rPr>
                        <a:t>Commentaire Zone de santé  à problème ( moins de 50 % en PENTA1,PENTA3, VAR,VPI):</a:t>
                      </a:r>
                    </a:p>
                  </a:txBody>
                  <a:tcPr marL="4805" marR="4805" marT="48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C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C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C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C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C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C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C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C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C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C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C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C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C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C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113471"/>
                  </a:ext>
                </a:extLst>
              </a:tr>
            </a:tbl>
          </a:graphicData>
        </a:graphic>
      </p:graphicFrame>
      <p:graphicFrame>
        <p:nvGraphicFramePr>
          <p:cNvPr id="5" name="Graphique 4">
            <a:extLst>
              <a:ext uri="{FF2B5EF4-FFF2-40B4-BE49-F238E27FC236}">
                <a16:creationId xmlns:a16="http://schemas.microsoft.com/office/drawing/2014/main" id="{79AB7CAA-B71E-634D-44C0-BD44ADFD27C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67878459"/>
              </p:ext>
            </p:extLst>
          </p:nvPr>
        </p:nvGraphicFramePr>
        <p:xfrm>
          <a:off x="160256" y="3622264"/>
          <a:ext cx="1182121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2873851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74"/>
          <p:cNvSpPr txBox="1">
            <a:spLocks noGrp="1"/>
          </p:cNvSpPr>
          <p:nvPr>
            <p:ph type="title"/>
          </p:nvPr>
        </p:nvSpPr>
        <p:spPr>
          <a:xfrm>
            <a:off x="307600" y="182533"/>
            <a:ext cx="11576800" cy="490484"/>
          </a:xfrm>
          <a:prstGeom prst="rect">
            <a:avLst/>
          </a:prstGeom>
        </p:spPr>
        <p:txBody>
          <a:bodyPr spcFirstLastPara="1" wrap="square" lIns="0" tIns="121900" rIns="121900" bIns="120000" anchor="t" anchorCtr="0">
            <a:spAutoFit/>
          </a:bodyPr>
          <a:lstStyle/>
          <a:p>
            <a:pPr>
              <a:buSzPts val="1100"/>
            </a:pPr>
            <a:r>
              <a:rPr lang="en-GB" sz="1600" dirty="0" err="1">
                <a:solidFill>
                  <a:srgbClr val="451F61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L’activation</a:t>
            </a:r>
            <a:r>
              <a:rPr lang="en-GB" sz="1600" dirty="0">
                <a:solidFill>
                  <a:srgbClr val="451F61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 GIS au 1-jour par les équipes de vaccination  était de 84% au 1er passage (8 ZS), 98% au 2e passage (8ZS)</a:t>
            </a:r>
            <a:endParaRPr sz="1600" dirty="0">
              <a:solidFill>
                <a:srgbClr val="451F61"/>
              </a:solidFill>
              <a:latin typeface="Source Serif Pro"/>
              <a:ea typeface="Source Serif Pro"/>
              <a:cs typeface="Source Serif Pro"/>
              <a:sym typeface="Source Serif Pro"/>
            </a:endParaRPr>
          </a:p>
        </p:txBody>
      </p:sp>
      <p:sp>
        <p:nvSpPr>
          <p:cNvPr id="468" name="Google Shape;468;p74"/>
          <p:cNvSpPr txBox="1"/>
          <p:nvPr/>
        </p:nvSpPr>
        <p:spPr>
          <a:xfrm>
            <a:off x="11658600" y="6496067"/>
            <a:ext cx="228400" cy="1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r" defTabSz="1219170"/>
            <a:fld id="{00000000-1234-1234-1234-123412341234}" type="slidenum">
              <a:rPr lang="en-GB" sz="1200">
                <a:solidFill>
                  <a:srgbClr val="451F61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pPr algn="r" defTabSz="1219170"/>
              <a:t>11</a:t>
            </a:fld>
            <a:endParaRPr sz="1200">
              <a:solidFill>
                <a:srgbClr val="451F61"/>
              </a:solidFill>
              <a:latin typeface="Source Serif Pro"/>
              <a:ea typeface="Source Serif Pro"/>
              <a:cs typeface="Source Serif Pro"/>
              <a:sym typeface="Source Serif Pro"/>
            </a:endParaRPr>
          </a:p>
        </p:txBody>
      </p:sp>
      <p:cxnSp>
        <p:nvCxnSpPr>
          <p:cNvPr id="469" name="Google Shape;469;p74"/>
          <p:cNvCxnSpPr/>
          <p:nvPr/>
        </p:nvCxnSpPr>
        <p:spPr>
          <a:xfrm>
            <a:off x="267700" y="6427967"/>
            <a:ext cx="11640400" cy="0"/>
          </a:xfrm>
          <a:prstGeom prst="straightConnector1">
            <a:avLst/>
          </a:prstGeom>
          <a:noFill/>
          <a:ln w="9525" cap="flat" cmpd="sng">
            <a:solidFill>
              <a:srgbClr val="9E9E9E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70" name="Google Shape;470;p74"/>
          <p:cNvSpPr txBox="1"/>
          <p:nvPr/>
        </p:nvSpPr>
        <p:spPr>
          <a:xfrm>
            <a:off x="267700" y="6492843"/>
            <a:ext cx="11414800" cy="164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defTabSz="1219170"/>
            <a:endParaRPr sz="1067">
              <a:solidFill>
                <a:srgbClr val="451F61"/>
              </a:solidFill>
              <a:latin typeface="Source Serif Pro"/>
              <a:ea typeface="Source Serif Pro"/>
              <a:cs typeface="Source Serif Pro"/>
              <a:sym typeface="Source Serif Pro"/>
            </a:endParaRPr>
          </a:p>
        </p:txBody>
      </p:sp>
      <p:sp>
        <p:nvSpPr>
          <p:cNvPr id="471" name="Google Shape;471;p74"/>
          <p:cNvSpPr txBox="1"/>
          <p:nvPr/>
        </p:nvSpPr>
        <p:spPr>
          <a:xfrm>
            <a:off x="267700" y="6492843"/>
            <a:ext cx="11414800" cy="164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defTabSz="1219170"/>
            <a:endParaRPr sz="1067">
              <a:solidFill>
                <a:srgbClr val="451F61"/>
              </a:solidFill>
              <a:latin typeface="Source Serif Pro"/>
              <a:ea typeface="Source Serif Pro"/>
              <a:cs typeface="Source Serif Pro"/>
              <a:sym typeface="Source Serif Pro"/>
            </a:endParaRPr>
          </a:p>
        </p:txBody>
      </p:sp>
      <p:sp>
        <p:nvSpPr>
          <p:cNvPr id="472" name="Google Shape;472;p74"/>
          <p:cNvSpPr txBox="1"/>
          <p:nvPr/>
        </p:nvSpPr>
        <p:spPr>
          <a:xfrm>
            <a:off x="267700" y="6492843"/>
            <a:ext cx="11414800" cy="164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defTabSz="1219170"/>
            <a:r>
              <a:rPr lang="en-GB" sz="1067">
                <a:solidFill>
                  <a:srgbClr val="451F61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Source: GestionPEV </a:t>
            </a:r>
            <a:endParaRPr sz="1067">
              <a:solidFill>
                <a:srgbClr val="451F61"/>
              </a:solidFill>
              <a:latin typeface="Source Serif Pro"/>
              <a:ea typeface="Source Serif Pro"/>
              <a:cs typeface="Source Serif Pro"/>
              <a:sym typeface="Source Serif Pro"/>
            </a:endParaRPr>
          </a:p>
        </p:txBody>
      </p:sp>
      <p:graphicFrame>
        <p:nvGraphicFramePr>
          <p:cNvPr id="473" name="Google Shape;473;p74"/>
          <p:cNvGraphicFramePr/>
          <p:nvPr>
            <p:extLst>
              <p:ext uri="{D42A27DB-BD31-4B8C-83A1-F6EECF244321}">
                <p14:modId xmlns:p14="http://schemas.microsoft.com/office/powerpoint/2010/main" val="610097918"/>
              </p:ext>
            </p:extLst>
          </p:nvPr>
        </p:nvGraphicFramePr>
        <p:xfrm>
          <a:off x="307601" y="681537"/>
          <a:ext cx="11061125" cy="271209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1669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18179">
                  <a:extLst>
                    <a:ext uri="{9D8B030D-6E8A-4147-A177-3AD203B41FA5}">
                      <a16:colId xmlns:a16="http://schemas.microsoft.com/office/drawing/2014/main" val="497539502"/>
                    </a:ext>
                  </a:extLst>
                </a:gridCol>
              </a:tblGrid>
              <a:tr h="231317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b="1">
                          <a:latin typeface="Source Serif Pro"/>
                          <a:ea typeface="Source Serif Pro"/>
                          <a:cs typeface="Source Serif Pro"/>
                          <a:sym typeface="Source Serif Pro"/>
                        </a:rPr>
                        <a:t>Health zones</a:t>
                      </a:r>
                      <a:endParaRPr sz="1300" b="1">
                        <a:latin typeface="Source Serif Pro"/>
                        <a:ea typeface="Source Serif Pro"/>
                        <a:cs typeface="Source Serif Pro"/>
                        <a:sym typeface="Source Serif Pro"/>
                      </a:endParaRPr>
                    </a:p>
                  </a:txBody>
                  <a:tcPr marL="38100" marR="38100" marT="25400" marB="254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b="1">
                          <a:latin typeface="Source Serif Pro"/>
                          <a:ea typeface="Source Serif Pro"/>
                          <a:cs typeface="Source Serif Pro"/>
                          <a:sym typeface="Source Serif Pro"/>
                        </a:rPr>
                        <a:t>Nombre d'équipes</a:t>
                      </a:r>
                      <a:endParaRPr sz="1300" b="1">
                        <a:latin typeface="Source Serif Pro"/>
                        <a:ea typeface="Source Serif Pro"/>
                        <a:cs typeface="Source Serif Pro"/>
                        <a:sym typeface="Source Serif Pro"/>
                      </a:endParaRPr>
                    </a:p>
                  </a:txBody>
                  <a:tcPr marL="38100" marR="38100" marT="25400" marB="254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300" b="1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Nombre de localités</a:t>
                      </a:r>
                      <a:endParaRPr sz="1300" b="1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8100" marR="38100" marT="25400" marB="254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1317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b="1" dirty="0">
                          <a:latin typeface="Source Serif Pro"/>
                          <a:ea typeface="Source Serif Pro"/>
                          <a:cs typeface="Source Serif Pro"/>
                          <a:sym typeface="Source Serif Pro"/>
                        </a:rPr>
                        <a:t>Banalia</a:t>
                      </a:r>
                      <a:endParaRPr sz="1300" b="1" dirty="0">
                        <a:latin typeface="Source Serif Pro"/>
                        <a:ea typeface="Source Serif Pro"/>
                        <a:cs typeface="Source Serif Pro"/>
                        <a:sym typeface="Source Serif Pro"/>
                      </a:endParaRPr>
                    </a:p>
                  </a:txBody>
                  <a:tcPr marL="38100" marR="38100" marT="25400" marB="254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dirty="0">
                          <a:latin typeface="Source Serif Pro"/>
                          <a:ea typeface="Source Serif Pro"/>
                          <a:cs typeface="Source Serif Pro"/>
                          <a:sym typeface="Source Serif Pro"/>
                        </a:rPr>
                        <a:t>12</a:t>
                      </a:r>
                      <a:endParaRPr sz="1300" dirty="0">
                        <a:latin typeface="Source Serif Pro"/>
                        <a:ea typeface="Source Serif Pro"/>
                        <a:cs typeface="Source Serif Pro"/>
                        <a:sym typeface="Source Serif Pro"/>
                      </a:endParaRPr>
                    </a:p>
                  </a:txBody>
                  <a:tcPr marL="38100" marR="38100" marT="25400" marB="254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300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114</a:t>
                      </a:r>
                      <a:endParaRPr sz="13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8100" marR="38100" marT="25400" marB="254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1317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b="1" dirty="0" err="1">
                          <a:latin typeface="Source Serif Pro"/>
                          <a:ea typeface="Source Serif Pro"/>
                          <a:cs typeface="Source Serif Pro"/>
                          <a:sym typeface="Source Serif Pro"/>
                        </a:rPr>
                        <a:t>Basoko</a:t>
                      </a:r>
                      <a:endParaRPr sz="1300" b="1" dirty="0">
                        <a:latin typeface="Source Serif Pro"/>
                        <a:ea typeface="Source Serif Pro"/>
                        <a:cs typeface="Source Serif Pro"/>
                        <a:sym typeface="Source Serif Pro"/>
                      </a:endParaRPr>
                    </a:p>
                  </a:txBody>
                  <a:tcPr marL="38100" marR="38100" marT="25400" marB="254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dirty="0">
                          <a:latin typeface="Source Serif Pro"/>
                          <a:ea typeface="Source Serif Pro"/>
                          <a:cs typeface="Source Serif Pro"/>
                          <a:sym typeface="Source Serif Pro"/>
                        </a:rPr>
                        <a:t>6</a:t>
                      </a:r>
                      <a:endParaRPr sz="1300" dirty="0">
                        <a:latin typeface="Source Serif Pro"/>
                        <a:ea typeface="Source Serif Pro"/>
                        <a:cs typeface="Source Serif Pro"/>
                        <a:sym typeface="Source Serif Pro"/>
                      </a:endParaRPr>
                    </a:p>
                  </a:txBody>
                  <a:tcPr marL="38100" marR="38100" marT="25400" marB="254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300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89</a:t>
                      </a:r>
                      <a:endParaRPr sz="13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8100" marR="38100" marT="25400" marB="254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7E1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1317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b="1">
                          <a:latin typeface="Source Serif Pro"/>
                          <a:ea typeface="Source Serif Pro"/>
                          <a:cs typeface="Source Serif Pro"/>
                          <a:sym typeface="Source Serif Pro"/>
                        </a:rPr>
                        <a:t>Lowa</a:t>
                      </a:r>
                      <a:endParaRPr sz="1300" b="1">
                        <a:latin typeface="Source Serif Pro"/>
                        <a:ea typeface="Source Serif Pro"/>
                        <a:cs typeface="Source Serif Pro"/>
                        <a:sym typeface="Source Serif Pro"/>
                      </a:endParaRPr>
                    </a:p>
                  </a:txBody>
                  <a:tcPr marL="38100" marR="38100" marT="25400" marB="254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Source Serif Pro"/>
                          <a:ea typeface="Source Serif Pro"/>
                          <a:cs typeface="Source Serif Pro"/>
                          <a:sym typeface="Source Serif Pro"/>
                        </a:rPr>
                        <a:t>7</a:t>
                      </a:r>
                      <a:endParaRPr sz="1300">
                        <a:latin typeface="Source Serif Pro"/>
                        <a:ea typeface="Source Serif Pro"/>
                        <a:cs typeface="Source Serif Pro"/>
                        <a:sym typeface="Source Serif Pro"/>
                      </a:endParaRPr>
                    </a:p>
                  </a:txBody>
                  <a:tcPr marL="38100" marR="38100" marT="25400" marB="254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300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26</a:t>
                      </a:r>
                      <a:endParaRPr sz="13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8100" marR="38100" marT="25400" marB="254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8876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b="1">
                          <a:latin typeface="Source Serif Pro"/>
                          <a:ea typeface="Source Serif Pro"/>
                          <a:cs typeface="Source Serif Pro"/>
                          <a:sym typeface="Source Serif Pro"/>
                        </a:rPr>
                        <a:t>Lubunga</a:t>
                      </a:r>
                      <a:endParaRPr sz="1300" b="1">
                        <a:latin typeface="Source Serif Pro"/>
                        <a:ea typeface="Source Serif Pro"/>
                        <a:cs typeface="Source Serif Pro"/>
                        <a:sym typeface="Source Serif Pro"/>
                      </a:endParaRPr>
                    </a:p>
                  </a:txBody>
                  <a:tcPr marL="38100" marR="38100" marT="25400" marB="254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Source Serif Pro"/>
                          <a:ea typeface="Source Serif Pro"/>
                          <a:cs typeface="Source Serif Pro"/>
                          <a:sym typeface="Source Serif Pro"/>
                        </a:rPr>
                        <a:t>10</a:t>
                      </a:r>
                      <a:endParaRPr sz="1300">
                        <a:latin typeface="Source Serif Pro"/>
                        <a:ea typeface="Source Serif Pro"/>
                        <a:cs typeface="Source Serif Pro"/>
                        <a:sym typeface="Source Serif Pro"/>
                      </a:endParaRPr>
                    </a:p>
                  </a:txBody>
                  <a:tcPr marL="38100" marR="38100" marT="25400" marB="254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300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82</a:t>
                      </a:r>
                      <a:endParaRPr sz="13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8100" marR="38100" marT="25400" marB="254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7E1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1317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b="1">
                          <a:latin typeface="Source Serif Pro"/>
                          <a:ea typeface="Source Serif Pro"/>
                          <a:cs typeface="Source Serif Pro"/>
                          <a:sym typeface="Source Serif Pro"/>
                        </a:rPr>
                        <a:t>Ubundu</a:t>
                      </a:r>
                      <a:endParaRPr sz="1300" b="1">
                        <a:latin typeface="Source Serif Pro"/>
                        <a:ea typeface="Source Serif Pro"/>
                        <a:cs typeface="Source Serif Pro"/>
                        <a:sym typeface="Source Serif Pro"/>
                      </a:endParaRPr>
                    </a:p>
                  </a:txBody>
                  <a:tcPr marL="38100" marR="38100" marT="25400" marB="254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Source Serif Pro"/>
                          <a:ea typeface="Source Serif Pro"/>
                          <a:cs typeface="Source Serif Pro"/>
                          <a:sym typeface="Source Serif Pro"/>
                        </a:rPr>
                        <a:t>6</a:t>
                      </a:r>
                      <a:endParaRPr sz="1300">
                        <a:latin typeface="Source Serif Pro"/>
                        <a:ea typeface="Source Serif Pro"/>
                        <a:cs typeface="Source Serif Pro"/>
                        <a:sym typeface="Source Serif Pro"/>
                      </a:endParaRPr>
                    </a:p>
                  </a:txBody>
                  <a:tcPr marL="38100" marR="38100" marT="25400" marB="254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300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20</a:t>
                      </a:r>
                      <a:endParaRPr sz="13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8100" marR="38100" marT="25400" marB="254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8876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b="1">
                          <a:latin typeface="Source Serif Pro"/>
                          <a:ea typeface="Source Serif Pro"/>
                          <a:cs typeface="Source Serif Pro"/>
                          <a:sym typeface="Source Serif Pro"/>
                        </a:rPr>
                        <a:t>Yakusu</a:t>
                      </a:r>
                      <a:endParaRPr sz="1300" b="1">
                        <a:latin typeface="Source Serif Pro"/>
                        <a:ea typeface="Source Serif Pro"/>
                        <a:cs typeface="Source Serif Pro"/>
                        <a:sym typeface="Source Serif Pro"/>
                      </a:endParaRPr>
                    </a:p>
                  </a:txBody>
                  <a:tcPr marL="38100" marR="38100" marT="25400" marB="254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Source Serif Pro"/>
                          <a:ea typeface="Source Serif Pro"/>
                          <a:cs typeface="Source Serif Pro"/>
                          <a:sym typeface="Source Serif Pro"/>
                        </a:rPr>
                        <a:t>6</a:t>
                      </a:r>
                      <a:endParaRPr sz="1300">
                        <a:latin typeface="Source Serif Pro"/>
                        <a:ea typeface="Source Serif Pro"/>
                        <a:cs typeface="Source Serif Pro"/>
                        <a:sym typeface="Source Serif Pro"/>
                      </a:endParaRPr>
                    </a:p>
                  </a:txBody>
                  <a:tcPr marL="38100" marR="38100" marT="25400" marB="254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300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19</a:t>
                      </a:r>
                      <a:endParaRPr sz="13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8100" marR="38100" marT="25400" marB="254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7E1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1317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b="1">
                          <a:latin typeface="Source Serif Pro"/>
                          <a:ea typeface="Source Serif Pro"/>
                          <a:cs typeface="Source Serif Pro"/>
                          <a:sym typeface="Source Serif Pro"/>
                        </a:rPr>
                        <a:t>Yahuma</a:t>
                      </a:r>
                      <a:endParaRPr sz="1300" b="1">
                        <a:latin typeface="Source Serif Pro"/>
                        <a:ea typeface="Source Serif Pro"/>
                        <a:cs typeface="Source Serif Pro"/>
                        <a:sym typeface="Source Serif Pro"/>
                      </a:endParaRPr>
                    </a:p>
                  </a:txBody>
                  <a:tcPr marL="38100" marR="38100" marT="25400" marB="254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Source Serif Pro"/>
                          <a:ea typeface="Source Serif Pro"/>
                          <a:cs typeface="Source Serif Pro"/>
                          <a:sym typeface="Source Serif Pro"/>
                        </a:rPr>
                        <a:t>6</a:t>
                      </a:r>
                      <a:endParaRPr sz="1300">
                        <a:latin typeface="Source Serif Pro"/>
                        <a:ea typeface="Source Serif Pro"/>
                        <a:cs typeface="Source Serif Pro"/>
                        <a:sym typeface="Source Serif Pro"/>
                      </a:endParaRPr>
                    </a:p>
                  </a:txBody>
                  <a:tcPr marL="38100" marR="38100" marT="25400" marB="254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300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70</a:t>
                      </a:r>
                      <a:endParaRPr sz="13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8100" marR="38100" marT="25400" marB="254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4772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b="1">
                          <a:latin typeface="Source Serif Pro"/>
                          <a:ea typeface="Source Serif Pro"/>
                          <a:cs typeface="Source Serif Pro"/>
                          <a:sym typeface="Source Serif Pro"/>
                        </a:rPr>
                        <a:t>Yalimbongo</a:t>
                      </a:r>
                      <a:endParaRPr sz="1300" b="1">
                        <a:latin typeface="Source Serif Pro"/>
                        <a:ea typeface="Source Serif Pro"/>
                        <a:cs typeface="Source Serif Pro"/>
                        <a:sym typeface="Source Serif Pro"/>
                      </a:endParaRPr>
                    </a:p>
                  </a:txBody>
                  <a:tcPr marL="38100" marR="38100" marT="25400" marB="254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Source Serif Pro"/>
                          <a:ea typeface="Source Serif Pro"/>
                          <a:cs typeface="Source Serif Pro"/>
                          <a:sym typeface="Source Serif Pro"/>
                        </a:rPr>
                        <a:t>4</a:t>
                      </a:r>
                      <a:endParaRPr sz="1300">
                        <a:latin typeface="Source Serif Pro"/>
                        <a:ea typeface="Source Serif Pro"/>
                        <a:cs typeface="Source Serif Pro"/>
                        <a:sym typeface="Source Serif Pro"/>
                      </a:endParaRPr>
                    </a:p>
                  </a:txBody>
                  <a:tcPr marL="38100" marR="38100" marT="25400" marB="254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300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112</a:t>
                      </a:r>
                      <a:endParaRPr sz="13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8100" marR="38100" marT="25400" marB="254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7E1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8876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b="1" dirty="0">
                          <a:latin typeface="Source Serif Pro"/>
                          <a:ea typeface="Source Serif Pro"/>
                          <a:cs typeface="Source Serif Pro"/>
                          <a:sym typeface="Source Serif Pro"/>
                        </a:rPr>
                        <a:t>Total</a:t>
                      </a:r>
                      <a:endParaRPr sz="1300" b="1" dirty="0">
                        <a:latin typeface="Source Serif Pro"/>
                        <a:ea typeface="Source Serif Pro"/>
                        <a:cs typeface="Source Serif Pro"/>
                        <a:sym typeface="Source Serif Pro"/>
                      </a:endParaRPr>
                    </a:p>
                  </a:txBody>
                  <a:tcPr marL="38100" marR="38100" marT="25400" marB="254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Source Serif Pro"/>
                          <a:ea typeface="Source Serif Pro"/>
                          <a:cs typeface="Source Serif Pro"/>
                          <a:sym typeface="Source Serif Pro"/>
                        </a:rPr>
                        <a:t>57</a:t>
                      </a:r>
                      <a:endParaRPr sz="1300">
                        <a:latin typeface="Source Serif Pro"/>
                        <a:ea typeface="Source Serif Pro"/>
                        <a:cs typeface="Source Serif Pro"/>
                        <a:sym typeface="Source Serif Pro"/>
                      </a:endParaRPr>
                    </a:p>
                  </a:txBody>
                  <a:tcPr marL="38100" marR="38100" marT="25400" marB="254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300" b="1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532</a:t>
                      </a:r>
                      <a:endParaRPr sz="1300" b="1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8100" marR="38100" marT="25400" marB="254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3" name="Google Shape;560;p80">
            <a:extLst>
              <a:ext uri="{FF2B5EF4-FFF2-40B4-BE49-F238E27FC236}">
                <a16:creationId xmlns:a16="http://schemas.microsoft.com/office/drawing/2014/main" id="{4969A12E-25F4-D6BF-1149-B9CAAD2060D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92797840"/>
              </p:ext>
            </p:extLst>
          </p:nvPr>
        </p:nvGraphicFramePr>
        <p:xfrm>
          <a:off x="307600" y="3594658"/>
          <a:ext cx="10969102" cy="308081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8912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29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29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29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1298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1298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1298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08081">
                <a:tc gridSpan="7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b="1" dirty="0">
                          <a:solidFill>
                            <a:srgbClr val="FFFFFF"/>
                          </a:solidFill>
                          <a:latin typeface="Source Serif Pro"/>
                          <a:ea typeface="Source Serif Pro"/>
                          <a:cs typeface="Source Serif Pro"/>
                          <a:sym typeface="Source Serif Pro"/>
                        </a:rPr>
                        <a:t>TSHOPO BLOC 2</a:t>
                      </a:r>
                      <a:endParaRPr sz="1300" b="1" dirty="0">
                        <a:solidFill>
                          <a:srgbClr val="FFFFFF"/>
                        </a:solidFill>
                        <a:latin typeface="Source Serif Pro"/>
                        <a:ea typeface="Source Serif Pro"/>
                        <a:cs typeface="Source Serif Pro"/>
                        <a:sym typeface="Source Serif Pro"/>
                      </a:endParaRPr>
                    </a:p>
                  </a:txBody>
                  <a:tcPr marL="38100" marR="38100" marT="25400" marB="2540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51C7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081">
                <a:tc row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b="1">
                          <a:latin typeface="Source Serif Pro"/>
                          <a:ea typeface="Source Serif Pro"/>
                          <a:cs typeface="Source Serif Pro"/>
                          <a:sym typeface="Source Serif Pro"/>
                        </a:rPr>
                        <a:t>Zones de santé</a:t>
                      </a:r>
                      <a:endParaRPr sz="1300" b="1">
                        <a:latin typeface="Source Serif Pro"/>
                        <a:ea typeface="Source Serif Pro"/>
                        <a:cs typeface="Source Serif Pro"/>
                        <a:sym typeface="Source Serif Pro"/>
                      </a:endParaRPr>
                    </a:p>
                  </a:txBody>
                  <a:tcPr marL="38100" marR="38100" marT="25400" marB="254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b="1" dirty="0">
                          <a:latin typeface="Source Serif Pro"/>
                          <a:ea typeface="Source Serif Pro"/>
                          <a:cs typeface="Source Serif Pro"/>
                          <a:sym typeface="Source Serif Pro"/>
                        </a:rPr>
                        <a:t>1er passage</a:t>
                      </a:r>
                      <a:endParaRPr sz="1300" b="1" dirty="0">
                        <a:latin typeface="Source Serif Pro"/>
                        <a:ea typeface="Source Serif Pro"/>
                        <a:cs typeface="Source Serif Pro"/>
                        <a:sym typeface="Source Serif Pro"/>
                      </a:endParaRPr>
                    </a:p>
                  </a:txBody>
                  <a:tcPr marL="38100" marR="38100" marT="25400" marB="254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b="1" dirty="0">
                          <a:latin typeface="Source Serif Pro"/>
                          <a:ea typeface="Source Serif Pro"/>
                          <a:cs typeface="Source Serif Pro"/>
                          <a:sym typeface="Source Serif Pro"/>
                        </a:rPr>
                        <a:t>2e passage</a:t>
                      </a:r>
                      <a:endParaRPr sz="1300" b="1" dirty="0">
                        <a:latin typeface="Source Serif Pro"/>
                        <a:ea typeface="Source Serif Pro"/>
                        <a:cs typeface="Source Serif Pro"/>
                        <a:sym typeface="Source Serif Pro"/>
                      </a:endParaRPr>
                    </a:p>
                  </a:txBody>
                  <a:tcPr marL="38100" marR="38100" marT="25400" marB="254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808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b="1" i="1">
                          <a:latin typeface="Source Serif Pro"/>
                          <a:ea typeface="Source Serif Pro"/>
                          <a:cs typeface="Source Serif Pro"/>
                          <a:sym typeface="Source Serif Pro"/>
                        </a:rPr>
                        <a:t>Vaccinés</a:t>
                      </a:r>
                      <a:endParaRPr sz="1300" b="1" i="1">
                        <a:latin typeface="Source Serif Pro"/>
                        <a:ea typeface="Source Serif Pro"/>
                        <a:cs typeface="Source Serif Pro"/>
                        <a:sym typeface="Source Serif Pro"/>
                      </a:endParaRPr>
                    </a:p>
                  </a:txBody>
                  <a:tcPr marL="38100" marR="38100" marT="25400" marB="254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b="1" i="1">
                          <a:latin typeface="Source Serif Pro"/>
                          <a:ea typeface="Source Serif Pro"/>
                          <a:cs typeface="Source Serif Pro"/>
                          <a:sym typeface="Source Serif Pro"/>
                        </a:rPr>
                        <a:t>Attendus</a:t>
                      </a:r>
                      <a:endParaRPr sz="1300" b="1" i="1">
                        <a:latin typeface="Source Serif Pro"/>
                        <a:ea typeface="Source Serif Pro"/>
                        <a:cs typeface="Source Serif Pro"/>
                        <a:sym typeface="Source Serif Pro"/>
                      </a:endParaRPr>
                    </a:p>
                  </a:txBody>
                  <a:tcPr marL="38100" marR="38100" marT="25400" marB="2540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b="1" i="1">
                          <a:latin typeface="Source Serif Pro"/>
                          <a:ea typeface="Source Serif Pro"/>
                          <a:cs typeface="Source Serif Pro"/>
                          <a:sym typeface="Source Serif Pro"/>
                        </a:rPr>
                        <a:t>Couverture</a:t>
                      </a:r>
                      <a:endParaRPr sz="1300" b="1" i="1">
                        <a:latin typeface="Source Serif Pro"/>
                        <a:ea typeface="Source Serif Pro"/>
                        <a:cs typeface="Source Serif Pro"/>
                        <a:sym typeface="Source Serif Pro"/>
                      </a:endParaRPr>
                    </a:p>
                  </a:txBody>
                  <a:tcPr marL="38100" marR="38100" marT="25400" marB="2540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b="1" i="1">
                          <a:latin typeface="Source Serif Pro"/>
                          <a:ea typeface="Source Serif Pro"/>
                          <a:cs typeface="Source Serif Pro"/>
                          <a:sym typeface="Source Serif Pro"/>
                        </a:rPr>
                        <a:t>Vaccinés</a:t>
                      </a:r>
                      <a:endParaRPr sz="1300" b="1" i="1">
                        <a:latin typeface="Source Serif Pro"/>
                        <a:ea typeface="Source Serif Pro"/>
                        <a:cs typeface="Source Serif Pro"/>
                        <a:sym typeface="Source Serif Pro"/>
                      </a:endParaRPr>
                    </a:p>
                  </a:txBody>
                  <a:tcPr marL="38100" marR="38100" marT="25400" marB="254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b="1" i="1">
                          <a:latin typeface="Source Serif Pro"/>
                          <a:ea typeface="Source Serif Pro"/>
                          <a:cs typeface="Source Serif Pro"/>
                          <a:sym typeface="Source Serif Pro"/>
                        </a:rPr>
                        <a:t>Attendus</a:t>
                      </a:r>
                      <a:endParaRPr sz="1300" b="1" i="1">
                        <a:latin typeface="Source Serif Pro"/>
                        <a:ea typeface="Source Serif Pro"/>
                        <a:cs typeface="Source Serif Pro"/>
                        <a:sym typeface="Source Serif Pro"/>
                      </a:endParaRPr>
                    </a:p>
                  </a:txBody>
                  <a:tcPr marL="38100" marR="38100" marT="25400" marB="2540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b="1" i="1">
                          <a:latin typeface="Source Serif Pro"/>
                          <a:ea typeface="Source Serif Pro"/>
                          <a:cs typeface="Source Serif Pro"/>
                          <a:sym typeface="Source Serif Pro"/>
                        </a:rPr>
                        <a:t>Couverture</a:t>
                      </a:r>
                      <a:endParaRPr sz="1300" b="1" i="1">
                        <a:latin typeface="Source Serif Pro"/>
                        <a:ea typeface="Source Serif Pro"/>
                        <a:cs typeface="Source Serif Pro"/>
                        <a:sym typeface="Source Serif Pro"/>
                      </a:endParaRPr>
                    </a:p>
                  </a:txBody>
                  <a:tcPr marL="38100" marR="38100" marT="25400" marB="2540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8081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Source Serif Pro"/>
                          <a:ea typeface="Source Serif Pro"/>
                          <a:cs typeface="Source Serif Pro"/>
                          <a:sym typeface="Source Serif Pro"/>
                        </a:rPr>
                        <a:t>Banalia</a:t>
                      </a:r>
                      <a:endParaRPr sz="1300">
                        <a:latin typeface="Source Serif Pro"/>
                        <a:ea typeface="Source Serif Pro"/>
                        <a:cs typeface="Source Serif Pro"/>
                        <a:sym typeface="Source Serif Pro"/>
                      </a:endParaRPr>
                    </a:p>
                  </a:txBody>
                  <a:tcPr marL="38100" marR="38100" marT="25400" marB="254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Source Serif Pro"/>
                          <a:ea typeface="Source Serif Pro"/>
                          <a:cs typeface="Source Serif Pro"/>
                          <a:sym typeface="Source Serif Pro"/>
                        </a:rPr>
                        <a:t>3,997</a:t>
                      </a:r>
                      <a:endParaRPr sz="1300">
                        <a:latin typeface="Source Serif Pro"/>
                        <a:ea typeface="Source Serif Pro"/>
                        <a:cs typeface="Source Serif Pro"/>
                        <a:sym typeface="Source Serif Pro"/>
                      </a:endParaRPr>
                    </a:p>
                  </a:txBody>
                  <a:tcPr marL="38100" marR="38100" marT="25400" marB="254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Source Serif Pro"/>
                          <a:ea typeface="Source Serif Pro"/>
                          <a:cs typeface="Source Serif Pro"/>
                          <a:sym typeface="Source Serif Pro"/>
                        </a:rPr>
                        <a:t>4,125</a:t>
                      </a:r>
                      <a:endParaRPr sz="1300">
                        <a:latin typeface="Source Serif Pro"/>
                        <a:ea typeface="Source Serif Pro"/>
                        <a:cs typeface="Source Serif Pro"/>
                        <a:sym typeface="Source Serif Pro"/>
                      </a:endParaRPr>
                    </a:p>
                  </a:txBody>
                  <a:tcPr marL="38100" marR="38100" marT="25400" marB="2540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Source Serif Pro"/>
                          <a:ea typeface="Source Serif Pro"/>
                          <a:cs typeface="Source Serif Pro"/>
                          <a:sym typeface="Source Serif Pro"/>
                        </a:rPr>
                        <a:t>97%</a:t>
                      </a:r>
                      <a:endParaRPr sz="1300">
                        <a:latin typeface="Source Serif Pro"/>
                        <a:ea typeface="Source Serif Pro"/>
                        <a:cs typeface="Source Serif Pro"/>
                        <a:sym typeface="Source Serif Pro"/>
                      </a:endParaRPr>
                    </a:p>
                  </a:txBody>
                  <a:tcPr marL="38100" marR="38100" marT="25400" marB="2540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Source Serif Pro"/>
                          <a:ea typeface="Source Serif Pro"/>
                          <a:cs typeface="Source Serif Pro"/>
                          <a:sym typeface="Source Serif Pro"/>
                        </a:rPr>
                        <a:t>2,420</a:t>
                      </a:r>
                      <a:endParaRPr sz="1300">
                        <a:latin typeface="Source Serif Pro"/>
                        <a:ea typeface="Source Serif Pro"/>
                        <a:cs typeface="Source Serif Pro"/>
                        <a:sym typeface="Source Serif Pro"/>
                      </a:endParaRPr>
                    </a:p>
                  </a:txBody>
                  <a:tcPr marL="38100" marR="38100" marT="25400" marB="254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Source Serif Pro"/>
                          <a:ea typeface="Source Serif Pro"/>
                          <a:cs typeface="Source Serif Pro"/>
                          <a:sym typeface="Source Serif Pro"/>
                        </a:rPr>
                        <a:t>2,494</a:t>
                      </a:r>
                      <a:endParaRPr sz="1300">
                        <a:latin typeface="Source Serif Pro"/>
                        <a:ea typeface="Source Serif Pro"/>
                        <a:cs typeface="Source Serif Pro"/>
                        <a:sym typeface="Source Serif Pro"/>
                      </a:endParaRPr>
                    </a:p>
                  </a:txBody>
                  <a:tcPr marL="38100" marR="38100" marT="25400" marB="2540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b="1">
                          <a:latin typeface="Source Serif Pro"/>
                          <a:ea typeface="Source Serif Pro"/>
                          <a:cs typeface="Source Serif Pro"/>
                          <a:sym typeface="Source Serif Pro"/>
                        </a:rPr>
                        <a:t>97%</a:t>
                      </a:r>
                      <a:endParaRPr sz="1300" b="1">
                        <a:latin typeface="Source Serif Pro"/>
                        <a:ea typeface="Source Serif Pro"/>
                        <a:cs typeface="Source Serif Pro"/>
                        <a:sym typeface="Source Serif Pro"/>
                      </a:endParaRPr>
                    </a:p>
                  </a:txBody>
                  <a:tcPr marL="38100" marR="38100" marT="25400" marB="2540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8081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dirty="0">
                          <a:solidFill>
                            <a:srgbClr val="FF0000"/>
                          </a:solidFill>
                          <a:latin typeface="Source Serif Pro"/>
                          <a:ea typeface="Source Serif Pro"/>
                          <a:cs typeface="Source Serif Pro"/>
                          <a:sym typeface="Source Serif Pro"/>
                        </a:rPr>
                        <a:t>Basoko</a:t>
                      </a:r>
                      <a:endParaRPr sz="1300" dirty="0">
                        <a:solidFill>
                          <a:srgbClr val="FF0000"/>
                        </a:solidFill>
                        <a:latin typeface="Source Serif Pro"/>
                        <a:ea typeface="Source Serif Pro"/>
                        <a:cs typeface="Source Serif Pro"/>
                        <a:sym typeface="Source Serif Pro"/>
                      </a:endParaRPr>
                    </a:p>
                  </a:txBody>
                  <a:tcPr marL="38100" marR="38100" marT="25400" marB="254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dirty="0">
                          <a:solidFill>
                            <a:srgbClr val="FF0000"/>
                          </a:solidFill>
                          <a:latin typeface="Source Serif Pro"/>
                          <a:ea typeface="Source Serif Pro"/>
                          <a:cs typeface="Source Serif Pro"/>
                          <a:sym typeface="Source Serif Pro"/>
                        </a:rPr>
                        <a:t>1,162</a:t>
                      </a:r>
                      <a:endParaRPr sz="1300" dirty="0">
                        <a:solidFill>
                          <a:srgbClr val="FF0000"/>
                        </a:solidFill>
                        <a:latin typeface="Source Serif Pro"/>
                        <a:ea typeface="Source Serif Pro"/>
                        <a:cs typeface="Source Serif Pro"/>
                        <a:sym typeface="Source Serif Pro"/>
                      </a:endParaRPr>
                    </a:p>
                  </a:txBody>
                  <a:tcPr marL="38100" marR="38100" marT="25400" marB="254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dirty="0">
                          <a:solidFill>
                            <a:srgbClr val="FF0000"/>
                          </a:solidFill>
                          <a:latin typeface="Source Serif Pro"/>
                          <a:ea typeface="Source Serif Pro"/>
                          <a:cs typeface="Source Serif Pro"/>
                          <a:sym typeface="Source Serif Pro"/>
                        </a:rPr>
                        <a:t>832</a:t>
                      </a:r>
                      <a:endParaRPr sz="1300" dirty="0">
                        <a:solidFill>
                          <a:srgbClr val="FF0000"/>
                        </a:solidFill>
                        <a:latin typeface="Source Serif Pro"/>
                        <a:ea typeface="Source Serif Pro"/>
                        <a:cs typeface="Source Serif Pro"/>
                        <a:sym typeface="Source Serif Pro"/>
                      </a:endParaRPr>
                    </a:p>
                  </a:txBody>
                  <a:tcPr marL="38100" marR="38100" marT="25400" marB="2540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dirty="0">
                          <a:solidFill>
                            <a:srgbClr val="FF0000"/>
                          </a:solidFill>
                          <a:latin typeface="Source Serif Pro"/>
                          <a:ea typeface="Source Serif Pro"/>
                          <a:cs typeface="Source Serif Pro"/>
                          <a:sym typeface="Source Serif Pro"/>
                        </a:rPr>
                        <a:t>140%</a:t>
                      </a:r>
                      <a:endParaRPr sz="1300" dirty="0">
                        <a:solidFill>
                          <a:srgbClr val="FF0000"/>
                        </a:solidFill>
                        <a:latin typeface="Source Serif Pro"/>
                        <a:ea typeface="Source Serif Pro"/>
                        <a:cs typeface="Source Serif Pro"/>
                        <a:sym typeface="Source Serif Pro"/>
                      </a:endParaRPr>
                    </a:p>
                  </a:txBody>
                  <a:tcPr marL="38100" marR="38100" marT="25400" marB="2540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dirty="0">
                          <a:solidFill>
                            <a:srgbClr val="FF0000"/>
                          </a:solidFill>
                          <a:latin typeface="Source Serif Pro"/>
                          <a:ea typeface="Source Serif Pro"/>
                          <a:cs typeface="Source Serif Pro"/>
                          <a:sym typeface="Source Serif Pro"/>
                        </a:rPr>
                        <a:t>840</a:t>
                      </a:r>
                      <a:endParaRPr sz="1300" dirty="0">
                        <a:solidFill>
                          <a:srgbClr val="FF0000"/>
                        </a:solidFill>
                        <a:latin typeface="Source Serif Pro"/>
                        <a:ea typeface="Source Serif Pro"/>
                        <a:cs typeface="Source Serif Pro"/>
                        <a:sym typeface="Source Serif Pro"/>
                      </a:endParaRPr>
                    </a:p>
                  </a:txBody>
                  <a:tcPr marL="38100" marR="38100" marT="25400" marB="254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dirty="0">
                          <a:solidFill>
                            <a:srgbClr val="FF0000"/>
                          </a:solidFill>
                          <a:latin typeface="Source Serif Pro"/>
                          <a:ea typeface="Source Serif Pro"/>
                          <a:cs typeface="Source Serif Pro"/>
                          <a:sym typeface="Source Serif Pro"/>
                        </a:rPr>
                        <a:t>516</a:t>
                      </a:r>
                      <a:endParaRPr sz="1300" dirty="0">
                        <a:solidFill>
                          <a:srgbClr val="FF0000"/>
                        </a:solidFill>
                        <a:latin typeface="Source Serif Pro"/>
                        <a:ea typeface="Source Serif Pro"/>
                        <a:cs typeface="Source Serif Pro"/>
                        <a:sym typeface="Source Serif Pro"/>
                      </a:endParaRPr>
                    </a:p>
                  </a:txBody>
                  <a:tcPr marL="38100" marR="38100" marT="25400" marB="2540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b="1" dirty="0">
                          <a:solidFill>
                            <a:srgbClr val="FF0000"/>
                          </a:solidFill>
                          <a:latin typeface="Source Serif Pro"/>
                          <a:ea typeface="Source Serif Pro"/>
                          <a:cs typeface="Source Serif Pro"/>
                          <a:sym typeface="Source Serif Pro"/>
                        </a:rPr>
                        <a:t>163%</a:t>
                      </a:r>
                      <a:endParaRPr sz="1300" b="1" dirty="0">
                        <a:solidFill>
                          <a:srgbClr val="FF0000"/>
                        </a:solidFill>
                        <a:latin typeface="Source Serif Pro"/>
                        <a:ea typeface="Source Serif Pro"/>
                        <a:cs typeface="Source Serif Pro"/>
                        <a:sym typeface="Source Serif Pro"/>
                      </a:endParaRPr>
                    </a:p>
                  </a:txBody>
                  <a:tcPr marL="38100" marR="38100" marT="25400" marB="2540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8081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Source Serif Pro"/>
                          <a:ea typeface="Source Serif Pro"/>
                          <a:cs typeface="Source Serif Pro"/>
                          <a:sym typeface="Source Serif Pro"/>
                        </a:rPr>
                        <a:t>Lowa</a:t>
                      </a:r>
                      <a:endParaRPr sz="1300">
                        <a:latin typeface="Source Serif Pro"/>
                        <a:ea typeface="Source Serif Pro"/>
                        <a:cs typeface="Source Serif Pro"/>
                        <a:sym typeface="Source Serif Pro"/>
                      </a:endParaRPr>
                    </a:p>
                  </a:txBody>
                  <a:tcPr marL="38100" marR="38100" marT="25400" marB="254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Source Serif Pro"/>
                          <a:ea typeface="Source Serif Pro"/>
                          <a:cs typeface="Source Serif Pro"/>
                          <a:sym typeface="Source Serif Pro"/>
                        </a:rPr>
                        <a:t>1,057</a:t>
                      </a:r>
                      <a:endParaRPr sz="1300">
                        <a:latin typeface="Source Serif Pro"/>
                        <a:ea typeface="Source Serif Pro"/>
                        <a:cs typeface="Source Serif Pro"/>
                        <a:sym typeface="Source Serif Pro"/>
                      </a:endParaRPr>
                    </a:p>
                  </a:txBody>
                  <a:tcPr marL="38100" marR="38100" marT="25400" marB="254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Source Serif Pro"/>
                          <a:ea typeface="Source Serif Pro"/>
                          <a:cs typeface="Source Serif Pro"/>
                          <a:sym typeface="Source Serif Pro"/>
                        </a:rPr>
                        <a:t>1,609</a:t>
                      </a:r>
                      <a:endParaRPr sz="1300">
                        <a:latin typeface="Source Serif Pro"/>
                        <a:ea typeface="Source Serif Pro"/>
                        <a:cs typeface="Source Serif Pro"/>
                        <a:sym typeface="Source Serif Pro"/>
                      </a:endParaRPr>
                    </a:p>
                  </a:txBody>
                  <a:tcPr marL="38100" marR="38100" marT="25400" marB="2540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Source Serif Pro"/>
                          <a:ea typeface="Source Serif Pro"/>
                          <a:cs typeface="Source Serif Pro"/>
                          <a:sym typeface="Source Serif Pro"/>
                        </a:rPr>
                        <a:t>66%</a:t>
                      </a:r>
                      <a:endParaRPr sz="1300">
                        <a:latin typeface="Source Serif Pro"/>
                        <a:ea typeface="Source Serif Pro"/>
                        <a:cs typeface="Source Serif Pro"/>
                        <a:sym typeface="Source Serif Pro"/>
                      </a:endParaRPr>
                    </a:p>
                  </a:txBody>
                  <a:tcPr marL="38100" marR="38100" marT="25400" marB="2540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Source Serif Pro"/>
                          <a:ea typeface="Source Serif Pro"/>
                          <a:cs typeface="Source Serif Pro"/>
                          <a:sym typeface="Source Serif Pro"/>
                        </a:rPr>
                        <a:t>2,320</a:t>
                      </a:r>
                      <a:endParaRPr sz="1300">
                        <a:latin typeface="Source Serif Pro"/>
                        <a:ea typeface="Source Serif Pro"/>
                        <a:cs typeface="Source Serif Pro"/>
                        <a:sym typeface="Source Serif Pro"/>
                      </a:endParaRPr>
                    </a:p>
                  </a:txBody>
                  <a:tcPr marL="38100" marR="38100" marT="25400" marB="254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Source Serif Pro"/>
                          <a:ea typeface="Source Serif Pro"/>
                          <a:cs typeface="Source Serif Pro"/>
                          <a:sym typeface="Source Serif Pro"/>
                        </a:rPr>
                        <a:t>3,117</a:t>
                      </a:r>
                      <a:endParaRPr sz="1300">
                        <a:latin typeface="Source Serif Pro"/>
                        <a:ea typeface="Source Serif Pro"/>
                        <a:cs typeface="Source Serif Pro"/>
                        <a:sym typeface="Source Serif Pro"/>
                      </a:endParaRPr>
                    </a:p>
                  </a:txBody>
                  <a:tcPr marL="38100" marR="38100" marT="25400" marB="2540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b="1">
                          <a:latin typeface="Source Serif Pro"/>
                          <a:ea typeface="Source Serif Pro"/>
                          <a:cs typeface="Source Serif Pro"/>
                          <a:sym typeface="Source Serif Pro"/>
                        </a:rPr>
                        <a:t>74%</a:t>
                      </a:r>
                      <a:endParaRPr sz="1300" b="1">
                        <a:latin typeface="Source Serif Pro"/>
                        <a:ea typeface="Source Serif Pro"/>
                        <a:cs typeface="Source Serif Pro"/>
                        <a:sym typeface="Source Serif Pro"/>
                      </a:endParaRPr>
                    </a:p>
                  </a:txBody>
                  <a:tcPr marL="38100" marR="38100" marT="25400" marB="2540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8081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Source Serif Pro"/>
                          <a:ea typeface="Source Serif Pro"/>
                          <a:cs typeface="Source Serif Pro"/>
                          <a:sym typeface="Source Serif Pro"/>
                        </a:rPr>
                        <a:t>Ubundu</a:t>
                      </a:r>
                      <a:endParaRPr sz="1300">
                        <a:latin typeface="Source Serif Pro"/>
                        <a:ea typeface="Source Serif Pro"/>
                        <a:cs typeface="Source Serif Pro"/>
                        <a:sym typeface="Source Serif Pro"/>
                      </a:endParaRPr>
                    </a:p>
                  </a:txBody>
                  <a:tcPr marL="38100" marR="38100" marT="25400" marB="254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Source Serif Pro"/>
                          <a:ea typeface="Source Serif Pro"/>
                          <a:cs typeface="Source Serif Pro"/>
                          <a:sym typeface="Source Serif Pro"/>
                        </a:rPr>
                        <a:t>342</a:t>
                      </a:r>
                      <a:endParaRPr sz="1300">
                        <a:latin typeface="Source Serif Pro"/>
                        <a:ea typeface="Source Serif Pro"/>
                        <a:cs typeface="Source Serif Pro"/>
                        <a:sym typeface="Source Serif Pro"/>
                      </a:endParaRPr>
                    </a:p>
                  </a:txBody>
                  <a:tcPr marL="38100" marR="38100" marT="25400" marB="254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Source Serif Pro"/>
                          <a:ea typeface="Source Serif Pro"/>
                          <a:cs typeface="Source Serif Pro"/>
                          <a:sym typeface="Source Serif Pro"/>
                        </a:rPr>
                        <a:t>342</a:t>
                      </a:r>
                      <a:endParaRPr sz="1300">
                        <a:latin typeface="Source Serif Pro"/>
                        <a:ea typeface="Source Serif Pro"/>
                        <a:cs typeface="Source Serif Pro"/>
                        <a:sym typeface="Source Serif Pro"/>
                      </a:endParaRPr>
                    </a:p>
                  </a:txBody>
                  <a:tcPr marL="38100" marR="38100" marT="25400" marB="2540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Source Serif Pro"/>
                          <a:ea typeface="Source Serif Pro"/>
                          <a:cs typeface="Source Serif Pro"/>
                          <a:sym typeface="Source Serif Pro"/>
                        </a:rPr>
                        <a:t>100%</a:t>
                      </a:r>
                      <a:endParaRPr sz="1300">
                        <a:latin typeface="Source Serif Pro"/>
                        <a:ea typeface="Source Serif Pro"/>
                        <a:cs typeface="Source Serif Pro"/>
                        <a:sym typeface="Source Serif Pro"/>
                      </a:endParaRPr>
                    </a:p>
                  </a:txBody>
                  <a:tcPr marL="38100" marR="38100" marT="25400" marB="2540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Source Serif Pro"/>
                          <a:ea typeface="Source Serif Pro"/>
                          <a:cs typeface="Source Serif Pro"/>
                          <a:sym typeface="Source Serif Pro"/>
                        </a:rPr>
                        <a:t>1,079</a:t>
                      </a:r>
                      <a:endParaRPr sz="1300">
                        <a:latin typeface="Source Serif Pro"/>
                        <a:ea typeface="Source Serif Pro"/>
                        <a:cs typeface="Source Serif Pro"/>
                        <a:sym typeface="Source Serif Pro"/>
                      </a:endParaRPr>
                    </a:p>
                  </a:txBody>
                  <a:tcPr marL="38100" marR="38100" marT="25400" marB="254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Source Serif Pro"/>
                          <a:ea typeface="Source Serif Pro"/>
                          <a:cs typeface="Source Serif Pro"/>
                          <a:sym typeface="Source Serif Pro"/>
                        </a:rPr>
                        <a:t>1,330</a:t>
                      </a:r>
                      <a:endParaRPr sz="1300">
                        <a:latin typeface="Source Serif Pro"/>
                        <a:ea typeface="Source Serif Pro"/>
                        <a:cs typeface="Source Serif Pro"/>
                        <a:sym typeface="Source Serif Pro"/>
                      </a:endParaRPr>
                    </a:p>
                  </a:txBody>
                  <a:tcPr marL="38100" marR="38100" marT="25400" marB="2540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b="1" dirty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Source Serif Pro"/>
                          <a:ea typeface="Source Serif Pro"/>
                          <a:cs typeface="Source Serif Pro"/>
                          <a:sym typeface="Source Serif Pro"/>
                        </a:rPr>
                        <a:t>81%</a:t>
                      </a:r>
                      <a:endParaRPr sz="1300" b="1" dirty="0">
                        <a:solidFill>
                          <a:schemeClr val="accent4">
                            <a:lumMod val="75000"/>
                          </a:schemeClr>
                        </a:solidFill>
                        <a:latin typeface="Source Serif Pro"/>
                        <a:ea typeface="Source Serif Pro"/>
                        <a:cs typeface="Source Serif Pro"/>
                        <a:sym typeface="Source Serif Pro"/>
                      </a:endParaRPr>
                    </a:p>
                  </a:txBody>
                  <a:tcPr marL="38100" marR="38100" marT="25400" marB="2540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8081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dirty="0" err="1">
                          <a:latin typeface="Source Serif Pro"/>
                          <a:ea typeface="Source Serif Pro"/>
                          <a:cs typeface="Source Serif Pro"/>
                          <a:sym typeface="Source Serif Pro"/>
                        </a:rPr>
                        <a:t>Yahuma</a:t>
                      </a:r>
                      <a:endParaRPr sz="1300" dirty="0">
                        <a:latin typeface="Source Serif Pro"/>
                        <a:ea typeface="Source Serif Pro"/>
                        <a:cs typeface="Source Serif Pro"/>
                        <a:sym typeface="Source Serif Pro"/>
                      </a:endParaRPr>
                    </a:p>
                  </a:txBody>
                  <a:tcPr marL="38100" marR="38100" marT="25400" marB="254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dirty="0">
                          <a:latin typeface="Source Serif Pro"/>
                          <a:ea typeface="Source Serif Pro"/>
                          <a:cs typeface="Source Serif Pro"/>
                          <a:sym typeface="Source Serif Pro"/>
                        </a:rPr>
                        <a:t>874</a:t>
                      </a:r>
                      <a:endParaRPr sz="1300" dirty="0">
                        <a:latin typeface="Source Serif Pro"/>
                        <a:ea typeface="Source Serif Pro"/>
                        <a:cs typeface="Source Serif Pro"/>
                        <a:sym typeface="Source Serif Pro"/>
                      </a:endParaRPr>
                    </a:p>
                  </a:txBody>
                  <a:tcPr marL="38100" marR="38100" marT="25400" marB="254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Source Serif Pro"/>
                          <a:ea typeface="Source Serif Pro"/>
                          <a:cs typeface="Source Serif Pro"/>
                          <a:sym typeface="Source Serif Pro"/>
                        </a:rPr>
                        <a:t>908</a:t>
                      </a:r>
                      <a:endParaRPr sz="1300">
                        <a:latin typeface="Source Serif Pro"/>
                        <a:ea typeface="Source Serif Pro"/>
                        <a:cs typeface="Source Serif Pro"/>
                        <a:sym typeface="Source Serif Pro"/>
                      </a:endParaRPr>
                    </a:p>
                  </a:txBody>
                  <a:tcPr marL="38100" marR="38100" marT="25400" marB="2540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Source Serif Pro"/>
                          <a:ea typeface="Source Serif Pro"/>
                          <a:cs typeface="Source Serif Pro"/>
                          <a:sym typeface="Source Serif Pro"/>
                        </a:rPr>
                        <a:t>96%</a:t>
                      </a:r>
                      <a:endParaRPr sz="1300">
                        <a:latin typeface="Source Serif Pro"/>
                        <a:ea typeface="Source Serif Pro"/>
                        <a:cs typeface="Source Serif Pro"/>
                        <a:sym typeface="Source Serif Pro"/>
                      </a:endParaRPr>
                    </a:p>
                  </a:txBody>
                  <a:tcPr marL="38100" marR="38100" marT="25400" marB="2540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Source Serif Pro"/>
                          <a:ea typeface="Source Serif Pro"/>
                          <a:cs typeface="Source Serif Pro"/>
                          <a:sym typeface="Source Serif Pro"/>
                        </a:rPr>
                        <a:t>1,201</a:t>
                      </a:r>
                      <a:endParaRPr sz="1300">
                        <a:latin typeface="Source Serif Pro"/>
                        <a:ea typeface="Source Serif Pro"/>
                        <a:cs typeface="Source Serif Pro"/>
                        <a:sym typeface="Source Serif Pro"/>
                      </a:endParaRPr>
                    </a:p>
                  </a:txBody>
                  <a:tcPr marL="38100" marR="38100" marT="25400" marB="254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Source Serif Pro"/>
                          <a:ea typeface="Source Serif Pro"/>
                          <a:cs typeface="Source Serif Pro"/>
                          <a:sym typeface="Source Serif Pro"/>
                        </a:rPr>
                        <a:t>1,233</a:t>
                      </a:r>
                      <a:endParaRPr sz="1300">
                        <a:latin typeface="Source Serif Pro"/>
                        <a:ea typeface="Source Serif Pro"/>
                        <a:cs typeface="Source Serif Pro"/>
                        <a:sym typeface="Source Serif Pro"/>
                      </a:endParaRPr>
                    </a:p>
                  </a:txBody>
                  <a:tcPr marL="38100" marR="38100" marT="25400" marB="2540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b="1" dirty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Source Serif Pro"/>
                          <a:ea typeface="Source Serif Pro"/>
                          <a:cs typeface="Source Serif Pro"/>
                          <a:sym typeface="Source Serif Pro"/>
                        </a:rPr>
                        <a:t>97%</a:t>
                      </a:r>
                      <a:endParaRPr sz="1300" b="1" dirty="0">
                        <a:solidFill>
                          <a:schemeClr val="accent4">
                            <a:lumMod val="75000"/>
                          </a:schemeClr>
                        </a:solidFill>
                        <a:latin typeface="Source Serif Pro"/>
                        <a:ea typeface="Source Serif Pro"/>
                        <a:cs typeface="Source Serif Pro"/>
                        <a:sym typeface="Source Serif Pro"/>
                      </a:endParaRPr>
                    </a:p>
                  </a:txBody>
                  <a:tcPr marL="38100" marR="38100" marT="25400" marB="2540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8081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dirty="0">
                          <a:latin typeface="Source Serif Pro"/>
                          <a:ea typeface="Source Serif Pro"/>
                          <a:cs typeface="Source Serif Pro"/>
                          <a:sym typeface="Source Serif Pro"/>
                        </a:rPr>
                        <a:t>Yalimbongo</a:t>
                      </a:r>
                      <a:endParaRPr sz="1300" dirty="0">
                        <a:latin typeface="Source Serif Pro"/>
                        <a:ea typeface="Source Serif Pro"/>
                        <a:cs typeface="Source Serif Pro"/>
                        <a:sym typeface="Source Serif Pro"/>
                      </a:endParaRPr>
                    </a:p>
                  </a:txBody>
                  <a:tcPr marL="38100" marR="38100" marT="25400" marB="254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Source Serif Pro"/>
                          <a:ea typeface="Source Serif Pro"/>
                          <a:cs typeface="Source Serif Pro"/>
                          <a:sym typeface="Source Serif Pro"/>
                        </a:rPr>
                        <a:t>541</a:t>
                      </a:r>
                      <a:endParaRPr sz="1300">
                        <a:latin typeface="Source Serif Pro"/>
                        <a:ea typeface="Source Serif Pro"/>
                        <a:cs typeface="Source Serif Pro"/>
                        <a:sym typeface="Source Serif Pro"/>
                      </a:endParaRPr>
                    </a:p>
                  </a:txBody>
                  <a:tcPr marL="38100" marR="38100" marT="25400" marB="254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Source Serif Pro"/>
                          <a:ea typeface="Source Serif Pro"/>
                          <a:cs typeface="Source Serif Pro"/>
                          <a:sym typeface="Source Serif Pro"/>
                        </a:rPr>
                        <a:t>526</a:t>
                      </a:r>
                      <a:endParaRPr sz="1300">
                        <a:latin typeface="Source Serif Pro"/>
                        <a:ea typeface="Source Serif Pro"/>
                        <a:cs typeface="Source Serif Pro"/>
                        <a:sym typeface="Source Serif Pro"/>
                      </a:endParaRPr>
                    </a:p>
                  </a:txBody>
                  <a:tcPr marL="38100" marR="38100" marT="25400" marB="2540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Source Serif Pro"/>
                          <a:ea typeface="Source Serif Pro"/>
                          <a:cs typeface="Source Serif Pro"/>
                          <a:sym typeface="Source Serif Pro"/>
                        </a:rPr>
                        <a:t>103%</a:t>
                      </a:r>
                      <a:endParaRPr sz="1300">
                        <a:latin typeface="Source Serif Pro"/>
                        <a:ea typeface="Source Serif Pro"/>
                        <a:cs typeface="Source Serif Pro"/>
                        <a:sym typeface="Source Serif Pro"/>
                      </a:endParaRPr>
                    </a:p>
                  </a:txBody>
                  <a:tcPr marL="38100" marR="38100" marT="25400" marB="2540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Source Serif Pro"/>
                          <a:ea typeface="Source Serif Pro"/>
                          <a:cs typeface="Source Serif Pro"/>
                          <a:sym typeface="Source Serif Pro"/>
                        </a:rPr>
                        <a:t>631</a:t>
                      </a:r>
                      <a:endParaRPr sz="1300">
                        <a:latin typeface="Source Serif Pro"/>
                        <a:ea typeface="Source Serif Pro"/>
                        <a:cs typeface="Source Serif Pro"/>
                        <a:sym typeface="Source Serif Pro"/>
                      </a:endParaRPr>
                    </a:p>
                  </a:txBody>
                  <a:tcPr marL="38100" marR="38100" marT="25400" marB="254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Source Serif Pro"/>
                          <a:ea typeface="Source Serif Pro"/>
                          <a:cs typeface="Source Serif Pro"/>
                          <a:sym typeface="Source Serif Pro"/>
                        </a:rPr>
                        <a:t>654</a:t>
                      </a:r>
                      <a:endParaRPr sz="1300">
                        <a:latin typeface="Source Serif Pro"/>
                        <a:ea typeface="Source Serif Pro"/>
                        <a:cs typeface="Source Serif Pro"/>
                        <a:sym typeface="Source Serif Pro"/>
                      </a:endParaRPr>
                    </a:p>
                  </a:txBody>
                  <a:tcPr marL="38100" marR="38100" marT="25400" marB="2540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b="1" dirty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Source Serif Pro"/>
                          <a:ea typeface="Source Serif Pro"/>
                          <a:cs typeface="Source Serif Pro"/>
                          <a:sym typeface="Source Serif Pro"/>
                        </a:rPr>
                        <a:t>96%</a:t>
                      </a:r>
                      <a:endParaRPr sz="1300" b="1" dirty="0">
                        <a:solidFill>
                          <a:schemeClr val="accent4">
                            <a:lumMod val="75000"/>
                          </a:schemeClr>
                        </a:solidFill>
                        <a:latin typeface="Source Serif Pro"/>
                        <a:ea typeface="Source Serif Pro"/>
                        <a:cs typeface="Source Serif Pro"/>
                        <a:sym typeface="Source Serif Pro"/>
                      </a:endParaRPr>
                    </a:p>
                  </a:txBody>
                  <a:tcPr marL="38100" marR="38100" marT="25400" marB="2540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8081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b="1">
                          <a:latin typeface="Source Serif Pro"/>
                          <a:ea typeface="Source Serif Pro"/>
                          <a:cs typeface="Source Serif Pro"/>
                          <a:sym typeface="Source Serif Pro"/>
                        </a:rPr>
                        <a:t>Total</a:t>
                      </a:r>
                      <a:endParaRPr sz="1300" b="1">
                        <a:latin typeface="Source Serif Pro"/>
                        <a:ea typeface="Source Serif Pro"/>
                        <a:cs typeface="Source Serif Pro"/>
                        <a:sym typeface="Source Serif Pro"/>
                      </a:endParaRPr>
                    </a:p>
                  </a:txBody>
                  <a:tcPr marL="38100" marR="38100" marT="25400" marB="254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b="1">
                          <a:latin typeface="Source Serif Pro"/>
                          <a:ea typeface="Source Serif Pro"/>
                          <a:cs typeface="Source Serif Pro"/>
                          <a:sym typeface="Source Serif Pro"/>
                        </a:rPr>
                        <a:t>7,973</a:t>
                      </a:r>
                      <a:endParaRPr sz="1300" b="1">
                        <a:latin typeface="Source Serif Pro"/>
                        <a:ea typeface="Source Serif Pro"/>
                        <a:cs typeface="Source Serif Pro"/>
                        <a:sym typeface="Source Serif Pro"/>
                      </a:endParaRPr>
                    </a:p>
                  </a:txBody>
                  <a:tcPr marL="38100" marR="38100" marT="25400" marB="254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b="1">
                          <a:latin typeface="Source Serif Pro"/>
                          <a:ea typeface="Source Serif Pro"/>
                          <a:cs typeface="Source Serif Pro"/>
                          <a:sym typeface="Source Serif Pro"/>
                        </a:rPr>
                        <a:t>8,342</a:t>
                      </a:r>
                      <a:endParaRPr sz="1300" b="1">
                        <a:latin typeface="Source Serif Pro"/>
                        <a:ea typeface="Source Serif Pro"/>
                        <a:cs typeface="Source Serif Pro"/>
                        <a:sym typeface="Source Serif Pro"/>
                      </a:endParaRPr>
                    </a:p>
                  </a:txBody>
                  <a:tcPr marL="38100" marR="38100" marT="25400" marB="2540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b="1">
                          <a:latin typeface="Source Serif Pro"/>
                          <a:ea typeface="Source Serif Pro"/>
                          <a:cs typeface="Source Serif Pro"/>
                          <a:sym typeface="Source Serif Pro"/>
                        </a:rPr>
                        <a:t>96%</a:t>
                      </a:r>
                      <a:endParaRPr sz="1300" b="1">
                        <a:latin typeface="Source Serif Pro"/>
                        <a:ea typeface="Source Serif Pro"/>
                        <a:cs typeface="Source Serif Pro"/>
                        <a:sym typeface="Source Serif Pro"/>
                      </a:endParaRPr>
                    </a:p>
                  </a:txBody>
                  <a:tcPr marL="38100" marR="38100" marT="25400" marB="2540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b="1">
                          <a:latin typeface="Source Serif Pro"/>
                          <a:ea typeface="Source Serif Pro"/>
                          <a:cs typeface="Source Serif Pro"/>
                          <a:sym typeface="Source Serif Pro"/>
                        </a:rPr>
                        <a:t>8,491</a:t>
                      </a:r>
                      <a:endParaRPr sz="1300" b="1">
                        <a:latin typeface="Source Serif Pro"/>
                        <a:ea typeface="Source Serif Pro"/>
                        <a:cs typeface="Source Serif Pro"/>
                        <a:sym typeface="Source Serif Pro"/>
                      </a:endParaRPr>
                    </a:p>
                  </a:txBody>
                  <a:tcPr marL="38100" marR="38100" marT="25400" marB="254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b="1">
                          <a:latin typeface="Source Serif Pro"/>
                          <a:ea typeface="Source Serif Pro"/>
                          <a:cs typeface="Source Serif Pro"/>
                          <a:sym typeface="Source Serif Pro"/>
                        </a:rPr>
                        <a:t>9,344</a:t>
                      </a:r>
                      <a:endParaRPr sz="1300" b="1">
                        <a:latin typeface="Source Serif Pro"/>
                        <a:ea typeface="Source Serif Pro"/>
                        <a:cs typeface="Source Serif Pro"/>
                        <a:sym typeface="Source Serif Pro"/>
                      </a:endParaRPr>
                    </a:p>
                  </a:txBody>
                  <a:tcPr marL="38100" marR="38100" marT="25400" marB="2540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b="1" dirty="0">
                          <a:latin typeface="Source Serif Pro"/>
                          <a:ea typeface="Source Serif Pro"/>
                          <a:cs typeface="Source Serif Pro"/>
                          <a:sym typeface="Source Serif Pro"/>
                        </a:rPr>
                        <a:t>91%</a:t>
                      </a:r>
                      <a:endParaRPr sz="1300" b="1" dirty="0">
                        <a:latin typeface="Source Serif Pro"/>
                        <a:ea typeface="Source Serif Pro"/>
                        <a:cs typeface="Source Serif Pro"/>
                        <a:sym typeface="Source Serif Pro"/>
                      </a:endParaRPr>
                    </a:p>
                  </a:txBody>
                  <a:tcPr marL="38100" marR="38100" marT="25400" marB="2540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aabc9d920d_0_419"/>
          <p:cNvSpPr txBox="1"/>
          <p:nvPr/>
        </p:nvSpPr>
        <p:spPr>
          <a:xfrm>
            <a:off x="458592" y="317941"/>
            <a:ext cx="11274900" cy="445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en-US" sz="2000" dirty="0" err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Résultats</a:t>
            </a:r>
            <a:r>
              <a:rPr lang="en-US" sz="2000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obtenus: </a:t>
            </a:r>
            <a:r>
              <a:rPr lang="en-US" sz="2000" dirty="0" err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autres</a:t>
            </a:r>
            <a:r>
              <a:rPr lang="en-US" sz="2000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interventions </a:t>
            </a:r>
            <a:r>
              <a:rPr lang="en-US" sz="2000" dirty="0" err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specifiques</a:t>
            </a:r>
            <a:r>
              <a:rPr lang="" altLang="en-US" sz="2000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(stratégie spéciale, introduction des nouveaux vaccins)</a:t>
            </a:r>
            <a:endParaRPr sz="20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0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0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0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0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000" b="0" i="0" u="none" strike="noStrike" cap="none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17" name="Google Shape;217;g3aabc9d920d_0_419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18" name="Google Shape;218;g3aabc9d920d_0_419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19" name="Google Shape;219;g3aabc9d920d_0_419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12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220" name="Google Shape;220;g3aabc9d920d_0_419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w="12700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graphicFrame>
        <p:nvGraphicFramePr>
          <p:cNvPr id="221" name="Google Shape;221;g3aabc9d920d_0_419"/>
          <p:cNvGraphicFramePr/>
          <p:nvPr>
            <p:extLst>
              <p:ext uri="{D42A27DB-BD31-4B8C-83A1-F6EECF244321}">
                <p14:modId xmlns:p14="http://schemas.microsoft.com/office/powerpoint/2010/main" val="1775747504"/>
              </p:ext>
            </p:extLst>
          </p:nvPr>
        </p:nvGraphicFramePr>
        <p:xfrm>
          <a:off x="458600" y="915716"/>
          <a:ext cx="11274900" cy="4276799"/>
        </p:xfrm>
        <a:graphic>
          <a:graphicData uri="http://schemas.openxmlformats.org/drawingml/2006/table">
            <a:tbl>
              <a:tblPr>
                <a:noFill/>
                <a:tableStyleId>{26042B85-2813-40D6-8C08-B53CA4025A34}</a:tableStyleId>
              </a:tblPr>
              <a:tblGrid>
                <a:gridCol w="2532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6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4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90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90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18816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Intervention</a:t>
                      </a:r>
                      <a:endParaRPr sz="1500" b="1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Zone de santé</a:t>
                      </a:r>
                      <a:endParaRPr sz="1500" b="1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Objectifs</a:t>
                      </a:r>
                      <a:endParaRPr sz="1500" b="1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dirty="0" err="1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Résultats</a:t>
                      </a:r>
                      <a:r>
                        <a:rPr lang="en-US" sz="1500" b="1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obtenus </a:t>
                      </a:r>
                      <a:endParaRPr sz="1500" b="1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Contribution dans la CV</a:t>
                      </a:r>
                      <a:endParaRPr sz="1500" b="1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6427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CD" sz="1600" b="1" dirty="0">
                          <a:solidFill>
                            <a:srgbClr val="0070C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FAE</a:t>
                      </a:r>
                      <a:endParaRPr sz="1600" b="1" dirty="0">
                        <a:solidFill>
                          <a:srgbClr val="0070C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CD" sz="1600" b="1" dirty="0">
                          <a:solidFill>
                            <a:srgbClr val="0070C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19/23</a:t>
                      </a:r>
                      <a:endParaRPr sz="1600" b="1" dirty="0">
                        <a:solidFill>
                          <a:srgbClr val="0070C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CD" sz="1600" b="1" dirty="0">
                          <a:solidFill>
                            <a:srgbClr val="0070C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35%</a:t>
                      </a:r>
                      <a:endParaRPr sz="1600" b="1" dirty="0">
                        <a:solidFill>
                          <a:srgbClr val="0070C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CD" sz="1600" b="1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78657</a:t>
                      </a:r>
                      <a:r>
                        <a:rPr lang="fr-CD" sz="1600" b="1" dirty="0">
                          <a:solidFill>
                            <a:srgbClr val="0070C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/138119</a:t>
                      </a:r>
                      <a:endParaRPr sz="1600" b="1" dirty="0">
                        <a:solidFill>
                          <a:srgbClr val="0070C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CD" sz="1600" b="1" dirty="0">
                          <a:solidFill>
                            <a:srgbClr val="0070C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56%</a:t>
                      </a:r>
                      <a:endParaRPr sz="1600" b="1" dirty="0">
                        <a:solidFill>
                          <a:srgbClr val="0070C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6427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CD" sz="1600" b="1" dirty="0">
                          <a:solidFill>
                            <a:srgbClr val="0070C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GRAND</a:t>
                      </a:r>
                      <a:r>
                        <a:rPr lang="fr-CD" sz="1600" b="1" baseline="0" dirty="0">
                          <a:solidFill>
                            <a:srgbClr val="0070C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RATTRAPAGE</a:t>
                      </a:r>
                      <a:endParaRPr sz="1600" b="1" dirty="0">
                        <a:solidFill>
                          <a:srgbClr val="0070C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CD" sz="1600" b="1" dirty="0">
                          <a:solidFill>
                            <a:srgbClr val="0070C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13/23</a:t>
                      </a:r>
                      <a:endParaRPr sz="1600" b="1" dirty="0">
                        <a:solidFill>
                          <a:srgbClr val="0070C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CD" sz="1600" b="1" dirty="0">
                          <a:solidFill>
                            <a:srgbClr val="0070C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70%</a:t>
                      </a:r>
                      <a:endParaRPr sz="1600" b="1" dirty="0">
                        <a:solidFill>
                          <a:srgbClr val="0070C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CD" sz="1600" b="1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76075</a:t>
                      </a:r>
                      <a:r>
                        <a:rPr lang="fr-CD" sz="1600" b="1" dirty="0">
                          <a:solidFill>
                            <a:srgbClr val="0070C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/138119</a:t>
                      </a:r>
                      <a:endParaRPr sz="1600" b="1" dirty="0">
                        <a:solidFill>
                          <a:srgbClr val="0070C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CD" sz="1600" b="1" dirty="0">
                          <a:solidFill>
                            <a:srgbClr val="0070C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59%</a:t>
                      </a:r>
                      <a:endParaRPr sz="1600" b="1" dirty="0">
                        <a:solidFill>
                          <a:srgbClr val="0070C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870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CD" sz="1600" b="1" dirty="0">
                          <a:solidFill>
                            <a:srgbClr val="0070C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IPVS Localités d’</a:t>
                      </a:r>
                      <a:r>
                        <a:rPr lang="fr-CD" sz="1600" b="1" dirty="0" err="1">
                          <a:solidFill>
                            <a:srgbClr val="0070C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acces</a:t>
                      </a:r>
                      <a:r>
                        <a:rPr lang="fr-CD" sz="1600" b="1" dirty="0">
                          <a:solidFill>
                            <a:srgbClr val="0070C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difficiles</a:t>
                      </a:r>
                      <a:endParaRPr sz="1600" b="1" dirty="0">
                        <a:solidFill>
                          <a:srgbClr val="0070C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CD" sz="1600" b="1" dirty="0">
                          <a:solidFill>
                            <a:srgbClr val="0070C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8/23</a:t>
                      </a:r>
                      <a:endParaRPr sz="1600" b="1" dirty="0">
                        <a:solidFill>
                          <a:srgbClr val="0070C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CD" sz="1600" b="1" dirty="0">
                          <a:solidFill>
                            <a:srgbClr val="0070C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35%</a:t>
                      </a:r>
                      <a:endParaRPr sz="1600" b="1" dirty="0">
                        <a:solidFill>
                          <a:srgbClr val="0070C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CD" sz="1600" b="1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24955</a:t>
                      </a:r>
                      <a:r>
                        <a:rPr lang="fr-CD" sz="1600" b="1" dirty="0">
                          <a:solidFill>
                            <a:srgbClr val="0070C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/138119</a:t>
                      </a:r>
                      <a:endParaRPr sz="1600" b="1" dirty="0">
                        <a:solidFill>
                          <a:srgbClr val="0070C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CD" sz="1600" b="1" dirty="0">
                          <a:solidFill>
                            <a:srgbClr val="0070C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18%</a:t>
                      </a:r>
                      <a:endParaRPr sz="1600" b="1" dirty="0">
                        <a:solidFill>
                          <a:srgbClr val="0070C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6427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600" b="1" i="0" u="none" strike="noStrike" cap="none" dirty="0">
                          <a:solidFill>
                            <a:srgbClr val="0070C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VAP</a:t>
                      </a:r>
                      <a:endParaRPr sz="1600" b="1" i="0" u="none" strike="noStrike" cap="none" dirty="0">
                        <a:solidFill>
                          <a:srgbClr val="0070C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FR" sz="1600" b="1" i="0" u="none" strike="noStrike" cap="none" dirty="0">
                          <a:solidFill>
                            <a:srgbClr val="0070C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23/23</a:t>
                      </a:r>
                      <a:endParaRPr sz="1600" b="1" i="0" u="none" strike="noStrike" cap="none" dirty="0">
                        <a:solidFill>
                          <a:srgbClr val="0070C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FR" sz="1600" b="1" i="0" u="none" strike="noStrike" cap="none" dirty="0">
                          <a:solidFill>
                            <a:srgbClr val="0070C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80%</a:t>
                      </a:r>
                      <a:endParaRPr sz="1600" b="1" i="0" u="none" strike="noStrike" cap="none" dirty="0">
                        <a:solidFill>
                          <a:srgbClr val="0070C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600" b="1" i="0" u="none" strike="noStrike" cap="none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27742</a:t>
                      </a:r>
                      <a:r>
                        <a:rPr lang="fr-FR" sz="1600" b="1" i="0" u="none" strike="noStrike" cap="none" dirty="0">
                          <a:solidFill>
                            <a:srgbClr val="0070C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/136330</a:t>
                      </a:r>
                      <a:endParaRPr sz="1600" b="1" i="0" u="none" strike="noStrike" cap="none" dirty="0">
                        <a:solidFill>
                          <a:srgbClr val="0070C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600" b="1" i="0" u="none" strike="noStrike" cap="none" dirty="0">
                          <a:solidFill>
                            <a:srgbClr val="0070C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20%</a:t>
                      </a:r>
                      <a:endParaRPr sz="1600" b="1" i="0" u="none" strike="noStrike" cap="none" dirty="0">
                        <a:solidFill>
                          <a:srgbClr val="0070C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aabc9d920d_0_217"/>
          <p:cNvSpPr txBox="1"/>
          <p:nvPr/>
        </p:nvSpPr>
        <p:spPr>
          <a:xfrm>
            <a:off x="458592" y="317941"/>
            <a:ext cx="11274900" cy="417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en-US" sz="2000" dirty="0" err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Facteurs</a:t>
            </a:r>
            <a:r>
              <a:rPr lang="en-US" sz="2000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2000" dirty="0" err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expliquant</a:t>
            </a:r>
            <a:r>
              <a:rPr lang="en-US" sz="2000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la performance (leadership, </a:t>
            </a:r>
            <a:r>
              <a:rPr lang="en-US" sz="2000" dirty="0" err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mobilisation</a:t>
            </a:r>
            <a:r>
              <a:rPr lang="en-US" sz="2000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2000" dirty="0" err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communautaire</a:t>
            </a:r>
            <a:r>
              <a:rPr lang="en-US" sz="2000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, </a:t>
            </a:r>
            <a:r>
              <a:rPr lang="en-US" sz="2000" dirty="0" err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intégration</a:t>
            </a:r>
            <a:r>
              <a:rPr lang="en-US" sz="2000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, supervision)</a:t>
            </a:r>
            <a:endParaRPr sz="2000" b="0" i="0" u="none" strike="noStrike" cap="none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000" b="0" i="0" u="none" strike="noStrike" cap="none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27" name="Google Shape;227;g3aabc9d920d_0_217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28" name="Google Shape;228;g3aabc9d920d_0_217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29" name="Google Shape;229;g3aabc9d920d_0_217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13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230" name="Google Shape;230;g3aabc9d920d_0_217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w="12700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31" name="Google Shape;231;g3aabc9d920d_0_217"/>
          <p:cNvSpPr/>
          <p:nvPr/>
        </p:nvSpPr>
        <p:spPr>
          <a:xfrm>
            <a:off x="458600" y="800161"/>
            <a:ext cx="11356500" cy="5791523"/>
          </a:xfrm>
          <a:prstGeom prst="rect">
            <a:avLst/>
          </a:prstGeom>
          <a:solidFill>
            <a:schemeClr val="bg1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4100" tIns="94100" rIns="94100" bIns="94100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 panose="02020603050405020304"/>
              <a:buAutoNum type="arabicPeriod"/>
            </a:pPr>
            <a:r>
              <a:rPr lang="en-US" sz="1800" b="1" dirty="0" err="1">
                <a:latin typeface="Times New Roman" panose="02020603050405020304"/>
                <a:cs typeface="Times New Roman" panose="02020603050405020304"/>
                <a:sym typeface="Times New Roman" panose="02020603050405020304"/>
              </a:rPr>
              <a:t>Problème</a:t>
            </a:r>
            <a:r>
              <a:rPr lang="en-US" sz="1800" b="1" dirty="0">
                <a:latin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1800" b="1" dirty="0" err="1">
                <a:latin typeface="Times New Roman" panose="02020603050405020304"/>
                <a:cs typeface="Times New Roman" panose="02020603050405020304"/>
                <a:sym typeface="Times New Roman" panose="02020603050405020304"/>
              </a:rPr>
              <a:t>résolu</a:t>
            </a:r>
            <a:r>
              <a:rPr lang="en-US" sz="1800" b="1" dirty="0">
                <a:latin typeface="Times New Roman" panose="02020603050405020304"/>
                <a:cs typeface="Times New Roman" panose="02020603050405020304"/>
                <a:sym typeface="Times New Roman" panose="02020603050405020304"/>
              </a:rPr>
              <a:t> par la bonne pratique </a:t>
            </a:r>
            <a:r>
              <a:rPr lang="en-US" sz="1800" dirty="0">
                <a:latin typeface="Times New Roman" panose="02020603050405020304"/>
                <a:cs typeface="Times New Roman" panose="02020603050405020304"/>
                <a:sym typeface="Times New Roman" panose="02020603050405020304"/>
              </a:rPr>
              <a:t>: </a:t>
            </a:r>
          </a:p>
          <a:p>
            <a:pPr marL="444500" lvl="0" indent="-3429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Wingdings" panose="05000000000000000000" pitchFamily="2" charset="2"/>
              <a:buChar char="ü"/>
            </a:pPr>
            <a:r>
              <a:rPr lang="en-US" sz="1600" dirty="0" err="1">
                <a:solidFill>
                  <a:srgbClr val="0070C0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</a:rPr>
              <a:t>Cible</a:t>
            </a:r>
            <a:r>
              <a:rPr lang="en-US" sz="1600" dirty="0">
                <a:solidFill>
                  <a:srgbClr val="0070C0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</a:rPr>
              <a:t> non </a:t>
            </a:r>
            <a:r>
              <a:rPr lang="en-US" sz="1600" dirty="0" err="1">
                <a:solidFill>
                  <a:srgbClr val="0070C0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</a:rPr>
              <a:t>atteint</a:t>
            </a:r>
            <a:r>
              <a:rPr lang="en-US" sz="1600" dirty="0">
                <a:solidFill>
                  <a:srgbClr val="0070C0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1600" dirty="0" err="1">
                <a:solidFill>
                  <a:srgbClr val="0070C0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</a:rPr>
              <a:t>lors</a:t>
            </a:r>
            <a:r>
              <a:rPr lang="en-US" sz="1600" dirty="0">
                <a:solidFill>
                  <a:srgbClr val="0070C0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</a:rPr>
              <a:t> du grand </a:t>
            </a:r>
            <a:r>
              <a:rPr lang="en-US" sz="1600" dirty="0" err="1">
                <a:solidFill>
                  <a:srgbClr val="0070C0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</a:rPr>
              <a:t>rattrappage</a:t>
            </a:r>
            <a:r>
              <a:rPr lang="en-US" sz="1600" dirty="0">
                <a:solidFill>
                  <a:srgbClr val="0070C0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</a:rPr>
              <a:t>  au 7 </a:t>
            </a:r>
            <a:r>
              <a:rPr lang="en-US" sz="1600" dirty="0" err="1">
                <a:solidFill>
                  <a:srgbClr val="0070C0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</a:rPr>
              <a:t>ieme</a:t>
            </a:r>
            <a:r>
              <a:rPr lang="en-US" sz="1600" dirty="0">
                <a:solidFill>
                  <a:srgbClr val="0070C0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1600" dirty="0" err="1">
                <a:solidFill>
                  <a:srgbClr val="0070C0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</a:rPr>
              <a:t>jours</a:t>
            </a:r>
            <a:endParaRPr lang="en-US" sz="1600" dirty="0">
              <a:solidFill>
                <a:srgbClr val="0070C0"/>
              </a:solidFill>
              <a:latin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44500" indent="-342900">
              <a:lnSpc>
                <a:spcPct val="150000"/>
              </a:lnSpc>
              <a:buSzPts val="2000"/>
              <a:buFont typeface="Wingdings" panose="05000000000000000000" pitchFamily="2" charset="2"/>
              <a:buChar char="ü"/>
            </a:pPr>
            <a:r>
              <a:rPr lang="fr-FR" sz="1600" dirty="0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Retard dans l’encodage des données dans les DHIS2</a:t>
            </a:r>
            <a:endParaRPr sz="1600" dirty="0">
              <a:solidFill>
                <a:srgbClr val="0070C0"/>
              </a:solidFill>
              <a:latin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10160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</a:pPr>
            <a:r>
              <a:rPr lang="en-US" sz="1800" b="1" dirty="0">
                <a:latin typeface="Times New Roman" panose="02020603050405020304"/>
                <a:cs typeface="Times New Roman" panose="02020603050405020304"/>
                <a:sym typeface="Times New Roman" panose="02020603050405020304"/>
              </a:rPr>
              <a:t>2.  Description de la bonne pratique, </a:t>
            </a:r>
            <a:r>
              <a:rPr lang="en-US" sz="1800" b="1" dirty="0" err="1">
                <a:latin typeface="Times New Roman" panose="02020603050405020304"/>
                <a:cs typeface="Times New Roman" panose="02020603050405020304"/>
                <a:sym typeface="Times New Roman" panose="02020603050405020304"/>
              </a:rPr>
              <a:t>personnes</a:t>
            </a:r>
            <a:r>
              <a:rPr lang="en-US" sz="1800" b="1" dirty="0">
                <a:latin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1800" b="1" dirty="0" err="1">
                <a:latin typeface="Times New Roman" panose="02020603050405020304"/>
                <a:cs typeface="Times New Roman" panose="02020603050405020304"/>
                <a:sym typeface="Times New Roman" panose="02020603050405020304"/>
              </a:rPr>
              <a:t>impliqu</a:t>
            </a:r>
            <a:r>
              <a:rPr lang="" altLang="en-US" sz="1800" b="1" dirty="0">
                <a:latin typeface="Times New Roman" panose="02020603050405020304"/>
                <a:cs typeface="Times New Roman" panose="02020603050405020304"/>
                <a:sym typeface="Times New Roman" panose="02020603050405020304"/>
              </a:rPr>
              <a:t>é</a:t>
            </a:r>
            <a:r>
              <a:rPr lang="en-US" sz="1800" b="1" dirty="0">
                <a:latin typeface="Times New Roman" panose="02020603050405020304"/>
                <a:cs typeface="Times New Roman" panose="02020603050405020304"/>
                <a:sym typeface="Times New Roman" panose="02020603050405020304"/>
              </a:rPr>
              <a:t>s </a:t>
            </a:r>
            <a:r>
              <a:rPr lang="en-US" sz="1800" dirty="0">
                <a:latin typeface="Times New Roman" panose="02020603050405020304"/>
                <a:cs typeface="Times New Roman" panose="02020603050405020304"/>
                <a:sym typeface="Times New Roman" panose="02020603050405020304"/>
              </a:rPr>
              <a:t>:</a:t>
            </a:r>
          </a:p>
          <a:p>
            <a:pPr marL="444500" indent="-342900">
              <a:lnSpc>
                <a:spcPct val="150000"/>
              </a:lnSpc>
              <a:buSzPts val="2000"/>
              <a:buFont typeface="Wingdings" panose="05000000000000000000" pitchFamily="2" charset="2"/>
              <a:buChar char="ü"/>
            </a:pPr>
            <a:r>
              <a:rPr lang="en-US" sz="1600" dirty="0">
                <a:solidFill>
                  <a:srgbClr val="0070C0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</a:rPr>
              <a:t> Prolongation des 3 </a:t>
            </a:r>
            <a:r>
              <a:rPr lang="en-US" sz="1600" dirty="0" err="1">
                <a:solidFill>
                  <a:srgbClr val="0070C0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</a:rPr>
              <a:t>jours</a:t>
            </a:r>
            <a:r>
              <a:rPr lang="en-US" sz="1600" dirty="0">
                <a:solidFill>
                  <a:srgbClr val="0070C0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1600" dirty="0" err="1">
                <a:solidFill>
                  <a:srgbClr val="0070C0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</a:rPr>
              <a:t>d’activité</a:t>
            </a:r>
            <a:r>
              <a:rPr lang="en-US" sz="1600" dirty="0">
                <a:solidFill>
                  <a:srgbClr val="0070C0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</a:rPr>
              <a:t> pour </a:t>
            </a:r>
            <a:r>
              <a:rPr lang="en-US" sz="1600" dirty="0" err="1">
                <a:solidFill>
                  <a:srgbClr val="0070C0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</a:rPr>
              <a:t>recuperer</a:t>
            </a:r>
            <a:r>
              <a:rPr lang="en-US" sz="1600" dirty="0">
                <a:solidFill>
                  <a:srgbClr val="0070C0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</a:rPr>
              <a:t> les </a:t>
            </a:r>
            <a:r>
              <a:rPr lang="en-US" sz="1600" dirty="0" err="1">
                <a:solidFill>
                  <a:srgbClr val="0070C0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</a:rPr>
              <a:t>quelques</a:t>
            </a:r>
            <a:r>
              <a:rPr lang="en-US" sz="1600" dirty="0">
                <a:solidFill>
                  <a:srgbClr val="0070C0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</a:rPr>
              <a:t> enfants en retards</a:t>
            </a:r>
          </a:p>
          <a:p>
            <a:pPr marL="444500" indent="-342900">
              <a:lnSpc>
                <a:spcPct val="150000"/>
              </a:lnSpc>
              <a:buSzPts val="2000"/>
              <a:buFont typeface="Wingdings" panose="05000000000000000000" pitchFamily="2" charset="2"/>
              <a:buChar char="ü"/>
            </a:pPr>
            <a:r>
              <a:rPr lang="fr-CD" sz="1600" dirty="0">
                <a:solidFill>
                  <a:srgbClr val="0070C0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</a:rPr>
              <a:t>Combinaison des toutes </a:t>
            </a:r>
            <a:r>
              <a:rPr lang="fr-CD" sz="1600" dirty="0" err="1">
                <a:solidFill>
                  <a:srgbClr val="0070C0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</a:rPr>
              <a:t>strategies</a:t>
            </a:r>
            <a:r>
              <a:rPr lang="fr-CD" sz="1600" dirty="0">
                <a:solidFill>
                  <a:srgbClr val="0070C0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</a:rPr>
              <a:t> traditionnels et </a:t>
            </a:r>
            <a:r>
              <a:rPr lang="fr-CD" sz="1600" dirty="0" err="1">
                <a:solidFill>
                  <a:srgbClr val="0070C0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</a:rPr>
              <a:t>innonvantes</a:t>
            </a:r>
            <a:r>
              <a:rPr lang="fr-CD" sz="1600" dirty="0">
                <a:solidFill>
                  <a:srgbClr val="0070C0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</a:rPr>
              <a:t> lors du grand rattrapage</a:t>
            </a:r>
          </a:p>
          <a:p>
            <a:pPr marL="444500" lvl="0" indent="-342900">
              <a:lnSpc>
                <a:spcPct val="150000"/>
              </a:lnSpc>
              <a:buSzPts val="2000"/>
              <a:buFont typeface="Wingdings" panose="05000000000000000000" pitchFamily="2" charset="2"/>
              <a:buChar char="ü"/>
            </a:pPr>
            <a:r>
              <a:rPr lang="fr-FR" sz="1600" dirty="0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Supervision au BCZS et suivi de proximité auprès de DATA</a:t>
            </a:r>
          </a:p>
          <a:p>
            <a:pPr marL="444500" lvl="0" indent="-342900">
              <a:lnSpc>
                <a:spcPct val="150000"/>
              </a:lnSpc>
              <a:buSzPts val="2000"/>
              <a:buFont typeface="Wingdings" panose="05000000000000000000" pitchFamily="2" charset="2"/>
              <a:buChar char="ü"/>
            </a:pPr>
            <a:r>
              <a:rPr lang="fr-FR" sz="1600" dirty="0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Monitorage des enfants de la tranche d'âge de 12 à 59 mois pour le rattrapage</a:t>
            </a:r>
            <a:endParaRPr sz="1600" dirty="0">
              <a:solidFill>
                <a:srgbClr val="0070C0"/>
              </a:solidFill>
              <a:latin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55880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 startAt="3"/>
            </a:pPr>
            <a:r>
              <a:rPr lang="en-US" sz="1800" b="1" dirty="0" err="1">
                <a:latin typeface="Times New Roman" panose="02020603050405020304"/>
                <a:cs typeface="Times New Roman" panose="02020603050405020304"/>
                <a:sym typeface="Times New Roman" panose="02020603050405020304"/>
              </a:rPr>
              <a:t>Résultats</a:t>
            </a:r>
            <a:r>
              <a:rPr lang="en-US" sz="1800" b="1" dirty="0">
                <a:latin typeface="Times New Roman" panose="02020603050405020304"/>
                <a:cs typeface="Times New Roman" panose="02020603050405020304"/>
                <a:sym typeface="Times New Roman" panose="02020603050405020304"/>
              </a:rPr>
              <a:t> de la bonne pratique </a:t>
            </a:r>
            <a:r>
              <a:rPr lang="en-US" sz="1800" dirty="0">
                <a:latin typeface="Times New Roman" panose="02020603050405020304"/>
                <a:cs typeface="Times New Roman" panose="02020603050405020304"/>
                <a:sym typeface="Times New Roman" panose="02020603050405020304"/>
              </a:rPr>
              <a:t>: </a:t>
            </a:r>
          </a:p>
          <a:p>
            <a:pPr marL="444500" lvl="0" indent="-3429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Wingdings" panose="05000000000000000000" pitchFamily="2" charset="2"/>
              <a:buChar char="ü"/>
            </a:pPr>
            <a:r>
              <a:rPr lang="en-US" sz="1600" dirty="0">
                <a:solidFill>
                  <a:srgbClr val="0070C0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</a:rPr>
              <a:t>Amelioration des 10% de la couverture du grand </a:t>
            </a:r>
            <a:r>
              <a:rPr lang="en-US" sz="1600" dirty="0" err="1">
                <a:solidFill>
                  <a:srgbClr val="0070C0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</a:rPr>
              <a:t>rattrapage</a:t>
            </a:r>
            <a:endParaRPr lang="en-US" sz="1600" dirty="0">
              <a:solidFill>
                <a:srgbClr val="0070C0"/>
              </a:solidFill>
              <a:latin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44500" indent="-342900">
              <a:lnSpc>
                <a:spcPct val="150000"/>
              </a:lnSpc>
              <a:buSzPts val="2000"/>
              <a:buFont typeface="Wingdings" panose="05000000000000000000" pitchFamily="2" charset="2"/>
              <a:buChar char="ü"/>
            </a:pPr>
            <a:r>
              <a:rPr lang="fr-FR" sz="1600" dirty="0" err="1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Amelioration</a:t>
            </a:r>
            <a:r>
              <a:rPr lang="fr-FR" sz="1600" dirty="0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de  la </a:t>
            </a:r>
            <a:r>
              <a:rPr lang="fr-FR" sz="1600" dirty="0" err="1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completude</a:t>
            </a:r>
            <a:r>
              <a:rPr lang="fr-FR" sz="1600" dirty="0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des données dans le DHIS2</a:t>
            </a:r>
            <a:endParaRPr sz="1600" dirty="0">
              <a:solidFill>
                <a:srgbClr val="0070C0"/>
              </a:solidFill>
              <a:latin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10160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</a:pPr>
            <a:r>
              <a:rPr lang="en-US" sz="1800" b="1" dirty="0">
                <a:latin typeface="Times New Roman" panose="02020603050405020304"/>
                <a:cs typeface="Times New Roman" panose="02020603050405020304"/>
                <a:sym typeface="Times New Roman" panose="02020603050405020304"/>
              </a:rPr>
              <a:t>4.   </a:t>
            </a:r>
            <a:r>
              <a:rPr lang="en-US" sz="1800" b="1" dirty="0" err="1">
                <a:latin typeface="Times New Roman" panose="02020603050405020304"/>
                <a:cs typeface="Times New Roman" panose="02020603050405020304"/>
                <a:sym typeface="Times New Roman" panose="02020603050405020304"/>
              </a:rPr>
              <a:t>Recommandation</a:t>
            </a:r>
            <a:r>
              <a:rPr lang="en-US" sz="1800" b="1" dirty="0">
                <a:latin typeface="Times New Roman" panose="02020603050405020304"/>
                <a:cs typeface="Times New Roman" panose="02020603050405020304"/>
                <a:sym typeface="Times New Roman" panose="02020603050405020304"/>
              </a:rPr>
              <a:t> pour la replication </a:t>
            </a:r>
            <a:r>
              <a:rPr lang="en-US" sz="1800" dirty="0">
                <a:latin typeface="Times New Roman" panose="02020603050405020304"/>
                <a:cs typeface="Times New Roman" panose="02020603050405020304"/>
                <a:sym typeface="Times New Roman" panose="02020603050405020304"/>
              </a:rPr>
              <a:t>: </a:t>
            </a:r>
            <a:endParaRPr lang="en-US" sz="1600" dirty="0">
              <a:latin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44500" lvl="0" indent="-3429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Wingdings" panose="05000000000000000000" pitchFamily="2" charset="2"/>
              <a:buChar char="ü"/>
            </a:pPr>
            <a:r>
              <a:rPr lang="en-US" sz="1600" dirty="0">
                <a:solidFill>
                  <a:srgbClr val="0070C0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</a:rPr>
              <a:t>Apppropriation des </a:t>
            </a:r>
            <a:r>
              <a:rPr lang="en-US" sz="1600" dirty="0" err="1">
                <a:solidFill>
                  <a:srgbClr val="0070C0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</a:rPr>
              <a:t>activités</a:t>
            </a:r>
            <a:r>
              <a:rPr lang="en-US" sz="1600" dirty="0">
                <a:solidFill>
                  <a:srgbClr val="0070C0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</a:rPr>
              <a:t> par les IT et les RECOS</a:t>
            </a:r>
          </a:p>
          <a:p>
            <a:pPr marL="444500" indent="-342900">
              <a:lnSpc>
                <a:spcPct val="150000"/>
              </a:lnSpc>
              <a:buSzPts val="2000"/>
              <a:buFont typeface="Wingdings" panose="05000000000000000000" pitchFamily="2" charset="2"/>
              <a:buChar char="ü"/>
            </a:pPr>
            <a:r>
              <a:rPr lang="fr-FR" sz="1600" dirty="0">
                <a:solidFill>
                  <a:srgbClr val="0070C0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</a:rPr>
              <a:t>Implication du MCZS et DATA dans l analyse et validation des données de la vaccination  y compris celles de gestion des vaccins et surveillance des MPV+MAPI </a:t>
            </a:r>
          </a:p>
          <a:p>
            <a:pPr marL="101600" lvl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</a:pPr>
            <a:endParaRPr sz="2000" dirty="0">
              <a:solidFill>
                <a:srgbClr val="0070C0"/>
              </a:solidFill>
              <a:latin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>
          <a:extLst>
            <a:ext uri="{FF2B5EF4-FFF2-40B4-BE49-F238E27FC236}">
              <a16:creationId xmlns:a16="http://schemas.microsoft.com/office/drawing/2014/main" id="{E32D82E8-6764-DB9A-659A-7DE3691C6B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aabc9d920d_0_234">
            <a:extLst>
              <a:ext uri="{FF2B5EF4-FFF2-40B4-BE49-F238E27FC236}">
                <a16:creationId xmlns:a16="http://schemas.microsoft.com/office/drawing/2014/main" id="{89C4FA1F-EDEF-110A-7E77-80B0C62BB8D2}"/>
              </a:ext>
            </a:extLst>
          </p:cNvPr>
          <p:cNvSpPr txBox="1"/>
          <p:nvPr/>
        </p:nvSpPr>
        <p:spPr>
          <a:xfrm>
            <a:off x="458592" y="148255"/>
            <a:ext cx="11274900" cy="3890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en-US" sz="2800" b="1" dirty="0">
                <a:solidFill>
                  <a:srgbClr val="1155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anose="020B0606020202030204" pitchFamily="34" charset="0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Défis rencontrés</a:t>
            </a:r>
            <a:endParaRPr sz="2800" b="1" dirty="0">
              <a:solidFill>
                <a:srgbClr val="1155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anose="020B0606020202030204" pitchFamily="34" charset="0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800" b="1" dirty="0">
              <a:solidFill>
                <a:srgbClr val="1155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anose="020B0606020202030204" pitchFamily="34" charset="0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800" b="1" dirty="0">
              <a:solidFill>
                <a:srgbClr val="1155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anose="020B0606020202030204" pitchFamily="34" charset="0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800" b="1" dirty="0">
              <a:solidFill>
                <a:srgbClr val="1155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anose="020B0606020202030204" pitchFamily="34" charset="0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800" b="1" i="0" u="none" strike="noStrike" cap="none" dirty="0">
              <a:solidFill>
                <a:srgbClr val="1155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anose="020B0606020202030204" pitchFamily="34" charset="0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37" name="Google Shape;237;g3aabc9d920d_0_234">
            <a:extLst>
              <a:ext uri="{FF2B5EF4-FFF2-40B4-BE49-F238E27FC236}">
                <a16:creationId xmlns:a16="http://schemas.microsoft.com/office/drawing/2014/main" id="{43CB140E-A485-8EFC-5795-0D8B6E847C1A}"/>
              </a:ext>
            </a:extLst>
          </p:cNvPr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38" name="Google Shape;238;g3aabc9d920d_0_234">
            <a:extLst>
              <a:ext uri="{FF2B5EF4-FFF2-40B4-BE49-F238E27FC236}">
                <a16:creationId xmlns:a16="http://schemas.microsoft.com/office/drawing/2014/main" id="{712B5838-BB70-E1DC-4C46-4C964D20174A}"/>
              </a:ext>
            </a:extLst>
          </p:cNvPr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39" name="Google Shape;239;g3aabc9d920d_0_234">
            <a:extLst>
              <a:ext uri="{FF2B5EF4-FFF2-40B4-BE49-F238E27FC236}">
                <a16:creationId xmlns:a16="http://schemas.microsoft.com/office/drawing/2014/main" id="{A8B77306-10B4-EBB2-2C15-031656506A6C}"/>
              </a:ext>
            </a:extLst>
          </p:cNvPr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14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240" name="Google Shape;240;g3aabc9d920d_0_234">
            <a:extLst>
              <a:ext uri="{FF2B5EF4-FFF2-40B4-BE49-F238E27FC236}">
                <a16:creationId xmlns:a16="http://schemas.microsoft.com/office/drawing/2014/main" id="{C3574D47-6443-20A3-E967-D3A4441083A9}"/>
              </a:ext>
            </a:extLst>
          </p:cNvPr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w="12700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" name="ZoneTexte 4">
            <a:extLst>
              <a:ext uri="{FF2B5EF4-FFF2-40B4-BE49-F238E27FC236}">
                <a16:creationId xmlns:a16="http://schemas.microsoft.com/office/drawing/2014/main" id="{4ED9CBAC-D5C2-03C2-2A7A-6A0C7386B932}"/>
              </a:ext>
            </a:extLst>
          </p:cNvPr>
          <p:cNvSpPr txBox="1"/>
          <p:nvPr/>
        </p:nvSpPr>
        <p:spPr>
          <a:xfrm>
            <a:off x="235500" y="655292"/>
            <a:ext cx="11868516" cy="6155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fr-FR" sz="2000" b="1" dirty="0">
                <a:latin typeface="Arial Narrow" panose="020B0606020202030204" pitchFamily="34" charset="0"/>
              </a:rPr>
              <a:t>1</a:t>
            </a:r>
            <a:r>
              <a:rPr lang="fr-FR" sz="2000" b="1" dirty="0">
                <a:solidFill>
                  <a:srgbClr val="0070C0"/>
                </a:solidFill>
                <a:latin typeface="Arial Narrow" panose="020B0606020202030204" pitchFamily="34" charset="0"/>
              </a:rPr>
              <a:t>. </a:t>
            </a:r>
            <a:r>
              <a:rPr lang="fr-FR" sz="1600" b="1" dirty="0">
                <a:solidFill>
                  <a:srgbClr val="0070C0"/>
                </a:solidFill>
                <a:latin typeface="Arial Narrow" panose="020B0606020202030204" pitchFamily="34" charset="0"/>
              </a:rPr>
              <a:t>Défis opérationnels</a:t>
            </a:r>
            <a:endParaRPr lang="fr-FR" sz="2000" b="1" dirty="0">
              <a:solidFill>
                <a:srgbClr val="0070C0"/>
              </a:solidFill>
              <a:latin typeface="Arial Narrow" panose="020B0606020202030204" pitchFamily="34" charset="0"/>
            </a:endParaRPr>
          </a:p>
          <a:p>
            <a:pPr marL="622300" indent="-266700">
              <a:buFont typeface="Wingdings" panose="05000000000000000000" pitchFamily="2" charset="2"/>
              <a:buChar char="§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Difficultés d’accès à certaines aires de santé d’accès difficile (enclavement, longues distances, routes impraticables).</a:t>
            </a:r>
          </a:p>
          <a:p>
            <a:pPr marL="622300" indent="-266700">
              <a:buFont typeface="Wingdings" panose="05000000000000000000" pitchFamily="2" charset="2"/>
              <a:buChar char="§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Insuffisance de moyens logistiques pour la mise en œuvre optimale des stratégies avancées et spéciales (manque de carburant, motos en panne, etc.).</a:t>
            </a:r>
          </a:p>
          <a:p>
            <a:pPr marL="622300" indent="-266700">
              <a:buFont typeface="Wingdings" panose="05000000000000000000" pitchFamily="2" charset="2"/>
              <a:buChar char="§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Retards dans l’acheminement des intrants (vaccins, OVM, supports de collecte).</a:t>
            </a:r>
          </a:p>
          <a:p>
            <a:pPr>
              <a:lnSpc>
                <a:spcPct val="150000"/>
              </a:lnSpc>
            </a:pPr>
            <a:r>
              <a:rPr lang="fr-FR" b="1" dirty="0">
                <a:latin typeface="Arial Narrow" panose="020B0606020202030204" pitchFamily="34" charset="0"/>
              </a:rPr>
              <a:t>2</a:t>
            </a:r>
            <a:r>
              <a:rPr lang="fr-FR" sz="2000" b="1" dirty="0">
                <a:solidFill>
                  <a:srgbClr val="0070C0"/>
                </a:solidFill>
                <a:latin typeface="Arial Narrow" panose="020B0606020202030204" pitchFamily="34" charset="0"/>
              </a:rPr>
              <a:t>. </a:t>
            </a:r>
            <a:r>
              <a:rPr lang="fr-FR" sz="1600" b="1" dirty="0">
                <a:solidFill>
                  <a:srgbClr val="0070C0"/>
                </a:solidFill>
                <a:latin typeface="Arial Narrow" panose="020B0606020202030204" pitchFamily="34" charset="0"/>
              </a:rPr>
              <a:t>Défis liés à la qualité des données</a:t>
            </a:r>
            <a:endParaRPr lang="fr-FR" sz="2000" b="1" dirty="0">
              <a:solidFill>
                <a:srgbClr val="0070C0"/>
              </a:solidFill>
              <a:latin typeface="Arial Narrow" panose="020B0606020202030204" pitchFamily="34" charset="0"/>
            </a:endParaRPr>
          </a:p>
          <a:p>
            <a:pPr marL="622300" indent="-266700">
              <a:buFont typeface="Wingdings" panose="05000000000000000000" pitchFamily="2" charset="2"/>
              <a:buChar char="§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Faible complétude dans certaines Zones de Santé et incohérences dans les masques de saisie des activités vaccinales.</a:t>
            </a:r>
          </a:p>
          <a:p>
            <a:pPr marL="622300" indent="-266700">
              <a:buFont typeface="Wingdings" panose="05000000000000000000" pitchFamily="2" charset="2"/>
              <a:buChar char="§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Retards de transmission des données par certaines Zones de Santé.</a:t>
            </a:r>
          </a:p>
          <a:p>
            <a:pPr>
              <a:lnSpc>
                <a:spcPct val="150000"/>
              </a:lnSpc>
            </a:pPr>
            <a:r>
              <a:rPr lang="fr-FR" b="1" dirty="0">
                <a:latin typeface="Arial Narrow" panose="020B0606020202030204" pitchFamily="34" charset="0"/>
              </a:rPr>
              <a:t>3. </a:t>
            </a:r>
            <a:r>
              <a:rPr lang="fr-FR" sz="1600" b="1" dirty="0">
                <a:solidFill>
                  <a:srgbClr val="0070C0"/>
                </a:solidFill>
                <a:latin typeface="Arial Narrow" panose="020B0606020202030204" pitchFamily="34" charset="0"/>
              </a:rPr>
              <a:t>Défis liés aux ressources humaines</a:t>
            </a:r>
            <a:endParaRPr lang="fr-FR" sz="2000" b="1" dirty="0">
              <a:solidFill>
                <a:srgbClr val="0070C0"/>
              </a:solidFill>
              <a:latin typeface="Arial Narrow" panose="020B0606020202030204" pitchFamily="34" charset="0"/>
            </a:endParaRPr>
          </a:p>
          <a:p>
            <a:pPr marL="622300" indent="-266700">
              <a:buFont typeface="Wingdings" panose="05000000000000000000" pitchFamily="2" charset="2"/>
              <a:buChar char="§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Faible disponibilité de certains vaccinateurs et superviseurs sur terrain.</a:t>
            </a:r>
          </a:p>
          <a:p>
            <a:pPr marL="622300" indent="-266700">
              <a:buFont typeface="Wingdings" panose="05000000000000000000" pitchFamily="2" charset="2"/>
              <a:buChar char="§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Rotation fréquente du personnel dans certaines ZS, entraînant un besoin régulier de reformation.</a:t>
            </a:r>
          </a:p>
          <a:p>
            <a:pPr marL="622300" indent="-266700">
              <a:buFont typeface="Wingdings" panose="05000000000000000000" pitchFamily="2" charset="2"/>
              <a:buChar char="§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 insuffisante des équipes lors des activités intensives (IPVS, FAE, stratégies spéciales).</a:t>
            </a:r>
          </a:p>
          <a:p>
            <a:pPr>
              <a:lnSpc>
                <a:spcPct val="150000"/>
              </a:lnSpc>
            </a:pPr>
            <a:r>
              <a:rPr lang="fr-FR" b="1" dirty="0">
                <a:latin typeface="Arial Narrow" panose="020B0606020202030204" pitchFamily="34" charset="0"/>
              </a:rPr>
              <a:t>4. </a:t>
            </a:r>
            <a:r>
              <a:rPr lang="fr-FR" sz="1600" b="1" dirty="0">
                <a:solidFill>
                  <a:srgbClr val="0070C0"/>
                </a:solidFill>
                <a:latin typeface="Arial Narrow" panose="020B0606020202030204" pitchFamily="34" charset="0"/>
              </a:rPr>
              <a:t>Défis communautaires</a:t>
            </a:r>
            <a:endParaRPr lang="fr-FR" sz="2000" b="1" dirty="0">
              <a:solidFill>
                <a:srgbClr val="0070C0"/>
              </a:solidFill>
              <a:latin typeface="Arial Narrow" panose="020B0606020202030204" pitchFamily="34" charset="0"/>
            </a:endParaRPr>
          </a:p>
          <a:p>
            <a:pPr marL="622300" indent="-266700">
              <a:buFont typeface="Wingdings" panose="05000000000000000000" pitchFamily="2" charset="2"/>
              <a:buChar char="§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Faible mobilisation communautaire dans certaines zones.</a:t>
            </a:r>
          </a:p>
          <a:p>
            <a:pPr marL="622300" indent="-266700">
              <a:buFont typeface="Wingdings" panose="05000000000000000000" pitchFamily="2" charset="2"/>
              <a:buChar char="§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Déplacements fréquents des populations, rendant difficile l’identification et le suivi des enfants non vaccinés.</a:t>
            </a:r>
          </a:p>
          <a:p>
            <a:pPr>
              <a:lnSpc>
                <a:spcPct val="200000"/>
              </a:lnSpc>
            </a:pPr>
            <a:r>
              <a:rPr lang="fr-FR" b="1" dirty="0">
                <a:latin typeface="Arial Narrow" panose="020B0606020202030204" pitchFamily="34" charset="0"/>
              </a:rPr>
              <a:t>5.  </a:t>
            </a:r>
            <a:r>
              <a:rPr lang="fr-FR" sz="1600" b="1" dirty="0">
                <a:solidFill>
                  <a:srgbClr val="0070C0"/>
                </a:solidFill>
                <a:latin typeface="Arial Narrow" panose="020B0606020202030204" pitchFamily="34" charset="0"/>
              </a:rPr>
              <a:t>Défis organisationnels</a:t>
            </a:r>
            <a:endParaRPr lang="fr-FR" sz="2000" b="1" dirty="0">
              <a:solidFill>
                <a:srgbClr val="0070C0"/>
              </a:solidFill>
              <a:latin typeface="Arial Narrow" panose="020B060602020203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Faible documentation des supervisions et des bonnes pratiques.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Coordination parfois limitée entre DPS, partenaires et ZS pour certaines activités.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Intégration irrégulière des actions correctrices après les supervisions.</a:t>
            </a:r>
          </a:p>
          <a:p>
            <a:pPr>
              <a:lnSpc>
                <a:spcPct val="200000"/>
              </a:lnSpc>
            </a:pPr>
            <a:r>
              <a:rPr lang="fr-FR" b="1" dirty="0">
                <a:latin typeface="Arial Narrow" panose="020B0606020202030204" pitchFamily="34" charset="0"/>
              </a:rPr>
              <a:t>6. </a:t>
            </a:r>
            <a:r>
              <a:rPr lang="fr-FR" sz="1600" b="1" dirty="0">
                <a:solidFill>
                  <a:srgbClr val="0070C0"/>
                </a:solidFill>
                <a:latin typeface="Arial Narrow" panose="020B0606020202030204" pitchFamily="34" charset="0"/>
              </a:rPr>
              <a:t>Défis sécuritaires et contextuels</a:t>
            </a:r>
            <a:endParaRPr lang="fr-FR" sz="2000" b="1" dirty="0">
              <a:solidFill>
                <a:srgbClr val="0070C0"/>
              </a:solidFill>
              <a:latin typeface="Arial Narrow" panose="020B060602020203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Zones affectées par l’insécurité perturbant les activités de routine ou intensifiées.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Catastrophes naturelles ou conditions climatiques défavorables ralentissant la vaccination (pluies, crues).</a:t>
            </a:r>
          </a:p>
        </p:txBody>
      </p:sp>
    </p:spTree>
    <p:extLst>
      <p:ext uri="{BB962C8B-B14F-4D97-AF65-F5344CB8AC3E}">
        <p14:creationId xmlns:p14="http://schemas.microsoft.com/office/powerpoint/2010/main" val="37727395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CB66F9-7AE1-1E4E-14FC-03D00CDD69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ABC44BD-785F-FCBD-4B5B-53A6DEE0D8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DD6A085-E522-E747-A8B9-D1055679FD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EA57132-2F91-7E69-8D8C-E12E59FD55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E3A7378-2336-130D-12C1-3D9CAE9461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58C6947-0D6A-8991-AABE-3FE5BB3688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3BA506D-0AE4-7807-50E8-8006F99541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207" y="294539"/>
            <a:ext cx="11057343" cy="497314"/>
          </a:xfrm>
        </p:spPr>
        <p:txBody>
          <a:bodyPr>
            <a:normAutofit fontScale="90000"/>
          </a:bodyPr>
          <a:lstStyle/>
          <a:p>
            <a:r>
              <a:rPr lang="fr-FR" sz="4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anose="020B0606020202030204" pitchFamily="34" charset="0"/>
              </a:rPr>
              <a:t>ANALYSE FFOM</a:t>
            </a:r>
          </a:p>
        </p:txBody>
      </p:sp>
      <p:graphicFrame>
        <p:nvGraphicFramePr>
          <p:cNvPr id="4" name="Tableau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5978339"/>
              </p:ext>
            </p:extLst>
          </p:nvPr>
        </p:nvGraphicFramePr>
        <p:xfrm>
          <a:off x="210207" y="1667757"/>
          <a:ext cx="11755651" cy="3281315"/>
        </p:xfrm>
        <a:graphic>
          <a:graphicData uri="http://schemas.openxmlformats.org/drawingml/2006/table">
            <a:tbl>
              <a:tblPr/>
              <a:tblGrid>
                <a:gridCol w="1510450">
                  <a:extLst>
                    <a:ext uri="{9D8B030D-6E8A-4147-A177-3AD203B41FA5}">
                      <a16:colId xmlns:a16="http://schemas.microsoft.com/office/drawing/2014/main" val="3822749982"/>
                    </a:ext>
                  </a:extLst>
                </a:gridCol>
                <a:gridCol w="2952162">
                  <a:extLst>
                    <a:ext uri="{9D8B030D-6E8A-4147-A177-3AD203B41FA5}">
                      <a16:colId xmlns:a16="http://schemas.microsoft.com/office/drawing/2014/main" val="1277144272"/>
                    </a:ext>
                  </a:extLst>
                </a:gridCol>
                <a:gridCol w="4857680">
                  <a:extLst>
                    <a:ext uri="{9D8B030D-6E8A-4147-A177-3AD203B41FA5}">
                      <a16:colId xmlns:a16="http://schemas.microsoft.com/office/drawing/2014/main" val="1975168636"/>
                    </a:ext>
                  </a:extLst>
                </a:gridCol>
                <a:gridCol w="1348033">
                  <a:extLst>
                    <a:ext uri="{9D8B030D-6E8A-4147-A177-3AD203B41FA5}">
                      <a16:colId xmlns:a16="http://schemas.microsoft.com/office/drawing/2014/main" val="2480071149"/>
                    </a:ext>
                  </a:extLst>
                </a:gridCol>
                <a:gridCol w="1087326">
                  <a:extLst>
                    <a:ext uri="{9D8B030D-6E8A-4147-A177-3AD203B41FA5}">
                      <a16:colId xmlns:a16="http://schemas.microsoft.com/office/drawing/2014/main" val="3051213535"/>
                    </a:ext>
                  </a:extLst>
                </a:gridCol>
              </a:tblGrid>
              <a:tr h="240681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Arial Narrow" panose="020B0606020202030204" pitchFamily="34" charset="0"/>
                        </a:rPr>
                        <a:t>Domaines</a:t>
                      </a:r>
                    </a:p>
                  </a:txBody>
                  <a:tcPr marL="4737" marR="4737" marT="473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Arial Narrow" panose="020B0606020202030204" pitchFamily="34" charset="0"/>
                        </a:rPr>
                        <a:t>Forces</a:t>
                      </a:r>
                    </a:p>
                  </a:txBody>
                  <a:tcPr marL="4737" marR="4737" marT="473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 Narrow" panose="020B0606020202030204" pitchFamily="34" charset="0"/>
                        </a:rPr>
                        <a:t>Faiblesses</a:t>
                      </a:r>
                    </a:p>
                  </a:txBody>
                  <a:tcPr marL="4737" marR="4737" marT="47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 Narrow" panose="020B0606020202030204" pitchFamily="34" charset="0"/>
                        </a:rPr>
                        <a:t>Opportunités</a:t>
                      </a:r>
                      <a:endParaRPr lang="en-US" sz="1600" b="1" i="0" u="none" strike="noStrike" dirty="0">
                        <a:solidFill>
                          <a:srgbClr val="FFFFFF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737" marR="4737" marT="47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Arial Narrow" panose="020B0606020202030204" pitchFamily="34" charset="0"/>
                        </a:rPr>
                        <a:t>Menaces</a:t>
                      </a:r>
                    </a:p>
                  </a:txBody>
                  <a:tcPr marL="4737" marR="4737" marT="47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0299265"/>
                  </a:ext>
                </a:extLst>
              </a:tr>
              <a:tr h="948964">
                <a:tc rowSpan="5">
                  <a:txBody>
                    <a:bodyPr/>
                    <a:lstStyle/>
                    <a:p>
                      <a:pPr algn="l" fontAlgn="t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1. Prestation des services</a:t>
                      </a:r>
                    </a:p>
                  </a:txBody>
                  <a:tcPr marL="4737" marR="4737" marT="4737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fr-FR" sz="14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 panose="020B0604020202020204"/>
                        </a:rPr>
                        <a:t>Disponibilité des directives pour l’organisation des séances de vaccination en fonction des tailles de population et des types des  stratégies. </a:t>
                      </a:r>
                    </a:p>
                  </a:txBody>
                  <a:tcPr marL="4737" marR="4737" marT="4737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fr-FR" sz="14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 panose="020B0604020202020204"/>
                        </a:rPr>
                        <a:t>Faible identification des EZD (32%) et SV(24%)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fr-FR" sz="14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 panose="020B0604020202020204"/>
                        </a:rPr>
                        <a:t>Faible réalisation des séances de vaccination en fixe 77% et avancé 73% </a:t>
                      </a:r>
                    </a:p>
                  </a:txBody>
                  <a:tcPr marL="4737" marR="4737" marT="473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 panose="020B0604020202020204"/>
                        </a:rPr>
                        <a:t> </a:t>
                      </a:r>
                    </a:p>
                  </a:txBody>
                  <a:tcPr marL="4737" marR="4737" marT="473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 cap="none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 panose="020B0604020202020204"/>
                        </a:rPr>
                        <a:t> </a:t>
                      </a:r>
                    </a:p>
                  </a:txBody>
                  <a:tcPr marL="4737" marR="4737" marT="473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2969519"/>
                  </a:ext>
                </a:extLst>
              </a:tr>
              <a:tr h="44350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 panose="020B0604020202020204"/>
                        </a:rPr>
                        <a:t> </a:t>
                      </a:r>
                    </a:p>
                  </a:txBody>
                  <a:tcPr marL="4737" marR="4737" marT="4737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 panose="020B0604020202020204"/>
                        </a:rPr>
                        <a:t>Faible suivi de performance de  séance de vaccination lors de la réunion de monitorage au BCZS et à la base ;</a:t>
                      </a:r>
                    </a:p>
                  </a:txBody>
                  <a:tcPr marL="4737" marR="4737" marT="473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 panose="020B0604020202020204"/>
                        </a:rPr>
                        <a:t> </a:t>
                      </a:r>
                    </a:p>
                  </a:txBody>
                  <a:tcPr marL="4737" marR="4737" marT="473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 cap="none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 panose="020B0604020202020204"/>
                        </a:rPr>
                        <a:t> </a:t>
                      </a:r>
                    </a:p>
                  </a:txBody>
                  <a:tcPr marL="4737" marR="4737" marT="473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3183621"/>
                  </a:ext>
                </a:extLst>
              </a:tr>
              <a:tr h="71287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 cap="none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 panose="020B0604020202020204"/>
                        </a:rPr>
                        <a:t> </a:t>
                      </a:r>
                    </a:p>
                  </a:txBody>
                  <a:tcPr marL="4737" marR="4737" marT="4737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fr-FR" sz="14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 panose="020B0604020202020204"/>
                        </a:rPr>
                        <a:t>Non  réalisation des séances de vaccination en stratégies  mobile pour atteindre des populations difficiles d’accès (riveraine, zones à risque)</a:t>
                      </a:r>
                    </a:p>
                  </a:txBody>
                  <a:tcPr marL="4737" marR="4737" marT="473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 panose="020B0604020202020204"/>
                        </a:rPr>
                        <a:t> AVS</a:t>
                      </a:r>
                    </a:p>
                  </a:txBody>
                  <a:tcPr marL="4737" marR="4737" marT="473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 cap="none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 panose="020B0604020202020204"/>
                        </a:rPr>
                        <a:t> </a:t>
                      </a:r>
                    </a:p>
                  </a:txBody>
                  <a:tcPr marL="4737" marR="4737" marT="473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2490854"/>
                  </a:ext>
                </a:extLst>
              </a:tr>
              <a:tr h="45605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 cap="none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 panose="020B0604020202020204"/>
                        </a:rPr>
                        <a:t> </a:t>
                      </a:r>
                    </a:p>
                  </a:txBody>
                  <a:tcPr marL="4737" marR="4737" marT="4737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 panose="020B0604020202020204"/>
                        </a:rPr>
                        <a:t>Faible  réalisation des différentes stratégies de mise en œuvre pour atteindre la cible (porte à porte, OVM, point de concentration)</a:t>
                      </a:r>
                    </a:p>
                  </a:txBody>
                  <a:tcPr marL="4737" marR="4737" marT="473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1400" b="0" i="0" u="none" strike="noStrike" cap="none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Arial" panose="020B0604020202020204"/>
                      </a:endParaRPr>
                    </a:p>
                  </a:txBody>
                  <a:tcPr marL="4737" marR="4737" marT="473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 cap="none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 panose="020B0604020202020204"/>
                        </a:rPr>
                        <a:t> </a:t>
                      </a:r>
                    </a:p>
                  </a:txBody>
                  <a:tcPr marL="4737" marR="4737" marT="473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2367351"/>
                  </a:ext>
                </a:extLst>
              </a:tr>
              <a:tr h="4713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 cap="none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 panose="020B0604020202020204"/>
                        </a:rPr>
                        <a:t> </a:t>
                      </a:r>
                    </a:p>
                  </a:txBody>
                  <a:tcPr marL="4737" marR="4737" marT="4737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 panose="020B0604020202020204"/>
                        </a:rPr>
                        <a:t>Non intégration de la vaccination dans les HGR et ESS privés de la province </a:t>
                      </a:r>
                    </a:p>
                  </a:txBody>
                  <a:tcPr marL="4737" marR="4737" marT="473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 panose="020B0604020202020204"/>
                        </a:rPr>
                        <a:t> </a:t>
                      </a:r>
                    </a:p>
                  </a:txBody>
                  <a:tcPr marL="4737" marR="4737" marT="473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 panose="020B0604020202020204"/>
                        </a:rPr>
                        <a:t> </a:t>
                      </a:r>
                    </a:p>
                  </a:txBody>
                  <a:tcPr marL="4737" marR="4737" marT="473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1057635"/>
                  </a:ext>
                </a:extLst>
              </a:tr>
            </a:tbl>
          </a:graphicData>
        </a:graphic>
      </p:graphicFrame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CE637439-E8B6-D38A-9177-8D71611FC5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C6C74B9-2604-4CC9-AC21-BDDE82F9DE2C}" type="datetime1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12/12/2025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8D09750-7061-B582-9A4E-3363312C0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EAC269F-B456-E540-A4A4-C7B9A29FD610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55459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67AF75-3384-9BD6-5B00-15BEA75D00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5C64505-881B-5CD6-90CD-0C9E46AD07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86861D6-7FC4-65E8-16E0-6685D9E7B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06627F0-2193-8E35-A457-0DF11C373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AD8B661-4844-CB32-31D1-1FB5174C8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22A1AE6-F9D8-CC1D-77C4-CC57D0C684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B13D770-1AEF-3A15-BFBF-949AA1B86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779" y="294538"/>
            <a:ext cx="10983771" cy="1033669"/>
          </a:xfrm>
        </p:spPr>
        <p:txBody>
          <a:bodyPr>
            <a:normAutofit/>
          </a:bodyPr>
          <a:lstStyle/>
          <a:p>
            <a:r>
              <a:rPr lang="fr-FR" sz="4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anose="020B0606020202030204" pitchFamily="34" charset="0"/>
              </a:rPr>
              <a:t>ANALYSE FFOM (2)</a:t>
            </a:r>
          </a:p>
        </p:txBody>
      </p:sp>
      <p:graphicFrame>
        <p:nvGraphicFramePr>
          <p:cNvPr id="3" name="Tableau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1811911"/>
              </p:ext>
            </p:extLst>
          </p:nvPr>
        </p:nvGraphicFramePr>
        <p:xfrm>
          <a:off x="75413" y="1597432"/>
          <a:ext cx="12038029" cy="3078847"/>
        </p:xfrm>
        <a:graphic>
          <a:graphicData uri="http://schemas.openxmlformats.org/drawingml/2006/table">
            <a:tbl>
              <a:tblPr/>
              <a:tblGrid>
                <a:gridCol w="2129112">
                  <a:extLst>
                    <a:ext uri="{9D8B030D-6E8A-4147-A177-3AD203B41FA5}">
                      <a16:colId xmlns:a16="http://schemas.microsoft.com/office/drawing/2014/main" val="3212066574"/>
                    </a:ext>
                  </a:extLst>
                </a:gridCol>
                <a:gridCol w="3211165">
                  <a:extLst>
                    <a:ext uri="{9D8B030D-6E8A-4147-A177-3AD203B41FA5}">
                      <a16:colId xmlns:a16="http://schemas.microsoft.com/office/drawing/2014/main" val="3193804082"/>
                    </a:ext>
                  </a:extLst>
                </a:gridCol>
                <a:gridCol w="2557182">
                  <a:extLst>
                    <a:ext uri="{9D8B030D-6E8A-4147-A177-3AD203B41FA5}">
                      <a16:colId xmlns:a16="http://schemas.microsoft.com/office/drawing/2014/main" val="3876234537"/>
                    </a:ext>
                  </a:extLst>
                </a:gridCol>
                <a:gridCol w="2505049">
                  <a:extLst>
                    <a:ext uri="{9D8B030D-6E8A-4147-A177-3AD203B41FA5}">
                      <a16:colId xmlns:a16="http://schemas.microsoft.com/office/drawing/2014/main" val="2236563428"/>
                    </a:ext>
                  </a:extLst>
                </a:gridCol>
                <a:gridCol w="1635521">
                  <a:extLst>
                    <a:ext uri="{9D8B030D-6E8A-4147-A177-3AD203B41FA5}">
                      <a16:colId xmlns:a16="http://schemas.microsoft.com/office/drawing/2014/main" val="4111570071"/>
                    </a:ext>
                  </a:extLst>
                </a:gridCol>
              </a:tblGrid>
              <a:tr h="260571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effectLst/>
                          <a:latin typeface="Arial Narrow" panose="020B0606020202030204" pitchFamily="34" charset="0"/>
                        </a:rPr>
                        <a:t>Domaines</a:t>
                      </a:r>
                    </a:p>
                  </a:txBody>
                  <a:tcPr marL="3745" marR="3745" marT="374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effectLst/>
                          <a:latin typeface="Arial Narrow" panose="020B0606020202030204" pitchFamily="34" charset="0"/>
                        </a:rPr>
                        <a:t>Forces</a:t>
                      </a:r>
                    </a:p>
                  </a:txBody>
                  <a:tcPr marL="3745" marR="3745" marT="374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effectLst/>
                          <a:latin typeface="Arial Narrow" panose="020B0606020202030204" pitchFamily="34" charset="0"/>
                        </a:rPr>
                        <a:t>Faiblesses</a:t>
                      </a:r>
                    </a:p>
                  </a:txBody>
                  <a:tcPr marL="3745" marR="3745" marT="37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effectLst/>
                          <a:latin typeface="Arial Narrow" panose="020B0606020202030204" pitchFamily="34" charset="0"/>
                        </a:rPr>
                        <a:t>Opportunités</a:t>
                      </a:r>
                    </a:p>
                  </a:txBody>
                  <a:tcPr marL="3745" marR="3745" marT="37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effectLst/>
                          <a:latin typeface="Arial Narrow" panose="020B0606020202030204" pitchFamily="34" charset="0"/>
                        </a:rPr>
                        <a:t>Menaces</a:t>
                      </a:r>
                    </a:p>
                  </a:txBody>
                  <a:tcPr marL="3745" marR="3745" marT="37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0943589"/>
                  </a:ext>
                </a:extLst>
              </a:tr>
              <a:tr h="403935">
                <a:tc rowSpan="5">
                  <a:txBody>
                    <a:bodyPr/>
                    <a:lstStyle/>
                    <a:p>
                      <a:pPr algn="l" fontAlgn="t"/>
                      <a:r>
                        <a:rPr lang="en-US" sz="1800" b="1" i="1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2. Chaîne d'approvisionnement</a:t>
                      </a:r>
                    </a:p>
                  </a:txBody>
                  <a:tcPr marL="3745" marR="3745" marT="374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fr-FR" sz="1400" b="0" i="0" u="none" strike="noStrike" kern="1200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77% de couverture en MCF solaire fonctionnels au niveau de Aires de Santé;</a:t>
                      </a:r>
                    </a:p>
                  </a:txBody>
                  <a:tcPr marL="3745" marR="3745" marT="374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fr-FR" sz="1400" b="0" i="0" u="none" strike="noStrike" kern="1200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Panne des MCF (85 Réfrigérateurs solaires  </a:t>
                      </a:r>
                    </a:p>
                  </a:txBody>
                  <a:tcPr marL="3745" marR="3745" marT="374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fr-FR" sz="1400" b="0" i="0" u="none" strike="noStrike" kern="1200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Appui Unicef dans la distribution des vaccins et autres intrants.</a:t>
                      </a:r>
                    </a:p>
                  </a:txBody>
                  <a:tcPr marL="3745" marR="3745" marT="374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 kern="1200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US" sz="1400" b="0" i="0" u="none" strike="noStrike" kern="1200" cap="none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Fermeture du Bureau </a:t>
                      </a:r>
                      <a:r>
                        <a:rPr lang="en-US" sz="1400" b="0" i="0" u="none" strike="noStrike" kern="1200" cap="none" dirty="0" err="1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Unicef</a:t>
                      </a:r>
                      <a:r>
                        <a:rPr lang="en-US" sz="1400" b="0" i="0" u="none" strike="noStrike" kern="1200" cap="none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fr-FR" sz="1400" b="0" i="0" u="none" strike="noStrike" kern="1200" cap="none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à Kisangani</a:t>
                      </a:r>
                      <a:endParaRPr lang="en-US" sz="1400" b="0" i="0" u="none" strike="noStrike" kern="1200" cap="none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745" marR="3745" marT="374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153666"/>
                  </a:ext>
                </a:extLst>
              </a:tr>
              <a:tr h="65220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fr-FR" sz="1400" b="0" i="0" u="none" strike="noStrike" kern="1200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Dotation des 2 groupes électrogènes de secours ( 1 pour l’Antenne PEV Kisangani et 1 pour l’Antenne PEV Lokutu); </a:t>
                      </a:r>
                    </a:p>
                  </a:txBody>
                  <a:tcPr marL="3745" marR="3745" marT="374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fr-FR" sz="1400" b="0" i="0" u="none" strike="noStrike" kern="1200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Insuffisance des fonds destinés à la maintenance curative des MCF ;</a:t>
                      </a:r>
                    </a:p>
                  </a:txBody>
                  <a:tcPr marL="3745" marR="3745" marT="374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fr-FR" sz="1400" b="0" i="0" u="none" strike="noStrike" kern="1200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NGCA opérationnelle dans la province avec l’appui du partenaire VILLAGE REACH.</a:t>
                      </a:r>
                    </a:p>
                  </a:txBody>
                  <a:tcPr marL="3745" marR="3745" marT="374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 kern="1200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3745" marR="3745" marT="374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4072046"/>
                  </a:ext>
                </a:extLst>
              </a:tr>
              <a:tr h="45248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fr-FR" sz="1400" b="0" i="0" u="none" strike="noStrike" kern="1200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Disponibilité de deux maintenanciers MCF formés par INPP Kinshasa en 2019.</a:t>
                      </a:r>
                    </a:p>
                  </a:txBody>
                  <a:tcPr marL="3745" marR="3745" marT="374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0" i="0" u="none" strike="noStrike" kern="1200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Absence d’un dépôt des intrants secs au niveau de l’Antenne PEV Kisangani et la Coordination</a:t>
                      </a:r>
                    </a:p>
                  </a:txBody>
                  <a:tcPr marL="3745" marR="3745" marT="374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 kern="1200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 HUB</a:t>
                      </a:r>
                    </a:p>
                  </a:txBody>
                  <a:tcPr marL="3745" marR="3745" marT="374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 kern="1200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3745" marR="3745" marT="374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5836526"/>
                  </a:ext>
                </a:extLst>
              </a:tr>
              <a:tr h="51711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0" i="0" u="none" strike="noStrike" kern="1200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Dotation des congélateurs TFW 40 SDD dans tous les 23 BCZS.</a:t>
                      </a:r>
                    </a:p>
                    <a:p>
                      <a:pPr algn="l" fontAlgn="t"/>
                      <a:endParaRPr lang="fr-FR" sz="1400" b="0" i="0" u="none" strike="noStrike" kern="1200" cap="none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745" marR="3745" marT="374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fr-FR" sz="1400" b="0" i="0" u="none" strike="noStrike" kern="1200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Absence des pièces de rechange des réfrigérateurs solaires et des chambres froides.</a:t>
                      </a:r>
                    </a:p>
                  </a:txBody>
                  <a:tcPr marL="3745" marR="3745" marT="374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 kern="1200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3745" marR="3745" marT="374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 kern="1200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3745" marR="3745" marT="374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8927052"/>
                  </a:ext>
                </a:extLst>
              </a:tr>
              <a:tr h="36389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endParaRPr lang="fr-FR" sz="1400" b="0" i="0" u="none" strike="noStrike" kern="1200" cap="none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745" marR="3745" marT="374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fr-FR" sz="1400" b="0" i="0" u="none" strike="noStrike" kern="1200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Rupture des stocks de 14 jours en vaccins BCG et VAA ;</a:t>
                      </a:r>
                    </a:p>
                  </a:txBody>
                  <a:tcPr marL="3745" marR="3745" marT="374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 kern="1200" cap="none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3745" marR="3745" marT="374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 kern="1200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3745" marR="3745" marT="374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6043169"/>
                  </a:ext>
                </a:extLst>
              </a:tr>
            </a:tbl>
          </a:graphicData>
        </a:graphic>
      </p:graphicFrame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52E8F88-9507-FDB4-030C-2533FF8B7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D2365BF-F7B7-4620-857B-05B1F1DCA23C}" type="datetime1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12/12/2025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4670FB1-D66F-AC93-00E7-89A0BACAF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EAC269F-B456-E540-A4A4-C7B9A29FD610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aphicFrame>
        <p:nvGraphicFramePr>
          <p:cNvPr id="7" name="Tableau 6">
            <a:extLst>
              <a:ext uri="{FF2B5EF4-FFF2-40B4-BE49-F238E27FC236}">
                <a16:creationId xmlns:a16="http://schemas.microsoft.com/office/drawing/2014/main" id="{2EF2B656-ABD1-2365-77CD-5EBF8BCEEB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4725572"/>
              </p:ext>
            </p:extLst>
          </p:nvPr>
        </p:nvGraphicFramePr>
        <p:xfrm>
          <a:off x="75413" y="4913400"/>
          <a:ext cx="12116584" cy="1585846"/>
        </p:xfrm>
        <a:graphic>
          <a:graphicData uri="http://schemas.openxmlformats.org/drawingml/2006/table">
            <a:tbl>
              <a:tblPr/>
              <a:tblGrid>
                <a:gridCol w="2111606">
                  <a:extLst>
                    <a:ext uri="{9D8B030D-6E8A-4147-A177-3AD203B41FA5}">
                      <a16:colId xmlns:a16="http://schemas.microsoft.com/office/drawing/2014/main" val="4040104722"/>
                    </a:ext>
                  </a:extLst>
                </a:gridCol>
                <a:gridCol w="2307877">
                  <a:extLst>
                    <a:ext uri="{9D8B030D-6E8A-4147-A177-3AD203B41FA5}">
                      <a16:colId xmlns:a16="http://schemas.microsoft.com/office/drawing/2014/main" val="2284398644"/>
                    </a:ext>
                  </a:extLst>
                </a:gridCol>
                <a:gridCol w="4404713">
                  <a:extLst>
                    <a:ext uri="{9D8B030D-6E8A-4147-A177-3AD203B41FA5}">
                      <a16:colId xmlns:a16="http://schemas.microsoft.com/office/drawing/2014/main" val="25503694"/>
                    </a:ext>
                  </a:extLst>
                </a:gridCol>
                <a:gridCol w="1646194">
                  <a:extLst>
                    <a:ext uri="{9D8B030D-6E8A-4147-A177-3AD203B41FA5}">
                      <a16:colId xmlns:a16="http://schemas.microsoft.com/office/drawing/2014/main" val="1935021702"/>
                    </a:ext>
                  </a:extLst>
                </a:gridCol>
                <a:gridCol w="1646194">
                  <a:extLst>
                    <a:ext uri="{9D8B030D-6E8A-4147-A177-3AD203B41FA5}">
                      <a16:colId xmlns:a16="http://schemas.microsoft.com/office/drawing/2014/main" val="193397098"/>
                    </a:ext>
                  </a:extLst>
                </a:gridCol>
              </a:tblGrid>
              <a:tr h="35097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effectLst/>
                          <a:latin typeface="Arial Narrow" panose="020B0606020202030204" pitchFamily="34" charset="0"/>
                        </a:rPr>
                        <a:t>Domaines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effectLst/>
                          <a:latin typeface="Arial Narrow" panose="020B0606020202030204" pitchFamily="34" charset="0"/>
                        </a:rPr>
                        <a:t>Forces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effectLst/>
                          <a:latin typeface="Arial Narrow" panose="020B0606020202030204" pitchFamily="34" charset="0"/>
                        </a:rPr>
                        <a:t>Faiblesses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effectLst/>
                          <a:latin typeface="Arial Narrow" panose="020B0606020202030204" pitchFamily="34" charset="0"/>
                        </a:rPr>
                        <a:t>Opportunités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effectLst/>
                          <a:latin typeface="Arial Narrow" panose="020B0606020202030204" pitchFamily="34" charset="0"/>
                        </a:rPr>
                        <a:t>Menaces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416136"/>
                  </a:ext>
                </a:extLst>
              </a:tr>
              <a:tr h="527858">
                <a:tc rowSpan="3">
                  <a:txBody>
                    <a:bodyPr/>
                    <a:lstStyle/>
                    <a:p>
                      <a:pPr algn="l" fontAlgn="t"/>
                      <a:r>
                        <a:rPr lang="fr-FR" sz="1800" b="1" i="1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3. Système d'informations médicales, suivi et apprentissage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 kern="1200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fr-FR" sz="1400" b="0" i="0" u="none" strike="noStrike" kern="1200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Dotation de 16 Kit V-SAT par UNICEF</a:t>
                      </a:r>
                      <a:endParaRPr lang="en-US" sz="1400" b="0" i="0" u="none" strike="noStrike" kern="1200" cap="none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fr-FR" sz="1400" b="0" i="0" u="none" strike="noStrike" kern="1200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Faible analyse et de validation de données de vaccination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0" i="0" u="none" strike="noStrike" kern="1200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Faible qualité des données de vaccination 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 kern="1200" cap="none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 kern="1200" cap="none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2072337"/>
                  </a:ext>
                </a:extLst>
              </a:tr>
              <a:tr h="42420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 kern="1200" cap="none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0" i="0" u="none" strike="noStrike" kern="1200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Faible complétude des données de gestion de vaccins dans le DHI2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 kern="1200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 kern="1200" cap="none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3396973"/>
                  </a:ext>
                </a:extLst>
              </a:tr>
              <a:tr h="27394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 kern="1200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fr-FR" sz="1400" b="0" i="0" u="none" strike="noStrike" kern="1200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Faible suivi des enfants cibles et ZD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 kern="1200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 AVS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 kern="1200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2759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312040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94895E-FDF7-26E1-A00F-1F71238D78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AC3661D-94DA-D317-CCAF-D91EFCCC1A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9FF1305-FFFF-47D2-8BF9-59D95A515A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490A951-FF11-3A8B-D369-658FDDF78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0516994-C64D-3C71-9EF6-1C0945847E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C07A535-3521-7A6F-7DC4-759CEAC76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20B44C4-7810-A019-2174-A0986A5B7C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677" y="294538"/>
            <a:ext cx="11088874" cy="1033669"/>
          </a:xfrm>
        </p:spPr>
        <p:txBody>
          <a:bodyPr>
            <a:normAutofit/>
          </a:bodyPr>
          <a:lstStyle/>
          <a:p>
            <a:r>
              <a:rPr lang="fr-FR" sz="4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anose="020B0606020202030204" pitchFamily="34" charset="0"/>
              </a:rPr>
              <a:t>ANALYSE FFOM (3)</a:t>
            </a:r>
          </a:p>
        </p:txBody>
      </p:sp>
      <p:graphicFrame>
        <p:nvGraphicFramePr>
          <p:cNvPr id="3" name="Tableau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9543669"/>
              </p:ext>
            </p:extLst>
          </p:nvPr>
        </p:nvGraphicFramePr>
        <p:xfrm>
          <a:off x="178678" y="1527349"/>
          <a:ext cx="11810122" cy="2017129"/>
        </p:xfrm>
        <a:graphic>
          <a:graphicData uri="http://schemas.openxmlformats.org/drawingml/2006/table">
            <a:tbl>
              <a:tblPr/>
              <a:tblGrid>
                <a:gridCol w="1954922">
                  <a:extLst>
                    <a:ext uri="{9D8B030D-6E8A-4147-A177-3AD203B41FA5}">
                      <a16:colId xmlns:a16="http://schemas.microsoft.com/office/drawing/2014/main" val="3964660600"/>
                    </a:ext>
                  </a:extLst>
                </a:gridCol>
                <a:gridCol w="3289300">
                  <a:extLst>
                    <a:ext uri="{9D8B030D-6E8A-4147-A177-3AD203B41FA5}">
                      <a16:colId xmlns:a16="http://schemas.microsoft.com/office/drawing/2014/main" val="3857805389"/>
                    </a:ext>
                  </a:extLst>
                </a:gridCol>
                <a:gridCol w="2705100">
                  <a:extLst>
                    <a:ext uri="{9D8B030D-6E8A-4147-A177-3AD203B41FA5}">
                      <a16:colId xmlns:a16="http://schemas.microsoft.com/office/drawing/2014/main" val="3888837534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1517685115"/>
                    </a:ext>
                  </a:extLst>
                </a:gridCol>
                <a:gridCol w="2082800">
                  <a:extLst>
                    <a:ext uri="{9D8B030D-6E8A-4147-A177-3AD203B41FA5}">
                      <a16:colId xmlns:a16="http://schemas.microsoft.com/office/drawing/2014/main" val="1861237170"/>
                    </a:ext>
                  </a:extLst>
                </a:gridCol>
              </a:tblGrid>
              <a:tr h="32213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effectLst/>
                          <a:latin typeface="Arial Narrow" panose="020B0606020202030204" pitchFamily="34" charset="0"/>
                        </a:rPr>
                        <a:t>Domaines</a:t>
                      </a:r>
                    </a:p>
                  </a:txBody>
                  <a:tcPr marL="4225" marR="4225" marT="42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effectLst/>
                          <a:latin typeface="Arial Narrow" panose="020B0606020202030204" pitchFamily="34" charset="0"/>
                        </a:rPr>
                        <a:t>Forces</a:t>
                      </a:r>
                    </a:p>
                  </a:txBody>
                  <a:tcPr marL="4225" marR="4225" marT="42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effectLst/>
                          <a:latin typeface="Arial Narrow" panose="020B0606020202030204" pitchFamily="34" charset="0"/>
                        </a:rPr>
                        <a:t>Faiblesses</a:t>
                      </a:r>
                    </a:p>
                  </a:txBody>
                  <a:tcPr marL="4225" marR="4225" marT="42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effectLst/>
                          <a:latin typeface="Arial Narrow" panose="020B0606020202030204" pitchFamily="34" charset="0"/>
                        </a:rPr>
                        <a:t>Opportunités</a:t>
                      </a:r>
                    </a:p>
                  </a:txBody>
                  <a:tcPr marL="4225" marR="4225" marT="42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effectLst/>
                          <a:latin typeface="Arial Narrow" panose="020B0606020202030204" pitchFamily="34" charset="0"/>
                        </a:rPr>
                        <a:t>Menaces</a:t>
                      </a:r>
                    </a:p>
                  </a:txBody>
                  <a:tcPr marL="4225" marR="4225" marT="42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0262283"/>
                  </a:ext>
                </a:extLst>
              </a:tr>
              <a:tr h="658049">
                <a:tc rowSpan="3">
                  <a:txBody>
                    <a:bodyPr/>
                    <a:lstStyle/>
                    <a:p>
                      <a:pPr algn="l" fontAlgn="t"/>
                      <a:r>
                        <a:rPr lang="fr-FR" sz="1800" b="1" i="1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4. Génération de la demande et engagement de la communauté</a:t>
                      </a:r>
                    </a:p>
                  </a:txBody>
                  <a:tcPr marL="4225" marR="4225" marT="42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fr-FR" sz="1400" b="0" i="0" u="none" strike="noStrike" kern="1200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La mise en place des organes de PARTICOM dans les 19 ZS FAE(3071 CAC redynamisées)</a:t>
                      </a:r>
                    </a:p>
                  </a:txBody>
                  <a:tcPr marL="4225" marR="4225" marT="42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fr-FR" sz="1400" b="0" i="0" u="none" strike="noStrike" kern="1200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Faible proportion des EZD/SV identifiés et récupérés par les CAC </a:t>
                      </a:r>
                    </a:p>
                    <a:p>
                      <a:pPr marL="0" indent="0" algn="l" fontAlgn="t">
                        <a:buFont typeface="Wingdings" panose="05000000000000000000" pitchFamily="2" charset="2"/>
                        <a:buNone/>
                      </a:pPr>
                      <a:endParaRPr lang="fr-FR" sz="1400" b="0" i="0" u="none" strike="noStrike" kern="1200" cap="none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225" marR="4225" marT="42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fr-FR" sz="1400" b="0" i="0" u="none" strike="noStrike" kern="1200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AVS</a:t>
                      </a:r>
                    </a:p>
                  </a:txBody>
                  <a:tcPr marL="4225" marR="4225" marT="42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fr-FR" sz="1400" b="0" i="0" u="none" strike="noStrike" kern="1200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Existence des sectes réfractaires à la vaccination </a:t>
                      </a:r>
                    </a:p>
                  </a:txBody>
                  <a:tcPr marL="4225" marR="4225" marT="42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3404241"/>
                  </a:ext>
                </a:extLst>
              </a:tr>
              <a:tr h="52790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fr-FR" sz="1400" b="0" i="0" u="none" strike="noStrike" kern="1200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Existence de normes et directives sur la génération de la demande</a:t>
                      </a:r>
                    </a:p>
                  </a:txBody>
                  <a:tcPr marL="4225" marR="4225" marT="42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0" i="0" u="none" strike="noStrike" kern="1200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Sélection des OAC non résidents </a:t>
                      </a:r>
                    </a:p>
                    <a:p>
                      <a:pPr algn="l" fontAlgn="t"/>
                      <a:endParaRPr lang="fr-FR" sz="1400" b="0" i="0" u="none" strike="noStrike" kern="1200" cap="none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225" marR="4225" marT="42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 kern="1200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4225" marR="4225" marT="42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 kern="1200" cap="none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4225" marR="4225" marT="42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9656302"/>
                  </a:ext>
                </a:extLst>
              </a:tr>
              <a:tr h="50904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endParaRPr lang="fr-FR" sz="1400" b="0" i="0" u="none" strike="noStrike" kern="1200" cap="none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225" marR="4225" marT="42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0" i="0" u="none" strike="noStrike" kern="1200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Faible participation de CAC à la réunion de monitorage à la base</a:t>
                      </a:r>
                    </a:p>
                  </a:txBody>
                  <a:tcPr marL="4225" marR="4225" marT="42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 kern="1200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4225" marR="4225" marT="42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 kern="1200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4225" marR="4225" marT="42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9258374"/>
                  </a:ext>
                </a:extLst>
              </a:tr>
            </a:tbl>
          </a:graphicData>
        </a:graphic>
      </p:graphicFrame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4211530-2211-1FD4-22E4-CF24B6304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1D144DB-EF98-4E90-B08E-B9EEFC5C250E}" type="datetime1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12/12/2025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482C087-98B8-BA0D-5152-4466A2C7F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EAC269F-B456-E540-A4A4-C7B9A29FD610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aphicFrame>
        <p:nvGraphicFramePr>
          <p:cNvPr id="7" name="Tableau 6">
            <a:extLst>
              <a:ext uri="{FF2B5EF4-FFF2-40B4-BE49-F238E27FC236}">
                <a16:creationId xmlns:a16="http://schemas.microsoft.com/office/drawing/2014/main" id="{B2BEFE88-7138-4713-C693-A1AE6B1B60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9650974"/>
              </p:ext>
            </p:extLst>
          </p:nvPr>
        </p:nvGraphicFramePr>
        <p:xfrm>
          <a:off x="156325" y="3816542"/>
          <a:ext cx="11623461" cy="2785516"/>
        </p:xfrm>
        <a:graphic>
          <a:graphicData uri="http://schemas.openxmlformats.org/drawingml/2006/table">
            <a:tbl>
              <a:tblPr/>
              <a:tblGrid>
                <a:gridCol w="1823305">
                  <a:extLst>
                    <a:ext uri="{9D8B030D-6E8A-4147-A177-3AD203B41FA5}">
                      <a16:colId xmlns:a16="http://schemas.microsoft.com/office/drawing/2014/main" val="3983032411"/>
                    </a:ext>
                  </a:extLst>
                </a:gridCol>
                <a:gridCol w="2601798">
                  <a:extLst>
                    <a:ext uri="{9D8B030D-6E8A-4147-A177-3AD203B41FA5}">
                      <a16:colId xmlns:a16="http://schemas.microsoft.com/office/drawing/2014/main" val="1539337921"/>
                    </a:ext>
                  </a:extLst>
                </a:gridCol>
                <a:gridCol w="4039964">
                  <a:extLst>
                    <a:ext uri="{9D8B030D-6E8A-4147-A177-3AD203B41FA5}">
                      <a16:colId xmlns:a16="http://schemas.microsoft.com/office/drawing/2014/main" val="1496019307"/>
                    </a:ext>
                  </a:extLst>
                </a:gridCol>
                <a:gridCol w="2294849">
                  <a:extLst>
                    <a:ext uri="{9D8B030D-6E8A-4147-A177-3AD203B41FA5}">
                      <a16:colId xmlns:a16="http://schemas.microsoft.com/office/drawing/2014/main" val="3273487401"/>
                    </a:ext>
                  </a:extLst>
                </a:gridCol>
                <a:gridCol w="863545">
                  <a:extLst>
                    <a:ext uri="{9D8B030D-6E8A-4147-A177-3AD203B41FA5}">
                      <a16:colId xmlns:a16="http://schemas.microsoft.com/office/drawing/2014/main" val="750959801"/>
                    </a:ext>
                  </a:extLst>
                </a:gridCol>
              </a:tblGrid>
              <a:tr h="355351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effectLst/>
                          <a:latin typeface="Arial Narrow" panose="020B0606020202030204" pitchFamily="34" charset="0"/>
                        </a:rPr>
                        <a:t>Domaines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effectLst/>
                          <a:latin typeface="Arial Narrow" panose="020B0606020202030204" pitchFamily="34" charset="0"/>
                        </a:rPr>
                        <a:t>Forces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effectLst/>
                          <a:latin typeface="Arial Narrow" panose="020B0606020202030204" pitchFamily="34" charset="0"/>
                        </a:rPr>
                        <a:t>Faiblesses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effectLst/>
                          <a:latin typeface="Arial Narrow" panose="020B0606020202030204" pitchFamily="34" charset="0"/>
                        </a:rPr>
                        <a:t>Opportunités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effectLst/>
                          <a:latin typeface="Arial Narrow" panose="020B0606020202030204" pitchFamily="34" charset="0"/>
                        </a:rPr>
                        <a:t>Menaces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9535186"/>
                  </a:ext>
                </a:extLst>
              </a:tr>
              <a:tr h="447241">
                <a:tc rowSpan="4">
                  <a:txBody>
                    <a:bodyPr/>
                    <a:lstStyle/>
                    <a:p>
                      <a:pPr algn="l" fontAlgn="t"/>
                      <a:r>
                        <a:rPr lang="fr-FR" sz="1800" b="1" i="1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5. Gouvernance, politique, planification stratégique et gestion du programme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fr-FR" sz="1400" b="0" i="0" u="none" strike="noStrike" kern="1200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70% de réunions de pilotage tenues au niveau provincial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fr-FR" sz="1400" b="0" i="0" u="none" strike="noStrike" kern="1200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Faible suivi et mise en œuvre des recommandations et décisions en faveur de la vaccinations.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 kern="1200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 Les </a:t>
                      </a:r>
                      <a:r>
                        <a:rPr lang="en-US" sz="1400" b="0" i="0" u="none" strike="noStrike" kern="1200" cap="none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visites</a:t>
                      </a:r>
                      <a:r>
                        <a:rPr lang="en-US" sz="1400" b="0" i="0" u="none" strike="noStrike" kern="1200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du </a:t>
                      </a:r>
                      <a:r>
                        <a:rPr lang="fr-FR" sz="1400" b="0" i="0" u="none" strike="noStrike" kern="1200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REPACAV National</a:t>
                      </a:r>
                      <a:r>
                        <a:rPr lang="en-US" sz="1400" b="0" i="0" u="none" strike="noStrike" kern="1200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et </a:t>
                      </a:r>
                      <a:r>
                        <a:rPr lang="fr-FR" sz="1400" b="0" i="0" u="none" strike="noStrike" kern="1200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PTF en Province</a:t>
                      </a:r>
                      <a:endParaRPr lang="en-US" sz="1400" b="0" i="0" u="none" strike="noStrike" kern="1200" cap="none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 kern="1200" cap="none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5900372"/>
                  </a:ext>
                </a:extLst>
              </a:tr>
              <a:tr h="87970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fr-FR" sz="1400" b="0" i="0" u="none" strike="noStrike" kern="1200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Sanctions prises à l’endroit des cadres des ZS sur leur absence au lieu de services et la non justification des fonds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fr-FR" sz="1400" b="0" i="0" u="none" strike="noStrike" kern="1200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Faible fonctionnalité de la coordination des activités dans les ZS  et AS </a:t>
                      </a:r>
                    </a:p>
                    <a:p>
                      <a:pPr algn="l" fontAlgn="b">
                        <a:buNone/>
                      </a:pPr>
                      <a:r>
                        <a:rPr lang="fr-FR" sz="1400" b="0" i="0" u="none" strike="noStrike" kern="1200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Un RECAPV provincial faiblement fonctionnel sans tenue des réunions et activités documentées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kern="1200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fr-FR" sz="1400" b="0" i="0" u="none" strike="noStrike" kern="1200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Présence de partenaires pour la mise en œuvre du plan MASHAKO  dans la province</a:t>
                      </a:r>
                    </a:p>
                    <a:p>
                      <a:pPr algn="l" fontAlgn="t"/>
                      <a:endParaRPr lang="en-US" sz="1400" b="0" i="0" u="none" strike="noStrike" kern="1200" cap="none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 kern="1200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1406463"/>
                  </a:ext>
                </a:extLst>
              </a:tr>
              <a:tr h="45519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0" i="0" u="none" strike="noStrike" kern="1200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La signature des notes d’engagements avec les MCZ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0" i="0" u="none" strike="noStrike" kern="1200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Aucune  réunions du CPP </a:t>
                      </a:r>
                      <a:r>
                        <a:rPr lang="fr-FR" sz="1400" b="0" i="0" u="none" strike="noStrike" kern="1200" cap="none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presidées</a:t>
                      </a:r>
                      <a:r>
                        <a:rPr lang="fr-FR" sz="1400" b="0" i="0" u="none" strike="noStrike" kern="1200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par le gouverneur de province 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1400" b="0" i="0" u="none" strike="noStrike" kern="1200" cap="none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 kern="1200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4133507"/>
                  </a:ext>
                </a:extLst>
              </a:tr>
              <a:tr h="64802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0" i="0" u="none" strike="noStrike" kern="1200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Existence d'une ligne budgétaire </a:t>
                      </a:r>
                      <a:r>
                        <a:rPr lang="fr-FR" sz="1400" b="0" i="0" u="none" strike="noStrike" kern="1200" cap="none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dedié</a:t>
                      </a:r>
                      <a:r>
                        <a:rPr lang="fr-FR" sz="1400" b="0" i="0" u="none" strike="noStrike" kern="1200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à la vaccination dans l'édit budgétaire de la province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fr-FR" sz="1400" b="0" i="0" u="none" strike="noStrike" kern="1200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Absence de contribution financière  du gouvernement provincial ; </a:t>
                      </a:r>
                    </a:p>
                    <a:p>
                      <a:pPr algn="l" fontAlgn="t"/>
                      <a:endParaRPr lang="fr-FR" sz="1400" b="0" i="0" u="none" strike="noStrike" kern="1200" cap="none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 kern="1200" cap="none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 kern="1200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04075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0649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aabc9d920d_0_428"/>
          <p:cNvSpPr txBox="1"/>
          <p:nvPr/>
        </p:nvSpPr>
        <p:spPr>
          <a:xfrm>
            <a:off x="458592" y="317941"/>
            <a:ext cx="11274900" cy="7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en-US" sz="2700" b="1" dirty="0" err="1">
                <a:solidFill>
                  <a:srgbClr val="1155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Analyse</a:t>
            </a:r>
            <a:r>
              <a:rPr lang="en-US" sz="2700" b="1" dirty="0">
                <a:solidFill>
                  <a:srgbClr val="1155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FFOM (4)</a:t>
            </a:r>
            <a:endParaRPr sz="2700" b="1" dirty="0">
              <a:solidFill>
                <a:srgbClr val="1155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b="1" dirty="0">
              <a:solidFill>
                <a:srgbClr val="1155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b="1" dirty="0">
              <a:solidFill>
                <a:srgbClr val="1155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b="1" dirty="0">
              <a:solidFill>
                <a:srgbClr val="1155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b="1" dirty="0">
              <a:solidFill>
                <a:srgbClr val="1155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b="1" dirty="0">
              <a:solidFill>
                <a:srgbClr val="1155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b="1" dirty="0">
              <a:solidFill>
                <a:srgbClr val="1155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b="1" i="0" u="none" strike="noStrike" cap="none" dirty="0">
              <a:solidFill>
                <a:srgbClr val="1155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46" name="Google Shape;246;g3aabc9d920d_0_428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47" name="Google Shape;247;g3aabc9d920d_0_428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48" name="Google Shape;248;g3aabc9d920d_0_428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18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249" name="Google Shape;249;g3aabc9d920d_0_428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w="12700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graphicFrame>
        <p:nvGraphicFramePr>
          <p:cNvPr id="250" name="Google Shape;250;g3aabc9d920d_0_428"/>
          <p:cNvGraphicFramePr/>
          <p:nvPr>
            <p:extLst>
              <p:ext uri="{D42A27DB-BD31-4B8C-83A1-F6EECF244321}">
                <p14:modId xmlns:p14="http://schemas.microsoft.com/office/powerpoint/2010/main" val="836386701"/>
              </p:ext>
            </p:extLst>
          </p:nvPr>
        </p:nvGraphicFramePr>
        <p:xfrm>
          <a:off x="235501" y="1049641"/>
          <a:ext cx="12067335" cy="5041360"/>
        </p:xfrm>
        <a:graphic>
          <a:graphicData uri="http://schemas.openxmlformats.org/drawingml/2006/table">
            <a:tbl>
              <a:tblPr>
                <a:noFill/>
                <a:tableStyleId>{628BBFD1-A734-4757-B910-67CC1CD15934}</a:tableStyleId>
              </a:tblPr>
              <a:tblGrid>
                <a:gridCol w="12361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056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423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420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411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94809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Times New Roman" panose="02020603050405020304"/>
                          <a:cs typeface="Times New Roman" panose="02020603050405020304" pitchFamily="18" charset="0"/>
                          <a:sym typeface="Times New Roman" panose="02020603050405020304"/>
                        </a:rPr>
                        <a:t>Activités spécifiques</a:t>
                      </a:r>
                      <a:endParaRPr sz="1500" b="1" i="0" u="none" strike="noStrike" cap="none" dirty="0">
                        <a:solidFill>
                          <a:srgbClr val="FFFFFF"/>
                        </a:solidFill>
                        <a:latin typeface="Times New Roman" panose="02020603050405020304" pitchFamily="18" charset="0"/>
                        <a:ea typeface="Times New Roman" panose="02020603050405020304"/>
                        <a:cs typeface="Times New Roman" panose="02020603050405020304" pitchFamily="18" charset="0"/>
                        <a:sym typeface="Times New Roman" panose="02020603050405020304"/>
                      </a:endParaRPr>
                    </a:p>
                  </a:txBody>
                  <a:tcPr marL="7000" marR="7000" marT="700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Times New Roman" panose="02020603050405020304"/>
                          <a:cs typeface="Times New Roman" panose="02020603050405020304" pitchFamily="18" charset="0"/>
                          <a:sym typeface="Times New Roman" panose="02020603050405020304"/>
                        </a:rPr>
                        <a:t>Forces</a:t>
                      </a:r>
                      <a:endParaRPr sz="1500" b="1" i="0" u="none" strike="noStrike" cap="none">
                        <a:solidFill>
                          <a:srgbClr val="FFFFFF"/>
                        </a:solidFill>
                        <a:latin typeface="Times New Roman" panose="02020603050405020304" pitchFamily="18" charset="0"/>
                        <a:ea typeface="Times New Roman" panose="02020603050405020304"/>
                        <a:cs typeface="Times New Roman" panose="02020603050405020304" pitchFamily="18" charset="0"/>
                        <a:sym typeface="Times New Roman" panose="02020603050405020304"/>
                      </a:endParaRPr>
                    </a:p>
                  </a:txBody>
                  <a:tcPr marL="7000" marR="7000" marT="700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Times New Roman" panose="02020603050405020304"/>
                          <a:cs typeface="Times New Roman" panose="02020603050405020304" pitchFamily="18" charset="0"/>
                          <a:sym typeface="Times New Roman" panose="02020603050405020304"/>
                        </a:rPr>
                        <a:t>Faiblesses</a:t>
                      </a:r>
                      <a:endParaRPr sz="1500" b="1" i="0" u="none" strike="noStrike" cap="none">
                        <a:solidFill>
                          <a:srgbClr val="FFFFFF"/>
                        </a:solidFill>
                        <a:latin typeface="Times New Roman" panose="02020603050405020304" pitchFamily="18" charset="0"/>
                        <a:ea typeface="Times New Roman" panose="02020603050405020304"/>
                        <a:cs typeface="Times New Roman" panose="02020603050405020304" pitchFamily="18" charset="0"/>
                        <a:sym typeface="Times New Roman" panose="02020603050405020304"/>
                      </a:endParaRPr>
                    </a:p>
                  </a:txBody>
                  <a:tcPr marL="7000" marR="7000" marT="700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Times New Roman" panose="02020603050405020304"/>
                          <a:cs typeface="Times New Roman" panose="02020603050405020304" pitchFamily="18" charset="0"/>
                          <a:sym typeface="Times New Roman" panose="02020603050405020304"/>
                        </a:rPr>
                        <a:t>Opportunités</a:t>
                      </a:r>
                      <a:endParaRPr sz="1500" b="1" i="0" u="none" strike="noStrike" cap="none">
                        <a:solidFill>
                          <a:srgbClr val="FFFFFF"/>
                        </a:solidFill>
                        <a:latin typeface="Times New Roman" panose="02020603050405020304" pitchFamily="18" charset="0"/>
                        <a:ea typeface="Times New Roman" panose="02020603050405020304"/>
                        <a:cs typeface="Times New Roman" panose="02020603050405020304" pitchFamily="18" charset="0"/>
                        <a:sym typeface="Times New Roman" panose="02020603050405020304"/>
                      </a:endParaRPr>
                    </a:p>
                  </a:txBody>
                  <a:tcPr marL="7000" marR="7000" marT="700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Times New Roman" panose="02020603050405020304"/>
                          <a:cs typeface="Times New Roman" panose="02020603050405020304" pitchFamily="18" charset="0"/>
                          <a:sym typeface="Times New Roman" panose="02020603050405020304"/>
                        </a:rPr>
                        <a:t>Menaces</a:t>
                      </a:r>
                      <a:endParaRPr sz="1500" b="1" i="0" u="none" strike="noStrike" cap="none">
                        <a:solidFill>
                          <a:srgbClr val="FFFFFF"/>
                        </a:solidFill>
                        <a:latin typeface="Times New Roman" panose="02020603050405020304" pitchFamily="18" charset="0"/>
                        <a:ea typeface="Times New Roman" panose="02020603050405020304"/>
                        <a:cs typeface="Times New Roman" panose="02020603050405020304" pitchFamily="18" charset="0"/>
                        <a:sym typeface="Times New Roman" panose="02020603050405020304"/>
                      </a:endParaRPr>
                    </a:p>
                  </a:txBody>
                  <a:tcPr marL="7000" marR="7000" marT="700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1351">
                <a:tc row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1" u="none" strike="noStrike" cap="none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Times New Roman" panose="02020603050405020304"/>
                          <a:cs typeface="Times New Roman" panose="02020603050405020304" pitchFamily="18" charset="0"/>
                          <a:sym typeface="Times New Roman" panose="02020603050405020304"/>
                        </a:rPr>
                        <a:t>1. FAE</a:t>
                      </a:r>
                      <a:endParaRPr sz="1500" b="1" i="1" u="none" strike="noStrike" cap="none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Times New Roman" panose="02020603050405020304"/>
                        <a:cs typeface="Times New Roman" panose="02020603050405020304" pitchFamily="18" charset="0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CD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Leadership DPS engagé</a:t>
                      </a:r>
                      <a:endParaRPr sz="1500" b="1" i="0" u="none" strike="noStrike" cap="none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Times New Roman" panose="02020603050405020304"/>
                        <a:cs typeface="Times New Roman" panose="02020603050405020304" pitchFamily="18" charset="0"/>
                        <a:sym typeface="Times New Roman" panose="02020603050405020304"/>
                      </a:endParaRPr>
                    </a:p>
                  </a:txBody>
                  <a:tcPr marL="7000" marR="7000" marT="700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CD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Performance inégale entre ZS</a:t>
                      </a:r>
                      <a:endParaRPr sz="1500" b="1" i="0" u="none" strike="noStrike" cap="none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Times New Roman" panose="02020603050405020304"/>
                        <a:cs typeface="Times New Roman" panose="02020603050405020304" pitchFamily="18" charset="0"/>
                        <a:sym typeface="Times New Roman" panose="02020603050405020304"/>
                      </a:endParaRPr>
                    </a:p>
                  </a:txBody>
                  <a:tcPr marL="7000" marR="7000" marT="700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Introduction nouveaux vaccins (VAP, RR...)</a:t>
                      </a:r>
                      <a:endParaRPr sz="1500" b="1" i="0" u="none" strike="noStrike" cap="none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Times New Roman" panose="02020603050405020304"/>
                        <a:cs typeface="Times New Roman" panose="02020603050405020304" pitchFamily="18" charset="0"/>
                        <a:sym typeface="Times New Roman" panose="02020603050405020304"/>
                      </a:endParaRPr>
                    </a:p>
                  </a:txBody>
                  <a:tcPr marL="7000" marR="7000" marT="700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Times New Roman" panose="02020603050405020304"/>
                          <a:cs typeface="Times New Roman" panose="02020603050405020304" pitchFamily="18" charset="0"/>
                          <a:sym typeface="Times New Roman" panose="02020603050405020304"/>
                        </a:rPr>
                        <a:t> </a:t>
                      </a:r>
                      <a:r>
                        <a:rPr lang="fr-FR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Instabilité et mouvements de population</a:t>
                      </a:r>
                      <a:endParaRPr sz="1500" b="1" i="0" u="none" strike="noStrike" cap="none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Times New Roman" panose="02020603050405020304"/>
                        <a:cs typeface="Times New Roman" panose="02020603050405020304" pitchFamily="18" charset="0"/>
                        <a:sym typeface="Times New Roman" panose="02020603050405020304"/>
                      </a:endParaRPr>
                    </a:p>
                  </a:txBody>
                  <a:tcPr marL="7000" marR="7000" marT="700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072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fr-CD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Intégration FAE à </a:t>
                      </a:r>
                      <a:r>
                        <a:rPr lang="fr-CD" sz="15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</a:t>
                      </a:r>
                      <a:r>
                        <a:rPr lang="fr-CD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%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b="1" i="0" u="none" strike="noStrike" cap="none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Times New Roman" panose="02020603050405020304"/>
                        <a:cs typeface="Times New Roman" panose="02020603050405020304" pitchFamily="18" charset="0"/>
                        <a:sym typeface="Times New Roman" panose="02020603050405020304"/>
                      </a:endParaRPr>
                    </a:p>
                  </a:txBody>
                  <a:tcPr marL="7000" marR="7000" marT="700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fr-FR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Faible qualité et complétude des données</a:t>
                      </a:r>
                    </a:p>
                  </a:txBody>
                  <a:tcPr marL="7000" marR="7000" marT="700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Times New Roman" panose="02020603050405020304"/>
                          <a:cs typeface="Times New Roman" panose="02020603050405020304" pitchFamily="18" charset="0"/>
                          <a:sym typeface="Times New Roman" panose="02020603050405020304"/>
                        </a:rPr>
                        <a:t> </a:t>
                      </a:r>
                      <a:r>
                        <a:rPr lang="fr-CD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Approches innovantes FAE</a:t>
                      </a:r>
                      <a:endParaRPr sz="1500" b="1" i="0" u="none" strike="noStrike" cap="none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Times New Roman" panose="02020603050405020304"/>
                        <a:cs typeface="Times New Roman" panose="02020603050405020304" pitchFamily="18" charset="0"/>
                        <a:sym typeface="Times New Roman" panose="02020603050405020304"/>
                      </a:endParaRPr>
                    </a:p>
                  </a:txBody>
                  <a:tcPr marL="7000" marR="7000" marT="700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Times New Roman" panose="02020603050405020304"/>
                          <a:cs typeface="Times New Roman" panose="02020603050405020304" pitchFamily="18" charset="0"/>
                          <a:sym typeface="Times New Roman" panose="02020603050405020304"/>
                        </a:rPr>
                        <a:t> </a:t>
                      </a:r>
                      <a:r>
                        <a:rPr lang="fr-CD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Risque persistant de poliovirus</a:t>
                      </a:r>
                      <a:endParaRPr sz="1500" b="1" i="0" u="none" strike="noStrike" cap="none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Times New Roman" panose="02020603050405020304"/>
                        <a:cs typeface="Times New Roman" panose="02020603050405020304" pitchFamily="18" charset="0"/>
                        <a:sym typeface="Times New Roman" panose="02020603050405020304"/>
                      </a:endParaRPr>
                    </a:p>
                  </a:txBody>
                  <a:tcPr marL="7000" marR="7000" marT="700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5839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CD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Plan de contextualisation existant</a:t>
                      </a:r>
                      <a:endParaRPr sz="1500" i="0" u="none" strike="noStrike" cap="none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Times New Roman" panose="02020603050405020304"/>
                        <a:cs typeface="Times New Roman" panose="02020603050405020304" pitchFamily="18" charset="0"/>
                        <a:sym typeface="Times New Roman" panose="02020603050405020304"/>
                      </a:endParaRPr>
                    </a:p>
                  </a:txBody>
                  <a:tcPr marL="7000" marR="7000" marT="700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Times New Roman" panose="02020603050405020304"/>
                          <a:cs typeface="Times New Roman" panose="02020603050405020304" pitchFamily="18" charset="0"/>
                          <a:sym typeface="Times New Roman" panose="02020603050405020304"/>
                        </a:rPr>
                        <a:t> </a:t>
                      </a:r>
                      <a:r>
                        <a:rPr lang="fr-CD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Supervision irrégulièrement documentée</a:t>
                      </a:r>
                      <a:endParaRPr sz="1500" i="0" u="none" strike="noStrike" cap="none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Times New Roman" panose="02020603050405020304"/>
                        <a:cs typeface="Times New Roman" panose="02020603050405020304" pitchFamily="18" charset="0"/>
                        <a:sym typeface="Times New Roman" panose="02020603050405020304"/>
                      </a:endParaRPr>
                    </a:p>
                  </a:txBody>
                  <a:tcPr marL="7000" marR="7000" marT="700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Times New Roman" panose="02020603050405020304"/>
                          <a:cs typeface="Times New Roman" panose="02020603050405020304" pitchFamily="18" charset="0"/>
                          <a:sym typeface="Times New Roman" panose="02020603050405020304"/>
                        </a:rPr>
                        <a:t> </a:t>
                      </a:r>
                      <a:r>
                        <a:rPr lang="fr-CD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Appui accru des partenaires</a:t>
                      </a:r>
                      <a:endParaRPr sz="1500" i="0" u="none" strike="noStrike" cap="none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Times New Roman" panose="02020603050405020304"/>
                        <a:cs typeface="Times New Roman" panose="02020603050405020304" pitchFamily="18" charset="0"/>
                        <a:sym typeface="Times New Roman" panose="02020603050405020304"/>
                      </a:endParaRPr>
                    </a:p>
                  </a:txBody>
                  <a:tcPr marL="7000" marR="7000" marT="700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CD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Dépendance au financement externe</a:t>
                      </a:r>
                      <a:endParaRPr sz="1500" i="0" u="none" strike="noStrike" cap="none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Times New Roman" panose="02020603050405020304"/>
                        <a:cs typeface="Times New Roman" panose="02020603050405020304" pitchFamily="18" charset="0"/>
                        <a:sym typeface="Times New Roman" panose="02020603050405020304"/>
                      </a:endParaRPr>
                    </a:p>
                  </a:txBody>
                  <a:tcPr marL="7000" marR="7000" marT="700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8915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fr-CD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Multiples stratégies opérationnelles</a:t>
                      </a:r>
                    </a:p>
                  </a:txBody>
                  <a:tcPr marL="7000" marR="7000" marT="700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CD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Mobilisation communautaire variable</a:t>
                      </a:r>
                      <a:endParaRPr sz="1500" i="0" u="none" strike="noStrike" cap="none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Times New Roman" panose="02020603050405020304"/>
                        <a:cs typeface="Times New Roman" panose="02020603050405020304" pitchFamily="18" charset="0"/>
                        <a:sym typeface="Times New Roman" panose="02020603050405020304"/>
                      </a:endParaRPr>
                    </a:p>
                  </a:txBody>
                  <a:tcPr marL="7000" marR="7000" marT="700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en-US" sz="150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Times New Roman" panose="02020603050405020304"/>
                          <a:cs typeface="Times New Roman" panose="02020603050405020304" pitchFamily="18" charset="0"/>
                          <a:sym typeface="Times New Roman" panose="02020603050405020304"/>
                        </a:rPr>
                        <a:t> </a:t>
                      </a:r>
                      <a:r>
                        <a:rPr lang="fr-CD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Sensibilisation post-IPVS</a:t>
                      </a:r>
                    </a:p>
                  </a:txBody>
                  <a:tcPr marL="7000" marR="7000" marT="700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Times New Roman" panose="02020603050405020304"/>
                          <a:cs typeface="Times New Roman" panose="02020603050405020304" pitchFamily="18" charset="0"/>
                          <a:sym typeface="Times New Roman" panose="02020603050405020304"/>
                        </a:rPr>
                        <a:t> </a:t>
                      </a:r>
                      <a:endParaRPr sz="1500" i="0" u="none" strike="noStrike" cap="none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Times New Roman" panose="02020603050405020304"/>
                        <a:cs typeface="Times New Roman" panose="02020603050405020304" pitchFamily="18" charset="0"/>
                        <a:sym typeface="Times New Roman" panose="02020603050405020304"/>
                      </a:endParaRPr>
                    </a:p>
                  </a:txBody>
                  <a:tcPr marL="7000" marR="7000" marT="700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4809">
                <a:tc row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1" u="none" strike="noStrike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Times New Roman" panose="02020603050405020304"/>
                          <a:cs typeface="Times New Roman" panose="02020603050405020304" pitchFamily="18" charset="0"/>
                          <a:sym typeface="Times New Roman" panose="02020603050405020304"/>
                        </a:rPr>
                        <a:t>2. IPVS</a:t>
                      </a:r>
                      <a:endParaRPr sz="1500" b="1" i="1" u="none" strike="noStrike" cap="none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Times New Roman" panose="02020603050405020304"/>
                        <a:cs typeface="Times New Roman" panose="02020603050405020304" pitchFamily="18" charset="0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CD" sz="15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 micro plan  et dénombrement </a:t>
                      </a:r>
                      <a:r>
                        <a:rPr lang="fr-CD" sz="15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du grand rattrapage</a:t>
                      </a:r>
                      <a:endParaRPr lang="en-US" sz="15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000" marR="7000" marT="700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CD" sz="1500" b="0" i="0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imes New Roman" panose="02020603050405020304"/>
                          <a:cs typeface="Times New Roman" panose="02020603050405020304" pitchFamily="18" charset="0"/>
                          <a:sym typeface="Arial" panose="020B0604020202020204"/>
                        </a:rPr>
                        <a:t>Absence de  KIT d</a:t>
                      </a:r>
                      <a:r>
                        <a:rPr lang="fr-CD" sz="1500" b="0" i="0" u="none" strike="noStrike" cap="none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imes New Roman" panose="02020603050405020304"/>
                          <a:cs typeface="Times New Roman" panose="02020603050405020304" pitchFamily="18" charset="0"/>
                          <a:sym typeface="Arial" panose="020B0604020202020204"/>
                        </a:rPr>
                        <a:t>e prise en charge de MAPI</a:t>
                      </a:r>
                      <a:endParaRPr lang="en-US" sz="1500" b="0" i="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imes New Roman" panose="02020603050405020304"/>
                        <a:cs typeface="Times New Roman" panose="02020603050405020304" pitchFamily="18" charset="0"/>
                        <a:sym typeface="Arial" panose="020B0604020202020204"/>
                      </a:endParaRPr>
                    </a:p>
                  </a:txBody>
                  <a:tcPr marL="7000" marR="7000" marT="700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i="0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imes New Roman" panose="02020603050405020304"/>
                          <a:cs typeface="Times New Roman" panose="02020603050405020304" pitchFamily="18" charset="0"/>
                          <a:sym typeface="Times New Roman" panose="02020603050405020304"/>
                        </a:rPr>
                        <a:t>Continuité des identification des</a:t>
                      </a:r>
                      <a:r>
                        <a:rPr lang="en-US" sz="1500" i="0" u="none" strike="noStrike" cap="none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imes New Roman" panose="02020603050405020304"/>
                          <a:cs typeface="Times New Roman" panose="02020603050405020304" pitchFamily="18" charset="0"/>
                          <a:sym typeface="Times New Roman" panose="02020603050405020304"/>
                        </a:rPr>
                        <a:t> ZS et SV</a:t>
                      </a:r>
                      <a:r>
                        <a:rPr lang="en-US" sz="1500" i="0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imes New Roman" panose="02020603050405020304"/>
                          <a:cs typeface="Times New Roman" panose="02020603050405020304" pitchFamily="18" charset="0"/>
                          <a:sym typeface="Times New Roman" panose="02020603050405020304"/>
                        </a:rPr>
                        <a:t> pendants les IPVS</a:t>
                      </a:r>
                      <a:endParaRPr sz="1500" i="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imes New Roman" panose="02020603050405020304"/>
                        <a:cs typeface="Times New Roman" panose="02020603050405020304" pitchFamily="18" charset="0"/>
                        <a:sym typeface="Times New Roman" panose="02020603050405020304"/>
                      </a:endParaRPr>
                    </a:p>
                  </a:txBody>
                  <a:tcPr marL="7000" marR="7000" marT="700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i="0" u="none" strike="noStrike" cap="none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imes New Roman" panose="02020603050405020304"/>
                          <a:cs typeface="Times New Roman" panose="02020603050405020304" pitchFamily="18" charset="0"/>
                          <a:sym typeface="Times New Roman" panose="02020603050405020304"/>
                        </a:rPr>
                        <a:t> </a:t>
                      </a:r>
                      <a:endParaRPr sz="1500" i="0" u="none" strike="noStrike" cap="none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imes New Roman" panose="02020603050405020304"/>
                        <a:cs typeface="Times New Roman" panose="02020603050405020304" pitchFamily="18" charset="0"/>
                        <a:sym typeface="Times New Roman" panose="02020603050405020304"/>
                      </a:endParaRPr>
                    </a:p>
                  </a:txBody>
                  <a:tcPr marL="7000" marR="7000" marT="700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4809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CD" sz="1500" b="0" i="0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imes New Roman" panose="02020603050405020304"/>
                          <a:cs typeface="Times New Roman" panose="02020603050405020304" pitchFamily="18" charset="0"/>
                          <a:sym typeface="Arial" panose="020B0604020202020204"/>
                        </a:rPr>
                        <a:t>Bonne préparation ,</a:t>
                      </a:r>
                      <a:r>
                        <a:rPr lang="fr-CD" sz="1500" b="0" i="0" u="none" strike="noStrike" cap="none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imes New Roman" panose="02020603050405020304"/>
                          <a:cs typeface="Times New Roman" panose="02020603050405020304" pitchFamily="18" charset="0"/>
                          <a:sym typeface="Arial" panose="020B0604020202020204"/>
                        </a:rPr>
                        <a:t> </a:t>
                      </a:r>
                      <a:r>
                        <a:rPr lang="fr-CD" sz="1500" b="0" i="0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imes New Roman" panose="02020603050405020304"/>
                          <a:cs typeface="Times New Roman" panose="02020603050405020304" pitchFamily="18" charset="0"/>
                          <a:sym typeface="Arial" panose="020B0604020202020204"/>
                        </a:rPr>
                        <a:t>et sensibilisation de la population ainsi</a:t>
                      </a:r>
                      <a:r>
                        <a:rPr lang="fr-CD" sz="1500" b="0" i="0" u="none" strike="noStrike" cap="none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imes New Roman" panose="02020603050405020304"/>
                          <a:cs typeface="Times New Roman" panose="02020603050405020304" pitchFamily="18" charset="0"/>
                          <a:sym typeface="Arial" panose="020B0604020202020204"/>
                        </a:rPr>
                        <a:t> que la combinaison des differentes stratégies traditionnelles et innovantes</a:t>
                      </a:r>
                      <a:endParaRPr lang="en-US" sz="1500" b="0" i="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imes New Roman" panose="02020603050405020304"/>
                        <a:cs typeface="Times New Roman" panose="02020603050405020304" pitchFamily="18" charset="0"/>
                        <a:sym typeface="Arial" panose="020B0604020202020204"/>
                      </a:endParaRPr>
                    </a:p>
                  </a:txBody>
                  <a:tcPr marL="7000" marR="7000" marT="700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i="0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imes New Roman" panose="02020603050405020304"/>
                          <a:cs typeface="Times New Roman" panose="02020603050405020304" pitchFamily="18" charset="0"/>
                          <a:sym typeface="Times New Roman" panose="02020603050405020304"/>
                        </a:rPr>
                        <a:t> Insuffisance de site au premier passage</a:t>
                      </a:r>
                      <a:endParaRPr sz="1500" i="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imes New Roman" panose="02020603050405020304"/>
                        <a:cs typeface="Times New Roman" panose="02020603050405020304" pitchFamily="18" charset="0"/>
                        <a:sym typeface="Times New Roman" panose="02020603050405020304"/>
                      </a:endParaRPr>
                    </a:p>
                  </a:txBody>
                  <a:tcPr marL="7000" marR="7000" marT="700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i="0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imes New Roman" panose="02020603050405020304"/>
                          <a:cs typeface="Times New Roman" panose="02020603050405020304" pitchFamily="18" charset="0"/>
                          <a:sym typeface="Times New Roman" panose="02020603050405020304"/>
                        </a:rPr>
                        <a:t> </a:t>
                      </a:r>
                      <a:endParaRPr sz="1500" i="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imes New Roman" panose="02020603050405020304"/>
                        <a:cs typeface="Times New Roman" panose="02020603050405020304" pitchFamily="18" charset="0"/>
                        <a:sym typeface="Times New Roman" panose="02020603050405020304"/>
                      </a:endParaRPr>
                    </a:p>
                  </a:txBody>
                  <a:tcPr marL="7000" marR="7000" marT="700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i="0" u="none" strike="noStrike" cap="none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imes New Roman" panose="02020603050405020304"/>
                          <a:cs typeface="Times New Roman" panose="02020603050405020304" pitchFamily="18" charset="0"/>
                          <a:sym typeface="Times New Roman" panose="02020603050405020304"/>
                        </a:rPr>
                        <a:t> </a:t>
                      </a:r>
                      <a:endParaRPr sz="1500" i="0" u="none" strike="noStrike" cap="none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imes New Roman" panose="02020603050405020304"/>
                        <a:cs typeface="Times New Roman" panose="02020603050405020304" pitchFamily="18" charset="0"/>
                        <a:sym typeface="Times New Roman" panose="02020603050405020304"/>
                      </a:endParaRPr>
                    </a:p>
                  </a:txBody>
                  <a:tcPr marL="7000" marR="7000" marT="700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307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i="0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imes New Roman" panose="02020603050405020304"/>
                          <a:cs typeface="Times New Roman" panose="02020603050405020304" pitchFamily="18" charset="0"/>
                          <a:sym typeface="Times New Roman" panose="02020603050405020304"/>
                        </a:rPr>
                        <a:t>Prolongation des IPVS pendant 10 Jours </a:t>
                      </a:r>
                      <a:endParaRPr sz="1500" i="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imes New Roman" panose="02020603050405020304"/>
                        <a:cs typeface="Times New Roman" panose="02020603050405020304" pitchFamily="18" charset="0"/>
                        <a:sym typeface="Times New Roman" panose="02020603050405020304"/>
                      </a:endParaRPr>
                    </a:p>
                  </a:txBody>
                  <a:tcPr marL="7000" marR="7000" marT="700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i="0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imes New Roman" panose="02020603050405020304"/>
                          <a:cs typeface="Times New Roman" panose="02020603050405020304" pitchFamily="18" charset="0"/>
                          <a:sym typeface="Times New Roman" panose="02020603050405020304"/>
                        </a:rPr>
                        <a:t> Retard</a:t>
                      </a:r>
                      <a:r>
                        <a:rPr lang="en-US" sz="1500" i="0" u="none" strike="noStrike" cap="none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imes New Roman" panose="02020603050405020304"/>
                          <a:cs typeface="Times New Roman" panose="02020603050405020304" pitchFamily="18" charset="0"/>
                          <a:sym typeface="Times New Roman" panose="02020603050405020304"/>
                        </a:rPr>
                        <a:t>s dans l’encodage des données dans les DHIS2</a:t>
                      </a:r>
                      <a:endParaRPr sz="1500" i="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imes New Roman" panose="02020603050405020304"/>
                        <a:cs typeface="Times New Roman" panose="02020603050405020304" pitchFamily="18" charset="0"/>
                        <a:sym typeface="Times New Roman" panose="02020603050405020304"/>
                      </a:endParaRPr>
                    </a:p>
                  </a:txBody>
                  <a:tcPr marL="7000" marR="7000" marT="700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i="0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imes New Roman" panose="02020603050405020304"/>
                          <a:cs typeface="Times New Roman" panose="02020603050405020304" pitchFamily="18" charset="0"/>
                          <a:sym typeface="Times New Roman" panose="02020603050405020304"/>
                        </a:rPr>
                        <a:t> </a:t>
                      </a:r>
                      <a:endParaRPr sz="1500" i="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imes New Roman" panose="02020603050405020304"/>
                        <a:cs typeface="Times New Roman" panose="02020603050405020304" pitchFamily="18" charset="0"/>
                        <a:sym typeface="Times New Roman" panose="02020603050405020304"/>
                      </a:endParaRPr>
                    </a:p>
                  </a:txBody>
                  <a:tcPr marL="7000" marR="7000" marT="700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i="0" u="none" strike="noStrike" cap="none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imes New Roman" panose="02020603050405020304"/>
                          <a:cs typeface="Times New Roman" panose="02020603050405020304" pitchFamily="18" charset="0"/>
                          <a:sym typeface="Times New Roman" panose="02020603050405020304"/>
                        </a:rPr>
                        <a:t> </a:t>
                      </a:r>
                      <a:endParaRPr sz="1500" i="0" u="none" strike="noStrike" cap="none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imes New Roman" panose="02020603050405020304"/>
                        <a:cs typeface="Times New Roman" panose="02020603050405020304" pitchFamily="18" charset="0"/>
                        <a:sym typeface="Times New Roman" panose="02020603050405020304"/>
                      </a:endParaRPr>
                    </a:p>
                  </a:txBody>
                  <a:tcPr marL="7000" marR="7000" marT="700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1307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i="0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imes New Roman" panose="02020603050405020304"/>
                          <a:cs typeface="Times New Roman" panose="02020603050405020304" pitchFamily="18" charset="0"/>
                          <a:sym typeface="Times New Roman" panose="02020603050405020304"/>
                        </a:rPr>
                        <a:t>Suivi de proximité des activités</a:t>
                      </a:r>
                      <a:r>
                        <a:rPr lang="en-US" sz="1500" i="0" u="none" strike="noStrike" cap="none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imes New Roman" panose="02020603050405020304"/>
                          <a:cs typeface="Times New Roman" panose="02020603050405020304" pitchFamily="18" charset="0"/>
                          <a:sym typeface="Times New Roman" panose="02020603050405020304"/>
                        </a:rPr>
                        <a:t> par les </a:t>
                      </a:r>
                      <a:r>
                        <a:rPr lang="en-US" sz="1500" i="0" u="none" strike="noStrike" cap="none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imes New Roman" panose="02020603050405020304"/>
                          <a:cs typeface="Times New Roman" panose="02020603050405020304" pitchFamily="18" charset="0"/>
                          <a:sym typeface="Times New Roman" panose="02020603050405020304"/>
                        </a:rPr>
                        <a:t>superviseurs</a:t>
                      </a:r>
                      <a:r>
                        <a:rPr lang="en-US" sz="1500" i="0" u="none" strike="noStrike" cap="none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imes New Roman" panose="02020603050405020304"/>
                          <a:cs typeface="Times New Roman" panose="02020603050405020304" pitchFamily="18" charset="0"/>
                          <a:sym typeface="Times New Roman" panose="02020603050405020304"/>
                        </a:rPr>
                        <a:t> et dans les </a:t>
                      </a:r>
                      <a:r>
                        <a:rPr lang="en-US" sz="1500" i="0" u="none" strike="noStrike" cap="none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imes New Roman" panose="02020603050405020304"/>
                          <a:cs typeface="Times New Roman" panose="02020603050405020304" pitchFamily="18" charset="0"/>
                          <a:sym typeface="Times New Roman" panose="02020603050405020304"/>
                        </a:rPr>
                        <a:t>differents</a:t>
                      </a:r>
                      <a:r>
                        <a:rPr lang="en-US" sz="1500" i="0" u="none" strike="noStrike" cap="none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imes New Roman" panose="02020603050405020304"/>
                          <a:cs typeface="Times New Roman" panose="02020603050405020304" pitchFamily="18" charset="0"/>
                          <a:sym typeface="Times New Roman" panose="02020603050405020304"/>
                        </a:rPr>
                        <a:t> plateforme </a:t>
                      </a:r>
                      <a:r>
                        <a:rPr lang="en-US" sz="1500" i="0" u="none" strike="noStrike" cap="none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imes New Roman" panose="02020603050405020304"/>
                          <a:cs typeface="Times New Roman" panose="02020603050405020304" pitchFamily="18" charset="0"/>
                          <a:sym typeface="Times New Roman" panose="02020603050405020304"/>
                        </a:rPr>
                        <a:t>watshapp</a:t>
                      </a:r>
                      <a:endParaRPr sz="1500" i="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imes New Roman" panose="02020603050405020304"/>
                        <a:cs typeface="Times New Roman" panose="02020603050405020304" pitchFamily="18" charset="0"/>
                        <a:sym typeface="Times New Roman" panose="02020603050405020304"/>
                      </a:endParaRPr>
                    </a:p>
                  </a:txBody>
                  <a:tcPr marL="7000" marR="7000" marT="700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i="0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imes New Roman" panose="02020603050405020304"/>
                          <a:cs typeface="Times New Roman" panose="02020603050405020304" pitchFamily="18" charset="0"/>
                          <a:sym typeface="Times New Roman" panose="02020603050405020304"/>
                        </a:rPr>
                        <a:t> Faible disponibilité des Carte CPS</a:t>
                      </a:r>
                      <a:endParaRPr sz="1500" i="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imes New Roman" panose="02020603050405020304"/>
                        <a:cs typeface="Times New Roman" panose="02020603050405020304" pitchFamily="18" charset="0"/>
                        <a:sym typeface="Times New Roman" panose="02020603050405020304"/>
                      </a:endParaRPr>
                    </a:p>
                  </a:txBody>
                  <a:tcPr marL="7000" marR="7000" marT="700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i="0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imes New Roman" panose="02020603050405020304"/>
                          <a:cs typeface="Times New Roman" panose="02020603050405020304" pitchFamily="18" charset="0"/>
                          <a:sym typeface="Times New Roman" panose="02020603050405020304"/>
                        </a:rPr>
                        <a:t> </a:t>
                      </a:r>
                      <a:endParaRPr sz="1500" i="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imes New Roman" panose="02020603050405020304"/>
                        <a:cs typeface="Times New Roman" panose="02020603050405020304" pitchFamily="18" charset="0"/>
                        <a:sym typeface="Times New Roman" panose="02020603050405020304"/>
                      </a:endParaRPr>
                    </a:p>
                  </a:txBody>
                  <a:tcPr marL="7000" marR="7000" marT="700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i="0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imes New Roman" panose="02020603050405020304"/>
                          <a:cs typeface="Times New Roman" panose="02020603050405020304" pitchFamily="18" charset="0"/>
                          <a:sym typeface="Times New Roman" panose="02020603050405020304"/>
                        </a:rPr>
                        <a:t> </a:t>
                      </a:r>
                      <a:endParaRPr sz="1500" i="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imes New Roman" panose="02020603050405020304"/>
                        <a:cs typeface="Times New Roman" panose="02020603050405020304" pitchFamily="18" charset="0"/>
                        <a:sym typeface="Times New Roman" panose="02020603050405020304"/>
                      </a:endParaRPr>
                    </a:p>
                  </a:txBody>
                  <a:tcPr marL="7000" marR="7000" marT="700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aabc9d920d_0_242"/>
          <p:cNvSpPr txBox="1"/>
          <p:nvPr/>
        </p:nvSpPr>
        <p:spPr>
          <a:xfrm>
            <a:off x="458592" y="317941"/>
            <a:ext cx="11274900" cy="7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en-US" sz="2700" dirty="0">
                <a:solidFill>
                  <a:srgbClr val="1155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Recommendation pour 2026</a:t>
            </a:r>
            <a:endParaRPr sz="2700" dirty="0">
              <a:solidFill>
                <a:srgbClr val="1155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  <a:sym typeface="Times New Roman" panose="02020603050405020304"/>
            </a:endParaRPr>
          </a:p>
          <a:p>
            <a:pPr marL="514350" marR="0" lvl="0" indent="-5143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+mj-lt"/>
              <a:buAutoNum type="arabicPeriod"/>
            </a:pPr>
            <a:r>
              <a:rPr lang="fr-CD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/>
              </a:rPr>
              <a:t>Maintenir les IPVS pour renforcer les PEV des Routine dans les ZS avec un grand nombres des enfants ZD/SV</a:t>
            </a:r>
          </a:p>
          <a:p>
            <a:pPr marL="514350" marR="0" lvl="0" indent="-5143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+mj-lt"/>
              <a:buAutoNum type="arabicPeriod"/>
            </a:pPr>
            <a:r>
              <a:rPr lang="fr-CD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/>
              </a:rPr>
              <a:t>Renforcement des stratégies mobiles ou fluviales dans les ilots , campements dans les zones d’accès difficiles</a:t>
            </a:r>
          </a:p>
          <a:p>
            <a:pPr marL="514350" marR="0" lvl="0" indent="-5143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+mj-lt"/>
              <a:buAutoNum type="arabicPeriod"/>
            </a:pPr>
            <a:r>
              <a:rPr lang="fr-CD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/>
              </a:rPr>
              <a:t>Rendre disponibles les outils de gestion (des cartes CPS en quantité suffisante, nouveau calendrier vaccinale )</a:t>
            </a:r>
          </a:p>
          <a:p>
            <a:pPr marL="514350" marR="0" lvl="0" indent="-5143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+mj-lt"/>
              <a:buAutoNum type="arabi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Appuyer les DQS de la qualité des données dans les ZS </a:t>
            </a:r>
          </a:p>
          <a:p>
            <a:pPr marL="514350" marR="0" lvl="0" indent="-5143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+mj-lt"/>
              <a:buAutoNum type="arabi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 et  le  suivi de récupération des CAC / Recos  des enfants zéros doses  et sous vaccinées</a:t>
            </a:r>
          </a:p>
          <a:p>
            <a:pPr marL="514350" marR="0" lvl="0" indent="-5143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+mj-lt"/>
              <a:buAutoNum type="arabi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Appui à la maintenance curative de chaine de froid</a:t>
            </a:r>
          </a:p>
          <a:p>
            <a:pPr marL="514350" marR="0" lvl="0" indent="-5143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+mj-lt"/>
              <a:buAutoNum type="arabi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Appui du gouvernement provincial</a:t>
            </a:r>
          </a:p>
          <a:p>
            <a:pPr marL="514350" marR="0" lvl="0" indent="-514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+mj-lt"/>
              <a:buAutoNum type="arabicPeriod"/>
            </a:pPr>
            <a:endParaRPr lang="en-US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i="0" u="none" strike="noStrike" cap="none" dirty="0">
              <a:solidFill>
                <a:srgbClr val="1155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  <a:sym typeface="Times New Roman" panose="02020603050405020304"/>
            </a:endParaRPr>
          </a:p>
        </p:txBody>
      </p:sp>
      <p:sp>
        <p:nvSpPr>
          <p:cNvPr id="266" name="Google Shape;266;g3aabc9d920d_0_242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67" name="Google Shape;267;g3aabc9d920d_0_242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68" name="Google Shape;268;g3aabc9d920d_0_242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19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269" name="Google Shape;269;g3aabc9d920d_0_242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w="12700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aabc9d920d_0_262"/>
          <p:cNvSpPr txBox="1"/>
          <p:nvPr/>
        </p:nvSpPr>
        <p:spPr>
          <a:xfrm>
            <a:off x="733100" y="1202135"/>
            <a:ext cx="10707600" cy="35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20204"/>
              <a:buNone/>
            </a:pPr>
            <a:r>
              <a:rPr lang="en-US" sz="3200" b="1" i="0" u="none" strike="noStrike" cap="none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Merci</a:t>
            </a:r>
            <a:endParaRPr sz="3200" b="1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75" name="Google Shape;275;g3aabc9d920d_0_262"/>
          <p:cNvSpPr/>
          <p:nvPr/>
        </p:nvSpPr>
        <p:spPr>
          <a:xfrm>
            <a:off x="1588" y="2654952"/>
            <a:ext cx="4500900" cy="6549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 panose="020B0604020202020204"/>
              <a:buNone/>
            </a:pPr>
            <a:endParaRPr sz="15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76" name="Google Shape;276;g3aabc9d920d_0_262"/>
          <p:cNvSpPr/>
          <p:nvPr/>
        </p:nvSpPr>
        <p:spPr>
          <a:xfrm>
            <a:off x="7689667" y="2654952"/>
            <a:ext cx="4501500" cy="6549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 panose="020B0604020202020204"/>
              <a:buNone/>
            </a:pPr>
            <a:endParaRPr sz="15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1_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Thèm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2660</TotalTime>
  <Words>2419</Words>
  <Application>Microsoft Office PowerPoint</Application>
  <PresentationFormat>Grand écran</PresentationFormat>
  <Paragraphs>559</Paragraphs>
  <Slides>20</Slides>
  <Notes>16</Notes>
  <HiddenSlides>0</HiddenSlides>
  <MMClips>0</MMClips>
  <ScaleCrop>false</ScaleCrop>
  <HeadingPairs>
    <vt:vector size="6" baseType="variant">
      <vt:variant>
        <vt:lpstr>Polices utilisées</vt:lpstr>
      </vt:variant>
      <vt:variant>
        <vt:i4>10</vt:i4>
      </vt:variant>
      <vt:variant>
        <vt:lpstr>Thème</vt:lpstr>
      </vt:variant>
      <vt:variant>
        <vt:i4>5</vt:i4>
      </vt:variant>
      <vt:variant>
        <vt:lpstr>Titres des diapositives</vt:lpstr>
      </vt:variant>
      <vt:variant>
        <vt:i4>20</vt:i4>
      </vt:variant>
    </vt:vector>
  </HeadingPairs>
  <TitlesOfParts>
    <vt:vector size="35" baseType="lpstr">
      <vt:lpstr>Times New Roman</vt:lpstr>
      <vt:lpstr>Calibri Light</vt:lpstr>
      <vt:lpstr>Arial Narrow</vt:lpstr>
      <vt:lpstr>Aptos Display</vt:lpstr>
      <vt:lpstr>Aptos</vt:lpstr>
      <vt:lpstr>Wingdings</vt:lpstr>
      <vt:lpstr>Arial</vt:lpstr>
      <vt:lpstr>Play</vt:lpstr>
      <vt:lpstr>Calibri</vt:lpstr>
      <vt:lpstr>Source Serif Pro</vt:lpstr>
      <vt:lpstr>Thème Office</vt:lpstr>
      <vt:lpstr>Simple Light</vt:lpstr>
      <vt:lpstr>1_Thème Office</vt:lpstr>
      <vt:lpstr>2_Thème Office</vt:lpstr>
      <vt:lpstr>1_Simple Light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L’activation GIS au 1-jour par les équipes de vaccination  était de 84% au 1er passage (8 ZS), 98% au 2e passage (8ZS)</vt:lpstr>
      <vt:lpstr>Présentation PowerPoint</vt:lpstr>
      <vt:lpstr>Présentation PowerPoint</vt:lpstr>
      <vt:lpstr>Présentation PowerPoint</vt:lpstr>
      <vt:lpstr>ANALYSE FFOM</vt:lpstr>
      <vt:lpstr>ANALYSE FFOM (2)</vt:lpstr>
      <vt:lpstr>ANALYSE FFOM (3)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Aimé CIKOMOLA</dc:creator>
  <cp:lastModifiedBy>BONJOUR</cp:lastModifiedBy>
  <cp:revision>64</cp:revision>
  <dcterms:created xsi:type="dcterms:W3CDTF">2025-11-28T20:10:05Z</dcterms:created>
  <dcterms:modified xsi:type="dcterms:W3CDTF">2025-12-12T13:46:41Z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93DF6B1B20AE4EE791A0860C13F9B9CC_13</vt:lpwstr>
  </property>
  <property fmtid="{D5CDD505-2E9C-101B-9397-08002B2CF9AE}" pid="3" name="KSOProductBuildVer">
    <vt:lpwstr>3084-12.2.0.23155</vt:lpwstr>
  </property>
</Properties>
</file>