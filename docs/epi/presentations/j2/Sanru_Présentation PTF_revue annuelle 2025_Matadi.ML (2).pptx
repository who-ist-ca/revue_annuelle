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7" r:id="rId2"/>
    <p:sldId id="258" r:id="rId3"/>
    <p:sldId id="260" r:id="rId4"/>
    <p:sldId id="270" r:id="rId5"/>
    <p:sldId id="275" r:id="rId6"/>
    <p:sldId id="271" r:id="rId7"/>
    <p:sldId id="276" r:id="rId8"/>
    <p:sldId id="277" r:id="rId9"/>
    <p:sldId id="278" r:id="rId10"/>
    <p:sldId id="279" r:id="rId11"/>
    <p:sldId id="280" r:id="rId12"/>
    <p:sldId id="272" r:id="rId13"/>
    <p:sldId id="263" r:id="rId14"/>
    <p:sldId id="265" r:id="rId15"/>
    <p:sldId id="274" r:id="rId16"/>
    <p:sldId id="268" r:id="rId17"/>
    <p:sldId id="269" r:id="rId18"/>
    <p:sldId id="267" r:id="rId1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4" d="100"/>
          <a:sy n="74" d="100"/>
        </p:scale>
        <p:origin x="480" y="56"/>
      </p:cViewPr>
      <p:guideLst>
        <p:guide orient="horz" pos="2159"/>
        <p:guide pos="3865"/>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12/15/2025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12/15/2025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600" cy="3267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07449A09-32D6-0874-CEFF-227697140363}"/>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90E6B8F2-7CE4-4F53-579D-4D0E515BDCE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82DDB762-C8FC-3FB5-87C7-421263A598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5532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1ED320FC-53B2-8898-5175-4E0549CC964E}"/>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B3B4CFD-7BB4-2556-427A-2F92506AA1D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CD5C1529-58D9-1163-7969-603B34BA15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648429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A53E3708-0B01-DFFB-4309-A4E7C142123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8B03B791-E685-B0F5-967D-160639F5E5F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9136CC32-9AB3-9438-993C-CBF9468129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764845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98F6BC0-9340-B2D0-7FA4-7387F0B1B8C2}"/>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7193CBA-E234-D17E-AAAF-A3E83F845B0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7A0B2AD9-1F7D-E497-F8D3-2286751933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015492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8C589DC5-DF5E-DF65-80B6-FF81578F5CCB}"/>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4AC5901C-3332-5237-EEBB-F36DFB97E4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5DF85DF3-494D-5484-7C07-7FA41B8129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37121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B67786B6-18C4-3973-00B8-F31D95171239}"/>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B6C3F81E-3B05-8DF2-6E86-711E5D5604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2A3A8A5B-AB44-108E-8A73-CA8661C32C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52457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179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43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2025</a:t>
            </a:r>
            <a:endParaRPr sz="43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Caneva</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s</a:t>
            </a:r>
            <a:r>
              <a:rPr 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de </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 des PTF en appui à la vaccination</a:t>
            </a:r>
            <a:endParaRPr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endPar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Nom du PTF:</a:t>
            </a:r>
          </a:p>
        </p:txBody>
      </p:sp>
      <p:sp>
        <p:nvSpPr>
          <p:cNvPr id="149" name="Google Shape;149;g3aabd3d1b2d_0_149"/>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187280"/>
            <a:ext cx="10714500" cy="4363720"/>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 de l</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’organisation</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Axe d’appui au PEV</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Redevabilité financière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Réalisations majeurs de l’année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Defis rencontrés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solutions apportées et leçons apprises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Priorités et engagement pour 2026 </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Besoin de collaboration et plaidoyer</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 de l’organisation</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p:cNvSpPr txBox="1"/>
          <p:nvPr/>
        </p:nvSpPr>
        <p:spPr>
          <a:xfrm>
            <a:off x="758825" y="1320800"/>
            <a:ext cx="9971405" cy="4390390"/>
          </a:xfrm>
          <a:prstGeom prst="rect">
            <a:avLst/>
          </a:prstGeom>
          <a:noFill/>
        </p:spPr>
        <p:txBody>
          <a:bodyPr wrap="square" rtlCol="0">
            <a:noAutofit/>
          </a:bodyPr>
          <a:lstStyle/>
          <a:p>
            <a:pPr marL="285750" indent="-285750">
              <a:buFont typeface="Arial" panose="020B0604020202020204" pitchFamily="34" charset="0"/>
              <a:buChar char="•"/>
            </a:pPr>
            <a:r>
              <a:rPr lang="fr-FR" altLang="en-US" sz="2800"/>
              <a:t>Année création de l’organisation </a:t>
            </a:r>
          </a:p>
          <a:p>
            <a:pPr marL="285750" indent="-285750">
              <a:buFont typeface="Arial" panose="020B0604020202020204" pitchFamily="34" charset="0"/>
              <a:buChar char="•"/>
            </a:pPr>
            <a:r>
              <a:rPr lang="fr-FR" altLang="en-US" sz="2800"/>
              <a:t>Mandat </a:t>
            </a:r>
          </a:p>
          <a:p>
            <a:pPr marL="285750" indent="-285750">
              <a:buFont typeface="Arial" panose="020B0604020202020204" pitchFamily="34" charset="0"/>
              <a:buChar char="•"/>
            </a:pPr>
            <a:r>
              <a:rPr lang="fr-FR" altLang="en-US" sz="2800"/>
              <a:t>Mission </a:t>
            </a:r>
          </a:p>
          <a:p>
            <a:pPr marL="285750" indent="-285750">
              <a:buFont typeface="Arial" panose="020B0604020202020204" pitchFamily="34" charset="0"/>
              <a:buChar char="•"/>
            </a:pPr>
            <a:r>
              <a:rPr lang="fr-FR" altLang="en-US" sz="2800"/>
              <a:t>Nombre d’année présence en RDC</a:t>
            </a:r>
          </a:p>
          <a:p>
            <a:pPr marL="285750" indent="-285750">
              <a:buFont typeface="Arial" panose="020B0604020202020204" pitchFamily="34" charset="0"/>
              <a:buChar char="•"/>
            </a:pPr>
            <a:r>
              <a:rPr lang="fr-FR" altLang="en-US" sz="2800"/>
              <a:t>Nombre d’année appui au PEV</a:t>
            </a:r>
          </a:p>
          <a:p>
            <a:pPr marL="285750" indent="-285750">
              <a:buFont typeface="Arial" panose="020B0604020202020204" pitchFamily="34" charset="0"/>
              <a:buChar char="•"/>
            </a:pPr>
            <a:r>
              <a:rPr lang="fr-FR" altLang="en-US" sz="2800"/>
              <a:t>Zone d’intervention en RDC </a:t>
            </a:r>
          </a:p>
          <a:p>
            <a:endParaRPr lang="fr-FR"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nvPr>
        </p:nvGraphicFramePr>
        <p:xfrm>
          <a:off x="455295" y="1188085"/>
          <a:ext cx="11226800" cy="4859020"/>
        </p:xfrm>
        <a:graphic>
          <a:graphicData uri="http://schemas.openxmlformats.org/drawingml/2006/table">
            <a:tbl>
              <a:tblPr firstRow="1" bandRow="1">
                <a:tableStyleId>{5C22544A-7EE6-4342-B048-85BDC9FD1C3A}</a:tableStyleId>
              </a:tblPr>
              <a:tblGrid>
                <a:gridCol w="2806700">
                  <a:extLst>
                    <a:ext uri="{9D8B030D-6E8A-4147-A177-3AD203B41FA5}">
                      <a16:colId xmlns:a16="http://schemas.microsoft.com/office/drawing/2014/main" val="20000"/>
                    </a:ext>
                  </a:extLst>
                </a:gridCol>
                <a:gridCol w="2806700">
                  <a:extLst>
                    <a:ext uri="{9D8B030D-6E8A-4147-A177-3AD203B41FA5}">
                      <a16:colId xmlns:a16="http://schemas.microsoft.com/office/drawing/2014/main" val="20001"/>
                    </a:ext>
                  </a:extLst>
                </a:gridCol>
                <a:gridCol w="2806700">
                  <a:extLst>
                    <a:ext uri="{9D8B030D-6E8A-4147-A177-3AD203B41FA5}">
                      <a16:colId xmlns:a16="http://schemas.microsoft.com/office/drawing/2014/main" val="20002"/>
                    </a:ext>
                  </a:extLst>
                </a:gridCol>
                <a:gridCol w="2806700">
                  <a:extLst>
                    <a:ext uri="{9D8B030D-6E8A-4147-A177-3AD203B41FA5}">
                      <a16:colId xmlns:a16="http://schemas.microsoft.com/office/drawing/2014/main" val="20003"/>
                    </a:ext>
                  </a:extLst>
                </a:gridCol>
              </a:tblGrid>
              <a:tr h="763905">
                <a:tc>
                  <a:txBody>
                    <a:bodyPr/>
                    <a:lstStyle/>
                    <a:p>
                      <a:pPr>
                        <a:buNone/>
                      </a:pPr>
                      <a:r>
                        <a:rPr lang="fr-FR" altLang="en-US"/>
                        <a:t>Domaine d’intervention </a:t>
                      </a:r>
                    </a:p>
                  </a:txBody>
                  <a:tcPr/>
                </a:tc>
                <a:tc>
                  <a:txBody>
                    <a:bodyPr/>
                    <a:lstStyle/>
                    <a:p>
                      <a:pPr>
                        <a:buNone/>
                      </a:pPr>
                      <a:r>
                        <a:rPr lang="fr-FR" altLang="en-US"/>
                        <a:t>Interventions </a:t>
                      </a:r>
                    </a:p>
                  </a:txBody>
                  <a:tcPr/>
                </a:tc>
                <a:tc>
                  <a:txBody>
                    <a:bodyPr/>
                    <a:lstStyle/>
                    <a:p>
                      <a:pPr>
                        <a:buNone/>
                      </a:pPr>
                      <a:r>
                        <a:rPr lang="fr-FR" altLang="en-US"/>
                        <a:t>Zone d’intervention </a:t>
                      </a:r>
                    </a:p>
                  </a:txBody>
                  <a:tcPr/>
                </a:tc>
                <a:tc>
                  <a:txBody>
                    <a:bodyPr/>
                    <a:lstStyle/>
                    <a:p>
                      <a:pPr>
                        <a:buNone/>
                      </a:pPr>
                      <a:r>
                        <a:rPr lang="fr-FR" altLang="en-US"/>
                        <a:t>Nombre consultants ou AT </a:t>
                      </a:r>
                    </a:p>
                  </a:txBody>
                  <a:tcPr/>
                </a:tc>
                <a:extLst>
                  <a:ext uri="{0D108BD9-81ED-4DB2-BD59-A6C34878D82A}">
                    <a16:rowId xmlns:a16="http://schemas.microsoft.com/office/drawing/2014/main" val="10000"/>
                  </a:ext>
                </a:extLst>
              </a:tr>
              <a:tr h="4559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1"/>
                  </a:ext>
                </a:extLst>
              </a:tr>
              <a:tr h="45466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2"/>
                  </a:ext>
                </a:extLst>
              </a:tr>
              <a:tr h="45466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3"/>
                  </a:ext>
                </a:extLst>
              </a:tr>
              <a:tr h="45466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4"/>
                  </a:ext>
                </a:extLst>
              </a:tr>
              <a:tr h="45529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5"/>
                  </a:ext>
                </a:extLst>
              </a:tr>
              <a:tr h="45466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6"/>
                  </a:ext>
                </a:extLst>
              </a:tr>
              <a:tr h="45529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7"/>
                  </a:ext>
                </a:extLst>
              </a:tr>
              <a:tr h="45466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8"/>
                  </a:ext>
                </a:extLst>
              </a:tr>
              <a:tr h="45529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47534B4-7758-26EA-5735-B88F8AA8DA37}"/>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9D066AB5-F85E-3A7D-65FF-A0C4DA357D05}"/>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863BC875-1BC5-5933-23ED-2737C525DBD0}"/>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0B3879D-81F8-4390-1AFB-2E6855D8FC3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E3A4C424-9C9F-E441-B874-4CDA9030F0B5}"/>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8568758E-059F-EFFF-0519-56C07EEC4577}"/>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D8399967-B37C-41DF-8B6D-771A7AEAB678}"/>
              </a:ext>
            </a:extLst>
          </p:cNvPr>
          <p:cNvGraphicFramePr/>
          <p:nvPr>
            <p:custDataLst>
              <p:tags r:id="rId1"/>
            </p:custDataLst>
            <p:extLst>
              <p:ext uri="{D42A27DB-BD31-4B8C-83A1-F6EECF244321}">
                <p14:modId xmlns:p14="http://schemas.microsoft.com/office/powerpoint/2010/main" val="980265103"/>
              </p:ext>
            </p:extLst>
          </p:nvPr>
        </p:nvGraphicFramePr>
        <p:xfrm>
          <a:off x="457200" y="1524000"/>
          <a:ext cx="11430000" cy="525843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Apporter un appui technique et financier à l'initiative confession religieuse en faveur de l'identification et récupération des EZD et ESV dans les DPS Kongo Central et Kwilu.​ </a:t>
                      </a:r>
                    </a:p>
                  </a:txBody>
                  <a:tcPr/>
                </a:tc>
                <a:tc>
                  <a:txBody>
                    <a:bodyPr/>
                    <a:lstStyle/>
                    <a:p>
                      <a:pPr>
                        <a:buNone/>
                      </a:pPr>
                      <a:r>
                        <a:rPr lang="fr-FR" altLang="en-US" dirty="0"/>
                        <a:t>5593 EZD récupéré (lieux de culte: 1060, lieux publics: 534, VAD: 3999)​</a:t>
                      </a:r>
                    </a:p>
                    <a:p>
                      <a:pPr>
                        <a:buNone/>
                      </a:pPr>
                      <a:r>
                        <a:rPr lang="fr-FR" altLang="en-US" dirty="0"/>
                        <a:t>5754 ESV récupéré (lieux de culte: 1143, lieux publics: 543, VAD: 4088)​</a:t>
                      </a:r>
                    </a:p>
                    <a:p>
                      <a:pPr>
                        <a:buNone/>
                      </a:pPr>
                      <a:r>
                        <a:rPr lang="fr-FR" altLang="en-US" dirty="0"/>
                        <a:t>6678 VAR2 récupéré (lieux de culte: 1432, lieux publics: 641, VAD: 4605)​</a:t>
                      </a:r>
                    </a:p>
                    <a:p>
                      <a:pPr>
                        <a:buNone/>
                      </a:pPr>
                      <a:r>
                        <a:rPr lang="fr-FR" altLang="en-US" dirty="0"/>
                        <a:t>dans 8 ZS ciblées du Kongo Central de Janvier à Septembre 2025 </a:t>
                      </a:r>
                    </a:p>
                  </a:txBody>
                  <a:tcPr/>
                </a:tc>
                <a:tc>
                  <a:txBody>
                    <a:bodyPr/>
                    <a:lstStyle/>
                    <a:p>
                      <a:pPr>
                        <a:buNone/>
                      </a:pPr>
                      <a:endParaRPr lang="fr-FR" altLang="en-US" dirty="0"/>
                    </a:p>
                  </a:txBody>
                  <a:tcPr/>
                </a:tc>
                <a:tc>
                  <a:txBody>
                    <a:bodyPr/>
                    <a:lstStyle/>
                    <a:p>
                      <a:pPr>
                        <a:buNone/>
                      </a:pPr>
                      <a:endParaRPr lang="fr-FR" altLang="en-US"/>
                    </a:p>
                  </a:txBody>
                  <a:tcPr/>
                </a:tc>
                <a:extLst>
                  <a:ext uri="{0D108BD9-81ED-4DB2-BD59-A6C34878D82A}">
                    <a16:rowId xmlns:a16="http://schemas.microsoft.com/office/drawing/2014/main" val="10001"/>
                  </a:ext>
                </a:extLst>
              </a:tr>
              <a:tr h="395605">
                <a:tc>
                  <a:txBody>
                    <a:bodyPr/>
                    <a:lstStyle/>
                    <a:p>
                      <a:pPr>
                        <a:buNone/>
                      </a:pPr>
                      <a:r>
                        <a:rPr lang="fr-FR" altLang="en-US" dirty="0"/>
                        <a:t>Sensibiliser la communauté à travers les SMS en faveur de la vaccination​ </a:t>
                      </a:r>
                    </a:p>
                  </a:txBody>
                  <a:tcPr/>
                </a:tc>
                <a:tc>
                  <a:txBody>
                    <a:bodyPr/>
                    <a:lstStyle/>
                    <a:p>
                      <a:pPr>
                        <a:buNone/>
                      </a:pPr>
                      <a:r>
                        <a:rPr lang="fr-FR" altLang="en-US" dirty="0"/>
                        <a:t>-2 504 127 SMS envoyés en français et 4 langues nationales (Routine 11 DPS) </a:t>
                      </a:r>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28235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2847091573"/>
              </p:ext>
            </p:extLst>
          </p:nvPr>
        </p:nvGraphicFramePr>
        <p:xfrm>
          <a:off x="457200" y="1524000"/>
          <a:ext cx="11430000" cy="498411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 Appuyer la mise en œuvre des activités de la feuille de route des REPACAV du niveau national et provincial 12/26 provinces :Haut Katanga, Kasaï, Kinshasa, Kasaï Oriental, Tshopo, Tanganyika, Lualaba, Ituri, Kongo Central, Equateur, Kwilu et Kwango)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1"/>
                  </a:ext>
                </a:extLst>
              </a:tr>
              <a:tr h="395605">
                <a:tc>
                  <a:txBody>
                    <a:bodyPr/>
                    <a:lstStyle/>
                    <a:p>
                      <a:pPr>
                        <a:buNone/>
                      </a:pPr>
                      <a:r>
                        <a:rPr lang="fr-FR" altLang="en-US" dirty="0"/>
                        <a:t>Produire, rendre disponibles et diffuser les outils, supports/matériels de communication par les acteurs communautaires en faveur de la vaccination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5CE0A07-84A8-CD83-979B-BF05A716E707}"/>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CB916A0D-BA05-020A-D8CA-E6A655FC27BE}"/>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BF1C6888-74D6-DD89-E007-00E8B6A5B414}"/>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2451EC10-41DC-0433-6CF6-26658C00D4A6}"/>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FC7B216A-EC63-CB3D-F98F-4643C4D06B7F}"/>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6A2BD508-4332-31AA-3CF2-D07FA508247D}"/>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A66929D7-766B-F0D2-5382-7A6EA43E18EB}"/>
              </a:ext>
            </a:extLst>
          </p:cNvPr>
          <p:cNvGraphicFramePr/>
          <p:nvPr>
            <p:custDataLst>
              <p:tags r:id="rId1"/>
            </p:custDataLst>
            <p:extLst>
              <p:ext uri="{D42A27DB-BD31-4B8C-83A1-F6EECF244321}">
                <p14:modId xmlns:p14="http://schemas.microsoft.com/office/powerpoint/2010/main" val="3185589470"/>
              </p:ext>
            </p:extLst>
          </p:nvPr>
        </p:nvGraphicFramePr>
        <p:xfrm>
          <a:off x="457200" y="1524000"/>
          <a:ext cx="11430000" cy="406971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4970">
                <a:tc>
                  <a:txBody>
                    <a:bodyPr/>
                    <a:lstStyle/>
                    <a:p>
                      <a:pPr>
                        <a:buNone/>
                      </a:pPr>
                      <a:r>
                        <a:rPr lang="fr-FR" altLang="en-US" dirty="0"/>
                        <a:t>Produire les supports/matériels de communication (Carnet de santé, guide de sensibilisation sur les MAPI, flyers, roll-up, banderoles, dossards, jetons de récupération, affiche calendrier vaccinal; feuillet questions-réponses; dépliants, mégaphones, affiche de définition communautaire des MPV, BI, </a:t>
                      </a:r>
                      <a:r>
                        <a:rPr lang="fr-FR" altLang="en-US" dirty="0" err="1"/>
                        <a:t>etc</a:t>
                      </a:r>
                      <a:r>
                        <a:rPr lang="fr-FR" altLang="en-US" dirty="0"/>
                        <a:t>)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40363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6654A84C-6B3E-089B-0789-881DA90BE26D}"/>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B8F6F218-3046-99F5-23BE-51326DEA4704}"/>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C7637ADA-AE43-47F4-FF91-D2C8E3FA65BB}"/>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43EC3551-E359-CC52-52A9-5F3640988FEC}"/>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EEB6F7A9-F4BB-FB17-89E4-9B5E7B29B056}"/>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61F46EB9-494E-A895-2DE4-8FBC601A3A8D}"/>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DEAB27DC-333E-3587-A1F5-C0EDF87331D1}"/>
              </a:ext>
            </a:extLst>
          </p:cNvPr>
          <p:cNvGraphicFramePr/>
          <p:nvPr>
            <p:custDataLst>
              <p:tags r:id="rId1"/>
            </p:custDataLst>
            <p:extLst>
              <p:ext uri="{D42A27DB-BD31-4B8C-83A1-F6EECF244321}">
                <p14:modId xmlns:p14="http://schemas.microsoft.com/office/powerpoint/2010/main" val="1556552912"/>
              </p:ext>
            </p:extLst>
          </p:nvPr>
        </p:nvGraphicFramePr>
        <p:xfrm>
          <a:off x="457200" y="1524000"/>
          <a:ext cx="11430000" cy="562419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dirty="0"/>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4970">
                <a:tc>
                  <a:txBody>
                    <a:bodyPr/>
                    <a:lstStyle/>
                    <a:p>
                      <a:pPr>
                        <a:buNone/>
                      </a:pPr>
                      <a:r>
                        <a:rPr lang="fr-FR" altLang="en-US" dirty="0"/>
                        <a:t>Produire et diffuser les émissions à travers les radios de proximité, des marchés et radios à audience provinciale sur la vaccination​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025387586"/>
                  </a:ext>
                </a:extLst>
              </a:tr>
              <a:tr h="394970">
                <a:tc>
                  <a:txBody>
                    <a:bodyPr/>
                    <a:lstStyle/>
                    <a:p>
                      <a:pPr>
                        <a:buNone/>
                      </a:pPr>
                      <a:r>
                        <a:rPr lang="fr-FR" altLang="en-US" dirty="0"/>
                        <a:t>Appuyer la récupération des EZD et SV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00919002"/>
                  </a:ext>
                </a:extLst>
              </a:tr>
              <a:tr h="394970">
                <a:tc>
                  <a:txBody>
                    <a:bodyPr/>
                    <a:lstStyle/>
                    <a:p>
                      <a:pPr>
                        <a:buNone/>
                      </a:pPr>
                      <a:r>
                        <a:rPr lang="fr-FR" altLang="en-US" dirty="0"/>
                        <a:t>Apporter un appui technique et financier à la génération de la demande et l'engagement communautaire en faveur de l'introduction des nouveaux vaccins (VAP, RR et HPV) et des ripostes contre la Polio, la Rougeole, le Cholera, la campagne préventive contre la FJ, </a:t>
                      </a:r>
                      <a:r>
                        <a:rPr lang="fr-FR" altLang="en-US" dirty="0" err="1"/>
                        <a:t>Mpox</a:t>
                      </a:r>
                      <a:r>
                        <a:rPr lang="fr-FR" altLang="en-US" dirty="0"/>
                        <a:t>, etc.​</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94779872"/>
                  </a:ext>
                </a:extLst>
              </a:tr>
            </a:tbl>
          </a:graphicData>
        </a:graphic>
      </p:graphicFrame>
    </p:spTree>
    <p:extLst>
      <p:ext uri="{BB962C8B-B14F-4D97-AF65-F5344CB8AC3E}">
        <p14:creationId xmlns:p14="http://schemas.microsoft.com/office/powerpoint/2010/main" val="975923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45E22DD-CC4F-3001-EB4A-C9F0320F33E0}"/>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2B35CA5F-405D-E03C-7334-A0132F0CCC9E}"/>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89E19CB6-42C6-06F9-8E57-8FB9E965E39B}"/>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5EB3EECE-AF51-20EE-6185-FEDA565642A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E4A84A47-A22F-C529-6819-85320014F5BB}"/>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1E879D50-1A44-5F01-3A6F-62722E319B57}"/>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57A1881A-BB05-DCDB-86A1-EECD53986EF7}"/>
              </a:ext>
            </a:extLst>
          </p:cNvPr>
          <p:cNvGraphicFramePr/>
          <p:nvPr>
            <p:custDataLst>
              <p:tags r:id="rId1"/>
            </p:custDataLst>
            <p:extLst>
              <p:ext uri="{D42A27DB-BD31-4B8C-83A1-F6EECF244321}">
                <p14:modId xmlns:p14="http://schemas.microsoft.com/office/powerpoint/2010/main" val="2915396748"/>
              </p:ext>
            </p:extLst>
          </p:nvPr>
        </p:nvGraphicFramePr>
        <p:xfrm>
          <a:off x="457200" y="1524000"/>
          <a:ext cx="11430000" cy="498411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dirty="0"/>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4970">
                <a:tc>
                  <a:txBody>
                    <a:bodyPr/>
                    <a:lstStyle/>
                    <a:p>
                      <a:pPr>
                        <a:buNone/>
                      </a:pPr>
                      <a:r>
                        <a:rPr lang="fr-FR" altLang="en-US" dirty="0"/>
                        <a:t>Apporter un appui technique et financier aux provinces pour le renforcement de l'engagement communautaires à travers les organes de PARTICOM (CAC, CODESA), les plates formes des usagers et les PNT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025387586"/>
                  </a:ext>
                </a:extLst>
              </a:tr>
              <a:tr h="394970">
                <a:tc>
                  <a:txBody>
                    <a:bodyPr/>
                    <a:lstStyle/>
                    <a:p>
                      <a:pPr>
                        <a:buNone/>
                      </a:pPr>
                      <a:r>
                        <a:rPr lang="fr-FR" altLang="en-US" dirty="0"/>
                        <a:t>Accompagner les organes de PARTICOM (CAC, CODESA, UCODESA) pour l’identification, suivi et </a:t>
                      </a:r>
                      <a:r>
                        <a:rPr lang="fr-FR" altLang="en-US" dirty="0" err="1"/>
                        <a:t>recuperation</a:t>
                      </a:r>
                      <a:r>
                        <a:rPr lang="fr-FR" altLang="en-US" dirty="0"/>
                        <a:t> porte à porte des EZD et SV à l’aide des l’outils papiers ou des téléphones/tablettes​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00919002"/>
                  </a:ext>
                </a:extLst>
              </a:tr>
            </a:tbl>
          </a:graphicData>
        </a:graphic>
      </p:graphicFrame>
    </p:spTree>
    <p:extLst>
      <p:ext uri="{BB962C8B-B14F-4D97-AF65-F5344CB8AC3E}">
        <p14:creationId xmlns:p14="http://schemas.microsoft.com/office/powerpoint/2010/main" val="1540194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BEEF68B-2986-2722-2522-737E13021CB5}"/>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2EA9E16-CB29-4620-75B2-D7D7A3F67333}"/>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9C3F1D03-DEDA-6D4E-6E47-89A193A34828}"/>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ED31057-973B-A625-51FE-279C9B567A92}"/>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DB2B97E-543D-E53F-5A11-2D32A7E3C778}"/>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D8DB47B-6FD9-220C-DD8B-EBCA1EEE6F33}"/>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2BBF4FDA-737C-BA76-E809-9ADCFF0DE0BF}"/>
              </a:ext>
            </a:extLst>
          </p:cNvPr>
          <p:cNvGraphicFramePr/>
          <p:nvPr>
            <p:custDataLst>
              <p:tags r:id="rId1"/>
            </p:custDataLst>
            <p:extLst>
              <p:ext uri="{D42A27DB-BD31-4B8C-83A1-F6EECF244321}">
                <p14:modId xmlns:p14="http://schemas.microsoft.com/office/powerpoint/2010/main" val="521060215"/>
              </p:ext>
            </p:extLst>
          </p:nvPr>
        </p:nvGraphicFramePr>
        <p:xfrm>
          <a:off x="457200" y="1524000"/>
          <a:ext cx="11430000" cy="729932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dirty="0"/>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Apporter un appui technique et financier aux plates formes des usagers dans l'organisation de réunions de plaidoyer auprès des APA en faveur des EZD et la tenue des dialogues communautaires (BCP/HCD) en impliquant les leaders femmes/maman maraichères;, les jeunes et les leaders communautaires​</a:t>
                      </a:r>
                    </a:p>
                    <a:p>
                      <a:pPr>
                        <a:buNone/>
                      </a:pPr>
                      <a:endParaRPr lang="fr-FR" altLang="en-US" dirty="0"/>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025387586"/>
                  </a:ext>
                </a:extLst>
              </a:tr>
              <a:tr h="394970">
                <a:tc>
                  <a:txBody>
                    <a:bodyPr/>
                    <a:lstStyle/>
                    <a:p>
                      <a:pPr>
                        <a:buNone/>
                      </a:pPr>
                      <a:r>
                        <a:rPr lang="fr-FR" altLang="en-US" dirty="0"/>
                        <a:t> Réaliser semestriellement les supervisions conjointes des activités de la génération de demande, plaidoyer et engagement communautaire pour évaluer les performances réalisées en termes de réduction des enfants ZD et SV dans 15 DPS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00919002"/>
                  </a:ext>
                </a:extLst>
              </a:tr>
              <a:tr h="394970">
                <a:tc>
                  <a:txBody>
                    <a:bodyPr/>
                    <a:lstStyle/>
                    <a:p>
                      <a:pPr>
                        <a:buNone/>
                      </a:pPr>
                      <a:endParaRPr lang="fr-FR" altLang="en-US" dirty="0"/>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94779872"/>
                  </a:ext>
                </a:extLst>
              </a:tr>
            </a:tbl>
          </a:graphicData>
        </a:graphic>
      </p:graphicFrame>
    </p:spTree>
    <p:extLst>
      <p:ext uri="{BB962C8B-B14F-4D97-AF65-F5344CB8AC3E}">
        <p14:creationId xmlns:p14="http://schemas.microsoft.com/office/powerpoint/2010/main" val="2650548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26B5E3E-0518-4E2F-76FB-1E1165812353}"/>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AEE304A8-9DE2-57FB-5B56-C78E3BBA4045}"/>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E6B8DFC0-A35A-B557-68BB-33BD26B71F21}"/>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B0EBAFD0-27A2-F9E4-4D89-CAD5C0378326}"/>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B35CD98E-649D-BCED-9C2E-53FBBB549DA6}"/>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E66A8D7B-75D0-9158-EE54-B1E0FA662D05}"/>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D2AD8B0E-1F19-B0DB-7D4C-8593825B26D8}"/>
              </a:ext>
            </a:extLst>
          </p:cNvPr>
          <p:cNvGraphicFramePr/>
          <p:nvPr>
            <p:custDataLst>
              <p:tags r:id="rId1"/>
            </p:custDataLst>
            <p:extLst>
              <p:ext uri="{D42A27DB-BD31-4B8C-83A1-F6EECF244321}">
                <p14:modId xmlns:p14="http://schemas.microsoft.com/office/powerpoint/2010/main" val="136075185"/>
              </p:ext>
            </p:extLst>
          </p:nvPr>
        </p:nvGraphicFramePr>
        <p:xfrm>
          <a:off x="457200" y="1524000"/>
          <a:ext cx="11430000" cy="5104765"/>
        </p:xfrm>
        <a:graphic>
          <a:graphicData uri="http://schemas.openxmlformats.org/drawingml/2006/table">
            <a:tbl>
              <a:tblPr firstRow="1" bandRow="1">
                <a:tableStyleId>{5C22544A-7EE6-4342-B048-85BDC9FD1C3A}</a:tableStyleId>
              </a:tblPr>
              <a:tblGrid>
                <a:gridCol w="3303917">
                  <a:extLst>
                    <a:ext uri="{9D8B030D-6E8A-4147-A177-3AD203B41FA5}">
                      <a16:colId xmlns:a16="http://schemas.microsoft.com/office/drawing/2014/main" val="20000"/>
                    </a:ext>
                  </a:extLst>
                </a:gridCol>
                <a:gridCol w="3372928">
                  <a:extLst>
                    <a:ext uri="{9D8B030D-6E8A-4147-A177-3AD203B41FA5}">
                      <a16:colId xmlns:a16="http://schemas.microsoft.com/office/drawing/2014/main" val="20001"/>
                    </a:ext>
                  </a:extLst>
                </a:gridCol>
                <a:gridCol w="2493034">
                  <a:extLst>
                    <a:ext uri="{9D8B030D-6E8A-4147-A177-3AD203B41FA5}">
                      <a16:colId xmlns:a16="http://schemas.microsoft.com/office/drawing/2014/main" val="20002"/>
                    </a:ext>
                  </a:extLst>
                </a:gridCol>
                <a:gridCol w="2260121">
                  <a:extLst>
                    <a:ext uri="{9D8B030D-6E8A-4147-A177-3AD203B41FA5}">
                      <a16:colId xmlns:a16="http://schemas.microsoft.com/office/drawing/2014/main" val="20003"/>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dirty="0"/>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Organiser l'atelier d'élaboration du plan de communication national en appui à la vaccination (SNV) et en faveur de l'introduction des vaccins VAP, RR, HPV</a:t>
                      </a:r>
                    </a:p>
                    <a:p>
                      <a:pPr>
                        <a:buNone/>
                      </a:pPr>
                      <a:endParaRPr lang="fr-FR" altLang="en-US" dirty="0"/>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025387586"/>
                  </a:ext>
                </a:extLst>
              </a:tr>
              <a:tr h="394970">
                <a:tc>
                  <a:txBody>
                    <a:bodyPr/>
                    <a:lstStyle/>
                    <a:p>
                      <a:pPr>
                        <a:buNone/>
                      </a:pPr>
                      <a:r>
                        <a:rPr lang="fr-FR" altLang="en-US" dirty="0"/>
                        <a:t> Apporter un appui technique et financier aux ZS et DPS pour analyse des résultats de sondage et la mise en œuvre des plans de résolution de la demande de vaccination </a:t>
                      </a:r>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00919002"/>
                  </a:ext>
                </a:extLst>
              </a:tr>
              <a:tr h="394970">
                <a:tc>
                  <a:txBody>
                    <a:bodyPr/>
                    <a:lstStyle/>
                    <a:p>
                      <a:pPr>
                        <a:buNone/>
                      </a:pPr>
                      <a:endParaRPr lang="fr-FR" altLang="en-US" dirty="0"/>
                    </a:p>
                  </a:txBody>
                  <a:tcPr/>
                </a:tc>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2794779872"/>
                  </a:ext>
                </a:extLst>
              </a:tr>
            </a:tbl>
          </a:graphicData>
        </a:graphic>
      </p:graphicFrame>
    </p:spTree>
    <p:extLst>
      <p:ext uri="{BB962C8B-B14F-4D97-AF65-F5344CB8AC3E}">
        <p14:creationId xmlns:p14="http://schemas.microsoft.com/office/powerpoint/2010/main" val="513223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Autres r</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éalisations majeures </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non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nvPr>
        </p:nvGraphicFramePr>
        <p:xfrm>
          <a:off x="457200" y="1524000"/>
          <a:ext cx="11430000" cy="4520565"/>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960755">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1"/>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2"/>
                  </a:ext>
                </a:extLst>
              </a:tr>
              <a:tr h="39497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3"/>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4"/>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5"/>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6"/>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7"/>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8"/>
                  </a:ext>
                </a:extLst>
              </a:tr>
              <a:tr h="39560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 fina</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nvPr>
        </p:nvGraphicFramePr>
        <p:xfrm>
          <a:off x="457200" y="1310640"/>
          <a:ext cx="11204575" cy="4598035"/>
        </p:xfrm>
        <a:graphic>
          <a:graphicData uri="http://schemas.openxmlformats.org/drawingml/2006/table">
            <a:tbl>
              <a:tblPr firstRow="1" bandRow="1">
                <a:tableStyleId>{5C22544A-7EE6-4342-B048-85BDC9FD1C3A}</a:tableStyleId>
              </a:tblPr>
              <a:tblGrid>
                <a:gridCol w="2240915">
                  <a:extLst>
                    <a:ext uri="{9D8B030D-6E8A-4147-A177-3AD203B41FA5}">
                      <a16:colId xmlns:a16="http://schemas.microsoft.com/office/drawing/2014/main" val="20000"/>
                    </a:ext>
                  </a:extLst>
                </a:gridCol>
                <a:gridCol w="2240915">
                  <a:extLst>
                    <a:ext uri="{9D8B030D-6E8A-4147-A177-3AD203B41FA5}">
                      <a16:colId xmlns:a16="http://schemas.microsoft.com/office/drawing/2014/main" val="20001"/>
                    </a:ext>
                  </a:extLst>
                </a:gridCol>
                <a:gridCol w="2240915">
                  <a:extLst>
                    <a:ext uri="{9D8B030D-6E8A-4147-A177-3AD203B41FA5}">
                      <a16:colId xmlns:a16="http://schemas.microsoft.com/office/drawing/2014/main" val="20002"/>
                    </a:ext>
                  </a:extLst>
                </a:gridCol>
                <a:gridCol w="2240915">
                  <a:extLst>
                    <a:ext uri="{9D8B030D-6E8A-4147-A177-3AD203B41FA5}">
                      <a16:colId xmlns:a16="http://schemas.microsoft.com/office/drawing/2014/main" val="20003"/>
                    </a:ext>
                  </a:extLst>
                </a:gridCol>
                <a:gridCol w="2240915">
                  <a:extLst>
                    <a:ext uri="{9D8B030D-6E8A-4147-A177-3AD203B41FA5}">
                      <a16:colId xmlns:a16="http://schemas.microsoft.com/office/drawing/2014/main" val="20004"/>
                    </a:ext>
                  </a:extLst>
                </a:gridCol>
              </a:tblGrid>
              <a:tr h="723265">
                <a:tc>
                  <a:txBody>
                    <a:bodyPr/>
                    <a:lstStyle/>
                    <a:p>
                      <a:pPr>
                        <a:buNone/>
                      </a:pPr>
                      <a:r>
                        <a:rPr lang="fr-FR" altLang="en-US"/>
                        <a:t>Activités </a:t>
                      </a:r>
                    </a:p>
                  </a:txBody>
                  <a:tcPr/>
                </a:tc>
                <a:tc>
                  <a:txBody>
                    <a:bodyPr/>
                    <a:lstStyle/>
                    <a:p>
                      <a:pPr>
                        <a:buNone/>
                      </a:pPr>
                      <a:r>
                        <a:rPr lang="fr-FR" altLang="en-US"/>
                        <a:t>Budget Prévu </a:t>
                      </a:r>
                    </a:p>
                  </a:txBody>
                  <a:tcPr/>
                </a:tc>
                <a:tc>
                  <a:txBody>
                    <a:bodyPr/>
                    <a:lstStyle/>
                    <a:p>
                      <a:pPr>
                        <a:buNone/>
                      </a:pPr>
                      <a:r>
                        <a:rPr lang="fr-FR" altLang="en-US"/>
                        <a:t>Budget décaissé </a:t>
                      </a:r>
                    </a:p>
                  </a:txBody>
                  <a:tcPr/>
                </a:tc>
                <a:tc>
                  <a:txBody>
                    <a:bodyPr/>
                    <a:lstStyle/>
                    <a:p>
                      <a:pPr>
                        <a:buNone/>
                      </a:pPr>
                      <a:r>
                        <a:rPr lang="fr-FR" altLang="en-US"/>
                        <a:t>Taux de décaissement </a:t>
                      </a:r>
                    </a:p>
                  </a:txBody>
                  <a:tcPr/>
                </a:tc>
                <a:tc>
                  <a:txBody>
                    <a:bodyPr/>
                    <a:lstStyle/>
                    <a:p>
                      <a:pPr>
                        <a:buNone/>
                      </a:pPr>
                      <a:r>
                        <a:rPr lang="fr-FR" altLang="en-US"/>
                        <a:t>Source de financement </a:t>
                      </a:r>
                    </a:p>
                  </a:txBody>
                  <a:tcPr/>
                </a:tc>
                <a:extLst>
                  <a:ext uri="{0D108BD9-81ED-4DB2-BD59-A6C34878D82A}">
                    <a16:rowId xmlns:a16="http://schemas.microsoft.com/office/drawing/2014/main" val="10000"/>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1"/>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2"/>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3"/>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4"/>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5"/>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6"/>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7"/>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8"/>
                  </a:ext>
                </a:extLst>
              </a:tr>
              <a:tr h="430530">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l" rtl="0">
              <a:spcBef>
                <a:spcPts val="0"/>
              </a:spcBef>
              <a:spcAft>
                <a:spcPts val="0"/>
              </a:spcAft>
              <a:buNone/>
            </a:pPr>
            <a:r>
              <a:rPr lang="fr-FR" altLang="en-US" sz="2000">
                <a:latin typeface="Calibri" panose="020F0502020204030204" charset="0"/>
                <a:cs typeface="Calibri" panose="020F0502020204030204" charset="0"/>
                <a:sym typeface="+mn-ea"/>
              </a:rPr>
              <a:t>Décrire la valeur ajouté de l’appui du partenaire dans la mise en oeuvre du PAO 2025 du PEV, </a:t>
            </a:r>
            <a:r>
              <a:rPr lang="en-US" altLang="en-US" sz="2000">
                <a:latin typeface="Calibri" panose="020F0502020204030204" charset="0"/>
                <a:ea typeface="Times New Roman" panose="02020603050405020304"/>
                <a:cs typeface="Calibri" panose="020F0502020204030204" charset="0"/>
                <a:sym typeface="Times New Roman" panose="02020603050405020304"/>
              </a:rPr>
              <a:t>innovation technique, managériale</a:t>
            </a:r>
          </a:p>
          <a:p>
            <a:pPr marL="0" lvl="0" indent="0" algn="l" rtl="0">
              <a:spcBef>
                <a:spcPts val="0"/>
              </a:spcBef>
              <a:spcAft>
                <a:spcPts val="0"/>
              </a:spcAft>
              <a:buNone/>
            </a:pPr>
            <a:r>
              <a:rPr lang="en-US" altLang="en-US" sz="2000">
                <a:latin typeface="Calibri" panose="020F0502020204030204" charset="0"/>
                <a:ea typeface="Times New Roman" panose="02020603050405020304"/>
                <a:cs typeface="Calibri" panose="020F0502020204030204" charset="0"/>
                <a:sym typeface="Times New Roman" panose="02020603050405020304"/>
              </a:rPr>
              <a:t>amélioration dans l’exécution financière</a:t>
            </a:r>
          </a:p>
          <a:p>
            <a:pPr marL="0" lvl="0" indent="0" algn="l" rtl="0">
              <a:spcBef>
                <a:spcPts val="0"/>
              </a:spcBef>
              <a:spcAft>
                <a:spcPts val="0"/>
              </a:spcAft>
              <a:buNone/>
            </a:pPr>
            <a:r>
              <a:rPr lang="en-US" altLang="en-US" sz="2000">
                <a:latin typeface="Calibri" panose="020F0502020204030204" charset="0"/>
                <a:ea typeface="Times New Roman" panose="02020603050405020304"/>
                <a:cs typeface="Calibri" panose="020F0502020204030204" charset="0"/>
                <a:sym typeface="Times New Roman" panose="02020603050405020304"/>
              </a:rPr>
              <a:t>bonne pratique reproductible</a:t>
            </a:r>
          </a:p>
          <a:p>
            <a:pPr marL="0" lvl="0" indent="0" algn="ctr" rtl="0">
              <a:spcBef>
                <a:spcPts val="0"/>
              </a:spcBef>
              <a:spcAft>
                <a:spcPts val="0"/>
              </a:spcAft>
              <a:buNone/>
            </a:pPr>
            <a:endParaRPr lang="fr-FR" altLang="en-US" sz="2000"/>
          </a:p>
          <a:p>
            <a:pPr marL="0" lvl="0" indent="0" algn="ctr" rtl="0">
              <a:spcBef>
                <a:spcPts val="0"/>
              </a:spcBef>
              <a:spcAft>
                <a:spcPts val="0"/>
              </a:spcAft>
              <a:buNone/>
            </a:pP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Défis rencontrés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endParaRPr lang="en-US" altLang="fr-CA" sz="2000">
              <a:latin typeface="Times New Roman" panose="02020603050405020304"/>
              <a:ea typeface="Times New Roman" panose="02020603050405020304"/>
              <a:cs typeface="Times New Roman" panose="02020603050405020304"/>
              <a:sym typeface="Times New Roman" panose="02020603050405020304"/>
            </a:endParaRPr>
          </a:p>
          <a:p>
            <a:pPr lvl="0" indent="0" algn="l" rtl="0">
              <a:spcBef>
                <a:spcPts val="0"/>
              </a:spcBef>
              <a:spcAft>
                <a:spcPts val="0"/>
              </a:spcAft>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Logistiques, securitaires, appui aux zones de santé difficiles, financièrs, capacités locales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 et engagements pour 2026</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l" rtl="0">
              <a:spcBef>
                <a:spcPts val="0"/>
              </a:spcBef>
              <a:spcAft>
                <a:spcPts val="0"/>
              </a:spcAft>
              <a:buNone/>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6.1.7. Appuyer la mise en place/redynamisation des CAC, CODESA,UCODESA et autres OPACO dans les 519 ZS des 26 DPS prioritaires: Produire les outils de rapportage et supports de communication pour les CAC-RECO/CODESA/UCODESA et autres OPACO</a:t>
            </a: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6.1.10. Appuyer la mise en place/redynamisation des CAC, CODESA,UCODESA et autres OPACO dans les 192 ZS des 15 DPS prioritaires: Appuyer la </a:t>
            </a:r>
            <a:r>
              <a:rPr lang="fr-FR" altLang="fr-CA" sz="2000" dirty="0" err="1">
                <a:latin typeface="Times New Roman" panose="02020603050405020304"/>
                <a:ea typeface="Times New Roman" panose="02020603050405020304"/>
                <a:cs typeface="Times New Roman" panose="02020603050405020304"/>
                <a:sym typeface="Times New Roman" panose="02020603050405020304"/>
              </a:rPr>
              <a:t>professionnalisationdes</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RECO dans 3 zones de sante pilote</a:t>
            </a: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6.7.1.Accompagner les </a:t>
            </a:r>
            <a:r>
              <a:rPr lang="fr-FR" altLang="fr-CA" sz="2000" dirty="0" err="1">
                <a:latin typeface="Times New Roman" panose="02020603050405020304"/>
                <a:ea typeface="Times New Roman" panose="02020603050405020304"/>
                <a:cs typeface="Times New Roman" panose="02020603050405020304"/>
                <a:sym typeface="Times New Roman" panose="02020603050405020304"/>
              </a:rPr>
              <a:t>Osc</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et OAC dans la mise en œuvre de leur </a:t>
            </a:r>
            <a:r>
              <a:rPr lang="fr-FR" altLang="fr-CA" sz="2000" dirty="0" err="1">
                <a:latin typeface="Times New Roman" panose="02020603050405020304"/>
                <a:ea typeface="Times New Roman" panose="02020603050405020304"/>
                <a:cs typeface="Times New Roman" panose="02020603050405020304"/>
                <a:sym typeface="Times New Roman" panose="02020603050405020304"/>
              </a:rPr>
              <a:t>activites</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Mettre à la disposition des OSC des fonds pour leur fonctionnement (Tshopo, Mongala, </a:t>
            </a:r>
            <a:r>
              <a:rPr lang="fr-FR" altLang="fr-CA" sz="2000" dirty="0" err="1">
                <a:latin typeface="Times New Roman" panose="02020603050405020304"/>
                <a:ea typeface="Times New Roman" panose="02020603050405020304"/>
                <a:cs typeface="Times New Roman" panose="02020603050405020304"/>
                <a:sym typeface="Times New Roman" panose="02020603050405020304"/>
              </a:rPr>
              <a:t>Kasai</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Oriental, Sud Kivu, </a:t>
            </a:r>
            <a:r>
              <a:rPr lang="fr-FR" altLang="fr-CA" sz="2000" dirty="0" err="1">
                <a:latin typeface="Times New Roman" panose="02020603050405020304"/>
                <a:ea typeface="Times New Roman" panose="02020603050405020304"/>
                <a:cs typeface="Times New Roman" panose="02020603050405020304"/>
                <a:sym typeface="Times New Roman" panose="02020603050405020304"/>
              </a:rPr>
              <a:t>Ht</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Katanga, Tshuapa)</a:t>
            </a: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l" rtl="0">
              <a:spcBef>
                <a:spcPts val="0"/>
              </a:spcBef>
              <a:spcAft>
                <a:spcPts val="0"/>
              </a:spcAft>
              <a:buNone/>
            </a:pPr>
            <a:r>
              <a:rPr lang="fr-FR" altLang="en-US" sz="2000">
                <a:latin typeface="Times New Roman" panose="02020603050405020304"/>
                <a:ea typeface="Times New Roman" panose="02020603050405020304"/>
                <a:cs typeface="Times New Roman" panose="02020603050405020304"/>
                <a:sym typeface="Times New Roman" panose="02020603050405020304"/>
              </a:rPr>
              <a:t>Au Ministère de la santé  et au PEV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1101</Words>
  <Application>Microsoft Office PowerPoint</Application>
  <PresentationFormat>Grand écran</PresentationFormat>
  <Paragraphs>121</Paragraphs>
  <Slides>18</Slides>
  <Notes>18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微软雅黑</vt: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Bienfait Kisamba</dc:creator>
  <cp:lastModifiedBy>Bienfait KISAMBA</cp:lastModifiedBy>
  <cp:revision>9</cp:revision>
  <dcterms:created xsi:type="dcterms:W3CDTF">2025-07-23T00:59:00Z</dcterms:created>
  <dcterms:modified xsi:type="dcterms:W3CDTF">2025-12-15T06:55:28Z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ies>
</file>