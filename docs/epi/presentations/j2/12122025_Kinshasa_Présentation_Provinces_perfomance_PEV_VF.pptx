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drawings/drawing1.xml" ContentType="application/vnd.openxmlformats-officedocument.drawingml.chartshapes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8.xml" ContentType="application/vnd.openxmlformats-officedocument.presentationml.notesSlide+xml"/>
  <Override PartName="/ppt/charts/chart6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7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9.xml" ContentType="application/vnd.openxmlformats-officedocument.presentationml.notesSlide+xml"/>
  <Override PartName="/ppt/charts/chart8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9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1" r:id="rId2"/>
  </p:sldMasterIdLst>
  <p:notesMasterIdLst>
    <p:notesMasterId r:id="rId30"/>
  </p:notesMasterIdLst>
  <p:sldIdLst>
    <p:sldId id="256" r:id="rId3"/>
    <p:sldId id="257" r:id="rId4"/>
    <p:sldId id="16765060" r:id="rId5"/>
    <p:sldId id="16765079" r:id="rId6"/>
    <p:sldId id="16765087" r:id="rId7"/>
    <p:sldId id="16765088" r:id="rId8"/>
    <p:sldId id="16765089" r:id="rId9"/>
    <p:sldId id="16765090" r:id="rId10"/>
    <p:sldId id="16765080" r:id="rId11"/>
    <p:sldId id="260" r:id="rId12"/>
    <p:sldId id="16765069" r:id="rId13"/>
    <p:sldId id="16765070" r:id="rId14"/>
    <p:sldId id="16765085" r:id="rId15"/>
    <p:sldId id="16765071" r:id="rId16"/>
    <p:sldId id="16765073" r:id="rId17"/>
    <p:sldId id="16765075" r:id="rId18"/>
    <p:sldId id="16765076" r:id="rId19"/>
    <p:sldId id="16765077" r:id="rId20"/>
    <p:sldId id="16765078" r:id="rId21"/>
    <p:sldId id="16765082" r:id="rId22"/>
    <p:sldId id="16765084" r:id="rId23"/>
    <p:sldId id="16765086" r:id="rId24"/>
    <p:sldId id="16765083" r:id="rId25"/>
    <p:sldId id="262" r:id="rId26"/>
    <p:sldId id="263" r:id="rId27"/>
    <p:sldId id="16765081" r:id="rId28"/>
    <p:sldId id="264" r:id="rId29"/>
  </p:sldIdLst>
  <p:sldSz cx="12192000" cy="6858000"/>
  <p:notesSz cx="6858000" cy="9144000"/>
  <p:embeddedFontLst>
    <p:embeddedFont>
      <p:font typeface="Ebrima" panose="02000000000000000000" pitchFamily="2" charset="0"/>
      <p:regular r:id="rId31"/>
      <p:bold r:id="rId32"/>
    </p:embeddedFont>
    <p:embeddedFont>
      <p:font typeface="Play" panose="020B0604020202020204" charset="0"/>
      <p:regular r:id="rId33"/>
    </p:embeddedFont>
    <p:embeddedFont>
      <p:font typeface="Arial Unicode MS" panose="020B0604020202020204" pitchFamily="34" charset="-128"/>
      <p:regular r:id="rId34"/>
    </p:embeddedFont>
    <p:embeddedFont>
      <p:font typeface="Source Serif Pro" panose="020B0604020202020204" charset="0"/>
      <p:regular r:id="rId35"/>
    </p:embeddedFont>
    <p:embeddedFont>
      <p:font typeface="MS PGothic" panose="020B0600070205080204" pitchFamily="34" charset="-128"/>
      <p:regular r:id="rId36"/>
    </p:embeddedFont>
    <p:embeddedFont>
      <p:font typeface="Candara" panose="020E0502030303020204" pitchFamily="34" charset="0"/>
      <p:regular r:id="rId37"/>
      <p:bold r:id="rId38"/>
      <p:italic r:id="rId39"/>
      <p:boldItalic r:id="rId40"/>
    </p:embeddedFont>
    <p:embeddedFont>
      <p:font typeface="Calibri" panose="020F0502020204030204" pitchFamily="34" charset="0"/>
      <p:regular r:id="rId41"/>
      <p:bold r:id="rId42"/>
      <p:italic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66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82" d="100"/>
          <a:sy n="82" d="100"/>
        </p:scale>
        <p:origin x="691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9.fntdata"/><Relationship Id="rId21" Type="http://schemas.openxmlformats.org/officeDocument/2006/relationships/slide" Target="slides/slide19.xml"/><Relationship Id="rId34" Type="http://schemas.openxmlformats.org/officeDocument/2006/relationships/font" Target="fonts/font4.fntdata"/><Relationship Id="rId42" Type="http://schemas.openxmlformats.org/officeDocument/2006/relationships/font" Target="fonts/font12.fntdata"/><Relationship Id="rId47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font" Target="fonts/font10.fntdata"/><Relationship Id="rId45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6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1.fntdata"/><Relationship Id="rId44" Type="http://schemas.openxmlformats.org/officeDocument/2006/relationships/font" Target="fonts/font14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openxmlformats.org/officeDocument/2006/relationships/font" Target="fonts/font13.fntdata"/><Relationship Id="rId48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46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font" Target="fonts/font11.fntdata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ownloads\Evolution%20score%20par%20provinces%20par%20moi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ocuments\Consultance%20OMS\Consultance%202025\Contrat%20Novembre-Decembre6\PEV%20DE%20ROUTINE\Revue%20annuelle%202025\DONNEES-2024&amp;2025.xls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ocuments\Consultance%20OMS\Consultance%202025\Contrat%20Novembre-Decembre6\PEV%20DE%20ROUTINE\Revue%20annuelle%202025\DONNEES-2024&amp;2025.xls" TargetMode="Externa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chartUserShapes" Target="../drawings/drawing1.xm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user\Documents\Consultance%20OMS\Consultance%202025\Contrat%20Novembre-Decembre6\PEV%20DE%20ROUTINE\Revue%20annuelle%202025\DONNEES-2024&amp;2025.xls" TargetMode="Externa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ocuments\Consultance%20OMS\Consultance%202025\Contrat%20Novembre-Decembre6\PEV%20DE%20ROUTINE\Revue%20annuelle%202025\DONNEES-2024&amp;2025.xls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farid\OneDrive\Bureau\Donn&#233;es%2028ZS%20MPox%20Ann&#233;e%202025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farid\AppData\Roaming\Microsoft\Excel\Classeur1%20(version%201).xlsb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farid\AppData\Roaming\Microsoft\Excel\Classeur1%20(version%201).xlsb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farid\AppData\Roaming\Microsoft\Excel\Collecte%20des%20donnees%20(1)%20(version%201).xlsb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fr-FR" sz="192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fr-FR" dirty="0"/>
              <a:t>Evolution Mensuelle du Score Total </a:t>
            </a:r>
            <a:r>
              <a:rPr lang="fr-FR" baseline="0" dirty="0"/>
              <a:t> et des Supervisions par niveau en 2025</a:t>
            </a:r>
            <a:endParaRPr lang="fr-FR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fr-FR" sz="192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>
        <c:manualLayout>
          <c:layoutTarget val="inner"/>
          <c:xMode val="edge"/>
          <c:yMode val="edge"/>
          <c:x val="6.7623923137029293E-2"/>
          <c:y val="9.9311210383276102E-2"/>
          <c:w val="0.92274469585185803"/>
          <c:h val="0.68671317259296005"/>
        </c:manualLayout>
      </c:layout>
      <c:lineChart>
        <c:grouping val="standard"/>
        <c:varyColors val="0"/>
        <c:ser>
          <c:idx val="0"/>
          <c:order val="0"/>
          <c:tx>
            <c:strRef>
              <c:f>'Sheet 1'!$C$1</c:f>
              <c:strCache>
                <c:ptCount val="1"/>
                <c:pt idx="0">
                  <c:v>Score Total</c:v>
                </c:pt>
              </c:strCache>
            </c:strRef>
          </c:tx>
          <c:spPr>
            <a:ln w="571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multiLvlStrRef>
              <c:f>'Sheet 1'!$A$2:$B$12</c:f>
              <c:multiLvlStrCache>
                <c:ptCount val="11"/>
                <c:lvl>
                  <c:pt idx="0">
                    <c:v>Janvier</c:v>
                  </c:pt>
                  <c:pt idx="1">
                    <c:v>Février</c:v>
                  </c:pt>
                  <c:pt idx="2">
                    <c:v>Mars</c:v>
                  </c:pt>
                  <c:pt idx="3">
                    <c:v>Avril</c:v>
                  </c:pt>
                  <c:pt idx="4">
                    <c:v>Mai</c:v>
                  </c:pt>
                  <c:pt idx="5">
                    <c:v>Juin</c:v>
                  </c:pt>
                  <c:pt idx="6">
                    <c:v>Juillet</c:v>
                  </c:pt>
                  <c:pt idx="7">
                    <c:v>Aout</c:v>
                  </c:pt>
                  <c:pt idx="8">
                    <c:v>Septembre</c:v>
                  </c:pt>
                  <c:pt idx="9">
                    <c:v>Octobre</c:v>
                  </c:pt>
                  <c:pt idx="10">
                    <c:v>Novembre</c:v>
                  </c:pt>
                </c:lvl>
                <c:lvl>
                  <c:pt idx="0">
                    <c:v>Masako 2.0</c:v>
                  </c:pt>
                  <c:pt idx="6">
                    <c:v>Mashako 3.0</c:v>
                  </c:pt>
                </c:lvl>
              </c:multiLvlStrCache>
            </c:multiLvlStrRef>
          </c:cat>
          <c:val>
            <c:numRef>
              <c:f>'Sheet 1'!$C$2:$C$12</c:f>
              <c:numCache>
                <c:formatCode>0%</c:formatCode>
                <c:ptCount val="11"/>
                <c:pt idx="0">
                  <c:v>0.67184934069927404</c:v>
                </c:pt>
                <c:pt idx="1">
                  <c:v>0.65581962928712201</c:v>
                </c:pt>
                <c:pt idx="2">
                  <c:v>0.74360703910421599</c:v>
                </c:pt>
                <c:pt idx="3">
                  <c:v>0.79894250259009403</c:v>
                </c:pt>
                <c:pt idx="4">
                  <c:v>0.69188021924243004</c:v>
                </c:pt>
                <c:pt idx="5">
                  <c:v>0.74624106190025197</c:v>
                </c:pt>
                <c:pt idx="6">
                  <c:v>0.30333333333333301</c:v>
                </c:pt>
                <c:pt idx="7">
                  <c:v>0.353333333333333</c:v>
                </c:pt>
                <c:pt idx="8">
                  <c:v>0.39</c:v>
                </c:pt>
                <c:pt idx="9">
                  <c:v>0.44333333333333302</c:v>
                </c:pt>
                <c:pt idx="10">
                  <c:v>0.42666666666666703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974-4485-A413-4E6D0AC6CF3E}"/>
            </c:ext>
          </c:extLst>
        </c:ser>
        <c:ser>
          <c:idx val="1"/>
          <c:order val="1"/>
          <c:tx>
            <c:strRef>
              <c:f>'Sheet 1'!$D$1</c:f>
              <c:strCache>
                <c:ptCount val="1"/>
                <c:pt idx="0">
                  <c:v>SupervisionAntennes-ZS</c:v>
                </c:pt>
              </c:strCache>
            </c:strRef>
          </c:tx>
          <c:spPr>
            <a:ln w="57150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cat>
            <c:multiLvlStrRef>
              <c:f>'Sheet 1'!$A$2:$B$12</c:f>
              <c:multiLvlStrCache>
                <c:ptCount val="11"/>
                <c:lvl>
                  <c:pt idx="0">
                    <c:v>Janvier</c:v>
                  </c:pt>
                  <c:pt idx="1">
                    <c:v>Février</c:v>
                  </c:pt>
                  <c:pt idx="2">
                    <c:v>Mars</c:v>
                  </c:pt>
                  <c:pt idx="3">
                    <c:v>Avril</c:v>
                  </c:pt>
                  <c:pt idx="4">
                    <c:v>Mai</c:v>
                  </c:pt>
                  <c:pt idx="5">
                    <c:v>Juin</c:v>
                  </c:pt>
                  <c:pt idx="6">
                    <c:v>Juillet</c:v>
                  </c:pt>
                  <c:pt idx="7">
                    <c:v>Aout</c:v>
                  </c:pt>
                  <c:pt idx="8">
                    <c:v>Septembre</c:v>
                  </c:pt>
                  <c:pt idx="9">
                    <c:v>Octobre</c:v>
                  </c:pt>
                  <c:pt idx="10">
                    <c:v>Novembre</c:v>
                  </c:pt>
                </c:lvl>
                <c:lvl>
                  <c:pt idx="0">
                    <c:v>Masako 2.0</c:v>
                  </c:pt>
                  <c:pt idx="6">
                    <c:v>Mashako 3.0</c:v>
                  </c:pt>
                </c:lvl>
              </c:multiLvlStrCache>
            </c:multiLvlStrRef>
          </c:cat>
          <c:val>
            <c:numRef>
              <c:f>'Sheet 1'!$D$2:$D$12</c:f>
              <c:numCache>
                <c:formatCode>0%</c:formatCode>
                <c:ptCount val="11"/>
                <c:pt idx="0">
                  <c:v>0.371428571428571</c:v>
                </c:pt>
                <c:pt idx="1">
                  <c:v>0.54285714285714304</c:v>
                </c:pt>
                <c:pt idx="2">
                  <c:v>1</c:v>
                </c:pt>
                <c:pt idx="3">
                  <c:v>0.97142857142857097</c:v>
                </c:pt>
                <c:pt idx="4">
                  <c:v>1</c:v>
                </c:pt>
                <c:pt idx="5">
                  <c:v>0.85714285714285698</c:v>
                </c:pt>
                <c:pt idx="6">
                  <c:v>0.94333333333333302</c:v>
                </c:pt>
                <c:pt idx="7">
                  <c:v>0.97333333333333305</c:v>
                </c:pt>
                <c:pt idx="8">
                  <c:v>1</c:v>
                </c:pt>
                <c:pt idx="9">
                  <c:v>1</c:v>
                </c:pt>
                <c:pt idx="10">
                  <c:v>0.94666666666666699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974-4485-A413-4E6D0AC6CF3E}"/>
            </c:ext>
          </c:extLst>
        </c:ser>
        <c:ser>
          <c:idx val="2"/>
          <c:order val="2"/>
          <c:tx>
            <c:strRef>
              <c:f>'Sheet 1'!$E$1</c:f>
              <c:strCache>
                <c:ptCount val="1"/>
                <c:pt idx="0">
                  <c:v>Supervision ECZ-AS</c:v>
                </c:pt>
              </c:strCache>
            </c:strRef>
          </c:tx>
          <c:spPr>
            <a:ln w="38100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cat>
            <c:multiLvlStrRef>
              <c:f>'Sheet 1'!$A$2:$B$12</c:f>
              <c:multiLvlStrCache>
                <c:ptCount val="11"/>
                <c:lvl>
                  <c:pt idx="0">
                    <c:v>Janvier</c:v>
                  </c:pt>
                  <c:pt idx="1">
                    <c:v>Février</c:v>
                  </c:pt>
                  <c:pt idx="2">
                    <c:v>Mars</c:v>
                  </c:pt>
                  <c:pt idx="3">
                    <c:v>Avril</c:v>
                  </c:pt>
                  <c:pt idx="4">
                    <c:v>Mai</c:v>
                  </c:pt>
                  <c:pt idx="5">
                    <c:v>Juin</c:v>
                  </c:pt>
                  <c:pt idx="6">
                    <c:v>Juillet</c:v>
                  </c:pt>
                  <c:pt idx="7">
                    <c:v>Aout</c:v>
                  </c:pt>
                  <c:pt idx="8">
                    <c:v>Septembre</c:v>
                  </c:pt>
                  <c:pt idx="9">
                    <c:v>Octobre</c:v>
                  </c:pt>
                  <c:pt idx="10">
                    <c:v>Novembre</c:v>
                  </c:pt>
                </c:lvl>
                <c:lvl>
                  <c:pt idx="0">
                    <c:v>Masako 2.0</c:v>
                  </c:pt>
                  <c:pt idx="6">
                    <c:v>Mashako 3.0</c:v>
                  </c:pt>
                </c:lvl>
              </c:multiLvlStrCache>
            </c:multiLvlStrRef>
          </c:cat>
          <c:val>
            <c:numRef>
              <c:f>'Sheet 1'!$E$2:$E$12</c:f>
              <c:numCache>
                <c:formatCode>0%</c:formatCode>
                <c:ptCount val="11"/>
                <c:pt idx="0">
                  <c:v>0.18899521531100499</c:v>
                </c:pt>
                <c:pt idx="1">
                  <c:v>0.21052631578947401</c:v>
                </c:pt>
                <c:pt idx="2">
                  <c:v>0.33254716981132099</c:v>
                </c:pt>
                <c:pt idx="3">
                  <c:v>0.71698113207547198</c:v>
                </c:pt>
                <c:pt idx="4">
                  <c:v>0.74764150943396201</c:v>
                </c:pt>
                <c:pt idx="5">
                  <c:v>0.73113207547169801</c:v>
                </c:pt>
                <c:pt idx="6">
                  <c:v>0.65</c:v>
                </c:pt>
                <c:pt idx="7">
                  <c:v>0.76333333333333298</c:v>
                </c:pt>
                <c:pt idx="8">
                  <c:v>0.81333333333333302</c:v>
                </c:pt>
                <c:pt idx="9">
                  <c:v>0.91666666666666696</c:v>
                </c:pt>
                <c:pt idx="10">
                  <c:v>0.89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974-4485-A413-4E6D0AC6CF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30624495"/>
        <c:axId val="2030626895"/>
      </c:lineChart>
      <c:catAx>
        <c:axId val="20306244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fr-FR" sz="15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2030626895"/>
        <c:crosses val="autoZero"/>
        <c:auto val="1"/>
        <c:lblAlgn val="ctr"/>
        <c:lblOffset val="100"/>
        <c:noMultiLvlLbl val="0"/>
      </c:catAx>
      <c:valAx>
        <c:axId val="2030626895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fr-FR"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203062449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fr-FR"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49f477c0-16df-4cd3-84b6-b3492d5be601}"/>
      </c:ext>
    </c:extLst>
  </c:chart>
  <c:spPr>
    <a:noFill/>
    <a:ln>
      <a:noFill/>
    </a:ln>
    <a:effectLst/>
  </c:spPr>
  <c:txPr>
    <a:bodyPr/>
    <a:lstStyle/>
    <a:p>
      <a:pPr>
        <a:defRPr lang="fr-FR" sz="1600" b="1"/>
      </a:pPr>
      <a:endParaRPr lang="fr-F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Feuil1!$C$2</c:f>
              <c:strCache>
                <c:ptCount val="1"/>
                <c:pt idx="0">
                  <c:v>CV adm 2024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fr-FR"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Feuil1!$B$3:$B$10</c:f>
              <c:strCache>
                <c:ptCount val="8"/>
                <c:pt idx="0">
                  <c:v>BCG</c:v>
                </c:pt>
                <c:pt idx="1">
                  <c:v>Penta1</c:v>
                </c:pt>
                <c:pt idx="2">
                  <c:v>Penta3</c:v>
                </c:pt>
                <c:pt idx="3">
                  <c:v>VPO3</c:v>
                </c:pt>
                <c:pt idx="4">
                  <c:v>VPI2</c:v>
                </c:pt>
                <c:pt idx="5">
                  <c:v>VAR1</c:v>
                </c:pt>
                <c:pt idx="6">
                  <c:v>VAR2</c:v>
                </c:pt>
                <c:pt idx="7">
                  <c:v>Td2+</c:v>
                </c:pt>
              </c:strCache>
            </c:strRef>
          </c:cat>
          <c:val>
            <c:numRef>
              <c:f>Feuil1!$C$3:$C$10</c:f>
              <c:numCache>
                <c:formatCode>0.0</c:formatCode>
                <c:ptCount val="8"/>
                <c:pt idx="0">
                  <c:v>82.940509356278199</c:v>
                </c:pt>
                <c:pt idx="1">
                  <c:v>102.992568732164</c:v>
                </c:pt>
                <c:pt idx="2">
                  <c:v>95.443756887344193</c:v>
                </c:pt>
                <c:pt idx="3">
                  <c:v>95.398265095645797</c:v>
                </c:pt>
                <c:pt idx="4">
                  <c:v>71.836060015258099</c:v>
                </c:pt>
                <c:pt idx="5">
                  <c:v>94.316351614817293</c:v>
                </c:pt>
                <c:pt idx="6">
                  <c:v>38.1907829674211</c:v>
                </c:pt>
                <c:pt idx="7">
                  <c:v>91.966420946229107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33-43E0-9B28-F212361E7CB0}"/>
            </c:ext>
          </c:extLst>
        </c:ser>
        <c:ser>
          <c:idx val="1"/>
          <c:order val="1"/>
          <c:tx>
            <c:strRef>
              <c:f>Feuil1!$D$2</c:f>
              <c:strCache>
                <c:ptCount val="1"/>
                <c:pt idx="0">
                  <c:v>CV adm 2025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fr-FR"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Feuil1!$B$3:$B$10</c:f>
              <c:strCache>
                <c:ptCount val="8"/>
                <c:pt idx="0">
                  <c:v>BCG</c:v>
                </c:pt>
                <c:pt idx="1">
                  <c:v>Penta1</c:v>
                </c:pt>
                <c:pt idx="2">
                  <c:v>Penta3</c:v>
                </c:pt>
                <c:pt idx="3">
                  <c:v>VPO3</c:v>
                </c:pt>
                <c:pt idx="4">
                  <c:v>VPI2</c:v>
                </c:pt>
                <c:pt idx="5">
                  <c:v>VAR1</c:v>
                </c:pt>
                <c:pt idx="6">
                  <c:v>VAR2</c:v>
                </c:pt>
                <c:pt idx="7">
                  <c:v>Td2+</c:v>
                </c:pt>
              </c:strCache>
            </c:strRef>
          </c:cat>
          <c:val>
            <c:numRef>
              <c:f>Feuil1!$D$3:$D$10</c:f>
              <c:numCache>
                <c:formatCode>0.0</c:formatCode>
                <c:ptCount val="8"/>
                <c:pt idx="0">
                  <c:v>88.953646654248502</c:v>
                </c:pt>
                <c:pt idx="1">
                  <c:v>95.500379775419304</c:v>
                </c:pt>
                <c:pt idx="2">
                  <c:v>89.128158807710506</c:v>
                </c:pt>
                <c:pt idx="3">
                  <c:v>88.959415351138304</c:v>
                </c:pt>
                <c:pt idx="4">
                  <c:v>75.796809886477902</c:v>
                </c:pt>
                <c:pt idx="5">
                  <c:v>81.752304313017106</c:v>
                </c:pt>
                <c:pt idx="6">
                  <c:v>48.863137150247397</c:v>
                </c:pt>
                <c:pt idx="7">
                  <c:v>81.980942828485496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A33-43E0-9B28-F212361E7CB0}"/>
            </c:ext>
          </c:extLst>
        </c:ser>
        <c:ser>
          <c:idx val="2"/>
          <c:order val="2"/>
          <c:tx>
            <c:strRef>
              <c:f>Feuil1!$E$2</c:f>
              <c:strCache>
                <c:ptCount val="1"/>
                <c:pt idx="0">
                  <c:v>CV Cible ajustée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fr-FR"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Feuil1!$B$3:$B$10</c:f>
              <c:strCache>
                <c:ptCount val="8"/>
                <c:pt idx="0">
                  <c:v>BCG</c:v>
                </c:pt>
                <c:pt idx="1">
                  <c:v>Penta1</c:v>
                </c:pt>
                <c:pt idx="2">
                  <c:v>Penta3</c:v>
                </c:pt>
                <c:pt idx="3">
                  <c:v>VPO3</c:v>
                </c:pt>
                <c:pt idx="4">
                  <c:v>VPI2</c:v>
                </c:pt>
                <c:pt idx="5">
                  <c:v>VAR1</c:v>
                </c:pt>
                <c:pt idx="6">
                  <c:v>VAR2</c:v>
                </c:pt>
                <c:pt idx="7">
                  <c:v>Td2+</c:v>
                </c:pt>
              </c:strCache>
            </c:strRef>
          </c:cat>
          <c:val>
            <c:numRef>
              <c:f>Feuil1!$E$3:$E$10</c:f>
              <c:numCache>
                <c:formatCode>0.0</c:formatCode>
                <c:ptCount val="8"/>
                <c:pt idx="0">
                  <c:v>118.10479105283299</c:v>
                </c:pt>
                <c:pt idx="1">
                  <c:v>124.174480772362</c:v>
                </c:pt>
                <c:pt idx="2">
                  <c:v>115.888992987991</c:v>
                </c:pt>
                <c:pt idx="3">
                  <c:v>115.66958411074</c:v>
                </c:pt>
                <c:pt idx="4">
                  <c:v>98.554890922825194</c:v>
                </c:pt>
                <c:pt idx="5">
                  <c:v>106.298529533449</c:v>
                </c:pt>
                <c:pt idx="6">
                  <c:v>63.534351369170103</c:v>
                </c:pt>
                <c:pt idx="7">
                  <c:v>108.847051101868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A33-43E0-9B28-F212361E7CB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29806767"/>
        <c:axId val="429811087"/>
      </c:barChart>
      <c:catAx>
        <c:axId val="4298067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fr-FR"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29811087"/>
        <c:crosses val="autoZero"/>
        <c:auto val="1"/>
        <c:lblAlgn val="ctr"/>
        <c:lblOffset val="100"/>
        <c:noMultiLvlLbl val="0"/>
      </c:catAx>
      <c:valAx>
        <c:axId val="429811087"/>
        <c:scaling>
          <c:orientation val="minMax"/>
          <c:max val="12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fr-FR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2980676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fr-FR"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ea55f319-45dc-4b1b-bbc2-70747333dc29}"/>
      </c:ext>
    </c:extLst>
  </c:chart>
  <c:spPr>
    <a:noFill/>
    <a:ln>
      <a:noFill/>
    </a:ln>
    <a:effectLst/>
  </c:spPr>
  <c:txPr>
    <a:bodyPr/>
    <a:lstStyle/>
    <a:p>
      <a:pPr>
        <a:defRPr lang="fr-FR" sz="1600" b="1"/>
      </a:pPr>
      <a:endParaRPr lang="fr-F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'Feuil4 (2)'!$L$1</c:f>
              <c:strCache>
                <c:ptCount val="1"/>
                <c:pt idx="0">
                  <c:v>ZD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solidFill>
                <a:srgbClr val="FFFF00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fr-FR"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'Feuil4 (2)'!$J$2:$K$36</c:f>
              <c:multiLvlStrCache>
                <c:ptCount val="35"/>
                <c:lvl>
                  <c:pt idx="0">
                    <c:v> Matete </c:v>
                  </c:pt>
                  <c:pt idx="1">
                    <c:v> Kisenso </c:v>
                  </c:pt>
                  <c:pt idx="2">
                    <c:v> Kalamu 2 </c:v>
                  </c:pt>
                  <c:pt idx="3">
                    <c:v> Limete </c:v>
                  </c:pt>
                  <c:pt idx="4">
                    <c:v> Makala </c:v>
                  </c:pt>
                  <c:pt idx="5">
                    <c:v> Ngiri Ngiri </c:v>
                  </c:pt>
                  <c:pt idx="6">
                    <c:v> Kingabwa </c:v>
                  </c:pt>
                  <c:pt idx="7">
                    <c:v> Bumbu </c:v>
                  </c:pt>
                  <c:pt idx="8">
                    <c:v> Ngaba </c:v>
                  </c:pt>
                  <c:pt idx="9">
                    <c:v> Kalamu 1 </c:v>
                  </c:pt>
                  <c:pt idx="10">
                    <c:v> Lemba </c:v>
                  </c:pt>
                  <c:pt idx="11">
                    <c:v> Kasa Vubu </c:v>
                  </c:pt>
                  <c:pt idx="12">
                    <c:v> Ndjili </c:v>
                  </c:pt>
                  <c:pt idx="13">
                    <c:v> Kingasani </c:v>
                  </c:pt>
                  <c:pt idx="14">
                    <c:v> Maluku 2 </c:v>
                  </c:pt>
                  <c:pt idx="15">
                    <c:v> Kimbanseke </c:v>
                  </c:pt>
                  <c:pt idx="16">
                    <c:v> Biyela </c:v>
                  </c:pt>
                  <c:pt idx="17">
                    <c:v> Kikimi </c:v>
                  </c:pt>
                  <c:pt idx="18">
                    <c:v> Masina 2 </c:v>
                  </c:pt>
                  <c:pt idx="19">
                    <c:v> Maluku 1 </c:v>
                  </c:pt>
                  <c:pt idx="20">
                    <c:v> Masina 1 </c:v>
                  </c:pt>
                  <c:pt idx="21">
                    <c:v> Nsele </c:v>
                  </c:pt>
                  <c:pt idx="22">
                    <c:v> Bandalungwa </c:v>
                  </c:pt>
                  <c:pt idx="23">
                    <c:v> Binza Meteo </c:v>
                  </c:pt>
                  <c:pt idx="24">
                    <c:v> Police </c:v>
                  </c:pt>
                  <c:pt idx="25">
                    <c:v> Selembao </c:v>
                  </c:pt>
                  <c:pt idx="26">
                    <c:v> Binza Ozone </c:v>
                  </c:pt>
                  <c:pt idx="27">
                    <c:v> Kokolo </c:v>
                  </c:pt>
                  <c:pt idx="28">
                    <c:v> Lingwala </c:v>
                  </c:pt>
                  <c:pt idx="29">
                    <c:v> Mont Ngafula 1 </c:v>
                  </c:pt>
                  <c:pt idx="30">
                    <c:v> Kinshasa </c:v>
                  </c:pt>
                  <c:pt idx="31">
                    <c:v> Kintambo </c:v>
                  </c:pt>
                  <c:pt idx="32">
                    <c:v> Barumbu </c:v>
                  </c:pt>
                  <c:pt idx="33">
                    <c:v> Mont Ngafula 2 </c:v>
                  </c:pt>
                  <c:pt idx="34">
                    <c:v> Gombe </c:v>
                  </c:pt>
                </c:lvl>
                <c:lvl>
                  <c:pt idx="0">
                    <c:v>Kin-Centre</c:v>
                  </c:pt>
                  <c:pt idx="12">
                    <c:v>Kin-Est</c:v>
                  </c:pt>
                  <c:pt idx="22">
                    <c:v>Kin-Ouest</c:v>
                  </c:pt>
                </c:lvl>
              </c:multiLvlStrCache>
            </c:multiLvlStrRef>
          </c:cat>
          <c:val>
            <c:numRef>
              <c:f>'Feuil4 (2)'!$L$2:$L$36</c:f>
              <c:numCache>
                <c:formatCode>0%</c:formatCode>
                <c:ptCount val="35"/>
                <c:pt idx="0">
                  <c:v>0.10782984766331</c:v>
                </c:pt>
                <c:pt idx="1">
                  <c:v>8.7625871417505802E-2</c:v>
                </c:pt>
                <c:pt idx="2">
                  <c:v>0.10153627678802001</c:v>
                </c:pt>
                <c:pt idx="3">
                  <c:v>5.4641105086496299E-2</c:v>
                </c:pt>
                <c:pt idx="4">
                  <c:v>1.6331009553317798E-2</c:v>
                </c:pt>
                <c:pt idx="5">
                  <c:v>2.95636457526465E-2</c:v>
                </c:pt>
                <c:pt idx="6">
                  <c:v>2.8627678801962299E-2</c:v>
                </c:pt>
                <c:pt idx="7">
                  <c:v>1.8009295120062E-2</c:v>
                </c:pt>
                <c:pt idx="8">
                  <c:v>1.9300284017557401E-2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5.2672347017815598E-2</c:v>
                </c:pt>
                <c:pt idx="13">
                  <c:v>3.1016008262328899E-2</c:v>
                </c:pt>
                <c:pt idx="14">
                  <c:v>2.2527756261296199E-2</c:v>
                </c:pt>
                <c:pt idx="15">
                  <c:v>7.9718564420345993E-3</c:v>
                </c:pt>
                <c:pt idx="16">
                  <c:v>0</c:v>
                </c:pt>
                <c:pt idx="17">
                  <c:v>0</c:v>
                </c:pt>
                <c:pt idx="18">
                  <c:v>8.6496256132197295E-3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0.142589723728376</c:v>
                </c:pt>
                <c:pt idx="23">
                  <c:v>8.7980893364317095E-2</c:v>
                </c:pt>
                <c:pt idx="24">
                  <c:v>5.3350116189000797E-2</c:v>
                </c:pt>
                <c:pt idx="25">
                  <c:v>1.5201394268009301E-2</c:v>
                </c:pt>
                <c:pt idx="26">
                  <c:v>1.87516137361219E-2</c:v>
                </c:pt>
                <c:pt idx="27">
                  <c:v>4.3441776400722998E-2</c:v>
                </c:pt>
                <c:pt idx="28">
                  <c:v>3.5405370513813601E-2</c:v>
                </c:pt>
                <c:pt idx="29">
                  <c:v>0</c:v>
                </c:pt>
                <c:pt idx="30">
                  <c:v>1.0069713400464799E-2</c:v>
                </c:pt>
                <c:pt idx="31">
                  <c:v>6.9067906016008302E-3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045-4909-88A4-24153B76D201}"/>
            </c:ext>
          </c:extLst>
        </c:ser>
        <c:ser>
          <c:idx val="1"/>
          <c:order val="1"/>
          <c:tx>
            <c:strRef>
              <c:f>'Feuil4 (2)'!$M$1</c:f>
              <c:strCache>
                <c:ptCount val="1"/>
                <c:pt idx="0">
                  <c:v>ESV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solidFill>
                <a:schemeClr val="accent3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fr-FR"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'Feuil4 (2)'!$J$2:$K$36</c:f>
              <c:multiLvlStrCache>
                <c:ptCount val="35"/>
                <c:lvl>
                  <c:pt idx="0">
                    <c:v> Matete </c:v>
                  </c:pt>
                  <c:pt idx="1">
                    <c:v> Kisenso </c:v>
                  </c:pt>
                  <c:pt idx="2">
                    <c:v> Kalamu 2 </c:v>
                  </c:pt>
                  <c:pt idx="3">
                    <c:v> Limete </c:v>
                  </c:pt>
                  <c:pt idx="4">
                    <c:v> Makala </c:v>
                  </c:pt>
                  <c:pt idx="5">
                    <c:v> Ngiri Ngiri </c:v>
                  </c:pt>
                  <c:pt idx="6">
                    <c:v> Kingabwa </c:v>
                  </c:pt>
                  <c:pt idx="7">
                    <c:v> Bumbu </c:v>
                  </c:pt>
                  <c:pt idx="8">
                    <c:v> Ngaba </c:v>
                  </c:pt>
                  <c:pt idx="9">
                    <c:v> Kalamu 1 </c:v>
                  </c:pt>
                  <c:pt idx="10">
                    <c:v> Lemba </c:v>
                  </c:pt>
                  <c:pt idx="11">
                    <c:v> Kasa Vubu </c:v>
                  </c:pt>
                  <c:pt idx="12">
                    <c:v> Ndjili </c:v>
                  </c:pt>
                  <c:pt idx="13">
                    <c:v> Kingasani </c:v>
                  </c:pt>
                  <c:pt idx="14">
                    <c:v> Maluku 2 </c:v>
                  </c:pt>
                  <c:pt idx="15">
                    <c:v> Kimbanseke </c:v>
                  </c:pt>
                  <c:pt idx="16">
                    <c:v> Biyela </c:v>
                  </c:pt>
                  <c:pt idx="17">
                    <c:v> Kikimi </c:v>
                  </c:pt>
                  <c:pt idx="18">
                    <c:v> Masina 2 </c:v>
                  </c:pt>
                  <c:pt idx="19">
                    <c:v> Maluku 1 </c:v>
                  </c:pt>
                  <c:pt idx="20">
                    <c:v> Masina 1 </c:v>
                  </c:pt>
                  <c:pt idx="21">
                    <c:v> Nsele </c:v>
                  </c:pt>
                  <c:pt idx="22">
                    <c:v> Bandalungwa </c:v>
                  </c:pt>
                  <c:pt idx="23">
                    <c:v> Binza Meteo </c:v>
                  </c:pt>
                  <c:pt idx="24">
                    <c:v> Police </c:v>
                  </c:pt>
                  <c:pt idx="25">
                    <c:v> Selembao </c:v>
                  </c:pt>
                  <c:pt idx="26">
                    <c:v> Binza Ozone </c:v>
                  </c:pt>
                  <c:pt idx="27">
                    <c:v> Kokolo </c:v>
                  </c:pt>
                  <c:pt idx="28">
                    <c:v> Lingwala </c:v>
                  </c:pt>
                  <c:pt idx="29">
                    <c:v> Mont Ngafula 1 </c:v>
                  </c:pt>
                  <c:pt idx="30">
                    <c:v> Kinshasa </c:v>
                  </c:pt>
                  <c:pt idx="31">
                    <c:v> Kintambo </c:v>
                  </c:pt>
                  <c:pt idx="32">
                    <c:v> Barumbu </c:v>
                  </c:pt>
                  <c:pt idx="33">
                    <c:v> Mont Ngafula 2 </c:v>
                  </c:pt>
                  <c:pt idx="34">
                    <c:v> Gombe </c:v>
                  </c:pt>
                </c:lvl>
                <c:lvl>
                  <c:pt idx="0">
                    <c:v>Kin-Centre</c:v>
                  </c:pt>
                  <c:pt idx="12">
                    <c:v>Kin-Est</c:v>
                  </c:pt>
                  <c:pt idx="22">
                    <c:v>Kin-Ouest</c:v>
                  </c:pt>
                </c:lvl>
              </c:multiLvlStrCache>
            </c:multiLvlStrRef>
          </c:cat>
          <c:val>
            <c:numRef>
              <c:f>'Feuil4 (2)'!$M$2:$M$36</c:f>
              <c:numCache>
                <c:formatCode>0%</c:formatCode>
                <c:ptCount val="35"/>
                <c:pt idx="0">
                  <c:v>7.5049144788815206E-2</c:v>
                </c:pt>
                <c:pt idx="1">
                  <c:v>7.9697231357130999E-2</c:v>
                </c:pt>
                <c:pt idx="2">
                  <c:v>6.3107420403813994E-2</c:v>
                </c:pt>
                <c:pt idx="3">
                  <c:v>4.7105509727912401E-2</c:v>
                </c:pt>
                <c:pt idx="4">
                  <c:v>3.5678198085649697E-2</c:v>
                </c:pt>
                <c:pt idx="5">
                  <c:v>2.9009204313718302E-2</c:v>
                </c:pt>
                <c:pt idx="6">
                  <c:v>2.9707335893149101E-2</c:v>
                </c:pt>
                <c:pt idx="7">
                  <c:v>2.6602487553048799E-2</c:v>
                </c:pt>
                <c:pt idx="8">
                  <c:v>1.56528448861862E-2</c:v>
                </c:pt>
                <c:pt idx="9">
                  <c:v>1.3319615660193599E-2</c:v>
                </c:pt>
                <c:pt idx="10">
                  <c:v>8.8736198122393497E-3</c:v>
                </c:pt>
                <c:pt idx="11">
                  <c:v>0</c:v>
                </c:pt>
                <c:pt idx="12">
                  <c:v>4.6958534658558503E-2</c:v>
                </c:pt>
                <c:pt idx="13">
                  <c:v>4.5452040197681502E-2</c:v>
                </c:pt>
                <c:pt idx="14">
                  <c:v>1.60202825595708E-2</c:v>
                </c:pt>
                <c:pt idx="15">
                  <c:v>2.0558137825871299E-2</c:v>
                </c:pt>
                <c:pt idx="16">
                  <c:v>1.5965166908563099E-2</c:v>
                </c:pt>
                <c:pt idx="17">
                  <c:v>2.1256269405302099E-2</c:v>
                </c:pt>
                <c:pt idx="18">
                  <c:v>5.2359868457312903E-3</c:v>
                </c:pt>
                <c:pt idx="19">
                  <c:v>8.9103635795778104E-3</c:v>
                </c:pt>
                <c:pt idx="20">
                  <c:v>1.1298708456578099E-2</c:v>
                </c:pt>
                <c:pt idx="21">
                  <c:v>0</c:v>
                </c:pt>
                <c:pt idx="22">
                  <c:v>8.8442247983685801E-2</c:v>
                </c:pt>
                <c:pt idx="23">
                  <c:v>6.2005107383660003E-2</c:v>
                </c:pt>
                <c:pt idx="24">
                  <c:v>3.9407690470503902E-2</c:v>
                </c:pt>
                <c:pt idx="25">
                  <c:v>3.8672815123734598E-2</c:v>
                </c:pt>
                <c:pt idx="26">
                  <c:v>3.6633536036449803E-2</c:v>
                </c:pt>
                <c:pt idx="27">
                  <c:v>3.2959159302603298E-2</c:v>
                </c:pt>
                <c:pt idx="28">
                  <c:v>2.6216677995994898E-2</c:v>
                </c:pt>
                <c:pt idx="29">
                  <c:v>3.2554977861880198E-2</c:v>
                </c:pt>
                <c:pt idx="30">
                  <c:v>1.24745090114089E-2</c:v>
                </c:pt>
                <c:pt idx="31">
                  <c:v>7.8815380941007901E-3</c:v>
                </c:pt>
                <c:pt idx="32">
                  <c:v>5.67691205379288E-3</c:v>
                </c:pt>
                <c:pt idx="33">
                  <c:v>0</c:v>
                </c:pt>
                <c:pt idx="34">
                  <c:v>1.61672576289247E-3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045-4909-88A4-24153B76D2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70583807"/>
        <c:axId val="370583327"/>
      </c:barChart>
      <c:catAx>
        <c:axId val="3705838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fr-FR"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370583327"/>
        <c:crosses val="autoZero"/>
        <c:auto val="1"/>
        <c:lblAlgn val="ctr"/>
        <c:lblOffset val="100"/>
        <c:noMultiLvlLbl val="0"/>
      </c:catAx>
      <c:valAx>
        <c:axId val="370583327"/>
        <c:scaling>
          <c:orientation val="minMax"/>
          <c:max val="0.18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fr-FR"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370583807"/>
        <c:crosses val="autoZero"/>
        <c:crossBetween val="between"/>
      </c:valAx>
      <c:spPr>
        <a:solidFill>
          <a:schemeClr val="bg1"/>
        </a:solidFill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fr-FR"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1c6bfadb-1738-41cf-9e63-853809a6a542}"/>
      </c:ext>
    </c:extLst>
  </c:chart>
  <c:spPr>
    <a:solidFill>
      <a:schemeClr val="accent2">
        <a:lumMod val="20000"/>
        <a:lumOff val="80000"/>
      </a:schemeClr>
    </a:solidFill>
    <a:ln>
      <a:noFill/>
    </a:ln>
    <a:effectLst/>
  </c:spPr>
  <c:txPr>
    <a:bodyPr/>
    <a:lstStyle/>
    <a:p>
      <a:pPr>
        <a:defRPr lang="fr-FR" sz="1600" b="1"/>
      </a:pPr>
      <a:endParaRPr lang="fr-FR"/>
    </a:p>
  </c:txPr>
  <c:externalData r:id="rId3">
    <c:autoUpdate val="0"/>
  </c:externalData>
  <c:userShapes r:id="rId4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fr-FR" sz="2160" b="1" i="0" u="none" strike="noStrike" kern="1200" baseline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lang="fr-FR"/>
              <a:t>Stratification DTC3</a:t>
            </a:r>
          </a:p>
        </c:rich>
      </c:tx>
      <c:layout/>
      <c:overlay val="0"/>
      <c:spPr>
        <a:solidFill>
          <a:schemeClr val="bg1"/>
        </a:solidFill>
        <a:ln>
          <a:noFill/>
        </a:ln>
        <a:effectLst/>
      </c:sp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'Feuille Analyse'!$AV$41</c:f>
              <c:strCache>
                <c:ptCount val="1"/>
                <c:pt idx="0">
                  <c:v>&lt;50%</c:v>
                </c:pt>
              </c:strCache>
            </c:strRef>
          </c:tx>
          <c:spPr>
            <a:solidFill>
              <a:srgbClr val="FF0000"/>
            </a:solidFill>
            <a:ln w="25400">
              <a:noFill/>
            </a:ln>
          </c:spPr>
          <c:invertIfNegative val="0"/>
          <c:dLbls>
            <c:spPr>
              <a:noFill/>
              <a:ln w="25400"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fr-FR" sz="1800" b="1" i="0" u="none" strike="noStrike" kern="1200" baseline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</a:defRPr>
                </a:pPr>
                <a:endParaRPr lang="fr-F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'Feuille Analyse'!$AW$40:$AY$40</c:f>
              <c:strCache>
                <c:ptCount val="3"/>
                <c:pt idx="0">
                  <c:v>CV adm 2024</c:v>
                </c:pt>
                <c:pt idx="1">
                  <c:v>CV adm 2025</c:v>
                </c:pt>
                <c:pt idx="2">
                  <c:v>CV Ajustée</c:v>
                </c:pt>
              </c:strCache>
            </c:strRef>
          </c:cat>
          <c:val>
            <c:numRef>
              <c:f>'Feuille Analyse'!$AW$41:$AY$41</c:f>
              <c:numCache>
                <c:formatCode>0</c:formatCode>
                <c:ptCount val="3"/>
                <c:pt idx="0">
                  <c:v>0</c:v>
                </c:pt>
                <c:pt idx="1">
                  <c:v>1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C2C-453E-9D04-5579D2B1E7EB}"/>
            </c:ext>
          </c:extLst>
        </c:ser>
        <c:ser>
          <c:idx val="1"/>
          <c:order val="1"/>
          <c:tx>
            <c:strRef>
              <c:f>'Feuille Analyse'!$AV$42</c:f>
              <c:strCache>
                <c:ptCount val="1"/>
                <c:pt idx="0">
                  <c:v>50-79,9%</c:v>
                </c:pt>
              </c:strCache>
            </c:strRef>
          </c:tx>
          <c:spPr>
            <a:solidFill>
              <a:srgbClr val="FFFF00"/>
            </a:solidFill>
            <a:ln w="25400">
              <a:noFill/>
            </a:ln>
          </c:spPr>
          <c:invertIfNegative val="0"/>
          <c:dLbls>
            <c:spPr>
              <a:noFill/>
              <a:ln w="25400"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fr-FR" sz="1800" b="1" i="0" u="none" strike="noStrike" kern="1200" baseline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</a:defRPr>
                </a:pPr>
                <a:endParaRPr lang="fr-F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'Feuille Analyse'!$AW$40:$AY$40</c:f>
              <c:strCache>
                <c:ptCount val="3"/>
                <c:pt idx="0">
                  <c:v>CV adm 2024</c:v>
                </c:pt>
                <c:pt idx="1">
                  <c:v>CV adm 2025</c:v>
                </c:pt>
                <c:pt idx="2">
                  <c:v>CV Ajustée</c:v>
                </c:pt>
              </c:strCache>
            </c:strRef>
          </c:cat>
          <c:val>
            <c:numRef>
              <c:f>'Feuille Analyse'!$AW$42:$AY$42</c:f>
              <c:numCache>
                <c:formatCode>0</c:formatCode>
                <c:ptCount val="3"/>
                <c:pt idx="0">
                  <c:v>5</c:v>
                </c:pt>
                <c:pt idx="1">
                  <c:v>4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C2C-453E-9D04-5579D2B1E7EB}"/>
            </c:ext>
          </c:extLst>
        </c:ser>
        <c:ser>
          <c:idx val="2"/>
          <c:order val="2"/>
          <c:tx>
            <c:strRef>
              <c:f>'Feuille Analyse'!$AV$43</c:f>
              <c:strCache>
                <c:ptCount val="1"/>
                <c:pt idx="0">
                  <c:v>80-89,9%</c:v>
                </c:pt>
              </c:strCache>
            </c:strRef>
          </c:tx>
          <c:spPr>
            <a:solidFill>
              <a:srgbClr val="99FF33"/>
            </a:solidFill>
            <a:ln w="25400">
              <a:noFill/>
            </a:ln>
          </c:spPr>
          <c:invertIfNegative val="0"/>
          <c:dLbls>
            <c:spPr>
              <a:noFill/>
              <a:ln w="25400"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fr-FR" sz="1800" b="1" i="0" u="none" strike="noStrike" kern="1200" baseline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</a:defRPr>
                </a:pPr>
                <a:endParaRPr lang="fr-F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'Feuille Analyse'!$AW$40:$AY$40</c:f>
              <c:strCache>
                <c:ptCount val="3"/>
                <c:pt idx="0">
                  <c:v>CV adm 2024</c:v>
                </c:pt>
                <c:pt idx="1">
                  <c:v>CV adm 2025</c:v>
                </c:pt>
                <c:pt idx="2">
                  <c:v>CV Ajustée</c:v>
                </c:pt>
              </c:strCache>
            </c:strRef>
          </c:cat>
          <c:val>
            <c:numRef>
              <c:f>'Feuille Analyse'!$AW$43:$AY$43</c:f>
              <c:numCache>
                <c:formatCode>0</c:formatCode>
                <c:ptCount val="3"/>
                <c:pt idx="0">
                  <c:v>3</c:v>
                </c:pt>
                <c:pt idx="1">
                  <c:v>12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C2C-453E-9D04-5579D2B1E7EB}"/>
            </c:ext>
          </c:extLst>
        </c:ser>
        <c:ser>
          <c:idx val="3"/>
          <c:order val="3"/>
          <c:tx>
            <c:strRef>
              <c:f>'Feuille Analyse'!$AV$44</c:f>
              <c:strCache>
                <c:ptCount val="1"/>
                <c:pt idx="0">
                  <c:v>90-100%</c:v>
                </c:pt>
              </c:strCache>
            </c:strRef>
          </c:tx>
          <c:spPr>
            <a:solidFill>
              <a:srgbClr val="339933"/>
            </a:solidFill>
            <a:ln w="25400">
              <a:noFill/>
            </a:ln>
          </c:spPr>
          <c:invertIfNegative val="0"/>
          <c:dLbls>
            <c:spPr>
              <a:noFill/>
              <a:ln w="25400"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fr-FR" sz="1800" b="1" i="0" u="none" strike="noStrike" kern="1200" baseline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</a:defRPr>
                </a:pPr>
                <a:endParaRPr lang="fr-F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'Feuille Analyse'!$AW$40:$AY$40</c:f>
              <c:strCache>
                <c:ptCount val="3"/>
                <c:pt idx="0">
                  <c:v>CV adm 2024</c:v>
                </c:pt>
                <c:pt idx="1">
                  <c:v>CV adm 2025</c:v>
                </c:pt>
                <c:pt idx="2">
                  <c:v>CV Ajustée</c:v>
                </c:pt>
              </c:strCache>
            </c:strRef>
          </c:cat>
          <c:val>
            <c:numRef>
              <c:f>'Feuille Analyse'!$AW$44:$AY$44</c:f>
              <c:numCache>
                <c:formatCode>0</c:formatCode>
                <c:ptCount val="3"/>
                <c:pt idx="0">
                  <c:v>15</c:v>
                </c:pt>
                <c:pt idx="1">
                  <c:v>15</c:v>
                </c:pt>
                <c:pt idx="2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C2C-453E-9D04-5579D2B1E7EB}"/>
            </c:ext>
          </c:extLst>
        </c:ser>
        <c:ser>
          <c:idx val="4"/>
          <c:order val="4"/>
          <c:tx>
            <c:strRef>
              <c:f>'Feuille Analyse'!$AV$45</c:f>
              <c:strCache>
                <c:ptCount val="1"/>
                <c:pt idx="0">
                  <c:v>&gt;100%</c:v>
                </c:pt>
              </c:strCache>
            </c:strRef>
          </c:tx>
          <c:spPr>
            <a:solidFill>
              <a:srgbClr val="5B9BD5"/>
            </a:solidFill>
            <a:ln w="25400">
              <a:noFill/>
            </a:ln>
          </c:spPr>
          <c:invertIfNegative val="0"/>
          <c:dLbls>
            <c:spPr>
              <a:noFill/>
              <a:ln w="25400"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fr-FR" sz="1800" b="1" i="0" u="none" strike="noStrike" kern="1200" baseline="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</a:defRPr>
                </a:pPr>
                <a:endParaRPr lang="fr-F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'Feuille Analyse'!$AW$40:$AY$40</c:f>
              <c:strCache>
                <c:ptCount val="3"/>
                <c:pt idx="0">
                  <c:v>CV adm 2024</c:v>
                </c:pt>
                <c:pt idx="1">
                  <c:v>CV adm 2025</c:v>
                </c:pt>
                <c:pt idx="2">
                  <c:v>CV Ajustée</c:v>
                </c:pt>
              </c:strCache>
            </c:strRef>
          </c:cat>
          <c:val>
            <c:numRef>
              <c:f>'Feuille Analyse'!$AW$45:$AY$45</c:f>
              <c:numCache>
                <c:formatCode>0</c:formatCode>
                <c:ptCount val="3"/>
                <c:pt idx="0">
                  <c:v>12</c:v>
                </c:pt>
                <c:pt idx="1">
                  <c:v>3</c:v>
                </c:pt>
                <c:pt idx="2">
                  <c:v>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C2C-453E-9D04-5579D2B1E7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685227887"/>
        <c:axId val="1"/>
      </c:barChart>
      <c:catAx>
        <c:axId val="16852278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0" spcFirstLastPara="0" vertOverflow="ellipsis" vert="horz" wrap="square" anchor="ctr" anchorCtr="1"/>
          <a:lstStyle/>
          <a:p>
            <a:pPr>
              <a:defRPr lang="fr-FR" sz="1800" b="1" i="0" u="none" strike="noStrike" kern="1200" baseline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endParaRPr lang="fr-FR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  <c:max val="35"/>
        </c:scaling>
        <c:delete val="0"/>
        <c:axPos val="l"/>
        <c:numFmt formatCode="0" sourceLinked="1"/>
        <c:majorTickMark val="none"/>
        <c:minorTickMark val="none"/>
        <c:tickLblPos val="nextTo"/>
        <c:spPr>
          <a:ln w="6350" cap="flat" cmpd="sng" algn="ctr">
            <a:noFill/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fr-FR" sz="1800" b="1" i="0" u="none" strike="noStrike" kern="1200" baseline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endParaRPr lang="fr-FR"/>
          </a:p>
        </c:txPr>
        <c:crossAx val="1685227887"/>
        <c:crosses val="autoZero"/>
        <c:crossBetween val="between"/>
      </c:valAx>
      <c:spPr>
        <a:solidFill>
          <a:schemeClr val="bg1"/>
        </a:solidFill>
        <a:ln>
          <a:noFill/>
        </a:ln>
        <a:effectLst/>
      </c:spPr>
    </c:plotArea>
    <c:legend>
      <c:legendPos val="b"/>
      <c:layout/>
      <c:overlay val="0"/>
      <c:spPr>
        <a:solidFill>
          <a:schemeClr val="bg1"/>
        </a:solidFill>
        <a:ln w="25400">
          <a:noFill/>
        </a:ln>
      </c:spPr>
      <c:txPr>
        <a:bodyPr rot="0" spcFirstLastPara="0" vertOverflow="ellipsis" vert="horz" wrap="square" anchor="ctr" anchorCtr="1"/>
        <a:lstStyle/>
        <a:p>
          <a:pPr>
            <a:defRPr lang="fr-FR" sz="1800" b="1" i="0" u="none" strike="noStrike" kern="1200" baseline="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</a:defRPr>
          </a:pPr>
          <a:endParaRPr lang="fr-FR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2c1fece2-d2ad-473c-b5c3-54b767c85a13}"/>
      </c:ext>
    </c:extLst>
  </c:chart>
  <c:spPr>
    <a:solidFill>
      <a:schemeClr val="accent4">
        <a:lumMod val="20000"/>
        <a:lumOff val="80000"/>
      </a:schemeClr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fr-FR" sz="1800" b="1" i="0" u="none" strike="noStrike" baseline="0">
          <a:solidFill>
            <a:srgbClr val="000000"/>
          </a:solidFill>
          <a:latin typeface="Calibri" panose="020F0502020204030204"/>
          <a:ea typeface="Calibri" panose="020F0502020204030204"/>
          <a:cs typeface="Calibri" panose="020F0502020204030204"/>
        </a:defRPr>
      </a:pPr>
      <a:endParaRPr lang="fr-FR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fr-FR" sz="216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fr-FR"/>
              <a:t>Catégorisation des ZS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fr-FR" sz="216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'Feuille Analyse'!$CE$40</c:f>
              <c:strCache>
                <c:ptCount val="1"/>
                <c:pt idx="0">
                  <c:v>Janv-Oct 2024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fr-FR"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'Feuille Analyse'!$CD$41:$CD$44</c:f>
              <c:strCache>
                <c:ptCount val="4"/>
                <c:pt idx="0">
                  <c:v>Cat1</c:v>
                </c:pt>
                <c:pt idx="1">
                  <c:v>Cat2</c:v>
                </c:pt>
                <c:pt idx="2">
                  <c:v>Cat3</c:v>
                </c:pt>
                <c:pt idx="3">
                  <c:v>Cat4</c:v>
                </c:pt>
              </c:strCache>
            </c:strRef>
          </c:cat>
          <c:val>
            <c:numRef>
              <c:f>'Feuille Analyse'!$CE$41:$CE$44</c:f>
              <c:numCache>
                <c:formatCode>General</c:formatCode>
                <c:ptCount val="4"/>
                <c:pt idx="0">
                  <c:v>22</c:v>
                </c:pt>
                <c:pt idx="1">
                  <c:v>7</c:v>
                </c:pt>
                <c:pt idx="2">
                  <c:v>4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5DE-4974-B041-077EB05302C5}"/>
            </c:ext>
          </c:extLst>
        </c:ser>
        <c:ser>
          <c:idx val="1"/>
          <c:order val="1"/>
          <c:tx>
            <c:strRef>
              <c:f>'Feuille Analyse'!$CF$40</c:f>
              <c:strCache>
                <c:ptCount val="1"/>
                <c:pt idx="0">
                  <c:v>Janv-Oct 2025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fr-FR"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'Feuille Analyse'!$CD$41:$CD$44</c:f>
              <c:strCache>
                <c:ptCount val="4"/>
                <c:pt idx="0">
                  <c:v>Cat1</c:v>
                </c:pt>
                <c:pt idx="1">
                  <c:v>Cat2</c:v>
                </c:pt>
                <c:pt idx="2">
                  <c:v>Cat3</c:v>
                </c:pt>
                <c:pt idx="3">
                  <c:v>Cat4</c:v>
                </c:pt>
              </c:strCache>
            </c:strRef>
          </c:cat>
          <c:val>
            <c:numRef>
              <c:f>'Feuille Analyse'!$CF$41:$CF$44</c:f>
              <c:numCache>
                <c:formatCode>General</c:formatCode>
                <c:ptCount val="4"/>
                <c:pt idx="0">
                  <c:v>21</c:v>
                </c:pt>
                <c:pt idx="1">
                  <c:v>5</c:v>
                </c:pt>
                <c:pt idx="2">
                  <c:v>8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5DE-4974-B041-077EB05302C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29776527"/>
        <c:axId val="429784207"/>
      </c:barChart>
      <c:catAx>
        <c:axId val="4297765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fr-FR" sz="1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29784207"/>
        <c:crosses val="autoZero"/>
        <c:auto val="1"/>
        <c:lblAlgn val="ctr"/>
        <c:lblOffset val="100"/>
        <c:noMultiLvlLbl val="0"/>
      </c:catAx>
      <c:valAx>
        <c:axId val="42978420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fr-FR" sz="1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29776527"/>
        <c:crosses val="autoZero"/>
        <c:crossBetween val="between"/>
      </c:valAx>
      <c:spPr>
        <a:solidFill>
          <a:schemeClr val="bg1"/>
        </a:solidFill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fr-FR" sz="18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ed068a44-f10b-433d-b312-40c218f4cb6f}"/>
      </c:ext>
    </c:extLst>
  </c:chart>
  <c:spPr>
    <a:solidFill>
      <a:schemeClr val="accent6">
        <a:lumMod val="20000"/>
        <a:lumOff val="80000"/>
      </a:schemeClr>
    </a:solidFill>
    <a:ln>
      <a:noFill/>
    </a:ln>
    <a:effectLst/>
  </c:spPr>
  <c:txPr>
    <a:bodyPr/>
    <a:lstStyle/>
    <a:p>
      <a:pPr>
        <a:defRPr lang="fr-FR" sz="1800" b="1"/>
      </a:pPr>
      <a:endParaRPr lang="fr-F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Feuil3!$C$8</c:f>
              <c:strCache>
                <c:ptCount val="1"/>
                <c:pt idx="0">
                  <c:v>CV adm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solidFill>
                <a:srgbClr val="FFFF00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Feuil3!$B$9:$B$12</c:f>
              <c:strCache>
                <c:ptCount val="4"/>
                <c:pt idx="0">
                  <c:v>Avril </c:v>
                </c:pt>
                <c:pt idx="1">
                  <c:v>Juin </c:v>
                </c:pt>
                <c:pt idx="2">
                  <c:v>Août</c:v>
                </c:pt>
                <c:pt idx="3">
                  <c:v>Novembre</c:v>
                </c:pt>
              </c:strCache>
            </c:strRef>
          </c:cat>
          <c:val>
            <c:numRef>
              <c:f>Feuil3!$C$9:$C$12</c:f>
              <c:numCache>
                <c:formatCode>0.00%</c:formatCode>
                <c:ptCount val="4"/>
                <c:pt idx="0">
                  <c:v>1.0189999999999999</c:v>
                </c:pt>
                <c:pt idx="1">
                  <c:v>1.0269999999999999</c:v>
                </c:pt>
                <c:pt idx="2">
                  <c:v>1.069</c:v>
                </c:pt>
                <c:pt idx="3">
                  <c:v>0.99299999999999999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471-4ACB-AB6B-DEC144E3EA1E}"/>
            </c:ext>
          </c:extLst>
        </c:ser>
        <c:ser>
          <c:idx val="1"/>
          <c:order val="1"/>
          <c:tx>
            <c:strRef>
              <c:f>Feuil3!$D$8</c:f>
              <c:strCache>
                <c:ptCount val="1"/>
                <c:pt idx="0">
                  <c:v>% ZS Réjetés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1.6075503729706734E-3"/>
                  <c:y val="-1.0828372176779099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2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fr-F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F471-4ACB-AB6B-DEC144E3EA1E}"/>
                </c:ext>
              </c:extLst>
            </c:dLbl>
            <c:dLbl>
              <c:idx val="2"/>
              <c:layout>
                <c:manualLayout>
                  <c:x val="-1.6075503729707913E-3"/>
                  <c:y val="3.4364308048259696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F471-4ACB-AB6B-DEC144E3EA1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Feuil3!$B$9:$B$12</c:f>
              <c:strCache>
                <c:ptCount val="4"/>
                <c:pt idx="0">
                  <c:v>Avril </c:v>
                </c:pt>
                <c:pt idx="1">
                  <c:v>Juin </c:v>
                </c:pt>
                <c:pt idx="2">
                  <c:v>Août</c:v>
                </c:pt>
                <c:pt idx="3">
                  <c:v>Novembre</c:v>
                </c:pt>
              </c:strCache>
            </c:strRef>
          </c:cat>
          <c:val>
            <c:numRef>
              <c:f>Feuil3!$D$9:$D$12</c:f>
              <c:numCache>
                <c:formatCode>0%</c:formatCode>
                <c:ptCount val="4"/>
                <c:pt idx="0">
                  <c:v>0.18</c:v>
                </c:pt>
                <c:pt idx="1">
                  <c:v>0</c:v>
                </c:pt>
                <c:pt idx="2">
                  <c:v>0.03</c:v>
                </c:pt>
                <c:pt idx="3">
                  <c:v>0.12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471-4ACB-AB6B-DEC144E3EA1E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373769759"/>
        <c:axId val="1373772671"/>
      </c:barChart>
      <c:catAx>
        <c:axId val="13737697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1373772671"/>
        <c:crosses val="autoZero"/>
        <c:auto val="1"/>
        <c:lblAlgn val="ctr"/>
        <c:lblOffset val="100"/>
        <c:noMultiLvlLbl val="0"/>
      </c:catAx>
      <c:valAx>
        <c:axId val="1373772671"/>
        <c:scaling>
          <c:orientation val="minMax"/>
        </c:scaling>
        <c:delete val="1"/>
        <c:axPos val="l"/>
        <c:numFmt formatCode="0.00%" sourceLinked="1"/>
        <c:majorTickMark val="none"/>
        <c:minorTickMark val="none"/>
        <c:tickLblPos val="nextTo"/>
        <c:crossAx val="137376975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Feuil1!$C$3</c:f>
              <c:strCache>
                <c:ptCount val="1"/>
                <c:pt idx="0">
                  <c:v>CV adm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solidFill>
                <a:srgbClr val="FFFF00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Feuil1!$A$4:$B$15</c:f>
              <c:multiLvlStrCache>
                <c:ptCount val="12"/>
                <c:lvl>
                  <c:pt idx="0">
                    <c:v>BUMBU</c:v>
                  </c:pt>
                  <c:pt idx="1">
                    <c:v>LIMETE</c:v>
                  </c:pt>
                  <c:pt idx="2">
                    <c:v>MAKALA</c:v>
                  </c:pt>
                  <c:pt idx="3">
                    <c:v>KINGASANI</c:v>
                  </c:pt>
                  <c:pt idx="4">
                    <c:v>KIMBANSEKE</c:v>
                  </c:pt>
                  <c:pt idx="5">
                    <c:v>BIYELA</c:v>
                  </c:pt>
                  <c:pt idx="6">
                    <c:v>KIKIMI</c:v>
                  </c:pt>
                  <c:pt idx="7">
                    <c:v>LINGWALA</c:v>
                  </c:pt>
                  <c:pt idx="8">
                    <c:v>SELEMBAO</c:v>
                  </c:pt>
                  <c:pt idx="9">
                    <c:v>BINZA OZONE</c:v>
                  </c:pt>
                  <c:pt idx="10">
                    <c:v>MONT NGAFULA 1</c:v>
                  </c:pt>
                  <c:pt idx="11">
                    <c:v>KOKOLO</c:v>
                  </c:pt>
                </c:lvl>
                <c:lvl>
                  <c:pt idx="0">
                    <c:v>Kin Centre</c:v>
                  </c:pt>
                  <c:pt idx="3">
                    <c:v>Kin Est</c:v>
                  </c:pt>
                  <c:pt idx="7">
                    <c:v>Kin Ouest</c:v>
                  </c:pt>
                </c:lvl>
              </c:multiLvlStrCache>
            </c:multiLvlStrRef>
          </c:cat>
          <c:val>
            <c:numRef>
              <c:f>Feuil1!$C$4:$C$15</c:f>
              <c:numCache>
                <c:formatCode>0.0%</c:formatCode>
                <c:ptCount val="12"/>
                <c:pt idx="0">
                  <c:v>1.008</c:v>
                </c:pt>
                <c:pt idx="1">
                  <c:v>0.97099999999999997</c:v>
                </c:pt>
                <c:pt idx="2">
                  <c:v>0.95299999999999996</c:v>
                </c:pt>
                <c:pt idx="3">
                  <c:v>1.109</c:v>
                </c:pt>
                <c:pt idx="4">
                  <c:v>0.99199999999999999</c:v>
                </c:pt>
                <c:pt idx="5">
                  <c:v>0.98799999999999999</c:v>
                </c:pt>
                <c:pt idx="6">
                  <c:v>0.98599999999999999</c:v>
                </c:pt>
                <c:pt idx="7">
                  <c:v>1.1020000000000001</c:v>
                </c:pt>
                <c:pt idx="8">
                  <c:v>1.008</c:v>
                </c:pt>
                <c:pt idx="9">
                  <c:v>0.99199999999999999</c:v>
                </c:pt>
                <c:pt idx="10">
                  <c:v>0.99099999999999999</c:v>
                </c:pt>
                <c:pt idx="11">
                  <c:v>0.97199999999999998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0E3-4482-BFC8-C7CBCBF5FE93}"/>
            </c:ext>
          </c:extLst>
        </c:ser>
        <c:ser>
          <c:idx val="1"/>
          <c:order val="1"/>
          <c:tx>
            <c:strRef>
              <c:f>Feuil1!$D$3</c:f>
              <c:strCache>
                <c:ptCount val="1"/>
                <c:pt idx="0">
                  <c:v>% Enfants non vaccinés/MI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3.1338138514572164E-3"/>
                  <c:y val="-5.2192749943684447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2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fr-F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7038545910372924E-2"/>
                      <c:h val="4.260064394510376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20E3-4482-BFC8-C7CBCBF5FE93}"/>
                </c:ext>
              </c:extLst>
            </c:dLbl>
            <c:dLbl>
              <c:idx val="1"/>
              <c:layout>
                <c:manualLayout>
                  <c:x val="1.5669069257286117E-3"/>
                  <c:y val="-7.8211045301419521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7-20E3-4482-BFC8-C7CBCBF5FE93}"/>
                </c:ext>
              </c:extLst>
            </c:dLbl>
            <c:dLbl>
              <c:idx val="4"/>
              <c:layout>
                <c:manualLayout>
                  <c:x val="-1.5669069257286691E-3"/>
                  <c:y val="-3.8073720027844461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2-20E3-4482-BFC8-C7CBCBF5FE93}"/>
                </c:ext>
              </c:extLst>
            </c:dLbl>
            <c:dLbl>
              <c:idx val="7"/>
              <c:layout>
                <c:manualLayout>
                  <c:x val="0"/>
                  <c:y val="-3.592271981274444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20E3-4482-BFC8-C7CBCBF5FE93}"/>
                </c:ext>
              </c:extLst>
            </c:dLbl>
            <c:dLbl>
              <c:idx val="8"/>
              <c:layout>
                <c:manualLayout>
                  <c:x val="-1.1490518049231456E-16"/>
                  <c:y val="-4.5922669001715738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4-20E3-4482-BFC8-C7CBCBF5FE93}"/>
                </c:ext>
              </c:extLst>
            </c:dLbl>
            <c:dLbl>
              <c:idx val="9"/>
              <c:layout>
                <c:manualLayout>
                  <c:x val="0"/>
                  <c:y val="-6.2192445077512246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2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fr-F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7038545910372924E-2"/>
                      <c:h val="4.690264437530379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20E3-4482-BFC8-C7CBCBF5FE93}"/>
                </c:ext>
              </c:extLst>
            </c:dLbl>
            <c:dLbl>
              <c:idx val="10"/>
              <c:layout>
                <c:manualLayout>
                  <c:x val="3.1338138514572234E-3"/>
                  <c:y val="-4.9721301507563244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6-20E3-4482-BFC8-C7CBCBF5FE9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Feuil1!$A$4:$B$15</c:f>
              <c:multiLvlStrCache>
                <c:ptCount val="12"/>
                <c:lvl>
                  <c:pt idx="0">
                    <c:v>BUMBU</c:v>
                  </c:pt>
                  <c:pt idx="1">
                    <c:v>LIMETE</c:v>
                  </c:pt>
                  <c:pt idx="2">
                    <c:v>MAKALA</c:v>
                  </c:pt>
                  <c:pt idx="3">
                    <c:v>KINGASANI</c:v>
                  </c:pt>
                  <c:pt idx="4">
                    <c:v>KIMBANSEKE</c:v>
                  </c:pt>
                  <c:pt idx="5">
                    <c:v>BIYELA</c:v>
                  </c:pt>
                  <c:pt idx="6">
                    <c:v>KIKIMI</c:v>
                  </c:pt>
                  <c:pt idx="7">
                    <c:v>LINGWALA</c:v>
                  </c:pt>
                  <c:pt idx="8">
                    <c:v>SELEMBAO</c:v>
                  </c:pt>
                  <c:pt idx="9">
                    <c:v>BINZA OZONE</c:v>
                  </c:pt>
                  <c:pt idx="10">
                    <c:v>MONT NGAFULA 1</c:v>
                  </c:pt>
                  <c:pt idx="11">
                    <c:v>KOKOLO</c:v>
                  </c:pt>
                </c:lvl>
                <c:lvl>
                  <c:pt idx="0">
                    <c:v>Kin Centre</c:v>
                  </c:pt>
                  <c:pt idx="3">
                    <c:v>Kin Est</c:v>
                  </c:pt>
                  <c:pt idx="7">
                    <c:v>Kin Ouest</c:v>
                  </c:pt>
                </c:lvl>
              </c:multiLvlStrCache>
            </c:multiLvlStrRef>
          </c:cat>
          <c:val>
            <c:numRef>
              <c:f>Feuil1!$D$4:$D$15</c:f>
              <c:numCache>
                <c:formatCode>0%</c:formatCode>
                <c:ptCount val="12"/>
                <c:pt idx="0">
                  <c:v>0.14000000000000001</c:v>
                </c:pt>
                <c:pt idx="1">
                  <c:v>0.26</c:v>
                </c:pt>
                <c:pt idx="3">
                  <c:v>0</c:v>
                </c:pt>
                <c:pt idx="4">
                  <c:v>0.06</c:v>
                </c:pt>
                <c:pt idx="7">
                  <c:v>0.06</c:v>
                </c:pt>
                <c:pt idx="8">
                  <c:v>0.09</c:v>
                </c:pt>
                <c:pt idx="9">
                  <c:v>0.17</c:v>
                </c:pt>
                <c:pt idx="10">
                  <c:v>0.11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0E3-4482-BFC8-C7CBCBF5FE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978529296"/>
        <c:axId val="978533456"/>
      </c:barChart>
      <c:catAx>
        <c:axId val="9785292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978533456"/>
        <c:crosses val="autoZero"/>
        <c:auto val="1"/>
        <c:lblAlgn val="ctr"/>
        <c:lblOffset val="100"/>
        <c:noMultiLvlLbl val="0"/>
      </c:catAx>
      <c:valAx>
        <c:axId val="978533456"/>
        <c:scaling>
          <c:orientation val="minMax"/>
        </c:scaling>
        <c:delete val="1"/>
        <c:axPos val="l"/>
        <c:numFmt formatCode="0.0%" sourceLinked="1"/>
        <c:majorTickMark val="none"/>
        <c:minorTickMark val="none"/>
        <c:tickLblPos val="nextTo"/>
        <c:crossAx val="9785292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5038012915261185"/>
          <c:y val="3.0007469221219416E-2"/>
          <c:w val="0.29923974169477641"/>
          <c:h val="3.430743721027128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Feuil2!$J$3:$K$30</c:f>
              <c:multiLvlStrCache>
                <c:ptCount val="28"/>
                <c:lvl>
                  <c:pt idx="0">
                    <c:v>BUMBU</c:v>
                  </c:pt>
                  <c:pt idx="1">
                    <c:v>KALAMU1</c:v>
                  </c:pt>
                  <c:pt idx="2">
                    <c:v>KALAMU2</c:v>
                  </c:pt>
                  <c:pt idx="3">
                    <c:v>KASA-VUBU</c:v>
                  </c:pt>
                  <c:pt idx="4">
                    <c:v>KISENSO</c:v>
                  </c:pt>
                  <c:pt idx="5">
                    <c:v>LEMBA</c:v>
                  </c:pt>
                  <c:pt idx="6">
                    <c:v>LIMETE</c:v>
                  </c:pt>
                  <c:pt idx="7">
                    <c:v>MAKALA</c:v>
                  </c:pt>
                  <c:pt idx="8">
                    <c:v>MATETE</c:v>
                  </c:pt>
                  <c:pt idx="9">
                    <c:v>NGABA</c:v>
                  </c:pt>
                  <c:pt idx="10">
                    <c:v>NGIRI-NGIRI</c:v>
                  </c:pt>
                  <c:pt idx="11">
                    <c:v>BIYELA</c:v>
                  </c:pt>
                  <c:pt idx="12">
                    <c:v>MASINA 2</c:v>
                  </c:pt>
                  <c:pt idx="13">
                    <c:v>NDJILI</c:v>
                  </c:pt>
                  <c:pt idx="14">
                    <c:v>NSELE</c:v>
                  </c:pt>
                  <c:pt idx="15">
                    <c:v>BANDALUNGWA</c:v>
                  </c:pt>
                  <c:pt idx="16">
                    <c:v>BARUMBU</c:v>
                  </c:pt>
                  <c:pt idx="17">
                    <c:v>BINZA METEO</c:v>
                  </c:pt>
                  <c:pt idx="18">
                    <c:v>BINZA OZONE</c:v>
                  </c:pt>
                  <c:pt idx="19">
                    <c:v>KIMBANSEKE</c:v>
                  </c:pt>
                  <c:pt idx="20">
                    <c:v>KINSHASA</c:v>
                  </c:pt>
                  <c:pt idx="21">
                    <c:v>KINTAMBO</c:v>
                  </c:pt>
                  <c:pt idx="22">
                    <c:v>KOKOLO</c:v>
                  </c:pt>
                  <c:pt idx="23">
                    <c:v>LINGWALA</c:v>
                  </c:pt>
                  <c:pt idx="24">
                    <c:v>MONT NGAFULA 1</c:v>
                  </c:pt>
                  <c:pt idx="25">
                    <c:v>MONT NGAFULA 2</c:v>
                  </c:pt>
                  <c:pt idx="26">
                    <c:v>POLICE</c:v>
                  </c:pt>
                  <c:pt idx="27">
                    <c:v>SELEMBAO</c:v>
                  </c:pt>
                </c:lvl>
                <c:lvl>
                  <c:pt idx="0">
                    <c:v>Kin Centre</c:v>
                  </c:pt>
                  <c:pt idx="11">
                    <c:v>Kin Est</c:v>
                  </c:pt>
                  <c:pt idx="15">
                    <c:v>Kin Ouest</c:v>
                  </c:pt>
                </c:lvl>
              </c:multiLvlStrCache>
            </c:multiLvlStrRef>
          </c:cat>
          <c:val>
            <c:numRef>
              <c:f>Feuil2!$L$3:$L$30</c:f>
              <c:numCache>
                <c:formatCode>General</c:formatCode>
                <c:ptCount val="28"/>
                <c:pt idx="0">
                  <c:v>111741</c:v>
                </c:pt>
                <c:pt idx="1">
                  <c:v>78887</c:v>
                </c:pt>
                <c:pt idx="2">
                  <c:v>84432</c:v>
                </c:pt>
                <c:pt idx="3">
                  <c:v>721</c:v>
                </c:pt>
                <c:pt idx="4">
                  <c:v>591</c:v>
                </c:pt>
                <c:pt idx="5">
                  <c:v>296</c:v>
                </c:pt>
                <c:pt idx="6">
                  <c:v>90721</c:v>
                </c:pt>
                <c:pt idx="7">
                  <c:v>8505</c:v>
                </c:pt>
                <c:pt idx="8">
                  <c:v>500</c:v>
                </c:pt>
                <c:pt idx="9">
                  <c:v>841</c:v>
                </c:pt>
                <c:pt idx="10">
                  <c:v>1423</c:v>
                </c:pt>
                <c:pt idx="11">
                  <c:v>705</c:v>
                </c:pt>
                <c:pt idx="12">
                  <c:v>106518</c:v>
                </c:pt>
                <c:pt idx="13">
                  <c:v>596</c:v>
                </c:pt>
                <c:pt idx="14">
                  <c:v>138875</c:v>
                </c:pt>
                <c:pt idx="15">
                  <c:v>830</c:v>
                </c:pt>
                <c:pt idx="16">
                  <c:v>1457</c:v>
                </c:pt>
                <c:pt idx="17">
                  <c:v>681</c:v>
                </c:pt>
                <c:pt idx="18">
                  <c:v>323</c:v>
                </c:pt>
                <c:pt idx="19">
                  <c:v>759</c:v>
                </c:pt>
                <c:pt idx="20">
                  <c:v>11443</c:v>
                </c:pt>
                <c:pt idx="21">
                  <c:v>299</c:v>
                </c:pt>
                <c:pt idx="22">
                  <c:v>13043</c:v>
                </c:pt>
                <c:pt idx="23">
                  <c:v>43001</c:v>
                </c:pt>
                <c:pt idx="24">
                  <c:v>368</c:v>
                </c:pt>
                <c:pt idx="25">
                  <c:v>464</c:v>
                </c:pt>
                <c:pt idx="26">
                  <c:v>644</c:v>
                </c:pt>
                <c:pt idx="27">
                  <c:v>112516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AE4-419C-8757-21D2F8AFFE8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396499855"/>
        <c:axId val="1396502351"/>
      </c:barChart>
      <c:catAx>
        <c:axId val="13964998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1396502351"/>
        <c:crosses val="autoZero"/>
        <c:auto val="1"/>
        <c:lblAlgn val="ctr"/>
        <c:lblOffset val="100"/>
        <c:noMultiLvlLbl val="0"/>
      </c:catAx>
      <c:valAx>
        <c:axId val="139650235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39649985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49"/>
      <c:rotY val="360"/>
      <c:rAngAx val="0"/>
    </c:view3D>
    <c:floor>
      <c:thickness val="0"/>
      <c:spPr>
        <a:noFill/>
        <a:ln>
          <a:noFill/>
        </a:ln>
      </c:spPr>
    </c:floor>
    <c:sideWall>
      <c:thickness val="0"/>
      <c:spPr>
        <a:noFill/>
        <a:ln>
          <a:noFill/>
        </a:ln>
      </c:spPr>
    </c:sideWall>
    <c:backWall>
      <c:thickness val="0"/>
      <c:spPr>
        <a:noFill/>
        <a:ln>
          <a:noFill/>
        </a:ln>
      </c:spPr>
    </c:backWall>
    <c:plotArea>
      <c:layout>
        <c:manualLayout>
          <c:layoutTarget val="inner"/>
          <c:xMode val="edge"/>
          <c:yMode val="edge"/>
          <c:x val="0.10299772332540101"/>
          <c:y val="0.29388539286287629"/>
          <c:w val="0.81388888888888888"/>
          <c:h val="0.6422260099496746"/>
        </c:manualLayout>
      </c:layout>
      <c:pie3DChart>
        <c:varyColors val="1"/>
        <c:ser>
          <c:idx val="0"/>
          <c:order val="0"/>
          <c:explosion val="17"/>
          <c:dPt>
            <c:idx val="0"/>
            <c:bubble3D val="0"/>
            <c:spPr>
              <a:solidFill>
                <a:srgbClr val="00FF00"/>
              </a:solidFill>
              <a:ln>
                <a:noFill/>
              </a:ln>
              <a:effectLst>
                <a:outerShdw dir="16200000" algn="tl">
                  <a:srgbClr val="000000">
                    <a:alpha val="20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65CE-4841-AB75-34CB502390FC}"/>
              </c:ext>
            </c:extLst>
          </c:dPt>
          <c:dPt>
            <c:idx val="1"/>
            <c:bubble3D val="0"/>
            <c:spPr>
              <a:solidFill>
                <a:srgbClr val="FF66CC"/>
              </a:solidFill>
              <a:ln>
                <a:noFill/>
              </a:ln>
              <a:effectLst>
                <a:outerShdw dir="16200000" algn="tl">
                  <a:srgbClr val="000000">
                    <a:alpha val="20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65CE-4841-AB75-34CB502390FC}"/>
              </c:ext>
            </c:extLst>
          </c:dPt>
          <c:dPt>
            <c:idx val="2"/>
            <c:bubble3D val="0"/>
            <c:spPr>
              <a:solidFill>
                <a:srgbClr val="FFFF00"/>
              </a:solidFill>
              <a:ln>
                <a:noFill/>
              </a:ln>
              <a:effectLst>
                <a:outerShdw dir="16200000" algn="tl">
                  <a:srgbClr val="000000">
                    <a:alpha val="20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65CE-4841-AB75-34CB502390FC}"/>
              </c:ext>
            </c:extLst>
          </c:dPt>
          <c:dPt>
            <c:idx val="3"/>
            <c:bubble3D val="0"/>
            <c:spPr>
              <a:solidFill>
                <a:srgbClr val="595959"/>
              </a:solidFill>
              <a:ln>
                <a:noFill/>
              </a:ln>
              <a:effectLst>
                <a:outerShdw dir="16200000" algn="tl">
                  <a:srgbClr val="000000">
                    <a:alpha val="20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65CE-4841-AB75-34CB502390FC}"/>
              </c:ext>
            </c:extLst>
          </c:dPt>
          <c:dPt>
            <c:idx val="4"/>
            <c:bubble3D val="0"/>
            <c:spPr>
              <a:solidFill>
                <a:srgbClr val="00B0F0"/>
              </a:solidFill>
              <a:ln>
                <a:noFill/>
              </a:ln>
              <a:effectLst>
                <a:outerShdw dir="16200000" algn="tl">
                  <a:srgbClr val="000000">
                    <a:alpha val="20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65CE-4841-AB75-34CB502390FC}"/>
              </c:ext>
            </c:extLst>
          </c:dPt>
          <c:dLbls>
            <c:dLbl>
              <c:idx val="0"/>
              <c:layout>
                <c:manualLayout>
                  <c:x val="3.1986545152678632E-2"/>
                  <c:y val="-6.5180513709212545E-2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0397690289227079"/>
                      <c:h val="9.186558393155147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65CE-4841-AB75-34CB502390FC}"/>
                </c:ext>
              </c:extLst>
            </c:dLbl>
            <c:dLbl>
              <c:idx val="1"/>
              <c:layout>
                <c:manualLayout>
                  <c:x val="-5.0058180227471563E-2"/>
                  <c:y val="-0.10933518840110745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65CE-4841-AB75-34CB502390FC}"/>
                </c:ext>
              </c:extLst>
            </c:dLbl>
            <c:dLbl>
              <c:idx val="2"/>
              <c:layout>
                <c:manualLayout>
                  <c:x val="-0.11446456692913387"/>
                  <c:y val="3.8964453423691536E-2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5-65CE-4841-AB75-34CB502390FC}"/>
                </c:ext>
              </c:extLst>
            </c:dLbl>
            <c:dLbl>
              <c:idx val="3"/>
              <c:layout>
                <c:manualLayout>
                  <c:x val="1.1879697764831894E-2"/>
                  <c:y val="-3.97203156248188E-2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7-65CE-4841-AB75-34CB502390FC}"/>
                </c:ext>
              </c:extLst>
            </c:dLbl>
            <c:dLbl>
              <c:idx val="4"/>
              <c:layout>
                <c:manualLayout>
                  <c:x val="0.12323490813648297"/>
                  <c:y val="1.5001542089526837E-2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9-65CE-4841-AB75-34CB502390FC}"/>
                </c:ext>
              </c:extLst>
            </c:dLbl>
            <c:spPr>
              <a:solidFill>
                <a:srgbClr val="FFFFFF"/>
              </a:solidFill>
              <a:ln>
                <a:noFill/>
              </a:ln>
              <a:effectLst>
                <a:outerShdw dist="38096" dir="2700000" algn="tl">
                  <a:srgbClr val="000000">
                    <a:alpha val="40000"/>
                  </a:srgbClr>
                </a:outerShdw>
              </a:effectLst>
            </c:spPr>
            <c:txPr>
              <a:bodyPr lIns="0" tIns="0" rIns="0" bIns="0"/>
              <a:lstStyle/>
              <a:p>
                <a:pPr marL="0" marR="0" indent="0" algn="ctr" defTabSz="91440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tabLst/>
                  <a:defRPr sz="1200" b="1" i="0" u="none" strike="noStrike" kern="1200" baseline="0">
                    <a:solidFill>
                      <a:srgbClr val="000000"/>
                    </a:solidFill>
                    <a:latin typeface="Calibri"/>
                  </a:defRPr>
                </a:pPr>
                <a:endParaRPr lang="fr-FR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</c:ext>
            </c:extLst>
          </c:dLbls>
          <c:cat>
            <c:strRef>
              <c:f>'Financement_(2)'!$A$2:$A$6</c:f>
              <c:strCache>
                <c:ptCount val="5"/>
                <c:pt idx="0">
                  <c:v>OMS</c:v>
                </c:pt>
                <c:pt idx="1">
                  <c:v>UNICEF</c:v>
                </c:pt>
                <c:pt idx="2">
                  <c:v>GAVI</c:v>
                </c:pt>
                <c:pt idx="3">
                  <c:v>AFRICA CDC/ GHSS</c:v>
                </c:pt>
                <c:pt idx="4">
                  <c:v>PAM</c:v>
                </c:pt>
              </c:strCache>
            </c:strRef>
          </c:cat>
          <c:val>
            <c:numRef>
              <c:f>'Financement_(2)'!$B$2:$B$6</c:f>
              <c:numCache>
                <c:formatCode>0%</c:formatCode>
                <c:ptCount val="5"/>
                <c:pt idx="0">
                  <c:v>0.60435711360205846</c:v>
                </c:pt>
                <c:pt idx="1">
                  <c:v>0.31476306256428088</c:v>
                </c:pt>
                <c:pt idx="2">
                  <c:v>3.5870961065033881E-2</c:v>
                </c:pt>
                <c:pt idx="3">
                  <c:v>3.0804081912883433E-2</c:v>
                </c:pt>
                <c:pt idx="4">
                  <c:v>1.4204780855743348E-2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65CE-4841-AB75-34CB502390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</c:spPr>
    </c:plotArea>
    <c:plotVisOnly val="1"/>
    <c:dispBlanksAs val="gap"/>
    <c:showDLblsOverMax val="0"/>
  </c:chart>
  <c:spPr>
    <a:solidFill>
      <a:srgbClr val="FFFFFF"/>
    </a:solidFill>
    <a:ln w="9528" cap="flat">
      <a:solidFill>
        <a:srgbClr val="BFBFBF"/>
      </a:solidFill>
      <a:prstDash val="solid"/>
      <a:round/>
    </a:ln>
  </c:spPr>
  <c:txPr>
    <a:bodyPr lIns="0" tIns="0" rIns="0" bIns="0"/>
    <a:lstStyle/>
    <a:p>
      <a:pPr marL="0" marR="0" indent="0" defTabSz="914400" fontAlgn="auto" hangingPunct="1">
        <a:lnSpc>
          <a:spcPct val="100000"/>
        </a:lnSpc>
        <a:spcBef>
          <a:spcPts val="0"/>
        </a:spcBef>
        <a:spcAft>
          <a:spcPts val="0"/>
        </a:spcAft>
        <a:tabLst/>
        <a:defRPr lang="fr-FR" sz="900" b="0" i="0" u="none" strike="noStrike" kern="1200" baseline="0">
          <a:solidFill>
            <a:srgbClr val="000000"/>
          </a:solidFill>
          <a:latin typeface="Calibri"/>
        </a:defRPr>
      </a:pPr>
      <a:endParaRPr lang="fr-FR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0.20006</cdr:x>
      <cdr:y>0.08149</cdr:y>
    </cdr:from>
    <cdr:to>
      <cdr:x>0.53007</cdr:x>
      <cdr:y>0.30045</cdr:y>
    </cdr:to>
    <cdr:sp macro="" textlink="">
      <cdr:nvSpPr>
        <cdr:cNvPr id="2" name="Rectangle 1"/>
        <cdr:cNvSpPr/>
      </cdr:nvSpPr>
      <cdr:spPr>
        <a:xfrm xmlns:a="http://schemas.openxmlformats.org/drawingml/2006/main">
          <a:off x="2404152" y="451222"/>
          <a:ext cx="3965825" cy="1212351"/>
        </a:xfrm>
        <a:prstGeom xmlns:a="http://schemas.openxmlformats.org/drawingml/2006/main" prst="rect">
          <a:avLst/>
        </a:prstGeom>
        <a:solidFill xmlns:a="http://schemas.openxmlformats.org/drawingml/2006/main">
          <a:srgbClr val="66FF66"/>
        </a:solidFill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pPr algn="ctr"/>
          <a:r>
            <a:rPr lang="fr-FR" sz="2800" b="1" kern="1200" dirty="0"/>
            <a:t>ZD = 30.984</a:t>
          </a:r>
        </a:p>
        <a:p xmlns:a="http://schemas.openxmlformats.org/drawingml/2006/main">
          <a:pPr algn="ctr"/>
          <a:r>
            <a:rPr lang="fr-FR" sz="2800" b="1" kern="1200" dirty="0"/>
            <a:t>ESV=54.431</a:t>
          </a: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‹N°›</a:t>
            </a:fld>
            <a:endParaRPr sz="1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abd3d1b2d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2738" y="652463"/>
            <a:ext cx="5805487" cy="3267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45" name="Google Shape;145;g3aabd3d1b2d_0_149:notes"/>
          <p:cNvSpPr txBox="1">
            <a:spLocks noGrp="1"/>
          </p:cNvSpPr>
          <p:nvPr>
            <p:ph type="body" idx="1"/>
          </p:nvPr>
        </p:nvSpPr>
        <p:spPr>
          <a:xfrm>
            <a:off x="642938" y="4136571"/>
            <a:ext cx="5143500" cy="39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275" tIns="86275" rIns="86275" bIns="862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 panose="020B0604020202020204"/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abd3d1b2d_0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54" name="Google Shape;154;g3aabd3d1b2d_0_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ce réservé de l'image des diapositives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endParaRPr lang="fr-FR"/>
          </a:p>
        </p:txBody>
      </p:sp>
      <p:sp>
        <p:nvSpPr>
          <p:cNvPr id="10243" name="Espace réservé des notes 2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 altLang="fr-FR"/>
          </a:p>
        </p:txBody>
      </p:sp>
      <p:sp>
        <p:nvSpPr>
          <p:cNvPr id="10244" name="Espace réservé du numéro de diapositive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CE653216-6BF5-4283-8134-78E34E1A92F2}" type="slidenum">
              <a:rPr lang="en-US" altLang="fr-FR"/>
              <a:t>3</a:t>
            </a:fld>
            <a:endParaRPr lang="en-US" alt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aabd3d1b2d_0_3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84" name="Google Shape;184;g3aabd3d1b2d_0_3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aabd3d1b2d_0_3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84" name="Google Shape;184;g3aabd3d1b2d_0_3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aabd3d1b2d_0_3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84" name="Google Shape;184;g3aabd3d1b2d_0_3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aabd3d1b2d_0_3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84" name="Google Shape;184;g3aabd3d1b2d_0_3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aabd3d1b2d_0_3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84" name="Google Shape;184;g3aabd3d1b2d_0_3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fr-FR" smtClean="0"/>
              <a:t>18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018527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aabd3d1b2d_0_3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84" name="Google Shape;184;g3aabd3d1b2d_0_3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573821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aabd3d1b2d_0_3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93" name="Google Shape;193;g3aabd3d1b2d_0_3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213777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6387" name="Espace réservé des notes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endParaRPr lang="fr-FR" altLang="fr-FR" dirty="0"/>
          </a:p>
        </p:txBody>
      </p:sp>
      <p:sp>
        <p:nvSpPr>
          <p:cNvPr id="16388" name="Espace réservé du numéro de diapositive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fr-FR" sz="1200" dirty="0"/>
              <a:t>22</a:t>
            </a:fld>
            <a:endParaRPr lang="en-US" altLang="fr-FR" sz="1200" dirty="0"/>
          </a:p>
        </p:txBody>
      </p:sp>
    </p:spTree>
    <p:extLst>
      <p:ext uri="{BB962C8B-B14F-4D97-AF65-F5344CB8AC3E}">
        <p14:creationId xmlns:p14="http://schemas.microsoft.com/office/powerpoint/2010/main" val="8495117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aabd3d1b2d_0_3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93" name="Google Shape;193;g3aabd3d1b2d_0_3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275479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aabd3d1b2d_0_3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02" name="Google Shape;202;g3aabd3d1b2d_0_3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aabd3d1b2d_0_3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11" name="Google Shape;211;g3aabd3d1b2d_0_3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aabd3d1b2d_0_3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11" name="Google Shape;211;g3aabd3d1b2d_0_3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89755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aabd3d1b2d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20" name="Google Shape;220;g3aabd3d1b2d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iapositive de titre">
  <p:cSld name="1_Diapositive de titr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>
            <a:spLocks noGrp="1"/>
          </p:cNvSpPr>
          <p:nvPr>
            <p:ph type="ctrTitle"/>
          </p:nvPr>
        </p:nvSpPr>
        <p:spPr>
          <a:xfrm>
            <a:off x="3385430" y="3768780"/>
            <a:ext cx="8572500" cy="2341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3041"/>
              </a:buClr>
              <a:buSzPts val="3600"/>
              <a:buFont typeface="Play" panose="00000500000000000000"/>
              <a:buNone/>
              <a:defRPr sz="3600">
                <a:solidFill>
                  <a:srgbClr val="0A304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  <p:pic>
        <p:nvPicPr>
          <p:cNvPr id="18" name="Google Shape;18;p12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-23811" y="0"/>
            <a:ext cx="12215811" cy="37179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" type="blank">
  <p:cSld name="BLANK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" type="title">
  <p:cSld name="TITLE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 panose="00000500000000000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de section" type="secHead">
  <p:cSld name="SECTION_HEADER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 panose="00000500000000000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ux contenus" type="twoObj">
  <p:cSld name="TWO_OBJECT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 type="twoTxTwoObj">
  <p:cSld name="TWO_OBJECTS_WITH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1" name="Google Shape;51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seul" type="titleOnly">
  <p:cSld name="TITLE_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avec légende" type="objTx">
  <p:cSld name="OBJECT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 panose="000005000000000000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5" name="Google Shape;65;p2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6" name="Google Shape;66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vec légende" type="picTx">
  <p:cSld name="PICTURE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 panose="000005000000000000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72" name="Google Shape;72;p2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3" name="Google Shape;73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texte vertical" type="vertTx">
  <p:cSld name="VERTICAL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vertical et texte" type="vertTitleAndTx">
  <p:cSld name="VERTICAL_TITLE_AND_VERTICAL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abd3d1b2d_0_188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94" name="Google Shape;94;g3aabd3d1b2d_0_188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95" name="Google Shape;95;g3aabd3d1b2d_0_18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abd3d1b2d_0_192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98" name="Google Shape;98;g3aabd3d1b2d_0_19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abd3d1b2d_0_19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g3aabd3d1b2d_0_19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102" name="Google Shape;102;g3aabd3d1b2d_0_19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abd3d1b2d_0_199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g3aabd3d1b2d_0_199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106" name="Google Shape;106;g3aabd3d1b2d_0_199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107" name="Google Shape;107;g3aabd3d1b2d_0_19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abd3d1b2d_0_20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g3aabd3d1b2d_0_20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abd3d1b2d_0_20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113" name="Google Shape;113;g3aabd3d1b2d_0_20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114" name="Google Shape;114;g3aabd3d1b2d_0_20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abd3d1b2d_0_211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117" name="Google Shape;117;g3aabd3d1b2d_0_2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abd3d1b2d_0_214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0" name="Google Shape;120;g3aabd3d1b2d_0_214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121" name="Google Shape;121;g3aabd3d1b2d_0_214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2" name="Google Shape;122;g3aabd3d1b2d_0_214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123" name="Google Shape;123;g3aabd3d1b2d_0_21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abd3d1b2d_0_22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126" name="Google Shape;126;g3aabd3d1b2d_0_22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abd3d1b2d_0_223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129" name="Google Shape;129;g3aabd3d1b2d_0_223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130" name="Google Shape;130;g3aabd3d1b2d_0_22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abd3d1b2d_0_22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 type="obj">
  <p:cSld name="OBJEC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abd3d1b2d_0_229"/>
          <p:cNvSpPr txBox="1">
            <a:spLocks noGrp="1"/>
          </p:cNvSpPr>
          <p:nvPr>
            <p:ph type="body" idx="1"/>
          </p:nvPr>
        </p:nvSpPr>
        <p:spPr>
          <a:xfrm>
            <a:off x="609600" y="457200"/>
            <a:ext cx="4876800" cy="57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rmAutofit/>
          </a:bodyPr>
          <a:lstStyle>
            <a:lvl1pPr marL="457200" lvl="0" indent="-3810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810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492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135" name="Google Shape;135;g3aabd3d1b2d_0_229"/>
          <p:cNvSpPr txBox="1">
            <a:spLocks noGrp="1"/>
          </p:cNvSpPr>
          <p:nvPr>
            <p:ph type="title"/>
          </p:nvPr>
        </p:nvSpPr>
        <p:spPr>
          <a:xfrm>
            <a:off x="6502400" y="457200"/>
            <a:ext cx="3759300" cy="57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g3aabd3d1b2d_0_229"/>
          <p:cNvSpPr txBox="1">
            <a:spLocks noGrp="1"/>
          </p:cNvSpPr>
          <p:nvPr>
            <p:ph type="dt" idx="10"/>
          </p:nvPr>
        </p:nvSpPr>
        <p:spPr>
          <a:xfrm>
            <a:off x="6502401" y="6426201"/>
            <a:ext cx="3759300" cy="1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37" name="Google Shape;137;g3aabd3d1b2d_0_229"/>
          <p:cNvSpPr txBox="1">
            <a:spLocks noGrp="1"/>
          </p:cNvSpPr>
          <p:nvPr>
            <p:ph type="sldNum" idx="12"/>
          </p:nvPr>
        </p:nvSpPr>
        <p:spPr>
          <a:xfrm>
            <a:off x="10363200" y="6400800"/>
            <a:ext cx="7113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rmAutofit fontScale="25000" lnSpcReduction="20000"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  <p:sp>
        <p:nvSpPr>
          <p:cNvPr id="138" name="Google Shape;138;g3aabd3d1b2d_0_229"/>
          <p:cNvSpPr txBox="1">
            <a:spLocks noGrp="1"/>
          </p:cNvSpPr>
          <p:nvPr>
            <p:ph type="ftr" idx="11"/>
          </p:nvPr>
        </p:nvSpPr>
        <p:spPr>
          <a:xfrm>
            <a:off x="6500284" y="6296248"/>
            <a:ext cx="37611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b" anchorCtr="0">
            <a:noAutofit/>
          </a:bodyPr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 1 1">
  <p:cSld name="CUSTOM_1_1_1_3_2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aabd3d1b2d_0_235"/>
          <p:cNvSpPr txBox="1"/>
          <p:nvPr/>
        </p:nvSpPr>
        <p:spPr>
          <a:xfrm>
            <a:off x="0" y="0"/>
            <a:ext cx="3495900" cy="68580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g3aabd3d1b2d_0_235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buNone/>
              <a:defRPr sz="1700"/>
            </a:lvl1pPr>
            <a:lvl2pPr lvl="1">
              <a:buNone/>
              <a:defRPr sz="1700"/>
            </a:lvl2pPr>
            <a:lvl3pPr lvl="2">
              <a:buNone/>
              <a:defRPr sz="1700"/>
            </a:lvl3pPr>
            <a:lvl4pPr lvl="3">
              <a:buNone/>
              <a:defRPr sz="1700"/>
            </a:lvl4pPr>
            <a:lvl5pPr lvl="4">
              <a:buNone/>
              <a:defRPr sz="1700"/>
            </a:lvl5pPr>
            <a:lvl6pPr lvl="5">
              <a:buNone/>
              <a:defRPr sz="1700"/>
            </a:lvl6pPr>
            <a:lvl7pPr lvl="6">
              <a:buNone/>
              <a:defRPr sz="1700"/>
            </a:lvl7pPr>
            <a:lvl8pPr lvl="7">
              <a:buNone/>
              <a:defRPr sz="1700"/>
            </a:lvl8pPr>
            <a:lvl9pPr lvl="8">
              <a:buNone/>
              <a:defRPr sz="17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  <p:sp>
        <p:nvSpPr>
          <p:cNvPr id="142" name="Google Shape;142;g3aabd3d1b2d_0_235"/>
          <p:cNvSpPr txBox="1">
            <a:spLocks noGrp="1"/>
          </p:cNvSpPr>
          <p:nvPr>
            <p:ph type="title"/>
          </p:nvPr>
        </p:nvSpPr>
        <p:spPr>
          <a:xfrm>
            <a:off x="325667" y="2918467"/>
            <a:ext cx="2844900" cy="763500"/>
          </a:xfrm>
          <a:prstGeom prst="rect">
            <a:avLst/>
          </a:prstGeom>
        </p:spPr>
        <p:txBody>
          <a:bodyPr spcFirstLastPara="1" wrap="square" lIns="0" tIns="0" rIns="12190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Font typeface="Source Serif Pro" panose="02040603050405020204"/>
              <a:buNone/>
              <a:defRPr sz="2700">
                <a:latin typeface="Source Serif Pro" panose="02040603050405020204"/>
                <a:ea typeface="Source Serif Pro" panose="02040603050405020204"/>
                <a:cs typeface="Source Serif Pro" panose="02040603050405020204"/>
                <a:sym typeface="Source Serif Pro" panose="02040603050405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700"/>
              <a:buFont typeface="Source Serif Pro" panose="02040603050405020204"/>
              <a:buNone/>
              <a:defRPr sz="2700">
                <a:latin typeface="Source Serif Pro" panose="02040603050405020204"/>
                <a:ea typeface="Source Serif Pro" panose="02040603050405020204"/>
                <a:cs typeface="Source Serif Pro" panose="02040603050405020204"/>
                <a:sym typeface="Source Serif Pro" panose="02040603050405020204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700"/>
              <a:buFont typeface="Source Serif Pro" panose="02040603050405020204"/>
              <a:buNone/>
              <a:defRPr sz="2700">
                <a:latin typeface="Source Serif Pro" panose="02040603050405020204"/>
                <a:ea typeface="Source Serif Pro" panose="02040603050405020204"/>
                <a:cs typeface="Source Serif Pro" panose="02040603050405020204"/>
                <a:sym typeface="Source Serif Pro" panose="02040603050405020204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700"/>
              <a:buFont typeface="Source Serif Pro" panose="02040603050405020204"/>
              <a:buNone/>
              <a:defRPr sz="2700">
                <a:latin typeface="Source Serif Pro" panose="02040603050405020204"/>
                <a:ea typeface="Source Serif Pro" panose="02040603050405020204"/>
                <a:cs typeface="Source Serif Pro" panose="02040603050405020204"/>
                <a:sym typeface="Source Serif Pro" panose="02040603050405020204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700"/>
              <a:buFont typeface="Source Serif Pro" panose="02040603050405020204"/>
              <a:buNone/>
              <a:defRPr sz="2700">
                <a:latin typeface="Source Serif Pro" panose="02040603050405020204"/>
                <a:ea typeface="Source Serif Pro" panose="02040603050405020204"/>
                <a:cs typeface="Source Serif Pro" panose="02040603050405020204"/>
                <a:sym typeface="Source Serif Pro" panose="02040603050405020204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700"/>
              <a:buFont typeface="Source Serif Pro" panose="02040603050405020204"/>
              <a:buNone/>
              <a:defRPr sz="2700">
                <a:latin typeface="Source Serif Pro" panose="02040603050405020204"/>
                <a:ea typeface="Source Serif Pro" panose="02040603050405020204"/>
                <a:cs typeface="Source Serif Pro" panose="02040603050405020204"/>
                <a:sym typeface="Source Serif Pro" panose="02040603050405020204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700"/>
              <a:buFont typeface="Source Serif Pro" panose="02040603050405020204"/>
              <a:buNone/>
              <a:defRPr sz="2700">
                <a:latin typeface="Source Serif Pro" panose="02040603050405020204"/>
                <a:ea typeface="Source Serif Pro" panose="02040603050405020204"/>
                <a:cs typeface="Source Serif Pro" panose="02040603050405020204"/>
                <a:sym typeface="Source Serif Pro" panose="02040603050405020204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700"/>
              <a:buFont typeface="Source Serif Pro" panose="02040603050405020204"/>
              <a:buNone/>
              <a:defRPr sz="2700">
                <a:latin typeface="Source Serif Pro" panose="02040603050405020204"/>
                <a:ea typeface="Source Serif Pro" panose="02040603050405020204"/>
                <a:cs typeface="Source Serif Pro" panose="02040603050405020204"/>
                <a:sym typeface="Source Serif Pro" panose="02040603050405020204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700"/>
              <a:buFont typeface="Source Serif Pro" panose="02040603050405020204"/>
              <a:buNone/>
              <a:defRPr sz="2700">
                <a:latin typeface="Source Serif Pro" panose="02040603050405020204"/>
                <a:ea typeface="Source Serif Pro" panose="02040603050405020204"/>
                <a:cs typeface="Source Serif Pro" panose="02040603050405020204"/>
                <a:sym typeface="Source Serif Pro" panose="0204060305040502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92979987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05D1F-3057-41AC-8876-B2409A19B88B}" type="datetimeFigureOut">
              <a:rPr lang="fr-FR" smtClean="0"/>
              <a:t>12/12/2025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77424-55E7-43BB-9235-B839F14C87B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376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 panose="00000500000000000000"/>
              <a:buNone/>
              <a:defRPr sz="4400" b="0" i="0" u="none" strike="noStrike" cap="none">
                <a:solidFill>
                  <a:schemeClr val="dk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2" name="Google Shape;12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abd3d1b2d_0_18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90" name="Google Shape;90;g3aabd3d1b2d_0_18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marR="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 panose="020B0604020202020204"/>
              <a:buChar char="●"/>
              <a:defRPr sz="2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○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■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●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○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■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●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○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■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91" name="Google Shape;91;g3aabd3d1b2d_0_18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6" r:id="rId14"/>
    <p:sldLayoutId id="2147483677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Relationship Id="rId4" Type="http://schemas.openxmlformats.org/officeDocument/2006/relationships/chart" Target="../charts/char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g3aabd3d1b2d_0_149"/>
          <p:cNvPicPr preferRelativeResize="0"/>
          <p:nvPr/>
        </p:nvPicPr>
        <p:blipFill rotWithShape="1">
          <a:blip r:embed="rId3"/>
          <a:srcRect l="-17785"/>
          <a:stretch>
            <a:fillRect/>
          </a:stretch>
        </p:blipFill>
        <p:spPr>
          <a:xfrm>
            <a:off x="-681739" y="1646127"/>
            <a:ext cx="4525279" cy="370309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g3aabd3d1b2d_0_149"/>
          <p:cNvSpPr/>
          <p:nvPr/>
        </p:nvSpPr>
        <p:spPr>
          <a:xfrm>
            <a:off x="3661467" y="1516428"/>
            <a:ext cx="373500" cy="18672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 panose="020B0604020202020204"/>
              <a:buNone/>
            </a:pPr>
            <a:endParaRPr sz="17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0" name="Google Shape;150;g3aabd3d1b2d_0_149"/>
          <p:cNvSpPr/>
          <p:nvPr/>
        </p:nvSpPr>
        <p:spPr>
          <a:xfrm>
            <a:off x="3659879" y="1516428"/>
            <a:ext cx="373500" cy="1867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 panose="020B0604020202020204"/>
              <a:buNone/>
            </a:pPr>
            <a:endParaRPr sz="17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1" name="Google Shape;151;g3aabd3d1b2d_0_149"/>
          <p:cNvSpPr txBox="1"/>
          <p:nvPr/>
        </p:nvSpPr>
        <p:spPr>
          <a:xfrm>
            <a:off x="5832935" y="6162200"/>
            <a:ext cx="45252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en-US" sz="2000" b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Decembre 2025</a:t>
            </a:r>
            <a:endParaRPr sz="2000" b="1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" name="Google Shape;148;g3aabd3d1b2d_0_149"/>
          <p:cNvSpPr txBox="1"/>
          <p:nvPr/>
        </p:nvSpPr>
        <p:spPr>
          <a:xfrm>
            <a:off x="4034550" y="1516416"/>
            <a:ext cx="7894800" cy="3832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en-US" sz="4300" b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Revue </a:t>
            </a:r>
            <a:r>
              <a:rPr lang="en-US" sz="4300" b="1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annuelle</a:t>
            </a:r>
            <a:r>
              <a:rPr lang="en-US" sz="4300" b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2025</a:t>
            </a:r>
            <a:endParaRPr sz="4300" b="1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en-US" sz="4300" b="1" i="1" dirty="0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Province</a:t>
            </a:r>
            <a:r>
              <a:rPr lang="en-US" altLang="en-US" sz="4300" b="1" i="1" dirty="0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4300" b="1" i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avec </a:t>
            </a:r>
            <a:r>
              <a:rPr lang="en-US" altLang="en-US" sz="4300" b="1" i="1" dirty="0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bonne performance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endParaRPr sz="4300" b="1" i="1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en-US" altLang="en-US" sz="4300" b="1" i="1" dirty="0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Ville </a:t>
            </a:r>
            <a:r>
              <a:rPr lang="en-US" altLang="en-US" sz="4300" b="1" i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</a:t>
            </a:r>
            <a:r>
              <a:rPr lang="en-US" sz="4300" b="1" i="1" dirty="0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rovince</a:t>
            </a:r>
            <a:r>
              <a:rPr lang="en-US" altLang="en-US" sz="4300" b="1" i="1" dirty="0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4300" b="1" i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 </a:t>
            </a:r>
            <a:r>
              <a:rPr lang="en-US" altLang="en-US" sz="4300" b="1" i="1" dirty="0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Kinshasa</a:t>
            </a:r>
            <a:endParaRPr lang="en-US" altLang="en-US" sz="4300" b="1" i="1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abd3d1b2d_0_156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 b="1" i="0" u="none" strike="noStrike" cap="none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Agenda</a:t>
            </a:r>
            <a:endParaRPr sz="2700" b="0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7" name="Google Shape;157;g3aabd3d1b2d_0_156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8" name="Google Shape;158;g3aabd3d1b2d_0_156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9" name="Google Shape;159;g3aabd3d1b2d_0_156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0" name="Google Shape;160;g3aabd3d1b2d_0_156"/>
          <p:cNvSpPr txBox="1"/>
          <p:nvPr/>
        </p:nvSpPr>
        <p:spPr>
          <a:xfrm>
            <a:off x="617800" y="1049641"/>
            <a:ext cx="10714500" cy="45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Présentation</a:t>
            </a:r>
            <a:r>
              <a:rPr lang="en-US" sz="27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de la Province</a:t>
            </a:r>
            <a:endParaRPr sz="27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Facteurs</a:t>
            </a:r>
            <a:r>
              <a:rPr lang="en-US" sz="27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7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expliquant</a:t>
            </a:r>
            <a:r>
              <a:rPr lang="en-US" sz="27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la performance (leadership, </a:t>
            </a:r>
            <a:r>
              <a:rPr lang="en-US" sz="27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mobilisation</a:t>
            </a:r>
            <a:r>
              <a:rPr lang="en-US" sz="27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7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communautaire</a:t>
            </a:r>
            <a:r>
              <a:rPr lang="en-US" sz="27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, </a:t>
            </a:r>
            <a:r>
              <a:rPr lang="en-US" sz="27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intégration</a:t>
            </a:r>
            <a:r>
              <a:rPr lang="en-US" sz="27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, supervision)</a:t>
            </a:r>
            <a:endParaRPr sz="27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Résultats </a:t>
            </a:r>
            <a:r>
              <a:rPr lang="en-US" sz="27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comparés</a:t>
            </a:r>
            <a:r>
              <a:rPr lang="en-US" sz="27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aux </a:t>
            </a:r>
            <a:r>
              <a:rPr lang="en-US" sz="27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cibles</a:t>
            </a:r>
            <a:endParaRPr sz="27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Défis</a:t>
            </a:r>
            <a:r>
              <a:rPr lang="en-US" sz="27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7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persistants</a:t>
            </a:r>
            <a:r>
              <a:rPr lang="en-US" sz="27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malgré les performances</a:t>
            </a:r>
            <a:endParaRPr sz="27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Bonnes pratiques </a:t>
            </a:r>
            <a:r>
              <a:rPr lang="en-US" sz="27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transférables</a:t>
            </a:r>
            <a:endParaRPr sz="27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Besoins</a:t>
            </a:r>
            <a:r>
              <a:rPr lang="en-US" sz="27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pour maintenir les acquis</a:t>
            </a:r>
            <a:endParaRPr sz="27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Recommandations</a:t>
            </a:r>
            <a:endParaRPr sz="27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74613"/>
            <a:ext cx="6924675" cy="636587"/>
          </a:xfrm>
        </p:spPr>
        <p:txBody>
          <a:bodyPr rtlCol="0">
            <a:normAutofit fontScale="90000"/>
          </a:bodyPr>
          <a:lstStyle/>
          <a:p>
            <a:pPr lvl="0" algn="ctr">
              <a:defRPr/>
            </a:pPr>
            <a:r>
              <a:rPr lang="fr-FR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</a:rPr>
              <a:t>1.</a:t>
            </a:r>
            <a:r>
              <a:rPr lang="en-US" sz="3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Présentation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 la 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Province</a:t>
            </a:r>
            <a:endParaRPr lang="fr-FR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 panose="020E0502030303020204" pitchFamily="34" charset="0"/>
            </a:endParaRPr>
          </a:p>
        </p:txBody>
      </p:sp>
      <p:sp>
        <p:nvSpPr>
          <p:cNvPr id="9219" name="Espace réservé du contenu 3"/>
          <p:cNvSpPr>
            <a:spLocks noGrp="1"/>
          </p:cNvSpPr>
          <p:nvPr>
            <p:ph idx="1"/>
          </p:nvPr>
        </p:nvSpPr>
        <p:spPr>
          <a:xfrm>
            <a:off x="7105650" y="669924"/>
            <a:ext cx="4935662" cy="6113463"/>
          </a:xfrm>
          <a:solidFill>
            <a:schemeClr val="bg1"/>
          </a:solidFill>
          <a:ln>
            <a:solidFill>
              <a:schemeClr val="accent1"/>
            </a:solidFill>
            <a:miter lim="800000"/>
          </a:ln>
        </p:spPr>
        <p:txBody>
          <a:bodyPr>
            <a:noAutofit/>
          </a:bodyPr>
          <a:lstStyle/>
          <a:p>
            <a:pPr marL="0" indent="0" defTabSz="685800" eaLnBrk="1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Arial" panose="020B0604020202020204" pitchFamily="34" charset="0"/>
              <a:buNone/>
            </a:pPr>
            <a:endParaRPr lang="fr-FR" altLang="fr-FR" sz="1600" b="1" dirty="0">
              <a:latin typeface="Candara" panose="020E0502030303020204" pitchFamily="34" charset="0"/>
              <a:ea typeface="Ebrima" panose="02000000000000000000" pitchFamily="2" charset="0"/>
              <a:cs typeface="Ebrima" panose="02000000000000000000" pitchFamily="2" charset="0"/>
            </a:endParaRPr>
          </a:p>
          <a:p>
            <a:pPr marL="0" indent="0" defTabSz="685800" eaLnBrk="1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Arial" panose="020B0604020202020204" pitchFamily="34" charset="0"/>
              <a:buNone/>
            </a:pPr>
            <a:r>
              <a:rPr lang="fr-FR" altLang="fr-FR" sz="1600" b="1" dirty="0">
                <a:latin typeface="Candara" panose="020E0502030303020204" pitchFamily="34" charset="0"/>
                <a:ea typeface="Ebrima" panose="02000000000000000000" pitchFamily="2" charset="0"/>
                <a:cs typeface="Ebrima" panose="02000000000000000000" pitchFamily="2" charset="0"/>
              </a:rPr>
              <a:t>Kinshasa, ville province, siège des institutions du pays située à l’ouest de la RDC s’étend sur 9.965 km² </a:t>
            </a:r>
          </a:p>
          <a:p>
            <a:pPr marL="0" indent="0" defTabSz="685800" eaLnBrk="1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Courier New" panose="02070309020205020404" pitchFamily="49" charset="0"/>
              <a:buChar char="o"/>
            </a:pPr>
            <a:r>
              <a:rPr lang="fr-FR" altLang="fr-FR" sz="1600" b="1" dirty="0">
                <a:latin typeface="Candara" panose="020E0502030303020204" pitchFamily="34" charset="0"/>
                <a:ea typeface="Ebrima" panose="02000000000000000000" pitchFamily="2" charset="0"/>
                <a:cs typeface="Ebrima" panose="02000000000000000000" pitchFamily="2" charset="0"/>
              </a:rPr>
              <a:t>Pop  Totale : 16.637.081 habitants</a:t>
            </a:r>
          </a:p>
          <a:p>
            <a:pPr marL="0" indent="0" defTabSz="685800" eaLnBrk="1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Courier New" panose="02070309020205020404" pitchFamily="49" charset="0"/>
              <a:buChar char="o"/>
            </a:pPr>
            <a:r>
              <a:rPr lang="fr-FR" altLang="fr-FR" sz="1600" b="1" dirty="0">
                <a:latin typeface="Candara" panose="020E0502030303020204" pitchFamily="34" charset="0"/>
                <a:ea typeface="Ebrima" panose="02000000000000000000" pitchFamily="2" charset="0"/>
                <a:cs typeface="Ebrima" panose="02000000000000000000" pitchFamily="2" charset="0"/>
              </a:rPr>
              <a:t>Densité: 1.670 hab./km²</a:t>
            </a:r>
          </a:p>
          <a:p>
            <a:pPr marL="0" indent="0" defTabSz="685800" eaLnBrk="1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Courier New" panose="02070309020205020404" pitchFamily="49" charset="0"/>
              <a:buChar char="o"/>
            </a:pPr>
            <a:r>
              <a:rPr lang="fr-FR" altLang="fr-FR" sz="1600" b="1" dirty="0">
                <a:latin typeface="Candara" panose="020E0502030303020204" pitchFamily="34" charset="0"/>
                <a:ea typeface="Ebrima" panose="02000000000000000000" pitchFamily="2" charset="0"/>
                <a:cs typeface="Ebrima" panose="02000000000000000000" pitchFamily="2" charset="0"/>
              </a:rPr>
              <a:t>Cibles: </a:t>
            </a:r>
          </a:p>
          <a:p>
            <a:pPr marL="0" indent="0" defTabSz="685800" eaLnBrk="1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Arial" panose="020B0604020202020204" pitchFamily="34" charset="0"/>
              <a:buNone/>
            </a:pPr>
            <a:r>
              <a:rPr lang="fr-FR" altLang="fr-FR" sz="1600" b="1" dirty="0">
                <a:latin typeface="Candara" panose="020E0502030303020204" pitchFamily="34" charset="0"/>
                <a:ea typeface="Ebrima" panose="02000000000000000000" pitchFamily="2" charset="0"/>
                <a:cs typeface="Ebrima" panose="02000000000000000000" pitchFamily="2" charset="0"/>
              </a:rPr>
              <a:t>             Naissances vivantes  : 665.483</a:t>
            </a:r>
          </a:p>
          <a:p>
            <a:pPr marL="0" indent="0" defTabSz="685800" eaLnBrk="1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Arial" panose="020B0604020202020204" pitchFamily="34" charset="0"/>
              <a:buNone/>
            </a:pPr>
            <a:r>
              <a:rPr lang="fr-FR" altLang="fr-FR" sz="1600" b="1" dirty="0">
                <a:latin typeface="Candara" panose="020E0502030303020204" pitchFamily="34" charset="0"/>
                <a:ea typeface="Ebrima" panose="02000000000000000000" pitchFamily="2" charset="0"/>
                <a:cs typeface="Ebrima" panose="02000000000000000000" pitchFamily="2" charset="0"/>
              </a:rPr>
              <a:t>             Enfants Survivants     :  580.634</a:t>
            </a:r>
          </a:p>
          <a:p>
            <a:pPr marL="0" indent="0" defTabSz="685800" eaLnBrk="1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Courier New" panose="02070309020205020404" pitchFamily="49" charset="0"/>
              <a:buChar char="o"/>
            </a:pPr>
            <a:r>
              <a:rPr lang="fr-FR" altLang="fr-FR" sz="1600" b="1" dirty="0">
                <a:latin typeface="Candara" panose="020E0502030303020204" pitchFamily="34" charset="0"/>
                <a:ea typeface="Ebrima" panose="02000000000000000000" pitchFamily="2" charset="0"/>
                <a:cs typeface="Ebrima" panose="02000000000000000000" pitchFamily="2" charset="0"/>
              </a:rPr>
              <a:t>Nbre total  de zones de Santé : 35</a:t>
            </a:r>
          </a:p>
          <a:p>
            <a:pPr marL="0" indent="0" defTabSz="685800" eaLnBrk="1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Courier New" panose="02070309020205020404" pitchFamily="49" charset="0"/>
              <a:buChar char="o"/>
            </a:pPr>
            <a:r>
              <a:rPr lang="fr-FR" altLang="fr-FR" sz="1600" b="1" dirty="0">
                <a:latin typeface="Candara" panose="020E0502030303020204" pitchFamily="34" charset="0"/>
                <a:ea typeface="Ebrima" panose="02000000000000000000" pitchFamily="2" charset="0"/>
                <a:cs typeface="Ebrima" panose="02000000000000000000" pitchFamily="2" charset="0"/>
              </a:rPr>
              <a:t>AS fonctionnelles: </a:t>
            </a:r>
            <a:r>
              <a:rPr lang="fr-FR" altLang="fr-FR" sz="1600" b="1" dirty="0" smtClean="0">
                <a:latin typeface="Candara" panose="020E0502030303020204" pitchFamily="34" charset="0"/>
                <a:ea typeface="Ebrima" panose="02000000000000000000" pitchFamily="2" charset="0"/>
                <a:cs typeface="Ebrima" panose="02000000000000000000" pitchFamily="2" charset="0"/>
              </a:rPr>
              <a:t>424</a:t>
            </a:r>
          </a:p>
          <a:p>
            <a:pPr marL="0" indent="0" defTabSz="685800" eaLnBrk="1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Courier New" panose="02070309020205020404" pitchFamily="49" charset="0"/>
              <a:buChar char="o"/>
            </a:pPr>
            <a:r>
              <a:rPr lang="fr-FR" altLang="fr-FR" sz="1600" b="1" dirty="0" smtClean="0">
                <a:latin typeface="Candara" panose="020E0502030303020204" pitchFamily="34" charset="0"/>
                <a:ea typeface="Ebrima" panose="02000000000000000000" pitchFamily="2" charset="0"/>
                <a:cs typeface="Ebrima" panose="02000000000000000000" pitchFamily="2" charset="0"/>
              </a:rPr>
              <a:t>CCDF: 79% (88/424 AS sans réfrigérateurs, 72/406 réfrigérateurs en panne)</a:t>
            </a:r>
            <a:endParaRPr lang="fr-FR" altLang="fr-FR" sz="1600" b="1" dirty="0">
              <a:latin typeface="Candara" panose="020E0502030303020204" pitchFamily="34" charset="0"/>
              <a:ea typeface="Ebrima" panose="02000000000000000000" pitchFamily="2" charset="0"/>
              <a:cs typeface="Ebrima" panose="02000000000000000000" pitchFamily="2" charset="0"/>
            </a:endParaRPr>
          </a:p>
          <a:p>
            <a:pPr marL="0" indent="0" defTabSz="685800" eaLnBrk="1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Courier New" panose="02070309020205020404" pitchFamily="49" charset="0"/>
              <a:buChar char="o"/>
            </a:pPr>
            <a:r>
              <a:rPr lang="fr-FR" altLang="fr-FR" sz="1600" b="1" dirty="0">
                <a:latin typeface="Candara" panose="020E0502030303020204" pitchFamily="34" charset="0"/>
                <a:ea typeface="Ebrima" panose="02000000000000000000" pitchFamily="2" charset="0"/>
                <a:cs typeface="Ebrima" panose="02000000000000000000" pitchFamily="2" charset="0"/>
              </a:rPr>
              <a:t>Nbre total d’ESS avec PEV : 1837</a:t>
            </a:r>
          </a:p>
          <a:p>
            <a:pPr marL="0" indent="0" defTabSz="685800" eaLnBrk="1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Courier New" panose="02070309020205020404" pitchFamily="49" charset="0"/>
              <a:buChar char="o"/>
            </a:pPr>
            <a:r>
              <a:rPr lang="fr-FR" altLang="fr-FR" sz="1600" b="1" dirty="0">
                <a:latin typeface="Candara" panose="020E0502030303020204" pitchFamily="34" charset="0"/>
                <a:ea typeface="Ebrima" panose="02000000000000000000" pitchFamily="2" charset="0"/>
                <a:cs typeface="Ebrima" panose="02000000000000000000" pitchFamily="2" charset="0"/>
              </a:rPr>
              <a:t>Dont paramétrés dans le DHIS2: 1813</a:t>
            </a:r>
          </a:p>
          <a:p>
            <a:pPr marL="0" indent="0" defTabSz="685800" eaLnBrk="1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Courier New" panose="02070309020205020404" pitchFamily="49" charset="0"/>
              <a:buChar char="o"/>
            </a:pPr>
            <a:r>
              <a:rPr lang="fr-FR" altLang="fr-FR" sz="1600" b="1" dirty="0">
                <a:latin typeface="Candara" panose="020E0502030303020204" pitchFamily="34" charset="0"/>
                <a:ea typeface="Ebrima" panose="02000000000000000000" pitchFamily="2" charset="0"/>
                <a:cs typeface="Ebrima" panose="02000000000000000000" pitchFamily="2" charset="0"/>
              </a:rPr>
              <a:t>Nbre Total d’ESS qui font la surveillance: 3047</a:t>
            </a:r>
          </a:p>
          <a:p>
            <a:pPr marL="0" indent="0" defTabSz="685800" eaLnBrk="1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Courier New" panose="02070309020205020404" pitchFamily="49" charset="0"/>
              <a:buChar char="o"/>
            </a:pPr>
            <a:r>
              <a:rPr lang="fr-FR" altLang="fr-FR" sz="1600" b="1" dirty="0">
                <a:latin typeface="Candara" panose="020E0502030303020204" pitchFamily="34" charset="0"/>
                <a:ea typeface="Ebrima" panose="02000000000000000000" pitchFamily="2" charset="0"/>
                <a:cs typeface="Ebrima" panose="02000000000000000000" pitchFamily="2" charset="0"/>
              </a:rPr>
              <a:t> avec ilots:  6 ( 45 ilots )</a:t>
            </a:r>
          </a:p>
          <a:p>
            <a:pPr marL="0" indent="0" defTabSz="685800" eaLnBrk="1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Courier New" panose="02070309020205020404" pitchFamily="49" charset="0"/>
              <a:buChar char="o"/>
            </a:pPr>
            <a:r>
              <a:rPr lang="fr-FR" altLang="fr-FR" sz="1600" b="1" dirty="0">
                <a:latin typeface="Candara" panose="020E0502030303020204" pitchFamily="34" charset="0"/>
                <a:ea typeface="Ebrima" panose="02000000000000000000" pitchFamily="2" charset="0"/>
                <a:cs typeface="Ebrima" panose="02000000000000000000" pitchFamily="2" charset="0"/>
              </a:rPr>
              <a:t>Sectes réfractaires à la vaccination:</a:t>
            </a:r>
          </a:p>
          <a:p>
            <a:pPr marL="0" indent="0" defTabSz="685800" eaLnBrk="1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Arial" panose="020B0604020202020204" pitchFamily="34" charset="0"/>
              <a:buNone/>
            </a:pPr>
            <a:r>
              <a:rPr lang="fr-FR" altLang="fr-FR" sz="1600" b="1" dirty="0">
                <a:latin typeface="Candara" panose="020E0502030303020204" pitchFamily="34" charset="0"/>
                <a:ea typeface="Ebrima" panose="02000000000000000000" pitchFamily="2" charset="0"/>
                <a:cs typeface="Ebrima" panose="02000000000000000000" pitchFamily="2" charset="0"/>
              </a:rPr>
              <a:t>	Baba, Eglise des Noirs…… </a:t>
            </a:r>
          </a:p>
          <a:p>
            <a:pPr marL="0" indent="0" defTabSz="685800" eaLnBrk="1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Courier New" panose="02070309020205020404" pitchFamily="49" charset="0"/>
              <a:buChar char="o"/>
            </a:pPr>
            <a:r>
              <a:rPr lang="fr-FR" altLang="fr-FR" sz="1600" b="1" dirty="0">
                <a:latin typeface="Candara" panose="020E0502030303020204" pitchFamily="34" charset="0"/>
                <a:ea typeface="Ebrima" panose="02000000000000000000" pitchFamily="2" charset="0"/>
                <a:cs typeface="Ebrima" panose="02000000000000000000" pitchFamily="2" charset="0"/>
              </a:rPr>
              <a:t>Poches d’insécurité (phénomène </a:t>
            </a:r>
            <a:r>
              <a:rPr lang="fr-FR" altLang="fr-FR" sz="1600" b="1" dirty="0" err="1" smtClean="0">
                <a:latin typeface="Candara" panose="020E0502030303020204" pitchFamily="34" charset="0"/>
                <a:ea typeface="Ebrima" panose="02000000000000000000" pitchFamily="2" charset="0"/>
                <a:cs typeface="Ebrima" panose="02000000000000000000" pitchFamily="2" charset="0"/>
              </a:rPr>
              <a:t>Mobondo</a:t>
            </a:r>
            <a:r>
              <a:rPr lang="fr-FR" altLang="fr-FR" sz="1600" b="1" dirty="0" smtClean="0">
                <a:latin typeface="Candara" panose="020E0502030303020204" pitchFamily="34" charset="0"/>
                <a:ea typeface="Ebrima" panose="02000000000000000000" pitchFamily="2" charset="0"/>
                <a:cs typeface="Ebrima" panose="02000000000000000000" pitchFamily="2" charset="0"/>
              </a:rPr>
              <a:t>, </a:t>
            </a:r>
            <a:r>
              <a:rPr lang="fr-FR" altLang="fr-FR" sz="1600" b="1" dirty="0" err="1" smtClean="0">
                <a:latin typeface="Candara" panose="020E0502030303020204" pitchFamily="34" charset="0"/>
                <a:ea typeface="Ebrima" panose="02000000000000000000" pitchFamily="2" charset="0"/>
                <a:cs typeface="Ebrima" panose="02000000000000000000" pitchFamily="2" charset="0"/>
              </a:rPr>
              <a:t>Kuluna</a:t>
            </a:r>
            <a:r>
              <a:rPr lang="fr-FR" altLang="fr-FR" sz="1600" b="1" dirty="0" smtClean="0">
                <a:latin typeface="Candara" panose="020E0502030303020204" pitchFamily="34" charset="0"/>
                <a:ea typeface="Ebrima" panose="02000000000000000000" pitchFamily="2" charset="0"/>
                <a:cs typeface="Ebrima" panose="02000000000000000000" pitchFamily="2" charset="0"/>
              </a:rPr>
              <a:t>),  </a:t>
            </a:r>
            <a:r>
              <a:rPr lang="fr-FR" altLang="fr-FR" sz="1600" b="1" dirty="0">
                <a:latin typeface="Candara" panose="020E0502030303020204" pitchFamily="34" charset="0"/>
                <a:ea typeface="Ebrima" panose="02000000000000000000" pitchFamily="2" charset="0"/>
                <a:cs typeface="Ebrima" panose="02000000000000000000" pitchFamily="2" charset="0"/>
              </a:rPr>
              <a:t>dans certaines aires de santé de MALUKU I et II </a:t>
            </a:r>
          </a:p>
          <a:p>
            <a:pPr marL="0" indent="0" defTabSz="685800" eaLnBrk="1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None/>
            </a:pPr>
            <a:endParaRPr lang="en-US" altLang="fr-FR" sz="1600" b="1" dirty="0">
              <a:solidFill>
                <a:srgbClr val="404040"/>
              </a:solidFill>
              <a:latin typeface="Candara" panose="020E0502030303020204" pitchFamily="34" charset="0"/>
            </a:endParaRPr>
          </a:p>
        </p:txBody>
      </p:sp>
      <p:pic>
        <p:nvPicPr>
          <p:cNvPr id="9220" name="Imag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11200"/>
            <a:ext cx="6924675" cy="6113463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re 2"/>
          <p:cNvSpPr>
            <a:spLocks noGrp="1" noChangeArrowheads="1"/>
          </p:cNvSpPr>
          <p:nvPr>
            <p:ph type="title"/>
          </p:nvPr>
        </p:nvSpPr>
        <p:spPr>
          <a:xfrm>
            <a:off x="219075" y="136525"/>
            <a:ext cx="11752263" cy="617538"/>
          </a:xfrm>
          <a:solidFill>
            <a:srgbClr val="0000FF"/>
          </a:solidFill>
        </p:spPr>
        <p:txBody>
          <a:bodyPr vert="horz" wrap="square" lIns="91440" tIns="45720" rIns="91440" bIns="45720" numCol="1" rtlCol="0" anchor="ctr" anchorCtr="0" compatLnSpc="1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ndara" panose="020E0502030303020204" pitchFamily="34" charset="0"/>
                <a:ea typeface="MS PGothic" panose="020B0600070205080204" pitchFamily="34" charset="-128"/>
                <a:cs typeface="+mj-cs"/>
              </a:rPr>
              <a:t>Logistiques 2025</a:t>
            </a:r>
            <a:r>
              <a:rPr kumimoji="0" lang="fr-FR" sz="3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ndara" panose="020E0502030303020204" pitchFamily="34" charset="0"/>
                <a:ea typeface="MS PGothic" panose="020B0600070205080204" pitchFamily="34" charset="-128"/>
                <a:cs typeface="+mj-cs"/>
              </a:rPr>
              <a:t> </a:t>
            </a:r>
            <a:r>
              <a:rPr kumimoji="0" lang="fr-FR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ndara" panose="020E0502030303020204" pitchFamily="34" charset="0"/>
                <a:ea typeface="MS PGothic" panose="020B0600070205080204" pitchFamily="34" charset="-128"/>
                <a:cs typeface="+mj-cs"/>
              </a:rPr>
              <a:t>(</a:t>
            </a:r>
            <a:r>
              <a:rPr kumimoji="0" lang="fr-FR" sz="1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Inventaires des Matériels de chaine de froid</a:t>
            </a:r>
            <a:r>
              <a:rPr kumimoji="0" lang="fr-FR" sz="1600" b="1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fr-FR" sz="1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2025)</a:t>
            </a:r>
            <a:endParaRPr kumimoji="0" lang="fr-FR" sz="13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ndara" panose="020E0502030303020204" pitchFamily="34" charset="0"/>
              <a:ea typeface="MS PGothic" panose="020B0600070205080204" pitchFamily="34" charset="-128"/>
              <a:cs typeface="+mj-cs"/>
            </a:endParaRPr>
          </a:p>
        </p:txBody>
      </p:sp>
      <p:sp>
        <p:nvSpPr>
          <p:cNvPr id="13315" name="Espace réservé du numéro de diapositive 5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 anchorCtr="0"/>
          <a:lstStyle/>
          <a:p>
            <a:pPr marL="0" indent="0"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fld id="{9A0DB2DC-4C9A-4742-B13C-FB6460FD3503}" type="slidenum">
              <a:rPr lang="fr-FR" altLang="fr-FR" sz="1400" dirty="0">
                <a:solidFill>
                  <a:srgbClr val="FFFF00"/>
                </a:solidFill>
                <a:latin typeface="Times New Roman" panose="02020603050405020304" pitchFamily="18" charset="0"/>
                <a:ea typeface="MS PGothic" panose="020B0600070205080204" pitchFamily="34" charset="-128"/>
              </a:rPr>
              <a:t>4</a:t>
            </a:fld>
            <a:endParaRPr lang="fr-FR" altLang="fr-FR" sz="1400" dirty="0">
              <a:solidFill>
                <a:srgbClr val="FFFF00"/>
              </a:solidFill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  <p:graphicFrame>
        <p:nvGraphicFramePr>
          <p:cNvPr id="6" name="Tableau 5"/>
          <p:cNvGraphicFramePr>
            <a:graphicFrameLocks noGrp="1"/>
          </p:cNvGraphicFramePr>
          <p:nvPr/>
        </p:nvGraphicFramePr>
        <p:xfrm>
          <a:off x="219075" y="877888"/>
          <a:ext cx="11752262" cy="5661022"/>
        </p:xfrm>
        <a:graphic>
          <a:graphicData uri="http://schemas.openxmlformats.org/drawingml/2006/table">
            <a:tbl>
              <a:tblPr/>
              <a:tblGrid>
                <a:gridCol w="30858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24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28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563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54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2401"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</a:rPr>
                        <a:t>Items</a:t>
                      </a:r>
                    </a:p>
                  </a:txBody>
                  <a:tcPr marL="4763" marR="4763" marT="476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800" b="1" i="0" u="none" strike="noStrike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</a:rPr>
                        <a:t>Kin-Centre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800" b="1" i="0" u="none" strike="noStrike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</a:rPr>
                        <a:t>Kin-Est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800" b="1" i="0" u="none" strike="noStrike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</a:rPr>
                        <a:t>Kin-Ouest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800" b="1" i="0" u="none" strike="noStrike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</a:rPr>
                        <a:t>DPS Kinshasa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401">
                <a:tc>
                  <a:txBody>
                    <a:bodyPr/>
                    <a:lstStyle/>
                    <a:p>
                      <a:pPr algn="l" fontAlgn="ctr"/>
                      <a:r>
                        <a:rPr lang="fr-FR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Total AS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139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119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166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24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424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9918">
                <a:tc>
                  <a:txBody>
                    <a:bodyPr/>
                    <a:lstStyle/>
                    <a:p>
                      <a:pPr algn="l" fontAlgn="ctr"/>
                      <a:r>
                        <a:rPr lang="fr-FR" sz="1800" b="1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Total Réfrigérateurs fonctionnels </a:t>
                      </a:r>
                      <a:br>
                        <a:rPr lang="fr-FR" sz="1800" b="1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fr-FR" sz="1800" b="1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(BCZ+AS)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2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143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2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125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2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138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2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406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7094">
                <a:tc>
                  <a:txBody>
                    <a:bodyPr/>
                    <a:lstStyle/>
                    <a:p>
                      <a:pPr algn="l" fontAlgn="ctr"/>
                      <a:r>
                        <a:rPr lang="fr-FR" sz="1800" b="1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Total Réfrigérateurs en panne</a:t>
                      </a:r>
                      <a:br>
                        <a:rPr lang="fr-FR" sz="1800" b="1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fr-FR" sz="1800" b="1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(BCZ+AS)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2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29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2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26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2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17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2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72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401">
                <a:tc>
                  <a:txBody>
                    <a:bodyPr/>
                    <a:lstStyle/>
                    <a:p>
                      <a:pPr algn="l" fontAlgn="ctr"/>
                      <a:r>
                        <a:rPr lang="fr-FR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Total AS sans aucun MCF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2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17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2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26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2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45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2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88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401">
                <a:tc>
                  <a:txBody>
                    <a:bodyPr/>
                    <a:lstStyle/>
                    <a:p>
                      <a:pPr algn="l" fontAlgn="ctr"/>
                      <a:r>
                        <a:rPr lang="fr-FR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CV MCF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2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88%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2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78%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2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73%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2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79%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401">
                <a:tc>
                  <a:txBody>
                    <a:bodyPr/>
                    <a:lstStyle/>
                    <a:p>
                      <a:pPr algn="l" fontAlgn="ctr"/>
                      <a:r>
                        <a:rPr lang="fr-FR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% MCF en panne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2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16%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24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17%</a:t>
                      </a:r>
                      <a:endParaRPr lang="fr-FR" sz="2400" b="1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2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24%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24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15%</a:t>
                      </a:r>
                      <a:endParaRPr lang="fr-FR" sz="2400" b="1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40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Nombre</a:t>
                      </a:r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ZS</a:t>
                      </a:r>
                      <a:r>
                        <a:rPr lang="en-US" sz="18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avec CV CDF &lt; 80%</a:t>
                      </a:r>
                      <a:endParaRPr lang="fr-FR" sz="1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2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4</a:t>
                      </a:r>
                      <a:endParaRPr lang="fr-FR" sz="2400" b="1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2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</a:t>
                      </a:r>
                      <a:endParaRPr lang="fr-FR" sz="2400" b="1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2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6</a:t>
                      </a:r>
                      <a:endParaRPr lang="fr-FR" sz="2400" b="1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2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13</a:t>
                      </a:r>
                      <a:endParaRPr lang="fr-FR" sz="2400" b="1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401">
                <a:tc>
                  <a:txBody>
                    <a:bodyPr/>
                    <a:lstStyle/>
                    <a:p>
                      <a:pPr algn="l" fontAlgn="ctr"/>
                      <a:r>
                        <a:rPr lang="fr-FR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Congélateur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2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2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2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2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32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2401">
                <a:tc>
                  <a:txBody>
                    <a:bodyPr/>
                    <a:lstStyle/>
                    <a:p>
                      <a:pPr algn="l" fontAlgn="ctr"/>
                      <a:r>
                        <a:rPr lang="fr-FR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Glacière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2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161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2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191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2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194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2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546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2401">
                <a:tc>
                  <a:txBody>
                    <a:bodyPr/>
                    <a:lstStyle/>
                    <a:p>
                      <a:pPr algn="l" fontAlgn="ctr"/>
                      <a:r>
                        <a:rPr lang="fr-FR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Porte vaccins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2400" b="1" i="0" u="none" strike="noStrike" kern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2408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2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2129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2400" b="1" i="0" u="none" strike="noStrike" kern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3048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2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7585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02401">
                <a:tc>
                  <a:txBody>
                    <a:bodyPr/>
                    <a:lstStyle/>
                    <a:p>
                      <a:pPr algn="l" fontAlgn="ctr"/>
                      <a:r>
                        <a:rPr lang="fr-FR" sz="1800" b="1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Groupe électrogène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24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</a:t>
                      </a:r>
                      <a:endParaRPr lang="fr-FR" sz="2400" b="1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24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</a:t>
                      </a:r>
                      <a:endParaRPr lang="fr-FR" sz="2400" b="1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24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</a:t>
                      </a:r>
                      <a:endParaRPr lang="fr-FR" sz="2400" b="1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24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</a:t>
                      </a:r>
                      <a:endParaRPr lang="fr-FR" sz="2400" b="1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3" name="Rectangle à coins arrondis 2"/>
          <p:cNvSpPr/>
          <p:nvPr/>
        </p:nvSpPr>
        <p:spPr>
          <a:xfrm>
            <a:off x="3521075" y="3302000"/>
            <a:ext cx="8270875" cy="1255713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3956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D39B9C7-2A92-EBB9-6D66-479FF70F4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82" y="149498"/>
            <a:ext cx="11819562" cy="462339"/>
          </a:xfrm>
          <a:solidFill>
            <a:schemeClr val="accent1"/>
          </a:solidFill>
        </p:spPr>
        <p:txBody>
          <a:bodyPr>
            <a:noAutofit/>
          </a:bodyPr>
          <a:lstStyle/>
          <a:p>
            <a:r>
              <a:rPr lang="fr-FR" sz="3600" b="1" dirty="0">
                <a:solidFill>
                  <a:srgbClr val="FFFF00"/>
                </a:solidFill>
                <a:latin typeface="Candara" panose="020E0502030303020204" pitchFamily="34" charset="0"/>
              </a:rPr>
              <a:t/>
            </a:r>
            <a:br>
              <a:rPr lang="fr-FR" sz="3600" b="1" dirty="0">
                <a:solidFill>
                  <a:srgbClr val="FFFF00"/>
                </a:solidFill>
                <a:latin typeface="Candara" panose="020E0502030303020204" pitchFamily="34" charset="0"/>
              </a:rPr>
            </a:br>
            <a:r>
              <a:rPr lang="fr-FR" sz="3600" b="1" dirty="0">
                <a:solidFill>
                  <a:srgbClr val="FFFF00"/>
                </a:solidFill>
                <a:latin typeface="Candara" panose="020E0502030303020204" pitchFamily="34" charset="0"/>
              </a:rPr>
              <a:t>1. Facteurs de succès (concrets et spécifiques à Kinshasa)</a:t>
            </a:r>
            <a:r>
              <a:rPr lang="fr-FR" sz="3600" dirty="0">
                <a:solidFill>
                  <a:srgbClr val="FFFF00"/>
                </a:solidFill>
                <a:latin typeface="Candara" panose="020E0502030303020204" pitchFamily="34" charset="0"/>
              </a:rPr>
              <a:t/>
            </a:r>
            <a:br>
              <a:rPr lang="fr-FR" sz="3600" dirty="0">
                <a:solidFill>
                  <a:srgbClr val="FFFF00"/>
                </a:solidFill>
                <a:latin typeface="Candara" panose="020E0502030303020204" pitchFamily="34" charset="0"/>
              </a:rPr>
            </a:br>
            <a:endParaRPr lang="fr-FR" sz="3600" dirty="0">
              <a:solidFill>
                <a:srgbClr val="FFFF00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769A796-87E0-677B-77B4-3ED960865E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282" y="791112"/>
            <a:ext cx="11819562" cy="5861406"/>
          </a:xfrm>
        </p:spPr>
        <p:txBody>
          <a:bodyPr>
            <a:noAutofit/>
          </a:bodyPr>
          <a:lstStyle/>
          <a:p>
            <a:r>
              <a:rPr lang="fr-FR" sz="3100" b="1" dirty="0">
                <a:latin typeface="Candara" panose="020E0502030303020204" pitchFamily="34" charset="0"/>
              </a:rPr>
              <a:t>Leadership et coordination efficaces</a:t>
            </a:r>
            <a:r>
              <a:rPr lang="fr-FR" sz="3100" dirty="0">
                <a:latin typeface="Candara" panose="020E0502030303020204" pitchFamily="34" charset="0"/>
              </a:rPr>
              <a:t> : organisation régulière des </a:t>
            </a:r>
            <a:r>
              <a:rPr lang="fr-FR" sz="2800" dirty="0">
                <a:latin typeface="Candara" panose="020E0502030303020204" pitchFamily="34" charset="0"/>
              </a:rPr>
              <a:t>revues (annuelle 2024, semestrielle S1 2025) et réunions </a:t>
            </a:r>
            <a:r>
              <a:rPr lang="fr-FR" sz="2800" dirty="0" smtClean="0">
                <a:latin typeface="Candara" panose="020E0502030303020204" pitchFamily="34" charset="0"/>
              </a:rPr>
              <a:t>entre </a:t>
            </a:r>
            <a:r>
              <a:rPr lang="fr-FR" sz="2800" dirty="0">
                <a:latin typeface="Candara" panose="020E0502030303020204" pitchFamily="34" charset="0"/>
              </a:rPr>
              <a:t>la DPS, les 3 antennes et les ZS, avec suivi régulier des indicateurs </a:t>
            </a:r>
            <a:r>
              <a:rPr lang="fr-FR" sz="2800" dirty="0" err="1">
                <a:latin typeface="Candara" panose="020E0502030303020204" pitchFamily="34" charset="0"/>
              </a:rPr>
              <a:t>Mashako</a:t>
            </a:r>
            <a:r>
              <a:rPr lang="fr-FR" sz="2800" dirty="0">
                <a:latin typeface="Candara" panose="020E0502030303020204" pitchFamily="34" charset="0"/>
              </a:rPr>
              <a:t>, des stocks de vaccins et du profil épidémiologique. </a:t>
            </a:r>
          </a:p>
          <a:p>
            <a:r>
              <a:rPr lang="fr-FR" sz="2800" b="1" dirty="0">
                <a:latin typeface="Candara" panose="020E0502030303020204" pitchFamily="34" charset="0"/>
              </a:rPr>
              <a:t>Culture de redevabilité sur les données</a:t>
            </a:r>
            <a:r>
              <a:rPr lang="fr-FR" sz="2800" dirty="0">
                <a:latin typeface="Candara" panose="020E0502030303020204" pitchFamily="34" charset="0"/>
              </a:rPr>
              <a:t> : réunions mensuelles d’analyse et de validation des données dans les antennes et ZS, feedbacks documentés, complétude DHIS2 ≈ 99 % et promptitude ≈ 94 %. </a:t>
            </a:r>
          </a:p>
          <a:p>
            <a:r>
              <a:rPr lang="fr-FR" sz="2800" b="1" dirty="0">
                <a:latin typeface="Candara" panose="020E0502030303020204" pitchFamily="34" charset="0"/>
              </a:rPr>
              <a:t>Supervisions en cascade et appui des PTF</a:t>
            </a:r>
            <a:r>
              <a:rPr lang="fr-FR" sz="2800" dirty="0">
                <a:latin typeface="Candara" panose="020E0502030303020204" pitchFamily="34" charset="0"/>
              </a:rPr>
              <a:t> : supervisions du niveau central vers les antennes, des antennes vers les ZS et des ZS vers les AS, y compris supervisions conjointes avec les partenaires, qui ont amélioré la qualité des activités du PEV. </a:t>
            </a:r>
            <a:endParaRPr lang="fr-FR" sz="3100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9320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60067-C5BC-A52C-3B72-E053D727B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97D06E7-4CE5-9B89-9C09-FD0095F942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283" y="868523"/>
            <a:ext cx="12062717" cy="4833635"/>
          </a:xfrm>
        </p:spPr>
        <p:txBody>
          <a:bodyPr>
            <a:noAutofit/>
          </a:bodyPr>
          <a:lstStyle/>
          <a:p>
            <a:r>
              <a:rPr lang="fr-FR" dirty="0"/>
              <a:t> </a:t>
            </a:r>
            <a:r>
              <a:rPr lang="fr-FR" sz="3200" b="1" dirty="0">
                <a:latin typeface="Candara" panose="020E0502030303020204" pitchFamily="34" charset="0"/>
              </a:rPr>
              <a:t>Disponibilité des vaccins : </a:t>
            </a:r>
            <a:r>
              <a:rPr lang="fr-FR" sz="3200" dirty="0">
                <a:latin typeface="Candara" panose="020E0502030303020204" pitchFamily="34" charset="0"/>
              </a:rPr>
              <a:t>Quantité suffisante de tous les antigènes à tous les niveaux , </a:t>
            </a:r>
            <a:endParaRPr lang="fr-FR" sz="3200" dirty="0" smtClean="0">
              <a:latin typeface="Candara" panose="020E0502030303020204" pitchFamily="34" charset="0"/>
            </a:endParaRPr>
          </a:p>
          <a:p>
            <a:r>
              <a:rPr lang="fr-FR" sz="3200" b="1" dirty="0" smtClean="0">
                <a:latin typeface="Candara" panose="020E0502030303020204" pitchFamily="34" charset="0"/>
              </a:rPr>
              <a:t>Renforcement </a:t>
            </a:r>
            <a:r>
              <a:rPr lang="fr-FR" sz="3200" b="1" dirty="0">
                <a:latin typeface="Candara" panose="020E0502030303020204" pitchFamily="34" charset="0"/>
              </a:rPr>
              <a:t>massif des capacités</a:t>
            </a:r>
            <a:r>
              <a:rPr lang="fr-FR" sz="3200" dirty="0">
                <a:latin typeface="Candara" panose="020E0502030303020204" pitchFamily="34" charset="0"/>
              </a:rPr>
              <a:t> : formation des équipes cadres des 33 ZS, de 395 infirmiers titulaires et 395 présidents CODESA en gestion PEV, ainsi que de 422 ITAS à l’encodage direct dans DHIS2, ce qui a amélioré la qualité et la promptitude des données. 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CA54A468-11D3-4B33-C154-732924A32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82" y="205482"/>
            <a:ext cx="11819562" cy="462339"/>
          </a:xfrm>
          <a:solidFill>
            <a:schemeClr val="accent1"/>
          </a:solidFill>
        </p:spPr>
        <p:txBody>
          <a:bodyPr>
            <a:noAutofit/>
          </a:bodyPr>
          <a:lstStyle/>
          <a:p>
            <a:r>
              <a:rPr lang="fr-FR" sz="3600" b="1" dirty="0">
                <a:solidFill>
                  <a:srgbClr val="FFFF00"/>
                </a:solidFill>
                <a:latin typeface="Candara" panose="020E0502030303020204" pitchFamily="34" charset="0"/>
              </a:rPr>
              <a:t/>
            </a:r>
            <a:br>
              <a:rPr lang="fr-FR" sz="3600" b="1" dirty="0">
                <a:solidFill>
                  <a:srgbClr val="FFFF00"/>
                </a:solidFill>
                <a:latin typeface="Candara" panose="020E0502030303020204" pitchFamily="34" charset="0"/>
              </a:rPr>
            </a:br>
            <a:r>
              <a:rPr lang="fr-FR" sz="3600" b="1" dirty="0">
                <a:solidFill>
                  <a:srgbClr val="FFFF00"/>
                </a:solidFill>
                <a:latin typeface="Candara" panose="020E0502030303020204" pitchFamily="34" charset="0"/>
              </a:rPr>
              <a:t>1. Facteurs de succès (concrets et spécifiques à Kinshasa)</a:t>
            </a:r>
            <a:r>
              <a:rPr lang="fr-FR" sz="3600" dirty="0">
                <a:solidFill>
                  <a:srgbClr val="FFFF00"/>
                </a:solidFill>
                <a:latin typeface="Candara" panose="020E0502030303020204" pitchFamily="34" charset="0"/>
              </a:rPr>
              <a:t/>
            </a:r>
            <a:br>
              <a:rPr lang="fr-FR" sz="3600" dirty="0">
                <a:solidFill>
                  <a:srgbClr val="FFFF00"/>
                </a:solidFill>
                <a:latin typeface="Candara" panose="020E0502030303020204" pitchFamily="34" charset="0"/>
              </a:rPr>
            </a:br>
            <a:endParaRPr lang="fr-FR" sz="36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1999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D643E-21CB-C111-4686-87BE95946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>
            <a:extLst>
              <a:ext uri="{FF2B5EF4-FFF2-40B4-BE49-F238E27FC236}">
                <a16:creationId xmlns:a16="http://schemas.microsoft.com/office/drawing/2014/main" id="{DCD7B8D6-F264-1498-F0EE-3EE7CD4AF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82" y="205482"/>
            <a:ext cx="11819562" cy="462339"/>
          </a:xfrm>
          <a:solidFill>
            <a:schemeClr val="accent1"/>
          </a:solidFill>
        </p:spPr>
        <p:txBody>
          <a:bodyPr>
            <a:noAutofit/>
          </a:bodyPr>
          <a:lstStyle/>
          <a:p>
            <a:pPr algn="l"/>
            <a:r>
              <a:rPr lang="fr-FR" sz="3600" b="1" dirty="0" smtClean="0">
                <a:solidFill>
                  <a:srgbClr val="FFFF00"/>
                </a:solidFill>
                <a:latin typeface="Candara" panose="020E0502030303020204" pitchFamily="34" charset="0"/>
              </a:rPr>
              <a:t/>
            </a:r>
            <a:br>
              <a:rPr lang="fr-FR" sz="3600" b="1" dirty="0" smtClean="0">
                <a:solidFill>
                  <a:srgbClr val="FFFF00"/>
                </a:solidFill>
                <a:latin typeface="Candara" panose="020E0502030303020204" pitchFamily="34" charset="0"/>
              </a:rPr>
            </a:br>
            <a:r>
              <a:rPr lang="fr-FR" b="1" dirty="0" smtClean="0">
                <a:solidFill>
                  <a:srgbClr val="FFFF00"/>
                </a:solidFill>
              </a:rPr>
              <a:t>2</a:t>
            </a:r>
            <a:r>
              <a:rPr lang="fr-FR" b="1" dirty="0">
                <a:solidFill>
                  <a:srgbClr val="FFFF00"/>
                </a:solidFill>
              </a:rPr>
              <a:t>. Défis </a:t>
            </a:r>
            <a:r>
              <a:rPr lang="fr-FR" b="1" dirty="0" smtClean="0">
                <a:solidFill>
                  <a:srgbClr val="FFFF00"/>
                </a:solidFill>
              </a:rPr>
              <a:t>majeurs issus des bonnes pratiques</a:t>
            </a:r>
            <a:r>
              <a:rPr lang="fr-FR" dirty="0">
                <a:solidFill>
                  <a:srgbClr val="FFFF00"/>
                </a:solidFill>
              </a:rPr>
              <a:t/>
            </a:r>
            <a:br>
              <a:rPr lang="fr-FR" dirty="0">
                <a:solidFill>
                  <a:srgbClr val="FFFF00"/>
                </a:solidFill>
              </a:rPr>
            </a:br>
            <a:endParaRPr lang="fr-FR" sz="3600" dirty="0">
              <a:solidFill>
                <a:srgbClr val="FFFF00"/>
              </a:solidFill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0A002DD7-C116-363C-0741-5C39AF29A1CC}"/>
              </a:ext>
            </a:extLst>
          </p:cNvPr>
          <p:cNvSpPr txBox="1"/>
          <p:nvPr/>
        </p:nvSpPr>
        <p:spPr>
          <a:xfrm>
            <a:off x="129282" y="811658"/>
            <a:ext cx="11953127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400" b="1" dirty="0"/>
              <a:t>Nombre important d’enfants zéro dose et sous-vaccinés</a:t>
            </a:r>
            <a:r>
              <a:rPr lang="fr-FR" sz="2400" dirty="0"/>
              <a:t>, notamment dans les zones périphériques, fluviales et les îlots, avec en plus les poches d’insécurité (</a:t>
            </a:r>
            <a:r>
              <a:rPr lang="fr-FR" sz="2400" dirty="0" err="1"/>
              <a:t>Mobondo</a:t>
            </a:r>
            <a:r>
              <a:rPr lang="fr-FR" sz="2400" dirty="0"/>
              <a:t>, </a:t>
            </a:r>
            <a:r>
              <a:rPr lang="fr-FR" sz="2400" dirty="0" err="1"/>
              <a:t>Kuluna</a:t>
            </a:r>
            <a:r>
              <a:rPr lang="fr-FR" sz="2400" dirty="0"/>
              <a:t>) et les sectes réfractaires.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400" b="1" dirty="0"/>
              <a:t>Fonctionnement irrégulier de </a:t>
            </a:r>
            <a:r>
              <a:rPr lang="fr-FR" sz="2400" b="1" dirty="0" err="1" smtClean="0"/>
              <a:t>CCPeV</a:t>
            </a:r>
            <a:r>
              <a:rPr lang="fr-FR" sz="2400" dirty="0" smtClean="0"/>
              <a:t> </a:t>
            </a:r>
            <a:r>
              <a:rPr lang="fr-FR" sz="2400" dirty="0"/>
              <a:t>et faible performance de certains cadres de coordination à la base.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400" b="1" dirty="0"/>
              <a:t>Persistance de la faible Qualité des données</a:t>
            </a:r>
            <a:r>
              <a:rPr lang="fr-FR" sz="2400" dirty="0"/>
              <a:t>, malgré une bonne complétude : incohérences résiduelles et utilisation limitée des données pour la décision dans certaines ZS/AS.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400" b="1" dirty="0"/>
              <a:t>Supervisions </a:t>
            </a:r>
            <a:r>
              <a:rPr lang="fr-FR" sz="2400" b="1" dirty="0" err="1"/>
              <a:t>Mashako</a:t>
            </a:r>
            <a:r>
              <a:rPr lang="fr-FR" sz="2400" b="1" dirty="0"/>
              <a:t> 3.0 pas toujours assez formatives</a:t>
            </a:r>
            <a:r>
              <a:rPr lang="fr-FR" sz="2400" dirty="0"/>
              <a:t>, parfois plus centrées sur le contrôle que sur l’accompagnement avec des plans d’amélioration suivis.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400" b="1" dirty="0"/>
              <a:t>Prestataires non formés en gestion PEV</a:t>
            </a:r>
            <a:r>
              <a:rPr lang="fr-FR" sz="2400" dirty="0"/>
              <a:t> dans certaines ZS (</a:t>
            </a:r>
            <a:r>
              <a:rPr lang="fr-FR" sz="2400" dirty="0" err="1"/>
              <a:t>Maluku</a:t>
            </a:r>
            <a:r>
              <a:rPr lang="fr-FR" sz="2400" dirty="0"/>
              <a:t> 1 et 2) et faible sécurisation des agents formés, en particulier dans le secteur privé.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400" b="1" dirty="0"/>
              <a:t>Leadership MCZ faible, </a:t>
            </a:r>
            <a:r>
              <a:rPr lang="fr-FR" sz="2400" b="1" dirty="0" smtClean="0"/>
              <a:t>dans la mise en œuvre des activités de vaccination</a:t>
            </a:r>
            <a:endParaRPr lang="fr-FR" sz="24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400" b="1" dirty="0"/>
              <a:t>Insuffisance dans la gestion des stocks : </a:t>
            </a:r>
            <a:r>
              <a:rPr lang="fr-FR" sz="2400" dirty="0"/>
              <a:t>irrégularité de la mise à jour des inventaires physiques hebdomadaires et des fiches de stock par antigènes </a:t>
            </a:r>
          </a:p>
        </p:txBody>
      </p:sp>
    </p:spTree>
    <p:extLst>
      <p:ext uri="{BB962C8B-B14F-4D97-AF65-F5344CB8AC3E}">
        <p14:creationId xmlns:p14="http://schemas.microsoft.com/office/powerpoint/2010/main" val="509506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09177-5416-547C-E56D-648AE1C2E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>
            <a:extLst>
              <a:ext uri="{FF2B5EF4-FFF2-40B4-BE49-F238E27FC236}">
                <a16:creationId xmlns:a16="http://schemas.microsoft.com/office/drawing/2014/main" id="{7B5E5946-578C-8829-01AC-943D419C1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064" y="154112"/>
            <a:ext cx="11819562" cy="657546"/>
          </a:xfrm>
          <a:solidFill>
            <a:schemeClr val="accent1"/>
          </a:solidFill>
        </p:spPr>
        <p:txBody>
          <a:bodyPr>
            <a:noAutofit/>
          </a:bodyPr>
          <a:lstStyle/>
          <a:p>
            <a:pPr algn="l"/>
            <a:r>
              <a:rPr lang="fr-FR" sz="3600" b="1" dirty="0">
                <a:solidFill>
                  <a:srgbClr val="FFFF00"/>
                </a:solidFill>
                <a:latin typeface="Candara" panose="020E0502030303020204" pitchFamily="34" charset="0"/>
              </a:rPr>
              <a:t/>
            </a:r>
            <a:br>
              <a:rPr lang="fr-FR" sz="3600" b="1" dirty="0">
                <a:solidFill>
                  <a:srgbClr val="FFFF00"/>
                </a:solidFill>
                <a:latin typeface="Candara" panose="020E0502030303020204" pitchFamily="34" charset="0"/>
              </a:rPr>
            </a:br>
            <a:r>
              <a:rPr lang="fr-FR" sz="3600" b="1" dirty="0">
                <a:solidFill>
                  <a:srgbClr val="FFFF00"/>
                </a:solidFill>
                <a:latin typeface="Candara" panose="020E0502030303020204" pitchFamily="34" charset="0"/>
              </a:rPr>
              <a:t/>
            </a:r>
            <a:br>
              <a:rPr lang="fr-FR" sz="3600" b="1" dirty="0">
                <a:solidFill>
                  <a:srgbClr val="FFFF00"/>
                </a:solidFill>
                <a:latin typeface="Candara" panose="020E0502030303020204" pitchFamily="34" charset="0"/>
              </a:rPr>
            </a:br>
            <a:r>
              <a:rPr lang="fr-FR" b="1" dirty="0">
                <a:solidFill>
                  <a:srgbClr val="FFFF00"/>
                </a:solidFill>
              </a:rPr>
              <a:t>3. Recommandations prioritaires</a:t>
            </a:r>
            <a:r>
              <a:rPr lang="fr-FR" dirty="0">
                <a:solidFill>
                  <a:srgbClr val="FFFF00"/>
                </a:solidFill>
              </a:rPr>
              <a:t/>
            </a:r>
            <a:br>
              <a:rPr lang="fr-FR" dirty="0">
                <a:solidFill>
                  <a:srgbClr val="FFFF00"/>
                </a:solidFill>
              </a:rPr>
            </a:br>
            <a:r>
              <a:rPr lang="fr-FR" dirty="0">
                <a:solidFill>
                  <a:srgbClr val="FFFF00"/>
                </a:solidFill>
              </a:rPr>
              <a:t/>
            </a:r>
            <a:br>
              <a:rPr lang="fr-FR" dirty="0">
                <a:solidFill>
                  <a:srgbClr val="FFFF00"/>
                </a:solidFill>
              </a:rPr>
            </a:br>
            <a:endParaRPr lang="fr-FR" sz="3600" dirty="0">
              <a:solidFill>
                <a:srgbClr val="FFFF00"/>
              </a:solidFill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0507EEB3-7A3A-E603-56ED-B0B2C9497853}"/>
              </a:ext>
            </a:extLst>
          </p:cNvPr>
          <p:cNvSpPr txBox="1"/>
          <p:nvPr/>
        </p:nvSpPr>
        <p:spPr>
          <a:xfrm>
            <a:off x="196064" y="856357"/>
            <a:ext cx="11953127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200" b="1" dirty="0"/>
              <a:t>Maintenir et institutionnaliser</a:t>
            </a:r>
            <a:r>
              <a:rPr lang="fr-FR" sz="2200" dirty="0"/>
              <a:t> les revues, réunions hebdomadaires de coordination et monitorage mensuel, avec un suivi rigoureux des recommandations à tous les niveaux.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200" b="1" dirty="0"/>
              <a:t>Renforcer la micro-planification pour rattraper les ZD et SV</a:t>
            </a:r>
            <a:r>
              <a:rPr lang="fr-FR" sz="2200" dirty="0"/>
              <a:t> : cartographie fine des AS, listings nominaux, stratégies avancées et à base communautaire, ciblage des zones fluviales, îlots et quartiers à risque.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200" b="1" dirty="0"/>
              <a:t>Intensifier la mobilisation communautaire</a:t>
            </a:r>
            <a:r>
              <a:rPr lang="fr-FR" sz="2200" dirty="0"/>
              <a:t> en impliquant davantage les autorités politiques, les leaders religieux (y compris les sectes réfractaires) et les leaders communautaires des zones d’insécurité.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200" b="1" dirty="0"/>
              <a:t>Améliorer la qualité des données</a:t>
            </a:r>
            <a:r>
              <a:rPr lang="fr-FR" sz="2200" dirty="0"/>
              <a:t> par le coaching continu des ITAS/ECZ en DHIS2, la vérification outils–DHIS2 lors des supervisions et l’utilisation systématique des tableaux de bord </a:t>
            </a:r>
            <a:r>
              <a:rPr lang="fr-FR" sz="2200" dirty="0" err="1"/>
              <a:t>Mashako</a:t>
            </a:r>
            <a:r>
              <a:rPr lang="fr-FR" sz="2200" dirty="0"/>
              <a:t> dans les réunions d’analyse.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200" b="1" dirty="0"/>
              <a:t>Renforcer la chaîne de froid et la logistique</a:t>
            </a:r>
            <a:r>
              <a:rPr lang="fr-FR" sz="2200" dirty="0"/>
              <a:t> : remplacement des réfrigérateurs en panne, dotation des AS non équipées, supervisions logistiques trimestrielles et suivi hebdomadaire des inventaires.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200" b="1" dirty="0"/>
              <a:t>Poursuivre et étendre les formations</a:t>
            </a:r>
            <a:r>
              <a:rPr lang="fr-FR" sz="2200" dirty="0"/>
              <a:t> en gestion PEV, </a:t>
            </a:r>
            <a:r>
              <a:rPr lang="fr-FR" sz="2200" dirty="0" err="1"/>
              <a:t>Mashako</a:t>
            </a:r>
            <a:r>
              <a:rPr lang="fr-FR" sz="2200" dirty="0"/>
              <a:t> 3.0 et DHIS2 aux vaccinateurs des ESS, avec des mesures pour stabiliser le personnel formé. </a:t>
            </a:r>
          </a:p>
        </p:txBody>
      </p:sp>
    </p:spTree>
    <p:extLst>
      <p:ext uri="{BB962C8B-B14F-4D97-AF65-F5344CB8AC3E}">
        <p14:creationId xmlns:p14="http://schemas.microsoft.com/office/powerpoint/2010/main" val="336441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fr-FR" sz="4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3.RESULTATS COMPARES AUX CIBLES</a:t>
            </a:r>
            <a:endParaRPr lang="fr-FR" sz="4000" b="1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Google Shape;187;g3aabd3d1b2d_0_300"/>
          <p:cNvSpPr/>
          <p:nvPr/>
        </p:nvSpPr>
        <p:spPr>
          <a:xfrm>
            <a:off x="32385" y="3101166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4135604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aabd3d1b2d_0_300"/>
          <p:cNvSpPr txBox="1"/>
          <p:nvPr/>
        </p:nvSpPr>
        <p:spPr>
          <a:xfrm>
            <a:off x="458549" y="112207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fr-FR" sz="2700" dirty="0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3.1. Indicateurs </a:t>
            </a:r>
            <a:r>
              <a:rPr lang="fr-FR" sz="2700" dirty="0" err="1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Mashako</a:t>
            </a: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87" name="Google Shape;187;g3aabd3d1b2d_0_300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88" name="Google Shape;188;g3aabd3d1b2d_0_300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89" name="Google Shape;189;g3aabd3d1b2d_0_300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10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90" name="Google Shape;190;g3aabd3d1b2d_0_300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3" name="Graphique 2"/>
          <p:cNvGraphicFramePr/>
          <p:nvPr/>
        </p:nvGraphicFramePr>
        <p:xfrm>
          <a:off x="162271" y="678093"/>
          <a:ext cx="11867457" cy="59995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5" name="Connecteur droit avec flèche 4"/>
          <p:cNvCxnSpPr/>
          <p:nvPr/>
        </p:nvCxnSpPr>
        <p:spPr>
          <a:xfrm>
            <a:off x="870155" y="2094271"/>
            <a:ext cx="11159573" cy="14748"/>
          </a:xfrm>
          <a:prstGeom prst="straightConnector1">
            <a:avLst/>
          </a:prstGeom>
          <a:ln w="76200">
            <a:solidFill>
              <a:srgbClr val="FF0000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aabd3d1b2d_0_300"/>
          <p:cNvSpPr txBox="1"/>
          <p:nvPr/>
        </p:nvSpPr>
        <p:spPr>
          <a:xfrm>
            <a:off x="458549" y="218699"/>
            <a:ext cx="11274900" cy="440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 dirty="0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3.2. </a:t>
            </a:r>
            <a:r>
              <a:rPr lang="en-US" sz="2700" dirty="0" err="1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Résultats</a:t>
            </a:r>
            <a:r>
              <a:rPr lang="en-US" sz="2700" dirty="0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700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comparés</a:t>
            </a:r>
            <a:r>
              <a:rPr 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aux </a:t>
            </a:r>
            <a:r>
              <a:rPr lang="en-US" sz="2700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cibles</a:t>
            </a: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87" name="Google Shape;187;g3aabd3d1b2d_0_300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88" name="Google Shape;188;g3aabd3d1b2d_0_300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89" name="Google Shape;189;g3aabd3d1b2d_0_300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11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90" name="Google Shape;190;g3aabd3d1b2d_0_300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" name="TextBox 7"/>
          <p:cNvSpPr txBox="1"/>
          <p:nvPr/>
        </p:nvSpPr>
        <p:spPr>
          <a:xfrm>
            <a:off x="267700" y="727449"/>
            <a:ext cx="11619200" cy="11079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ko-KR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ndara" panose="020E0502030303020204" pitchFamily="34" charset="0"/>
                <a:ea typeface="Arial Unicode MS" panose="020B0604020202020204" charset="-122"/>
                <a:cs typeface="Arial" panose="020B0604020202020204" pitchFamily="34" charset="0"/>
              </a:rPr>
              <a:t> PEV dans les 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ndara" panose="020E0502030303020204" pitchFamily="34" charset="0"/>
                <a:ea typeface="Arial Unicode MS" panose="020B0604020202020204" charset="-122"/>
                <a:cs typeface="Arial" panose="020B0604020202020204" pitchFamily="34" charset="0"/>
              </a:rPr>
              <a:t>35 ZS</a:t>
            </a:r>
            <a:r>
              <a:rPr kumimoji="0" lang="en-US" altLang="ko-KR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ndara" panose="020E0502030303020204" pitchFamily="34" charset="0"/>
                <a:ea typeface="Arial Unicode MS" panose="020B0604020202020204" charset="-122"/>
                <a:cs typeface="Arial" panose="020B0604020202020204" pitchFamily="34" charset="0"/>
              </a:rPr>
              <a:t> , 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ndara" panose="020E0502030303020204" pitchFamily="34" charset="0"/>
                <a:ea typeface="Arial Unicode MS" panose="020B0604020202020204" charset="-122"/>
                <a:cs typeface="Arial" panose="020B0604020202020204" pitchFamily="34" charset="0"/>
              </a:rPr>
              <a:t>424</a:t>
            </a:r>
            <a:r>
              <a:rPr kumimoji="0" lang="en-US" altLang="ko-KR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ndara" panose="020E0502030303020204" pitchFamily="34" charset="0"/>
                <a:ea typeface="Arial Unicode MS" panose="020B0604020202020204" charset="-122"/>
                <a:cs typeface="Arial" panose="020B0604020202020204" pitchFamily="34" charset="0"/>
              </a:rPr>
              <a:t> Aires de santé, </a:t>
            </a:r>
            <a:r>
              <a:rPr lang="fr-FR" sz="2200" b="1" noProof="0" dirty="0" smtClean="0">
                <a:latin typeface="Candara" panose="020E0502030303020204" pitchFamily="34" charset="0"/>
                <a:ea typeface="Ebrima" panose="02000000000000000000" pitchFamily="2" charset="0"/>
                <a:cs typeface="Ebrima" panose="02000000000000000000" pitchFamily="2" charset="0"/>
              </a:rPr>
              <a:t>1837 ESS</a:t>
            </a:r>
            <a:r>
              <a:rPr kumimoji="0" lang="en-US" altLang="ko-KR" sz="2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ndara" panose="020E0502030303020204" pitchFamily="34" charset="0"/>
                <a:ea typeface="Arial Unicode MS" panose="020B0604020202020204" charset="-122"/>
                <a:cs typeface="Arial" panose="020B0604020202020204" pitchFamily="34" charset="0"/>
              </a:rPr>
              <a:t> </a:t>
            </a:r>
            <a:r>
              <a:rPr kumimoji="0" lang="en-US" altLang="ko-KR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ndara" panose="020E0502030303020204" pitchFamily="34" charset="0"/>
                <a:ea typeface="Arial Unicode MS" panose="020B0604020202020204" charset="-122"/>
                <a:cs typeface="Arial" panose="020B0604020202020204" pitchFamily="34" charset="0"/>
              </a:rPr>
              <a:t>qui </a:t>
            </a:r>
            <a:r>
              <a:rPr kumimoji="0" lang="en-US" altLang="ko-KR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ndara" panose="020E0502030303020204" pitchFamily="34" charset="0"/>
                <a:ea typeface="Arial Unicode MS" panose="020B0604020202020204" charset="-122"/>
                <a:cs typeface="Arial" panose="020B0604020202020204" pitchFamily="34" charset="0"/>
              </a:rPr>
              <a:t>vaccinent</a:t>
            </a:r>
            <a:endParaRPr kumimoji="0" lang="en-US" altLang="ko-KR" sz="2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ndara" panose="020E0502030303020204" pitchFamily="34" charset="0"/>
              <a:ea typeface="Arial Unicode MS" panose="020B0604020202020204" charset="-122"/>
              <a:cs typeface="Arial" panose="020B06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ko-KR" sz="2200" dirty="0">
                <a:solidFill>
                  <a:prstClr val="black">
                    <a:lumMod val="75000"/>
                    <a:lumOff val="25000"/>
                  </a:prstClr>
                </a:solidFill>
                <a:latin typeface="Candara" panose="020E0502030303020204" pitchFamily="34" charset="0"/>
                <a:ea typeface="Arial Unicode MS" panose="020B0604020202020204" charset="-122"/>
                <a:cs typeface="Arial" panose="020B0604020202020204" pitchFamily="34" charset="0"/>
              </a:rPr>
              <a:t>Implementation de la stratégie </a:t>
            </a:r>
            <a:r>
              <a:rPr lang="en-US" altLang="ko-KR" sz="2200" b="1" dirty="0" err="1">
                <a:solidFill>
                  <a:prstClr val="black">
                    <a:lumMod val="75000"/>
                    <a:lumOff val="25000"/>
                  </a:prstClr>
                </a:solidFill>
                <a:latin typeface="Candara" panose="020E0502030303020204" pitchFamily="34" charset="0"/>
                <a:ea typeface="Arial Unicode MS" panose="020B0604020202020204" charset="-122"/>
                <a:cs typeface="Arial" panose="020B0604020202020204" pitchFamily="34" charset="0"/>
              </a:rPr>
              <a:t>fluviale</a:t>
            </a:r>
            <a:r>
              <a:rPr lang="en-US" altLang="ko-KR" sz="2200" b="1" dirty="0">
                <a:solidFill>
                  <a:prstClr val="black">
                    <a:lumMod val="75000"/>
                    <a:lumOff val="25000"/>
                  </a:prstClr>
                </a:solidFill>
                <a:latin typeface="Candara" panose="020E0502030303020204" pitchFamily="34" charset="0"/>
                <a:ea typeface="Arial Unicode MS" panose="020B0604020202020204" charset="-122"/>
                <a:cs typeface="Arial" panose="020B0604020202020204" pitchFamily="34" charset="0"/>
              </a:rPr>
              <a:t> dans 5 zones </a:t>
            </a:r>
            <a:r>
              <a:rPr lang="en-US" altLang="ko-KR" sz="2200" dirty="0">
                <a:solidFill>
                  <a:prstClr val="black">
                    <a:lumMod val="75000"/>
                    <a:lumOff val="25000"/>
                  </a:prstClr>
                </a:solidFill>
                <a:latin typeface="Candara" panose="020E0502030303020204" pitchFamily="34" charset="0"/>
                <a:ea typeface="Arial Unicode MS" panose="020B0604020202020204" charset="-122"/>
                <a:cs typeface="Arial" panose="020B0604020202020204" pitchFamily="34" charset="0"/>
              </a:rPr>
              <a:t>de santé avec les </a:t>
            </a:r>
            <a:r>
              <a:rPr lang="fr-FR" altLang="ko-KR" sz="2200" dirty="0">
                <a:solidFill>
                  <a:prstClr val="black">
                    <a:lumMod val="75000"/>
                    <a:lumOff val="25000"/>
                  </a:prstClr>
                </a:solidFill>
                <a:latin typeface="Candara" panose="020E0502030303020204" pitchFamily="34" charset="0"/>
                <a:ea typeface="Arial Unicode MS" panose="020B0604020202020204" charset="-122"/>
                <a:cs typeface="Arial" panose="020B0604020202020204" pitchFamily="34" charset="0"/>
              </a:rPr>
              <a:t>îlots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fr-FR" altLang="ko-KR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ndara" panose="020E0502030303020204" pitchFamily="34" charset="0"/>
                <a:ea typeface="Arial Unicode MS" panose="020B0604020202020204" charset="-122"/>
                <a:cs typeface="Arial" panose="020B0604020202020204" pitchFamily="34" charset="0"/>
              </a:rPr>
              <a:t>Implémentation des </a:t>
            </a:r>
            <a:r>
              <a:rPr kumimoji="0" lang="fr-FR" altLang="ko-KR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ndara" panose="020E0502030303020204" pitchFamily="34" charset="0"/>
                <a:ea typeface="Arial Unicode MS" panose="020B0604020202020204" charset="-122"/>
                <a:cs typeface="Arial" panose="020B0604020202020204" pitchFamily="34" charset="0"/>
              </a:rPr>
              <a:t>OVM dans 35 zones de santé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35500" y="2030504"/>
            <a:ext cx="11672500" cy="14465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ko-KR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ndara" panose="020E0502030303020204" pitchFamily="34" charset="0"/>
                <a:ea typeface="Arial Unicode MS" panose="020B0604020202020204" charset="-122"/>
                <a:cs typeface="Arial" panose="020B0604020202020204" pitchFamily="34" charset="0"/>
              </a:rPr>
              <a:t> </a:t>
            </a:r>
            <a:r>
              <a:rPr kumimoji="0" lang="fr-FR" altLang="ko-KR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ndara" panose="020E0502030303020204" pitchFamily="34" charset="0"/>
                <a:ea typeface="Arial Unicode MS" panose="020B0604020202020204" charset="-122"/>
                <a:cs typeface="Arial" panose="020B0604020202020204" pitchFamily="34" charset="0"/>
              </a:rPr>
              <a:t>La Promptitude globale de rapportage des données DHIS2: 94%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fr-FR" altLang="ko-KR" sz="2200" kern="1200" dirty="0">
                <a:solidFill>
                  <a:prstClr val="black">
                    <a:lumMod val="75000"/>
                    <a:lumOff val="25000"/>
                  </a:prstClr>
                </a:solidFill>
                <a:latin typeface="Candara" panose="020E0502030303020204" pitchFamily="34" charset="0"/>
                <a:ea typeface="Arial Unicode MS" panose="020B0604020202020204" charset="-122"/>
                <a:cs typeface="Arial" panose="020B0604020202020204" pitchFamily="34" charset="0"/>
              </a:rPr>
              <a:t>La complétude globale de rapportage des données DHIS2: 99%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fr-FR" altLang="ko-KR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ndara" panose="020E0502030303020204" pitchFamily="34" charset="0"/>
                <a:ea typeface="Arial Unicode MS" panose="020B0604020202020204" charset="-122"/>
                <a:cs typeface="Arial" panose="020B0604020202020204" pitchFamily="34" charset="0"/>
              </a:rPr>
              <a:t>Complétude des données de la Stratégie Fluviale: 90%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fr-FR" altLang="ko-KR" sz="2200" kern="1200" dirty="0">
                <a:solidFill>
                  <a:prstClr val="black">
                    <a:lumMod val="75000"/>
                    <a:lumOff val="25000"/>
                  </a:prstClr>
                </a:solidFill>
                <a:latin typeface="Candara" panose="020E0502030303020204" pitchFamily="34" charset="0"/>
                <a:ea typeface="Arial Unicode MS" panose="020B0604020202020204" charset="-122"/>
                <a:cs typeface="Arial" panose="020B0604020202020204" pitchFamily="34" charset="0"/>
              </a:rPr>
              <a:t>Complétude des données OVM: 64%</a:t>
            </a:r>
            <a:endParaRPr kumimoji="0" lang="en-US" altLang="ko-KR" sz="2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ndara" panose="020E0502030303020204" pitchFamily="34" charset="0"/>
              <a:ea typeface="Arial Unicode MS" panose="020B0604020202020204" charset="-122"/>
              <a:cs typeface="Arial" panose="020B0604020202020204" pitchFamily="34" charset="0"/>
            </a:endParaRPr>
          </a:p>
        </p:txBody>
      </p:sp>
      <p:sp>
        <p:nvSpPr>
          <p:cNvPr id="2" name="TextBox 7"/>
          <p:cNvSpPr txBox="1"/>
          <p:nvPr/>
        </p:nvSpPr>
        <p:spPr>
          <a:xfrm>
            <a:off x="255630" y="3587791"/>
            <a:ext cx="11631270" cy="110799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ndara" panose="020E0502030303020204" pitchFamily="34" charset="0"/>
                <a:ea typeface="Arial Unicode MS" panose="020B0604020202020204" charset="-122"/>
                <a:cs typeface="Arial" panose="020B0604020202020204" pitchFamily="34" charset="0"/>
              </a:rPr>
              <a:t> </a:t>
            </a:r>
            <a:r>
              <a:rPr kumimoji="0" lang="fr-FR" altLang="ko-KR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ndara" panose="020E0502030303020204" pitchFamily="34" charset="0"/>
                <a:ea typeface="Arial Unicode MS" panose="020B0604020202020204" charset="-122"/>
                <a:cs typeface="Arial" panose="020B0604020202020204" pitchFamily="34" charset="0"/>
              </a:rPr>
              <a:t>62568 </a:t>
            </a:r>
            <a:r>
              <a:rPr kumimoji="0" lang="fr-FR" altLang="ko-KR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ndara" panose="020E0502030303020204" pitchFamily="34" charset="0"/>
                <a:ea typeface="Arial Unicode MS" panose="020B0604020202020204" charset="-122"/>
                <a:cs typeface="Arial" panose="020B0604020202020204" pitchFamily="34" charset="0"/>
              </a:rPr>
              <a:t>séances de vaccination planifiées contre </a:t>
            </a:r>
            <a:r>
              <a:rPr kumimoji="0" lang="fr-FR" altLang="ko-KR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ndara" panose="020E0502030303020204" pitchFamily="34" charset="0"/>
                <a:ea typeface="Arial Unicode MS" panose="020B0604020202020204" charset="-122"/>
                <a:cs typeface="Arial" panose="020B0604020202020204" pitchFamily="34" charset="0"/>
              </a:rPr>
              <a:t>116.910</a:t>
            </a:r>
            <a:r>
              <a:rPr kumimoji="0" lang="fr-FR" altLang="ko-KR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ndara" panose="020E0502030303020204" pitchFamily="34" charset="0"/>
                <a:ea typeface="Arial Unicode MS" panose="020B0604020202020204" charset="-122"/>
                <a:cs typeface="Arial" panose="020B0604020202020204" pitchFamily="34" charset="0"/>
              </a:rPr>
              <a:t> séances requises (Voir poids démographique  soit </a:t>
            </a:r>
            <a:r>
              <a:rPr kumimoji="0" lang="fr-FR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ndara" panose="020E0502030303020204" pitchFamily="34" charset="0"/>
                <a:ea typeface="Arial Unicode MS" panose="020B0604020202020204" charset="-122"/>
                <a:cs typeface="Arial" panose="020B0604020202020204" pitchFamily="34" charset="0"/>
              </a:rPr>
              <a:t>53,5% 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fr-FR" altLang="ko-KR" sz="2200" b="1" kern="1200" dirty="0">
                <a:solidFill>
                  <a:schemeClr val="tx1"/>
                </a:solidFill>
                <a:latin typeface="Candara" panose="020E0502030303020204" pitchFamily="34" charset="0"/>
                <a:ea typeface="Arial Unicode MS" panose="020B0604020202020204" charset="-122"/>
                <a:cs typeface="Arial" panose="020B0604020202020204" pitchFamily="34" charset="0"/>
              </a:rPr>
              <a:t>60612 </a:t>
            </a:r>
            <a:r>
              <a:rPr lang="fr-FR" altLang="ko-KR" sz="2200" kern="1200" dirty="0">
                <a:solidFill>
                  <a:prstClr val="black">
                    <a:lumMod val="75000"/>
                    <a:lumOff val="25000"/>
                  </a:prstClr>
                </a:solidFill>
                <a:latin typeface="Candara" panose="020E0502030303020204" pitchFamily="34" charset="0"/>
                <a:ea typeface="Arial Unicode MS" panose="020B0604020202020204" charset="-122"/>
                <a:cs typeface="Arial" panose="020B0604020202020204" pitchFamily="34" charset="0"/>
              </a:rPr>
              <a:t>séances réalisées soit </a:t>
            </a:r>
            <a:r>
              <a:rPr lang="fr-FR" altLang="ko-KR" sz="2200" b="1" kern="1200" dirty="0">
                <a:solidFill>
                  <a:prstClr val="black">
                    <a:lumMod val="75000"/>
                    <a:lumOff val="25000"/>
                  </a:prstClr>
                </a:solidFill>
                <a:latin typeface="Candara" panose="020E0502030303020204" pitchFamily="34" charset="0"/>
                <a:ea typeface="Arial Unicode MS" panose="020B0604020202020204" charset="-122"/>
                <a:cs typeface="Arial" panose="020B0604020202020204" pitchFamily="34" charset="0"/>
              </a:rPr>
              <a:t>96,9%</a:t>
            </a:r>
            <a:r>
              <a:rPr lang="fr-FR" altLang="ko-KR" sz="2200" kern="1200" dirty="0">
                <a:solidFill>
                  <a:prstClr val="black">
                    <a:lumMod val="75000"/>
                    <a:lumOff val="25000"/>
                  </a:prstClr>
                </a:solidFill>
                <a:latin typeface="Candara" panose="020E0502030303020204" pitchFamily="34" charset="0"/>
                <a:ea typeface="Arial Unicode MS" panose="020B0604020202020204" charset="-122"/>
                <a:cs typeface="Arial" panose="020B0604020202020204" pitchFamily="34" charset="0"/>
              </a:rPr>
              <a:t> de réalisation 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267701" y="4777028"/>
            <a:ext cx="11619200" cy="178510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marL="171450" lvl="0" indent="-171450">
              <a:buClrTx/>
              <a:buFont typeface="Arial" panose="020B0604020202020204" pitchFamily="34" charset="0"/>
              <a:buChar char="•"/>
              <a:defRPr/>
            </a:pPr>
            <a:r>
              <a:rPr lang="fr-FR" altLang="ko-KR" sz="2200" b="1" kern="1200" dirty="0">
                <a:solidFill>
                  <a:prstClr val="black">
                    <a:lumMod val="75000"/>
                    <a:lumOff val="25000"/>
                  </a:prstClr>
                </a:solidFill>
                <a:latin typeface="Candara" panose="020E0502030303020204" pitchFamily="34" charset="0"/>
                <a:ea typeface="Arial Unicode MS" panose="020B0604020202020204" charset="-122"/>
                <a:cs typeface="Arial" panose="020B0604020202020204" pitchFamily="34" charset="0"/>
              </a:rPr>
              <a:t>Vaccination de </a:t>
            </a:r>
            <a:r>
              <a:rPr lang="fr-FR" altLang="ko-KR" sz="2200" b="1" kern="1200" dirty="0">
                <a:solidFill>
                  <a:srgbClr val="FF0000"/>
                </a:solidFill>
                <a:latin typeface="Candara" panose="020E0502030303020204" pitchFamily="34" charset="0"/>
                <a:ea typeface="Arial Unicode MS" panose="020B0604020202020204" charset="-122"/>
                <a:cs typeface="Arial" panose="020B0604020202020204" pitchFamily="34" charset="0"/>
              </a:rPr>
              <a:t>496.646</a:t>
            </a:r>
            <a:r>
              <a:rPr lang="fr-FR" altLang="ko-KR" sz="2200" b="1" kern="1200" dirty="0">
                <a:solidFill>
                  <a:prstClr val="black">
                    <a:lumMod val="75000"/>
                    <a:lumOff val="25000"/>
                  </a:prstClr>
                </a:solidFill>
                <a:latin typeface="Candara" panose="020E0502030303020204" pitchFamily="34" charset="0"/>
                <a:ea typeface="Arial Unicode MS" panose="020B0604020202020204" charset="-122"/>
                <a:cs typeface="Arial" panose="020B0604020202020204" pitchFamily="34" charset="0"/>
              </a:rPr>
              <a:t> enfants en BCG de </a:t>
            </a:r>
            <a:r>
              <a:rPr lang="fr-FR" altLang="ko-KR" sz="2200" b="1" kern="12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Candara" panose="020E0502030303020204" pitchFamily="34" charset="0"/>
                <a:ea typeface="Arial Unicode MS" panose="020B0604020202020204" charset="-122"/>
                <a:cs typeface="Arial" panose="020B0604020202020204" pitchFamily="34" charset="0"/>
              </a:rPr>
              <a:t>Janv-Oct</a:t>
            </a:r>
            <a:r>
              <a:rPr lang="fr-FR" altLang="ko-KR" sz="2200" b="1" kern="1200" dirty="0">
                <a:solidFill>
                  <a:prstClr val="black">
                    <a:lumMod val="75000"/>
                    <a:lumOff val="25000"/>
                  </a:prstClr>
                </a:solidFill>
                <a:latin typeface="Candara" panose="020E0502030303020204" pitchFamily="34" charset="0"/>
                <a:ea typeface="Arial Unicode MS" panose="020B0604020202020204" charset="-122"/>
                <a:cs typeface="Arial" panose="020B0604020202020204" pitchFamily="34" charset="0"/>
              </a:rPr>
              <a:t> 2025 contre </a:t>
            </a:r>
            <a:r>
              <a:rPr lang="fr-FR" altLang="ko-KR" sz="2200" b="1" kern="1200" dirty="0">
                <a:solidFill>
                  <a:srgbClr val="FF0000"/>
                </a:solidFill>
                <a:latin typeface="Candara" panose="020E0502030303020204" pitchFamily="34" charset="0"/>
                <a:ea typeface="Arial Unicode MS" panose="020B0604020202020204" charset="-122"/>
                <a:cs typeface="Arial" panose="020B0604020202020204" pitchFamily="34" charset="0"/>
              </a:rPr>
              <a:t>336.415</a:t>
            </a:r>
            <a:r>
              <a:rPr lang="fr-FR" altLang="ko-KR" sz="2200" b="1" kern="1200" dirty="0">
                <a:solidFill>
                  <a:prstClr val="black">
                    <a:lumMod val="75000"/>
                    <a:lumOff val="25000"/>
                  </a:prstClr>
                </a:solidFill>
                <a:latin typeface="Candara" panose="020E0502030303020204" pitchFamily="34" charset="0"/>
                <a:ea typeface="Arial Unicode MS" panose="020B0604020202020204" charset="-122"/>
                <a:cs typeface="Arial" panose="020B0604020202020204" pitchFamily="34" charset="0"/>
              </a:rPr>
              <a:t> en 2024</a:t>
            </a:r>
          </a:p>
          <a:p>
            <a:pPr marL="171450" lvl="0" indent="-171450">
              <a:buClrTx/>
              <a:buFont typeface="Arial" panose="020B0604020202020204" pitchFamily="34" charset="0"/>
              <a:buChar char="•"/>
              <a:defRPr/>
            </a:pPr>
            <a:r>
              <a:rPr lang="fr-FR" altLang="ko-KR" sz="2200" b="1" kern="1200" dirty="0">
                <a:solidFill>
                  <a:prstClr val="black">
                    <a:lumMod val="75000"/>
                    <a:lumOff val="25000"/>
                  </a:prstClr>
                </a:solidFill>
                <a:latin typeface="Candara" panose="020E0502030303020204" pitchFamily="34" charset="0"/>
                <a:ea typeface="Arial Unicode MS" panose="020B0604020202020204" charset="-122"/>
                <a:cs typeface="Arial" panose="020B0604020202020204" pitchFamily="34" charset="0"/>
              </a:rPr>
              <a:t>Vaccination de </a:t>
            </a:r>
            <a:r>
              <a:rPr lang="fr-FR" altLang="ko-KR" sz="2200" b="1" kern="1200" dirty="0">
                <a:solidFill>
                  <a:srgbClr val="FF0000"/>
                </a:solidFill>
                <a:latin typeface="Candara" panose="020E0502030303020204" pitchFamily="34" charset="0"/>
                <a:ea typeface="Arial Unicode MS" panose="020B0604020202020204" charset="-122"/>
                <a:cs typeface="Arial" panose="020B0604020202020204" pitchFamily="34" charset="0"/>
              </a:rPr>
              <a:t>465.211</a:t>
            </a:r>
            <a:r>
              <a:rPr lang="fr-FR" altLang="ko-KR" sz="2200" b="1" kern="1200" dirty="0">
                <a:solidFill>
                  <a:prstClr val="black">
                    <a:lumMod val="75000"/>
                    <a:lumOff val="25000"/>
                  </a:prstClr>
                </a:solidFill>
                <a:latin typeface="Candara" panose="020E0502030303020204" pitchFamily="34" charset="0"/>
                <a:ea typeface="Arial Unicode MS" panose="020B0604020202020204" charset="-122"/>
                <a:cs typeface="Arial" panose="020B0604020202020204" pitchFamily="34" charset="0"/>
              </a:rPr>
              <a:t>  enfants en Penta1 de </a:t>
            </a:r>
            <a:r>
              <a:rPr lang="fr-FR" altLang="ko-KR" sz="2200" b="1" kern="12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Candara" panose="020E0502030303020204" pitchFamily="34" charset="0"/>
                <a:ea typeface="Arial Unicode MS" panose="020B0604020202020204" charset="-122"/>
                <a:cs typeface="Arial" panose="020B0604020202020204" pitchFamily="34" charset="0"/>
              </a:rPr>
              <a:t>Janv-Oct</a:t>
            </a:r>
            <a:r>
              <a:rPr lang="fr-FR" altLang="ko-KR" sz="2200" b="1" kern="1200" dirty="0">
                <a:solidFill>
                  <a:prstClr val="black">
                    <a:lumMod val="75000"/>
                    <a:lumOff val="25000"/>
                  </a:prstClr>
                </a:solidFill>
                <a:latin typeface="Candara" panose="020E0502030303020204" pitchFamily="34" charset="0"/>
                <a:ea typeface="Arial Unicode MS" panose="020B0604020202020204" charset="-122"/>
                <a:cs typeface="Arial" panose="020B0604020202020204" pitchFamily="34" charset="0"/>
              </a:rPr>
              <a:t> 2025 contre 364.501  en 2024</a:t>
            </a:r>
          </a:p>
          <a:p>
            <a:r>
              <a:rPr lang="fr-FR" altLang="ko-KR" sz="2200" b="1" kern="1200" dirty="0">
                <a:solidFill>
                  <a:prstClr val="black">
                    <a:lumMod val="75000"/>
                    <a:lumOff val="25000"/>
                  </a:prstClr>
                </a:solidFill>
                <a:latin typeface="Candara" panose="020E0502030303020204" pitchFamily="34" charset="0"/>
                <a:ea typeface="Arial Unicode MS" panose="020B0604020202020204" charset="-122"/>
                <a:cs typeface="Arial" panose="020B0604020202020204" pitchFamily="34" charset="0"/>
              </a:rPr>
              <a:t>Vaccination de </a:t>
            </a:r>
            <a:r>
              <a:rPr lang="fr-FR" altLang="ko-KR" sz="2200" b="1" kern="1200" dirty="0">
                <a:solidFill>
                  <a:srgbClr val="FF0000"/>
                </a:solidFill>
                <a:latin typeface="Candara" panose="020E0502030303020204" pitchFamily="34" charset="0"/>
                <a:ea typeface="Arial Unicode MS" panose="020B0604020202020204" charset="-122"/>
                <a:cs typeface="Arial" panose="020B0604020202020204" pitchFamily="34" charset="0"/>
              </a:rPr>
              <a:t>434.170</a:t>
            </a:r>
            <a:r>
              <a:rPr lang="fr-FR" altLang="ko-KR" sz="2200" b="1" kern="1200" dirty="0">
                <a:solidFill>
                  <a:prstClr val="black">
                    <a:lumMod val="75000"/>
                    <a:lumOff val="25000"/>
                  </a:prstClr>
                </a:solidFill>
                <a:latin typeface="Candara" panose="020E0502030303020204" pitchFamily="34" charset="0"/>
                <a:ea typeface="Arial Unicode MS" panose="020B0604020202020204" charset="-122"/>
                <a:cs typeface="Arial" panose="020B0604020202020204" pitchFamily="34" charset="0"/>
              </a:rPr>
              <a:t> enfants en Penta3 de </a:t>
            </a:r>
            <a:r>
              <a:rPr lang="fr-FR" altLang="ko-KR" sz="2200" b="1" kern="12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Candara" panose="020E0502030303020204" pitchFamily="34" charset="0"/>
                <a:ea typeface="Arial Unicode MS" panose="020B0604020202020204" charset="-122"/>
                <a:cs typeface="Arial" panose="020B0604020202020204" pitchFamily="34" charset="0"/>
              </a:rPr>
              <a:t>Janv-Oct</a:t>
            </a:r>
            <a:r>
              <a:rPr lang="fr-FR" altLang="ko-KR" sz="2200" b="1" kern="1200" dirty="0">
                <a:solidFill>
                  <a:prstClr val="black">
                    <a:lumMod val="75000"/>
                    <a:lumOff val="25000"/>
                  </a:prstClr>
                </a:solidFill>
                <a:latin typeface="Candara" panose="020E0502030303020204" pitchFamily="34" charset="0"/>
                <a:ea typeface="Arial Unicode MS" panose="020B0604020202020204" charset="-122"/>
                <a:cs typeface="Arial" panose="020B0604020202020204" pitchFamily="34" charset="0"/>
              </a:rPr>
              <a:t> 2025 contre 337.785 en 2024</a:t>
            </a:r>
          </a:p>
          <a:p>
            <a:r>
              <a:rPr lang="fr-FR" altLang="ko-KR" sz="2200" b="1" kern="1200" dirty="0">
                <a:solidFill>
                  <a:prstClr val="black">
                    <a:lumMod val="75000"/>
                    <a:lumOff val="25000"/>
                  </a:prstClr>
                </a:solidFill>
                <a:latin typeface="Candara" panose="020E0502030303020204" pitchFamily="34" charset="0"/>
                <a:ea typeface="Arial Unicode MS" panose="020B0604020202020204" charset="-122"/>
                <a:cs typeface="Arial" panose="020B0604020202020204" pitchFamily="34" charset="0"/>
              </a:rPr>
              <a:t>Vaccination de </a:t>
            </a:r>
            <a:r>
              <a:rPr lang="fr-FR" altLang="ko-KR" sz="2200" b="1" kern="1200" dirty="0">
                <a:solidFill>
                  <a:srgbClr val="FF0000"/>
                </a:solidFill>
                <a:latin typeface="Candara" panose="020E0502030303020204" pitchFamily="34" charset="0"/>
                <a:ea typeface="Arial Unicode MS" panose="020B0604020202020204" charset="-122"/>
                <a:cs typeface="Arial" panose="020B0604020202020204" pitchFamily="34" charset="0"/>
              </a:rPr>
              <a:t>398.240</a:t>
            </a:r>
            <a:r>
              <a:rPr lang="fr-FR" altLang="ko-KR" sz="2200" b="1" kern="1200" dirty="0">
                <a:solidFill>
                  <a:prstClr val="black">
                    <a:lumMod val="75000"/>
                    <a:lumOff val="25000"/>
                  </a:prstClr>
                </a:solidFill>
                <a:latin typeface="Candara" panose="020E0502030303020204" pitchFamily="34" charset="0"/>
                <a:ea typeface="Arial Unicode MS" panose="020B0604020202020204" charset="-122"/>
                <a:cs typeface="Arial" panose="020B0604020202020204" pitchFamily="34" charset="0"/>
              </a:rPr>
              <a:t> enfants en VAR1 de </a:t>
            </a:r>
            <a:r>
              <a:rPr lang="fr-FR" altLang="ko-KR" sz="2200" b="1" kern="12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Candara" panose="020E0502030303020204" pitchFamily="34" charset="0"/>
                <a:ea typeface="Arial Unicode MS" panose="020B0604020202020204" charset="-122"/>
                <a:cs typeface="Arial" panose="020B0604020202020204" pitchFamily="34" charset="0"/>
              </a:rPr>
              <a:t>Janv-Oct</a:t>
            </a:r>
            <a:r>
              <a:rPr lang="fr-FR" altLang="ko-KR" sz="2200" b="1" kern="1200" dirty="0">
                <a:solidFill>
                  <a:prstClr val="black">
                    <a:lumMod val="75000"/>
                    <a:lumOff val="25000"/>
                  </a:prstClr>
                </a:solidFill>
                <a:latin typeface="Candara" panose="020E0502030303020204" pitchFamily="34" charset="0"/>
                <a:ea typeface="Arial Unicode MS" panose="020B0604020202020204" charset="-122"/>
                <a:cs typeface="Arial" panose="020B0604020202020204" pitchFamily="34" charset="0"/>
              </a:rPr>
              <a:t> 2025 contre 333.795 en 2024</a:t>
            </a:r>
          </a:p>
          <a:p>
            <a:r>
              <a:rPr lang="fr-FR" altLang="ko-KR" sz="2200" b="1" kern="1200" dirty="0">
                <a:solidFill>
                  <a:prstClr val="black">
                    <a:lumMod val="75000"/>
                    <a:lumOff val="25000"/>
                  </a:prstClr>
                </a:solidFill>
                <a:latin typeface="Candara" panose="020E0502030303020204" pitchFamily="34" charset="0"/>
                <a:ea typeface="Arial Unicode MS" panose="020B0604020202020204" charset="-122"/>
                <a:cs typeface="Arial" panose="020B0604020202020204" pitchFamily="34" charset="0"/>
              </a:rPr>
              <a:t>Vaccination de </a:t>
            </a:r>
            <a:r>
              <a:rPr lang="fr-FR" altLang="ko-KR" sz="2200" b="1" kern="1200" dirty="0">
                <a:solidFill>
                  <a:srgbClr val="FF0000"/>
                </a:solidFill>
                <a:latin typeface="Candara" panose="020E0502030303020204" pitchFamily="34" charset="0"/>
                <a:ea typeface="Arial Unicode MS" panose="020B0604020202020204" charset="-122"/>
                <a:cs typeface="Arial" panose="020B0604020202020204" pitchFamily="34" charset="0"/>
              </a:rPr>
              <a:t>238.027</a:t>
            </a:r>
            <a:r>
              <a:rPr lang="fr-FR" altLang="ko-KR" sz="2200" b="1" kern="1200" dirty="0">
                <a:solidFill>
                  <a:prstClr val="black">
                    <a:lumMod val="75000"/>
                    <a:lumOff val="25000"/>
                  </a:prstClr>
                </a:solidFill>
                <a:latin typeface="Candara" panose="020E0502030303020204" pitchFamily="34" charset="0"/>
                <a:ea typeface="Arial Unicode MS" panose="020B0604020202020204" charset="-122"/>
                <a:cs typeface="Arial" panose="020B0604020202020204" pitchFamily="34" charset="0"/>
              </a:rPr>
              <a:t> enfants en VAR2 de </a:t>
            </a:r>
            <a:r>
              <a:rPr lang="fr-FR" altLang="ko-KR" sz="2200" b="1" kern="12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Candara" panose="020E0502030303020204" pitchFamily="34" charset="0"/>
                <a:ea typeface="Arial Unicode MS" panose="020B0604020202020204" charset="-122"/>
                <a:cs typeface="Arial" panose="020B0604020202020204" pitchFamily="34" charset="0"/>
              </a:rPr>
              <a:t>Janv-Oct</a:t>
            </a:r>
            <a:r>
              <a:rPr lang="fr-FR" altLang="ko-KR" sz="2200" b="1" kern="1200" dirty="0">
                <a:solidFill>
                  <a:prstClr val="black">
                    <a:lumMod val="75000"/>
                    <a:lumOff val="25000"/>
                  </a:prstClr>
                </a:solidFill>
                <a:latin typeface="Candara" panose="020E0502030303020204" pitchFamily="34" charset="0"/>
                <a:ea typeface="Arial Unicode MS" panose="020B0604020202020204" charset="-122"/>
                <a:cs typeface="Arial" panose="020B0604020202020204" pitchFamily="34" charset="0"/>
              </a:rPr>
              <a:t> 2025 contre 135.161 en 2024</a:t>
            </a:r>
            <a:endParaRPr lang="fr-FR" sz="2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aabd3d1b2d_0_300"/>
          <p:cNvSpPr txBox="1"/>
          <p:nvPr/>
        </p:nvSpPr>
        <p:spPr>
          <a:xfrm>
            <a:off x="458549" y="272241"/>
            <a:ext cx="11274900" cy="571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 dirty="0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3.2. </a:t>
            </a:r>
            <a:r>
              <a:rPr lang="en-US" sz="2700" dirty="0" err="1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Résultats</a:t>
            </a:r>
            <a:r>
              <a:rPr lang="en-US" sz="2700" dirty="0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700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comparés</a:t>
            </a:r>
            <a:r>
              <a:rPr 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aux </a:t>
            </a:r>
            <a:r>
              <a:rPr lang="en-US" sz="2700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cibles</a:t>
            </a: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87" name="Google Shape;187;g3aabd3d1b2d_0_300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88" name="Google Shape;188;g3aabd3d1b2d_0_300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89" name="Google Shape;189;g3aabd3d1b2d_0_300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12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90" name="Google Shape;190;g3aabd3d1b2d_0_300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4" name="Graphique 3"/>
          <p:cNvGraphicFramePr/>
          <p:nvPr/>
        </p:nvGraphicFramePr>
        <p:xfrm>
          <a:off x="139036" y="1211467"/>
          <a:ext cx="12138582" cy="545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aphique 1"/>
          <p:cNvGraphicFramePr/>
          <p:nvPr>
            <p:extLst>
              <p:ext uri="{D42A27DB-BD31-4B8C-83A1-F6EECF244321}">
                <p14:modId xmlns:p14="http://schemas.microsoft.com/office/powerpoint/2010/main" val="1622593918"/>
              </p:ext>
            </p:extLst>
          </p:nvPr>
        </p:nvGraphicFramePr>
        <p:xfrm>
          <a:off x="174661" y="1109610"/>
          <a:ext cx="11918022" cy="56302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ZoneTexte 2"/>
          <p:cNvSpPr txBox="1"/>
          <p:nvPr/>
        </p:nvSpPr>
        <p:spPr>
          <a:xfrm>
            <a:off x="143837" y="118153"/>
            <a:ext cx="11918021" cy="83099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FFFF00"/>
                </a:solidFill>
                <a:latin typeface="Candara" panose="020E0502030303020204" pitchFamily="34" charset="0"/>
              </a:rPr>
              <a:t>Répartition par zone de santé &amp; par Antenne  des zéros doses et Enfants sous vaccinés de Janvier à Octobre 2025</a:t>
            </a:r>
          </a:p>
        </p:txBody>
      </p:sp>
    </p:spTree>
    <p:extLst>
      <p:ext uri="{BB962C8B-B14F-4D97-AF65-F5344CB8AC3E}">
        <p14:creationId xmlns:p14="http://schemas.microsoft.com/office/powerpoint/2010/main" val="3501054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aabd3d1b2d_0_300"/>
          <p:cNvSpPr txBox="1"/>
          <p:nvPr/>
        </p:nvSpPr>
        <p:spPr>
          <a:xfrm>
            <a:off x="458549" y="272241"/>
            <a:ext cx="11274900" cy="571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 dirty="0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3.2. </a:t>
            </a:r>
            <a:r>
              <a:rPr lang="en-US" sz="2700" dirty="0" err="1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Résultats</a:t>
            </a:r>
            <a:r>
              <a:rPr lang="en-US" sz="2700" dirty="0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700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comparés</a:t>
            </a:r>
            <a:r>
              <a:rPr 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aux </a:t>
            </a:r>
            <a:r>
              <a:rPr lang="en-US" sz="2700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cibles</a:t>
            </a: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87" name="Google Shape;187;g3aabd3d1b2d_0_300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88" name="Google Shape;188;g3aabd3d1b2d_0_300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89" name="Google Shape;189;g3aabd3d1b2d_0_300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14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90" name="Google Shape;190;g3aabd3d1b2d_0_300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2" name="Graphique 1"/>
          <p:cNvGraphicFramePr/>
          <p:nvPr/>
        </p:nvGraphicFramePr>
        <p:xfrm>
          <a:off x="0" y="986979"/>
          <a:ext cx="6626831" cy="52288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" name="Graphique 2"/>
          <p:cNvGraphicFramePr/>
          <p:nvPr/>
        </p:nvGraphicFramePr>
        <p:xfrm>
          <a:off x="7086600" y="986979"/>
          <a:ext cx="4964987" cy="52288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aabd3d1b2d_0_300"/>
          <p:cNvSpPr txBox="1"/>
          <p:nvPr/>
        </p:nvSpPr>
        <p:spPr>
          <a:xfrm>
            <a:off x="407340" y="3101166"/>
            <a:ext cx="11275060" cy="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fr-FR" sz="4000" dirty="0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3.3. Données</a:t>
            </a:r>
            <a:r>
              <a:rPr lang="fr-FR" sz="3200" dirty="0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fr-FR" sz="32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AVS</a:t>
            </a:r>
            <a:endParaRPr sz="32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32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32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32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87" name="Google Shape;187;g3aabd3d1b2d_0_300"/>
          <p:cNvSpPr/>
          <p:nvPr/>
        </p:nvSpPr>
        <p:spPr>
          <a:xfrm>
            <a:off x="32385" y="3101166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88" name="Google Shape;188;g3aabd3d1b2d_0_300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89" name="Google Shape;189;g3aabd3d1b2d_0_300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15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152400" y="217316"/>
            <a:ext cx="90747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 phases de la Campagne Polio 2025</a:t>
            </a:r>
            <a:endParaRPr lang="fr-FR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7919884" y="802092"/>
            <a:ext cx="4119716" cy="5904144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marL="285750" indent="-285750">
              <a:buFontTx/>
              <a:buChar char="-"/>
            </a:pPr>
            <a:r>
              <a:rPr lang="fr-FR" sz="2000" dirty="0" smtClean="0"/>
              <a:t>33/35 ZS ciblée pour le monitorage LQAS hormis les ZS </a:t>
            </a:r>
            <a:r>
              <a:rPr lang="fr-FR" sz="2000" dirty="0" err="1" smtClean="0"/>
              <a:t>Maluku</a:t>
            </a:r>
            <a:r>
              <a:rPr lang="fr-FR" sz="2000" dirty="0" smtClean="0"/>
              <a:t> 1 et 2;</a:t>
            </a:r>
          </a:p>
          <a:p>
            <a:pPr marL="285750" indent="-285750">
              <a:buFontTx/>
              <a:buChar char="-"/>
            </a:pPr>
            <a:endParaRPr lang="fr-FR" sz="2000" dirty="0" smtClean="0"/>
          </a:p>
          <a:p>
            <a:pPr marL="285750" indent="-285750">
              <a:buFontTx/>
              <a:buChar char="-"/>
            </a:pPr>
            <a:r>
              <a:rPr lang="fr-FR" sz="2000" dirty="0" smtClean="0"/>
              <a:t>6/33 ZS rejetées après enquête LQAS au mois d’Avril 2025 (</a:t>
            </a:r>
            <a:r>
              <a:rPr lang="fi-FI" sz="2000" dirty="0" smtClean="0"/>
              <a:t>Gombe, Kingasani, Kintambo, Makala, Mont-Ngafula 1 et N’sele)</a:t>
            </a:r>
            <a:r>
              <a:rPr lang="fr-FR" sz="2000" dirty="0" smtClean="0"/>
              <a:t> soit une proportion de 18%;</a:t>
            </a:r>
          </a:p>
          <a:p>
            <a:pPr marL="285750" indent="-285750">
              <a:buFontTx/>
              <a:buChar char="-"/>
            </a:pPr>
            <a:endParaRPr lang="fr-FR" sz="2000" dirty="0" smtClean="0"/>
          </a:p>
          <a:p>
            <a:pPr marL="285750" indent="-285750">
              <a:buFontTx/>
              <a:buChar char="-"/>
            </a:pPr>
            <a:r>
              <a:rPr lang="fr-FR" sz="2000" dirty="0" smtClean="0"/>
              <a:t>Aucune ZS rejetée au mois juin 2025;</a:t>
            </a:r>
          </a:p>
          <a:p>
            <a:pPr marL="285750" indent="-285750">
              <a:buFontTx/>
              <a:buChar char="-"/>
            </a:pPr>
            <a:endParaRPr lang="fr-FR" sz="2000" dirty="0" smtClean="0"/>
          </a:p>
          <a:p>
            <a:pPr marL="285750" indent="-285750">
              <a:buFontTx/>
              <a:buChar char="-"/>
            </a:pPr>
            <a:r>
              <a:rPr lang="fr-FR" sz="2000" dirty="0" smtClean="0"/>
              <a:t>1/33 ZS rejetée (</a:t>
            </a:r>
            <a:r>
              <a:rPr lang="fr-FR" sz="2000" dirty="0" err="1" smtClean="0"/>
              <a:t>Kikimi</a:t>
            </a:r>
            <a:r>
              <a:rPr lang="fr-FR" sz="2000" dirty="0" smtClean="0"/>
              <a:t>) soit 3% </a:t>
            </a:r>
          </a:p>
          <a:p>
            <a:pPr marL="285750" indent="-285750">
              <a:buFontTx/>
              <a:buChar char="-"/>
            </a:pPr>
            <a:endParaRPr lang="fr-FR" sz="2000" dirty="0"/>
          </a:p>
          <a:p>
            <a:pPr marL="285750" indent="-285750">
              <a:buFontTx/>
              <a:buChar char="-"/>
            </a:pPr>
            <a:r>
              <a:rPr lang="fr-FR" sz="2000" dirty="0" smtClean="0"/>
              <a:t>4/33 ZS </a:t>
            </a:r>
            <a:r>
              <a:rPr lang="fr-FR" sz="2000" dirty="0" err="1" smtClean="0"/>
              <a:t>réjetées</a:t>
            </a:r>
            <a:r>
              <a:rPr lang="fr-FR" sz="2000" dirty="0" smtClean="0"/>
              <a:t> (KLU, </a:t>
            </a:r>
            <a:r>
              <a:rPr lang="fr-FR" sz="2000" dirty="0" err="1" smtClean="0"/>
              <a:t>KLD,Kinseso</a:t>
            </a:r>
            <a:r>
              <a:rPr lang="fr-FR" sz="2000" dirty="0" smtClean="0"/>
              <a:t> et </a:t>
            </a:r>
            <a:r>
              <a:rPr lang="fr-FR" sz="2000" dirty="0" err="1" smtClean="0"/>
              <a:t>Kintambo</a:t>
            </a:r>
            <a:r>
              <a:rPr lang="fr-FR" sz="2000" dirty="0" smtClean="0"/>
              <a:t>) soit 12%</a:t>
            </a:r>
          </a:p>
          <a:p>
            <a:pPr marL="285750" indent="-285750">
              <a:buFontTx/>
              <a:buChar char="-"/>
            </a:pPr>
            <a:endParaRPr lang="fr-FR" sz="2400" dirty="0"/>
          </a:p>
        </p:txBody>
      </p:sp>
      <p:graphicFrame>
        <p:nvGraphicFramePr>
          <p:cNvPr id="6" name="Graphique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51214104"/>
              </p:ext>
            </p:extLst>
          </p:nvPr>
        </p:nvGraphicFramePr>
        <p:xfrm>
          <a:off x="152399" y="842011"/>
          <a:ext cx="7900219" cy="58642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" y="106680"/>
            <a:ext cx="107543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Campagne de riposte Rougeole au mois d’Aout 2025</a:t>
            </a:r>
            <a:endParaRPr lang="fr-FR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8257540" y="842010"/>
            <a:ext cx="3782060" cy="590423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marL="285750" indent="-285750">
              <a:buFontTx/>
              <a:buChar char="-"/>
            </a:pPr>
            <a:endParaRPr lang="fr-FR" sz="2000" dirty="0" smtClean="0"/>
          </a:p>
          <a:p>
            <a:pPr marL="285750" indent="-285750">
              <a:buFontTx/>
              <a:buChar char="-"/>
            </a:pPr>
            <a:r>
              <a:rPr lang="fr-FR" sz="2000" dirty="0" smtClean="0"/>
              <a:t>12 zones de santé sur 35 ont été ciblées sur base du profil épidémiologique;</a:t>
            </a:r>
          </a:p>
          <a:p>
            <a:pPr marL="285750" indent="-285750">
              <a:buFontTx/>
              <a:buChar char="-"/>
            </a:pPr>
            <a:endParaRPr lang="fr-FR" sz="2000" dirty="0" smtClean="0"/>
          </a:p>
          <a:p>
            <a:pPr marL="285750" indent="-285750">
              <a:buFontTx/>
              <a:buChar char="-"/>
            </a:pPr>
            <a:r>
              <a:rPr lang="fr-FR" sz="2000" dirty="0" smtClean="0"/>
              <a:t>1,066,901 enfants de 6-59 mois ont été vaccinés sur 1,068,704 soit 99,8%;</a:t>
            </a:r>
          </a:p>
          <a:p>
            <a:pPr marL="285750" indent="-285750">
              <a:buFontTx/>
              <a:buChar char="-"/>
            </a:pPr>
            <a:endParaRPr lang="fr-FR" sz="2000" dirty="0" smtClean="0"/>
          </a:p>
          <a:p>
            <a:pPr marL="285750" indent="-285750">
              <a:buFontTx/>
              <a:buChar char="-"/>
            </a:pPr>
            <a:r>
              <a:rPr lang="fr-FR" sz="2000" dirty="0" smtClean="0"/>
              <a:t>8 zones sur 12 ont été ciblées pour le monitorage indépendant;</a:t>
            </a:r>
          </a:p>
          <a:p>
            <a:pPr marL="285750" indent="-285750">
              <a:buFontTx/>
              <a:buChar char="-"/>
            </a:pPr>
            <a:endParaRPr lang="fr-FR" sz="2000" dirty="0" smtClean="0"/>
          </a:p>
          <a:p>
            <a:pPr marL="285750" indent="-285750">
              <a:buFontTx/>
              <a:buChar char="-"/>
            </a:pPr>
            <a:r>
              <a:rPr lang="fr-FR" sz="2000" dirty="0" smtClean="0"/>
              <a:t>7 sur 8 zones de santé ont eu des proportions d’enfants non vaccinés de plus de 5%, résultats rejetés.</a:t>
            </a:r>
          </a:p>
          <a:p>
            <a:pPr marL="285750" indent="-285750">
              <a:buFontTx/>
              <a:buChar char="-"/>
            </a:pPr>
            <a:endParaRPr lang="fr-FR" sz="2300" dirty="0"/>
          </a:p>
        </p:txBody>
      </p:sp>
      <p:graphicFrame>
        <p:nvGraphicFramePr>
          <p:cNvPr id="5" name="Graphique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77398649"/>
              </p:ext>
            </p:extLst>
          </p:nvPr>
        </p:nvGraphicFramePr>
        <p:xfrm>
          <a:off x="152400" y="842010"/>
          <a:ext cx="8105140" cy="59042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ce réservé du numéro de diapositive 11"/>
          <p:cNvSpPr>
            <a:spLocks noGrp="1"/>
          </p:cNvSpPr>
          <p:nvPr>
            <p:ph type="sldNum" sz="quarter" idx="4294967295"/>
          </p:nvPr>
        </p:nvSpPr>
        <p:spPr>
          <a:xfrm>
            <a:off x="11452225" y="6356350"/>
            <a:ext cx="739775" cy="365125"/>
          </a:xfrm>
        </p:spPr>
        <p:txBody>
          <a:bodyPr rtlCol="0">
            <a:normAutofit fontScale="70000" lnSpcReduction="20000"/>
          </a:bodyPr>
          <a:lstStyle/>
          <a:p>
            <a:pPr rtl="0"/>
            <a:fld id="{8699F50C-BE38-4BD0-BA84-9B090E1F2B9B}" type="slidenum">
              <a:rPr lang="fr-FR" smtClean="0"/>
              <a:t>18</a:t>
            </a:fld>
            <a:endParaRPr lang="fr-FR" dirty="0"/>
          </a:p>
        </p:txBody>
      </p:sp>
      <p:sp>
        <p:nvSpPr>
          <p:cNvPr id="9" name="Titre 1"/>
          <p:cNvSpPr txBox="1"/>
          <p:nvPr/>
        </p:nvSpPr>
        <p:spPr>
          <a:xfrm>
            <a:off x="53420" y="160592"/>
            <a:ext cx="11967697" cy="493114"/>
          </a:xfrm>
          <a:prstGeom prst="rect">
            <a:avLst/>
          </a:prstGeom>
        </p:spPr>
        <p:txBody>
          <a:bodyPr vert="horz" lIns="91440" tIns="45720" rIns="91440" bIns="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3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fr-FR" altLang="fr-FR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VACCINATION REACTIVE CHOLERA ORAL </a:t>
            </a:r>
            <a:endParaRPr lang="fr-FR" altLang="fr-FR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883" y="653706"/>
            <a:ext cx="11850235" cy="6067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741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98713" y="101450"/>
            <a:ext cx="11968596" cy="37407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VACCINATION MPOX 2025 GEOGRAPHIQUE ET CIBLEE</a:t>
            </a:r>
            <a:endParaRPr lang="fr-FR" sz="20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98713" y="577204"/>
            <a:ext cx="2741857" cy="349942"/>
          </a:xfrm>
          <a:prstGeom prst="rect">
            <a:avLst/>
          </a:prstGeom>
          <a:solidFill>
            <a:schemeClr val="accent6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600" dirty="0" smtClean="0">
                <a:solidFill>
                  <a:schemeClr val="tx1"/>
                </a:solidFill>
              </a:rPr>
              <a:t>Province: </a:t>
            </a:r>
            <a:r>
              <a:rPr lang="fr-FR" sz="1600" b="1" dirty="0" smtClean="0">
                <a:solidFill>
                  <a:schemeClr val="tx1"/>
                </a:solidFill>
              </a:rPr>
              <a:t>811180</a:t>
            </a:r>
            <a:r>
              <a:rPr lang="fr-FR" sz="1600" dirty="0" smtClean="0">
                <a:solidFill>
                  <a:schemeClr val="tx1"/>
                </a:solidFill>
              </a:rPr>
              <a:t> Vaccinés</a:t>
            </a:r>
          </a:p>
        </p:txBody>
      </p:sp>
      <p:graphicFrame>
        <p:nvGraphicFramePr>
          <p:cNvPr id="23" name="Graphique 2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84987758"/>
              </p:ext>
            </p:extLst>
          </p:nvPr>
        </p:nvGraphicFramePr>
        <p:xfrm>
          <a:off x="98713" y="577204"/>
          <a:ext cx="11968596" cy="60606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238881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aabd3d1b2d_0_300"/>
          <p:cNvSpPr txBox="1"/>
          <p:nvPr/>
        </p:nvSpPr>
        <p:spPr>
          <a:xfrm>
            <a:off x="407340" y="3101166"/>
            <a:ext cx="11275060" cy="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fr-FR" sz="4000" dirty="0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3.4. SURVEILLANCE</a:t>
            </a:r>
            <a:endParaRPr sz="32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32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32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32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87" name="Google Shape;187;g3aabd3d1b2d_0_300"/>
          <p:cNvSpPr/>
          <p:nvPr/>
        </p:nvSpPr>
        <p:spPr>
          <a:xfrm>
            <a:off x="32385" y="3101166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88" name="Google Shape;188;g3aabd3d1b2d_0_300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89" name="Google Shape;189;g3aabd3d1b2d_0_300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20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756409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aabd3d1b2d_0_309"/>
          <p:cNvSpPr txBox="1"/>
          <p:nvPr/>
        </p:nvSpPr>
        <p:spPr>
          <a:xfrm>
            <a:off x="337600" y="257493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3600" b="1" dirty="0" err="1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Indicateurs</a:t>
            </a:r>
            <a:r>
              <a:rPr lang="en-US" sz="3600" b="1" dirty="0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de performances de la surveillance</a:t>
            </a:r>
            <a:endParaRPr sz="3600" b="1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36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36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36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36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36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96" name="Google Shape;196;g3aabd3d1b2d_0_309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97" name="Google Shape;197;g3aabd3d1b2d_0_309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98" name="Google Shape;198;g3aabd3d1b2d_0_309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21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67700" y="855869"/>
            <a:ext cx="6206836" cy="20645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600" dirty="0" smtClean="0">
              <a:solidFill>
                <a:schemeClr val="tx1"/>
              </a:solidFill>
            </a:endParaRPr>
          </a:p>
          <a:p>
            <a:r>
              <a:rPr lang="fr-FR" sz="1600" dirty="0" smtClean="0">
                <a:solidFill>
                  <a:schemeClr val="tx1"/>
                </a:solidFill>
              </a:rPr>
              <a:t>PFA</a:t>
            </a:r>
          </a:p>
          <a:p>
            <a:pPr fontAlgn="b"/>
            <a:r>
              <a:rPr lang="fr-FR" sz="1600" dirty="0">
                <a:solidFill>
                  <a:schemeClr val="tx1"/>
                </a:solidFill>
              </a:rPr>
              <a:t> • 258 cas PFA notifiés en 2025</a:t>
            </a:r>
            <a:endParaRPr lang="fr-FR" sz="1600" dirty="0">
              <a:solidFill>
                <a:schemeClr val="tx1"/>
              </a:solidFill>
              <a:latin typeface="Calibri" panose="020F0502020204030204" pitchFamily="34" charset="0"/>
            </a:endParaRPr>
          </a:p>
          <a:p>
            <a:pPr fontAlgn="b"/>
            <a:r>
              <a:rPr lang="fr-FR" sz="1600" dirty="0">
                <a:solidFill>
                  <a:schemeClr val="tx1"/>
                </a:solidFill>
              </a:rPr>
              <a:t>     • TPFANP : 3,64</a:t>
            </a:r>
            <a:endParaRPr lang="fr-FR" sz="1600" dirty="0">
              <a:solidFill>
                <a:schemeClr val="tx1"/>
              </a:solidFill>
              <a:latin typeface="Calibri" panose="020F0502020204030204" pitchFamily="34" charset="0"/>
            </a:endParaRPr>
          </a:p>
          <a:p>
            <a:pPr fontAlgn="b"/>
            <a:r>
              <a:rPr lang="fr-FR" sz="1600" dirty="0">
                <a:solidFill>
                  <a:schemeClr val="tx1"/>
                </a:solidFill>
              </a:rPr>
              <a:t>     • Aucune ZS silencieuse </a:t>
            </a:r>
            <a:endParaRPr lang="fr-FR" sz="1600" dirty="0">
              <a:solidFill>
                <a:schemeClr val="tx1"/>
              </a:solidFill>
              <a:latin typeface="Calibri" panose="020F0502020204030204" pitchFamily="34" charset="0"/>
            </a:endParaRPr>
          </a:p>
          <a:p>
            <a:pPr fontAlgn="b"/>
            <a:r>
              <a:rPr lang="fr-FR" sz="1600" dirty="0">
                <a:solidFill>
                  <a:schemeClr val="tx1"/>
                </a:solidFill>
              </a:rPr>
              <a:t>     • 18 ZS sur 35 ont réuni les 2 indicateurs majeurs</a:t>
            </a:r>
            <a:endParaRPr lang="fr-FR" sz="1600" dirty="0">
              <a:solidFill>
                <a:schemeClr val="tx1"/>
              </a:solidFill>
              <a:latin typeface="Calibri" panose="020F0502020204030204" pitchFamily="34" charset="0"/>
            </a:endParaRPr>
          </a:p>
          <a:p>
            <a:pPr fontAlgn="b"/>
            <a:r>
              <a:rPr lang="fr-FR" sz="1600" dirty="0">
                <a:solidFill>
                  <a:schemeClr val="tx1"/>
                </a:solidFill>
              </a:rPr>
              <a:t>     • </a:t>
            </a:r>
            <a:r>
              <a:rPr lang="fr-FR" sz="1600" dirty="0" smtClean="0">
                <a:solidFill>
                  <a:schemeClr val="tx1"/>
                </a:solidFill>
              </a:rPr>
              <a:t>NPENT </a:t>
            </a:r>
            <a:r>
              <a:rPr lang="fr-FR" sz="1600" dirty="0">
                <a:solidFill>
                  <a:schemeClr val="tx1"/>
                </a:solidFill>
              </a:rPr>
              <a:t>: 14 % (˃ 10 </a:t>
            </a:r>
            <a:r>
              <a:rPr lang="fr-FR" sz="1600" dirty="0" smtClean="0">
                <a:solidFill>
                  <a:schemeClr val="tx1"/>
                </a:solidFill>
              </a:rPr>
              <a:t>%)</a:t>
            </a:r>
          </a:p>
          <a:p>
            <a:pPr marL="285750" indent="-285750" fontAlgn="b">
              <a:buFont typeface="Arial" panose="020B0604020202020204" pitchFamily="34" charset="0"/>
              <a:buChar char="•"/>
            </a:pPr>
            <a:r>
              <a:rPr lang="fr-FR" sz="1600" dirty="0" smtClean="0">
                <a:solidFill>
                  <a:schemeClr val="tx1"/>
                </a:solidFill>
                <a:latin typeface="Calibri" panose="020F0502020204030204" pitchFamily="34" charset="0"/>
              </a:rPr>
              <a:t>Taux adéquation: 95%</a:t>
            </a:r>
          </a:p>
          <a:p>
            <a:pPr marL="285750" indent="-285750" fontAlgn="b">
              <a:buFont typeface="Arial" panose="020B0604020202020204" pitchFamily="34" charset="0"/>
              <a:buChar char="•"/>
            </a:pPr>
            <a:r>
              <a:rPr lang="fr-FR" sz="1600" dirty="0" smtClean="0">
                <a:solidFill>
                  <a:schemeClr val="tx1"/>
                </a:solidFill>
                <a:latin typeface="Calibri" panose="020F0502020204030204" pitchFamily="34" charset="0"/>
              </a:rPr>
              <a:t>1 cas </a:t>
            </a:r>
            <a:r>
              <a:rPr lang="fr-FR" sz="1600" dirty="0" err="1" smtClean="0">
                <a:solidFill>
                  <a:schemeClr val="tx1"/>
                </a:solidFill>
                <a:latin typeface="Calibri" panose="020F0502020204030204" pitchFamily="34" charset="0"/>
              </a:rPr>
              <a:t>cVDPV</a:t>
            </a:r>
            <a:r>
              <a:rPr lang="fr-FR" sz="1600" dirty="0" smtClean="0">
                <a:solidFill>
                  <a:schemeClr val="tx1"/>
                </a:solidFill>
                <a:latin typeface="Calibri" panose="020F0502020204030204" pitchFamily="34" charset="0"/>
              </a:rPr>
              <a:t> environnemental dans la ZS </a:t>
            </a:r>
            <a:r>
              <a:rPr lang="fr-FR" sz="1600" dirty="0" err="1" smtClean="0">
                <a:solidFill>
                  <a:schemeClr val="tx1"/>
                </a:solidFill>
                <a:latin typeface="Calibri" panose="020F0502020204030204" pitchFamily="34" charset="0"/>
              </a:rPr>
              <a:t>Limete</a:t>
            </a:r>
            <a:r>
              <a:rPr lang="fr-FR" sz="1600" dirty="0" smtClean="0">
                <a:solidFill>
                  <a:schemeClr val="tx1"/>
                </a:solidFill>
                <a:latin typeface="Calibri" panose="020F0502020204030204" pitchFamily="34" charset="0"/>
              </a:rPr>
              <a:t> (site </a:t>
            </a:r>
            <a:r>
              <a:rPr lang="fr-FR" sz="1600" dirty="0" err="1" smtClean="0">
                <a:solidFill>
                  <a:schemeClr val="tx1"/>
                </a:solidFill>
                <a:latin typeface="Calibri" panose="020F0502020204030204" pitchFamily="34" charset="0"/>
              </a:rPr>
              <a:t>Pakadjuma</a:t>
            </a:r>
            <a:r>
              <a:rPr lang="fr-FR" sz="1600" dirty="0" smtClean="0">
                <a:solidFill>
                  <a:schemeClr val="tx1"/>
                </a:solidFill>
                <a:latin typeface="Calibri" panose="020F0502020204030204" pitchFamily="34" charset="0"/>
              </a:rPr>
              <a:t>)</a:t>
            </a:r>
            <a:endParaRPr lang="fr-FR" sz="1600" dirty="0">
              <a:solidFill>
                <a:schemeClr val="tx1"/>
              </a:solidFill>
              <a:latin typeface="Calibri" panose="020F0502020204030204" pitchFamily="34" charset="0"/>
            </a:endParaRPr>
          </a:p>
          <a:p>
            <a:endParaRPr lang="fr-FR" sz="1600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67700" y="3016892"/>
            <a:ext cx="6206836" cy="114895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"/>
            <a:r>
              <a:rPr lang="fr-FR" sz="1600" dirty="0">
                <a:solidFill>
                  <a:schemeClr val="tx1"/>
                </a:solidFill>
              </a:rPr>
              <a:t>Rougeole</a:t>
            </a:r>
            <a:endParaRPr lang="fr-FR" sz="1600" dirty="0">
              <a:solidFill>
                <a:schemeClr val="tx1"/>
              </a:solidFill>
              <a:latin typeface="Calibri" panose="020F0502020204030204" pitchFamily="34" charset="0"/>
            </a:endParaRPr>
          </a:p>
          <a:p>
            <a:pPr fontAlgn="b"/>
            <a:r>
              <a:rPr lang="fr-FR" sz="1600" dirty="0">
                <a:solidFill>
                  <a:schemeClr val="tx1"/>
                </a:solidFill>
              </a:rPr>
              <a:t>     • 1804 </a:t>
            </a:r>
            <a:r>
              <a:rPr lang="fr-FR" sz="1600" dirty="0" smtClean="0">
                <a:solidFill>
                  <a:schemeClr val="tx1"/>
                </a:solidFill>
              </a:rPr>
              <a:t>cas suspects </a:t>
            </a:r>
            <a:r>
              <a:rPr lang="fr-FR" sz="1600" dirty="0">
                <a:solidFill>
                  <a:schemeClr val="tx1"/>
                </a:solidFill>
              </a:rPr>
              <a:t>notifiés </a:t>
            </a:r>
            <a:r>
              <a:rPr lang="fr-FR" sz="1600" dirty="0" smtClean="0">
                <a:solidFill>
                  <a:schemeClr val="tx1"/>
                </a:solidFill>
              </a:rPr>
              <a:t>et 25 décès </a:t>
            </a:r>
            <a:r>
              <a:rPr lang="fr-FR" sz="1600" dirty="0">
                <a:solidFill>
                  <a:schemeClr val="tx1"/>
                </a:solidFill>
              </a:rPr>
              <a:t>en 2025 </a:t>
            </a:r>
            <a:endParaRPr lang="fr-FR" sz="1600" dirty="0">
              <a:solidFill>
                <a:schemeClr val="tx1"/>
              </a:solidFill>
              <a:latin typeface="Calibri" panose="020F0502020204030204" pitchFamily="34" charset="0"/>
            </a:endParaRPr>
          </a:p>
          <a:p>
            <a:pPr fontAlgn="b"/>
            <a:r>
              <a:rPr lang="fr-FR" sz="1600" dirty="0">
                <a:solidFill>
                  <a:schemeClr val="tx1"/>
                </a:solidFill>
              </a:rPr>
              <a:t>     • 35 ZS  sur 35 qui ont notifié au moins 1 cas suspect</a:t>
            </a:r>
            <a:endParaRPr lang="fr-FR" sz="1600" dirty="0">
              <a:solidFill>
                <a:schemeClr val="tx1"/>
              </a:solidFill>
              <a:latin typeface="Calibri" panose="020F0502020204030204" pitchFamily="34" charset="0"/>
            </a:endParaRPr>
          </a:p>
          <a:p>
            <a:pPr fontAlgn="b"/>
            <a:r>
              <a:rPr lang="fr-FR" sz="1600" dirty="0">
                <a:solidFill>
                  <a:schemeClr val="tx1"/>
                </a:solidFill>
              </a:rPr>
              <a:t>     • Epidémie confirmée dans </a:t>
            </a:r>
            <a:r>
              <a:rPr lang="fr-FR" sz="1600" dirty="0" smtClean="0">
                <a:solidFill>
                  <a:schemeClr val="tx1"/>
                </a:solidFill>
              </a:rPr>
              <a:t>20 </a:t>
            </a:r>
            <a:r>
              <a:rPr lang="fr-FR" sz="1600" dirty="0">
                <a:solidFill>
                  <a:schemeClr val="tx1"/>
                </a:solidFill>
              </a:rPr>
              <a:t>ZS avec riposte </a:t>
            </a:r>
            <a:r>
              <a:rPr lang="fr-FR" sz="1600" dirty="0" smtClean="0">
                <a:solidFill>
                  <a:schemeClr val="tx1"/>
                </a:solidFill>
              </a:rPr>
              <a:t>locale</a:t>
            </a:r>
            <a:endParaRPr lang="fr-FR" sz="16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67699" y="4261539"/>
            <a:ext cx="6206837" cy="123164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"/>
            <a:endParaRPr lang="fr-FR" sz="1600" dirty="0" smtClean="0">
              <a:solidFill>
                <a:schemeClr val="tx1"/>
              </a:solidFill>
            </a:endParaRPr>
          </a:p>
          <a:p>
            <a:pPr fontAlgn="b"/>
            <a:r>
              <a:rPr lang="fr-FR" sz="1600" dirty="0" smtClean="0">
                <a:solidFill>
                  <a:schemeClr val="tx1"/>
                </a:solidFill>
              </a:rPr>
              <a:t>Fièvre </a:t>
            </a:r>
            <a:r>
              <a:rPr lang="fr-FR" sz="1600" dirty="0">
                <a:solidFill>
                  <a:schemeClr val="tx1"/>
                </a:solidFill>
              </a:rPr>
              <a:t>jaune </a:t>
            </a:r>
            <a:endParaRPr lang="fr-FR" sz="1600" dirty="0">
              <a:solidFill>
                <a:schemeClr val="tx1"/>
              </a:solidFill>
              <a:latin typeface="Calibri" panose="020F0502020204030204" pitchFamily="34" charset="0"/>
            </a:endParaRPr>
          </a:p>
          <a:p>
            <a:pPr fontAlgn="b"/>
            <a:r>
              <a:rPr lang="fr-FR" sz="1600" dirty="0">
                <a:solidFill>
                  <a:schemeClr val="tx1"/>
                </a:solidFill>
              </a:rPr>
              <a:t>     • 81 </a:t>
            </a:r>
            <a:r>
              <a:rPr lang="fr-FR" sz="1600" dirty="0" smtClean="0">
                <a:solidFill>
                  <a:schemeClr val="tx1"/>
                </a:solidFill>
              </a:rPr>
              <a:t>cas suspects notifiés et 1 décès  </a:t>
            </a:r>
            <a:r>
              <a:rPr lang="fr-FR" sz="1600" dirty="0">
                <a:solidFill>
                  <a:schemeClr val="tx1"/>
                </a:solidFill>
              </a:rPr>
              <a:t>en 2025</a:t>
            </a:r>
            <a:endParaRPr lang="fr-FR" sz="1600" dirty="0">
              <a:solidFill>
                <a:schemeClr val="tx1"/>
              </a:solidFill>
              <a:latin typeface="Calibri" panose="020F0502020204030204" pitchFamily="34" charset="0"/>
            </a:endParaRPr>
          </a:p>
          <a:p>
            <a:pPr fontAlgn="b"/>
            <a:r>
              <a:rPr lang="fr-FR" sz="1600" dirty="0">
                <a:solidFill>
                  <a:schemeClr val="tx1"/>
                </a:solidFill>
              </a:rPr>
              <a:t>     </a:t>
            </a:r>
            <a:r>
              <a:rPr lang="fr-FR" sz="1600" dirty="0" smtClean="0">
                <a:solidFill>
                  <a:schemeClr val="tx1"/>
                </a:solidFill>
              </a:rPr>
              <a:t>• 22 </a:t>
            </a:r>
            <a:r>
              <a:rPr lang="fr-FR" sz="1600" dirty="0">
                <a:solidFill>
                  <a:schemeClr val="tx1"/>
                </a:solidFill>
              </a:rPr>
              <a:t>ZS SUR 35 ont notifié au moins 1 cas suspect </a:t>
            </a:r>
            <a:endParaRPr lang="fr-FR" sz="1600" dirty="0">
              <a:solidFill>
                <a:schemeClr val="tx1"/>
              </a:solidFill>
              <a:latin typeface="Calibri" panose="020F0502020204030204" pitchFamily="34" charset="0"/>
            </a:endParaRPr>
          </a:p>
          <a:p>
            <a:pPr fontAlgn="b"/>
            <a:r>
              <a:rPr lang="fr-FR" sz="1600" dirty="0">
                <a:solidFill>
                  <a:schemeClr val="tx1"/>
                </a:solidFill>
              </a:rPr>
              <a:t>     • 100 % d'investigation </a:t>
            </a:r>
            <a:endParaRPr lang="fr-FR" sz="1600" dirty="0">
              <a:solidFill>
                <a:schemeClr val="tx1"/>
              </a:solidFill>
              <a:latin typeface="Calibri" panose="020F0502020204030204" pitchFamily="34" charset="0"/>
            </a:endParaRPr>
          </a:p>
          <a:p>
            <a:pPr fontAlgn="b"/>
            <a:r>
              <a:rPr lang="fr-FR" sz="1600" dirty="0">
                <a:solidFill>
                  <a:schemeClr val="tx1"/>
                </a:solidFill>
              </a:rPr>
              <a:t>     • Pas de rendu de résultats</a:t>
            </a:r>
            <a:endParaRPr lang="fr-FR" sz="1600" dirty="0">
              <a:solidFill>
                <a:schemeClr val="tx1"/>
              </a:solidFill>
              <a:latin typeface="Calibri" panose="020F0502020204030204" pitchFamily="34" charset="0"/>
            </a:endParaRPr>
          </a:p>
          <a:p>
            <a:endParaRPr lang="fr-FR" sz="1600" dirty="0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67700" y="5589639"/>
            <a:ext cx="3042501" cy="109492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"/>
            <a:r>
              <a:rPr lang="fr-FR" sz="1600" dirty="0">
                <a:solidFill>
                  <a:schemeClr val="tx1"/>
                </a:solidFill>
              </a:rPr>
              <a:t>Choléra</a:t>
            </a:r>
            <a:endParaRPr lang="fr-FR" sz="1600" dirty="0">
              <a:solidFill>
                <a:schemeClr val="tx1"/>
              </a:solidFill>
              <a:latin typeface="Calibri" panose="020F0502020204030204" pitchFamily="34" charset="0"/>
            </a:endParaRPr>
          </a:p>
          <a:p>
            <a:pPr fontAlgn="b"/>
            <a:r>
              <a:rPr lang="fr-FR" sz="1600" dirty="0">
                <a:solidFill>
                  <a:schemeClr val="tx1"/>
                </a:solidFill>
              </a:rPr>
              <a:t>     • 3201 cas </a:t>
            </a:r>
            <a:r>
              <a:rPr lang="fr-FR" sz="1600" dirty="0" smtClean="0">
                <a:solidFill>
                  <a:schemeClr val="tx1"/>
                </a:solidFill>
              </a:rPr>
              <a:t>suspects notifiés </a:t>
            </a:r>
            <a:r>
              <a:rPr lang="fr-FR" sz="1600" dirty="0">
                <a:solidFill>
                  <a:schemeClr val="tx1"/>
                </a:solidFill>
              </a:rPr>
              <a:t>en 2025</a:t>
            </a:r>
            <a:endParaRPr lang="fr-FR" sz="1600" dirty="0">
              <a:solidFill>
                <a:schemeClr val="tx1"/>
              </a:solidFill>
              <a:latin typeface="Calibri" panose="020F0502020204030204" pitchFamily="34" charset="0"/>
            </a:endParaRPr>
          </a:p>
          <a:p>
            <a:pPr fontAlgn="b"/>
            <a:r>
              <a:rPr lang="fr-FR" sz="1600" dirty="0">
                <a:solidFill>
                  <a:schemeClr val="tx1"/>
                </a:solidFill>
              </a:rPr>
              <a:t>     • 229 décès en </a:t>
            </a:r>
            <a:r>
              <a:rPr lang="fr-FR" sz="1600" dirty="0" smtClean="0">
                <a:solidFill>
                  <a:schemeClr val="tx1"/>
                </a:solidFill>
              </a:rPr>
              <a:t>2025</a:t>
            </a:r>
            <a:endParaRPr lang="fr-FR" sz="16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413742" y="5589639"/>
            <a:ext cx="3060795" cy="1094928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"/>
            <a:r>
              <a:rPr lang="fr-FR" sz="1600" dirty="0" err="1">
                <a:solidFill>
                  <a:schemeClr val="tx1"/>
                </a:solidFill>
              </a:rPr>
              <a:t>Mpox</a:t>
            </a:r>
            <a:endParaRPr lang="fr-FR" sz="1600" dirty="0">
              <a:solidFill>
                <a:schemeClr val="tx1"/>
              </a:solidFill>
              <a:latin typeface="Calibri" panose="020F0502020204030204" pitchFamily="34" charset="0"/>
            </a:endParaRPr>
          </a:p>
          <a:p>
            <a:pPr fontAlgn="b"/>
            <a:r>
              <a:rPr lang="fr-FR" sz="1600" dirty="0">
                <a:solidFill>
                  <a:schemeClr val="tx1"/>
                </a:solidFill>
              </a:rPr>
              <a:t>     • 5493 </a:t>
            </a:r>
            <a:r>
              <a:rPr lang="fr-FR" sz="1600" dirty="0" smtClean="0">
                <a:solidFill>
                  <a:schemeClr val="tx1"/>
                </a:solidFill>
              </a:rPr>
              <a:t>cas suspects </a:t>
            </a:r>
            <a:r>
              <a:rPr lang="fr-FR" sz="1600" dirty="0">
                <a:solidFill>
                  <a:schemeClr val="tx1"/>
                </a:solidFill>
              </a:rPr>
              <a:t>notifiés en 2025</a:t>
            </a:r>
            <a:endParaRPr lang="fr-FR" sz="1600" dirty="0">
              <a:solidFill>
                <a:schemeClr val="tx1"/>
              </a:solidFill>
              <a:latin typeface="Calibri" panose="020F0502020204030204" pitchFamily="34" charset="0"/>
            </a:endParaRPr>
          </a:p>
          <a:p>
            <a:pPr fontAlgn="b"/>
            <a:r>
              <a:rPr lang="fr-FR" sz="1600" dirty="0">
                <a:solidFill>
                  <a:schemeClr val="tx1"/>
                </a:solidFill>
              </a:rPr>
              <a:t>     • 13 décès </a:t>
            </a:r>
            <a:r>
              <a:rPr lang="fr-FR" sz="1600" dirty="0" smtClean="0">
                <a:solidFill>
                  <a:schemeClr val="tx1"/>
                </a:solidFill>
              </a:rPr>
              <a:t>en 2025</a:t>
            </a:r>
            <a:endParaRPr lang="fr-FR" sz="16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14" name="Tableau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4800239"/>
              </p:ext>
            </p:extLst>
          </p:nvPr>
        </p:nvGraphicFramePr>
        <p:xfrm>
          <a:off x="6576638" y="855869"/>
          <a:ext cx="5458047" cy="5806182"/>
        </p:xfrm>
        <a:graphic>
          <a:graphicData uri="http://schemas.openxmlformats.org/drawingml/2006/table">
            <a:tbl>
              <a:tblPr/>
              <a:tblGrid>
                <a:gridCol w="872162">
                  <a:extLst>
                    <a:ext uri="{9D8B030D-6E8A-4147-A177-3AD203B41FA5}">
                      <a16:colId xmlns:a16="http://schemas.microsoft.com/office/drawing/2014/main" val="2573970001"/>
                    </a:ext>
                  </a:extLst>
                </a:gridCol>
                <a:gridCol w="722112">
                  <a:extLst>
                    <a:ext uri="{9D8B030D-6E8A-4147-A177-3AD203B41FA5}">
                      <a16:colId xmlns:a16="http://schemas.microsoft.com/office/drawing/2014/main" val="3738205987"/>
                    </a:ext>
                  </a:extLst>
                </a:gridCol>
                <a:gridCol w="722112">
                  <a:extLst>
                    <a:ext uri="{9D8B030D-6E8A-4147-A177-3AD203B41FA5}">
                      <a16:colId xmlns:a16="http://schemas.microsoft.com/office/drawing/2014/main" val="1731044612"/>
                    </a:ext>
                  </a:extLst>
                </a:gridCol>
                <a:gridCol w="909675">
                  <a:extLst>
                    <a:ext uri="{9D8B030D-6E8A-4147-A177-3AD203B41FA5}">
                      <a16:colId xmlns:a16="http://schemas.microsoft.com/office/drawing/2014/main" val="1108707553"/>
                    </a:ext>
                  </a:extLst>
                </a:gridCol>
                <a:gridCol w="1115993">
                  <a:extLst>
                    <a:ext uri="{9D8B030D-6E8A-4147-A177-3AD203B41FA5}">
                      <a16:colId xmlns:a16="http://schemas.microsoft.com/office/drawing/2014/main" val="1530889500"/>
                    </a:ext>
                  </a:extLst>
                </a:gridCol>
                <a:gridCol w="1115993">
                  <a:extLst>
                    <a:ext uri="{9D8B030D-6E8A-4147-A177-3AD203B41FA5}">
                      <a16:colId xmlns:a16="http://schemas.microsoft.com/office/drawing/2014/main" val="1690307438"/>
                    </a:ext>
                  </a:extLst>
                </a:gridCol>
              </a:tblGrid>
              <a:tr h="540378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fr-F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Antenne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fr-F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Indicateurs PFA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fr-F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Indicateurs Rougeole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9899378"/>
                  </a:ext>
                </a:extLst>
              </a:tr>
              <a:tr h="1686166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TPFANP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 Selles ˂ 14 jours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 cas </a:t>
                      </a:r>
                      <a:r>
                        <a:rPr lang="fr-FR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notifiés </a:t>
                      </a:r>
                      <a:r>
                        <a:rPr lang="fr-F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≤ 7 jours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Taux de fièvre éruptive non rougeoleuse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Proportion riposte épidémie de rougeole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768789"/>
                  </a:ext>
                </a:extLst>
              </a:tr>
              <a:tr h="1057664">
                <a:tc>
                  <a:txBody>
                    <a:bodyPr/>
                    <a:lstStyle/>
                    <a:p>
                      <a:pPr algn="l" fontAlgn="ctr"/>
                      <a:r>
                        <a:rPr lang="fr-FR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KIN CENTRE</a:t>
                      </a:r>
                      <a:endParaRPr lang="fr-F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0377958"/>
                  </a:ext>
                </a:extLst>
              </a:tr>
              <a:tr h="756388">
                <a:tc>
                  <a:txBody>
                    <a:bodyPr/>
                    <a:lstStyle/>
                    <a:p>
                      <a:pPr algn="l" fontAlgn="ctr"/>
                      <a:r>
                        <a:rPr lang="fr-FR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KIN EST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7957362"/>
                  </a:ext>
                </a:extLst>
              </a:tr>
              <a:tr h="707922">
                <a:tc>
                  <a:txBody>
                    <a:bodyPr/>
                    <a:lstStyle/>
                    <a:p>
                      <a:pPr algn="l" fontAlgn="ctr"/>
                      <a:r>
                        <a:rPr lang="fr-FR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KIN OUEST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980140"/>
                  </a:ext>
                </a:extLst>
              </a:tr>
              <a:tr h="1057664">
                <a:tc>
                  <a:txBody>
                    <a:bodyPr/>
                    <a:lstStyle/>
                    <a:p>
                      <a:pPr algn="l" fontAlgn="ctr"/>
                      <a:r>
                        <a:rPr lang="fr-FR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Moyenne DPS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3,43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78,90%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52627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7959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re 2"/>
          <p:cNvSpPr>
            <a:spLocks noGrp="1"/>
          </p:cNvSpPr>
          <p:nvPr>
            <p:ph type="title"/>
          </p:nvPr>
        </p:nvSpPr>
        <p:spPr>
          <a:xfrm>
            <a:off x="235526" y="136525"/>
            <a:ext cx="11735812" cy="709613"/>
          </a:xfrm>
          <a:solidFill>
            <a:srgbClr val="0000FF">
              <a:alpha val="100000"/>
            </a:srgbClr>
          </a:solidFill>
          <a:ln/>
        </p:spPr>
        <p:txBody>
          <a:bodyPr vert="horz" wrap="square" lIns="91440" tIns="45720" rIns="91440" bIns="45720" anchor="ctr" anchorCtr="0"/>
          <a:lstStyle/>
          <a:p>
            <a:pPr algn="ctr" eaLnBrk="1" hangingPunct="1"/>
            <a:r>
              <a:rPr lang="fr-FR" altLang="fr-FR" sz="3200" dirty="0" smtClean="0">
                <a:solidFill>
                  <a:srgbClr val="FFFF00"/>
                </a:solidFill>
                <a:latin typeface="Candara" panose="020E0502030303020204" pitchFamily="34" charset="0"/>
                <a:ea typeface="MS PGothic" panose="020B0600070205080204" pitchFamily="34" charset="-128"/>
              </a:rPr>
              <a:t>3.5.Aspects </a:t>
            </a:r>
            <a:r>
              <a:rPr lang="fr-FR" altLang="fr-FR" sz="3200" dirty="0">
                <a:solidFill>
                  <a:srgbClr val="FFFF00"/>
                </a:solidFill>
                <a:latin typeface="Candara" panose="020E0502030303020204" pitchFamily="34" charset="0"/>
                <a:ea typeface="MS PGothic" panose="020B0600070205080204" pitchFamily="34" charset="-128"/>
              </a:rPr>
              <a:t>Financiers </a:t>
            </a:r>
            <a:r>
              <a:rPr lang="fr-FR" altLang="fr-FR" sz="3200" dirty="0" smtClean="0">
                <a:solidFill>
                  <a:srgbClr val="FFFF00"/>
                </a:solidFill>
                <a:latin typeface="Candara" panose="020E0502030303020204" pitchFamily="34" charset="0"/>
                <a:ea typeface="MS PGothic" panose="020B0600070205080204" pitchFamily="34" charset="-128"/>
              </a:rPr>
              <a:t>2025 </a:t>
            </a:r>
            <a:endParaRPr lang="fr-FR" altLang="fr-FR" sz="3200" dirty="0">
              <a:solidFill>
                <a:srgbClr val="FFFF00"/>
              </a:solidFill>
              <a:latin typeface="Candara" panose="020E0502030303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5363" name="Espace réservé du numéro de diapositive 5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 anchorCtr="0"/>
          <a:lstStyle/>
          <a:p>
            <a:pPr marL="0" indent="0"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fld id="{9A0DB2DC-4C9A-4742-B13C-FB6460FD3503}" type="slidenum">
              <a:rPr lang="fr-FR" altLang="fr-FR" sz="1400" dirty="0">
                <a:solidFill>
                  <a:srgbClr val="FFFF00"/>
                </a:solidFill>
                <a:latin typeface="Times New Roman" panose="02020603050405020304" pitchFamily="18" charset="0"/>
                <a:ea typeface="MS PGothic" panose="020B0600070205080204" pitchFamily="34" charset="-128"/>
              </a:rPr>
              <a:t>22</a:t>
            </a:fld>
            <a:endParaRPr lang="fr-FR" altLang="fr-FR" sz="1400" dirty="0">
              <a:solidFill>
                <a:srgbClr val="FFFF00"/>
              </a:solidFill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  <p:graphicFrame>
        <p:nvGraphicFramePr>
          <p:cNvPr id="2" name="Tableau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5538179"/>
              </p:ext>
            </p:extLst>
          </p:nvPr>
        </p:nvGraphicFramePr>
        <p:xfrm>
          <a:off x="6525492" y="909638"/>
          <a:ext cx="5445847" cy="5811837"/>
        </p:xfrm>
        <a:graphic>
          <a:graphicData uri="http://schemas.openxmlformats.org/drawingml/2006/table">
            <a:tbl>
              <a:tblPr/>
              <a:tblGrid>
                <a:gridCol w="15793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0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57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4194">
                <a:tc>
                  <a:txBody>
                    <a:bodyPr/>
                    <a:lstStyle/>
                    <a:p>
                      <a:pPr algn="ctr" rtl="0" fontAlgn="b"/>
                      <a:r>
                        <a:rPr lang="fr-FR" sz="1600" b="1" i="0" u="none" strike="noStrike">
                          <a:solidFill>
                            <a:srgbClr val="000000"/>
                          </a:solidFill>
                          <a:effectLst/>
                          <a:latin typeface="Candara" panose="020E0502030303020204" pitchFamily="34" charset="0"/>
                        </a:rPr>
                        <a:t>Source de Financement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fr-FR" sz="1600" b="1" i="0" u="none" strike="noStrike">
                          <a:solidFill>
                            <a:srgbClr val="000000"/>
                          </a:solidFill>
                          <a:effectLst/>
                          <a:latin typeface="Candara" panose="020E0502030303020204" pitchFamily="34" charset="0"/>
                        </a:rPr>
                        <a:t>Montant reçu ($)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fr-FR" sz="1600" b="1" i="0" u="none" strike="noStrike">
                          <a:solidFill>
                            <a:srgbClr val="000000"/>
                          </a:solidFill>
                          <a:effectLst/>
                          <a:latin typeface="Candara" panose="020E0502030303020204" pitchFamily="34" charset="0"/>
                        </a:rPr>
                        <a:t>Observation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325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ndara" panose="020E0502030303020204" pitchFamily="34" charset="0"/>
                        </a:rPr>
                        <a:t>OMS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2000" b="1" i="0" u="none" strike="noStrike">
                          <a:solidFill>
                            <a:srgbClr val="000000"/>
                          </a:solidFill>
                          <a:effectLst/>
                          <a:latin typeface="Candara" panose="020E0502030303020204" pitchFamily="34" charset="0"/>
                        </a:rPr>
                        <a:t>3573867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fr-FR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ndara" panose="020E0502030303020204" pitchFamily="34" charset="0"/>
                        </a:rPr>
                        <a:t>Surveillance, Supervision conjointe, </a:t>
                      </a:r>
                      <a:r>
                        <a:rPr lang="fr-F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ndara" panose="020E0502030303020204" pitchFamily="34" charset="0"/>
                        </a:rPr>
                        <a:t>Vaccination </a:t>
                      </a:r>
                      <a:r>
                        <a:rPr lang="fr-FR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ndara" panose="020E0502030303020204" pitchFamily="34" charset="0"/>
                        </a:rPr>
                        <a:t>Mpox</a:t>
                      </a:r>
                      <a:r>
                        <a:rPr lang="fr-F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ndara" panose="020E0502030303020204" pitchFamily="34" charset="0"/>
                        </a:rPr>
                        <a:t>, riposte rougeole, cholera et JLV Polio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7177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ndara" panose="020E0502030303020204" pitchFamily="34" charset="0"/>
                        </a:rPr>
                        <a:t>UNICEF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2000" b="1" i="0" u="none" strike="noStrike">
                          <a:solidFill>
                            <a:srgbClr val="000000"/>
                          </a:solidFill>
                          <a:effectLst/>
                          <a:latin typeface="Candara" panose="020E0502030303020204" pitchFamily="34" charset="0"/>
                        </a:rPr>
                        <a:t>1861352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fr-F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ndara" panose="020E0502030303020204" pitchFamily="34" charset="0"/>
                        </a:rPr>
                        <a:t>Vaccination </a:t>
                      </a:r>
                      <a:r>
                        <a:rPr lang="fr-FR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ndara" panose="020E0502030303020204" pitchFamily="34" charset="0"/>
                        </a:rPr>
                        <a:t>Mpox</a:t>
                      </a:r>
                      <a:r>
                        <a:rPr lang="fr-F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ndara" panose="020E0502030303020204" pitchFamily="34" charset="0"/>
                        </a:rPr>
                        <a:t> et JLV Polio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7177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ndara" panose="020E0502030303020204" pitchFamily="34" charset="0"/>
                        </a:rPr>
                        <a:t>GAVI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2000" b="1" i="0" u="none" strike="noStrike">
                          <a:solidFill>
                            <a:srgbClr val="000000"/>
                          </a:solidFill>
                          <a:effectLst/>
                          <a:latin typeface="Candara" panose="020E0502030303020204" pitchFamily="34" charset="0"/>
                        </a:rPr>
                        <a:t>212123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fr-F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ndara" panose="020E0502030303020204" pitchFamily="34" charset="0"/>
                        </a:rPr>
                        <a:t>Renforcement de PEV de routine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3422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ndara" panose="020E0502030303020204" pitchFamily="34" charset="0"/>
                        </a:rPr>
                        <a:t>AFRICA CDC/ GHSS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2000" b="1" i="0" u="none" strike="noStrike">
                          <a:solidFill>
                            <a:srgbClr val="000000"/>
                          </a:solidFill>
                          <a:effectLst/>
                          <a:latin typeface="Candara" panose="020E0502030303020204" pitchFamily="34" charset="0"/>
                        </a:rPr>
                        <a:t>182160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fr-F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ndara" panose="020E0502030303020204" pitchFamily="34" charset="0"/>
                        </a:rPr>
                        <a:t>Monitorage, Supervision et Renforcement de capacité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76613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ndara" panose="020E0502030303020204" pitchFamily="34" charset="0"/>
                        </a:rPr>
                        <a:t>PAM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ndara" panose="020E0502030303020204" pitchFamily="34" charset="0"/>
                        </a:rPr>
                        <a:t>84000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fr-F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ndara" panose="020E0502030303020204" pitchFamily="34" charset="0"/>
                        </a:rPr>
                        <a:t>Transport et conservation des vaccins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9" name="Graphique 8"/>
          <p:cNvGraphicFramePr>
            <a:graphicFrameLocks/>
          </p:cNvGraphicFramePr>
          <p:nvPr/>
        </p:nvGraphicFramePr>
        <p:xfrm>
          <a:off x="235526" y="909638"/>
          <a:ext cx="6137565" cy="58477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ZoneTexte 2"/>
          <p:cNvSpPr txBox="1"/>
          <p:nvPr/>
        </p:nvSpPr>
        <p:spPr>
          <a:xfrm>
            <a:off x="387927" y="1066801"/>
            <a:ext cx="3158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/>
              <a:t>Montant Total: 5913502 USD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3335046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aabd3d1b2d_0_309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3600" b="1" dirty="0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4. </a:t>
            </a:r>
            <a:r>
              <a:rPr lang="en-US" sz="3600" b="1" dirty="0" err="1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Défis</a:t>
            </a:r>
            <a:r>
              <a:rPr lang="en-US" sz="3600" b="1" dirty="0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3600" b="1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persistants</a:t>
            </a:r>
            <a:r>
              <a:rPr lang="en-US" sz="3600" b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3600" b="1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malgré</a:t>
            </a:r>
            <a:r>
              <a:rPr lang="en-US" sz="3600" b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les performances</a:t>
            </a:r>
            <a:endParaRPr sz="3600" b="1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36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36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36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36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36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96" name="Google Shape;196;g3aabd3d1b2d_0_309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97" name="Google Shape;197;g3aabd3d1b2d_0_309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98" name="Google Shape;198;g3aabd3d1b2d_0_309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23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99" name="Google Shape;199;g3aabd3d1b2d_0_309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ZoneTexte 1"/>
          <p:cNvSpPr txBox="1"/>
          <p:nvPr/>
        </p:nvSpPr>
        <p:spPr>
          <a:xfrm>
            <a:off x="375046" y="1310899"/>
            <a:ext cx="11200008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3200" dirty="0" smtClean="0">
                <a:solidFill>
                  <a:schemeClr val="tx1"/>
                </a:solidFill>
              </a:rPr>
              <a:t> Nombre élevé des enfants </a:t>
            </a:r>
            <a:r>
              <a:rPr lang="fr-FR" sz="3200" dirty="0" smtClean="0">
                <a:solidFill>
                  <a:schemeClr val="tx1"/>
                </a:solidFill>
              </a:rPr>
              <a:t>ZD</a:t>
            </a:r>
            <a:r>
              <a:rPr lang="fr-FR" sz="3200" dirty="0" smtClean="0">
                <a:solidFill>
                  <a:schemeClr val="tx1"/>
                </a:solidFill>
              </a:rPr>
              <a:t>(30 984</a:t>
            </a:r>
            <a:r>
              <a:rPr lang="fr-FR" sz="3200" dirty="0" smtClean="0">
                <a:solidFill>
                  <a:schemeClr val="tx1"/>
                </a:solidFill>
              </a:rPr>
              <a:t>) </a:t>
            </a:r>
            <a:r>
              <a:rPr lang="fr-FR" sz="3200" dirty="0" smtClean="0">
                <a:solidFill>
                  <a:schemeClr val="tx1"/>
                </a:solidFill>
              </a:rPr>
              <a:t>&amp; </a:t>
            </a:r>
            <a:r>
              <a:rPr lang="fr-FR" sz="3200" dirty="0" smtClean="0">
                <a:solidFill>
                  <a:schemeClr val="tx1"/>
                </a:solidFill>
              </a:rPr>
              <a:t>SV(54 431)</a:t>
            </a:r>
            <a:endParaRPr lang="fr-FR" sz="3200" dirty="0">
              <a:solidFill>
                <a:schemeClr val="tx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3200" dirty="0" smtClean="0">
                <a:solidFill>
                  <a:schemeClr val="tx1"/>
                </a:solidFill>
              </a:rPr>
              <a:t> Irrégularité de la tenue </a:t>
            </a:r>
            <a:r>
              <a:rPr lang="fr-FR" sz="3200" dirty="0">
                <a:solidFill>
                  <a:schemeClr val="tx1"/>
                </a:solidFill>
              </a:rPr>
              <a:t>des réunions </a:t>
            </a:r>
            <a:r>
              <a:rPr lang="fr-FR" sz="3200" dirty="0" err="1">
                <a:solidFill>
                  <a:schemeClr val="tx1"/>
                </a:solidFill>
              </a:rPr>
              <a:t>CCPeV</a:t>
            </a:r>
            <a:endParaRPr lang="fr-FR" sz="3200" dirty="0">
              <a:solidFill>
                <a:schemeClr val="tx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3200" dirty="0" smtClean="0">
                <a:solidFill>
                  <a:schemeClr val="tx1"/>
                </a:solidFill>
              </a:rPr>
              <a:t> Faible qualité </a:t>
            </a:r>
            <a:r>
              <a:rPr lang="fr-FR" sz="3200" dirty="0">
                <a:solidFill>
                  <a:schemeClr val="tx1"/>
                </a:solidFill>
              </a:rPr>
              <a:t>des données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3200" dirty="0" smtClean="0">
                <a:solidFill>
                  <a:schemeClr val="tx1"/>
                </a:solidFill>
              </a:rPr>
              <a:t> Faible qualité </a:t>
            </a:r>
            <a:r>
              <a:rPr lang="fr-FR" sz="3200" dirty="0">
                <a:solidFill>
                  <a:schemeClr val="tx1"/>
                </a:solidFill>
              </a:rPr>
              <a:t>de supervision </a:t>
            </a:r>
            <a:r>
              <a:rPr lang="fr-FR" sz="3200" dirty="0" err="1">
                <a:solidFill>
                  <a:schemeClr val="tx1"/>
                </a:solidFill>
              </a:rPr>
              <a:t>Mashako</a:t>
            </a:r>
            <a:r>
              <a:rPr lang="fr-FR" sz="3200" dirty="0">
                <a:solidFill>
                  <a:schemeClr val="tx1"/>
                </a:solidFill>
              </a:rPr>
              <a:t> </a:t>
            </a:r>
            <a:r>
              <a:rPr lang="fr-FR" sz="3200" dirty="0" smtClean="0">
                <a:solidFill>
                  <a:schemeClr val="tx1"/>
                </a:solidFill>
              </a:rPr>
              <a:t>3.0 des antennes vers les </a:t>
            </a:r>
            <a:r>
              <a:rPr lang="fr-FR" sz="3200" dirty="0">
                <a:solidFill>
                  <a:schemeClr val="tx1"/>
                </a:solidFill>
              </a:rPr>
              <a:t>ZS et </a:t>
            </a:r>
            <a:r>
              <a:rPr lang="fr-FR" sz="3200" dirty="0" smtClean="0">
                <a:solidFill>
                  <a:schemeClr val="tx1"/>
                </a:solidFill>
              </a:rPr>
              <a:t>des ZS vers les </a:t>
            </a:r>
            <a:r>
              <a:rPr lang="fr-FR" sz="3200" dirty="0">
                <a:solidFill>
                  <a:schemeClr val="tx1"/>
                </a:solidFill>
              </a:rPr>
              <a:t>AS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3200" dirty="0" smtClean="0">
                <a:solidFill>
                  <a:schemeClr val="tx1"/>
                </a:solidFill>
              </a:rPr>
              <a:t> Prestataires non formés en </a:t>
            </a:r>
            <a:r>
              <a:rPr lang="fr-FR" sz="3200" dirty="0">
                <a:solidFill>
                  <a:schemeClr val="tx1"/>
                </a:solidFill>
              </a:rPr>
              <a:t>gestion PEV </a:t>
            </a:r>
            <a:r>
              <a:rPr lang="fr-FR" sz="3200" dirty="0" smtClean="0">
                <a:solidFill>
                  <a:schemeClr val="tx1"/>
                </a:solidFill>
              </a:rPr>
              <a:t>dans les ZS </a:t>
            </a:r>
            <a:r>
              <a:rPr lang="fr-FR" sz="3200" dirty="0" err="1">
                <a:solidFill>
                  <a:schemeClr val="tx1"/>
                </a:solidFill>
              </a:rPr>
              <a:t>Maluku</a:t>
            </a:r>
            <a:r>
              <a:rPr lang="fr-FR" sz="3200" dirty="0">
                <a:solidFill>
                  <a:schemeClr val="tx1"/>
                </a:solidFill>
              </a:rPr>
              <a:t> 1 et </a:t>
            </a:r>
            <a:r>
              <a:rPr lang="fr-FR" sz="3200" dirty="0" err="1">
                <a:solidFill>
                  <a:schemeClr val="tx1"/>
                </a:solidFill>
              </a:rPr>
              <a:t>Maluku</a:t>
            </a:r>
            <a:r>
              <a:rPr lang="fr-FR" sz="3200" dirty="0">
                <a:solidFill>
                  <a:schemeClr val="tx1"/>
                </a:solidFill>
              </a:rPr>
              <a:t> 2 </a:t>
            </a:r>
          </a:p>
          <a:p>
            <a:endParaRPr lang="fr-FR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9412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aabd3d1b2d_0_317"/>
          <p:cNvSpPr txBox="1"/>
          <p:nvPr/>
        </p:nvSpPr>
        <p:spPr>
          <a:xfrm>
            <a:off x="458592" y="317941"/>
            <a:ext cx="11274900" cy="6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4000" dirty="0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5. </a:t>
            </a:r>
            <a:r>
              <a:rPr lang="en-US" sz="4000" dirty="0" err="1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Besoins</a:t>
            </a:r>
            <a:r>
              <a:rPr lang="en-US" sz="4000" dirty="0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40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pour maintenir les acquis</a:t>
            </a:r>
            <a:endParaRPr sz="40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Wingdings" panose="05000000000000000000" pitchFamily="2" charset="2"/>
              <a:buChar char="q"/>
            </a:pPr>
            <a:r>
              <a:rPr lang="fr-FR" sz="3200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Maintenir les acquis: Réunions de coordination, réunions d’analyse des données, supervisions en </a:t>
            </a:r>
            <a:r>
              <a:rPr lang="fr-FR" sz="3200" dirty="0" smtClean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cascade</a:t>
            </a:r>
          </a:p>
          <a:p>
            <a:pPr marL="457200" lvl="0" indent="-457200">
              <a:buClr>
                <a:schemeClr val="dk1"/>
              </a:buClr>
              <a:buSzPts val="1500"/>
              <a:buFont typeface="Wingdings" panose="05000000000000000000" pitchFamily="2" charset="2"/>
              <a:buChar char="q"/>
            </a:pPr>
            <a:r>
              <a:rPr lang="fr-FR" sz="3200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Supervisions régulières du Niveau </a:t>
            </a:r>
            <a:r>
              <a:rPr lang="fr-FR" sz="3200" dirty="0" smtClean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central</a:t>
            </a:r>
            <a:endParaRPr lang="fr-FR" sz="3200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Wingdings" panose="05000000000000000000" pitchFamily="2" charset="2"/>
              <a:buChar char="q"/>
            </a:pPr>
            <a:r>
              <a:rPr lang="fr-FR" sz="3200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Plaidoyer pour l’implication des autorités politiques (gouvernement provincial et députés)</a:t>
            </a: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Wingdings" panose="05000000000000000000" pitchFamily="2" charset="2"/>
              <a:buChar char="q"/>
            </a:pPr>
            <a:r>
              <a:rPr lang="fr-FR" sz="3200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L’évaluation du cadre de redevabilité à tous les </a:t>
            </a:r>
            <a:r>
              <a:rPr lang="fr-FR" sz="3200" dirty="0" smtClean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niveaux</a:t>
            </a:r>
            <a:endParaRPr lang="fr-FR" sz="3200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457200">
              <a:buClr>
                <a:schemeClr val="dk1"/>
              </a:buClr>
              <a:buSzPts val="1500"/>
              <a:buFont typeface="Wingdings" panose="05000000000000000000" pitchFamily="2" charset="2"/>
              <a:buChar char="q"/>
            </a:pPr>
            <a:r>
              <a:rPr lang="fr-FR" sz="3200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Supervisions formatives de </a:t>
            </a:r>
            <a:r>
              <a:rPr lang="fr-FR" sz="3200" dirty="0" smtClean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qualité</a:t>
            </a:r>
          </a:p>
          <a:p>
            <a:pPr marL="457200" lvl="0" indent="-457200">
              <a:buClr>
                <a:schemeClr val="dk1"/>
              </a:buClr>
              <a:buSzPts val="1500"/>
              <a:buFont typeface="Wingdings" panose="05000000000000000000" pitchFamily="2" charset="2"/>
              <a:buChar char="q"/>
            </a:pPr>
            <a:r>
              <a:rPr lang="fr-FR" sz="3200" dirty="0" smtClean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Formation en orientation </a:t>
            </a:r>
            <a:r>
              <a:rPr lang="fr-FR" sz="3200" dirty="0" err="1" smtClean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Mashako</a:t>
            </a:r>
            <a:r>
              <a:rPr lang="fr-FR" sz="3200" dirty="0" smtClean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3.0</a:t>
            </a:r>
          </a:p>
          <a:p>
            <a:pPr marL="457200" lvl="0" indent="-457200">
              <a:buClr>
                <a:schemeClr val="dk1"/>
              </a:buClr>
              <a:buSzPts val="1500"/>
              <a:buFont typeface="Wingdings" panose="05000000000000000000" pitchFamily="2" charset="2"/>
              <a:buChar char="q"/>
            </a:pPr>
            <a:r>
              <a:rPr lang="fr-FR" sz="3200" dirty="0" smtClean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Formation des Infirmiers chargés de la vaccination dans les ESS</a:t>
            </a:r>
            <a:endParaRPr lang="fr-FR" sz="3200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05" name="Google Shape;205;g3aabd3d1b2d_0_317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06" name="Google Shape;206;g3aabd3d1b2d_0_317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07" name="Google Shape;207;g3aabd3d1b2d_0_317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24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08" name="Google Shape;208;g3aabd3d1b2d_0_317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aabd3d1b2d_0_325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 dirty="0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6. </a:t>
            </a:r>
            <a:r>
              <a:rPr lang="en-US" sz="2700" dirty="0" err="1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Recommandations</a:t>
            </a: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14" name="Google Shape;214;g3aabd3d1b2d_0_325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15" name="Google Shape;215;g3aabd3d1b2d_0_325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16" name="Google Shape;216;g3aabd3d1b2d_0_325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25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17" name="Google Shape;217;g3aabd3d1b2d_0_325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2" name="Tableau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6802387"/>
              </p:ext>
            </p:extLst>
          </p:nvPr>
        </p:nvGraphicFramePr>
        <p:xfrm>
          <a:off x="458508" y="1049637"/>
          <a:ext cx="11274900" cy="5151692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6380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678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819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69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652">
                <a:tc>
                  <a:txBody>
                    <a:bodyPr/>
                    <a:lstStyle/>
                    <a:p>
                      <a:r>
                        <a:rPr lang="fr-FR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N°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Recommandations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Responsables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Echéance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652">
                <a:tc>
                  <a:txBody>
                    <a:bodyPr/>
                    <a:lstStyle/>
                    <a:p>
                      <a:r>
                        <a:rPr lang="fr-FR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Organiser</a:t>
                      </a:r>
                      <a:r>
                        <a:rPr lang="fr-FR" sz="200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la formation sur les orientation </a:t>
                      </a:r>
                      <a:r>
                        <a:rPr lang="fr-FR" sz="2000" baseline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Mashako</a:t>
                      </a:r>
                      <a:r>
                        <a:rPr lang="fr-FR" sz="200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3.0</a:t>
                      </a:r>
                      <a:endParaRPr lang="fr-FR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Direction </a:t>
                      </a:r>
                      <a:r>
                        <a:rPr lang="fr-FR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</a:t>
                      </a:r>
                      <a:r>
                        <a:rPr lang="fr-FR" sz="200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cours du mois de décembre</a:t>
                      </a:r>
                      <a:endParaRPr lang="fr-FR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652">
                <a:tc>
                  <a:txBody>
                    <a:bodyPr/>
                    <a:lstStyle/>
                    <a:p>
                      <a:r>
                        <a:rPr lang="fr-FR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kumimoji="0" lang="fr-FR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20204"/>
                        </a:rPr>
                        <a:t>Doter les réfrigérateurs solaires aux 88 AS n’en disposant pas</a:t>
                      </a:r>
                      <a:endParaRPr kumimoji="0" lang="fr-FR" sz="2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r>
                        <a:rPr lang="fr-FR" sz="2000" b="0" i="0" u="none" strike="noStrike" cap="none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20204"/>
                        </a:rPr>
                        <a:t>Direction PEV et PTF</a:t>
                      </a:r>
                      <a:endParaRPr lang="fr-FR" sz="20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fr-FR" sz="1600" baseline="30000" dirty="0" smtClean="0">
                          <a:solidFill>
                            <a:schemeClr val="tx1"/>
                          </a:solidFill>
                        </a:rPr>
                        <a:t>er</a:t>
                      </a:r>
                      <a:r>
                        <a:rPr lang="fr-FR" sz="1600" dirty="0" smtClean="0">
                          <a:solidFill>
                            <a:schemeClr val="tx1"/>
                          </a:solidFill>
                        </a:rPr>
                        <a:t> Trimestre 2026</a:t>
                      </a:r>
                      <a:endParaRPr lang="fr-FR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652">
                <a:tc>
                  <a:txBody>
                    <a:bodyPr/>
                    <a:lstStyle/>
                    <a:p>
                      <a:r>
                        <a:rPr lang="fr-FR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Assurer</a:t>
                      </a:r>
                      <a:r>
                        <a:rPr lang="fr-FR" sz="200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la maintenance curative des 15% des matériels de chaine de froid en panne</a:t>
                      </a:r>
                      <a:endParaRPr lang="fr-FR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Direction PEV et PTF</a:t>
                      </a:r>
                      <a:endParaRPr lang="fr-FR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Janvier 2026</a:t>
                      </a:r>
                      <a:endParaRPr lang="fr-FR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652">
                <a:tc>
                  <a:txBody>
                    <a:bodyPr/>
                    <a:lstStyle/>
                    <a:p>
                      <a:endParaRPr lang="fr-FR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Mener le plaidoyer au près de l’autorité pour la </a:t>
                      </a:r>
                      <a:r>
                        <a:rPr lang="fr-FR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tenue régulière </a:t>
                      </a:r>
                      <a:r>
                        <a:rPr lang="fr-FR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</a:t>
                      </a:r>
                      <a:r>
                        <a:rPr lang="fr-FR" sz="200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fr-FR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réunions </a:t>
                      </a:r>
                      <a:r>
                        <a:rPr lang="fr-FR" sz="200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CCPeV</a:t>
                      </a:r>
                      <a:endParaRPr lang="fr-FR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CDPS</a:t>
                      </a:r>
                      <a:endParaRPr lang="fr-FR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Janvier 2026</a:t>
                      </a:r>
                      <a:endParaRPr lang="fr-FR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2049668"/>
                  </a:ext>
                </a:extLst>
              </a:tr>
              <a:tr h="640652">
                <a:tc>
                  <a:txBody>
                    <a:bodyPr/>
                    <a:lstStyle/>
                    <a:p>
                      <a:r>
                        <a:rPr lang="fr-FR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Mobiliser les fonds pour assurer la formation des Infirmiers chargés de la vaccination dans les ESS de Kinshasa</a:t>
                      </a:r>
                      <a:endParaRPr lang="fr-FR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Direction PEV</a:t>
                      </a:r>
                      <a:endParaRPr lang="fr-FR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Janvier 2026</a:t>
                      </a:r>
                      <a:endParaRPr lang="fr-FR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652">
                <a:tc>
                  <a:txBody>
                    <a:bodyPr/>
                    <a:lstStyle/>
                    <a:p>
                      <a:r>
                        <a:rPr lang="fr-FR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Mobiliser les fonds pour la formation en gestion PEV des cadres des ZS Maluku1 et Maluku2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Direction PEV, CDPS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Janvier 2026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aabd3d1b2d_0_325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 dirty="0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6. </a:t>
            </a:r>
            <a:r>
              <a:rPr lang="en-US" sz="2700" dirty="0" err="1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Recommandations</a:t>
            </a: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14" name="Google Shape;214;g3aabd3d1b2d_0_325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15" name="Google Shape;215;g3aabd3d1b2d_0_325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16" name="Google Shape;216;g3aabd3d1b2d_0_325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26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17" name="Google Shape;217;g3aabd3d1b2d_0_325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2" name="Tableau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8954487"/>
              </p:ext>
            </p:extLst>
          </p:nvPr>
        </p:nvGraphicFramePr>
        <p:xfrm>
          <a:off x="486696" y="1076631"/>
          <a:ext cx="11246711" cy="4531422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6364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527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57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17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6714">
                <a:tc>
                  <a:txBody>
                    <a:bodyPr/>
                    <a:lstStyle/>
                    <a:p>
                      <a:r>
                        <a:rPr lang="fr-FR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N°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Recommandations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Responsables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Echéance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8779">
                <a:tc>
                  <a:txBody>
                    <a:bodyPr/>
                    <a:lstStyle/>
                    <a:p>
                      <a:r>
                        <a:rPr lang="fr-FR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Assurer le suivi des activités de recherche et identification des enfants zéro-dose et sous-vaccinés au niveau </a:t>
                      </a:r>
                      <a:r>
                        <a:rPr lang="fr-FR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 toutes les </a:t>
                      </a:r>
                      <a:r>
                        <a:rPr lang="fr-FR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</a:t>
                      </a:r>
                    </a:p>
                    <a:p>
                      <a:endParaRPr lang="fr-FR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ITAS, </a:t>
                      </a:r>
                      <a:r>
                        <a:rPr lang="fr-FR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Infirmiers chargé de vaccination, IS PEV, AC, MCZ et MCA</a:t>
                      </a:r>
                      <a:endParaRPr lang="fr-FR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Permanente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8779">
                <a:tc>
                  <a:txBody>
                    <a:bodyPr/>
                    <a:lstStyle/>
                    <a:p>
                      <a:r>
                        <a:rPr lang="fr-FR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fr-FR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Mener un plaidoyer pour</a:t>
                      </a:r>
                      <a:r>
                        <a:rPr lang="fr-FR" sz="200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la formation sur l</a:t>
                      </a:r>
                      <a:r>
                        <a:rPr lang="fr-FR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’évaluation </a:t>
                      </a:r>
                      <a:r>
                        <a:rPr lang="fr-FR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 la qualité des </a:t>
                      </a:r>
                      <a:r>
                        <a:rPr lang="fr-FR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données (DQS)</a:t>
                      </a:r>
                      <a:r>
                        <a:rPr lang="fr-FR" sz="200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afin que les cadres du niveau opérationnel soient capables d’assurer le suivi</a:t>
                      </a:r>
                      <a:r>
                        <a:rPr lang="fr-FR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fr-FR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dans les ZS où persistent une faible </a:t>
                      </a:r>
                      <a:r>
                        <a:rPr lang="fr-FR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qualité</a:t>
                      </a:r>
                      <a:endParaRPr lang="fr-FR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MCA, MCZ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À partir de janvier 2026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6714">
                <a:tc>
                  <a:txBody>
                    <a:bodyPr/>
                    <a:lstStyle/>
                    <a:p>
                      <a:r>
                        <a:rPr lang="fr-FR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fr-FR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6714">
                <a:tc>
                  <a:txBody>
                    <a:bodyPr/>
                    <a:lstStyle/>
                    <a:p>
                      <a:r>
                        <a:rPr lang="fr-FR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3160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aabd3d1b2d_0_178"/>
          <p:cNvSpPr txBox="1"/>
          <p:nvPr/>
        </p:nvSpPr>
        <p:spPr>
          <a:xfrm>
            <a:off x="733100" y="1202135"/>
            <a:ext cx="10707600" cy="35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en-US" sz="32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Merci</a:t>
            </a:r>
            <a:endParaRPr sz="3200" b="1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23" name="Google Shape;223;g3aabd3d1b2d_0_178"/>
          <p:cNvSpPr/>
          <p:nvPr/>
        </p:nvSpPr>
        <p:spPr>
          <a:xfrm>
            <a:off x="1588" y="2654952"/>
            <a:ext cx="4500900" cy="6549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20204"/>
              <a:buNone/>
            </a:pPr>
            <a:endParaRPr sz="15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24" name="Google Shape;224;g3aabd3d1b2d_0_178"/>
          <p:cNvSpPr/>
          <p:nvPr/>
        </p:nvSpPr>
        <p:spPr>
          <a:xfrm>
            <a:off x="7689667" y="2654952"/>
            <a:ext cx="4501500" cy="6549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20204"/>
              <a:buNone/>
            </a:pPr>
            <a:endParaRPr sz="15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397</TotalTime>
  <Words>1837</Words>
  <Application>Microsoft Office PowerPoint</Application>
  <PresentationFormat>Grand écran</PresentationFormat>
  <Paragraphs>356</Paragraphs>
  <Slides>27</Slides>
  <Notes>17</Notes>
  <HiddenSlides>0</HiddenSlides>
  <MMClips>0</MMClips>
  <ScaleCrop>false</ScaleCrop>
  <HeadingPairs>
    <vt:vector size="6" baseType="variant">
      <vt:variant>
        <vt:lpstr>Polices utilisées</vt:lpstr>
      </vt:variant>
      <vt:variant>
        <vt:i4>11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27</vt:i4>
      </vt:variant>
    </vt:vector>
  </HeadingPairs>
  <TitlesOfParts>
    <vt:vector size="40" baseType="lpstr">
      <vt:lpstr>Times New Roman</vt:lpstr>
      <vt:lpstr>Ebrima</vt:lpstr>
      <vt:lpstr>Play</vt:lpstr>
      <vt:lpstr>Arial Unicode MS</vt:lpstr>
      <vt:lpstr>Arial</vt:lpstr>
      <vt:lpstr>Source Serif Pro</vt:lpstr>
      <vt:lpstr>Courier New</vt:lpstr>
      <vt:lpstr>Wingdings</vt:lpstr>
      <vt:lpstr>MS PGothic</vt:lpstr>
      <vt:lpstr>Candara</vt:lpstr>
      <vt:lpstr>Calibri</vt:lpstr>
      <vt:lpstr>Thème Office</vt:lpstr>
      <vt:lpstr>Simple Light</vt:lpstr>
      <vt:lpstr>Présentation PowerPoint</vt:lpstr>
      <vt:lpstr>Présentation PowerPoint</vt:lpstr>
      <vt:lpstr>1.Présentation de la Province</vt:lpstr>
      <vt:lpstr>Logistiques 2025 (Inventaires des Matériels de chaine de froid 2025)</vt:lpstr>
      <vt:lpstr> 1. Facteurs de succès (concrets et spécifiques à Kinshasa) </vt:lpstr>
      <vt:lpstr> 1. Facteurs de succès (concrets et spécifiques à Kinshasa) </vt:lpstr>
      <vt:lpstr> 2. Défis majeurs issus des bonnes pratiques </vt:lpstr>
      <vt:lpstr>  3. Recommandations prioritaires  </vt:lpstr>
      <vt:lpstr>3.RESULTATS COMPARES AUX CIBLES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3.5.Aspects Financiers 2025 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Eddy Makengo</dc:creator>
  <cp:lastModifiedBy>HP</cp:lastModifiedBy>
  <cp:revision>51</cp:revision>
  <dcterms:created xsi:type="dcterms:W3CDTF">2025-11-28T20:12:00Z</dcterms:created>
  <dcterms:modified xsi:type="dcterms:W3CDTF">2025-12-12T11:08:45Z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AAC20F8E09534597B0FBC6D93A5D818B_13</vt:lpwstr>
  </property>
  <property fmtid="{D5CDD505-2E9C-101B-9397-08002B2CF9AE}" pid="3" name="KSOProductBuildVer">
    <vt:lpwstr>1036-12.2.0.23155</vt:lpwstr>
  </property>
</Properties>
</file>