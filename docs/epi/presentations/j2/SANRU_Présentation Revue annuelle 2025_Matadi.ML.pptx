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tags/tag7.xml" ContentType="application/vnd.openxmlformats-officedocument.presentationml.tags+xml"/>
  <Override PartName="/ppt/notesSlides/notesSlide10.xml" ContentType="application/vnd.openxmlformats-officedocument.presentationml.notesSlide+xml"/>
  <Override PartName="/ppt/tags/tag8.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handoutMasterIdLst>
    <p:handoutMasterId r:id="rId24"/>
  </p:handoutMasterIdLst>
  <p:sldIdLst>
    <p:sldId id="257" r:id="rId2"/>
    <p:sldId id="258" r:id="rId3"/>
    <p:sldId id="260" r:id="rId4"/>
    <p:sldId id="313" r:id="rId5"/>
    <p:sldId id="2147481600" r:id="rId6"/>
    <p:sldId id="2147481628" r:id="rId7"/>
    <p:sldId id="2147481626" r:id="rId8"/>
    <p:sldId id="2147481627" r:id="rId9"/>
    <p:sldId id="278" r:id="rId10"/>
    <p:sldId id="275" r:id="rId11"/>
    <p:sldId id="271" r:id="rId12"/>
    <p:sldId id="279" r:id="rId13"/>
    <p:sldId id="280" r:id="rId14"/>
    <p:sldId id="272" r:id="rId15"/>
    <p:sldId id="263" r:id="rId16"/>
    <p:sldId id="281" r:id="rId17"/>
    <p:sldId id="265" r:id="rId18"/>
    <p:sldId id="274" r:id="rId19"/>
    <p:sldId id="268" r:id="rId20"/>
    <p:sldId id="269" r:id="rId21"/>
    <p:sldId id="267" r:id="rId22"/>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6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4" d="100"/>
          <a:sy n="74" d="100"/>
        </p:scale>
        <p:origin x="480" y="56"/>
      </p:cViewPr>
      <p:guideLst>
        <p:guide orient="horz" pos="2159"/>
        <p:guide pos="3865"/>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DB43F2-5950-472A-809C-81A33259FC5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7E93A4B0-AA3D-4798-989C-5C0F0D4C4161}">
      <dgm:prSet/>
      <dgm:spPr/>
      <dgm:t>
        <a:bodyPr/>
        <a:lstStyle/>
        <a:p>
          <a:r>
            <a:rPr lang="fr-CA" dirty="0"/>
            <a:t>Soins de santé primaires</a:t>
          </a:r>
          <a:endParaRPr lang="en-US" dirty="0"/>
        </a:p>
      </dgm:t>
    </dgm:pt>
    <dgm:pt modelId="{70682BF0-0CF3-4983-8B07-6E35C6E32834}" type="parTrans" cxnId="{A6EB7DC9-8F4C-48EE-B66E-44378A82887B}">
      <dgm:prSet/>
      <dgm:spPr/>
      <dgm:t>
        <a:bodyPr/>
        <a:lstStyle/>
        <a:p>
          <a:endParaRPr lang="en-US"/>
        </a:p>
      </dgm:t>
    </dgm:pt>
    <dgm:pt modelId="{3987E0A6-BAA0-49E1-9DF9-964AD97A9CD9}" type="sibTrans" cxnId="{A6EB7DC9-8F4C-48EE-B66E-44378A82887B}">
      <dgm:prSet/>
      <dgm:spPr/>
      <dgm:t>
        <a:bodyPr/>
        <a:lstStyle/>
        <a:p>
          <a:endParaRPr lang="en-US"/>
        </a:p>
      </dgm:t>
    </dgm:pt>
    <dgm:pt modelId="{275CD310-5939-4738-9510-17C050AC00A5}">
      <dgm:prSet/>
      <dgm:spPr/>
      <dgm:t>
        <a:bodyPr/>
        <a:lstStyle/>
        <a:p>
          <a:r>
            <a:rPr lang="fr-CA" dirty="0"/>
            <a:t>Gestion et renforcement du système de santé</a:t>
          </a:r>
        </a:p>
      </dgm:t>
    </dgm:pt>
    <dgm:pt modelId="{C2C5EB49-D60D-4572-8BCF-EAF31C55BFFF}" type="parTrans" cxnId="{AB89D6AA-E86D-40DA-931A-0FA4A5A953E1}">
      <dgm:prSet/>
      <dgm:spPr/>
      <dgm:t>
        <a:bodyPr/>
        <a:lstStyle/>
        <a:p>
          <a:endParaRPr lang="en-US"/>
        </a:p>
      </dgm:t>
    </dgm:pt>
    <dgm:pt modelId="{0DBE95E8-FF50-4CA2-BF87-0E3ADA191941}" type="sibTrans" cxnId="{AB89D6AA-E86D-40DA-931A-0FA4A5A953E1}">
      <dgm:prSet/>
      <dgm:spPr/>
      <dgm:t>
        <a:bodyPr/>
        <a:lstStyle/>
        <a:p>
          <a:endParaRPr lang="en-US"/>
        </a:p>
      </dgm:t>
    </dgm:pt>
    <dgm:pt modelId="{75873196-3E41-4F24-B511-56AA0A9D714E}">
      <dgm:prSet/>
      <dgm:spPr/>
      <dgm:t>
        <a:bodyPr/>
        <a:lstStyle/>
        <a:p>
          <a:r>
            <a:rPr lang="fr-CA" dirty="0"/>
            <a:t>Renforcement des capacités des organisations de santé</a:t>
          </a:r>
          <a:endParaRPr lang="en-US" dirty="0"/>
        </a:p>
      </dgm:t>
    </dgm:pt>
    <dgm:pt modelId="{08D90D72-D9E4-4723-B387-5D8AD075F23E}" type="parTrans" cxnId="{D288B2DC-E2EB-47ED-A5CE-BDA13CF5B327}">
      <dgm:prSet/>
      <dgm:spPr/>
      <dgm:t>
        <a:bodyPr/>
        <a:lstStyle/>
        <a:p>
          <a:endParaRPr lang="en-US"/>
        </a:p>
      </dgm:t>
    </dgm:pt>
    <dgm:pt modelId="{748CD4B2-FFF6-4A1F-B8D8-5BCE87299214}" type="sibTrans" cxnId="{D288B2DC-E2EB-47ED-A5CE-BDA13CF5B327}">
      <dgm:prSet/>
      <dgm:spPr/>
      <dgm:t>
        <a:bodyPr/>
        <a:lstStyle/>
        <a:p>
          <a:endParaRPr lang="en-US"/>
        </a:p>
      </dgm:t>
    </dgm:pt>
    <dgm:pt modelId="{B774BCE6-23CC-41D5-A612-30DBE75DFEF6}">
      <dgm:prSet/>
      <dgm:spPr/>
      <dgm:t>
        <a:bodyPr/>
        <a:lstStyle/>
        <a:p>
          <a:r>
            <a:rPr lang="fr-CA" dirty="0"/>
            <a:t>Santé maternelle et infantile/santé reproductive</a:t>
          </a:r>
          <a:endParaRPr lang="en-US" dirty="0"/>
        </a:p>
      </dgm:t>
    </dgm:pt>
    <dgm:pt modelId="{C0892B4E-E7F0-4B92-8148-5DC13176F9B9}" type="parTrans" cxnId="{15255666-7034-43DB-97FB-F3DC997BD41D}">
      <dgm:prSet/>
      <dgm:spPr/>
      <dgm:t>
        <a:bodyPr/>
        <a:lstStyle/>
        <a:p>
          <a:endParaRPr lang="en-US"/>
        </a:p>
      </dgm:t>
    </dgm:pt>
    <dgm:pt modelId="{C79FB281-92CA-478B-8114-1C59E9220480}" type="sibTrans" cxnId="{15255666-7034-43DB-97FB-F3DC997BD41D}">
      <dgm:prSet/>
      <dgm:spPr/>
      <dgm:t>
        <a:bodyPr/>
        <a:lstStyle/>
        <a:p>
          <a:endParaRPr lang="en-US"/>
        </a:p>
      </dgm:t>
    </dgm:pt>
    <dgm:pt modelId="{560461FD-2862-47EA-92A8-03039D9E1C10}">
      <dgm:prSet/>
      <dgm:spPr/>
      <dgm:t>
        <a:bodyPr/>
        <a:lstStyle/>
        <a:p>
          <a:r>
            <a:rPr lang="fr-CA" dirty="0"/>
            <a:t>Eau, hygiène et assainissement</a:t>
          </a:r>
          <a:endParaRPr lang="en-US" dirty="0"/>
        </a:p>
      </dgm:t>
    </dgm:pt>
    <dgm:pt modelId="{B5FD8325-EB90-435E-A93D-8A19E00CBB42}" type="parTrans" cxnId="{FE6C6830-FD59-4A52-A8FB-BBE91ACE747F}">
      <dgm:prSet/>
      <dgm:spPr/>
      <dgm:t>
        <a:bodyPr/>
        <a:lstStyle/>
        <a:p>
          <a:endParaRPr lang="en-US"/>
        </a:p>
      </dgm:t>
    </dgm:pt>
    <dgm:pt modelId="{A50EC84B-1B5F-4A3F-9A65-70620202943F}" type="sibTrans" cxnId="{FE6C6830-FD59-4A52-A8FB-BBE91ACE747F}">
      <dgm:prSet/>
      <dgm:spPr/>
      <dgm:t>
        <a:bodyPr/>
        <a:lstStyle/>
        <a:p>
          <a:endParaRPr lang="en-US"/>
        </a:p>
      </dgm:t>
    </dgm:pt>
    <dgm:pt modelId="{B82D874E-3A76-4C3D-9553-3CA171B7A1B1}">
      <dgm:prSet/>
      <dgm:spPr/>
      <dgm:t>
        <a:bodyPr/>
        <a:lstStyle/>
        <a:p>
          <a:r>
            <a:rPr lang="fr-CA" dirty="0"/>
            <a:t>Gestion de la chaîne d'approvisionnement</a:t>
          </a:r>
          <a:endParaRPr lang="en-US" dirty="0"/>
        </a:p>
      </dgm:t>
    </dgm:pt>
    <dgm:pt modelId="{20C13F7A-D2DA-45BB-860A-0152FF10BE61}" type="parTrans" cxnId="{282AC610-11B8-485E-BD21-B4145FAF3F55}">
      <dgm:prSet/>
      <dgm:spPr/>
      <dgm:t>
        <a:bodyPr/>
        <a:lstStyle/>
        <a:p>
          <a:endParaRPr lang="en-US"/>
        </a:p>
      </dgm:t>
    </dgm:pt>
    <dgm:pt modelId="{71A8C637-2B20-469E-8E8E-B557845BD7A5}" type="sibTrans" cxnId="{282AC610-11B8-485E-BD21-B4145FAF3F55}">
      <dgm:prSet/>
      <dgm:spPr/>
      <dgm:t>
        <a:bodyPr/>
        <a:lstStyle/>
        <a:p>
          <a:endParaRPr lang="en-US"/>
        </a:p>
      </dgm:t>
    </dgm:pt>
    <dgm:pt modelId="{19FA59F2-649C-4A61-BD5D-129E24786386}">
      <dgm:prSet/>
      <dgm:spPr/>
      <dgm:t>
        <a:bodyPr/>
        <a:lstStyle/>
        <a:p>
          <a:r>
            <a:rPr lang="fr-CA" dirty="0"/>
            <a:t>Renforcement des capacités communautaires</a:t>
          </a:r>
          <a:endParaRPr lang="en-US" dirty="0"/>
        </a:p>
      </dgm:t>
    </dgm:pt>
    <dgm:pt modelId="{785E677C-65EE-4F45-8758-24435D385EB5}" type="parTrans" cxnId="{B78EFF5A-C623-4780-B90D-E8CE38D4BFA0}">
      <dgm:prSet/>
      <dgm:spPr/>
      <dgm:t>
        <a:bodyPr/>
        <a:lstStyle/>
        <a:p>
          <a:endParaRPr lang="en-US"/>
        </a:p>
      </dgm:t>
    </dgm:pt>
    <dgm:pt modelId="{8B6748A9-8C05-46F5-8BF5-38AF8B6C9BC7}" type="sibTrans" cxnId="{B78EFF5A-C623-4780-B90D-E8CE38D4BFA0}">
      <dgm:prSet/>
      <dgm:spPr/>
      <dgm:t>
        <a:bodyPr/>
        <a:lstStyle/>
        <a:p>
          <a:endParaRPr lang="en-US"/>
        </a:p>
      </dgm:t>
    </dgm:pt>
    <dgm:pt modelId="{DD54E71F-E756-4259-AC61-2C3CA4E6F0E3}">
      <dgm:prSet/>
      <dgm:spPr/>
      <dgm:t>
        <a:bodyPr/>
        <a:lstStyle/>
        <a:p>
          <a:r>
            <a:rPr lang="fr-CA" dirty="0"/>
            <a:t>Nutrition communautaire et planification familiale</a:t>
          </a:r>
          <a:endParaRPr lang="en-US" dirty="0"/>
        </a:p>
      </dgm:t>
    </dgm:pt>
    <dgm:pt modelId="{0BF00E29-AD23-4303-A614-E86D11AA90E0}" type="parTrans" cxnId="{7388D4E1-9D83-4CBE-9E04-800230EB1FC6}">
      <dgm:prSet/>
      <dgm:spPr/>
      <dgm:t>
        <a:bodyPr/>
        <a:lstStyle/>
        <a:p>
          <a:endParaRPr lang="en-US"/>
        </a:p>
      </dgm:t>
    </dgm:pt>
    <dgm:pt modelId="{EFF1D356-D204-4960-9F5B-34A79B4565DA}" type="sibTrans" cxnId="{7388D4E1-9D83-4CBE-9E04-800230EB1FC6}">
      <dgm:prSet/>
      <dgm:spPr/>
      <dgm:t>
        <a:bodyPr/>
        <a:lstStyle/>
        <a:p>
          <a:endParaRPr lang="en-US"/>
        </a:p>
      </dgm:t>
    </dgm:pt>
    <dgm:pt modelId="{3C7642F9-FCD8-447E-9719-4C447D9C12FE}">
      <dgm:prSet/>
      <dgm:spPr/>
      <dgm:t>
        <a:bodyPr/>
        <a:lstStyle/>
        <a:p>
          <a:r>
            <a:rPr lang="fr-CA" dirty="0"/>
            <a:t>Recherche opérationnelle</a:t>
          </a:r>
          <a:endParaRPr lang="en-US" dirty="0"/>
        </a:p>
      </dgm:t>
    </dgm:pt>
    <dgm:pt modelId="{65FE0AD7-F30C-4C37-9C89-9298C47FE17D}" type="parTrans" cxnId="{2E1A4A0C-65FA-4AAA-9A07-99CEE970A230}">
      <dgm:prSet/>
      <dgm:spPr/>
      <dgm:t>
        <a:bodyPr/>
        <a:lstStyle/>
        <a:p>
          <a:endParaRPr lang="en-US"/>
        </a:p>
      </dgm:t>
    </dgm:pt>
    <dgm:pt modelId="{CA420869-61AE-471B-943D-F8DB3E3ACC72}" type="sibTrans" cxnId="{2E1A4A0C-65FA-4AAA-9A07-99CEE970A230}">
      <dgm:prSet/>
      <dgm:spPr/>
      <dgm:t>
        <a:bodyPr/>
        <a:lstStyle/>
        <a:p>
          <a:endParaRPr lang="en-US"/>
        </a:p>
      </dgm:t>
    </dgm:pt>
    <dgm:pt modelId="{CC6F1CDB-B85A-7541-B3F5-B7E1DF400466}">
      <dgm:prSet/>
      <dgm:spPr/>
      <dgm:t>
        <a:bodyPr/>
        <a:lstStyle/>
        <a:p>
          <a:r>
            <a:rPr lang="fr-CA" dirty="0"/>
            <a:t>Contrôle des maladies et des épidémies</a:t>
          </a:r>
        </a:p>
      </dgm:t>
    </dgm:pt>
    <dgm:pt modelId="{B2154475-184C-CF42-A508-27A3E9B94AE8}" type="parTrans" cxnId="{7348D1BE-A2B2-494B-AE68-7999D2C02C0E}">
      <dgm:prSet/>
      <dgm:spPr/>
      <dgm:t>
        <a:bodyPr/>
        <a:lstStyle/>
        <a:p>
          <a:endParaRPr lang="fr-CA"/>
        </a:p>
      </dgm:t>
    </dgm:pt>
    <dgm:pt modelId="{6A2B7B7D-A6DC-F345-9681-D87ED751CCD5}" type="sibTrans" cxnId="{7348D1BE-A2B2-494B-AE68-7999D2C02C0E}">
      <dgm:prSet/>
      <dgm:spPr/>
      <dgm:t>
        <a:bodyPr/>
        <a:lstStyle/>
        <a:p>
          <a:endParaRPr lang="fr-CA"/>
        </a:p>
      </dgm:t>
    </dgm:pt>
    <dgm:pt modelId="{E54318CC-2484-400C-8180-9EBCC6BDA8C1}">
      <dgm:prSet/>
      <dgm:spPr/>
      <dgm:t>
        <a:bodyPr/>
        <a:lstStyle/>
        <a:p>
          <a:r>
            <a:rPr lang="fr-FR" b="1" dirty="0">
              <a:solidFill>
                <a:schemeClr val="bg1"/>
              </a:solidFill>
              <a:cs typeface="Arial" panose="020B0604020202020204" pitchFamily="34" charset="0"/>
            </a:rPr>
            <a:t>Vaccination</a:t>
          </a:r>
          <a:r>
            <a:rPr lang="fr-FR" dirty="0">
              <a:solidFill>
                <a:schemeClr val="bg1"/>
              </a:solidFill>
              <a:cs typeface="Arial" panose="020B0604020202020204" pitchFamily="34" charset="0"/>
            </a:rPr>
            <a:t> (FAE, RSS3, SBC, appui des OSC, CDS et génération de la demande pour la vaccination de routine)</a:t>
          </a:r>
        </a:p>
      </dgm:t>
    </dgm:pt>
    <dgm:pt modelId="{28D5880A-72A2-4CA0-A110-A538BB2781D7}" type="sibTrans" cxnId="{FDA4127E-A03C-4C7E-8305-6F411DF2F8AC}">
      <dgm:prSet/>
      <dgm:spPr/>
      <dgm:t>
        <a:bodyPr/>
        <a:lstStyle/>
        <a:p>
          <a:endParaRPr lang="en-US"/>
        </a:p>
      </dgm:t>
    </dgm:pt>
    <dgm:pt modelId="{8F4F56B3-84E0-4710-B9A4-C2DA2D25A454}" type="parTrans" cxnId="{FDA4127E-A03C-4C7E-8305-6F411DF2F8AC}">
      <dgm:prSet/>
      <dgm:spPr/>
      <dgm:t>
        <a:bodyPr/>
        <a:lstStyle/>
        <a:p>
          <a:endParaRPr lang="en-US"/>
        </a:p>
      </dgm:t>
    </dgm:pt>
    <dgm:pt modelId="{4C39345D-3139-436F-96BC-8F4354685244}" type="pres">
      <dgm:prSet presAssocID="{29DB43F2-5950-472A-809C-81A33259FC55}" presName="diagram" presStyleCnt="0">
        <dgm:presLayoutVars>
          <dgm:dir/>
          <dgm:resizeHandles val="exact"/>
        </dgm:presLayoutVars>
      </dgm:prSet>
      <dgm:spPr/>
    </dgm:pt>
    <dgm:pt modelId="{05AEAB66-ED02-45EB-A7AF-5CE6F4F3427E}" type="pres">
      <dgm:prSet presAssocID="{7E93A4B0-AA3D-4798-989C-5C0F0D4C4161}" presName="node" presStyleLbl="node1" presStyleIdx="0" presStyleCnt="11">
        <dgm:presLayoutVars>
          <dgm:bulletEnabled val="1"/>
        </dgm:presLayoutVars>
      </dgm:prSet>
      <dgm:spPr/>
    </dgm:pt>
    <dgm:pt modelId="{7F51B85F-0D9E-44A8-8FFA-CD385A88D96A}" type="pres">
      <dgm:prSet presAssocID="{3987E0A6-BAA0-49E1-9DF9-964AD97A9CD9}" presName="sibTrans" presStyleCnt="0"/>
      <dgm:spPr/>
    </dgm:pt>
    <dgm:pt modelId="{D839D880-655C-C140-B432-428B9777F51F}" type="pres">
      <dgm:prSet presAssocID="{CC6F1CDB-B85A-7541-B3F5-B7E1DF400466}" presName="node" presStyleLbl="node1" presStyleIdx="1" presStyleCnt="11">
        <dgm:presLayoutVars>
          <dgm:bulletEnabled val="1"/>
        </dgm:presLayoutVars>
      </dgm:prSet>
      <dgm:spPr/>
    </dgm:pt>
    <dgm:pt modelId="{F3B59377-9505-8C44-A2D2-739B5959D4F0}" type="pres">
      <dgm:prSet presAssocID="{6A2B7B7D-A6DC-F345-9681-D87ED751CCD5}" presName="sibTrans" presStyleCnt="0"/>
      <dgm:spPr/>
    </dgm:pt>
    <dgm:pt modelId="{196A1E63-2DA0-4990-8846-E09FE860174C}" type="pres">
      <dgm:prSet presAssocID="{275CD310-5939-4738-9510-17C050AC00A5}" presName="node" presStyleLbl="node1" presStyleIdx="2" presStyleCnt="11">
        <dgm:presLayoutVars>
          <dgm:bulletEnabled val="1"/>
        </dgm:presLayoutVars>
      </dgm:prSet>
      <dgm:spPr/>
    </dgm:pt>
    <dgm:pt modelId="{42CFE8A8-1C21-4809-9233-4A9E0CD5C9BF}" type="pres">
      <dgm:prSet presAssocID="{0DBE95E8-FF50-4CA2-BF87-0E3ADA191941}" presName="sibTrans" presStyleCnt="0"/>
      <dgm:spPr/>
    </dgm:pt>
    <dgm:pt modelId="{E120E00C-7B4F-4854-9CD8-C64A152847A0}" type="pres">
      <dgm:prSet presAssocID="{75873196-3E41-4F24-B511-56AA0A9D714E}" presName="node" presStyleLbl="node1" presStyleIdx="3" presStyleCnt="11">
        <dgm:presLayoutVars>
          <dgm:bulletEnabled val="1"/>
        </dgm:presLayoutVars>
      </dgm:prSet>
      <dgm:spPr/>
    </dgm:pt>
    <dgm:pt modelId="{148AF4E5-BD46-4237-8EDB-ADD5E2C93FC6}" type="pres">
      <dgm:prSet presAssocID="{748CD4B2-FFF6-4A1F-B8D8-5BCE87299214}" presName="sibTrans" presStyleCnt="0"/>
      <dgm:spPr/>
    </dgm:pt>
    <dgm:pt modelId="{6C17EC20-20D5-4BC7-AE29-DCE2AB150A30}" type="pres">
      <dgm:prSet presAssocID="{B774BCE6-23CC-41D5-A612-30DBE75DFEF6}" presName="node" presStyleLbl="node1" presStyleIdx="4" presStyleCnt="11">
        <dgm:presLayoutVars>
          <dgm:bulletEnabled val="1"/>
        </dgm:presLayoutVars>
      </dgm:prSet>
      <dgm:spPr/>
    </dgm:pt>
    <dgm:pt modelId="{5BF0CA50-8551-40D7-A2FF-952CF11E0854}" type="pres">
      <dgm:prSet presAssocID="{C79FB281-92CA-478B-8114-1C59E9220480}" presName="sibTrans" presStyleCnt="0"/>
      <dgm:spPr/>
    </dgm:pt>
    <dgm:pt modelId="{FB785B1E-C119-4F8C-A5C9-823711FA5565}" type="pres">
      <dgm:prSet presAssocID="{560461FD-2862-47EA-92A8-03039D9E1C10}" presName="node" presStyleLbl="node1" presStyleIdx="5" presStyleCnt="11">
        <dgm:presLayoutVars>
          <dgm:bulletEnabled val="1"/>
        </dgm:presLayoutVars>
      </dgm:prSet>
      <dgm:spPr/>
    </dgm:pt>
    <dgm:pt modelId="{33877898-B451-4651-82E6-C98D3DAE83BC}" type="pres">
      <dgm:prSet presAssocID="{A50EC84B-1B5F-4A3F-9A65-70620202943F}" presName="sibTrans" presStyleCnt="0"/>
      <dgm:spPr/>
    </dgm:pt>
    <dgm:pt modelId="{C3362273-F632-4E86-B191-F84221AF5450}" type="pres">
      <dgm:prSet presAssocID="{B82D874E-3A76-4C3D-9553-3CA171B7A1B1}" presName="node" presStyleLbl="node1" presStyleIdx="6" presStyleCnt="11">
        <dgm:presLayoutVars>
          <dgm:bulletEnabled val="1"/>
        </dgm:presLayoutVars>
      </dgm:prSet>
      <dgm:spPr/>
    </dgm:pt>
    <dgm:pt modelId="{34A33171-1E47-42B1-B4E3-6A1F8BBD231B}" type="pres">
      <dgm:prSet presAssocID="{71A8C637-2B20-469E-8E8E-B557845BD7A5}" presName="sibTrans" presStyleCnt="0"/>
      <dgm:spPr/>
    </dgm:pt>
    <dgm:pt modelId="{54169335-F715-447D-8E9A-410CA2A57223}" type="pres">
      <dgm:prSet presAssocID="{19FA59F2-649C-4A61-BD5D-129E24786386}" presName="node" presStyleLbl="node1" presStyleIdx="7" presStyleCnt="11">
        <dgm:presLayoutVars>
          <dgm:bulletEnabled val="1"/>
        </dgm:presLayoutVars>
      </dgm:prSet>
      <dgm:spPr/>
    </dgm:pt>
    <dgm:pt modelId="{3D1D47C3-A6D2-42A8-B11B-C27892C19084}" type="pres">
      <dgm:prSet presAssocID="{8B6748A9-8C05-46F5-8BF5-38AF8B6C9BC7}" presName="sibTrans" presStyleCnt="0"/>
      <dgm:spPr/>
    </dgm:pt>
    <dgm:pt modelId="{445DF524-B72B-4FF8-865C-E4413C8B4AFA}" type="pres">
      <dgm:prSet presAssocID="{E54318CC-2484-400C-8180-9EBCC6BDA8C1}" presName="node" presStyleLbl="node1" presStyleIdx="8" presStyleCnt="11" custScaleX="131762">
        <dgm:presLayoutVars>
          <dgm:bulletEnabled val="1"/>
        </dgm:presLayoutVars>
      </dgm:prSet>
      <dgm:spPr/>
    </dgm:pt>
    <dgm:pt modelId="{C32E732C-1BB4-497F-90C8-B8496D4F794A}" type="pres">
      <dgm:prSet presAssocID="{28D5880A-72A2-4CA0-A110-A538BB2781D7}" presName="sibTrans" presStyleCnt="0"/>
      <dgm:spPr/>
    </dgm:pt>
    <dgm:pt modelId="{E153DA91-158C-4112-9C46-6FB706076BEB}" type="pres">
      <dgm:prSet presAssocID="{DD54E71F-E756-4259-AC61-2C3CA4E6F0E3}" presName="node" presStyleLbl="node1" presStyleIdx="9" presStyleCnt="11">
        <dgm:presLayoutVars>
          <dgm:bulletEnabled val="1"/>
        </dgm:presLayoutVars>
      </dgm:prSet>
      <dgm:spPr/>
    </dgm:pt>
    <dgm:pt modelId="{C48AF63B-19AC-48B3-9D8A-5A00C8E185C7}" type="pres">
      <dgm:prSet presAssocID="{EFF1D356-D204-4960-9F5B-34A79B4565DA}" presName="sibTrans" presStyleCnt="0"/>
      <dgm:spPr/>
    </dgm:pt>
    <dgm:pt modelId="{E2C72642-CC95-4DE6-8CA8-325455C59D19}" type="pres">
      <dgm:prSet presAssocID="{3C7642F9-FCD8-447E-9719-4C447D9C12FE}" presName="node" presStyleLbl="node1" presStyleIdx="10" presStyleCnt="11">
        <dgm:presLayoutVars>
          <dgm:bulletEnabled val="1"/>
        </dgm:presLayoutVars>
      </dgm:prSet>
      <dgm:spPr/>
    </dgm:pt>
  </dgm:ptLst>
  <dgm:cxnLst>
    <dgm:cxn modelId="{6E5F8D08-EFE3-492D-A16D-B32DF0694E26}" type="presOf" srcId="{29DB43F2-5950-472A-809C-81A33259FC55}" destId="{4C39345D-3139-436F-96BC-8F4354685244}" srcOrd="0" destOrd="0" presId="urn:microsoft.com/office/officeart/2005/8/layout/default"/>
    <dgm:cxn modelId="{2E1A4A0C-65FA-4AAA-9A07-99CEE970A230}" srcId="{29DB43F2-5950-472A-809C-81A33259FC55}" destId="{3C7642F9-FCD8-447E-9719-4C447D9C12FE}" srcOrd="10" destOrd="0" parTransId="{65FE0AD7-F30C-4C37-9C89-9298C47FE17D}" sibTransId="{CA420869-61AE-471B-943D-F8DB3E3ACC72}"/>
    <dgm:cxn modelId="{282AC610-11B8-485E-BD21-B4145FAF3F55}" srcId="{29DB43F2-5950-472A-809C-81A33259FC55}" destId="{B82D874E-3A76-4C3D-9553-3CA171B7A1B1}" srcOrd="6" destOrd="0" parTransId="{20C13F7A-D2DA-45BB-860A-0152FF10BE61}" sibTransId="{71A8C637-2B20-469E-8E8E-B557845BD7A5}"/>
    <dgm:cxn modelId="{2B27D916-1477-4CD2-ADE6-E8FB310A29C1}" type="presOf" srcId="{B774BCE6-23CC-41D5-A612-30DBE75DFEF6}" destId="{6C17EC20-20D5-4BC7-AE29-DCE2AB150A30}" srcOrd="0" destOrd="0" presId="urn:microsoft.com/office/officeart/2005/8/layout/default"/>
    <dgm:cxn modelId="{F437682F-BF35-4E2F-9069-186FAAF0CFA1}" type="presOf" srcId="{19FA59F2-649C-4A61-BD5D-129E24786386}" destId="{54169335-F715-447D-8E9A-410CA2A57223}" srcOrd="0" destOrd="0" presId="urn:microsoft.com/office/officeart/2005/8/layout/default"/>
    <dgm:cxn modelId="{FE6C6830-FD59-4A52-A8FB-BBE91ACE747F}" srcId="{29DB43F2-5950-472A-809C-81A33259FC55}" destId="{560461FD-2862-47EA-92A8-03039D9E1C10}" srcOrd="5" destOrd="0" parTransId="{B5FD8325-EB90-435E-A93D-8A19E00CBB42}" sibTransId="{A50EC84B-1B5F-4A3F-9A65-70620202943F}"/>
    <dgm:cxn modelId="{8995C944-C6CB-48FC-9D92-0A612694DBB2}" type="presOf" srcId="{75873196-3E41-4F24-B511-56AA0A9D714E}" destId="{E120E00C-7B4F-4854-9CD8-C64A152847A0}" srcOrd="0" destOrd="0" presId="urn:microsoft.com/office/officeart/2005/8/layout/default"/>
    <dgm:cxn modelId="{15255666-7034-43DB-97FB-F3DC997BD41D}" srcId="{29DB43F2-5950-472A-809C-81A33259FC55}" destId="{B774BCE6-23CC-41D5-A612-30DBE75DFEF6}" srcOrd="4" destOrd="0" parTransId="{C0892B4E-E7F0-4B92-8148-5DC13176F9B9}" sibTransId="{C79FB281-92CA-478B-8114-1C59E9220480}"/>
    <dgm:cxn modelId="{044BDE6F-31C0-4B55-97B1-0E03F11BAA59}" type="presOf" srcId="{DD54E71F-E756-4259-AC61-2C3CA4E6F0E3}" destId="{E153DA91-158C-4112-9C46-6FB706076BEB}" srcOrd="0" destOrd="0" presId="urn:microsoft.com/office/officeart/2005/8/layout/default"/>
    <dgm:cxn modelId="{B78EFF5A-C623-4780-B90D-E8CE38D4BFA0}" srcId="{29DB43F2-5950-472A-809C-81A33259FC55}" destId="{19FA59F2-649C-4A61-BD5D-129E24786386}" srcOrd="7" destOrd="0" parTransId="{785E677C-65EE-4F45-8758-24435D385EB5}" sibTransId="{8B6748A9-8C05-46F5-8BF5-38AF8B6C9BC7}"/>
    <dgm:cxn modelId="{FDA4127E-A03C-4C7E-8305-6F411DF2F8AC}" srcId="{29DB43F2-5950-472A-809C-81A33259FC55}" destId="{E54318CC-2484-400C-8180-9EBCC6BDA8C1}" srcOrd="8" destOrd="0" parTransId="{8F4F56B3-84E0-4710-B9A4-C2DA2D25A454}" sibTransId="{28D5880A-72A2-4CA0-A110-A538BB2781D7}"/>
    <dgm:cxn modelId="{8FAF8181-71F8-4CB1-86EA-88AB9D79E4FA}" type="presOf" srcId="{E54318CC-2484-400C-8180-9EBCC6BDA8C1}" destId="{445DF524-B72B-4FF8-865C-E4413C8B4AFA}" srcOrd="0" destOrd="0" presId="urn:microsoft.com/office/officeart/2005/8/layout/default"/>
    <dgm:cxn modelId="{1FB48898-A7F3-439F-A890-65036B9CDCAB}" type="presOf" srcId="{275CD310-5939-4738-9510-17C050AC00A5}" destId="{196A1E63-2DA0-4990-8846-E09FE860174C}" srcOrd="0" destOrd="0" presId="urn:microsoft.com/office/officeart/2005/8/layout/default"/>
    <dgm:cxn modelId="{AB89D6AA-E86D-40DA-931A-0FA4A5A953E1}" srcId="{29DB43F2-5950-472A-809C-81A33259FC55}" destId="{275CD310-5939-4738-9510-17C050AC00A5}" srcOrd="2" destOrd="0" parTransId="{C2C5EB49-D60D-4572-8BCF-EAF31C55BFFF}" sibTransId="{0DBE95E8-FF50-4CA2-BF87-0E3ADA191941}"/>
    <dgm:cxn modelId="{F8CC13AC-17D7-4575-98EB-27750DDED772}" type="presOf" srcId="{7E93A4B0-AA3D-4798-989C-5C0F0D4C4161}" destId="{05AEAB66-ED02-45EB-A7AF-5CE6F4F3427E}" srcOrd="0" destOrd="0" presId="urn:microsoft.com/office/officeart/2005/8/layout/default"/>
    <dgm:cxn modelId="{7348D1BE-A2B2-494B-AE68-7999D2C02C0E}" srcId="{29DB43F2-5950-472A-809C-81A33259FC55}" destId="{CC6F1CDB-B85A-7541-B3F5-B7E1DF400466}" srcOrd="1" destOrd="0" parTransId="{B2154475-184C-CF42-A508-27A3E9B94AE8}" sibTransId="{6A2B7B7D-A6DC-F345-9681-D87ED751CCD5}"/>
    <dgm:cxn modelId="{0457FEC3-45CE-4BA7-BCF0-3A665C9A0B04}" type="presOf" srcId="{560461FD-2862-47EA-92A8-03039D9E1C10}" destId="{FB785B1E-C119-4F8C-A5C9-823711FA5565}" srcOrd="0" destOrd="0" presId="urn:microsoft.com/office/officeart/2005/8/layout/default"/>
    <dgm:cxn modelId="{A6EB7DC9-8F4C-48EE-B66E-44378A82887B}" srcId="{29DB43F2-5950-472A-809C-81A33259FC55}" destId="{7E93A4B0-AA3D-4798-989C-5C0F0D4C4161}" srcOrd="0" destOrd="0" parTransId="{70682BF0-0CF3-4983-8B07-6E35C6E32834}" sibTransId="{3987E0A6-BAA0-49E1-9DF9-964AD97A9CD9}"/>
    <dgm:cxn modelId="{DDBAF7D8-9693-46DB-AB0F-8EA4A0489678}" type="presOf" srcId="{3C7642F9-FCD8-447E-9719-4C447D9C12FE}" destId="{E2C72642-CC95-4DE6-8CA8-325455C59D19}" srcOrd="0" destOrd="0" presId="urn:microsoft.com/office/officeart/2005/8/layout/default"/>
    <dgm:cxn modelId="{D288B2DC-E2EB-47ED-A5CE-BDA13CF5B327}" srcId="{29DB43F2-5950-472A-809C-81A33259FC55}" destId="{75873196-3E41-4F24-B511-56AA0A9D714E}" srcOrd="3" destOrd="0" parTransId="{08D90D72-D9E4-4723-B387-5D8AD075F23E}" sibTransId="{748CD4B2-FFF6-4A1F-B8D8-5BCE87299214}"/>
    <dgm:cxn modelId="{EE3A32E1-3D06-F141-BF66-1B0FAAE344C4}" type="presOf" srcId="{CC6F1CDB-B85A-7541-B3F5-B7E1DF400466}" destId="{D839D880-655C-C140-B432-428B9777F51F}" srcOrd="0" destOrd="0" presId="urn:microsoft.com/office/officeart/2005/8/layout/default"/>
    <dgm:cxn modelId="{7388D4E1-9D83-4CBE-9E04-800230EB1FC6}" srcId="{29DB43F2-5950-472A-809C-81A33259FC55}" destId="{DD54E71F-E756-4259-AC61-2C3CA4E6F0E3}" srcOrd="9" destOrd="0" parTransId="{0BF00E29-AD23-4303-A614-E86D11AA90E0}" sibTransId="{EFF1D356-D204-4960-9F5B-34A79B4565DA}"/>
    <dgm:cxn modelId="{8D9D2BE3-E66A-4573-B0A4-CEFF679D6182}" type="presOf" srcId="{B82D874E-3A76-4C3D-9553-3CA171B7A1B1}" destId="{C3362273-F632-4E86-B191-F84221AF5450}" srcOrd="0" destOrd="0" presId="urn:microsoft.com/office/officeart/2005/8/layout/default"/>
    <dgm:cxn modelId="{BEFD417D-17D3-4D03-AC10-398ABA6D3D6F}" type="presParOf" srcId="{4C39345D-3139-436F-96BC-8F4354685244}" destId="{05AEAB66-ED02-45EB-A7AF-5CE6F4F3427E}" srcOrd="0" destOrd="0" presId="urn:microsoft.com/office/officeart/2005/8/layout/default"/>
    <dgm:cxn modelId="{7AC97791-C6DA-4606-AE5F-E4F9B3946EE4}" type="presParOf" srcId="{4C39345D-3139-436F-96BC-8F4354685244}" destId="{7F51B85F-0D9E-44A8-8FFA-CD385A88D96A}" srcOrd="1" destOrd="0" presId="urn:microsoft.com/office/officeart/2005/8/layout/default"/>
    <dgm:cxn modelId="{60B8EEC5-B82B-A74E-9FDE-E2CC3B5A3712}" type="presParOf" srcId="{4C39345D-3139-436F-96BC-8F4354685244}" destId="{D839D880-655C-C140-B432-428B9777F51F}" srcOrd="2" destOrd="0" presId="urn:microsoft.com/office/officeart/2005/8/layout/default"/>
    <dgm:cxn modelId="{5A646E67-5280-C940-9EEF-F06DAC88F1EF}" type="presParOf" srcId="{4C39345D-3139-436F-96BC-8F4354685244}" destId="{F3B59377-9505-8C44-A2D2-739B5959D4F0}" srcOrd="3" destOrd="0" presId="urn:microsoft.com/office/officeart/2005/8/layout/default"/>
    <dgm:cxn modelId="{58FABEA6-F961-471F-9F62-86716FB8FDD1}" type="presParOf" srcId="{4C39345D-3139-436F-96BC-8F4354685244}" destId="{196A1E63-2DA0-4990-8846-E09FE860174C}" srcOrd="4" destOrd="0" presId="urn:microsoft.com/office/officeart/2005/8/layout/default"/>
    <dgm:cxn modelId="{5044D28D-75D5-482E-B546-93EFD506C49C}" type="presParOf" srcId="{4C39345D-3139-436F-96BC-8F4354685244}" destId="{42CFE8A8-1C21-4809-9233-4A9E0CD5C9BF}" srcOrd="5" destOrd="0" presId="urn:microsoft.com/office/officeart/2005/8/layout/default"/>
    <dgm:cxn modelId="{D964383A-E0EF-4D92-BB16-5EA165A00823}" type="presParOf" srcId="{4C39345D-3139-436F-96BC-8F4354685244}" destId="{E120E00C-7B4F-4854-9CD8-C64A152847A0}" srcOrd="6" destOrd="0" presId="urn:microsoft.com/office/officeart/2005/8/layout/default"/>
    <dgm:cxn modelId="{F1D696BC-5983-4979-88D2-0ED188D995B7}" type="presParOf" srcId="{4C39345D-3139-436F-96BC-8F4354685244}" destId="{148AF4E5-BD46-4237-8EDB-ADD5E2C93FC6}" srcOrd="7" destOrd="0" presId="urn:microsoft.com/office/officeart/2005/8/layout/default"/>
    <dgm:cxn modelId="{A0499195-F4F7-46FA-B29A-4164283B560A}" type="presParOf" srcId="{4C39345D-3139-436F-96BC-8F4354685244}" destId="{6C17EC20-20D5-4BC7-AE29-DCE2AB150A30}" srcOrd="8" destOrd="0" presId="urn:microsoft.com/office/officeart/2005/8/layout/default"/>
    <dgm:cxn modelId="{C9A3E8BE-09A1-4E6D-A559-52510CB01A4B}" type="presParOf" srcId="{4C39345D-3139-436F-96BC-8F4354685244}" destId="{5BF0CA50-8551-40D7-A2FF-952CF11E0854}" srcOrd="9" destOrd="0" presId="urn:microsoft.com/office/officeart/2005/8/layout/default"/>
    <dgm:cxn modelId="{2C288D4B-C2D9-415A-B7AB-CB47B4E48F34}" type="presParOf" srcId="{4C39345D-3139-436F-96BC-8F4354685244}" destId="{FB785B1E-C119-4F8C-A5C9-823711FA5565}" srcOrd="10" destOrd="0" presId="urn:microsoft.com/office/officeart/2005/8/layout/default"/>
    <dgm:cxn modelId="{3498DDB0-30D2-4BCA-BDD4-1A7ACC59D633}" type="presParOf" srcId="{4C39345D-3139-436F-96BC-8F4354685244}" destId="{33877898-B451-4651-82E6-C98D3DAE83BC}" srcOrd="11" destOrd="0" presId="urn:microsoft.com/office/officeart/2005/8/layout/default"/>
    <dgm:cxn modelId="{F2228E37-4B06-4862-8112-8F735774E05A}" type="presParOf" srcId="{4C39345D-3139-436F-96BC-8F4354685244}" destId="{C3362273-F632-4E86-B191-F84221AF5450}" srcOrd="12" destOrd="0" presId="urn:microsoft.com/office/officeart/2005/8/layout/default"/>
    <dgm:cxn modelId="{C24A59A6-3FE4-4D64-94BA-F4F2EEAB0901}" type="presParOf" srcId="{4C39345D-3139-436F-96BC-8F4354685244}" destId="{34A33171-1E47-42B1-B4E3-6A1F8BBD231B}" srcOrd="13" destOrd="0" presId="urn:microsoft.com/office/officeart/2005/8/layout/default"/>
    <dgm:cxn modelId="{162EF2D7-7481-43EC-AE85-5EDF0D960372}" type="presParOf" srcId="{4C39345D-3139-436F-96BC-8F4354685244}" destId="{54169335-F715-447D-8E9A-410CA2A57223}" srcOrd="14" destOrd="0" presId="urn:microsoft.com/office/officeart/2005/8/layout/default"/>
    <dgm:cxn modelId="{3817419A-0763-4345-9E95-C60E8F4F5193}" type="presParOf" srcId="{4C39345D-3139-436F-96BC-8F4354685244}" destId="{3D1D47C3-A6D2-42A8-B11B-C27892C19084}" srcOrd="15" destOrd="0" presId="urn:microsoft.com/office/officeart/2005/8/layout/default"/>
    <dgm:cxn modelId="{E2BEB626-7037-4538-8464-ACF362061CA5}" type="presParOf" srcId="{4C39345D-3139-436F-96BC-8F4354685244}" destId="{445DF524-B72B-4FF8-865C-E4413C8B4AFA}" srcOrd="16" destOrd="0" presId="urn:microsoft.com/office/officeart/2005/8/layout/default"/>
    <dgm:cxn modelId="{2A8BE4FE-3595-4E23-8935-52F80212A9B1}" type="presParOf" srcId="{4C39345D-3139-436F-96BC-8F4354685244}" destId="{C32E732C-1BB4-497F-90C8-B8496D4F794A}" srcOrd="17" destOrd="0" presId="urn:microsoft.com/office/officeart/2005/8/layout/default"/>
    <dgm:cxn modelId="{0D99A04B-9FDB-444B-B1E0-5A6433DFC7AB}" type="presParOf" srcId="{4C39345D-3139-436F-96BC-8F4354685244}" destId="{E153DA91-158C-4112-9C46-6FB706076BEB}" srcOrd="18" destOrd="0" presId="urn:microsoft.com/office/officeart/2005/8/layout/default"/>
    <dgm:cxn modelId="{1C0E5FBC-BF13-4C23-93D8-2D9BADD0E5B8}" type="presParOf" srcId="{4C39345D-3139-436F-96BC-8F4354685244}" destId="{C48AF63B-19AC-48B3-9D8A-5A00C8E185C7}" srcOrd="19" destOrd="0" presId="urn:microsoft.com/office/officeart/2005/8/layout/default"/>
    <dgm:cxn modelId="{7DD80949-EDA2-49B6-A06F-48D535958731}" type="presParOf" srcId="{4C39345D-3139-436F-96BC-8F4354685244}" destId="{E2C72642-CC95-4DE6-8CA8-325455C59D19}" srcOrd="2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AEAB66-ED02-45EB-A7AF-5CE6F4F3427E}">
      <dsp:nvSpPr>
        <dsp:cNvPr id="0" name=""/>
        <dsp:cNvSpPr/>
      </dsp:nvSpPr>
      <dsp:spPr>
        <a:xfrm>
          <a:off x="3253" y="143529"/>
          <a:ext cx="2580988" cy="154859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CA" sz="2000" kern="1200" dirty="0"/>
            <a:t>Soins de santé primaires</a:t>
          </a:r>
          <a:endParaRPr lang="en-US" sz="2000" kern="1200" dirty="0"/>
        </a:p>
      </dsp:txBody>
      <dsp:txXfrm>
        <a:off x="3253" y="143529"/>
        <a:ext cx="2580988" cy="1548593"/>
      </dsp:txXfrm>
    </dsp:sp>
    <dsp:sp modelId="{D839D880-655C-C140-B432-428B9777F51F}">
      <dsp:nvSpPr>
        <dsp:cNvPr id="0" name=""/>
        <dsp:cNvSpPr/>
      </dsp:nvSpPr>
      <dsp:spPr>
        <a:xfrm>
          <a:off x="2842340" y="143529"/>
          <a:ext cx="2580988" cy="154859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CA" sz="2000" kern="1200" dirty="0"/>
            <a:t>Contrôle des maladies et des épidémies</a:t>
          </a:r>
        </a:p>
      </dsp:txBody>
      <dsp:txXfrm>
        <a:off x="2842340" y="143529"/>
        <a:ext cx="2580988" cy="1548593"/>
      </dsp:txXfrm>
    </dsp:sp>
    <dsp:sp modelId="{196A1E63-2DA0-4990-8846-E09FE860174C}">
      <dsp:nvSpPr>
        <dsp:cNvPr id="0" name=""/>
        <dsp:cNvSpPr/>
      </dsp:nvSpPr>
      <dsp:spPr>
        <a:xfrm>
          <a:off x="5681427" y="143529"/>
          <a:ext cx="2580988" cy="154859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CA" sz="2000" kern="1200" dirty="0"/>
            <a:t>Gestion et renforcement du système de santé</a:t>
          </a:r>
        </a:p>
      </dsp:txBody>
      <dsp:txXfrm>
        <a:off x="5681427" y="143529"/>
        <a:ext cx="2580988" cy="1548593"/>
      </dsp:txXfrm>
    </dsp:sp>
    <dsp:sp modelId="{E120E00C-7B4F-4854-9CD8-C64A152847A0}">
      <dsp:nvSpPr>
        <dsp:cNvPr id="0" name=""/>
        <dsp:cNvSpPr/>
      </dsp:nvSpPr>
      <dsp:spPr>
        <a:xfrm>
          <a:off x="8520515" y="143529"/>
          <a:ext cx="2580988" cy="154859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CA" sz="2000" kern="1200" dirty="0"/>
            <a:t>Renforcement des capacités des organisations de santé</a:t>
          </a:r>
          <a:endParaRPr lang="en-US" sz="2000" kern="1200" dirty="0"/>
        </a:p>
      </dsp:txBody>
      <dsp:txXfrm>
        <a:off x="8520515" y="143529"/>
        <a:ext cx="2580988" cy="1548593"/>
      </dsp:txXfrm>
    </dsp:sp>
    <dsp:sp modelId="{6C17EC20-20D5-4BC7-AE29-DCE2AB150A30}">
      <dsp:nvSpPr>
        <dsp:cNvPr id="0" name=""/>
        <dsp:cNvSpPr/>
      </dsp:nvSpPr>
      <dsp:spPr>
        <a:xfrm>
          <a:off x="3253" y="1950221"/>
          <a:ext cx="2580988" cy="154859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CA" sz="2000" kern="1200" dirty="0"/>
            <a:t>Santé maternelle et infantile/santé reproductive</a:t>
          </a:r>
          <a:endParaRPr lang="en-US" sz="2000" kern="1200" dirty="0"/>
        </a:p>
      </dsp:txBody>
      <dsp:txXfrm>
        <a:off x="3253" y="1950221"/>
        <a:ext cx="2580988" cy="1548593"/>
      </dsp:txXfrm>
    </dsp:sp>
    <dsp:sp modelId="{FB785B1E-C119-4F8C-A5C9-823711FA5565}">
      <dsp:nvSpPr>
        <dsp:cNvPr id="0" name=""/>
        <dsp:cNvSpPr/>
      </dsp:nvSpPr>
      <dsp:spPr>
        <a:xfrm>
          <a:off x="2842340" y="1950221"/>
          <a:ext cx="2580988" cy="154859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CA" sz="2000" kern="1200" dirty="0"/>
            <a:t>Eau, hygiène et assainissement</a:t>
          </a:r>
          <a:endParaRPr lang="en-US" sz="2000" kern="1200" dirty="0"/>
        </a:p>
      </dsp:txBody>
      <dsp:txXfrm>
        <a:off x="2842340" y="1950221"/>
        <a:ext cx="2580988" cy="1548593"/>
      </dsp:txXfrm>
    </dsp:sp>
    <dsp:sp modelId="{C3362273-F632-4E86-B191-F84221AF5450}">
      <dsp:nvSpPr>
        <dsp:cNvPr id="0" name=""/>
        <dsp:cNvSpPr/>
      </dsp:nvSpPr>
      <dsp:spPr>
        <a:xfrm>
          <a:off x="5681427" y="1950221"/>
          <a:ext cx="2580988" cy="154859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CA" sz="2000" kern="1200" dirty="0"/>
            <a:t>Gestion de la chaîne d'approvisionnement</a:t>
          </a:r>
          <a:endParaRPr lang="en-US" sz="2000" kern="1200" dirty="0"/>
        </a:p>
      </dsp:txBody>
      <dsp:txXfrm>
        <a:off x="5681427" y="1950221"/>
        <a:ext cx="2580988" cy="1548593"/>
      </dsp:txXfrm>
    </dsp:sp>
    <dsp:sp modelId="{54169335-F715-447D-8E9A-410CA2A57223}">
      <dsp:nvSpPr>
        <dsp:cNvPr id="0" name=""/>
        <dsp:cNvSpPr/>
      </dsp:nvSpPr>
      <dsp:spPr>
        <a:xfrm>
          <a:off x="8520515" y="1950221"/>
          <a:ext cx="2580988" cy="154859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CA" sz="2000" kern="1200" dirty="0"/>
            <a:t>Renforcement des capacités communautaires</a:t>
          </a:r>
          <a:endParaRPr lang="en-US" sz="2000" kern="1200" dirty="0"/>
        </a:p>
      </dsp:txBody>
      <dsp:txXfrm>
        <a:off x="8520515" y="1950221"/>
        <a:ext cx="2580988" cy="1548593"/>
      </dsp:txXfrm>
    </dsp:sp>
    <dsp:sp modelId="{445DF524-B72B-4FF8-865C-E4413C8B4AFA}">
      <dsp:nvSpPr>
        <dsp:cNvPr id="0" name=""/>
        <dsp:cNvSpPr/>
      </dsp:nvSpPr>
      <dsp:spPr>
        <a:xfrm>
          <a:off x="1012910" y="3756913"/>
          <a:ext cx="3400761" cy="154859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b="1" kern="1200" dirty="0">
              <a:solidFill>
                <a:schemeClr val="bg1"/>
              </a:solidFill>
              <a:cs typeface="Arial" panose="020B0604020202020204" pitchFamily="34" charset="0"/>
            </a:rPr>
            <a:t>Vaccination</a:t>
          </a:r>
          <a:r>
            <a:rPr lang="fr-FR" sz="2000" kern="1200" dirty="0">
              <a:solidFill>
                <a:schemeClr val="bg1"/>
              </a:solidFill>
              <a:cs typeface="Arial" panose="020B0604020202020204" pitchFamily="34" charset="0"/>
            </a:rPr>
            <a:t> (FAE, RSS3, SBC, appui des OSC, CDS et génération de la demande pour la vaccination de routine)</a:t>
          </a:r>
        </a:p>
      </dsp:txBody>
      <dsp:txXfrm>
        <a:off x="1012910" y="3756913"/>
        <a:ext cx="3400761" cy="1548593"/>
      </dsp:txXfrm>
    </dsp:sp>
    <dsp:sp modelId="{E153DA91-158C-4112-9C46-6FB706076BEB}">
      <dsp:nvSpPr>
        <dsp:cNvPr id="0" name=""/>
        <dsp:cNvSpPr/>
      </dsp:nvSpPr>
      <dsp:spPr>
        <a:xfrm>
          <a:off x="4671771" y="3756913"/>
          <a:ext cx="2580988" cy="154859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CA" sz="2000" kern="1200" dirty="0"/>
            <a:t>Nutrition communautaire et planification familiale</a:t>
          </a:r>
          <a:endParaRPr lang="en-US" sz="2000" kern="1200" dirty="0"/>
        </a:p>
      </dsp:txBody>
      <dsp:txXfrm>
        <a:off x="4671771" y="3756913"/>
        <a:ext cx="2580988" cy="1548593"/>
      </dsp:txXfrm>
    </dsp:sp>
    <dsp:sp modelId="{E2C72642-CC95-4DE6-8CA8-325455C59D19}">
      <dsp:nvSpPr>
        <dsp:cNvPr id="0" name=""/>
        <dsp:cNvSpPr/>
      </dsp:nvSpPr>
      <dsp:spPr>
        <a:xfrm>
          <a:off x="7510858" y="3756913"/>
          <a:ext cx="2580988" cy="154859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CA" sz="2000" kern="1200" dirty="0"/>
            <a:t>Recherche opérationnelle</a:t>
          </a:r>
          <a:endParaRPr lang="en-US" sz="2000" kern="1200" dirty="0"/>
        </a:p>
      </dsp:txBody>
      <dsp:txXfrm>
        <a:off x="7510858" y="3756913"/>
        <a:ext cx="2580988" cy="154859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en-US"/>
          </a:p>
        </p:txBody>
      </p:sp>
      <p:sp>
        <p:nvSpPr>
          <p:cNvPr id="3" name="Date Placeholder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en-US" smtClean="0"/>
              <a:t>12/16/2025</a:t>
            </a:fld>
            <a:endParaRPr lang="en-US"/>
          </a:p>
        </p:txBody>
      </p:sp>
      <p:sp>
        <p:nvSpPr>
          <p:cNvPr id="4" name="Footer Placeholder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en-US"/>
          </a:p>
        </p:txBody>
      </p:sp>
      <p:sp>
        <p:nvSpPr>
          <p:cNvPr id="5" name="Slide Number Placeholder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en-US" smtClean="0"/>
              <a:t>‹N°›</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US"/>
          </a:p>
        </p:txBody>
      </p:sp>
      <p:sp>
        <p:nvSpPr>
          <p:cNvPr id="3" name="Slide Number Placeholder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en-US" smtClean="0"/>
              <a:t>12/16/2025</a:t>
            </a:fld>
            <a:endParaRPr lang="en-US"/>
          </a:p>
        </p:txBody>
      </p:sp>
      <p:sp>
        <p:nvSpPr>
          <p:cNvPr id="4" name="Slide Image Placeho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 Placeholder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en-US" smtClean="0"/>
              <a:t>‹N°›</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aabd3d1b2d_0_149:notes"/>
          <p:cNvSpPr>
            <a:spLocks noGrp="1" noRot="1" noChangeAspect="1"/>
          </p:cNvSpPr>
          <p:nvPr>
            <p:ph type="sldImg" idx="2"/>
          </p:nvPr>
        </p:nvSpPr>
        <p:spPr>
          <a:xfrm>
            <a:off x="312738" y="652463"/>
            <a:ext cx="5805487" cy="32670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lt1"/>
            </a:solidFill>
            <a:prstDash val="solid"/>
            <a:miter lim="8000"/>
            <a:headEnd type="none" w="sm" len="sm"/>
            <a:tailEnd type="none" w="sm" len="sm"/>
          </a:ln>
        </p:spPr>
        <p:txBody>
          <a:bodyPr/>
          <a:lstStyle/>
          <a:p>
            <a:endParaRPr lang="fr-FR"/>
          </a:p>
        </p:txBody>
      </p:sp>
      <p:sp>
        <p:nvSpPr>
          <p:cNvPr id="145" name="Google Shape;145;g3aabd3d1b2d_0_149:notes"/>
          <p:cNvSpPr txBox="1">
            <a:spLocks noGrp="1"/>
          </p:cNvSpPr>
          <p:nvPr>
            <p:ph type="body" idx="1"/>
          </p:nvPr>
        </p:nvSpPr>
        <p:spPr>
          <a:xfrm>
            <a:off x="642938" y="4136571"/>
            <a:ext cx="5143500" cy="3918900"/>
          </a:xfrm>
          <a:prstGeom prst="rect">
            <a:avLst/>
          </a:prstGeom>
          <a:noFill/>
          <a:ln>
            <a:noFill/>
          </a:ln>
        </p:spPr>
        <p:txBody>
          <a:bodyPr spcFirstLastPara="1" wrap="square" lIns="86275" tIns="86275" rIns="86275" bIns="86275" anchor="t" anchorCtr="0">
            <a:noAutofit/>
          </a:bodyPr>
          <a:lstStyle/>
          <a:p>
            <a:pPr marL="0" lvl="0" indent="0" algn="l" rtl="0">
              <a:lnSpc>
                <a:spcPct val="100000"/>
              </a:lnSpc>
              <a:spcBef>
                <a:spcPts val="0"/>
              </a:spcBef>
              <a:spcAft>
                <a:spcPts val="0"/>
              </a:spcAft>
              <a:buClr>
                <a:schemeClr val="dk1"/>
              </a:buClr>
              <a:buSzPts val="1300"/>
              <a:buFont typeface="Arial" panose="020B0604020202020204"/>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aabd3d1b2d_0_156: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154" name="Google Shape;154;g3aabd3d1b2d_0_156: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5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598F6BC0-9340-B2D0-7FA4-7387F0B1B8C2}"/>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E7193CBA-E234-D17E-AAAF-A3E83F845B0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174" name="Google Shape;174;g3aabd3d1b2d_0_290:notes">
            <a:extLst>
              <a:ext uri="{FF2B5EF4-FFF2-40B4-BE49-F238E27FC236}">
                <a16:creationId xmlns:a16="http://schemas.microsoft.com/office/drawing/2014/main" id="{7A0B2AD9-1F7D-E497-F8D3-2286751933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015492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07449A09-32D6-0874-CEFF-227697140363}"/>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90E6B8F2-7CE4-4F53-579D-4D0E515BDCE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174" name="Google Shape;174;g3aabd3d1b2d_0_290:notes">
            <a:extLst>
              <a:ext uri="{FF2B5EF4-FFF2-40B4-BE49-F238E27FC236}">
                <a16:creationId xmlns:a16="http://schemas.microsoft.com/office/drawing/2014/main" id="{82DDB762-C8FC-3FB5-87C7-421263A5989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5553267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8C589DC5-DF5E-DF65-80B6-FF81578F5CCB}"/>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4AC5901C-3332-5237-EEBB-F36DFB97E49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174" name="Google Shape;174;g3aabd3d1b2d_0_290:notes">
            <a:extLst>
              <a:ext uri="{FF2B5EF4-FFF2-40B4-BE49-F238E27FC236}">
                <a16:creationId xmlns:a16="http://schemas.microsoft.com/office/drawing/2014/main" id="{5DF85DF3-494D-5484-7C07-7FA41B8129A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1371215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B67786B6-18C4-3973-00B8-F31D95171239}"/>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B6C3F81E-3B05-8DF2-6E86-711E5D5604E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174" name="Google Shape;174;g3aabd3d1b2d_0_290:notes">
            <a:extLst>
              <a:ext uri="{FF2B5EF4-FFF2-40B4-BE49-F238E27FC236}">
                <a16:creationId xmlns:a16="http://schemas.microsoft.com/office/drawing/2014/main" id="{2A3A8A5B-AB44-108E-8A73-CA8661C32CF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152457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718B4646-C205-9F9D-3B1C-96A115AD8150}"/>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177B1242-CD0F-4863-1CEC-5FC93318838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174" name="Google Shape;174;g3aabd3d1b2d_0_290:notes">
            <a:extLst>
              <a:ext uri="{FF2B5EF4-FFF2-40B4-BE49-F238E27FC236}">
                <a16:creationId xmlns:a16="http://schemas.microsoft.com/office/drawing/2014/main" id="{8491FC09-19BB-0BD4-FA80-B3B440CEFE1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27950462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aabd3d1b2d_0_178:notes"/>
          <p:cNvSpPr>
            <a:spLocks noGrp="1" noRot="1" noChangeAspect="1"/>
          </p:cNvSpPr>
          <p:nvPr>
            <p:ph type="sldImg" idx="2"/>
          </p:nvPr>
        </p:nvSpPr>
        <p:spPr>
          <a:xfrm>
            <a:off x="381794"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220" name="Google Shape;220;g3aabd3d1b2d_0_178: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322962"/>
            <a:ext cx="9144000" cy="2187001"/>
          </a:xfrm>
        </p:spPr>
        <p:txBody>
          <a:bodyPr anchor="b">
            <a:normAutofit/>
          </a:bodyPr>
          <a:lstStyle>
            <a:lvl1pPr algn="ctr">
              <a:lnSpc>
                <a:spcPct val="130000"/>
              </a:lnSpc>
              <a:defRPr sz="6000">
                <a:effectLst/>
                <a:latin typeface="Calibri Light" panose="020F0302020204030204" pitchFamily="34" charset="0"/>
              </a:defRPr>
            </a:lvl1pPr>
          </a:lstStyle>
          <a:p>
            <a:r>
              <a:rPr lang="en-US" dirty="0"/>
              <a:t>Click to edit Master title style</a:t>
            </a:r>
          </a:p>
        </p:txBody>
      </p:sp>
      <p:sp>
        <p:nvSpPr>
          <p:cNvPr id="4" name="Date Placeholder  3"/>
          <p:cNvSpPr>
            <a:spLocks noGrp="1"/>
          </p:cNvSpPr>
          <p:nvPr>
            <p:ph type="dt" sz="half" idx="10"/>
          </p:nvPr>
        </p:nvSpPr>
        <p:spPr/>
        <p:txBody>
          <a:bodyPr/>
          <a:lstStyle/>
          <a:p>
            <a:fld id="{760FBDFE-C587-4B4C-A407-44438C67B59E}"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Calibri Light" panose="020F0302020204030204" pitchFamily="34" charset="0"/>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chor="ctr" anchorCtr="0">
            <a:normAutofit/>
          </a:bodyPr>
          <a:lstStyle>
            <a:lvl1pPr>
              <a:defRPr sz="4400" b="1">
                <a:effectLst/>
                <a:latin typeface="Calibri Light" panose="020F0302020204030204" pitchFamily="34" charset="0"/>
              </a:defRPr>
            </a:lvl1pPr>
          </a:lstStyle>
          <a:p>
            <a:r>
              <a:rPr lang="en-US" dirty="0"/>
              <a:t>Click to edit Master title style</a:t>
            </a:r>
          </a:p>
        </p:txBody>
      </p:sp>
      <p:sp>
        <p:nvSpPr>
          <p:cNvPr id="3" name="Content Placeholder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 </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3750945"/>
            <a:ext cx="9843135" cy="811530"/>
          </a:xfrm>
        </p:spPr>
        <p:txBody>
          <a:bodyPr anchor="b">
            <a:noAutofit/>
          </a:bodyPr>
          <a:lstStyle>
            <a:lvl1pPr>
              <a:defRPr sz="6000">
                <a:effectLst/>
              </a:defRPr>
            </a:lvl1pPr>
          </a:lstStyle>
          <a:p>
            <a:r>
              <a:rPr lang="en-US" dirty="0">
                <a:sym typeface="+mn-ea"/>
              </a:rPr>
              <a:t>Click to edit Master title style</a:t>
            </a:r>
          </a:p>
        </p:txBody>
      </p:sp>
      <p:sp>
        <p:nvSpPr>
          <p:cNvPr id="3" name="Text Placeholder 2"/>
          <p:cNvSpPr>
            <a:spLocks noGrp="1"/>
          </p:cNvSpPr>
          <p:nvPr>
            <p:ph type="body" idx="1"/>
          </p:nvPr>
        </p:nvSpPr>
        <p:spPr>
          <a:xfrm>
            <a:off x="831850" y="4610028"/>
            <a:ext cx="7321550" cy="647555"/>
          </a:xfrm>
        </p:spPr>
        <p:txBody>
          <a:bodyPr>
            <a:noAutofit/>
          </a:bodyPr>
          <a:lstStyle>
            <a:lvl1pPr marL="0" indent="0">
              <a:buNone/>
              <a:defRPr sz="24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Slide Number Placeholder 3"/>
          <p:cNvSpPr>
            <a:spLocks noGrp="1"/>
          </p:cNvSpPr>
          <p:nvPr>
            <p:ph type="dt" sz="half" idx="10"/>
          </p:nvPr>
        </p:nvSpPr>
        <p:spPr/>
        <p:txBody>
          <a:bodyPr/>
          <a:lstStyle/>
          <a:p>
            <a:fld id="{760FBDFE-C587-4B4C-A407-44438C67B59E}"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ormAutofit/>
          </a:bodyPr>
          <a:lstStyle>
            <a:lvl1pPr>
              <a:defRPr sz="4400" b="0" i="0">
                <a:effectLst/>
              </a:defRPr>
            </a:lvl1pPr>
          </a:lstStyle>
          <a:p>
            <a:r>
              <a:rPr lang="en-US" dirty="0">
                <a:sym typeface="+mn-ea"/>
              </a:rPr>
              <a:t>Click to edit Master title style</a:t>
            </a:r>
            <a:endParaRPr lang="en-US" dirty="0"/>
          </a:p>
        </p:txBody>
      </p:sp>
      <p:sp>
        <p:nvSpPr>
          <p:cNvPr id="3" name="Content Placeholder 2"/>
          <p:cNvSpPr>
            <a:spLocks noGrp="1"/>
          </p:cNvSpPr>
          <p:nvPr>
            <p:ph sz="half" idx="1"/>
          </p:nvPr>
        </p:nvSpPr>
        <p:spPr>
          <a:xfrm>
            <a:off x="647700" y="1825625"/>
            <a:ext cx="5181600" cy="4351338"/>
          </a:xfrm>
        </p:spPr>
        <p:txBody>
          <a:bodyPr>
            <a:normAutofit/>
          </a:bodyPr>
          <a:lstStyle>
            <a:lvl1pPr>
              <a:lnSpc>
                <a:spcPct val="150000"/>
              </a:lnSpc>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lnSpc>
                <a:spcPct val="150000"/>
              </a:lnSpc>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lnSpc>
                <a:spcPct val="150000"/>
              </a:lnSpc>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981700" y="1825625"/>
            <a:ext cx="5181600" cy="4351338"/>
          </a:xfrm>
        </p:spPr>
        <p:txBody>
          <a:bodyPr>
            <a:normAutofit/>
          </a:bodyPr>
          <a:lstStyle>
            <a:lvl1pPr>
              <a:lnSpc>
                <a:spcPct val="150000"/>
              </a:lnSpc>
              <a:defRPr kumimoji="0" lang="en-US" sz="2800" b="0" i="0" u="none" strike="noStrike" kern="1200" cap="none" spc="0" normalizeH="0" baseline="0" noProof="1" dirty="0">
                <a:solidFill>
                  <a:schemeClr val="tx1">
                    <a:lumMod val="75000"/>
                    <a:lumOff val="25000"/>
                  </a:schemeClr>
                </a:solidFill>
                <a:latin typeface="Calibri Light" panose="020F0302020204030204" pitchFamily="34" charset="0"/>
                <a:ea typeface="+mn-ea"/>
                <a:cs typeface="+mn-cs"/>
              </a:defRPr>
            </a:lvl1pPr>
            <a:lvl2pPr>
              <a:lnSpc>
                <a:spcPct val="150000"/>
              </a:lnSpc>
              <a:defRPr sz="2400">
                <a:solidFill>
                  <a:schemeClr val="tx1">
                    <a:lumMod val="75000"/>
                    <a:lumOff val="25000"/>
                  </a:schemeClr>
                </a:solidFill>
              </a:defRPr>
            </a:lvl2pPr>
            <a:lvl3pPr>
              <a:lnSpc>
                <a:spcPct val="150000"/>
              </a:lnSpc>
              <a:defRPr sz="2000">
                <a:solidFill>
                  <a:schemeClr val="tx1">
                    <a:lumMod val="75000"/>
                    <a:lumOff val="25000"/>
                  </a:schemeClr>
                </a:solidFill>
              </a:defRPr>
            </a:lvl3pPr>
            <a:lvl4pPr>
              <a:lnSpc>
                <a:spcPct val="150000"/>
              </a:lnSpc>
              <a:defRPr sz="2000">
                <a:solidFill>
                  <a:schemeClr val="tx1">
                    <a:lumMod val="75000"/>
                    <a:lumOff val="25000"/>
                  </a:schemeClr>
                </a:solidFill>
              </a:defRPr>
            </a:lvl4pPr>
            <a:lvl5pPr>
              <a:lnSpc>
                <a:spcPct val="150000"/>
              </a:lnSpc>
              <a:defRPr sz="2000">
                <a:solidFill>
                  <a:schemeClr val="tx1">
                    <a:lumMod val="75000"/>
                    <a:lumOff val="25000"/>
                  </a:schemeClr>
                </a:solidFill>
              </a:defRPr>
            </a:lvl5pPr>
          </a:lstStyle>
          <a:p>
            <a:pPr lvl="0"/>
            <a:r>
              <a:rPr lang="en-US" dirty="0"/>
              <a:t>Click to edit Master text styles</a:t>
            </a:r>
          </a:p>
          <a:p>
            <a:pPr lvl="1"/>
            <a:r>
              <a:rPr lang="en-US" dirty="0">
                <a:sym typeface="+mn-ea"/>
              </a:rPr>
              <a:t>Second level</a:t>
            </a:r>
            <a:endParaRPr lang="en-US" dirty="0"/>
          </a:p>
          <a:p>
            <a:pPr lvl="2"/>
            <a:r>
              <a:rPr lang="en-US" dirty="0">
                <a:sym typeface="+mn-ea"/>
              </a:rPr>
              <a:t>Third level</a:t>
            </a:r>
            <a:endParaRPr lang="en-US" dirty="0"/>
          </a:p>
          <a:p>
            <a:pPr lvl="3"/>
            <a:r>
              <a:rPr lang="en-US" dirty="0">
                <a:sym typeface="+mn-ea"/>
              </a:rPr>
              <a:t>Fourth level</a:t>
            </a:r>
            <a:endParaRPr lang="en-US" dirty="0"/>
          </a:p>
          <a:p>
            <a:pPr lvl="4"/>
            <a:r>
              <a:rPr lang="en-US" dirty="0">
                <a:sym typeface="+mn-ea"/>
              </a:rPr>
              <a:t>Fifth level</a:t>
            </a:r>
            <a:endParaRPr lang="en-US" dirty="0"/>
          </a:p>
        </p:txBody>
      </p:sp>
      <p:sp>
        <p:nvSpPr>
          <p:cNvPr id="5" name="Date Placeholder 4"/>
          <p:cNvSpPr>
            <a:spLocks noGrp="1"/>
          </p:cNvSpPr>
          <p:nvPr>
            <p:ph type="dt" sz="half" idx="10"/>
          </p:nvPr>
        </p:nvSpPr>
        <p:spPr/>
        <p:txBody>
          <a:bodyPr/>
          <a:lstStyle/>
          <a:p>
            <a:fld id="{760FBDFE-C587-4B4C-A407-44438C67B59E}"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sz="4400"/>
            </a:lvl1pPr>
          </a:lstStyle>
          <a:p>
            <a:r>
              <a:rPr lang="en-US" dirty="0">
                <a:sym typeface="+mn-ea"/>
              </a:rPr>
              <a:t>Click to edit Master title style</a:t>
            </a:r>
            <a:endParaRPr lang="en-US"/>
          </a:p>
        </p:txBody>
      </p:sp>
      <p:sp>
        <p:nvSpPr>
          <p:cNvPr id="3" name="Text Placeholder 2"/>
          <p:cNvSpPr>
            <a:spLocks noGrp="1"/>
          </p:cNvSpPr>
          <p:nvPr>
            <p:ph type="body" idx="1"/>
          </p:nvPr>
        </p:nvSpPr>
        <p:spPr>
          <a:xfrm>
            <a:off x="839788" y="1744961"/>
            <a:ext cx="5157787"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615609"/>
            <a:ext cx="5157787" cy="357405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内容占位符 5"/>
          <p:cNvSpPr>
            <a:spLocks noGrp="1"/>
          </p:cNvSpPr>
          <p:nvPr>
            <p:ph sz="quarter" idx="4"/>
          </p:nvPr>
        </p:nvSpPr>
        <p:spPr>
          <a:xfrm>
            <a:off x="6172200" y="2615609"/>
            <a:ext cx="5183188" cy="3574054"/>
          </a:xfrm>
        </p:spPr>
        <p:txBody>
          <a:bodyPr/>
          <a:lstStyle/>
          <a:p>
            <a:pPr lvl="0"/>
            <a:r>
              <a:rPr lang="en-US" dirty="0">
                <a:sym typeface="+mn-ea"/>
              </a:rPr>
              <a:t>Click to edit Master text styles</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760FBDFE-C587-4B4C-A407-44438C67B59E}"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2766219"/>
            <a:ext cx="10515600" cy="1325563"/>
          </a:xfrm>
        </p:spPr>
        <p:txBody>
          <a:bodyPr>
            <a:normAutofit/>
          </a:bodyPr>
          <a:lstStyle>
            <a:lvl1pPr algn="ctr">
              <a:defRPr sz="4400" b="0">
                <a:effectLst/>
                <a:latin typeface="Calibri Light" panose="020F0302020204030204" pitchFamily="34" charset="0"/>
                <a:cs typeface="Calibri Light" panose="020F0302020204030204" pitchFamily="34" charset="0"/>
              </a:defRPr>
            </a:lvl1pPr>
          </a:lstStyle>
          <a:p>
            <a:r>
              <a:rPr lang="en-US" dirty="0"/>
              <a:t>Click to edit Master title style</a:t>
            </a:r>
          </a:p>
        </p:txBody>
      </p:sp>
      <p:sp>
        <p:nvSpPr>
          <p:cNvPr id="3" name="Date Placeholder 2"/>
          <p:cNvSpPr>
            <a:spLocks noGrp="1"/>
          </p:cNvSpPr>
          <p:nvPr>
            <p:ph type="dt" sz="half" idx="10"/>
          </p:nvPr>
        </p:nvSpPr>
        <p:spPr/>
        <p:txBody>
          <a:bodyPr/>
          <a:lstStyle/>
          <a:p>
            <a:fld id="{760FBDFE-C587-4B4C-A407-44438C67B59E}"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0FBDFE-C587-4B4C-A407-44438C67B59E}"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6747" y="127000"/>
            <a:ext cx="4165200" cy="1600200"/>
          </a:xfrm>
        </p:spPr>
        <p:txBody>
          <a:bodyPr anchor="ctr" anchorCtr="0">
            <a:normAutofit/>
          </a:bodyPr>
          <a:lstStyle>
            <a:lvl1pPr>
              <a:defRPr sz="3200" b="0">
                <a:effectLst/>
                <a:latin typeface="Calibri Light" panose="020F0302020204030204" pitchFamily="34" charset="0"/>
                <a:cs typeface="Calibri Light" panose="020F0302020204030204" pitchFamily="34" charset="0"/>
              </a:defRPr>
            </a:lvl1pPr>
          </a:lstStyle>
          <a:p>
            <a:r>
              <a:rPr lang="en-US" dirty="0"/>
              <a:t>Click to edit Master title style</a:t>
            </a:r>
          </a:p>
        </p:txBody>
      </p:sp>
      <p:sp>
        <p:nvSpPr>
          <p:cNvPr id="3" name="Picture Placeholder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9EFD9D74-47D9-4702-A33C-335B63B48DBF}" type="datetimeFigureOut">
              <a:rPr lang="en-US" smtClean="0"/>
              <a:t>12/16/2025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BC47A4-756D-490B-A52F-7D9E2C9FC05F}" type="slidenum">
              <a:rPr lang="en-US" smtClean="0"/>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24484" y="365125"/>
            <a:ext cx="1529316" cy="5811838"/>
          </a:xfrm>
        </p:spPr>
        <p:txBody>
          <a:bodyPr vert="eaVert">
            <a:normAutofit/>
          </a:bodyPr>
          <a:lstStyle>
            <a:lvl1pPr>
              <a:defRPr sz="4400"/>
            </a:lvl1pPr>
          </a:lstStyle>
          <a:p>
            <a:r>
              <a:rPr lang="en-US"/>
              <a:t>Click to edit Master title style</a:t>
            </a:r>
          </a:p>
        </p:txBody>
      </p:sp>
      <p:sp>
        <p:nvSpPr>
          <p:cNvPr id="3" name="Vertical Text Placeholder 2"/>
          <p:cNvSpPr>
            <a:spLocks noGrp="1"/>
          </p:cNvSpPr>
          <p:nvPr>
            <p:ph type="body" orient="vert" idx="1"/>
          </p:nvPr>
        </p:nvSpPr>
        <p:spPr>
          <a:xfrm>
            <a:off x="838200" y="365125"/>
            <a:ext cx="8879958"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60FBDFE-C587-4B4C-A407-44438C67B59E}"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‹N°›</a:t>
            </a:fld>
            <a:endParaRPr lang="en-US"/>
          </a:p>
        </p:txBody>
      </p:sp>
      <p:sp>
        <p:nvSpPr>
          <p:cNvPr id="7" name="Content Placeholder 6"/>
          <p:cNvSpPr>
            <a:spLocks noGrp="1"/>
          </p:cNvSpPr>
          <p:nvPr>
            <p:ph sz="quarter" idx="13"/>
          </p:nvPr>
        </p:nvSpPr>
        <p:spPr>
          <a:xfrm>
            <a:off x="838200" y="551543"/>
            <a:ext cx="10515600" cy="5558971"/>
          </a:xfrm>
        </p:spPr>
        <p:txBody>
          <a:bodyPr/>
          <a:lstStyle/>
          <a:p>
            <a:pPr lvl="0"/>
            <a:r>
              <a:rPr lang="en-US" dirty="0">
                <a:sym typeface="+mn-ea"/>
              </a:rPr>
              <a:t>Click to edit Master text styles</a:t>
            </a:r>
            <a:endParaRPr lang="en-US" dirty="0"/>
          </a:p>
          <a:p>
            <a:pPr lvl="1"/>
            <a:r>
              <a:rPr lang="en-US" dirty="0">
                <a:sym typeface="+mn-ea"/>
              </a:rPr>
              <a:t>Second level</a:t>
            </a:r>
            <a:endParaRPr lang="en-US" dirty="0"/>
          </a:p>
          <a:p>
            <a:pPr lvl="2"/>
            <a:r>
              <a:rPr lang="en-US" dirty="0">
                <a:sym typeface="+mn-ea"/>
              </a:rPr>
              <a:t>Third level</a:t>
            </a:r>
            <a:endParaRPr lang="en-US" dirty="0"/>
          </a:p>
          <a:p>
            <a:pPr lvl="3"/>
            <a:r>
              <a:rPr lang="en-US" dirty="0">
                <a:sym typeface="+mn-ea"/>
              </a:rPr>
              <a:t>Fourth level</a:t>
            </a:r>
            <a:endParaRPr lang="en-US" dirty="0"/>
          </a:p>
          <a:p>
            <a:pPr lvl="4"/>
            <a:r>
              <a:rPr lang="en-US" dirty="0">
                <a:sym typeface="+mn-ea"/>
              </a:rPr>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9"/>
        <p:cNvGrpSpPr/>
        <p:nvPr/>
      </p:nvGrpSpPr>
      <p:grpSpPr>
        <a:xfrm>
          <a:off x="0" y="0"/>
          <a:ext cx="0" cy="0"/>
          <a:chOff x="0" y="0"/>
          <a:chExt cx="0" cy="0"/>
        </a:xfrm>
      </p:grpSpPr>
      <p:sp>
        <p:nvSpPr>
          <p:cNvPr id="100" name="Google Shape;100;g3aabd3d1b2d_0_195"/>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01" name="Google Shape;101;g3aabd3d1b2d_0_195"/>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102" name="Google Shape;102;g3aabd3d1b2d_0_195"/>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baseline="0">
                <a:solidFill>
                  <a:schemeClr val="tx1">
                    <a:tint val="75000"/>
                  </a:schemeClr>
                </a:solidFill>
              </a:defRPr>
            </a:lvl1pPr>
          </a:lstStyle>
          <a:p>
            <a:fld id="{760FBDFE-C587-4B4C-A407-44438C67B59E}" type="datetimeFigureOut">
              <a:rPr lang="en-US" smtClean="0"/>
              <a:t>12/16/2025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Calibri Light" panose="020F0302020204030204" pitchFamily="34" charset="0"/>
                <a:cs typeface="Calibri Light" panose="020F030202020403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latin typeface="Calibri Light" panose="020F0302020204030204" pitchFamily="34" charset="0"/>
                <a:cs typeface="Calibri Light" panose="020F0302020204030204" pitchFamily="34" charset="0"/>
              </a:defRPr>
            </a:lvl1pPr>
          </a:lstStyle>
          <a:p>
            <a:fld id="{49AE70B2-8BF9-45C0-BB95-33D1B9D3A854}" type="slidenum">
              <a:rPr lang="en-US" smtClean="0"/>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000" kern="1200">
          <a:solidFill>
            <a:schemeClr val="tx1"/>
          </a:solidFill>
          <a:latin typeface="Calibri Light" panose="020F0302020204030204" pitchFamily="34" charset="0"/>
          <a:ea typeface="+mj-ea"/>
          <a:cs typeface="+mj-cs"/>
        </a:defRPr>
      </a:lvl1pPr>
    </p:titleStyle>
    <p:body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0" kern="1200">
          <a:solidFill>
            <a:schemeClr val="tx1"/>
          </a:solidFill>
          <a:latin typeface="Calibri Light" panose="020F03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Calibri Light" panose="020F03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effectLst/>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xml"/><Relationship Id="rId1" Type="http://schemas.openxmlformats.org/officeDocument/2006/relationships/tags" Target="../tags/tag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1.xml"/><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tags" Target="../tags/tag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1.xml"/><Relationship Id="rId1" Type="http://schemas.openxmlformats.org/officeDocument/2006/relationships/tags" Target="../tags/tag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g3aabd3d1b2d_0_149"/>
          <p:cNvPicPr preferRelativeResize="0"/>
          <p:nvPr/>
        </p:nvPicPr>
        <p:blipFill rotWithShape="1">
          <a:blip r:embed="rId3"/>
          <a:srcRect l="-17785"/>
          <a:stretch>
            <a:fillRect/>
          </a:stretch>
        </p:blipFill>
        <p:spPr>
          <a:xfrm>
            <a:off x="-681739" y="1646127"/>
            <a:ext cx="4525279" cy="3703095"/>
          </a:xfrm>
          <a:prstGeom prst="rect">
            <a:avLst/>
          </a:prstGeom>
          <a:noFill/>
          <a:ln>
            <a:noFill/>
          </a:ln>
        </p:spPr>
      </p:pic>
      <p:sp>
        <p:nvSpPr>
          <p:cNvPr id="148" name="Google Shape;148;g3aabd3d1b2d_0_149"/>
          <p:cNvSpPr txBox="1"/>
          <p:nvPr/>
        </p:nvSpPr>
        <p:spPr>
          <a:xfrm>
            <a:off x="4210333" y="1516433"/>
            <a:ext cx="7894800" cy="186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200"/>
              <a:buFont typeface="Arial" panose="020B0604020202020204"/>
              <a:buNone/>
            </a:pPr>
            <a:r>
              <a:rPr lang="en-US" sz="43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2025</a:t>
            </a:r>
            <a:endParaRPr sz="4300" b="1"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3200"/>
              <a:buFont typeface="Arial" panose="020B0604020202020204"/>
              <a:buNone/>
            </a:pPr>
            <a:r>
              <a:rPr lang="en-US" altLang="en-US" sz="4300" b="1" i="1"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Présentation</a:t>
            </a:r>
            <a:r>
              <a:rPr lang="en-US" altLang="en-US" sz="4300" b="1" i="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des PTF en appui à la vaccination</a:t>
            </a:r>
            <a:endParaRPr sz="4300" b="1" i="1"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3200"/>
              <a:buFont typeface="Arial" panose="020B0604020202020204"/>
              <a:buNone/>
            </a:pPr>
            <a:endParaRPr lang="en-US" altLang="en-US" sz="4300" b="1" i="1"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3200"/>
              <a:buFont typeface="Arial" panose="020B0604020202020204"/>
              <a:buNone/>
            </a:pPr>
            <a:r>
              <a:rPr lang="en-US" altLang="en-US" sz="4300" b="1" i="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Par SANRU/OSC</a:t>
            </a:r>
          </a:p>
        </p:txBody>
      </p:sp>
      <p:sp>
        <p:nvSpPr>
          <p:cNvPr id="149" name="Google Shape;149;g3aabd3d1b2d_0_149"/>
          <p:cNvSpPr/>
          <p:nvPr/>
        </p:nvSpPr>
        <p:spPr>
          <a:xfrm>
            <a:off x="3661467" y="1516428"/>
            <a:ext cx="373500" cy="1867200"/>
          </a:xfrm>
          <a:prstGeom prst="rect">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panose="020B0604020202020204"/>
              <a:buNone/>
            </a:pPr>
            <a:endParaRPr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g3aabd3d1b2d_0_149"/>
          <p:cNvSpPr/>
          <p:nvPr/>
        </p:nvSpPr>
        <p:spPr>
          <a:xfrm>
            <a:off x="3659879" y="1516428"/>
            <a:ext cx="373500" cy="1867200"/>
          </a:xfrm>
          <a:prstGeom prst="rect">
            <a:avLst/>
          </a:prstGeom>
          <a:solidFill>
            <a:srgbClr val="1155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panose="020B0604020202020204"/>
              <a:buNone/>
            </a:pPr>
            <a:endParaRPr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g3aabd3d1b2d_0_149"/>
          <p:cNvSpPr txBox="1"/>
          <p:nvPr/>
        </p:nvSpPr>
        <p:spPr>
          <a:xfrm>
            <a:off x="4717875" y="6162200"/>
            <a:ext cx="4525200" cy="39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US" sz="2000" b="1">
                <a:solidFill>
                  <a:srgbClr val="1155CC"/>
                </a:solidFill>
                <a:latin typeface="Times New Roman" panose="02020603050405020304"/>
                <a:ea typeface="Times New Roman" panose="02020603050405020304"/>
                <a:cs typeface="Times New Roman" panose="02020603050405020304"/>
                <a:sym typeface="Times New Roman" panose="02020603050405020304"/>
              </a:rPr>
              <a:t>Decembre 2025</a:t>
            </a:r>
            <a:endParaRPr sz="2000" b="1">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aabd3d1b2d_0_156"/>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Agenda</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7" name="Google Shape;157;g3aabd3d1b2d_0_156"/>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8" name="Google Shape;158;g3aabd3d1b2d_0_156"/>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9" name="Google Shape;159;g3aabd3d1b2d_0_156"/>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sp>
        <p:nvSpPr>
          <p:cNvPr id="160" name="Google Shape;160;g3aabd3d1b2d_0_156"/>
          <p:cNvSpPr txBox="1"/>
          <p:nvPr/>
        </p:nvSpPr>
        <p:spPr>
          <a:xfrm>
            <a:off x="566533" y="1187280"/>
            <a:ext cx="10714500" cy="3998490"/>
          </a:xfrm>
          <a:prstGeom prst="rect">
            <a:avLst/>
          </a:prstGeom>
          <a:noFill/>
          <a:ln>
            <a:noFill/>
          </a:ln>
        </p:spPr>
        <p:txBody>
          <a:bodyPr spcFirstLastPara="1" wrap="square" lIns="121900" tIns="121900" rIns="121900" bIns="121900" anchor="t" anchorCtr="0">
            <a:spAutoFit/>
          </a:bodyPr>
          <a:lstStyle/>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sz="24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Présentation</a:t>
            </a: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de l</a:t>
            </a:r>
            <a:r>
              <a:rPr lang="en-US"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’organisation</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Axe d’appui au PEV</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Redevabilité</a:t>
            </a:r>
            <a:r>
              <a:rPr lang="en-US"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financière</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Réalisations </a:t>
            </a:r>
            <a:r>
              <a:rPr lang="en-US" altLang="en-US" sz="24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majeurs</a:t>
            </a:r>
            <a:r>
              <a:rPr lang="en-US"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de l’année</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Defis </a:t>
            </a:r>
            <a:r>
              <a:rPr lang="en-US" altLang="en-US" sz="24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rencontrés</a:t>
            </a:r>
            <a:endParaRPr lang="en-US"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solutions </a:t>
            </a:r>
            <a:r>
              <a:rPr lang="en-US" altLang="en-US" sz="24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apportées</a:t>
            </a:r>
            <a:r>
              <a:rPr lang="en-US"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et leçons apprises</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Priorités</a:t>
            </a:r>
            <a:r>
              <a:rPr lang="en-US"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et engagement pour 2026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Présentation de l’organisation</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3</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Zone de texte 1"/>
          <p:cNvSpPr txBox="1"/>
          <p:nvPr/>
        </p:nvSpPr>
        <p:spPr>
          <a:xfrm>
            <a:off x="758825" y="1320800"/>
            <a:ext cx="9971405" cy="4390390"/>
          </a:xfrm>
          <a:prstGeom prst="rect">
            <a:avLst/>
          </a:prstGeom>
          <a:noFill/>
        </p:spPr>
        <p:txBody>
          <a:bodyPr wrap="square" rtlCol="0">
            <a:noAutofit/>
          </a:bodyPr>
          <a:lstStyle/>
          <a:p>
            <a:pPr marL="285750" indent="-285750">
              <a:buFont typeface="Arial" panose="020B0604020202020204" pitchFamily="34" charset="0"/>
              <a:buChar char="•"/>
            </a:pPr>
            <a:r>
              <a:rPr lang="fr-FR" altLang="en-US" sz="2800"/>
              <a:t>Année création de l’organisation </a:t>
            </a:r>
          </a:p>
          <a:p>
            <a:pPr marL="285750" indent="-285750">
              <a:buFont typeface="Arial" panose="020B0604020202020204" pitchFamily="34" charset="0"/>
              <a:buChar char="•"/>
            </a:pPr>
            <a:r>
              <a:rPr lang="fr-FR" altLang="en-US" sz="2800"/>
              <a:t>Mandat </a:t>
            </a:r>
          </a:p>
          <a:p>
            <a:pPr marL="285750" indent="-285750">
              <a:buFont typeface="Arial" panose="020B0604020202020204" pitchFamily="34" charset="0"/>
              <a:buChar char="•"/>
            </a:pPr>
            <a:r>
              <a:rPr lang="fr-FR" altLang="en-US" sz="2800"/>
              <a:t>Mission </a:t>
            </a:r>
          </a:p>
          <a:p>
            <a:pPr marL="285750" indent="-285750">
              <a:buFont typeface="Arial" panose="020B0604020202020204" pitchFamily="34" charset="0"/>
              <a:buChar char="•"/>
            </a:pPr>
            <a:r>
              <a:rPr lang="fr-FR" altLang="en-US" sz="2800"/>
              <a:t>Nombre d’année présence en RDC</a:t>
            </a:r>
          </a:p>
          <a:p>
            <a:pPr marL="285750" indent="-285750">
              <a:buFont typeface="Arial" panose="020B0604020202020204" pitchFamily="34" charset="0"/>
              <a:buChar char="•"/>
            </a:pPr>
            <a:r>
              <a:rPr lang="fr-FR" altLang="en-US" sz="2800"/>
              <a:t>Nombre d’année appui au PEV</a:t>
            </a:r>
          </a:p>
          <a:p>
            <a:pPr marL="285750" indent="-285750">
              <a:buFont typeface="Arial" panose="020B0604020202020204" pitchFamily="34" charset="0"/>
              <a:buChar char="•"/>
            </a:pPr>
            <a:r>
              <a:rPr lang="fr-FR" altLang="en-US" sz="2800"/>
              <a:t>Zone d’intervention en RDC </a:t>
            </a:r>
          </a:p>
          <a:p>
            <a:endParaRPr lang="fr-FR" altLang="en-US"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EB0EE-742C-8997-65C6-0149BB67ED7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CFAA630-94BE-7C9D-1B67-BB59084A65E8}"/>
              </a:ext>
            </a:extLst>
          </p:cNvPr>
          <p:cNvSpPr/>
          <p:nvPr/>
        </p:nvSpPr>
        <p:spPr>
          <a:xfrm>
            <a:off x="0" y="97344"/>
            <a:ext cx="12191999" cy="584775"/>
          </a:xfrm>
          <a:prstGeom prst="rect">
            <a:avLst/>
          </a:prstGeom>
          <a:solidFill>
            <a:srgbClr val="FF0000"/>
          </a:solidFill>
          <a:ln>
            <a:solidFill>
              <a:schemeClr val="bg1"/>
            </a:solidFill>
          </a:ln>
        </p:spPr>
        <p:txBody>
          <a:bodyPr wrap="square">
            <a:spAutoFit/>
          </a:bodyPr>
          <a:lstStyle/>
          <a:p>
            <a:pPr marL="457200" marR="0" lvl="1" indent="0" algn="ctr" defTabSz="914400" rtl="0" eaLnBrk="0" fontAlgn="base" latinLnBrk="0" hangingPunct="0">
              <a:lnSpc>
                <a:spcPct val="100000"/>
              </a:lnSpc>
              <a:spcBef>
                <a:spcPct val="0"/>
              </a:spcBef>
              <a:spcAft>
                <a:spcPct val="0"/>
              </a:spcAft>
              <a:buClrTx/>
              <a:buSzTx/>
              <a:buFontTx/>
              <a:buNone/>
              <a:tabLst/>
              <a:defRPr/>
            </a:pPr>
            <a:r>
              <a:rPr kumimoji="0" lang="fr-FR" sz="3200" b="1" i="0" u="none" strike="noStrike" kern="1200" cap="none" spc="0" normalizeH="0" baseline="0" noProof="0" dirty="0">
                <a:ln>
                  <a:noFill/>
                </a:ln>
                <a:solidFill>
                  <a:prstClr val="white"/>
                </a:solidFill>
                <a:effectLst/>
                <a:uLnTx/>
                <a:uFillTx/>
                <a:latin typeface="Arial Narrow" panose="020B0606020202030204" pitchFamily="34" charset="0"/>
                <a:cs typeface="Arial" panose="020B0604020202020204" pitchFamily="34" charset="0"/>
              </a:rPr>
              <a:t>I. HISTORIQUE ET EXPERIENCE DE SANRU</a:t>
            </a:r>
          </a:p>
        </p:txBody>
      </p:sp>
      <p:grpSp>
        <p:nvGrpSpPr>
          <p:cNvPr id="11" name="Group 16">
            <a:extLst>
              <a:ext uri="{FF2B5EF4-FFF2-40B4-BE49-F238E27FC236}">
                <a16:creationId xmlns:a16="http://schemas.microsoft.com/office/drawing/2014/main" id="{0D958282-D6BE-17A5-2AD2-E98FB64D4381}"/>
              </a:ext>
            </a:extLst>
          </p:cNvPr>
          <p:cNvGrpSpPr>
            <a:grpSpLocks/>
          </p:cNvGrpSpPr>
          <p:nvPr/>
        </p:nvGrpSpPr>
        <p:grpSpPr bwMode="auto">
          <a:xfrm>
            <a:off x="683225" y="2478575"/>
            <a:ext cx="2030021" cy="2991212"/>
            <a:chOff x="1033562" y="-30219"/>
            <a:chExt cx="2105562" cy="3376343"/>
          </a:xfrm>
        </p:grpSpPr>
        <p:sp>
          <p:nvSpPr>
            <p:cNvPr id="12" name="TextBox 12">
              <a:extLst>
                <a:ext uri="{FF2B5EF4-FFF2-40B4-BE49-F238E27FC236}">
                  <a16:creationId xmlns:a16="http://schemas.microsoft.com/office/drawing/2014/main" id="{57CF9082-5E22-D459-1BB0-B3E6CB51C9E0}"/>
                </a:ext>
              </a:extLst>
            </p:cNvPr>
            <p:cNvSpPr txBox="1">
              <a:spLocks noChangeArrowheads="1"/>
            </p:cNvSpPr>
            <p:nvPr/>
          </p:nvSpPr>
          <p:spPr bwMode="auto">
            <a:xfrm>
              <a:off x="1351558" y="-30219"/>
              <a:ext cx="1350406" cy="377643"/>
            </a:xfrm>
            <a:prstGeom prst="rect">
              <a:avLst/>
            </a:prstGeom>
            <a:noFill/>
            <a:ln w="9525">
              <a:noFill/>
              <a:miter lim="800000"/>
              <a:headEnd/>
              <a:tailEnd/>
            </a:ln>
          </p:spPr>
          <p:txBody>
            <a:bodyPr wrap="none">
              <a:spAutoFit/>
            </a:bodyPr>
            <a:lstStyle/>
            <a:p>
              <a:pPr algn="ctr"/>
              <a:r>
                <a:rPr lang="en-US" sz="2000" b="1" dirty="0">
                  <a:latin typeface="Calibri" pitchFamily="34" charset="0"/>
                </a:rPr>
                <a:t>1981-1991</a:t>
              </a:r>
            </a:p>
          </p:txBody>
        </p:sp>
        <p:pic>
          <p:nvPicPr>
            <p:cNvPr id="13" name="Picture 17">
              <a:extLst>
                <a:ext uri="{FF2B5EF4-FFF2-40B4-BE49-F238E27FC236}">
                  <a16:creationId xmlns:a16="http://schemas.microsoft.com/office/drawing/2014/main" id="{FEA7C348-576D-DDA8-AE5F-8AE8B97220C4}"/>
                </a:ext>
              </a:extLst>
            </p:cNvPr>
            <p:cNvPicPr>
              <a:picLocks noChangeAspect="1" noChangeArrowheads="1"/>
            </p:cNvPicPr>
            <p:nvPr/>
          </p:nvPicPr>
          <p:blipFill>
            <a:blip r:embed="rId2" cstate="print"/>
            <a:srcRect/>
            <a:stretch>
              <a:fillRect/>
            </a:stretch>
          </p:blipFill>
          <p:spPr bwMode="auto">
            <a:xfrm>
              <a:off x="1033562" y="749858"/>
              <a:ext cx="2105562" cy="2596266"/>
            </a:xfrm>
            <a:prstGeom prst="rect">
              <a:avLst/>
            </a:prstGeom>
            <a:noFill/>
            <a:ln w="9525">
              <a:noFill/>
              <a:miter lim="800000"/>
              <a:headEnd/>
              <a:tailEnd/>
            </a:ln>
          </p:spPr>
        </p:pic>
      </p:grpSp>
      <p:pic>
        <p:nvPicPr>
          <p:cNvPr id="14" name="Picture 18">
            <a:extLst>
              <a:ext uri="{FF2B5EF4-FFF2-40B4-BE49-F238E27FC236}">
                <a16:creationId xmlns:a16="http://schemas.microsoft.com/office/drawing/2014/main" id="{3551A310-E2E5-0157-3EAE-32120635504F}"/>
              </a:ext>
            </a:extLst>
          </p:cNvPr>
          <p:cNvPicPr>
            <a:picLocks noChangeAspect="1" noChangeArrowheads="1"/>
          </p:cNvPicPr>
          <p:nvPr/>
        </p:nvPicPr>
        <p:blipFill>
          <a:blip r:embed="rId3" cstate="print"/>
          <a:srcRect/>
          <a:stretch>
            <a:fillRect/>
          </a:stretch>
        </p:blipFill>
        <p:spPr bwMode="auto">
          <a:xfrm>
            <a:off x="3968496" y="2807002"/>
            <a:ext cx="4411268" cy="2991213"/>
          </a:xfrm>
          <a:prstGeom prst="rect">
            <a:avLst/>
          </a:prstGeom>
          <a:noFill/>
          <a:ln w="9525">
            <a:noFill/>
            <a:miter lim="800000"/>
            <a:headEnd/>
            <a:tailEnd/>
          </a:ln>
        </p:spPr>
      </p:pic>
      <p:pic>
        <p:nvPicPr>
          <p:cNvPr id="15" name="Image 14">
            <a:extLst>
              <a:ext uri="{FF2B5EF4-FFF2-40B4-BE49-F238E27FC236}">
                <a16:creationId xmlns:a16="http://schemas.microsoft.com/office/drawing/2014/main" id="{53BC9751-DFC3-3168-2C97-F6C4A3F564B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415773" y="2753242"/>
            <a:ext cx="2217713" cy="2551027"/>
          </a:xfrm>
          <a:prstGeom prst="rect">
            <a:avLst/>
          </a:prstGeom>
        </p:spPr>
      </p:pic>
      <p:sp>
        <p:nvSpPr>
          <p:cNvPr id="16" name="Rectangle 15">
            <a:extLst>
              <a:ext uri="{FF2B5EF4-FFF2-40B4-BE49-F238E27FC236}">
                <a16:creationId xmlns:a16="http://schemas.microsoft.com/office/drawing/2014/main" id="{23ABFAA7-A7BB-1305-990A-5D183C70AB09}"/>
              </a:ext>
            </a:extLst>
          </p:cNvPr>
          <p:cNvSpPr/>
          <p:nvPr/>
        </p:nvSpPr>
        <p:spPr>
          <a:xfrm>
            <a:off x="8193126" y="2242214"/>
            <a:ext cx="3911586" cy="400110"/>
          </a:xfrm>
          <a:prstGeom prst="rect">
            <a:avLst/>
          </a:prstGeom>
        </p:spPr>
        <p:txBody>
          <a:bodyPr wrap="square">
            <a:spAutoFit/>
          </a:bodyPr>
          <a:lstStyle/>
          <a:p>
            <a:pPr algn="ctr"/>
            <a:r>
              <a:rPr lang="fr-BE" sz="2000" b="1" dirty="0">
                <a:latin typeface="Calibri" pitchFamily="34" charset="0"/>
              </a:rPr>
              <a:t>SANRU Asbl,  3 novembre 2011</a:t>
            </a:r>
            <a:endParaRPr lang="fr-FR" sz="2000" b="1" dirty="0"/>
          </a:p>
        </p:txBody>
      </p:sp>
      <p:sp>
        <p:nvSpPr>
          <p:cNvPr id="17" name="Text Box 11">
            <a:extLst>
              <a:ext uri="{FF2B5EF4-FFF2-40B4-BE49-F238E27FC236}">
                <a16:creationId xmlns:a16="http://schemas.microsoft.com/office/drawing/2014/main" id="{18F9F4EE-AD3A-B99A-DC5A-1DE57F2633EA}"/>
              </a:ext>
            </a:extLst>
          </p:cNvPr>
          <p:cNvSpPr txBox="1">
            <a:spLocks noChangeArrowheads="1"/>
          </p:cNvSpPr>
          <p:nvPr/>
        </p:nvSpPr>
        <p:spPr bwMode="auto">
          <a:xfrm>
            <a:off x="3998875" y="2332248"/>
            <a:ext cx="3960441" cy="400110"/>
          </a:xfrm>
          <a:prstGeom prst="rect">
            <a:avLst/>
          </a:prstGeom>
          <a:noFill/>
          <a:ln w="9525">
            <a:noFill/>
            <a:miter lim="800000"/>
            <a:headEnd/>
            <a:tailEnd/>
          </a:ln>
        </p:spPr>
        <p:txBody>
          <a:bodyPr wrap="square">
            <a:spAutoFit/>
          </a:bodyPr>
          <a:lstStyle/>
          <a:p>
            <a:pPr algn="ctr"/>
            <a:r>
              <a:rPr lang="en-US" sz="2000" b="1" dirty="0">
                <a:latin typeface="Calibri" pitchFamily="34" charset="0"/>
                <a:sym typeface="Wingdings" pitchFamily="2" charset="2"/>
              </a:rPr>
              <a:t>PROGRAMME, 2001 - 2010</a:t>
            </a:r>
          </a:p>
        </p:txBody>
      </p:sp>
      <p:sp>
        <p:nvSpPr>
          <p:cNvPr id="18" name="Text Box 9">
            <a:extLst>
              <a:ext uri="{FF2B5EF4-FFF2-40B4-BE49-F238E27FC236}">
                <a16:creationId xmlns:a16="http://schemas.microsoft.com/office/drawing/2014/main" id="{6B1E9307-165F-EB07-1E9A-E273FEA736C7}"/>
              </a:ext>
            </a:extLst>
          </p:cNvPr>
          <p:cNvSpPr txBox="1">
            <a:spLocks noChangeArrowheads="1"/>
          </p:cNvSpPr>
          <p:nvPr/>
        </p:nvSpPr>
        <p:spPr bwMode="auto">
          <a:xfrm>
            <a:off x="3037488" y="3888698"/>
            <a:ext cx="786805" cy="1200329"/>
          </a:xfrm>
          <a:prstGeom prst="rect">
            <a:avLst/>
          </a:prstGeom>
          <a:noFill/>
          <a:ln w="9525">
            <a:noFill/>
            <a:miter lim="800000"/>
            <a:headEnd/>
            <a:tailEnd/>
          </a:ln>
        </p:spPr>
        <p:txBody>
          <a:bodyPr wrap="square">
            <a:spAutoFit/>
          </a:bodyPr>
          <a:lstStyle/>
          <a:p>
            <a:r>
              <a:rPr lang="en-US" sz="7200" dirty="0">
                <a:latin typeface="Calibri" pitchFamily="34" charset="0"/>
                <a:sym typeface="Wingdings" pitchFamily="2" charset="2"/>
              </a:rPr>
              <a:t></a:t>
            </a:r>
            <a:endParaRPr lang="en-US" sz="7200" dirty="0">
              <a:latin typeface="Calibri" pitchFamily="34" charset="0"/>
            </a:endParaRPr>
          </a:p>
        </p:txBody>
      </p:sp>
      <p:sp>
        <p:nvSpPr>
          <p:cNvPr id="19" name="Text Box 9">
            <a:extLst>
              <a:ext uri="{FF2B5EF4-FFF2-40B4-BE49-F238E27FC236}">
                <a16:creationId xmlns:a16="http://schemas.microsoft.com/office/drawing/2014/main" id="{88A91053-926E-A8D4-992F-EBF949A424CE}"/>
              </a:ext>
            </a:extLst>
          </p:cNvPr>
          <p:cNvSpPr txBox="1">
            <a:spLocks noChangeArrowheads="1"/>
          </p:cNvSpPr>
          <p:nvPr/>
        </p:nvSpPr>
        <p:spPr bwMode="auto">
          <a:xfrm>
            <a:off x="8254078" y="4284058"/>
            <a:ext cx="936104" cy="1200329"/>
          </a:xfrm>
          <a:prstGeom prst="rect">
            <a:avLst/>
          </a:prstGeom>
          <a:noFill/>
          <a:ln w="9525">
            <a:noFill/>
            <a:miter lim="800000"/>
            <a:headEnd/>
            <a:tailEnd/>
          </a:ln>
        </p:spPr>
        <p:txBody>
          <a:bodyPr wrap="square">
            <a:spAutoFit/>
          </a:bodyPr>
          <a:lstStyle/>
          <a:p>
            <a:r>
              <a:rPr lang="en-US" sz="7200" dirty="0">
                <a:latin typeface="Calibri" pitchFamily="34" charset="0"/>
                <a:sym typeface="Wingdings" pitchFamily="2" charset="2"/>
              </a:rPr>
              <a:t></a:t>
            </a:r>
            <a:endParaRPr lang="en-US" sz="7200" dirty="0">
              <a:latin typeface="Calibri" pitchFamily="34" charset="0"/>
            </a:endParaRPr>
          </a:p>
        </p:txBody>
      </p:sp>
      <p:sp>
        <p:nvSpPr>
          <p:cNvPr id="22" name="Rectangle 21">
            <a:extLst>
              <a:ext uri="{FF2B5EF4-FFF2-40B4-BE49-F238E27FC236}">
                <a16:creationId xmlns:a16="http://schemas.microsoft.com/office/drawing/2014/main" id="{4E118B73-B6EA-12C7-08F9-BE8BADE808D6}"/>
              </a:ext>
            </a:extLst>
          </p:cNvPr>
          <p:cNvSpPr/>
          <p:nvPr/>
        </p:nvSpPr>
        <p:spPr>
          <a:xfrm>
            <a:off x="4823858" y="6331345"/>
            <a:ext cx="2184537" cy="339076"/>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r-FR" b="1" dirty="0"/>
              <a:t>ECC - IMA</a:t>
            </a:r>
            <a:endParaRPr lang="en-GB" b="1" dirty="0"/>
          </a:p>
        </p:txBody>
      </p:sp>
      <p:sp>
        <p:nvSpPr>
          <p:cNvPr id="23" name="Rectangle 22">
            <a:extLst>
              <a:ext uri="{FF2B5EF4-FFF2-40B4-BE49-F238E27FC236}">
                <a16:creationId xmlns:a16="http://schemas.microsoft.com/office/drawing/2014/main" id="{FBD57EAA-D79C-3D5F-889C-34601B65A36B}"/>
              </a:ext>
            </a:extLst>
          </p:cNvPr>
          <p:cNvSpPr/>
          <p:nvPr/>
        </p:nvSpPr>
        <p:spPr>
          <a:xfrm>
            <a:off x="241738" y="5470048"/>
            <a:ext cx="3570500" cy="338554"/>
          </a:xfrm>
          <a:prstGeom prst="rect">
            <a:avLst/>
          </a:prstGeom>
        </p:spPr>
        <p:txBody>
          <a:bodyPr wrap="square">
            <a:spAutoFit/>
          </a:bodyPr>
          <a:lstStyle/>
          <a:p>
            <a:pPr algn="ctr"/>
            <a:r>
              <a:rPr lang="fr-FR" sz="1600" b="1" dirty="0"/>
              <a:t>SANRU I (50ZS) et SANRU II (150 ZS).</a:t>
            </a:r>
          </a:p>
        </p:txBody>
      </p:sp>
      <p:pic>
        <p:nvPicPr>
          <p:cNvPr id="24" name="Image 2" descr="images">
            <a:extLst>
              <a:ext uri="{FF2B5EF4-FFF2-40B4-BE49-F238E27FC236}">
                <a16:creationId xmlns:a16="http://schemas.microsoft.com/office/drawing/2014/main" id="{BB3F8890-8689-27AD-C8C0-2833250D2D6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4322" y="5822073"/>
            <a:ext cx="560454" cy="364295"/>
          </a:xfrm>
          <a:prstGeom prst="rect">
            <a:avLst/>
          </a:prstGeom>
          <a:noFill/>
          <a:extLst>
            <a:ext uri="{909E8E84-426E-40DD-AFC4-6F175D3DCCD1}">
              <a14:hiddenFill xmlns:a14="http://schemas.microsoft.com/office/drawing/2010/main">
                <a:solidFill>
                  <a:srgbClr val="FFFFFF"/>
                </a:solidFill>
              </a14:hiddenFill>
            </a:ext>
          </a:extLst>
        </p:spPr>
      </p:pic>
      <p:pic>
        <p:nvPicPr>
          <p:cNvPr id="25" name="Image 1" descr="téléchargement">
            <a:extLst>
              <a:ext uri="{FF2B5EF4-FFF2-40B4-BE49-F238E27FC236}">
                <a16:creationId xmlns:a16="http://schemas.microsoft.com/office/drawing/2014/main" id="{CD9020D8-FA42-A25B-975C-F0F84D7868D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23133" y="5809124"/>
            <a:ext cx="1218988" cy="434352"/>
          </a:xfrm>
          <a:prstGeom prst="rect">
            <a:avLst/>
          </a:prstGeom>
          <a:noFill/>
          <a:extLst>
            <a:ext uri="{909E8E84-426E-40DD-AFC4-6F175D3DCCD1}">
              <a14:hiddenFill xmlns:a14="http://schemas.microsoft.com/office/drawing/2010/main">
                <a:solidFill>
                  <a:srgbClr val="FFFFFF"/>
                </a:solidFill>
              </a14:hiddenFill>
            </a:ext>
          </a:extLst>
        </p:spPr>
      </p:pic>
      <p:sp>
        <p:nvSpPr>
          <p:cNvPr id="26" name="Rectangle 25">
            <a:extLst>
              <a:ext uri="{FF2B5EF4-FFF2-40B4-BE49-F238E27FC236}">
                <a16:creationId xmlns:a16="http://schemas.microsoft.com/office/drawing/2014/main" id="{138B58D7-DF6D-FF03-8111-0CCC79106742}"/>
              </a:ext>
            </a:extLst>
          </p:cNvPr>
          <p:cNvSpPr/>
          <p:nvPr/>
        </p:nvSpPr>
        <p:spPr>
          <a:xfrm>
            <a:off x="518793" y="6243476"/>
            <a:ext cx="2358887" cy="339076"/>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r-FR" b="1" dirty="0"/>
              <a:t>Co-financement ; ECC</a:t>
            </a:r>
            <a:endParaRPr lang="en-GB" b="1" dirty="0"/>
          </a:p>
        </p:txBody>
      </p:sp>
      <p:pic>
        <p:nvPicPr>
          <p:cNvPr id="3" name="Image 2" descr="n">
            <a:extLst>
              <a:ext uri="{FF2B5EF4-FFF2-40B4-BE49-F238E27FC236}">
                <a16:creationId xmlns:a16="http://schemas.microsoft.com/office/drawing/2014/main" id="{E969B0B1-C0F9-3F1F-9691-013367E98577}"/>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140" b="82662"/>
          <a:stretch/>
        </p:blipFill>
        <p:spPr>
          <a:xfrm>
            <a:off x="-34724" y="584636"/>
            <a:ext cx="12226724" cy="1523509"/>
          </a:xfrm>
          <a:prstGeom prst="rect">
            <a:avLst/>
          </a:prstGeom>
        </p:spPr>
      </p:pic>
      <p:sp>
        <p:nvSpPr>
          <p:cNvPr id="2" name="Espace réservé du numéro de diapositive 1">
            <a:extLst>
              <a:ext uri="{FF2B5EF4-FFF2-40B4-BE49-F238E27FC236}">
                <a16:creationId xmlns:a16="http://schemas.microsoft.com/office/drawing/2014/main" id="{FCBAB1B3-2A3D-6DB2-016C-EA048F4CDFCD}"/>
              </a:ext>
            </a:extLst>
          </p:cNvPr>
          <p:cNvSpPr>
            <a:spLocks noGrp="1"/>
          </p:cNvSpPr>
          <p:nvPr>
            <p:ph type="sldNum" sz="quarter" idx="12"/>
          </p:nvPr>
        </p:nvSpPr>
        <p:spPr/>
        <p:txBody>
          <a:bodyPr/>
          <a:lstStyle/>
          <a:p>
            <a:fld id="{74918C5C-220D-4A6B-A4B9-5DCBF8F9AE99}" type="slidenum">
              <a:rPr lang="en-US" smtClean="0"/>
              <a:t>4</a:t>
            </a:fld>
            <a:endParaRPr lang="en-US"/>
          </a:p>
        </p:txBody>
      </p:sp>
      <p:sp>
        <p:nvSpPr>
          <p:cNvPr id="4" name="Rectangle 3">
            <a:extLst>
              <a:ext uri="{FF2B5EF4-FFF2-40B4-BE49-F238E27FC236}">
                <a16:creationId xmlns:a16="http://schemas.microsoft.com/office/drawing/2014/main" id="{942D84EB-0E1C-8158-77D5-8B7B5F9BCC47}"/>
              </a:ext>
            </a:extLst>
          </p:cNvPr>
          <p:cNvSpPr/>
          <p:nvPr/>
        </p:nvSpPr>
        <p:spPr>
          <a:xfrm>
            <a:off x="8820615" y="5522093"/>
            <a:ext cx="3284097" cy="923330"/>
          </a:xfrm>
          <a:prstGeom prst="rect">
            <a:avLst/>
          </a:prstGeom>
        </p:spPr>
        <p:txBody>
          <a:bodyPr wrap="square">
            <a:spAutoFit/>
          </a:bodyPr>
          <a:lstStyle/>
          <a:p>
            <a:pPr algn="ctr"/>
            <a:r>
              <a:rPr lang="fr-BE" b="1" dirty="0">
                <a:solidFill>
                  <a:srgbClr val="FF0000"/>
                </a:solidFill>
                <a:latin typeface="Calibri" pitchFamily="34" charset="0"/>
              </a:rPr>
              <a:t>Appui à la Santé </a:t>
            </a:r>
          </a:p>
          <a:p>
            <a:pPr algn="ctr"/>
            <a:r>
              <a:rPr lang="fr-BE" b="1" dirty="0">
                <a:solidFill>
                  <a:srgbClr val="FF0000"/>
                </a:solidFill>
                <a:latin typeface="Calibri" pitchFamily="34" charset="0"/>
              </a:rPr>
              <a:t>et Développement </a:t>
            </a:r>
          </a:p>
          <a:p>
            <a:pPr algn="ctr"/>
            <a:r>
              <a:rPr lang="fr-BE" b="1" dirty="0">
                <a:solidFill>
                  <a:srgbClr val="FF0000"/>
                </a:solidFill>
                <a:latin typeface="Calibri" pitchFamily="34" charset="0"/>
              </a:rPr>
              <a:t>en RD Congo</a:t>
            </a:r>
            <a:endParaRPr lang="fr-FR" dirty="0"/>
          </a:p>
        </p:txBody>
      </p:sp>
      <p:sp>
        <p:nvSpPr>
          <p:cNvPr id="5" name="Rectangle 4">
            <a:extLst>
              <a:ext uri="{FF2B5EF4-FFF2-40B4-BE49-F238E27FC236}">
                <a16:creationId xmlns:a16="http://schemas.microsoft.com/office/drawing/2014/main" id="{CA82E9D7-B1C0-2828-5B61-F2003826B264}"/>
              </a:ext>
            </a:extLst>
          </p:cNvPr>
          <p:cNvSpPr/>
          <p:nvPr/>
        </p:nvSpPr>
        <p:spPr>
          <a:xfrm>
            <a:off x="4140207" y="5857023"/>
            <a:ext cx="3960440" cy="338554"/>
          </a:xfrm>
          <a:prstGeom prst="rect">
            <a:avLst/>
          </a:prstGeom>
        </p:spPr>
        <p:txBody>
          <a:bodyPr wrap="square">
            <a:spAutoFit/>
          </a:bodyPr>
          <a:lstStyle/>
          <a:p>
            <a:pPr algn="ctr"/>
            <a:r>
              <a:rPr lang="fr-FR" sz="1600" b="1" dirty="0"/>
              <a:t>PROGRAMME SANRU </a:t>
            </a:r>
          </a:p>
        </p:txBody>
      </p:sp>
    </p:spTree>
    <p:extLst>
      <p:ext uri="{BB962C8B-B14F-4D97-AF65-F5344CB8AC3E}">
        <p14:creationId xmlns:p14="http://schemas.microsoft.com/office/powerpoint/2010/main" val="33557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EC318-5E6B-03D1-BD2F-9F0B72A12E2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5217E08-0E61-3E10-D25F-CCCAC096EAD0}"/>
              </a:ext>
            </a:extLst>
          </p:cNvPr>
          <p:cNvSpPr/>
          <p:nvPr/>
        </p:nvSpPr>
        <p:spPr>
          <a:xfrm>
            <a:off x="390293" y="186552"/>
            <a:ext cx="11296185" cy="553998"/>
          </a:xfrm>
          <a:prstGeom prst="rect">
            <a:avLst/>
          </a:prstGeom>
          <a:solidFill>
            <a:srgbClr val="FF0000"/>
          </a:solidFill>
          <a:ln>
            <a:solidFill>
              <a:schemeClr val="bg1"/>
            </a:solidFill>
          </a:ln>
        </p:spPr>
        <p:txBody>
          <a:bodyPr wrap="square">
            <a:spAutoFit/>
          </a:bodyPr>
          <a:lstStyle/>
          <a:p>
            <a:pPr lvl="1" algn="ctr" eaLnBrk="0" fontAlgn="base" hangingPunct="0">
              <a:spcBef>
                <a:spcPct val="0"/>
              </a:spcBef>
              <a:spcAft>
                <a:spcPct val="0"/>
              </a:spcAft>
              <a:defRPr/>
            </a:pPr>
            <a:r>
              <a:rPr lang="fr-FR" sz="3000" b="1" dirty="0">
                <a:solidFill>
                  <a:schemeClr val="bg1"/>
                </a:solidFill>
                <a:latin typeface="Arial Narrow" panose="020B0606020202030204" pitchFamily="34" charset="0"/>
              </a:rPr>
              <a:t>II. INTERVENTIONS DE SANRU EN 2025 :</a:t>
            </a:r>
          </a:p>
        </p:txBody>
      </p:sp>
      <p:graphicFrame>
        <p:nvGraphicFramePr>
          <p:cNvPr id="4" name="ZoneTexte 4">
            <a:extLst>
              <a:ext uri="{FF2B5EF4-FFF2-40B4-BE49-F238E27FC236}">
                <a16:creationId xmlns:a16="http://schemas.microsoft.com/office/drawing/2014/main" id="{6150ADD2-8260-4E7A-1514-5BB7BE6BC478}"/>
              </a:ext>
            </a:extLst>
          </p:cNvPr>
          <p:cNvGraphicFramePr/>
          <p:nvPr/>
        </p:nvGraphicFramePr>
        <p:xfrm>
          <a:off x="543621" y="740550"/>
          <a:ext cx="11104757" cy="54490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12005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DA01B5-31B1-3468-9A37-521199467C1D}"/>
              </a:ext>
            </a:extLst>
          </p:cNvPr>
          <p:cNvSpPr>
            <a:spLocks noGrp="1"/>
          </p:cNvSpPr>
          <p:nvPr>
            <p:ph type="title"/>
          </p:nvPr>
        </p:nvSpPr>
        <p:spPr>
          <a:xfrm>
            <a:off x="414809" y="306111"/>
            <a:ext cx="11361559" cy="763500"/>
          </a:xfrm>
        </p:spPr>
        <p:txBody>
          <a:bodyPr>
            <a:normAutofit fontScale="90000"/>
          </a:bodyPr>
          <a:lstStyle/>
          <a:p>
            <a:r>
              <a:rPr lang="fr-FR" dirty="0">
                <a:solidFill>
                  <a:srgbClr val="145ABE"/>
                </a:solidFill>
              </a:rPr>
              <a:t>Principaux résultats de FAE  en 2025</a:t>
            </a:r>
            <a:endParaRPr lang="fr-FR" dirty="0"/>
          </a:p>
        </p:txBody>
      </p:sp>
      <p:graphicFrame>
        <p:nvGraphicFramePr>
          <p:cNvPr id="6" name="Tableau 5">
            <a:extLst>
              <a:ext uri="{FF2B5EF4-FFF2-40B4-BE49-F238E27FC236}">
                <a16:creationId xmlns:a16="http://schemas.microsoft.com/office/drawing/2014/main" id="{8E559118-2BD2-2BDC-6D73-FE1591031C04}"/>
              </a:ext>
            </a:extLst>
          </p:cNvPr>
          <p:cNvGraphicFramePr>
            <a:graphicFrameLocks noGrp="1"/>
          </p:cNvGraphicFramePr>
          <p:nvPr>
            <p:extLst>
              <p:ext uri="{D42A27DB-BD31-4B8C-83A1-F6EECF244321}">
                <p14:modId xmlns:p14="http://schemas.microsoft.com/office/powerpoint/2010/main" val="866399476"/>
              </p:ext>
            </p:extLst>
          </p:nvPr>
        </p:nvGraphicFramePr>
        <p:xfrm>
          <a:off x="415223" y="1640541"/>
          <a:ext cx="11361557" cy="4723854"/>
        </p:xfrm>
        <a:graphic>
          <a:graphicData uri="http://schemas.openxmlformats.org/drawingml/2006/table">
            <a:tbl>
              <a:tblPr/>
              <a:tblGrid>
                <a:gridCol w="1404237">
                  <a:extLst>
                    <a:ext uri="{9D8B030D-6E8A-4147-A177-3AD203B41FA5}">
                      <a16:colId xmlns:a16="http://schemas.microsoft.com/office/drawing/2014/main" val="700279770"/>
                    </a:ext>
                  </a:extLst>
                </a:gridCol>
                <a:gridCol w="1094211">
                  <a:extLst>
                    <a:ext uri="{9D8B030D-6E8A-4147-A177-3AD203B41FA5}">
                      <a16:colId xmlns:a16="http://schemas.microsoft.com/office/drawing/2014/main" val="2360072907"/>
                    </a:ext>
                  </a:extLst>
                </a:gridCol>
                <a:gridCol w="1094211">
                  <a:extLst>
                    <a:ext uri="{9D8B030D-6E8A-4147-A177-3AD203B41FA5}">
                      <a16:colId xmlns:a16="http://schemas.microsoft.com/office/drawing/2014/main" val="346400384"/>
                    </a:ext>
                  </a:extLst>
                </a:gridCol>
                <a:gridCol w="1203632">
                  <a:extLst>
                    <a:ext uri="{9D8B030D-6E8A-4147-A177-3AD203B41FA5}">
                      <a16:colId xmlns:a16="http://schemas.microsoft.com/office/drawing/2014/main" val="245434942"/>
                    </a:ext>
                  </a:extLst>
                </a:gridCol>
                <a:gridCol w="1094211">
                  <a:extLst>
                    <a:ext uri="{9D8B030D-6E8A-4147-A177-3AD203B41FA5}">
                      <a16:colId xmlns:a16="http://schemas.microsoft.com/office/drawing/2014/main" val="2283719583"/>
                    </a:ext>
                  </a:extLst>
                </a:gridCol>
                <a:gridCol w="1094211">
                  <a:extLst>
                    <a:ext uri="{9D8B030D-6E8A-4147-A177-3AD203B41FA5}">
                      <a16:colId xmlns:a16="http://schemas.microsoft.com/office/drawing/2014/main" val="1525729483"/>
                    </a:ext>
                  </a:extLst>
                </a:gridCol>
                <a:gridCol w="1094211">
                  <a:extLst>
                    <a:ext uri="{9D8B030D-6E8A-4147-A177-3AD203B41FA5}">
                      <a16:colId xmlns:a16="http://schemas.microsoft.com/office/drawing/2014/main" val="2561167128"/>
                    </a:ext>
                  </a:extLst>
                </a:gridCol>
                <a:gridCol w="1094211">
                  <a:extLst>
                    <a:ext uri="{9D8B030D-6E8A-4147-A177-3AD203B41FA5}">
                      <a16:colId xmlns:a16="http://schemas.microsoft.com/office/drawing/2014/main" val="3360566603"/>
                    </a:ext>
                  </a:extLst>
                </a:gridCol>
                <a:gridCol w="1094211">
                  <a:extLst>
                    <a:ext uri="{9D8B030D-6E8A-4147-A177-3AD203B41FA5}">
                      <a16:colId xmlns:a16="http://schemas.microsoft.com/office/drawing/2014/main" val="36767400"/>
                    </a:ext>
                  </a:extLst>
                </a:gridCol>
                <a:gridCol w="1094211">
                  <a:extLst>
                    <a:ext uri="{9D8B030D-6E8A-4147-A177-3AD203B41FA5}">
                      <a16:colId xmlns:a16="http://schemas.microsoft.com/office/drawing/2014/main" val="243393612"/>
                    </a:ext>
                  </a:extLst>
                </a:gridCol>
              </a:tblGrid>
              <a:tr h="674838">
                <a:tc>
                  <a:txBody>
                    <a:bodyPr/>
                    <a:lstStyle/>
                    <a:p>
                      <a:pPr marR="0" algn="l" rtl="0" fontAlgn="ctr">
                        <a:lnSpc>
                          <a:spcPct val="100000"/>
                        </a:lnSpc>
                        <a:spcBef>
                          <a:spcPts val="0"/>
                        </a:spcBef>
                        <a:spcAft>
                          <a:spcPts val="0"/>
                        </a:spcAft>
                        <a:buClr>
                          <a:srgbClr val="000000"/>
                        </a:buClr>
                        <a:buFont typeface="Arial"/>
                        <a:buNone/>
                      </a:pPr>
                      <a:r>
                        <a:rPr lang="fr-FR" sz="1600" b="1" i="0" u="none" strike="noStrike" cap="none" dirty="0">
                          <a:solidFill>
                            <a:srgbClr val="FFFFFF"/>
                          </a:solidFill>
                          <a:effectLst/>
                          <a:latin typeface="Aptos Narrow" panose="020B0004020202020204" pitchFamily="34" charset="0"/>
                          <a:ea typeface="+mn-ea"/>
                          <a:cs typeface="+mn-cs"/>
                          <a:sym typeface="Arial"/>
                        </a:rPr>
                        <a:t>Province</a:t>
                      </a:r>
                    </a:p>
                  </a:txBody>
                  <a:tcPr marL="8467" marR="8467" marT="846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marR="0" algn="l" rtl="0" fontAlgn="ctr">
                        <a:lnSpc>
                          <a:spcPct val="100000"/>
                        </a:lnSpc>
                        <a:spcBef>
                          <a:spcPts val="0"/>
                        </a:spcBef>
                        <a:spcAft>
                          <a:spcPts val="0"/>
                        </a:spcAft>
                        <a:buClr>
                          <a:srgbClr val="000000"/>
                        </a:buClr>
                        <a:buFont typeface="Arial"/>
                        <a:buNone/>
                      </a:pPr>
                      <a:r>
                        <a:rPr lang="fr-FR" sz="1600" b="1" i="0" u="none" strike="noStrike" cap="none" dirty="0">
                          <a:solidFill>
                            <a:srgbClr val="FFFFFF"/>
                          </a:solidFill>
                          <a:effectLst/>
                          <a:latin typeface="Aptos Narrow" panose="020B0004020202020204" pitchFamily="34" charset="0"/>
                          <a:ea typeface="+mn-ea"/>
                          <a:cs typeface="+mn-cs"/>
                          <a:sym typeface="Arial"/>
                        </a:rPr>
                        <a:t>ZD Penta1 Identifié</a:t>
                      </a:r>
                    </a:p>
                  </a:txBody>
                  <a:tcPr marL="8467" marR="8467" marT="846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noFill/>
                      <a:prstDash val="solid"/>
                      <a:round/>
                      <a:headEnd type="none" w="med" len="med"/>
                      <a:tailEnd type="none" w="med" len="med"/>
                    </a:lnB>
                    <a:solidFill>
                      <a:schemeClr val="accent1"/>
                    </a:solidFill>
                  </a:tcPr>
                </a:tc>
                <a:tc>
                  <a:txBody>
                    <a:bodyPr/>
                    <a:lstStyle/>
                    <a:p>
                      <a:pPr marR="0" algn="l" rtl="0" fontAlgn="ctr">
                        <a:lnSpc>
                          <a:spcPct val="100000"/>
                        </a:lnSpc>
                        <a:spcBef>
                          <a:spcPts val="0"/>
                        </a:spcBef>
                        <a:spcAft>
                          <a:spcPts val="0"/>
                        </a:spcAft>
                        <a:buClr>
                          <a:srgbClr val="000000"/>
                        </a:buClr>
                        <a:buFont typeface="Arial"/>
                        <a:buNone/>
                      </a:pPr>
                      <a:r>
                        <a:rPr lang="fr-FR" sz="1600" b="1" i="0" u="none" strike="noStrike" cap="none" dirty="0">
                          <a:solidFill>
                            <a:srgbClr val="FFFFFF"/>
                          </a:solidFill>
                          <a:effectLst/>
                          <a:latin typeface="Aptos Narrow" panose="020B0004020202020204" pitchFamily="34" charset="0"/>
                          <a:ea typeface="+mn-ea"/>
                          <a:cs typeface="+mn-cs"/>
                          <a:sym typeface="Arial"/>
                        </a:rPr>
                        <a:t>ZD Penta1 Récupéré</a:t>
                      </a:r>
                    </a:p>
                  </a:txBody>
                  <a:tcPr marL="8467" marR="8467" marT="846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noFill/>
                      <a:prstDash val="solid"/>
                      <a:round/>
                      <a:headEnd type="none" w="med" len="med"/>
                      <a:tailEnd type="none" w="med" len="med"/>
                    </a:lnB>
                    <a:solidFill>
                      <a:schemeClr val="accent1"/>
                    </a:solidFill>
                  </a:tcPr>
                </a:tc>
                <a:tc>
                  <a:txBody>
                    <a:bodyPr/>
                    <a:lstStyle/>
                    <a:p>
                      <a:pPr marR="0" algn="l" rtl="0" fontAlgn="ctr">
                        <a:lnSpc>
                          <a:spcPct val="100000"/>
                        </a:lnSpc>
                        <a:spcBef>
                          <a:spcPts val="0"/>
                        </a:spcBef>
                        <a:spcAft>
                          <a:spcPts val="0"/>
                        </a:spcAft>
                        <a:buClr>
                          <a:srgbClr val="000000"/>
                        </a:buClr>
                        <a:buFont typeface="Arial"/>
                        <a:buNone/>
                      </a:pPr>
                      <a:r>
                        <a:rPr lang="fr-FR" sz="1600" b="1" i="0" u="none" strike="noStrike" cap="none" dirty="0">
                          <a:solidFill>
                            <a:srgbClr val="FFFFFF"/>
                          </a:solidFill>
                          <a:effectLst/>
                          <a:latin typeface="Aptos Narrow" panose="020B0004020202020204" pitchFamily="34" charset="0"/>
                          <a:ea typeface="+mn-ea"/>
                          <a:cs typeface="+mn-cs"/>
                          <a:sym typeface="Arial"/>
                        </a:rPr>
                        <a:t>% ZD Penta1 Récupéré</a:t>
                      </a:r>
                    </a:p>
                  </a:txBody>
                  <a:tcPr marL="8467" marR="8467" marT="846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noFill/>
                      <a:prstDash val="solid"/>
                      <a:round/>
                      <a:headEnd type="none" w="med" len="med"/>
                      <a:tailEnd type="none" w="med" len="med"/>
                    </a:lnB>
                    <a:solidFill>
                      <a:schemeClr val="accent1"/>
                    </a:solidFill>
                  </a:tcPr>
                </a:tc>
                <a:tc>
                  <a:txBody>
                    <a:bodyPr/>
                    <a:lstStyle/>
                    <a:p>
                      <a:pPr marR="0" algn="l" rtl="0" fontAlgn="ctr">
                        <a:lnSpc>
                          <a:spcPct val="100000"/>
                        </a:lnSpc>
                        <a:spcBef>
                          <a:spcPts val="0"/>
                        </a:spcBef>
                        <a:spcAft>
                          <a:spcPts val="0"/>
                        </a:spcAft>
                        <a:buClr>
                          <a:srgbClr val="000000"/>
                        </a:buClr>
                        <a:buFont typeface="Arial"/>
                        <a:buNone/>
                      </a:pPr>
                      <a:r>
                        <a:rPr lang="fr-FR" sz="1600" b="1" i="0" u="none" strike="noStrike" cap="none" dirty="0">
                          <a:solidFill>
                            <a:srgbClr val="FFFFFF"/>
                          </a:solidFill>
                          <a:effectLst/>
                          <a:latin typeface="Aptos Narrow" panose="020B0004020202020204" pitchFamily="34" charset="0"/>
                          <a:ea typeface="+mn-ea"/>
                          <a:cs typeface="+mn-cs"/>
                          <a:sym typeface="Arial"/>
                        </a:rPr>
                        <a:t>SV Penta3 identifié</a:t>
                      </a:r>
                    </a:p>
                  </a:txBody>
                  <a:tcPr marL="8467" marR="8467" marT="846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noFill/>
                      <a:prstDash val="solid"/>
                      <a:round/>
                      <a:headEnd type="none" w="med" len="med"/>
                      <a:tailEnd type="none" w="med" len="med"/>
                    </a:lnB>
                    <a:solidFill>
                      <a:schemeClr val="accent1"/>
                    </a:solidFill>
                  </a:tcPr>
                </a:tc>
                <a:tc>
                  <a:txBody>
                    <a:bodyPr/>
                    <a:lstStyle/>
                    <a:p>
                      <a:pPr marR="0" algn="l" rtl="0" fontAlgn="ctr">
                        <a:lnSpc>
                          <a:spcPct val="100000"/>
                        </a:lnSpc>
                        <a:spcBef>
                          <a:spcPts val="0"/>
                        </a:spcBef>
                        <a:spcAft>
                          <a:spcPts val="0"/>
                        </a:spcAft>
                        <a:buClr>
                          <a:srgbClr val="000000"/>
                        </a:buClr>
                        <a:buFont typeface="Arial"/>
                        <a:buNone/>
                      </a:pPr>
                      <a:r>
                        <a:rPr lang="fr-FR" sz="1600" b="1" i="0" u="none" strike="noStrike" cap="none" dirty="0">
                          <a:solidFill>
                            <a:srgbClr val="FFFFFF"/>
                          </a:solidFill>
                          <a:effectLst/>
                          <a:latin typeface="Aptos Narrow" panose="020B0004020202020204" pitchFamily="34" charset="0"/>
                          <a:ea typeface="+mn-ea"/>
                          <a:cs typeface="+mn-cs"/>
                          <a:sym typeface="Arial"/>
                        </a:rPr>
                        <a:t>SV Penta 3 Récupéré</a:t>
                      </a:r>
                    </a:p>
                  </a:txBody>
                  <a:tcPr marL="8467" marR="8467" marT="846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noFill/>
                      <a:prstDash val="solid"/>
                      <a:round/>
                      <a:headEnd type="none" w="med" len="med"/>
                      <a:tailEnd type="none" w="med" len="med"/>
                    </a:lnB>
                    <a:solidFill>
                      <a:schemeClr val="accent1"/>
                    </a:solidFill>
                  </a:tcPr>
                </a:tc>
                <a:tc>
                  <a:txBody>
                    <a:bodyPr/>
                    <a:lstStyle/>
                    <a:p>
                      <a:pPr marR="0" algn="l" rtl="0" fontAlgn="ctr">
                        <a:lnSpc>
                          <a:spcPct val="100000"/>
                        </a:lnSpc>
                        <a:spcBef>
                          <a:spcPts val="0"/>
                        </a:spcBef>
                        <a:spcAft>
                          <a:spcPts val="0"/>
                        </a:spcAft>
                        <a:buClr>
                          <a:srgbClr val="000000"/>
                        </a:buClr>
                        <a:buFont typeface="Arial"/>
                        <a:buNone/>
                      </a:pPr>
                      <a:r>
                        <a:rPr lang="fr-FR" sz="1600" b="1" i="0" u="none" strike="noStrike" cap="none" dirty="0">
                          <a:solidFill>
                            <a:srgbClr val="FFFFFF"/>
                          </a:solidFill>
                          <a:effectLst/>
                          <a:latin typeface="Aptos Narrow" panose="020B0004020202020204" pitchFamily="34" charset="0"/>
                          <a:ea typeface="+mn-ea"/>
                          <a:cs typeface="+mn-cs"/>
                          <a:sym typeface="Arial"/>
                        </a:rPr>
                        <a:t>% SV Penta3 Récupéré</a:t>
                      </a:r>
                    </a:p>
                  </a:txBody>
                  <a:tcPr marL="8467" marR="8467" marT="846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noFill/>
                      <a:prstDash val="solid"/>
                      <a:round/>
                      <a:headEnd type="none" w="med" len="med"/>
                      <a:tailEnd type="none" w="med" len="med"/>
                    </a:lnB>
                    <a:solidFill>
                      <a:schemeClr val="accent1"/>
                    </a:solidFill>
                  </a:tcPr>
                </a:tc>
                <a:tc>
                  <a:txBody>
                    <a:bodyPr/>
                    <a:lstStyle/>
                    <a:p>
                      <a:pPr marR="0" algn="l" rtl="0" fontAlgn="ctr">
                        <a:lnSpc>
                          <a:spcPct val="100000"/>
                        </a:lnSpc>
                        <a:spcBef>
                          <a:spcPts val="0"/>
                        </a:spcBef>
                        <a:spcAft>
                          <a:spcPts val="0"/>
                        </a:spcAft>
                        <a:buClr>
                          <a:srgbClr val="000000"/>
                        </a:buClr>
                        <a:buFont typeface="Arial"/>
                        <a:buNone/>
                      </a:pPr>
                      <a:r>
                        <a:rPr lang="fr-FR" sz="1600" b="1" i="0" u="none" strike="noStrike" cap="none" dirty="0">
                          <a:solidFill>
                            <a:srgbClr val="FFFFFF"/>
                          </a:solidFill>
                          <a:effectLst/>
                          <a:latin typeface="Aptos Narrow" panose="020B0004020202020204" pitchFamily="34" charset="0"/>
                          <a:ea typeface="+mn-ea"/>
                          <a:cs typeface="+mn-cs"/>
                          <a:sym typeface="Arial"/>
                        </a:rPr>
                        <a:t>SV VAR2 identifié</a:t>
                      </a:r>
                    </a:p>
                  </a:txBody>
                  <a:tcPr marL="8467" marR="8467" marT="846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noFill/>
                      <a:prstDash val="solid"/>
                      <a:round/>
                      <a:headEnd type="none" w="med" len="med"/>
                      <a:tailEnd type="none" w="med" len="med"/>
                    </a:lnB>
                    <a:solidFill>
                      <a:schemeClr val="accent1"/>
                    </a:solidFill>
                  </a:tcPr>
                </a:tc>
                <a:tc>
                  <a:txBody>
                    <a:bodyPr/>
                    <a:lstStyle/>
                    <a:p>
                      <a:pPr marR="0" algn="l" rtl="0" fontAlgn="ctr">
                        <a:lnSpc>
                          <a:spcPct val="100000"/>
                        </a:lnSpc>
                        <a:spcBef>
                          <a:spcPts val="0"/>
                        </a:spcBef>
                        <a:spcAft>
                          <a:spcPts val="0"/>
                        </a:spcAft>
                        <a:buClr>
                          <a:srgbClr val="000000"/>
                        </a:buClr>
                        <a:buFont typeface="Arial"/>
                        <a:buNone/>
                      </a:pPr>
                      <a:r>
                        <a:rPr lang="fr-FR" sz="1600" b="1" i="0" u="none" strike="noStrike" cap="none" dirty="0">
                          <a:solidFill>
                            <a:srgbClr val="FFFFFF"/>
                          </a:solidFill>
                          <a:effectLst/>
                          <a:latin typeface="Aptos Narrow" panose="020B0004020202020204" pitchFamily="34" charset="0"/>
                          <a:ea typeface="+mn-ea"/>
                          <a:cs typeface="+mn-cs"/>
                          <a:sym typeface="Arial"/>
                        </a:rPr>
                        <a:t>SV VAR2 Récupéré</a:t>
                      </a:r>
                    </a:p>
                  </a:txBody>
                  <a:tcPr marL="8467" marR="8467" marT="846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noFill/>
                      <a:prstDash val="solid"/>
                      <a:round/>
                      <a:headEnd type="none" w="med" len="med"/>
                      <a:tailEnd type="none" w="med" len="med"/>
                    </a:lnB>
                    <a:solidFill>
                      <a:schemeClr val="accent1"/>
                    </a:solidFill>
                  </a:tcPr>
                </a:tc>
                <a:tc>
                  <a:txBody>
                    <a:bodyPr/>
                    <a:lstStyle/>
                    <a:p>
                      <a:pPr marR="0" algn="l" rtl="0" fontAlgn="ctr">
                        <a:lnSpc>
                          <a:spcPct val="100000"/>
                        </a:lnSpc>
                        <a:spcBef>
                          <a:spcPts val="0"/>
                        </a:spcBef>
                        <a:spcAft>
                          <a:spcPts val="0"/>
                        </a:spcAft>
                        <a:buClr>
                          <a:srgbClr val="000000"/>
                        </a:buClr>
                        <a:buFont typeface="Arial"/>
                        <a:buNone/>
                      </a:pPr>
                      <a:r>
                        <a:rPr lang="fr-FR" sz="1600" b="1" i="0" u="none" strike="noStrike" cap="none" dirty="0">
                          <a:solidFill>
                            <a:srgbClr val="FFFFFF"/>
                          </a:solidFill>
                          <a:effectLst/>
                          <a:latin typeface="Aptos Narrow" panose="020B0004020202020204" pitchFamily="34" charset="0"/>
                          <a:ea typeface="+mn-ea"/>
                          <a:cs typeface="+mn-cs"/>
                          <a:sym typeface="Arial"/>
                        </a:rPr>
                        <a:t>% SV VAR2 Récupéré</a:t>
                      </a:r>
                    </a:p>
                  </a:txBody>
                  <a:tcPr marL="8467" marR="8467" marT="846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noFill/>
                      <a:prstDash val="solid"/>
                      <a:round/>
                      <a:headEnd type="none" w="med" len="med"/>
                      <a:tailEnd type="none" w="med" len="med"/>
                    </a:lnB>
                    <a:solidFill>
                      <a:schemeClr val="accent1"/>
                    </a:solidFill>
                  </a:tcPr>
                </a:tc>
                <a:extLst>
                  <a:ext uri="{0D108BD9-81ED-4DB2-BD59-A6C34878D82A}">
                    <a16:rowId xmlns:a16="http://schemas.microsoft.com/office/drawing/2014/main" val="2515042746"/>
                  </a:ext>
                </a:extLst>
              </a:tr>
              <a:tr h="337418">
                <a:tc>
                  <a:txBody>
                    <a:bodyPr/>
                    <a:lstStyle/>
                    <a:p>
                      <a:pPr algn="l" fontAlgn="b">
                        <a:buNone/>
                      </a:pPr>
                      <a:r>
                        <a:rPr lang="fr-FR" sz="1800" b="0" i="0" u="none" strike="noStrike" dirty="0">
                          <a:solidFill>
                            <a:srgbClr val="000000"/>
                          </a:solidFill>
                          <a:effectLst/>
                          <a:latin typeface="Aptos Narrow" panose="020B0004020202020204" pitchFamily="34" charset="0"/>
                        </a:rPr>
                        <a:t>Haut Katanga</a:t>
                      </a:r>
                    </a:p>
                  </a:txBody>
                  <a:tcPr marL="8467" marR="8467" marT="8467"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14992</a:t>
                      </a:r>
                    </a:p>
                  </a:txBody>
                  <a:tcPr marL="8467" marR="8467" marT="8467" marB="0" anchor="b">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11791</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78,6%</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r" fontAlgn="b">
                        <a:buNone/>
                      </a:pPr>
                      <a:r>
                        <a:rPr lang="fr-FR" sz="1800" b="0" i="0" u="none" strike="noStrike">
                          <a:solidFill>
                            <a:srgbClr val="000000"/>
                          </a:solidFill>
                          <a:effectLst/>
                          <a:latin typeface="Aptos Narrow" panose="020B0004020202020204" pitchFamily="34" charset="0"/>
                        </a:rPr>
                        <a:t>22433</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18951</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84,5%</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r" fontAlgn="b">
                        <a:buNone/>
                      </a:pPr>
                      <a:r>
                        <a:rPr lang="fr-FR" sz="1800" b="0" i="0" u="none" strike="noStrike">
                          <a:solidFill>
                            <a:srgbClr val="000000"/>
                          </a:solidFill>
                          <a:effectLst/>
                          <a:latin typeface="Aptos Narrow" panose="020B0004020202020204" pitchFamily="34" charset="0"/>
                        </a:rPr>
                        <a:t>22541</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17938</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79,6%</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009060119"/>
                  </a:ext>
                </a:extLst>
              </a:tr>
              <a:tr h="337418">
                <a:tc>
                  <a:txBody>
                    <a:bodyPr/>
                    <a:lstStyle/>
                    <a:p>
                      <a:pPr algn="l" fontAlgn="b">
                        <a:buNone/>
                      </a:pPr>
                      <a:r>
                        <a:rPr lang="fr-FR" sz="1800" b="0" i="0" u="none" strike="noStrike">
                          <a:solidFill>
                            <a:srgbClr val="000000"/>
                          </a:solidFill>
                          <a:effectLst/>
                          <a:latin typeface="Aptos Narrow" panose="020B0004020202020204" pitchFamily="34" charset="0"/>
                        </a:rPr>
                        <a:t>Kasaï</a:t>
                      </a:r>
                    </a:p>
                  </a:txBody>
                  <a:tcPr marL="8467" marR="8467" marT="8467"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58000</a:t>
                      </a:r>
                    </a:p>
                  </a:txBody>
                  <a:tcPr marL="8467" marR="8467" marT="8467" marB="0" anchor="b">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45271</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78,1%</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r" fontAlgn="b">
                        <a:buNone/>
                      </a:pPr>
                      <a:r>
                        <a:rPr lang="fr-FR" sz="1800" b="0" i="0" u="none" strike="noStrike">
                          <a:solidFill>
                            <a:srgbClr val="000000"/>
                          </a:solidFill>
                          <a:effectLst/>
                          <a:latin typeface="Aptos Narrow" panose="020B0004020202020204" pitchFamily="34" charset="0"/>
                        </a:rPr>
                        <a:t>36966</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28699</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77,6%</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r" fontAlgn="b">
                        <a:buNone/>
                      </a:pPr>
                      <a:r>
                        <a:rPr lang="fr-FR" sz="1800" b="0" i="0" u="none" strike="noStrike">
                          <a:solidFill>
                            <a:srgbClr val="000000"/>
                          </a:solidFill>
                          <a:effectLst/>
                          <a:latin typeface="Aptos Narrow" panose="020B0004020202020204" pitchFamily="34" charset="0"/>
                        </a:rPr>
                        <a:t>20775</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12955</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62,4%</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4020034681"/>
                  </a:ext>
                </a:extLst>
              </a:tr>
              <a:tr h="337418">
                <a:tc>
                  <a:txBody>
                    <a:bodyPr/>
                    <a:lstStyle/>
                    <a:p>
                      <a:pPr algn="l" fontAlgn="b">
                        <a:buNone/>
                      </a:pPr>
                      <a:r>
                        <a:rPr lang="fr-FR" sz="1800" b="0" i="0" u="none" strike="noStrike">
                          <a:solidFill>
                            <a:srgbClr val="000000"/>
                          </a:solidFill>
                          <a:effectLst/>
                          <a:latin typeface="Aptos Narrow" panose="020B0004020202020204" pitchFamily="34" charset="0"/>
                        </a:rPr>
                        <a:t>Kasaï oriental</a:t>
                      </a:r>
                    </a:p>
                  </a:txBody>
                  <a:tcPr marL="8467" marR="8467" marT="8467"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15119</a:t>
                      </a:r>
                    </a:p>
                  </a:txBody>
                  <a:tcPr marL="8467" marR="8467" marT="8467" marB="0" anchor="b">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13137</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86,9%</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r" fontAlgn="b">
                        <a:buNone/>
                      </a:pPr>
                      <a:r>
                        <a:rPr lang="fr-FR" sz="1800" b="0" i="0" u="none" strike="noStrike">
                          <a:solidFill>
                            <a:srgbClr val="000000"/>
                          </a:solidFill>
                          <a:effectLst/>
                          <a:latin typeface="Aptos Narrow" panose="020B0004020202020204" pitchFamily="34" charset="0"/>
                        </a:rPr>
                        <a:t>14714</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13084</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88,9%</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r" fontAlgn="b">
                        <a:buNone/>
                      </a:pPr>
                      <a:r>
                        <a:rPr lang="fr-FR" sz="1800" b="0" i="0" u="none" strike="noStrike">
                          <a:solidFill>
                            <a:srgbClr val="000000"/>
                          </a:solidFill>
                          <a:effectLst/>
                          <a:latin typeface="Aptos Narrow" panose="020B0004020202020204" pitchFamily="34" charset="0"/>
                        </a:rPr>
                        <a:t>11448</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9211</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80,5%</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36420755"/>
                  </a:ext>
                </a:extLst>
              </a:tr>
              <a:tr h="337418">
                <a:tc>
                  <a:txBody>
                    <a:bodyPr/>
                    <a:lstStyle/>
                    <a:p>
                      <a:pPr algn="l" fontAlgn="b">
                        <a:buNone/>
                      </a:pPr>
                      <a:r>
                        <a:rPr lang="fr-FR" sz="1800" b="0" i="0" u="none" strike="noStrike">
                          <a:solidFill>
                            <a:srgbClr val="000000"/>
                          </a:solidFill>
                          <a:effectLst/>
                          <a:latin typeface="Aptos Narrow" panose="020B0004020202020204" pitchFamily="34" charset="0"/>
                        </a:rPr>
                        <a:t>Mai Ndombe</a:t>
                      </a:r>
                    </a:p>
                  </a:txBody>
                  <a:tcPr marL="8467" marR="8467" marT="8467"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11262</a:t>
                      </a:r>
                    </a:p>
                  </a:txBody>
                  <a:tcPr marL="8467" marR="8467" marT="8467" marB="0" anchor="b">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8810</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78,2%</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r" fontAlgn="b">
                        <a:buNone/>
                      </a:pPr>
                      <a:r>
                        <a:rPr lang="fr-FR" sz="1800" b="0" i="0" u="none" strike="noStrike" dirty="0">
                          <a:solidFill>
                            <a:srgbClr val="000000"/>
                          </a:solidFill>
                          <a:effectLst/>
                          <a:latin typeface="Aptos Narrow" panose="020B0004020202020204" pitchFamily="34" charset="0"/>
                        </a:rPr>
                        <a:t>12477</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9244</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74,1%</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r" fontAlgn="b">
                        <a:buNone/>
                      </a:pPr>
                      <a:r>
                        <a:rPr lang="fr-FR" sz="1800" b="0" i="0" u="none" strike="noStrike">
                          <a:solidFill>
                            <a:srgbClr val="000000"/>
                          </a:solidFill>
                          <a:effectLst/>
                          <a:latin typeface="Aptos Narrow" panose="020B0004020202020204" pitchFamily="34" charset="0"/>
                        </a:rPr>
                        <a:t>10822</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8471</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78,3%</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68045524"/>
                  </a:ext>
                </a:extLst>
              </a:tr>
              <a:tr h="337418">
                <a:tc>
                  <a:txBody>
                    <a:bodyPr/>
                    <a:lstStyle/>
                    <a:p>
                      <a:pPr algn="l" fontAlgn="b">
                        <a:buNone/>
                      </a:pPr>
                      <a:r>
                        <a:rPr lang="fr-FR" sz="1800" b="0" i="0" u="none" strike="noStrike">
                          <a:solidFill>
                            <a:srgbClr val="000000"/>
                          </a:solidFill>
                          <a:effectLst/>
                          <a:latin typeface="Aptos Narrow" panose="020B0004020202020204" pitchFamily="34" charset="0"/>
                        </a:rPr>
                        <a:t>Maniema</a:t>
                      </a:r>
                    </a:p>
                  </a:txBody>
                  <a:tcPr marL="8467" marR="8467" marT="8467"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33277</a:t>
                      </a:r>
                    </a:p>
                  </a:txBody>
                  <a:tcPr marL="8467" marR="8467" marT="8467" marB="0" anchor="b">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29190</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87,7%</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r" fontAlgn="b">
                        <a:buNone/>
                      </a:pPr>
                      <a:r>
                        <a:rPr lang="fr-FR" sz="1800" b="0" i="0" u="none" strike="noStrike">
                          <a:solidFill>
                            <a:srgbClr val="000000"/>
                          </a:solidFill>
                          <a:effectLst/>
                          <a:latin typeface="Aptos Narrow" panose="020B0004020202020204" pitchFamily="34" charset="0"/>
                        </a:rPr>
                        <a:t>31584</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26193</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82,9%</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r" fontAlgn="b">
                        <a:buNone/>
                      </a:pPr>
                      <a:r>
                        <a:rPr lang="fr-FR" sz="1800" b="0" i="0" u="none" strike="noStrike" dirty="0">
                          <a:solidFill>
                            <a:srgbClr val="000000"/>
                          </a:solidFill>
                          <a:effectLst/>
                          <a:latin typeface="Aptos Narrow" panose="020B0004020202020204" pitchFamily="34" charset="0"/>
                        </a:rPr>
                        <a:t>15460</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12326</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79,7%</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340557350"/>
                  </a:ext>
                </a:extLst>
              </a:tr>
              <a:tr h="337418">
                <a:tc>
                  <a:txBody>
                    <a:bodyPr/>
                    <a:lstStyle/>
                    <a:p>
                      <a:pPr algn="l" fontAlgn="b">
                        <a:buNone/>
                      </a:pPr>
                      <a:r>
                        <a:rPr lang="fr-FR" sz="1800" b="0" i="0" u="none" strike="noStrike">
                          <a:solidFill>
                            <a:srgbClr val="000000"/>
                          </a:solidFill>
                          <a:effectLst/>
                          <a:latin typeface="Aptos Narrow" panose="020B0004020202020204" pitchFamily="34" charset="0"/>
                        </a:rPr>
                        <a:t>Mongala</a:t>
                      </a:r>
                    </a:p>
                  </a:txBody>
                  <a:tcPr marL="8467" marR="8467" marT="8467"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37069</a:t>
                      </a:r>
                    </a:p>
                  </a:txBody>
                  <a:tcPr marL="8467" marR="8467" marT="8467" marB="0" anchor="b">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32477</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87,6%</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r" fontAlgn="b">
                        <a:buNone/>
                      </a:pPr>
                      <a:r>
                        <a:rPr lang="fr-FR" sz="1800" b="0" i="0" u="none" strike="noStrike" dirty="0">
                          <a:solidFill>
                            <a:srgbClr val="000000"/>
                          </a:solidFill>
                          <a:effectLst/>
                          <a:latin typeface="Aptos Narrow" panose="020B0004020202020204" pitchFamily="34" charset="0"/>
                        </a:rPr>
                        <a:t>35850</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32030</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89,3%</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r" fontAlgn="b">
                        <a:buNone/>
                      </a:pPr>
                      <a:r>
                        <a:rPr lang="fr-FR" sz="1800" b="0" i="0" u="none" strike="noStrike">
                          <a:solidFill>
                            <a:srgbClr val="000000"/>
                          </a:solidFill>
                          <a:effectLst/>
                          <a:latin typeface="Aptos Narrow" panose="020B0004020202020204" pitchFamily="34" charset="0"/>
                        </a:rPr>
                        <a:t>24156</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19779</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81,9%</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3535307660"/>
                  </a:ext>
                </a:extLst>
              </a:tr>
              <a:tr h="337418">
                <a:tc>
                  <a:txBody>
                    <a:bodyPr/>
                    <a:lstStyle/>
                    <a:p>
                      <a:pPr algn="l" fontAlgn="b">
                        <a:buNone/>
                      </a:pPr>
                      <a:r>
                        <a:rPr lang="fr-FR" sz="1800" b="0" i="0" u="none" strike="noStrike">
                          <a:solidFill>
                            <a:srgbClr val="000000"/>
                          </a:solidFill>
                          <a:effectLst/>
                          <a:latin typeface="Aptos Narrow" panose="020B0004020202020204" pitchFamily="34" charset="0"/>
                        </a:rPr>
                        <a:t>Sankuru</a:t>
                      </a:r>
                    </a:p>
                  </a:txBody>
                  <a:tcPr marL="8467" marR="8467" marT="8467"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27607</a:t>
                      </a:r>
                    </a:p>
                  </a:txBody>
                  <a:tcPr marL="8467" marR="8467" marT="8467" marB="0" anchor="b">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14425</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52,3%</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r" fontAlgn="b">
                        <a:buNone/>
                      </a:pPr>
                      <a:r>
                        <a:rPr lang="fr-FR" sz="1800" b="0" i="0" u="none" strike="noStrike" dirty="0">
                          <a:solidFill>
                            <a:srgbClr val="000000"/>
                          </a:solidFill>
                          <a:effectLst/>
                          <a:latin typeface="Aptos Narrow" panose="020B0004020202020204" pitchFamily="34" charset="0"/>
                        </a:rPr>
                        <a:t>26639</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17776</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66,7%</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r" fontAlgn="b">
                        <a:buNone/>
                      </a:pPr>
                      <a:r>
                        <a:rPr lang="fr-FR" sz="1800" b="0" i="0" u="none" strike="noStrike">
                          <a:solidFill>
                            <a:srgbClr val="000000"/>
                          </a:solidFill>
                          <a:effectLst/>
                          <a:latin typeface="Aptos Narrow" panose="020B0004020202020204" pitchFamily="34" charset="0"/>
                        </a:rPr>
                        <a:t>16747</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10417</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62,2%</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4184287396"/>
                  </a:ext>
                </a:extLst>
              </a:tr>
              <a:tr h="337418">
                <a:tc>
                  <a:txBody>
                    <a:bodyPr/>
                    <a:lstStyle/>
                    <a:p>
                      <a:pPr algn="l" fontAlgn="b">
                        <a:buNone/>
                      </a:pPr>
                      <a:r>
                        <a:rPr lang="fr-FR" sz="1800" b="0" i="0" u="none" strike="noStrike">
                          <a:solidFill>
                            <a:srgbClr val="000000"/>
                          </a:solidFill>
                          <a:effectLst/>
                          <a:latin typeface="Aptos Narrow" panose="020B0004020202020204" pitchFamily="34" charset="0"/>
                        </a:rPr>
                        <a:t>Sud Kivu</a:t>
                      </a:r>
                    </a:p>
                  </a:txBody>
                  <a:tcPr marL="8467" marR="8467" marT="8467"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15556</a:t>
                      </a:r>
                    </a:p>
                  </a:txBody>
                  <a:tcPr marL="8467" marR="8467" marT="8467" marB="0" anchor="b">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12986</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83,5%</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r" fontAlgn="b">
                        <a:buNone/>
                      </a:pPr>
                      <a:r>
                        <a:rPr lang="fr-FR" sz="1800" b="0" i="0" u="none" strike="noStrike">
                          <a:solidFill>
                            <a:srgbClr val="000000"/>
                          </a:solidFill>
                          <a:effectLst/>
                          <a:latin typeface="Aptos Narrow" panose="020B0004020202020204" pitchFamily="34" charset="0"/>
                        </a:rPr>
                        <a:t>23138</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19134</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82,7%</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r" fontAlgn="b">
                        <a:buNone/>
                      </a:pPr>
                      <a:r>
                        <a:rPr lang="fr-FR" sz="1800" b="0" i="0" u="none" strike="noStrike">
                          <a:solidFill>
                            <a:srgbClr val="000000"/>
                          </a:solidFill>
                          <a:effectLst/>
                          <a:latin typeface="Aptos Narrow" panose="020B0004020202020204" pitchFamily="34" charset="0"/>
                        </a:rPr>
                        <a:t>40132</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22488</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56,0%</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61865021"/>
                  </a:ext>
                </a:extLst>
              </a:tr>
              <a:tr h="337418">
                <a:tc>
                  <a:txBody>
                    <a:bodyPr/>
                    <a:lstStyle/>
                    <a:p>
                      <a:pPr algn="l" fontAlgn="b">
                        <a:buNone/>
                      </a:pPr>
                      <a:r>
                        <a:rPr lang="fr-FR" sz="1800" b="0" i="0" u="none" strike="noStrike">
                          <a:solidFill>
                            <a:srgbClr val="000000"/>
                          </a:solidFill>
                          <a:effectLst/>
                          <a:latin typeface="Aptos Narrow" panose="020B0004020202020204" pitchFamily="34" charset="0"/>
                        </a:rPr>
                        <a:t>Sud Ubangi</a:t>
                      </a:r>
                    </a:p>
                  </a:txBody>
                  <a:tcPr marL="8467" marR="8467" marT="8467"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21205</a:t>
                      </a:r>
                    </a:p>
                  </a:txBody>
                  <a:tcPr marL="8467" marR="8467" marT="8467" marB="0" anchor="b">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17208</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81,2%</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r" fontAlgn="b">
                        <a:buNone/>
                      </a:pPr>
                      <a:r>
                        <a:rPr lang="fr-FR" sz="1800" b="0" i="0" u="none" strike="noStrike">
                          <a:solidFill>
                            <a:srgbClr val="000000"/>
                          </a:solidFill>
                          <a:effectLst/>
                          <a:latin typeface="Aptos Narrow" panose="020B0004020202020204" pitchFamily="34" charset="0"/>
                        </a:rPr>
                        <a:t>24885</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21133</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84,9%</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r" fontAlgn="b">
                        <a:buNone/>
                      </a:pPr>
                      <a:r>
                        <a:rPr lang="fr-FR" sz="1800" b="0" i="0" u="none" strike="noStrike">
                          <a:solidFill>
                            <a:srgbClr val="000000"/>
                          </a:solidFill>
                          <a:effectLst/>
                          <a:latin typeface="Aptos Narrow" panose="020B0004020202020204" pitchFamily="34" charset="0"/>
                        </a:rPr>
                        <a:t>8697</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6577</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75,6%</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778883016"/>
                  </a:ext>
                </a:extLst>
              </a:tr>
              <a:tr h="337418">
                <a:tc>
                  <a:txBody>
                    <a:bodyPr/>
                    <a:lstStyle/>
                    <a:p>
                      <a:pPr algn="l" fontAlgn="b">
                        <a:buNone/>
                      </a:pPr>
                      <a:r>
                        <a:rPr lang="fr-FR" sz="1800" b="0" i="0" u="none" strike="noStrike" dirty="0">
                          <a:solidFill>
                            <a:srgbClr val="000000"/>
                          </a:solidFill>
                          <a:effectLst/>
                          <a:latin typeface="Aptos Narrow" panose="020B0004020202020204" pitchFamily="34" charset="0"/>
                        </a:rPr>
                        <a:t>Tshopo</a:t>
                      </a:r>
                    </a:p>
                  </a:txBody>
                  <a:tcPr marL="8467" marR="8467" marT="8467"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31634</a:t>
                      </a:r>
                    </a:p>
                  </a:txBody>
                  <a:tcPr marL="8467" marR="8467" marT="8467" marB="0" anchor="b">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23179</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73,3%</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r" fontAlgn="b">
                        <a:buNone/>
                      </a:pPr>
                      <a:r>
                        <a:rPr lang="fr-FR" sz="1800" b="0" i="0" u="none" strike="noStrike">
                          <a:solidFill>
                            <a:srgbClr val="000000"/>
                          </a:solidFill>
                          <a:effectLst/>
                          <a:latin typeface="Aptos Narrow" panose="020B0004020202020204" pitchFamily="34" charset="0"/>
                        </a:rPr>
                        <a:t>55373</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49353</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89,1%</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r" fontAlgn="b">
                        <a:buNone/>
                      </a:pPr>
                      <a:r>
                        <a:rPr lang="fr-FR" sz="1800" b="0" i="0" u="none" strike="noStrike" dirty="0">
                          <a:solidFill>
                            <a:srgbClr val="000000"/>
                          </a:solidFill>
                          <a:effectLst/>
                          <a:latin typeface="Aptos Narrow" panose="020B0004020202020204" pitchFamily="34" charset="0"/>
                        </a:rPr>
                        <a:t>33173</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20055</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60,5%</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397560538"/>
                  </a:ext>
                </a:extLst>
              </a:tr>
              <a:tr h="337418">
                <a:tc>
                  <a:txBody>
                    <a:bodyPr/>
                    <a:lstStyle/>
                    <a:p>
                      <a:pPr algn="l" fontAlgn="b">
                        <a:buNone/>
                      </a:pPr>
                      <a:r>
                        <a:rPr lang="fr-FR" sz="1800" b="0" i="0" u="none" strike="noStrike">
                          <a:solidFill>
                            <a:srgbClr val="000000"/>
                          </a:solidFill>
                          <a:effectLst/>
                          <a:latin typeface="Aptos Narrow" panose="020B0004020202020204" pitchFamily="34" charset="0"/>
                        </a:rPr>
                        <a:t>Tshuapa</a:t>
                      </a:r>
                    </a:p>
                  </a:txBody>
                  <a:tcPr marL="8467" marR="8467" marT="8467"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23340</a:t>
                      </a:r>
                    </a:p>
                  </a:txBody>
                  <a:tcPr marL="8467" marR="8467" marT="8467" marB="0" anchor="b">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a:solidFill>
                            <a:srgbClr val="000000"/>
                          </a:solidFill>
                          <a:effectLst/>
                          <a:latin typeface="Aptos Narrow" panose="020B0004020202020204" pitchFamily="34" charset="0"/>
                        </a:rPr>
                        <a:t>16026</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68,7%</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r" fontAlgn="b">
                        <a:buNone/>
                      </a:pPr>
                      <a:r>
                        <a:rPr lang="fr-FR" sz="1800" b="0" i="0" u="none" strike="noStrike" dirty="0">
                          <a:solidFill>
                            <a:srgbClr val="000000"/>
                          </a:solidFill>
                          <a:effectLst/>
                          <a:latin typeface="Aptos Narrow" panose="020B0004020202020204" pitchFamily="34" charset="0"/>
                        </a:rPr>
                        <a:t>17496</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13195</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75,4%</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r" fontAlgn="b">
                        <a:buNone/>
                      </a:pPr>
                      <a:r>
                        <a:rPr lang="fr-FR" sz="1800" b="0" i="0" u="none" strike="noStrike" dirty="0">
                          <a:solidFill>
                            <a:srgbClr val="000000"/>
                          </a:solidFill>
                          <a:effectLst/>
                          <a:latin typeface="Aptos Narrow" panose="020B0004020202020204" pitchFamily="34" charset="0"/>
                        </a:rPr>
                        <a:t>17119</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11766</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68,7%</a:t>
                      </a:r>
                    </a:p>
                  </a:txBody>
                  <a:tcPr marL="8467" marR="8467" marT="846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469728363"/>
                  </a:ext>
                </a:extLst>
              </a:tr>
              <a:tr h="337418">
                <a:tc>
                  <a:txBody>
                    <a:bodyPr/>
                    <a:lstStyle/>
                    <a:p>
                      <a:pPr algn="l" fontAlgn="b">
                        <a:buNone/>
                      </a:pPr>
                      <a:r>
                        <a:rPr lang="fr-FR" sz="1800" b="0" i="0" u="none" strike="noStrike">
                          <a:solidFill>
                            <a:srgbClr val="000000"/>
                          </a:solidFill>
                          <a:effectLst/>
                          <a:latin typeface="Aptos Narrow" panose="020B0004020202020204" pitchFamily="34" charset="0"/>
                        </a:rPr>
                        <a:t>Total</a:t>
                      </a:r>
                    </a:p>
                  </a:txBody>
                  <a:tcPr marL="8467" marR="8467" marT="846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289061</a:t>
                      </a:r>
                    </a:p>
                  </a:txBody>
                  <a:tcPr marL="8467" marR="8467" marT="846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224500</a:t>
                      </a:r>
                    </a:p>
                  </a:txBody>
                  <a:tcPr marL="8467" marR="8467" marT="846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77,7%</a:t>
                      </a:r>
                    </a:p>
                  </a:txBody>
                  <a:tcPr marL="8467" marR="8467" marT="846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buNone/>
                      </a:pPr>
                      <a:r>
                        <a:rPr lang="fr-FR" sz="1800" b="0" i="0" u="none" strike="noStrike" dirty="0">
                          <a:solidFill>
                            <a:srgbClr val="000000"/>
                          </a:solidFill>
                          <a:effectLst/>
                          <a:latin typeface="Aptos Narrow" panose="020B0004020202020204" pitchFamily="34" charset="0"/>
                        </a:rPr>
                        <a:t>301555</a:t>
                      </a:r>
                    </a:p>
                  </a:txBody>
                  <a:tcPr marL="8467" marR="8467" marT="846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248792</a:t>
                      </a:r>
                    </a:p>
                  </a:txBody>
                  <a:tcPr marL="8467" marR="8467" marT="846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82,5%</a:t>
                      </a:r>
                    </a:p>
                  </a:txBody>
                  <a:tcPr marL="8467" marR="8467" marT="846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r" fontAlgn="b">
                        <a:buNone/>
                      </a:pPr>
                      <a:r>
                        <a:rPr lang="fr-FR" sz="1800" b="0" i="0" u="none" strike="noStrike" dirty="0">
                          <a:solidFill>
                            <a:srgbClr val="000000"/>
                          </a:solidFill>
                          <a:effectLst/>
                          <a:latin typeface="Aptos Narrow" panose="020B0004020202020204" pitchFamily="34" charset="0"/>
                        </a:rPr>
                        <a:t>221070</a:t>
                      </a:r>
                    </a:p>
                  </a:txBody>
                  <a:tcPr marL="8467" marR="8467" marT="846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151983</a:t>
                      </a:r>
                    </a:p>
                  </a:txBody>
                  <a:tcPr marL="8467" marR="8467" marT="846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fr-FR" sz="1800" b="0" i="0" u="none" strike="noStrike" dirty="0">
                          <a:solidFill>
                            <a:srgbClr val="000000"/>
                          </a:solidFill>
                          <a:effectLst/>
                          <a:latin typeface="Aptos Narrow" panose="020B0004020202020204" pitchFamily="34" charset="0"/>
                        </a:rPr>
                        <a:t>68,7%</a:t>
                      </a:r>
                    </a:p>
                  </a:txBody>
                  <a:tcPr marL="8467" marR="8467" marT="846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118166747"/>
                  </a:ext>
                </a:extLst>
              </a:tr>
            </a:tbl>
          </a:graphicData>
        </a:graphic>
      </p:graphicFrame>
      <p:sp>
        <p:nvSpPr>
          <p:cNvPr id="8" name="ZoneTexte 7">
            <a:extLst>
              <a:ext uri="{FF2B5EF4-FFF2-40B4-BE49-F238E27FC236}">
                <a16:creationId xmlns:a16="http://schemas.microsoft.com/office/drawing/2014/main" id="{92BFDDB8-D47B-48B7-1009-A5B4920E50D7}"/>
              </a:ext>
            </a:extLst>
          </p:cNvPr>
          <p:cNvSpPr txBox="1"/>
          <p:nvPr/>
        </p:nvSpPr>
        <p:spPr>
          <a:xfrm>
            <a:off x="414815" y="1069611"/>
            <a:ext cx="11361553" cy="400110"/>
          </a:xfrm>
          <a:prstGeom prst="rect">
            <a:avLst/>
          </a:prstGeom>
          <a:noFill/>
        </p:spPr>
        <p:txBody>
          <a:bodyPr wrap="square">
            <a:spAutoFit/>
          </a:bodyPr>
          <a:lstStyle/>
          <a:p>
            <a:r>
              <a:rPr lang="en-US" sz="2000" dirty="0">
                <a:effectLst>
                  <a:outerShdw blurRad="38100" dist="38100" dir="2700000" algn="tl">
                    <a:srgbClr val="000000">
                      <a:alpha val="43137"/>
                    </a:srgbClr>
                  </a:outerShdw>
                </a:effectLst>
              </a:rPr>
              <a:t>Données Récupération des Enfants ZD, SV Penta 3 &amp; SV VAR 2 au 31 octobre 2025 (</a:t>
            </a:r>
            <a:r>
              <a:rPr lang="en-US" sz="2000" dirty="0">
                <a:solidFill>
                  <a:srgbClr val="FF0000"/>
                </a:solidFill>
                <a:effectLst>
                  <a:outerShdw blurRad="38100" dist="38100" dir="2700000" algn="tl">
                    <a:srgbClr val="000000">
                      <a:alpha val="43137"/>
                    </a:srgbClr>
                  </a:outerShdw>
                </a:effectLst>
              </a:rPr>
              <a:t>Données papiers</a:t>
            </a:r>
            <a:r>
              <a:rPr lang="en-US" sz="2000" dirty="0">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191006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E08D48-4F2B-14B4-16E3-562A554F14A4}"/>
              </a:ext>
            </a:extLst>
          </p:cNvPr>
          <p:cNvSpPr>
            <a:spLocks noGrp="1"/>
          </p:cNvSpPr>
          <p:nvPr>
            <p:ph type="title"/>
          </p:nvPr>
        </p:nvSpPr>
        <p:spPr/>
        <p:txBody>
          <a:bodyPr>
            <a:normAutofit fontScale="90000"/>
          </a:bodyPr>
          <a:lstStyle/>
          <a:p>
            <a:endParaRPr lang="fr-FR"/>
          </a:p>
        </p:txBody>
      </p:sp>
      <p:sp>
        <p:nvSpPr>
          <p:cNvPr id="3" name="Espace réservé du texte 2">
            <a:extLst>
              <a:ext uri="{FF2B5EF4-FFF2-40B4-BE49-F238E27FC236}">
                <a16:creationId xmlns:a16="http://schemas.microsoft.com/office/drawing/2014/main" id="{F3760FE3-74D0-15AC-731D-E72385D778F8}"/>
              </a:ext>
            </a:extLst>
          </p:cNvPr>
          <p:cNvSpPr>
            <a:spLocks noGrp="1"/>
          </p:cNvSpPr>
          <p:nvPr>
            <p:ph type="body" idx="1"/>
          </p:nvPr>
        </p:nvSpPr>
        <p:spPr/>
        <p:txBody>
          <a:bodyPr/>
          <a:lstStyle/>
          <a:p>
            <a:endParaRPr lang="fr-FR" dirty="0"/>
          </a:p>
        </p:txBody>
      </p:sp>
      <p:pic>
        <p:nvPicPr>
          <p:cNvPr id="5" name="Image 4" descr="Une image contenant texte, capture d’écran, carte">
            <a:extLst>
              <a:ext uri="{FF2B5EF4-FFF2-40B4-BE49-F238E27FC236}">
                <a16:creationId xmlns:a16="http://schemas.microsoft.com/office/drawing/2014/main" id="{0E436C60-4EEE-F6D5-084E-8445C68C8790}"/>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0" y="235700"/>
            <a:ext cx="12192000" cy="6386601"/>
          </a:xfrm>
          <a:prstGeom prst="rect">
            <a:avLst/>
          </a:prstGeom>
        </p:spPr>
      </p:pic>
    </p:spTree>
    <p:extLst>
      <p:ext uri="{BB962C8B-B14F-4D97-AF65-F5344CB8AC3E}">
        <p14:creationId xmlns:p14="http://schemas.microsoft.com/office/powerpoint/2010/main" val="4078437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3F7D3D-2AE5-B017-4CA9-1ACA4C700B59}"/>
              </a:ext>
            </a:extLst>
          </p:cNvPr>
          <p:cNvSpPr>
            <a:spLocks noGrp="1"/>
          </p:cNvSpPr>
          <p:nvPr>
            <p:ph type="title"/>
          </p:nvPr>
        </p:nvSpPr>
        <p:spPr>
          <a:xfrm>
            <a:off x="414813" y="237814"/>
            <a:ext cx="11361559" cy="763500"/>
          </a:xfrm>
        </p:spPr>
        <p:txBody>
          <a:bodyPr>
            <a:normAutofit fontScale="90000"/>
          </a:bodyPr>
          <a:lstStyle/>
          <a:p>
            <a:r>
              <a:rPr lang="fr-FR" dirty="0">
                <a:solidFill>
                  <a:srgbClr val="145ABE"/>
                </a:solidFill>
              </a:rPr>
              <a:t>Principaux résultats de FAE  en 2025</a:t>
            </a:r>
            <a:endParaRPr lang="fr-FR" dirty="0"/>
          </a:p>
        </p:txBody>
      </p:sp>
      <p:pic>
        <p:nvPicPr>
          <p:cNvPr id="7" name="Image 6" descr="Une image contenant texte, capture d’écran, nombre, Police">
            <a:extLst>
              <a:ext uri="{FF2B5EF4-FFF2-40B4-BE49-F238E27FC236}">
                <a16:creationId xmlns:a16="http://schemas.microsoft.com/office/drawing/2014/main" id="{13FB4B96-9C7A-3A54-80A9-BAC881302017}"/>
              </a:ext>
            </a:extLst>
          </p:cNvPr>
          <p:cNvPicPr>
            <a:picLocks noChangeAspect="1"/>
          </p:cNvPicPr>
          <p:nvPr/>
        </p:nvPicPr>
        <p:blipFill>
          <a:blip r:embed="rId2"/>
          <a:stretch>
            <a:fillRect/>
          </a:stretch>
        </p:blipFill>
        <p:spPr>
          <a:xfrm>
            <a:off x="415628" y="1411683"/>
            <a:ext cx="11361557" cy="4974695"/>
          </a:xfrm>
          <a:prstGeom prst="rect">
            <a:avLst/>
          </a:prstGeom>
        </p:spPr>
      </p:pic>
      <p:sp>
        <p:nvSpPr>
          <p:cNvPr id="9" name="ZoneTexte 8">
            <a:extLst>
              <a:ext uri="{FF2B5EF4-FFF2-40B4-BE49-F238E27FC236}">
                <a16:creationId xmlns:a16="http://schemas.microsoft.com/office/drawing/2014/main" id="{4170CB64-9227-5B51-6D6C-2264DA9BF3FD}"/>
              </a:ext>
            </a:extLst>
          </p:cNvPr>
          <p:cNvSpPr txBox="1"/>
          <p:nvPr/>
        </p:nvSpPr>
        <p:spPr>
          <a:xfrm>
            <a:off x="414813" y="950018"/>
            <a:ext cx="11361556" cy="461665"/>
          </a:xfrm>
          <a:prstGeom prst="rect">
            <a:avLst/>
          </a:prstGeom>
          <a:noFill/>
        </p:spPr>
        <p:txBody>
          <a:bodyPr wrap="square">
            <a:spAutoFit/>
          </a:bodyPr>
          <a:lstStyle/>
          <a:p>
            <a:r>
              <a:rPr lang="en-US" sz="2400" dirty="0">
                <a:solidFill>
                  <a:srgbClr val="FF0000"/>
                </a:solidFill>
                <a:effectLst>
                  <a:outerShdw blurRad="38100" dist="38100" dir="2700000" algn="tl">
                    <a:srgbClr val="000000">
                      <a:alpha val="43137"/>
                    </a:srgbClr>
                  </a:outerShdw>
                </a:effectLst>
              </a:rPr>
              <a:t>Données DHIS2 </a:t>
            </a:r>
            <a:r>
              <a:rPr lang="en-US" sz="2400" dirty="0" err="1">
                <a:solidFill>
                  <a:srgbClr val="FF0000"/>
                </a:solidFill>
                <a:effectLst>
                  <a:outerShdw blurRad="38100" dist="38100" dir="2700000" algn="tl">
                    <a:srgbClr val="000000">
                      <a:alpha val="43137"/>
                    </a:srgbClr>
                  </a:outerShdw>
                </a:effectLst>
              </a:rPr>
              <a:t>Tracker</a:t>
            </a:r>
            <a:r>
              <a:rPr lang="en-US" sz="2400" dirty="0" err="1">
                <a:effectLst>
                  <a:outerShdw blurRad="38100" dist="38100" dir="2700000" algn="tl">
                    <a:srgbClr val="000000">
                      <a:alpha val="43137"/>
                    </a:srgbClr>
                  </a:outerShdw>
                </a:effectLst>
              </a:rPr>
              <a:t>_Enfants</a:t>
            </a:r>
            <a:r>
              <a:rPr lang="en-US" sz="2400" dirty="0">
                <a:effectLst>
                  <a:outerShdw blurRad="38100" dist="38100" dir="2700000" algn="tl">
                    <a:srgbClr val="000000">
                      <a:alpha val="43137"/>
                    </a:srgbClr>
                  </a:outerShdw>
                </a:effectLst>
              </a:rPr>
              <a:t> </a:t>
            </a:r>
            <a:r>
              <a:rPr lang="en-US" sz="2400" dirty="0" err="1">
                <a:effectLst>
                  <a:outerShdw blurRad="38100" dist="38100" dir="2700000" algn="tl">
                    <a:srgbClr val="000000">
                      <a:alpha val="43137"/>
                    </a:srgbClr>
                  </a:outerShdw>
                </a:effectLst>
              </a:rPr>
              <a:t>rattrapés</a:t>
            </a:r>
            <a:r>
              <a:rPr lang="en-US" sz="2400" dirty="0">
                <a:effectLst>
                  <a:outerShdw blurRad="38100" dist="38100" dir="2700000" algn="tl">
                    <a:srgbClr val="000000">
                      <a:alpha val="43137"/>
                    </a:srgbClr>
                  </a:outerShdw>
                </a:effectLst>
              </a:rPr>
              <a:t> ZD, SV Penta 3 &amp; SV VAR 2 au 16 </a:t>
            </a:r>
            <a:r>
              <a:rPr lang="en-US" sz="2400" dirty="0" err="1">
                <a:effectLst>
                  <a:outerShdw blurRad="38100" dist="38100" dir="2700000" algn="tl">
                    <a:srgbClr val="000000">
                      <a:alpha val="43137"/>
                    </a:srgbClr>
                  </a:outerShdw>
                </a:effectLst>
              </a:rPr>
              <a:t>décembre</a:t>
            </a:r>
            <a:r>
              <a:rPr lang="en-US" sz="2400" dirty="0">
                <a:effectLst>
                  <a:outerShdw blurRad="38100" dist="38100" dir="2700000" algn="tl">
                    <a:srgbClr val="000000">
                      <a:alpha val="43137"/>
                    </a:srgbClr>
                  </a:outerShdw>
                </a:effectLst>
              </a:rPr>
              <a:t> 2025</a:t>
            </a:r>
          </a:p>
        </p:txBody>
      </p:sp>
    </p:spTree>
    <p:extLst>
      <p:ext uri="{BB962C8B-B14F-4D97-AF65-F5344CB8AC3E}">
        <p14:creationId xmlns:p14="http://schemas.microsoft.com/office/powerpoint/2010/main" val="1129350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745E22DD-CC4F-3001-EB4A-C9F0320F33E0}"/>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2B35CA5F-405D-E03C-7334-A0132F0CCC9E}"/>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 majeures de l’année</a:t>
            </a:r>
            <a:r>
              <a:rPr lang="fr-FR" alt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en lien avec les activités planifiées dans le PAO du PEV</a:t>
            </a: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89E19CB6-42C6-06F9-8E57-8FB9E965E39B}"/>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5EB3EECE-AF51-20EE-6185-FEDA565642A8}"/>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E4A84A47-A22F-C529-6819-85320014F5BB}"/>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9</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1E879D50-1A44-5F01-3A6F-62722E319B57}"/>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57A1881A-BB05-DCDB-86A1-EECD53986EF7}"/>
              </a:ext>
            </a:extLst>
          </p:cNvPr>
          <p:cNvGraphicFramePr/>
          <p:nvPr>
            <p:custDataLst>
              <p:tags r:id="rId1"/>
            </p:custDataLst>
            <p:extLst>
              <p:ext uri="{D42A27DB-BD31-4B8C-83A1-F6EECF244321}">
                <p14:modId xmlns:p14="http://schemas.microsoft.com/office/powerpoint/2010/main" val="445102465"/>
              </p:ext>
            </p:extLst>
          </p:nvPr>
        </p:nvGraphicFramePr>
        <p:xfrm>
          <a:off x="477999" y="1407083"/>
          <a:ext cx="10960965" cy="3451783"/>
        </p:xfrm>
        <a:graphic>
          <a:graphicData uri="http://schemas.openxmlformats.org/drawingml/2006/table">
            <a:tbl>
              <a:tblPr firstRow="1" bandRow="1">
                <a:tableStyleId>{5C22544A-7EE6-4342-B048-85BDC9FD1C3A}</a:tableStyleId>
              </a:tblPr>
              <a:tblGrid>
                <a:gridCol w="3826996">
                  <a:extLst>
                    <a:ext uri="{9D8B030D-6E8A-4147-A177-3AD203B41FA5}">
                      <a16:colId xmlns:a16="http://schemas.microsoft.com/office/drawing/2014/main" val="20000"/>
                    </a:ext>
                  </a:extLst>
                </a:gridCol>
                <a:gridCol w="2403466">
                  <a:extLst>
                    <a:ext uri="{9D8B030D-6E8A-4147-A177-3AD203B41FA5}">
                      <a16:colId xmlns:a16="http://schemas.microsoft.com/office/drawing/2014/main" val="20001"/>
                    </a:ext>
                  </a:extLst>
                </a:gridCol>
                <a:gridCol w="4730503">
                  <a:extLst>
                    <a:ext uri="{9D8B030D-6E8A-4147-A177-3AD203B41FA5}">
                      <a16:colId xmlns:a16="http://schemas.microsoft.com/office/drawing/2014/main" val="20002"/>
                    </a:ext>
                  </a:extLst>
                </a:gridCol>
              </a:tblGrid>
              <a:tr h="840819">
                <a:tc>
                  <a:txBody>
                    <a:bodyPr/>
                    <a:lstStyle/>
                    <a:p>
                      <a:pPr>
                        <a:buNone/>
                      </a:pPr>
                      <a:r>
                        <a:rPr lang="fr-FR" altLang="en-US" sz="1600" dirty="0"/>
                        <a:t>Activité prévue dans le PAO du PEV en 2025</a:t>
                      </a:r>
                    </a:p>
                  </a:txBody>
                  <a:tcPr/>
                </a:tc>
                <a:tc>
                  <a:txBody>
                    <a:bodyPr/>
                    <a:lstStyle/>
                    <a:p>
                      <a:pPr>
                        <a:buNone/>
                      </a:pPr>
                      <a:r>
                        <a:rPr lang="fr-FR" altLang="en-US" sz="1600" dirty="0"/>
                        <a:t>Niveau de réalisation</a:t>
                      </a:r>
                    </a:p>
                  </a:txBody>
                  <a:tcPr/>
                </a:tc>
                <a:tc>
                  <a:txBody>
                    <a:bodyPr/>
                    <a:lstStyle/>
                    <a:p>
                      <a:pPr>
                        <a:buNone/>
                      </a:pPr>
                      <a:r>
                        <a:rPr lang="fr-FR" altLang="en-US" sz="1600" dirty="0"/>
                        <a:t>Commentaire</a:t>
                      </a:r>
                    </a:p>
                  </a:txBody>
                  <a:tcPr/>
                </a:tc>
                <a:extLst>
                  <a:ext uri="{0D108BD9-81ED-4DB2-BD59-A6C34878D82A}">
                    <a16:rowId xmlns:a16="http://schemas.microsoft.com/office/drawing/2014/main" val="10000"/>
                  </a:ext>
                </a:extLst>
              </a:tr>
              <a:tr h="2610964">
                <a:tc>
                  <a:txBody>
                    <a:bodyPr/>
                    <a:lstStyle/>
                    <a:p>
                      <a:pPr>
                        <a:buNone/>
                      </a:pPr>
                      <a:r>
                        <a:rPr lang="fr-FR" altLang="en-US" sz="1600" dirty="0"/>
                        <a:t>Accompagner les organes de PARTICOM (CAC, CODESA, UCODESA) pour l’identification, suivi et récupération porte à porte des EZD et SV à l’aide des l’outils papiers ou des téléphones/tablettes​ </a:t>
                      </a:r>
                    </a:p>
                  </a:txBody>
                  <a:tcPr/>
                </a:tc>
                <a:tc>
                  <a:txBody>
                    <a:bodyPr/>
                    <a:lstStyle/>
                    <a:p>
                      <a:pPr>
                        <a:buNone/>
                      </a:pPr>
                      <a:r>
                        <a:rPr lang="fr-FR" altLang="en-US" sz="1600" dirty="0"/>
                        <a:t>78%</a:t>
                      </a:r>
                    </a:p>
                  </a:txBody>
                  <a:tcPr>
                    <a:solidFill>
                      <a:srgbClr val="FFFF00"/>
                    </a:solidFill>
                  </a:tcPr>
                </a:tc>
                <a:tc>
                  <a:txBody>
                    <a:bodyPr/>
                    <a:lstStyle/>
                    <a:p>
                      <a:pPr>
                        <a:buNone/>
                      </a:pPr>
                      <a:r>
                        <a:rPr lang="fr-FR" altLang="en-US" sz="1600" b="1" dirty="0"/>
                        <a:t>Récupération sur papier et rétro-saisie DHIS2 Tracker</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fr-FR" sz="1600" b="0" i="0" u="none" strike="noStrike" cap="none" dirty="0">
                          <a:solidFill>
                            <a:srgbClr val="000000"/>
                          </a:solidFill>
                          <a:effectLst/>
                          <a:latin typeface="+mn-lt"/>
                          <a:ea typeface="Times New Roman"/>
                          <a:cs typeface="Arial"/>
                          <a:sym typeface="Times New Roman"/>
                        </a:rPr>
                        <a:t>Formation de 2679 IT, 2679 CODESA, 272 AC&amp; Data M des ZS sur DHIS2 Tracker</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fr-FR" sz="1600" b="0" i="0" u="none" strike="noStrike" cap="none" dirty="0">
                          <a:solidFill>
                            <a:srgbClr val="000000"/>
                          </a:solidFill>
                          <a:effectLst/>
                          <a:latin typeface="+mn-lt"/>
                          <a:ea typeface="Times New Roman"/>
                          <a:cs typeface="Arial"/>
                          <a:sym typeface="Times New Roman"/>
                        </a:rPr>
                        <a:t>77% (26855/35003) de CAC suivis/accompagnés par les OAC dans la récupération des enfants </a:t>
                      </a:r>
                      <a:endParaRPr lang="fr-FR" altLang="en-US" sz="1600" dirty="0"/>
                    </a:p>
                  </a:txBody>
                  <a:tcPr/>
                </a:tc>
                <a:extLst>
                  <a:ext uri="{0D108BD9-81ED-4DB2-BD59-A6C34878D82A}">
                    <a16:rowId xmlns:a16="http://schemas.microsoft.com/office/drawing/2014/main" val="2700919002"/>
                  </a:ext>
                </a:extLst>
              </a:tr>
            </a:tbl>
          </a:graphicData>
        </a:graphic>
      </p:graphicFrame>
    </p:spTree>
    <p:extLst>
      <p:ext uri="{BB962C8B-B14F-4D97-AF65-F5344CB8AC3E}">
        <p14:creationId xmlns:p14="http://schemas.microsoft.com/office/powerpoint/2010/main" val="1540194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247534B4-7758-26EA-5735-B88F8AA8DA37}"/>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9D066AB5-F85E-3A7D-65FF-A0C4DA357D05}"/>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 majeures de l’année</a:t>
            </a:r>
            <a:r>
              <a:rPr lang="fr-FR" alt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en lien avec les activités planifiées dans le PAO du PEV</a:t>
            </a: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863BC875-1BC5-5933-23ED-2737C525DBD0}"/>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70B3879D-81F8-4390-1AFB-2E6855D8FC38}"/>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E3A4C424-9C9F-E441-B874-4CDA9030F0B5}"/>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10</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8568758E-059F-EFFF-0519-56C07EEC4577}"/>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D8399967-B37C-41DF-8B6D-771A7AEAB678}"/>
              </a:ext>
            </a:extLst>
          </p:cNvPr>
          <p:cNvGraphicFramePr/>
          <p:nvPr>
            <p:custDataLst>
              <p:tags r:id="rId1"/>
            </p:custDataLst>
            <p:extLst>
              <p:ext uri="{D42A27DB-BD31-4B8C-83A1-F6EECF244321}">
                <p14:modId xmlns:p14="http://schemas.microsoft.com/office/powerpoint/2010/main" val="3799898092"/>
              </p:ext>
            </p:extLst>
          </p:nvPr>
        </p:nvGraphicFramePr>
        <p:xfrm>
          <a:off x="457200" y="1524000"/>
          <a:ext cx="10996900" cy="3460115"/>
        </p:xfrm>
        <a:graphic>
          <a:graphicData uri="http://schemas.openxmlformats.org/drawingml/2006/table">
            <a:tbl>
              <a:tblPr firstRow="1" bandRow="1">
                <a:tableStyleId>{5C22544A-7EE6-4342-B048-85BDC9FD1C3A}</a:tableStyleId>
              </a:tblPr>
              <a:tblGrid>
                <a:gridCol w="3962195">
                  <a:extLst>
                    <a:ext uri="{9D8B030D-6E8A-4147-A177-3AD203B41FA5}">
                      <a16:colId xmlns:a16="http://schemas.microsoft.com/office/drawing/2014/main" val="20000"/>
                    </a:ext>
                  </a:extLst>
                </a:gridCol>
                <a:gridCol w="2393945">
                  <a:extLst>
                    <a:ext uri="{9D8B030D-6E8A-4147-A177-3AD203B41FA5}">
                      <a16:colId xmlns:a16="http://schemas.microsoft.com/office/drawing/2014/main" val="20001"/>
                    </a:ext>
                  </a:extLst>
                </a:gridCol>
                <a:gridCol w="4640760">
                  <a:extLst>
                    <a:ext uri="{9D8B030D-6E8A-4147-A177-3AD203B41FA5}">
                      <a16:colId xmlns:a16="http://schemas.microsoft.com/office/drawing/2014/main" val="20002"/>
                    </a:ext>
                  </a:extLst>
                </a:gridCol>
              </a:tblGrid>
              <a:tr h="960755">
                <a:tc>
                  <a:txBody>
                    <a:bodyPr/>
                    <a:lstStyle/>
                    <a:p>
                      <a:pPr>
                        <a:buNone/>
                      </a:pPr>
                      <a:r>
                        <a:rPr lang="fr-FR" altLang="en-US" dirty="0"/>
                        <a:t>Activité prévue dans le PAO du PEV en 2025</a:t>
                      </a:r>
                    </a:p>
                  </a:txBody>
                  <a:tcPr/>
                </a:tc>
                <a:tc>
                  <a:txBody>
                    <a:bodyPr/>
                    <a:lstStyle/>
                    <a:p>
                      <a:pPr>
                        <a:buNone/>
                      </a:pPr>
                      <a:r>
                        <a:rPr lang="fr-FR" altLang="en-US" dirty="0"/>
                        <a:t>Niveau de réalisation</a:t>
                      </a:r>
                    </a:p>
                  </a:txBody>
                  <a:tcPr/>
                </a:tc>
                <a:tc>
                  <a:txBody>
                    <a:bodyPr/>
                    <a:lstStyle/>
                    <a:p>
                      <a:pPr>
                        <a:buNone/>
                      </a:pPr>
                      <a:r>
                        <a:rPr lang="fr-FR" altLang="en-US" dirty="0"/>
                        <a:t>Commentaire</a:t>
                      </a:r>
                    </a:p>
                  </a:txBody>
                  <a:tcPr/>
                </a:tc>
                <a:extLst>
                  <a:ext uri="{0D108BD9-81ED-4DB2-BD59-A6C34878D82A}">
                    <a16:rowId xmlns:a16="http://schemas.microsoft.com/office/drawing/2014/main" val="10000"/>
                  </a:ext>
                </a:extLst>
              </a:tr>
              <a:tr h="395605">
                <a:tc>
                  <a:txBody>
                    <a:bodyPr/>
                    <a:lstStyle/>
                    <a:p>
                      <a:pPr>
                        <a:buNone/>
                      </a:pPr>
                      <a:r>
                        <a:rPr lang="fr-FR" altLang="en-US" sz="1600" dirty="0">
                          <a:solidFill>
                            <a:schemeClr val="tx1"/>
                          </a:solidFill>
                        </a:rPr>
                        <a:t>Apporter un appui technique et financier aux provinces pour le renforcement de l'engagement communautaires à travers les organes de PARTICOM (CAC, CODESA), les plates formes des usagers et les PNT </a:t>
                      </a:r>
                    </a:p>
                  </a:txBody>
                  <a:tcPr/>
                </a:tc>
                <a:tc>
                  <a:txBody>
                    <a:bodyPr/>
                    <a:lstStyle/>
                    <a:p>
                      <a:pPr>
                        <a:buNone/>
                      </a:pPr>
                      <a:r>
                        <a:rPr lang="fr-FR" altLang="en-US" sz="1600" dirty="0">
                          <a:solidFill>
                            <a:schemeClr val="tx1"/>
                          </a:solidFill>
                        </a:rPr>
                        <a:t>100%</a:t>
                      </a:r>
                    </a:p>
                  </a:txBody>
                  <a:tcPr>
                    <a:solidFill>
                      <a:srgbClr val="00B050"/>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fr-FR" sz="1600" kern="1200" dirty="0">
                          <a:solidFill>
                            <a:schemeClr val="tx1"/>
                          </a:solidFill>
                          <a:latin typeface="+mn-lt"/>
                          <a:ea typeface="+mn-ea"/>
                          <a:cs typeface="+mn-cs"/>
                          <a:sym typeface="Times New Roman"/>
                        </a:rPr>
                        <a:t>Motivation des RECO à travers le financement de 2679 AGR communautaire financés et 8037 membres de CODESA formés en gestion des AGR</a:t>
                      </a:r>
                    </a:p>
                  </a:txBody>
                  <a:tcPr/>
                </a:tc>
                <a:extLst>
                  <a:ext uri="{0D108BD9-81ED-4DB2-BD59-A6C34878D82A}">
                    <a16:rowId xmlns:a16="http://schemas.microsoft.com/office/drawing/2014/main" val="4100138237"/>
                  </a:ext>
                </a:extLst>
              </a:tr>
              <a:tr h="395605">
                <a:tc>
                  <a:txBody>
                    <a:bodyPr/>
                    <a:lstStyle/>
                    <a:p>
                      <a:pPr>
                        <a:buNone/>
                      </a:pPr>
                      <a:r>
                        <a:rPr lang="fr-FR" altLang="en-US" dirty="0">
                          <a:solidFill>
                            <a:schemeClr val="tx1"/>
                          </a:solidFill>
                        </a:rPr>
                        <a:t>Sensibiliser la communauté à travers les SMS en faveur de la vaccination​ </a:t>
                      </a:r>
                    </a:p>
                  </a:txBody>
                  <a:tcPr/>
                </a:tc>
                <a:tc>
                  <a:txBody>
                    <a:bodyPr/>
                    <a:lstStyle/>
                    <a:p>
                      <a:pPr>
                        <a:buNone/>
                      </a:pPr>
                      <a:r>
                        <a:rPr lang="fr-FR" altLang="en-US" dirty="0">
                          <a:solidFill>
                            <a:schemeClr val="tx1"/>
                          </a:solidFill>
                        </a:rPr>
                        <a:t>100%</a:t>
                      </a:r>
                    </a:p>
                  </a:txBody>
                  <a:tcPr>
                    <a:solidFill>
                      <a:srgbClr val="00B050"/>
                    </a:solidFill>
                  </a:tcPr>
                </a:tc>
                <a:tc>
                  <a:txBody>
                    <a:bodyPr/>
                    <a:lstStyle/>
                    <a:p>
                      <a:pPr>
                        <a:buNone/>
                      </a:pPr>
                      <a:r>
                        <a:rPr lang="fr-FR" altLang="en-US" dirty="0">
                          <a:solidFill>
                            <a:schemeClr val="tx1"/>
                          </a:solidFill>
                        </a:rPr>
                        <a:t>4 000 947 SMS envoyés en français et 4 langues nationales </a:t>
                      </a:r>
                      <a:r>
                        <a:rPr lang="fr-FR" sz="1800" b="0" i="0" u="none" strike="noStrike" cap="none" dirty="0">
                          <a:solidFill>
                            <a:schemeClr val="tx1"/>
                          </a:solidFill>
                          <a:effectLst/>
                          <a:latin typeface="+mn-lt"/>
                          <a:ea typeface="Times New Roman"/>
                          <a:cs typeface="Arial"/>
                          <a:sym typeface="Times New Roman"/>
                        </a:rPr>
                        <a:t>pour rappels de RDV des enfants rattrapés (</a:t>
                      </a:r>
                      <a:r>
                        <a:rPr lang="fr-FR" altLang="en-US" dirty="0">
                          <a:solidFill>
                            <a:schemeClr val="tx1"/>
                          </a:solidFill>
                        </a:rPr>
                        <a:t>11 DPS </a:t>
                      </a:r>
                      <a:r>
                        <a:rPr lang="fr-FR" sz="1800" b="0" i="0" u="none" strike="noStrike" cap="none" dirty="0">
                          <a:solidFill>
                            <a:schemeClr val="tx1"/>
                          </a:solidFill>
                          <a:effectLst/>
                          <a:latin typeface="+mn-lt"/>
                          <a:ea typeface="Times New Roman"/>
                          <a:cs typeface="Arial"/>
                          <a:sym typeface="Times New Roman"/>
                        </a:rPr>
                        <a:t>étendu aux 26 DPS) </a:t>
                      </a:r>
                      <a:r>
                        <a:rPr lang="fr-FR" altLang="en-US" dirty="0">
                          <a:solidFill>
                            <a:schemeClr val="tx1"/>
                          </a:solidFill>
                        </a:rPr>
                        <a:t>(Routine &amp; Campagne)</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628235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 majeures de l’année</a:t>
            </a:r>
            <a:r>
              <a:rPr lang="fr-FR" alt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en lien avec les activités planifiées dans le PAO du PEV</a:t>
            </a: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11</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extLst>
              <p:ext uri="{D42A27DB-BD31-4B8C-83A1-F6EECF244321}">
                <p14:modId xmlns:p14="http://schemas.microsoft.com/office/powerpoint/2010/main" val="1814927687"/>
              </p:ext>
            </p:extLst>
          </p:nvPr>
        </p:nvGraphicFramePr>
        <p:xfrm>
          <a:off x="457200" y="1524000"/>
          <a:ext cx="11053482" cy="4161155"/>
        </p:xfrm>
        <a:graphic>
          <a:graphicData uri="http://schemas.openxmlformats.org/drawingml/2006/table">
            <a:tbl>
              <a:tblPr firstRow="1" bandRow="1">
                <a:tableStyleId>{5C22544A-7EE6-4342-B048-85BDC9FD1C3A}</a:tableStyleId>
              </a:tblPr>
              <a:tblGrid>
                <a:gridCol w="4320988">
                  <a:extLst>
                    <a:ext uri="{9D8B030D-6E8A-4147-A177-3AD203B41FA5}">
                      <a16:colId xmlns:a16="http://schemas.microsoft.com/office/drawing/2014/main" val="20000"/>
                    </a:ext>
                  </a:extLst>
                </a:gridCol>
                <a:gridCol w="2232212">
                  <a:extLst>
                    <a:ext uri="{9D8B030D-6E8A-4147-A177-3AD203B41FA5}">
                      <a16:colId xmlns:a16="http://schemas.microsoft.com/office/drawing/2014/main" val="20001"/>
                    </a:ext>
                  </a:extLst>
                </a:gridCol>
                <a:gridCol w="4500282">
                  <a:extLst>
                    <a:ext uri="{9D8B030D-6E8A-4147-A177-3AD203B41FA5}">
                      <a16:colId xmlns:a16="http://schemas.microsoft.com/office/drawing/2014/main" val="20002"/>
                    </a:ext>
                  </a:extLst>
                </a:gridCol>
              </a:tblGrid>
              <a:tr h="960755">
                <a:tc>
                  <a:txBody>
                    <a:bodyPr/>
                    <a:lstStyle/>
                    <a:p>
                      <a:pPr>
                        <a:buNone/>
                      </a:pPr>
                      <a:r>
                        <a:rPr lang="fr-FR" altLang="en-US" dirty="0"/>
                        <a:t>Activité prévue dans le PAO du PEV en 2025</a:t>
                      </a:r>
                    </a:p>
                  </a:txBody>
                  <a:tcPr/>
                </a:tc>
                <a:tc>
                  <a:txBody>
                    <a:bodyPr/>
                    <a:lstStyle/>
                    <a:p>
                      <a:pPr>
                        <a:buNone/>
                      </a:pPr>
                      <a:r>
                        <a:rPr lang="fr-FR" altLang="en-US"/>
                        <a:t>Niveau de réalisation</a:t>
                      </a:r>
                    </a:p>
                  </a:txBody>
                  <a:tcPr/>
                </a:tc>
                <a:tc>
                  <a:txBody>
                    <a:bodyPr/>
                    <a:lstStyle/>
                    <a:p>
                      <a:pPr>
                        <a:buNone/>
                      </a:pPr>
                      <a:r>
                        <a:rPr lang="fr-FR" altLang="en-US" dirty="0"/>
                        <a:t>Commentaire</a:t>
                      </a:r>
                    </a:p>
                  </a:txBody>
                  <a:tcPr/>
                </a:tc>
                <a:extLst>
                  <a:ext uri="{0D108BD9-81ED-4DB2-BD59-A6C34878D82A}">
                    <a16:rowId xmlns:a16="http://schemas.microsoft.com/office/drawing/2014/main" val="10000"/>
                  </a:ext>
                </a:extLst>
              </a:tr>
              <a:tr h="395605">
                <a:tc>
                  <a:txBody>
                    <a:bodyPr/>
                    <a:lstStyle/>
                    <a:p>
                      <a:pPr>
                        <a:buNone/>
                      </a:pPr>
                      <a:r>
                        <a:rPr lang="fr-FR" altLang="en-US" dirty="0">
                          <a:solidFill>
                            <a:schemeClr val="tx1"/>
                          </a:solidFill>
                        </a:rPr>
                        <a:t>Produire, rendre disponibles et diffuser les outils, supports/matériels de communication par les acteurs communautaires en faveur de la vaccination ​</a:t>
                      </a:r>
                    </a:p>
                  </a:txBody>
                  <a:tcPr/>
                </a:tc>
                <a:tc>
                  <a:txBody>
                    <a:bodyPr/>
                    <a:lstStyle/>
                    <a:p>
                      <a:pPr>
                        <a:buNone/>
                      </a:pPr>
                      <a:r>
                        <a:rPr lang="fr-FR" altLang="en-US" dirty="0">
                          <a:solidFill>
                            <a:schemeClr val="tx1"/>
                          </a:solidFill>
                        </a:rPr>
                        <a:t>60%</a:t>
                      </a:r>
                    </a:p>
                  </a:txBody>
                  <a:tcPr>
                    <a:solidFill>
                      <a:srgbClr val="FFFF00"/>
                    </a:solidFill>
                  </a:tcPr>
                </a:tc>
                <a:tc>
                  <a:txBody>
                    <a:bodyPr/>
                    <a:lstStyle/>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
                        <a:tabLst/>
                        <a:defRPr/>
                      </a:pPr>
                      <a:r>
                        <a:rPr lang="fr-FR" sz="1800" b="0" i="0" u="none" strike="noStrike" cap="none" dirty="0">
                          <a:solidFill>
                            <a:schemeClr val="tx1"/>
                          </a:solidFill>
                          <a:effectLst/>
                          <a:latin typeface="+mn-lt"/>
                          <a:ea typeface="Times New Roman"/>
                          <a:cs typeface="Arial"/>
                          <a:sym typeface="Times New Roman"/>
                        </a:rPr>
                        <a:t>7496 Mégaphones et  BI distribués dans 11 DPS </a:t>
                      </a: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
                        <a:tabLst/>
                        <a:defRPr/>
                      </a:pPr>
                      <a:r>
                        <a:rPr lang="fr-FR" sz="1800" b="0" i="0" u="none" strike="noStrike" cap="none" dirty="0">
                          <a:solidFill>
                            <a:schemeClr val="tx1"/>
                          </a:solidFill>
                          <a:effectLst/>
                          <a:latin typeface="+mn-lt"/>
                          <a:ea typeface="Times New Roman"/>
                          <a:cs typeface="Arial"/>
                          <a:sym typeface="Times New Roman"/>
                        </a:rPr>
                        <a:t>Dotation des chasubles 149920 chasubles aux RECO</a:t>
                      </a: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
                        <a:tabLst/>
                        <a:defRPr/>
                      </a:pPr>
                      <a:r>
                        <a:rPr lang="fr-FR" sz="1800" b="0" i="0" u="none" strike="noStrike" cap="none" dirty="0">
                          <a:solidFill>
                            <a:schemeClr val="tx1"/>
                          </a:solidFill>
                          <a:effectLst/>
                          <a:latin typeface="+mn-lt"/>
                          <a:ea typeface="Times New Roman"/>
                          <a:cs typeface="Arial"/>
                          <a:sym typeface="Times New Roman"/>
                        </a:rPr>
                        <a:t>46781 CAC dotés en outils papiers </a:t>
                      </a: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
                        <a:tabLst/>
                        <a:defRPr/>
                      </a:pPr>
                      <a:r>
                        <a:rPr lang="fr-FR" sz="1800" b="0" i="0" u="none" strike="noStrike" cap="none" dirty="0">
                          <a:solidFill>
                            <a:schemeClr val="tx1"/>
                          </a:solidFill>
                          <a:effectLst/>
                          <a:latin typeface="+mn-lt"/>
                          <a:ea typeface="Times New Roman"/>
                          <a:cs typeface="Arial"/>
                          <a:sym typeface="Times New Roman"/>
                        </a:rPr>
                        <a:t>27256 téléphones Android (CODESA: 2679 et CAC: 24577)</a:t>
                      </a:r>
                      <a:endParaRPr lang="fr-FR" altLang="en-US" dirty="0">
                        <a:solidFill>
                          <a:schemeClr val="tx1"/>
                        </a:solidFill>
                      </a:endParaRPr>
                    </a:p>
                  </a:txBody>
                  <a:tcPr/>
                </a:tc>
                <a:extLst>
                  <a:ext uri="{0D108BD9-81ED-4DB2-BD59-A6C34878D82A}">
                    <a16:rowId xmlns:a16="http://schemas.microsoft.com/office/drawing/2014/main" val="10002"/>
                  </a:ext>
                </a:extLst>
              </a:tr>
              <a:tr h="395605">
                <a:tc>
                  <a:txBody>
                    <a:bodyPr/>
                    <a:lstStyle/>
                    <a:p>
                      <a:pPr>
                        <a:buNone/>
                      </a:pPr>
                      <a:r>
                        <a:rPr lang="fr-FR" altLang="en-US" dirty="0">
                          <a:solidFill>
                            <a:schemeClr val="tx1"/>
                          </a:solidFill>
                        </a:rPr>
                        <a:t>Produire et diffuser les émissions à travers les radios de proximité, des marchés et radios à audience provinciale sur la vaccination​ </a:t>
                      </a:r>
                    </a:p>
                  </a:txBody>
                  <a:tcPr/>
                </a:tc>
                <a:tc>
                  <a:txBody>
                    <a:bodyPr/>
                    <a:lstStyle/>
                    <a:p>
                      <a:pPr>
                        <a:buNone/>
                      </a:pPr>
                      <a:r>
                        <a:rPr lang="fr-FR" altLang="en-US" dirty="0">
                          <a:solidFill>
                            <a:schemeClr val="tx1"/>
                          </a:solidFill>
                        </a:rPr>
                        <a:t>86%</a:t>
                      </a:r>
                    </a:p>
                  </a:txBody>
                  <a:tcPr>
                    <a:solidFill>
                      <a:srgbClr val="FFFF00"/>
                    </a:solidFill>
                  </a:tcPr>
                </a:tc>
                <a:tc>
                  <a:txBody>
                    <a:bodyPr/>
                    <a:lstStyle/>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
                        <a:tabLst/>
                        <a:defRPr/>
                      </a:pPr>
                      <a:r>
                        <a:rPr lang="fr-FR" sz="1800" b="0" i="0" u="none" strike="noStrike" kern="1200" cap="none" dirty="0">
                          <a:solidFill>
                            <a:schemeClr val="tx1"/>
                          </a:solidFill>
                          <a:effectLst/>
                          <a:latin typeface="+mn-lt"/>
                          <a:ea typeface="Times New Roman"/>
                          <a:cs typeface="Arial"/>
                          <a:sym typeface="Times New Roman"/>
                        </a:rPr>
                        <a:t>49579 spots et 12149 émissions sur la vaccination diffusés à travers 115 radios partenaires</a:t>
                      </a:r>
                    </a:p>
                  </a:txBody>
                  <a:tcPr/>
                </a:tc>
                <a:extLst>
                  <a:ext uri="{0D108BD9-81ED-4DB2-BD59-A6C34878D82A}">
                    <a16:rowId xmlns:a16="http://schemas.microsoft.com/office/drawing/2014/main" val="162932856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DBEEF68B-2986-2722-2522-737E13021CB5}"/>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52EA9E16-CB29-4620-75B2-D7D7A3F67333}"/>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 majeures de l’année</a:t>
            </a:r>
            <a:r>
              <a:rPr lang="fr-FR" alt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en lien avec les activités planifiées dans le PAO du PEV</a:t>
            </a: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9C3F1D03-DEDA-6D4E-6E47-89A193A34828}"/>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AED31057-973B-A625-51FE-279C9B567A92}"/>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ADB2B97E-543D-E53F-5A11-2D32A7E3C778}"/>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12</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3D8DB47B-6FD9-220C-DD8B-EBCA1EEE6F33}"/>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2BBF4FDA-737C-BA76-E809-9ADCFF0DE0BF}"/>
              </a:ext>
            </a:extLst>
          </p:cNvPr>
          <p:cNvGraphicFramePr/>
          <p:nvPr>
            <p:custDataLst>
              <p:tags r:id="rId1"/>
            </p:custDataLst>
            <p:extLst>
              <p:ext uri="{D42A27DB-BD31-4B8C-83A1-F6EECF244321}">
                <p14:modId xmlns:p14="http://schemas.microsoft.com/office/powerpoint/2010/main" val="724650541"/>
              </p:ext>
            </p:extLst>
          </p:nvPr>
        </p:nvGraphicFramePr>
        <p:xfrm>
          <a:off x="456900" y="1299882"/>
          <a:ext cx="11225500" cy="4043083"/>
        </p:xfrm>
        <a:graphic>
          <a:graphicData uri="http://schemas.openxmlformats.org/drawingml/2006/table">
            <a:tbl>
              <a:tblPr firstRow="1" bandRow="1">
                <a:tableStyleId>{5C22544A-7EE6-4342-B048-85BDC9FD1C3A}</a:tableStyleId>
              </a:tblPr>
              <a:tblGrid>
                <a:gridCol w="4324254">
                  <a:extLst>
                    <a:ext uri="{9D8B030D-6E8A-4147-A177-3AD203B41FA5}">
                      <a16:colId xmlns:a16="http://schemas.microsoft.com/office/drawing/2014/main" val="20000"/>
                    </a:ext>
                  </a:extLst>
                </a:gridCol>
                <a:gridCol w="1623835">
                  <a:extLst>
                    <a:ext uri="{9D8B030D-6E8A-4147-A177-3AD203B41FA5}">
                      <a16:colId xmlns:a16="http://schemas.microsoft.com/office/drawing/2014/main" val="20001"/>
                    </a:ext>
                  </a:extLst>
                </a:gridCol>
                <a:gridCol w="5277411">
                  <a:extLst>
                    <a:ext uri="{9D8B030D-6E8A-4147-A177-3AD203B41FA5}">
                      <a16:colId xmlns:a16="http://schemas.microsoft.com/office/drawing/2014/main" val="20002"/>
                    </a:ext>
                  </a:extLst>
                </a:gridCol>
              </a:tblGrid>
              <a:tr h="690283">
                <a:tc>
                  <a:txBody>
                    <a:bodyPr/>
                    <a:lstStyle/>
                    <a:p>
                      <a:pPr>
                        <a:buNone/>
                      </a:pPr>
                      <a:r>
                        <a:rPr lang="fr-FR" altLang="en-US" sz="1600" dirty="0"/>
                        <a:t>Activité prévue dans le PAO du PEV en 2025</a:t>
                      </a:r>
                    </a:p>
                  </a:txBody>
                  <a:tcPr/>
                </a:tc>
                <a:tc>
                  <a:txBody>
                    <a:bodyPr/>
                    <a:lstStyle/>
                    <a:p>
                      <a:pPr>
                        <a:buNone/>
                      </a:pPr>
                      <a:r>
                        <a:rPr lang="fr-FR" altLang="en-US" sz="1600" dirty="0"/>
                        <a:t>Niveau de réalisation</a:t>
                      </a:r>
                    </a:p>
                  </a:txBody>
                  <a:tcPr/>
                </a:tc>
                <a:tc>
                  <a:txBody>
                    <a:bodyPr/>
                    <a:lstStyle/>
                    <a:p>
                      <a:pPr>
                        <a:buNone/>
                      </a:pPr>
                      <a:r>
                        <a:rPr lang="fr-FR" altLang="en-US" sz="1600" dirty="0"/>
                        <a:t>Commentaire</a:t>
                      </a:r>
                    </a:p>
                  </a:txBody>
                  <a:tcPr/>
                </a:tc>
                <a:extLst>
                  <a:ext uri="{0D108BD9-81ED-4DB2-BD59-A6C34878D82A}">
                    <a16:rowId xmlns:a16="http://schemas.microsoft.com/office/drawing/2014/main" val="10000"/>
                  </a:ext>
                </a:extLst>
              </a:tr>
              <a:tr h="394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600" dirty="0"/>
                        <a:t>Apporter un appui technique et financier aux plates formes des usagers dans l'organisation de réunions de plaidoyer auprès des APA en faveur des EZD et la tenue des dialogues communautaires (BCP/HCD) en impliquant les leaders femmes/maman maraichères;, les jeunes et les leaders communautaires​</a:t>
                      </a:r>
                    </a:p>
                  </a:txBody>
                  <a:tcPr/>
                </a:tc>
                <a:tc>
                  <a:txBody>
                    <a:bodyPr/>
                    <a:lstStyle/>
                    <a:p>
                      <a:pPr>
                        <a:buNone/>
                      </a:pPr>
                      <a:r>
                        <a:rPr lang="fr-FR" altLang="en-US" sz="1600" dirty="0"/>
                        <a:t>50%</a:t>
                      </a:r>
                    </a:p>
                  </a:txBody>
                  <a:tcPr>
                    <a:solidFill>
                      <a:srgbClr val="FFFF00"/>
                    </a:solidFill>
                  </a:tcPr>
                </a:tc>
                <a:tc>
                  <a:txBody>
                    <a:bodyPr/>
                    <a:lstStyle/>
                    <a:p>
                      <a:pPr>
                        <a:buNone/>
                      </a:pPr>
                      <a:r>
                        <a:rPr lang="fr-FR" altLang="en-US" sz="1600" dirty="0"/>
                        <a:t>Réalisé avec l’appui de REPACAV dans 2/4 DPS prioritaires (Tshopo et Kasaï oriental)</a:t>
                      </a:r>
                    </a:p>
                    <a:p>
                      <a:pPr>
                        <a:buNone/>
                      </a:pPr>
                      <a:r>
                        <a:rPr lang="fr-FR" altLang="en-US" sz="1600" dirty="0">
                          <a:solidFill>
                            <a:schemeClr val="tx1"/>
                          </a:solidFill>
                        </a:rPr>
                        <a:t>Mongala et Maniema non réalisé</a:t>
                      </a:r>
                    </a:p>
                  </a:txBody>
                  <a:tcPr/>
                </a:tc>
                <a:extLst>
                  <a:ext uri="{0D108BD9-81ED-4DB2-BD59-A6C34878D82A}">
                    <a16:rowId xmlns:a16="http://schemas.microsoft.com/office/drawing/2014/main" val="2025387586"/>
                  </a:ext>
                </a:extLst>
              </a:tr>
              <a:tr h="394970">
                <a:tc>
                  <a:txBody>
                    <a:bodyPr/>
                    <a:lstStyle/>
                    <a:p>
                      <a:pPr>
                        <a:buNone/>
                      </a:pPr>
                      <a:r>
                        <a:rPr lang="fr-FR" altLang="en-US" sz="1600" dirty="0"/>
                        <a:t>Réaliser semestriellement les supervisions conjointes des activités de la génération de demande, plaidoyer et engagement communautaire pour évaluer les performances réalisées en termes de réduction des enfants ZD et SV dans 15 DPS ​</a:t>
                      </a:r>
                    </a:p>
                  </a:txBody>
                  <a:tcPr/>
                </a:tc>
                <a:tc>
                  <a:txBody>
                    <a:bodyPr/>
                    <a:lstStyle/>
                    <a:p>
                      <a:pPr>
                        <a:buNone/>
                      </a:pPr>
                      <a:r>
                        <a:rPr lang="fr-FR" altLang="en-US" sz="1600" dirty="0"/>
                        <a:t>100%</a:t>
                      </a:r>
                    </a:p>
                  </a:txBody>
                  <a:tcPr>
                    <a:solidFill>
                      <a:srgbClr val="00B050"/>
                    </a:solidFill>
                  </a:tcPr>
                </a:tc>
                <a:tc>
                  <a:txBody>
                    <a:bodyPr/>
                    <a:lstStyle/>
                    <a:p>
                      <a:pPr>
                        <a:buNone/>
                      </a:pPr>
                      <a:r>
                        <a:rPr lang="fr-FR" altLang="en-US" sz="1600" dirty="0">
                          <a:solidFill>
                            <a:schemeClr val="tx1"/>
                          </a:solidFill>
                        </a:rPr>
                        <a:t> 2 missions réalisés dont 1 mission conjointe avec le niveau central (PEV &amp; DGOGSS) </a:t>
                      </a:r>
                      <a:r>
                        <a:rPr lang="fr-FR" altLang="en-US" sz="1600" dirty="0"/>
                        <a:t>réalisée dans 23 Antennes PEV</a:t>
                      </a:r>
                    </a:p>
                  </a:txBody>
                  <a:tcPr/>
                </a:tc>
                <a:extLst>
                  <a:ext uri="{0D108BD9-81ED-4DB2-BD59-A6C34878D82A}">
                    <a16:rowId xmlns:a16="http://schemas.microsoft.com/office/drawing/2014/main" val="2700919002"/>
                  </a:ext>
                </a:extLst>
              </a:tr>
            </a:tbl>
          </a:graphicData>
        </a:graphic>
      </p:graphicFrame>
    </p:spTree>
    <p:extLst>
      <p:ext uri="{BB962C8B-B14F-4D97-AF65-F5344CB8AC3E}">
        <p14:creationId xmlns:p14="http://schemas.microsoft.com/office/powerpoint/2010/main" val="2650548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226B5E3E-0518-4E2F-76FB-1E1165812353}"/>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AEE304A8-9DE2-57FB-5B56-C78E3BBA4045}"/>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 majeures de l’année</a:t>
            </a:r>
            <a:r>
              <a:rPr lang="fr-FR" alt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en lien avec les activités planifiées dans le PAO du PEV</a:t>
            </a: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E6B8DFC0-A35A-B557-68BB-33BD26B71F21}"/>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B0EBAFD0-27A2-F9E4-4D89-CAD5C0378326}"/>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B35CD98E-649D-BCED-9C2E-53FBBB549DA6}"/>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13</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E66A8D7B-75D0-9158-EE54-B1E0FA662D05}"/>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D2AD8B0E-1F19-B0DB-7D4C-8593825B26D8}"/>
              </a:ext>
            </a:extLst>
          </p:cNvPr>
          <p:cNvGraphicFramePr/>
          <p:nvPr>
            <p:custDataLst>
              <p:tags r:id="rId1"/>
            </p:custDataLst>
            <p:extLst>
              <p:ext uri="{D42A27DB-BD31-4B8C-83A1-F6EECF244321}">
                <p14:modId xmlns:p14="http://schemas.microsoft.com/office/powerpoint/2010/main" val="3255462829"/>
              </p:ext>
            </p:extLst>
          </p:nvPr>
        </p:nvGraphicFramePr>
        <p:xfrm>
          <a:off x="457200" y="1524000"/>
          <a:ext cx="11062446" cy="3030071"/>
        </p:xfrm>
        <a:graphic>
          <a:graphicData uri="http://schemas.openxmlformats.org/drawingml/2006/table">
            <a:tbl>
              <a:tblPr firstRow="1" bandRow="1">
                <a:tableStyleId>{5C22544A-7EE6-4342-B048-85BDC9FD1C3A}</a:tableStyleId>
              </a:tblPr>
              <a:tblGrid>
                <a:gridCol w="4231341">
                  <a:extLst>
                    <a:ext uri="{9D8B030D-6E8A-4147-A177-3AD203B41FA5}">
                      <a16:colId xmlns:a16="http://schemas.microsoft.com/office/drawing/2014/main" val="20000"/>
                    </a:ext>
                  </a:extLst>
                </a:gridCol>
                <a:gridCol w="2483224">
                  <a:extLst>
                    <a:ext uri="{9D8B030D-6E8A-4147-A177-3AD203B41FA5}">
                      <a16:colId xmlns:a16="http://schemas.microsoft.com/office/drawing/2014/main" val="20001"/>
                    </a:ext>
                  </a:extLst>
                </a:gridCol>
                <a:gridCol w="4347881">
                  <a:extLst>
                    <a:ext uri="{9D8B030D-6E8A-4147-A177-3AD203B41FA5}">
                      <a16:colId xmlns:a16="http://schemas.microsoft.com/office/drawing/2014/main" val="20002"/>
                    </a:ext>
                  </a:extLst>
                </a:gridCol>
              </a:tblGrid>
              <a:tr h="1354357">
                <a:tc>
                  <a:txBody>
                    <a:bodyPr/>
                    <a:lstStyle/>
                    <a:p>
                      <a:pPr>
                        <a:buNone/>
                      </a:pPr>
                      <a:r>
                        <a:rPr lang="fr-FR" altLang="en-US" dirty="0"/>
                        <a:t>Activité prévue dans le PAO du PEV en 2025</a:t>
                      </a:r>
                    </a:p>
                  </a:txBody>
                  <a:tcPr/>
                </a:tc>
                <a:tc>
                  <a:txBody>
                    <a:bodyPr/>
                    <a:lstStyle/>
                    <a:p>
                      <a:pPr>
                        <a:buNone/>
                      </a:pPr>
                      <a:r>
                        <a:rPr lang="fr-FR" altLang="en-US" dirty="0"/>
                        <a:t>Niveau de réalisation</a:t>
                      </a:r>
                    </a:p>
                  </a:txBody>
                  <a:tcPr/>
                </a:tc>
                <a:tc>
                  <a:txBody>
                    <a:bodyPr/>
                    <a:lstStyle/>
                    <a:p>
                      <a:pPr>
                        <a:buNone/>
                      </a:pPr>
                      <a:r>
                        <a:rPr lang="fr-FR" altLang="en-US" dirty="0"/>
                        <a:t>Commentaire</a:t>
                      </a:r>
                    </a:p>
                  </a:txBody>
                  <a:tcPr/>
                </a:tc>
                <a:extLst>
                  <a:ext uri="{0D108BD9-81ED-4DB2-BD59-A6C34878D82A}">
                    <a16:rowId xmlns:a16="http://schemas.microsoft.com/office/drawing/2014/main" val="10000"/>
                  </a:ext>
                </a:extLst>
              </a:tr>
              <a:tr h="1675714">
                <a:tc>
                  <a:txBody>
                    <a:bodyPr/>
                    <a:lstStyle/>
                    <a:p>
                      <a:pPr>
                        <a:buNone/>
                      </a:pPr>
                      <a:r>
                        <a:rPr lang="fr-FR" altLang="en-US" dirty="0">
                          <a:solidFill>
                            <a:schemeClr val="tx1"/>
                          </a:solidFill>
                        </a:rPr>
                        <a:t>Apporter un appui technique et financier à l'initiative confession religieuse en faveur de l'identification et récupération des EZD et ESV dans 8 ZS de la DPS Kongo Central.​ </a:t>
                      </a:r>
                    </a:p>
                  </a:txBody>
                  <a:tcPr/>
                </a:tc>
                <a:tc>
                  <a:txBody>
                    <a:bodyPr/>
                    <a:lstStyle/>
                    <a:p>
                      <a:pPr>
                        <a:buNone/>
                      </a:pPr>
                      <a:r>
                        <a:rPr lang="fr-FR" altLang="en-US" dirty="0">
                          <a:solidFill>
                            <a:schemeClr val="tx1"/>
                          </a:solidFill>
                        </a:rPr>
                        <a:t>100%</a:t>
                      </a:r>
                    </a:p>
                  </a:txBody>
                  <a:tcPr>
                    <a:solidFill>
                      <a:srgbClr val="00B050"/>
                    </a:solidFill>
                  </a:tcPr>
                </a:tc>
                <a:tc>
                  <a:txBody>
                    <a:bodyPr/>
                    <a:lstStyle/>
                    <a:p>
                      <a:pPr>
                        <a:buNone/>
                      </a:pPr>
                      <a:r>
                        <a:rPr lang="fr-FR" altLang="en-US" dirty="0">
                          <a:solidFill>
                            <a:schemeClr val="tx1"/>
                          </a:solidFill>
                        </a:rPr>
                        <a:t>24 971 EZD/SV récupérés (lieux de culte: 5377, autres lieux publics: 4958, VAD: 14259)​ dans 8 ZS ciblées du Kongo Central de janvier à octobre 2025 </a:t>
                      </a:r>
                    </a:p>
                  </a:txBody>
                  <a:tcPr/>
                </a:tc>
                <a:extLst>
                  <a:ext uri="{0D108BD9-81ED-4DB2-BD59-A6C34878D82A}">
                    <a16:rowId xmlns:a16="http://schemas.microsoft.com/office/drawing/2014/main" val="3397615067"/>
                  </a:ext>
                </a:extLst>
              </a:tr>
            </a:tbl>
          </a:graphicData>
        </a:graphic>
      </p:graphicFrame>
    </p:spTree>
    <p:extLst>
      <p:ext uri="{BB962C8B-B14F-4D97-AF65-F5344CB8AC3E}">
        <p14:creationId xmlns:p14="http://schemas.microsoft.com/office/powerpoint/2010/main" val="513223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alt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Autres r</a:t>
            </a: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éalisations majeures </a:t>
            </a:r>
            <a:r>
              <a:rPr lang="fr-FR" alt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non planifiées dans le PAO du PEV</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14</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extLst>
              <p:ext uri="{D42A27DB-BD31-4B8C-83A1-F6EECF244321}">
                <p14:modId xmlns:p14="http://schemas.microsoft.com/office/powerpoint/2010/main" val="1890181567"/>
              </p:ext>
            </p:extLst>
          </p:nvPr>
        </p:nvGraphicFramePr>
        <p:xfrm>
          <a:off x="457200" y="1524000"/>
          <a:ext cx="10996899" cy="3886835"/>
        </p:xfrm>
        <a:graphic>
          <a:graphicData uri="http://schemas.openxmlformats.org/drawingml/2006/table">
            <a:tbl>
              <a:tblPr firstRow="1" bandRow="1">
                <a:tableStyleId>{5C22544A-7EE6-4342-B048-85BDC9FD1C3A}</a:tableStyleId>
              </a:tblPr>
              <a:tblGrid>
                <a:gridCol w="4034118">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676781">
                  <a:extLst>
                    <a:ext uri="{9D8B030D-6E8A-4147-A177-3AD203B41FA5}">
                      <a16:colId xmlns:a16="http://schemas.microsoft.com/office/drawing/2014/main" val="20002"/>
                    </a:ext>
                  </a:extLst>
                </a:gridCol>
              </a:tblGrid>
              <a:tr h="960755">
                <a:tc>
                  <a:txBody>
                    <a:bodyPr/>
                    <a:lstStyle/>
                    <a:p>
                      <a:pPr>
                        <a:buNone/>
                      </a:pPr>
                      <a:r>
                        <a:rPr lang="fr-FR" altLang="en-US" dirty="0"/>
                        <a:t>Activité prévu dans le PAO du PEV en 2025</a:t>
                      </a:r>
                    </a:p>
                  </a:txBody>
                  <a:tcPr/>
                </a:tc>
                <a:tc>
                  <a:txBody>
                    <a:bodyPr/>
                    <a:lstStyle/>
                    <a:p>
                      <a:pPr>
                        <a:buNone/>
                      </a:pPr>
                      <a:r>
                        <a:rPr lang="fr-FR" altLang="en-US"/>
                        <a:t>Niveau de réalisation</a:t>
                      </a:r>
                    </a:p>
                  </a:txBody>
                  <a:tcPr/>
                </a:tc>
                <a:tc>
                  <a:txBody>
                    <a:bodyPr/>
                    <a:lstStyle/>
                    <a:p>
                      <a:pPr>
                        <a:buNone/>
                      </a:pPr>
                      <a:r>
                        <a:rPr lang="fr-FR" altLang="en-US" dirty="0"/>
                        <a:t>Commentaire</a:t>
                      </a:r>
                    </a:p>
                  </a:txBody>
                  <a:tcPr/>
                </a:tc>
                <a:extLst>
                  <a:ext uri="{0D108BD9-81ED-4DB2-BD59-A6C34878D82A}">
                    <a16:rowId xmlns:a16="http://schemas.microsoft.com/office/drawing/2014/main" val="10000"/>
                  </a:ext>
                </a:extLst>
              </a:tr>
              <a:tr h="395605">
                <a:tc>
                  <a:txBody>
                    <a:bodyPr/>
                    <a:lstStyle/>
                    <a:p>
                      <a:pPr marL="0" lvl="0" indent="0" algn="l" defTabSz="914400" rtl="0" eaLnBrk="1" latinLnBrk="0" hangingPunct="1">
                        <a:spcBef>
                          <a:spcPts val="0"/>
                        </a:spcBef>
                        <a:spcAft>
                          <a:spcPts val="0"/>
                        </a:spcAft>
                        <a:buNone/>
                      </a:pPr>
                      <a:r>
                        <a:rPr lang="fr-FR" sz="1800" kern="1200" dirty="0">
                          <a:solidFill>
                            <a:schemeClr val="tx1"/>
                          </a:solidFill>
                          <a:latin typeface="+mn-lt"/>
                          <a:ea typeface="+mn-ea"/>
                          <a:cs typeface="+mn-cs"/>
                          <a:sym typeface="Arial"/>
                        </a:rPr>
                        <a:t>Formation des CAC/RECO en communication, dénombrement, suivi communautaire et utilisation des outils de collecte des données communautaire dans 6 sur 9 DPS/RSS3 </a:t>
                      </a:r>
                      <a:endParaRPr sz="1800" kern="1200" dirty="0">
                        <a:solidFill>
                          <a:schemeClr val="tx1"/>
                        </a:solidFill>
                        <a:latin typeface="+mn-lt"/>
                        <a:ea typeface="+mn-ea"/>
                        <a:cs typeface="+mn-cs"/>
                        <a:sym typeface="Times New Roman"/>
                      </a:endParaRPr>
                    </a:p>
                  </a:txBody>
                  <a:tcPr marL="28575" marR="28575" marT="19050" marB="19050"/>
                </a:tc>
                <a:tc>
                  <a:txBody>
                    <a:bodyPr/>
                    <a:lstStyle/>
                    <a:p>
                      <a:pPr marL="0" marR="0" lvl="0" indent="0" algn="l" defTabSz="914400" rtl="0" eaLnBrk="1" latinLnBrk="0" hangingPunct="1">
                        <a:lnSpc>
                          <a:spcPct val="100000"/>
                        </a:lnSpc>
                        <a:spcBef>
                          <a:spcPts val="0"/>
                        </a:spcBef>
                        <a:spcAft>
                          <a:spcPts val="0"/>
                        </a:spcAft>
                        <a:buClr>
                          <a:srgbClr val="000000"/>
                        </a:buClr>
                        <a:buFont typeface="Wingdings" panose="05000000000000000000" pitchFamily="2" charset="2"/>
                        <a:buNone/>
                      </a:pPr>
                      <a:r>
                        <a:rPr lang="fr-FR" sz="1800" kern="1200" dirty="0">
                          <a:solidFill>
                            <a:schemeClr val="dk1"/>
                          </a:solidFill>
                          <a:latin typeface="+mn-lt"/>
                          <a:ea typeface="+mn-ea"/>
                          <a:cs typeface="+mn-cs"/>
                          <a:sym typeface="Times New Roman"/>
                        </a:rPr>
                        <a:t>83,3%</a:t>
                      </a:r>
                    </a:p>
                  </a:txBody>
                  <a:tcPr marL="28575" marR="28575" marT="19050" marB="19050">
                    <a:solidFill>
                      <a:srgbClr val="FFFF00"/>
                    </a:solidFill>
                  </a:tcPr>
                </a:tc>
                <a:tc>
                  <a:txBody>
                    <a:bodyPr/>
                    <a:lstStyle/>
                    <a:p>
                      <a:pPr marL="285750" marR="0" lvl="0" indent="-285750" algn="just" rtl="0">
                        <a:lnSpc>
                          <a:spcPct val="100000"/>
                        </a:lnSpc>
                        <a:spcBef>
                          <a:spcPts val="0"/>
                        </a:spcBef>
                        <a:spcAft>
                          <a:spcPts val="0"/>
                        </a:spcAft>
                        <a:buClr>
                          <a:srgbClr val="000000"/>
                        </a:buClr>
                        <a:buFont typeface="Wingdings" panose="05000000000000000000" pitchFamily="2" charset="2"/>
                        <a:buChar char="§"/>
                      </a:pPr>
                      <a:r>
                        <a:rPr lang="fr-FR" sz="1800" b="0" i="0" u="none" strike="noStrike" cap="none" dirty="0">
                          <a:solidFill>
                            <a:srgbClr val="000000"/>
                          </a:solidFill>
                          <a:effectLst/>
                          <a:latin typeface="+mn-lt"/>
                          <a:ea typeface="Times New Roman"/>
                          <a:cs typeface="Times New Roman" panose="02020603050405020304" pitchFamily="18" charset="0"/>
                          <a:sym typeface="Times New Roman"/>
                        </a:rPr>
                        <a:t>37590/42658 (88,1%) de CAC fonctionnels</a:t>
                      </a:r>
                    </a:p>
                    <a:p>
                      <a:pPr marL="285750" marR="0" lvl="0" indent="-285750" algn="just" rtl="0">
                        <a:lnSpc>
                          <a:spcPct val="100000"/>
                        </a:lnSpc>
                        <a:spcBef>
                          <a:spcPts val="0"/>
                        </a:spcBef>
                        <a:spcAft>
                          <a:spcPts val="0"/>
                        </a:spcAft>
                        <a:buClr>
                          <a:srgbClr val="000000"/>
                        </a:buClr>
                        <a:buFont typeface="Wingdings" panose="05000000000000000000" pitchFamily="2" charset="2"/>
                        <a:buChar char="§"/>
                      </a:pPr>
                      <a:r>
                        <a:rPr lang="fr-FR" sz="1800" b="0" i="0" u="none" strike="noStrike" cap="none" dirty="0">
                          <a:solidFill>
                            <a:srgbClr val="000000"/>
                          </a:solidFill>
                          <a:effectLst/>
                          <a:latin typeface="+mn-lt"/>
                          <a:ea typeface="Times New Roman"/>
                          <a:cs typeface="Times New Roman" panose="02020603050405020304" pitchFamily="18" charset="0"/>
                          <a:sym typeface="Times New Roman"/>
                        </a:rPr>
                        <a:t>33801/37527 (90,1%) réunion de CODESA tenues</a:t>
                      </a: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
                        <a:tabLst/>
                        <a:defRPr/>
                      </a:pPr>
                      <a:r>
                        <a:rPr lang="fr-FR" sz="1800" b="0" i="0" u="none" strike="noStrike" cap="none" dirty="0">
                          <a:solidFill>
                            <a:srgbClr val="000000"/>
                          </a:solidFill>
                          <a:effectLst/>
                          <a:latin typeface="+mn-lt"/>
                          <a:ea typeface="Times New Roman"/>
                          <a:cs typeface="Times New Roman" panose="02020603050405020304" pitchFamily="18" charset="0"/>
                          <a:sym typeface="Times New Roman"/>
                        </a:rPr>
                        <a:t>72604 RECO de 18151 CAC formés et dotés en outils de collecte et rapportage des données </a:t>
                      </a:r>
                    </a:p>
                    <a:p>
                      <a:pPr>
                        <a:buNone/>
                      </a:pPr>
                      <a:endParaRPr lang="fr-FR" altLang="en-US" dirty="0"/>
                    </a:p>
                  </a:txBody>
                  <a:tcPr/>
                </a:tc>
                <a:extLst>
                  <a:ext uri="{0D108BD9-81ED-4DB2-BD59-A6C34878D82A}">
                    <a16:rowId xmlns:a16="http://schemas.microsoft.com/office/drawing/2014/main" val="10001"/>
                  </a:ext>
                </a:extLst>
              </a:tr>
              <a:tr h="395605">
                <a:tc>
                  <a:txBody>
                    <a:bodyPr/>
                    <a:lstStyle/>
                    <a:p>
                      <a:pPr marL="0" algn="l" defTabSz="914400" rtl="0" eaLnBrk="1" latinLnBrk="0" hangingPunct="1">
                        <a:buNone/>
                      </a:pPr>
                      <a:r>
                        <a:rPr lang="fr-FR" altLang="en-US" sz="1800" kern="1200" dirty="0">
                          <a:solidFill>
                            <a:schemeClr val="tx1"/>
                          </a:solidFill>
                          <a:latin typeface="+mn-lt"/>
                          <a:ea typeface="+mn-ea"/>
                          <a:cs typeface="+mn-cs"/>
                        </a:rPr>
                        <a:t>Atelier de cocréation des solutions de la demande selon l’approche HCD dans 10 ZS du Haut Lomami et Lualaba</a:t>
                      </a:r>
                    </a:p>
                  </a:txBody>
                  <a:tcPr/>
                </a:tc>
                <a:tc>
                  <a:txBody>
                    <a:bodyPr/>
                    <a:lstStyle/>
                    <a:p>
                      <a:pPr>
                        <a:buNone/>
                      </a:pPr>
                      <a:r>
                        <a:rPr lang="fr-FR" altLang="en-US" dirty="0"/>
                        <a:t>40%</a:t>
                      </a:r>
                    </a:p>
                  </a:txBody>
                  <a:tcPr>
                    <a:solidFill>
                      <a:srgbClr val="C00000"/>
                    </a:solidFill>
                  </a:tcPr>
                </a:tc>
                <a:tc>
                  <a:txBody>
                    <a:bodyPr/>
                    <a:lstStyle/>
                    <a:p>
                      <a:pPr>
                        <a:buNone/>
                      </a:pPr>
                      <a:r>
                        <a:rPr lang="fr-FR" altLang="en-US" dirty="0"/>
                        <a:t>4 ZS (Kamina, </a:t>
                      </a:r>
                      <a:r>
                        <a:rPr lang="fr-FR" altLang="en-US" dirty="0" err="1"/>
                        <a:t>Kabondo</a:t>
                      </a:r>
                      <a:r>
                        <a:rPr lang="fr-FR" altLang="en-US" dirty="0"/>
                        <a:t> </a:t>
                      </a:r>
                      <a:r>
                        <a:rPr lang="fr-FR" altLang="en-US" dirty="0" err="1"/>
                        <a:t>Dianda</a:t>
                      </a:r>
                      <a:r>
                        <a:rPr lang="fr-FR" altLang="en-US" dirty="0"/>
                        <a:t>, </a:t>
                      </a:r>
                      <a:r>
                        <a:rPr lang="fr-FR" altLang="en-US" dirty="0" err="1"/>
                        <a:t>Dilala</a:t>
                      </a:r>
                      <a:r>
                        <a:rPr lang="fr-FR" altLang="en-US" dirty="0"/>
                        <a:t>, </a:t>
                      </a:r>
                      <a:r>
                        <a:rPr lang="fr-FR" altLang="en-US" dirty="0" err="1"/>
                        <a:t>Manika</a:t>
                      </a:r>
                      <a:r>
                        <a:rPr lang="fr-FR" altLang="en-US" dirty="0"/>
                        <a:t>) le reste de 6 ZS renvoyé en janvier 2026  </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Redevabilités fina</a:t>
            </a:r>
            <a:r>
              <a:rPr lang="fr-FR" alt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n</a:t>
            </a: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cières</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15</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extLst>
              <p:ext uri="{D42A27DB-BD31-4B8C-83A1-F6EECF244321}">
                <p14:modId xmlns:p14="http://schemas.microsoft.com/office/powerpoint/2010/main" val="1367900208"/>
              </p:ext>
            </p:extLst>
          </p:nvPr>
        </p:nvGraphicFramePr>
        <p:xfrm>
          <a:off x="457200" y="1310640"/>
          <a:ext cx="11204575" cy="3649345"/>
        </p:xfrm>
        <a:graphic>
          <a:graphicData uri="http://schemas.openxmlformats.org/drawingml/2006/table">
            <a:tbl>
              <a:tblPr firstRow="1" bandRow="1">
                <a:tableStyleId>{5C22544A-7EE6-4342-B048-85BDC9FD1C3A}</a:tableStyleId>
              </a:tblPr>
              <a:tblGrid>
                <a:gridCol w="3752491">
                  <a:extLst>
                    <a:ext uri="{9D8B030D-6E8A-4147-A177-3AD203B41FA5}">
                      <a16:colId xmlns:a16="http://schemas.microsoft.com/office/drawing/2014/main" val="20000"/>
                    </a:ext>
                  </a:extLst>
                </a:gridCol>
                <a:gridCol w="1733909">
                  <a:extLst>
                    <a:ext uri="{9D8B030D-6E8A-4147-A177-3AD203B41FA5}">
                      <a16:colId xmlns:a16="http://schemas.microsoft.com/office/drawing/2014/main" val="20001"/>
                    </a:ext>
                  </a:extLst>
                </a:gridCol>
                <a:gridCol w="2001328">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88047">
                  <a:extLst>
                    <a:ext uri="{9D8B030D-6E8A-4147-A177-3AD203B41FA5}">
                      <a16:colId xmlns:a16="http://schemas.microsoft.com/office/drawing/2014/main" val="20004"/>
                    </a:ext>
                  </a:extLst>
                </a:gridCol>
              </a:tblGrid>
              <a:tr h="723265">
                <a:tc>
                  <a:txBody>
                    <a:bodyPr/>
                    <a:lstStyle/>
                    <a:p>
                      <a:pPr>
                        <a:buNone/>
                      </a:pPr>
                      <a:r>
                        <a:rPr lang="fr-FR" altLang="en-US" dirty="0"/>
                        <a:t>Activités </a:t>
                      </a:r>
                    </a:p>
                  </a:txBody>
                  <a:tcPr/>
                </a:tc>
                <a:tc>
                  <a:txBody>
                    <a:bodyPr/>
                    <a:lstStyle/>
                    <a:p>
                      <a:pPr>
                        <a:buNone/>
                      </a:pPr>
                      <a:r>
                        <a:rPr lang="fr-FR" altLang="en-US"/>
                        <a:t>Budget Prévu </a:t>
                      </a:r>
                    </a:p>
                  </a:txBody>
                  <a:tcPr/>
                </a:tc>
                <a:tc>
                  <a:txBody>
                    <a:bodyPr/>
                    <a:lstStyle/>
                    <a:p>
                      <a:pPr>
                        <a:buNone/>
                      </a:pPr>
                      <a:r>
                        <a:rPr lang="fr-FR" altLang="en-US"/>
                        <a:t>Budget décaissé </a:t>
                      </a:r>
                    </a:p>
                  </a:txBody>
                  <a:tcPr/>
                </a:tc>
                <a:tc>
                  <a:txBody>
                    <a:bodyPr/>
                    <a:lstStyle/>
                    <a:p>
                      <a:pPr>
                        <a:buNone/>
                      </a:pPr>
                      <a:r>
                        <a:rPr lang="fr-FR" altLang="en-US" dirty="0"/>
                        <a:t>Taux de décaissement </a:t>
                      </a:r>
                    </a:p>
                  </a:txBody>
                  <a:tcPr/>
                </a:tc>
                <a:tc>
                  <a:txBody>
                    <a:bodyPr/>
                    <a:lstStyle/>
                    <a:p>
                      <a:pPr>
                        <a:buNone/>
                      </a:pPr>
                      <a:r>
                        <a:rPr lang="fr-FR" altLang="en-US" dirty="0"/>
                        <a:t>Source de financement </a:t>
                      </a:r>
                    </a:p>
                  </a:txBody>
                  <a:tcPr/>
                </a:tc>
                <a:extLst>
                  <a:ext uri="{0D108BD9-81ED-4DB2-BD59-A6C34878D82A}">
                    <a16:rowId xmlns:a16="http://schemas.microsoft.com/office/drawing/2014/main" val="10000"/>
                  </a:ext>
                </a:extLst>
              </a:tr>
              <a:tr h="430530">
                <a:tc>
                  <a:txBody>
                    <a:bodyPr/>
                    <a:lstStyle/>
                    <a:p>
                      <a:pPr>
                        <a:buNone/>
                      </a:pPr>
                      <a:r>
                        <a:rPr lang="fr-FR" altLang="en-US" dirty="0"/>
                        <a:t>Produire et diffuser les émissions à travers les radios de proximité, des marchés et radios à audience provinciale sur la vaccination​ </a:t>
                      </a:r>
                    </a:p>
                  </a:txBody>
                  <a:tcPr/>
                </a:tc>
                <a:tc>
                  <a:txBody>
                    <a:bodyPr/>
                    <a:lstStyle/>
                    <a:p>
                      <a:pPr>
                        <a:buNone/>
                      </a:pPr>
                      <a:r>
                        <a:rPr lang="fr-FR" altLang="en-US" dirty="0"/>
                        <a:t>299.200$</a:t>
                      </a:r>
                    </a:p>
                  </a:txBody>
                  <a:tcPr/>
                </a:tc>
                <a:tc>
                  <a:txBody>
                    <a:bodyPr/>
                    <a:lstStyle/>
                    <a:p>
                      <a:pPr>
                        <a:buNone/>
                      </a:pPr>
                      <a:r>
                        <a:rPr lang="fr-FR" altLang="en-US" dirty="0"/>
                        <a:t>299.200$</a:t>
                      </a:r>
                    </a:p>
                  </a:txBody>
                  <a:tcPr/>
                </a:tc>
                <a:tc>
                  <a:txBody>
                    <a:bodyPr/>
                    <a:lstStyle/>
                    <a:p>
                      <a:pPr>
                        <a:buNone/>
                      </a:pPr>
                      <a:r>
                        <a:rPr lang="fr-FR" altLang="en-US" dirty="0"/>
                        <a:t>100%</a:t>
                      </a:r>
                    </a:p>
                  </a:txBody>
                  <a:tcPr/>
                </a:tc>
                <a:tc>
                  <a:txBody>
                    <a:bodyPr/>
                    <a:lstStyle/>
                    <a:p>
                      <a:pPr>
                        <a:buNone/>
                      </a:pPr>
                      <a:r>
                        <a:rPr lang="fr-FR" altLang="en-US" dirty="0"/>
                        <a:t>GAVI</a:t>
                      </a:r>
                    </a:p>
                  </a:txBody>
                  <a:tcPr/>
                </a:tc>
                <a:extLst>
                  <a:ext uri="{0D108BD9-81ED-4DB2-BD59-A6C34878D82A}">
                    <a16:rowId xmlns:a16="http://schemas.microsoft.com/office/drawing/2014/main" val="10002"/>
                  </a:ext>
                </a:extLst>
              </a:tr>
              <a:tr h="430530">
                <a:tc>
                  <a:txBody>
                    <a:bodyPr/>
                    <a:lstStyle/>
                    <a:p>
                      <a:pPr>
                        <a:buNone/>
                      </a:pPr>
                      <a:r>
                        <a:rPr lang="fr-FR" altLang="en-US" dirty="0"/>
                        <a:t>Apporter un appui technique et financier aux provinces pour le renforcement de l'engagement communautaires à travers les organes de PARTICOM (CAC, CODESA), les plates formes des usagers et les PNT </a:t>
                      </a:r>
                    </a:p>
                  </a:txBody>
                  <a:tcPr/>
                </a:tc>
                <a:tc>
                  <a:txBody>
                    <a:bodyPr/>
                    <a:lstStyle/>
                    <a:p>
                      <a:pPr>
                        <a:buNone/>
                      </a:pPr>
                      <a:r>
                        <a:rPr lang="fr-FR" altLang="en-US" dirty="0"/>
                        <a:t>2.776.766$</a:t>
                      </a:r>
                    </a:p>
                  </a:txBody>
                  <a:tcPr/>
                </a:tc>
                <a:tc>
                  <a:txBody>
                    <a:bodyPr/>
                    <a:lstStyle/>
                    <a:p>
                      <a:pPr>
                        <a:buNone/>
                      </a:pPr>
                      <a:r>
                        <a:rPr lang="fr-FR" altLang="en-US" dirty="0"/>
                        <a:t>2.776.766$</a:t>
                      </a:r>
                    </a:p>
                  </a:txBody>
                  <a:tcPr/>
                </a:tc>
                <a:tc>
                  <a:txBody>
                    <a:bodyPr/>
                    <a:lstStyle/>
                    <a:p>
                      <a:pPr>
                        <a:buNone/>
                      </a:pPr>
                      <a:r>
                        <a:rPr lang="fr-FR" altLang="en-US" dirty="0"/>
                        <a:t>100%</a:t>
                      </a:r>
                    </a:p>
                  </a:txBody>
                  <a:tcPr/>
                </a:tc>
                <a:tc>
                  <a:txBody>
                    <a:bodyPr/>
                    <a:lstStyle/>
                    <a:p>
                      <a:pPr>
                        <a:buNone/>
                      </a:pPr>
                      <a:r>
                        <a:rPr lang="fr-FR" altLang="en-US" dirty="0"/>
                        <a:t>GAVI</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902169A0-E6F1-CD2E-C9C4-B03A27EE79E7}"/>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A8FA0591-14F5-C87F-826E-A691FAC5035F}"/>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Redevabilités fina</a:t>
            </a:r>
            <a:r>
              <a:rPr lang="fr-FR" alt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n</a:t>
            </a: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cières</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82E53A59-C5AD-5AFD-F8CB-D7420DAADE9C}"/>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5E1A0743-4843-31C9-0569-81C919FF4221}"/>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580EAFBE-43A5-1F6E-3FB5-ED36870D14DE}"/>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16</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F05740A9-0778-4684-E874-1B86AEE4F11E}"/>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4B77C9E9-C72D-C1D8-D0BD-1D47A656B987}"/>
              </a:ext>
            </a:extLst>
          </p:cNvPr>
          <p:cNvGraphicFramePr/>
          <p:nvPr>
            <p:custDataLst>
              <p:tags r:id="rId1"/>
            </p:custDataLst>
            <p:extLst>
              <p:ext uri="{D42A27DB-BD31-4B8C-83A1-F6EECF244321}">
                <p14:modId xmlns:p14="http://schemas.microsoft.com/office/powerpoint/2010/main" val="104018219"/>
              </p:ext>
            </p:extLst>
          </p:nvPr>
        </p:nvGraphicFramePr>
        <p:xfrm>
          <a:off x="457200" y="1310640"/>
          <a:ext cx="11204575" cy="5203825"/>
        </p:xfrm>
        <a:graphic>
          <a:graphicData uri="http://schemas.openxmlformats.org/drawingml/2006/table">
            <a:tbl>
              <a:tblPr firstRow="1" bandRow="1">
                <a:tableStyleId>{5C22544A-7EE6-4342-B048-85BDC9FD1C3A}</a:tableStyleId>
              </a:tblPr>
              <a:tblGrid>
                <a:gridCol w="4839419">
                  <a:extLst>
                    <a:ext uri="{9D8B030D-6E8A-4147-A177-3AD203B41FA5}">
                      <a16:colId xmlns:a16="http://schemas.microsoft.com/office/drawing/2014/main" val="20000"/>
                    </a:ext>
                  </a:extLst>
                </a:gridCol>
                <a:gridCol w="1777041">
                  <a:extLst>
                    <a:ext uri="{9D8B030D-6E8A-4147-A177-3AD203B41FA5}">
                      <a16:colId xmlns:a16="http://schemas.microsoft.com/office/drawing/2014/main" val="20001"/>
                    </a:ext>
                  </a:extLst>
                </a:gridCol>
                <a:gridCol w="1664898">
                  <a:extLst>
                    <a:ext uri="{9D8B030D-6E8A-4147-A177-3AD203B41FA5}">
                      <a16:colId xmlns:a16="http://schemas.microsoft.com/office/drawing/2014/main" val="20002"/>
                    </a:ext>
                  </a:extLst>
                </a:gridCol>
                <a:gridCol w="1492370">
                  <a:extLst>
                    <a:ext uri="{9D8B030D-6E8A-4147-A177-3AD203B41FA5}">
                      <a16:colId xmlns:a16="http://schemas.microsoft.com/office/drawing/2014/main" val="20003"/>
                    </a:ext>
                  </a:extLst>
                </a:gridCol>
                <a:gridCol w="1430847">
                  <a:extLst>
                    <a:ext uri="{9D8B030D-6E8A-4147-A177-3AD203B41FA5}">
                      <a16:colId xmlns:a16="http://schemas.microsoft.com/office/drawing/2014/main" val="20004"/>
                    </a:ext>
                  </a:extLst>
                </a:gridCol>
              </a:tblGrid>
              <a:tr h="723265">
                <a:tc>
                  <a:txBody>
                    <a:bodyPr/>
                    <a:lstStyle/>
                    <a:p>
                      <a:pPr>
                        <a:buNone/>
                      </a:pPr>
                      <a:r>
                        <a:rPr lang="fr-FR" altLang="en-US" dirty="0"/>
                        <a:t>Activités </a:t>
                      </a:r>
                    </a:p>
                  </a:txBody>
                  <a:tcPr/>
                </a:tc>
                <a:tc>
                  <a:txBody>
                    <a:bodyPr/>
                    <a:lstStyle/>
                    <a:p>
                      <a:pPr>
                        <a:buNone/>
                      </a:pPr>
                      <a:r>
                        <a:rPr lang="fr-FR" altLang="en-US"/>
                        <a:t>Budget Prévu </a:t>
                      </a:r>
                    </a:p>
                  </a:txBody>
                  <a:tcPr/>
                </a:tc>
                <a:tc>
                  <a:txBody>
                    <a:bodyPr/>
                    <a:lstStyle/>
                    <a:p>
                      <a:pPr>
                        <a:buNone/>
                      </a:pPr>
                      <a:r>
                        <a:rPr lang="fr-FR" altLang="en-US"/>
                        <a:t>Budget décaissé </a:t>
                      </a:r>
                    </a:p>
                  </a:txBody>
                  <a:tcPr/>
                </a:tc>
                <a:tc>
                  <a:txBody>
                    <a:bodyPr/>
                    <a:lstStyle/>
                    <a:p>
                      <a:pPr>
                        <a:buNone/>
                      </a:pPr>
                      <a:r>
                        <a:rPr lang="fr-FR" altLang="en-US" dirty="0"/>
                        <a:t>Taux de décaissement </a:t>
                      </a:r>
                    </a:p>
                  </a:txBody>
                  <a:tcPr/>
                </a:tc>
                <a:tc>
                  <a:txBody>
                    <a:bodyPr/>
                    <a:lstStyle/>
                    <a:p>
                      <a:pPr>
                        <a:buNone/>
                      </a:pPr>
                      <a:r>
                        <a:rPr lang="fr-FR" altLang="en-US" dirty="0"/>
                        <a:t>Source de financement </a:t>
                      </a:r>
                    </a:p>
                  </a:txBody>
                  <a:tcPr/>
                </a:tc>
                <a:extLst>
                  <a:ext uri="{0D108BD9-81ED-4DB2-BD59-A6C34878D82A}">
                    <a16:rowId xmlns:a16="http://schemas.microsoft.com/office/drawing/2014/main" val="10000"/>
                  </a:ext>
                </a:extLst>
              </a:tr>
              <a:tr h="430530">
                <a:tc>
                  <a:txBody>
                    <a:bodyPr/>
                    <a:lstStyle/>
                    <a:p>
                      <a:pPr>
                        <a:buNone/>
                      </a:pPr>
                      <a:r>
                        <a:rPr lang="fr-FR" altLang="en-US" dirty="0"/>
                        <a:t>Accompagner les organes de PARTICOM (CAC, CODESA, UCODESA) pour l’identification, suivi et récupération porte à porte des EZD et SV à l’aide des l’outils papiers ou des téléphones/tablettes​ </a:t>
                      </a:r>
                    </a:p>
                  </a:txBody>
                  <a:tcPr/>
                </a:tc>
                <a:tc>
                  <a:txBody>
                    <a:bodyPr/>
                    <a:lstStyle/>
                    <a:p>
                      <a:pPr>
                        <a:buNone/>
                      </a:pPr>
                      <a:r>
                        <a:rPr lang="fr-FR" altLang="en-US" dirty="0"/>
                        <a:t>686.014$</a:t>
                      </a:r>
                    </a:p>
                  </a:txBody>
                  <a:tcPr/>
                </a:tc>
                <a:tc>
                  <a:txBody>
                    <a:bodyPr/>
                    <a:lstStyle/>
                    <a:p>
                      <a:pPr>
                        <a:buNone/>
                      </a:pPr>
                      <a:r>
                        <a:rPr lang="fr-FR" altLang="en-US" dirty="0"/>
                        <a:t>686014,00 $</a:t>
                      </a:r>
                    </a:p>
                  </a:txBody>
                  <a:tcPr/>
                </a:tc>
                <a:tc>
                  <a:txBody>
                    <a:bodyPr/>
                    <a:lstStyle/>
                    <a:p>
                      <a:pPr>
                        <a:buNone/>
                      </a:pPr>
                      <a:r>
                        <a:rPr lang="fr-FR" altLang="en-US" dirty="0"/>
                        <a:t>100%</a:t>
                      </a:r>
                    </a:p>
                  </a:txBody>
                  <a:tcPr/>
                </a:tc>
                <a:tc>
                  <a:txBody>
                    <a:bodyPr/>
                    <a:lstStyle/>
                    <a:p>
                      <a:pPr>
                        <a:buNone/>
                      </a:pPr>
                      <a:r>
                        <a:rPr lang="fr-FR" altLang="en-US" dirty="0"/>
                        <a:t>GAVI</a:t>
                      </a:r>
                    </a:p>
                  </a:txBody>
                  <a:tcPr/>
                </a:tc>
                <a:extLst>
                  <a:ext uri="{0D108BD9-81ED-4DB2-BD59-A6C34878D82A}">
                    <a16:rowId xmlns:a16="http://schemas.microsoft.com/office/drawing/2014/main" val="10001"/>
                  </a:ext>
                </a:extLst>
              </a:tr>
              <a:tr h="430530">
                <a:tc>
                  <a:txBody>
                    <a:bodyPr/>
                    <a:lstStyle/>
                    <a:p>
                      <a:pPr>
                        <a:buNone/>
                      </a:pPr>
                      <a:r>
                        <a:rPr lang="fr-FR" altLang="en-US" dirty="0"/>
                        <a:t>Apporter un appui technique et financier aux plates formes des usagers dans l'organisation de réunions de plaidoyer auprès des APA en faveur des EZD</a:t>
                      </a:r>
                    </a:p>
                  </a:txBody>
                  <a:tcPr/>
                </a:tc>
                <a:tc>
                  <a:txBody>
                    <a:bodyPr/>
                    <a:lstStyle/>
                    <a:p>
                      <a:pPr>
                        <a:buNone/>
                      </a:pPr>
                      <a:r>
                        <a:rPr lang="fr-FR" altLang="en-US" dirty="0"/>
                        <a:t>109.002,24$</a:t>
                      </a:r>
                    </a:p>
                  </a:txBody>
                  <a:tcPr/>
                </a:tc>
                <a:tc>
                  <a:txBody>
                    <a:bodyPr/>
                    <a:lstStyle/>
                    <a:p>
                      <a:pPr>
                        <a:buNone/>
                      </a:pPr>
                      <a:r>
                        <a:rPr lang="fr-FR" altLang="en-US" dirty="0"/>
                        <a:t>109.002,24$</a:t>
                      </a:r>
                    </a:p>
                  </a:txBody>
                  <a:tcPr/>
                </a:tc>
                <a:tc>
                  <a:txBody>
                    <a:bodyPr/>
                    <a:lstStyle/>
                    <a:p>
                      <a:pPr>
                        <a:buNone/>
                      </a:pPr>
                      <a:r>
                        <a:rPr lang="fr-FR" altLang="en-US" dirty="0"/>
                        <a:t>100%</a:t>
                      </a:r>
                    </a:p>
                  </a:txBody>
                  <a:tcPr/>
                </a:tc>
                <a:tc>
                  <a:txBody>
                    <a:bodyPr/>
                    <a:lstStyle/>
                    <a:p>
                      <a:pPr>
                        <a:buNone/>
                      </a:pPr>
                      <a:r>
                        <a:rPr lang="fr-FR" altLang="en-US" dirty="0"/>
                        <a:t>GAVI</a:t>
                      </a:r>
                    </a:p>
                  </a:txBody>
                  <a:tcPr/>
                </a:tc>
                <a:extLst>
                  <a:ext uri="{0D108BD9-81ED-4DB2-BD59-A6C34878D82A}">
                    <a16:rowId xmlns:a16="http://schemas.microsoft.com/office/drawing/2014/main" val="10002"/>
                  </a:ext>
                </a:extLst>
              </a:tr>
              <a:tr h="430530">
                <a:tc>
                  <a:txBody>
                    <a:bodyPr/>
                    <a:lstStyle/>
                    <a:p>
                      <a:pPr>
                        <a:buNone/>
                      </a:pPr>
                      <a:r>
                        <a:rPr lang="fr-FR" altLang="en-US" dirty="0"/>
                        <a:t>Organiser les SMS Campaign centrés sur les enfants ZD et les communautés manquées dans les zones de santé urbaines</a:t>
                      </a:r>
                    </a:p>
                  </a:txBody>
                  <a:tcPr/>
                </a:tc>
                <a:tc>
                  <a:txBody>
                    <a:bodyPr/>
                    <a:lstStyle/>
                    <a:p>
                      <a:pPr>
                        <a:buNone/>
                      </a:pPr>
                      <a:r>
                        <a:rPr lang="fr-FR" altLang="en-US" dirty="0"/>
                        <a:t>354.080$</a:t>
                      </a:r>
                    </a:p>
                  </a:txBody>
                  <a:tcPr/>
                </a:tc>
                <a:tc>
                  <a:txBody>
                    <a:bodyPr/>
                    <a:lstStyle/>
                    <a:p>
                      <a:pPr>
                        <a:buNone/>
                      </a:pPr>
                      <a:r>
                        <a:rPr lang="fr-FR" altLang="en-US" dirty="0"/>
                        <a:t>354.080$ </a:t>
                      </a:r>
                    </a:p>
                  </a:txBody>
                  <a:tcPr/>
                </a:tc>
                <a:tc>
                  <a:txBody>
                    <a:bodyPr/>
                    <a:lstStyle/>
                    <a:p>
                      <a:pPr>
                        <a:buNone/>
                      </a:pPr>
                      <a:r>
                        <a:rPr lang="fr-FR" altLang="en-US" dirty="0"/>
                        <a:t>100%</a:t>
                      </a:r>
                    </a:p>
                  </a:txBody>
                  <a:tcPr/>
                </a:tc>
                <a:tc>
                  <a:txBody>
                    <a:bodyPr/>
                    <a:lstStyle/>
                    <a:p>
                      <a:pPr>
                        <a:buNone/>
                      </a:pPr>
                      <a:r>
                        <a:rPr lang="fr-FR" altLang="en-US" dirty="0"/>
                        <a:t>GAVI</a:t>
                      </a:r>
                    </a:p>
                  </a:txBody>
                  <a:tcPr/>
                </a:tc>
                <a:extLst>
                  <a:ext uri="{0D108BD9-81ED-4DB2-BD59-A6C34878D82A}">
                    <a16:rowId xmlns:a16="http://schemas.microsoft.com/office/drawing/2014/main" val="157205668"/>
                  </a:ext>
                </a:extLst>
              </a:tr>
              <a:tr h="430530">
                <a:tc>
                  <a:txBody>
                    <a:bodyPr/>
                    <a:lstStyle/>
                    <a:p>
                      <a:pPr>
                        <a:buNone/>
                      </a:pPr>
                      <a:r>
                        <a:rPr lang="fr-FR" altLang="en-US" dirty="0"/>
                        <a:t>Apporter un appui technique et financier aux ZS et DPS pour analyse des résultats de sondage et la mise en œuvre des plans de résolution de la demande de vaccination </a:t>
                      </a:r>
                    </a:p>
                  </a:txBody>
                  <a:tcPr/>
                </a:tc>
                <a:tc>
                  <a:txBody>
                    <a:bodyPr/>
                    <a:lstStyle/>
                    <a:p>
                      <a:pPr>
                        <a:buNone/>
                      </a:pPr>
                      <a:r>
                        <a:rPr lang="fr-FR" altLang="en-US" dirty="0"/>
                        <a:t>419.460$</a:t>
                      </a:r>
                    </a:p>
                  </a:txBody>
                  <a:tcPr/>
                </a:tc>
                <a:tc>
                  <a:txBody>
                    <a:bodyPr/>
                    <a:lstStyle/>
                    <a:p>
                      <a:pPr>
                        <a:buNone/>
                      </a:pPr>
                      <a:r>
                        <a:rPr lang="fr-FR" altLang="en-US" dirty="0"/>
                        <a:t>419.460$</a:t>
                      </a:r>
                    </a:p>
                  </a:txBody>
                  <a:tcPr/>
                </a:tc>
                <a:tc>
                  <a:txBody>
                    <a:bodyPr/>
                    <a:lstStyle/>
                    <a:p>
                      <a:pPr>
                        <a:buNone/>
                      </a:pPr>
                      <a:r>
                        <a:rPr lang="fr-FR" altLang="en-US" dirty="0"/>
                        <a:t>100%</a:t>
                      </a:r>
                    </a:p>
                  </a:txBody>
                  <a:tcPr/>
                </a:tc>
                <a:tc>
                  <a:txBody>
                    <a:bodyPr/>
                    <a:lstStyle/>
                    <a:p>
                      <a:pPr>
                        <a:buNone/>
                      </a:pPr>
                      <a:r>
                        <a:rPr lang="fr-FR" altLang="en-US" dirty="0"/>
                        <a:t>BMGF</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6132732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Valeur ajoutée - Innovations - Bonnes pratiques</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17</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81" name="Google Shape;181;g3aabd3d1b2d_0_290"/>
          <p:cNvSpPr/>
          <p:nvPr/>
        </p:nvSpPr>
        <p:spPr>
          <a:xfrm>
            <a:off x="458600" y="1323700"/>
            <a:ext cx="11356500" cy="4764900"/>
          </a:xfrm>
          <a:prstGeom prst="rect">
            <a:avLst/>
          </a:prstGeom>
          <a:solidFill>
            <a:schemeClr val="accent1">
              <a:lumMod val="20000"/>
              <a:lumOff val="80000"/>
            </a:schemeClr>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a:lnSpc>
                <a:spcPct val="200000"/>
              </a:lnSpc>
              <a:buFont typeface="Wingdings" panose="05000000000000000000" pitchFamily="2" charset="2"/>
              <a:buChar char="Ø"/>
            </a:pPr>
            <a:endParaRPr lang="fr-FR" sz="2000" dirty="0"/>
          </a:p>
          <a:p>
            <a:pPr marL="285750" indent="-285750">
              <a:lnSpc>
                <a:spcPct val="200000"/>
              </a:lnSpc>
              <a:buFont typeface="Wingdings" panose="05000000000000000000" pitchFamily="2" charset="2"/>
              <a:buChar char="§"/>
            </a:pPr>
            <a:r>
              <a:rPr lang="fr-FR" sz="1600" dirty="0">
                <a:solidFill>
                  <a:schemeClr val="dk1"/>
                </a:solidFill>
              </a:rPr>
              <a:t>L’engagement communautaire (CAC, CODESA, PFU) avec l’implication des leaders communautaire et religieux est déterminant pour améliorer nettement l’identification et la récupération des enfants ZD. </a:t>
            </a:r>
          </a:p>
          <a:p>
            <a:pPr marL="285750" indent="-285750">
              <a:lnSpc>
                <a:spcPct val="200000"/>
              </a:lnSpc>
              <a:buFont typeface="Wingdings" panose="05000000000000000000" pitchFamily="2" charset="2"/>
              <a:buChar char="§"/>
            </a:pPr>
            <a:r>
              <a:rPr lang="fr-FR" sz="1600" dirty="0">
                <a:solidFill>
                  <a:schemeClr val="dk1"/>
                </a:solidFill>
              </a:rPr>
              <a:t>L’accompagnement rapproché des OAC renforce la qualité du rapportage et la performance des CAC</a:t>
            </a:r>
          </a:p>
          <a:p>
            <a:pPr marL="285750" indent="-285750">
              <a:lnSpc>
                <a:spcPct val="200000"/>
              </a:lnSpc>
              <a:buFont typeface="Wingdings" panose="05000000000000000000" pitchFamily="2" charset="2"/>
              <a:buChar char="§"/>
            </a:pPr>
            <a:r>
              <a:rPr lang="fr-FR" sz="1600" dirty="0">
                <a:solidFill>
                  <a:schemeClr val="dk1"/>
                </a:solidFill>
              </a:rPr>
              <a:t>Les outils numériques (DHIS2 Tracker) facilitent le suivi, mais exige une formation renforcée, un accompagnement constant et la disponibilité des sources d’énergie et connexion internet pour être efficace (un investissement continu)</a:t>
            </a:r>
          </a:p>
          <a:p>
            <a:pPr marL="285750" indent="-285750">
              <a:lnSpc>
                <a:spcPct val="200000"/>
              </a:lnSpc>
              <a:buFont typeface="Wingdings" panose="05000000000000000000" pitchFamily="2" charset="2"/>
              <a:buChar char="§"/>
            </a:pPr>
            <a:r>
              <a:rPr lang="fr-FR" sz="1600" dirty="0">
                <a:solidFill>
                  <a:schemeClr val="dk1"/>
                </a:solidFill>
              </a:rPr>
              <a:t>Les AGR renforcent la pérennité: Les CODESA financées et opérationnelles maintiennent la motivation des RECO et soutiennent la continuité de la récupération des enfants ZD et SV</a:t>
            </a:r>
          </a:p>
          <a:p>
            <a:pPr marL="285750" indent="-285750">
              <a:lnSpc>
                <a:spcPct val="200000"/>
              </a:lnSpc>
              <a:buFont typeface="Wingdings" panose="05000000000000000000" pitchFamily="2" charset="2"/>
              <a:buChar char="§"/>
            </a:pPr>
            <a:r>
              <a:rPr lang="fr-FR" sz="1600" dirty="0">
                <a:solidFill>
                  <a:schemeClr val="dk1"/>
                </a:solidFill>
              </a:rPr>
              <a:t>L’intégration du genre et de l’inclusion sociale (l’implication accrue des femmes, jeunes et leaders locaux) a contribué à lever plusieurs barrières socioculturelles à la vaccination et à améliorer l’adhésion à la vaccination. </a:t>
            </a:r>
          </a:p>
          <a:p>
            <a:pPr marL="0" lvl="0" indent="0" algn="ctr" rtl="0">
              <a:lnSpc>
                <a:spcPct val="200000"/>
              </a:lnSpc>
              <a:spcBef>
                <a:spcPts val="0"/>
              </a:spcBef>
              <a:spcAft>
                <a:spcPts val="0"/>
              </a:spcAft>
              <a:buNone/>
            </a:pPr>
            <a:endParaRPr lang="fr-FR" altLang="en-US" sz="2000" dirty="0"/>
          </a:p>
          <a:p>
            <a:pPr marL="0" lvl="0" indent="0" algn="ctr" rtl="0">
              <a:lnSpc>
                <a:spcPct val="200000"/>
              </a:lnSpc>
              <a:spcBef>
                <a:spcPts val="0"/>
              </a:spcBef>
              <a:spcAft>
                <a:spcPts val="0"/>
              </a:spcAft>
              <a:buNone/>
            </a:pPr>
            <a:endParaRPr lang="en-US" altLang="en-US" sz="2000"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Défis rencontrés</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18</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81" name="Google Shape;181;g3aabd3d1b2d_0_290"/>
          <p:cNvSpPr/>
          <p:nvPr/>
        </p:nvSpPr>
        <p:spPr>
          <a:xfrm>
            <a:off x="458600" y="1323700"/>
            <a:ext cx="11356500" cy="4764900"/>
          </a:xfrm>
          <a:prstGeom prst="rect">
            <a:avLst/>
          </a:prstGeom>
          <a:solidFill>
            <a:schemeClr val="accent1">
              <a:lumMod val="20000"/>
              <a:lumOff val="80000"/>
            </a:schemeClr>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0" lvl="0" indent="0" algn="ctr" rtl="0">
              <a:lnSpc>
                <a:spcPct val="150000"/>
              </a:lnSpc>
              <a:spcBef>
                <a:spcPts val="0"/>
              </a:spcBef>
              <a:spcAft>
                <a:spcPts val="0"/>
              </a:spcAft>
              <a:buNone/>
            </a:pPr>
            <a:endParaRPr lang="en-US" altLang="fr-CA" sz="2000" dirty="0">
              <a:latin typeface="Times New Roman" panose="02020603050405020304"/>
              <a:ea typeface="Times New Roman" panose="02020603050405020304"/>
              <a:cs typeface="Times New Roman" panose="02020603050405020304"/>
              <a:sym typeface="Times New Roman" panose="02020603050405020304"/>
            </a:endParaRPr>
          </a:p>
          <a:p>
            <a:pPr marL="285750" indent="-285750">
              <a:lnSpc>
                <a:spcPct val="150000"/>
              </a:lnSpc>
              <a:buFont typeface="Wingdings" panose="05000000000000000000" pitchFamily="2" charset="2"/>
              <a:buChar char="§"/>
            </a:pPr>
            <a:r>
              <a:rPr lang="fr-FR" dirty="0">
                <a:solidFill>
                  <a:srgbClr val="000000"/>
                </a:solidFill>
                <a:cs typeface="Arial"/>
                <a:sym typeface="Arial"/>
              </a:rPr>
              <a:t>Coordination de travail des OSC locales axée sur le résultat </a:t>
            </a:r>
            <a:r>
              <a:rPr lang="fr-FR" dirty="0">
                <a:solidFill>
                  <a:srgbClr val="000000"/>
                </a:solidFill>
                <a:cs typeface="Arial"/>
                <a:sym typeface="Times New Roman"/>
              </a:rPr>
              <a:t> (améliorer la demande de vaccination et contribuer à la réduction des EZD)</a:t>
            </a:r>
          </a:p>
          <a:p>
            <a:pPr marL="285750" indent="-285750">
              <a:lnSpc>
                <a:spcPct val="150000"/>
              </a:lnSpc>
              <a:buFont typeface="Wingdings" panose="05000000000000000000" pitchFamily="2" charset="2"/>
              <a:buChar char="§"/>
            </a:pPr>
            <a:r>
              <a:rPr lang="fr-FR" dirty="0">
                <a:solidFill>
                  <a:srgbClr val="000000"/>
                </a:solidFill>
                <a:cs typeface="Arial"/>
                <a:sym typeface="Arial"/>
              </a:rPr>
              <a:t>Persistance des barrières socioculturelles (croyances, faible implication des hommes, peurs des effets secondaires) et sécuritaires</a:t>
            </a:r>
          </a:p>
          <a:p>
            <a:pPr marL="285750" indent="-285750">
              <a:lnSpc>
                <a:spcPct val="150000"/>
              </a:lnSpc>
              <a:buFont typeface="Wingdings" panose="05000000000000000000" pitchFamily="2" charset="2"/>
              <a:buChar char="§"/>
            </a:pPr>
            <a:r>
              <a:rPr lang="fr-FR" dirty="0">
                <a:solidFill>
                  <a:srgbClr val="000000"/>
                </a:solidFill>
                <a:cs typeface="Arial"/>
              </a:rPr>
              <a:t>Fidéliser les familles pour l’acceptation et le suivi de vaccination complète des enfants et des femmes dans le contexte de ruptures intempestives des vaccins</a:t>
            </a:r>
          </a:p>
          <a:p>
            <a:pPr marL="285750" indent="-285750">
              <a:lnSpc>
                <a:spcPct val="150000"/>
              </a:lnSpc>
              <a:buFont typeface="Wingdings" panose="05000000000000000000" pitchFamily="2" charset="2"/>
              <a:buChar char="§"/>
            </a:pPr>
            <a:r>
              <a:rPr lang="fr-FR" dirty="0">
                <a:solidFill>
                  <a:srgbClr val="000000"/>
                </a:solidFill>
                <a:cs typeface="Arial"/>
                <a:sym typeface="Times New Roman"/>
              </a:rPr>
              <a:t>Remontée lente d</a:t>
            </a:r>
            <a:r>
              <a:rPr lang="fr-FR" dirty="0">
                <a:solidFill>
                  <a:srgbClr val="000000"/>
                </a:solidFill>
                <a:cs typeface="Arial"/>
              </a:rPr>
              <a:t>es données déclarées dans DHIS2 Tracker</a:t>
            </a:r>
            <a:endParaRPr lang="fr-FR" dirty="0">
              <a:solidFill>
                <a:srgbClr val="000000"/>
              </a:solidFill>
              <a:cs typeface="Arial"/>
              <a:sym typeface="Times New Roman"/>
            </a:endParaRPr>
          </a:p>
          <a:p>
            <a:pPr marL="285750" indent="-285750">
              <a:lnSpc>
                <a:spcPct val="150000"/>
              </a:lnSpc>
              <a:buFont typeface="Wingdings" panose="05000000000000000000" pitchFamily="2" charset="2"/>
              <a:buChar char="§"/>
            </a:pPr>
            <a:r>
              <a:rPr lang="fr-FR" dirty="0">
                <a:solidFill>
                  <a:srgbClr val="000000"/>
                </a:solidFill>
                <a:cs typeface="Arial"/>
                <a:sym typeface="Arial"/>
              </a:rPr>
              <a:t>Optimisation des systèmes de collecte et </a:t>
            </a:r>
            <a:r>
              <a:rPr lang="fr-FR" dirty="0">
                <a:solidFill>
                  <a:srgbClr val="000000"/>
                </a:solidFill>
                <a:cs typeface="Arial"/>
                <a:sym typeface="Times New Roman"/>
              </a:rPr>
              <a:t>Qualité des données produites</a:t>
            </a:r>
          </a:p>
          <a:p>
            <a:pPr lvl="0" indent="0" algn="l" rtl="0">
              <a:lnSpc>
                <a:spcPct val="150000"/>
              </a:lnSpc>
              <a:spcBef>
                <a:spcPts val="0"/>
              </a:spcBef>
              <a:spcAft>
                <a:spcPts val="0"/>
              </a:spcAft>
              <a:buNone/>
            </a:pPr>
            <a:endParaRPr lang="en-US" altLang="en-US" sz="2000"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Priorités et engagements pour 2026</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19</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81" name="Google Shape;181;g3aabd3d1b2d_0_290"/>
          <p:cNvSpPr/>
          <p:nvPr/>
        </p:nvSpPr>
        <p:spPr>
          <a:xfrm>
            <a:off x="458600" y="1323700"/>
            <a:ext cx="11356500" cy="4764900"/>
          </a:xfrm>
          <a:prstGeom prst="rect">
            <a:avLst/>
          </a:prstGeom>
          <a:solidFill>
            <a:schemeClr val="accent1">
              <a:lumMod val="20000"/>
              <a:lumOff val="80000"/>
            </a:schemeClr>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285750" indent="-285750">
              <a:lnSpc>
                <a:spcPct val="150000"/>
              </a:lnSpc>
              <a:buFont typeface="Wingdings" panose="05000000000000000000" pitchFamily="2" charset="2"/>
              <a:buChar char="§"/>
            </a:pPr>
            <a:r>
              <a:rPr lang="en-US" dirty="0">
                <a:solidFill>
                  <a:srgbClr val="000000"/>
                </a:solidFill>
                <a:cs typeface="Arial"/>
              </a:rPr>
              <a:t>Mobilisation et partenariat avec les confessions religieuses: séléction des COREL potentielles , engagement des confessions religieuses.</a:t>
            </a:r>
            <a:endParaRPr lang="fr-FR" dirty="0">
              <a:solidFill>
                <a:srgbClr val="000000"/>
              </a:solidFill>
              <a:cs typeface="Arial"/>
            </a:endParaRPr>
          </a:p>
          <a:p>
            <a:pPr marL="285750" indent="-285750">
              <a:lnSpc>
                <a:spcPct val="150000"/>
              </a:lnSpc>
              <a:buFont typeface="Wingdings" panose="05000000000000000000" pitchFamily="2" charset="2"/>
              <a:buChar char="§"/>
            </a:pPr>
            <a:r>
              <a:rPr lang="en-US" dirty="0">
                <a:solidFill>
                  <a:srgbClr val="000000"/>
                </a:solidFill>
                <a:cs typeface="Arial"/>
              </a:rPr>
              <a:t>Renforcement des capacités des COREL : formation des leaders, élaboration de messages.</a:t>
            </a:r>
          </a:p>
          <a:p>
            <a:pPr marL="285750" indent="-285750">
              <a:lnSpc>
                <a:spcPct val="150000"/>
              </a:lnSpc>
              <a:buFont typeface="Wingdings" panose="05000000000000000000" pitchFamily="2" charset="2"/>
              <a:buChar char="§"/>
            </a:pPr>
            <a:r>
              <a:rPr lang="en-US" dirty="0">
                <a:solidFill>
                  <a:srgbClr val="000000"/>
                </a:solidFill>
                <a:cs typeface="Arial"/>
              </a:rPr>
              <a:t>: prêches, points de contact, orientation/ référencement et suivi communautaire en synergie avec les RECO/CAC.</a:t>
            </a:r>
          </a:p>
          <a:p>
            <a:pPr marL="285750" indent="-285750">
              <a:lnSpc>
                <a:spcPct val="150000"/>
              </a:lnSpc>
              <a:buFont typeface="Wingdings" panose="05000000000000000000" pitchFamily="2" charset="2"/>
              <a:buChar char="§"/>
            </a:pPr>
            <a:r>
              <a:rPr lang="en-US" dirty="0">
                <a:solidFill>
                  <a:srgbClr val="000000"/>
                </a:solidFill>
                <a:cs typeface="Arial"/>
              </a:rPr>
              <a:t>Collaboration/Complémentarité communautaire: Sensibilisation par les COREL dans les lieux/rencontres des confessions religieuses, Synergie COREL – OPACO, Accompagnement et appui au rapportage communautaire RECO, CAC, CODESA et appui au rapportage</a:t>
            </a:r>
          </a:p>
          <a:p>
            <a:pPr marL="285750" indent="-285750">
              <a:lnSpc>
                <a:spcPct val="150000"/>
              </a:lnSpc>
              <a:buFont typeface="Wingdings" panose="05000000000000000000" pitchFamily="2" charset="2"/>
              <a:buChar char="§"/>
            </a:pPr>
            <a:r>
              <a:rPr lang="en-US" dirty="0">
                <a:solidFill>
                  <a:srgbClr val="000000"/>
                </a:solidFill>
                <a:cs typeface="Arial"/>
              </a:rPr>
              <a:t>Qualité et visibilité des données communautaires et leur usage: dotation des outils de collecte, appui à la validation des données et au rapportage (papier et DHIS2 Tracker)</a:t>
            </a:r>
          </a:p>
          <a:p>
            <a:pPr marL="285750" indent="-285750">
              <a:lnSpc>
                <a:spcPct val="150000"/>
              </a:lnSpc>
              <a:buFont typeface="Wingdings" panose="05000000000000000000" pitchFamily="2" charset="2"/>
              <a:buChar char="§"/>
            </a:pPr>
            <a:r>
              <a:rPr lang="en-US" dirty="0">
                <a:solidFill>
                  <a:srgbClr val="000000"/>
                </a:solidFill>
                <a:cs typeface="Arial"/>
              </a:rPr>
              <a:t>Supervision structurée: suivi via antennes PEV, certification des données et rapports.</a:t>
            </a:r>
            <a:endParaRPr lang="fr-FR" dirty="0">
              <a:solidFill>
                <a:srgbClr val="000000"/>
              </a:solidFill>
              <a:cs typeface="Arial"/>
            </a:endParaRPr>
          </a:p>
          <a:p>
            <a:pPr marL="0" lvl="0" indent="0" algn="l" rtl="0">
              <a:lnSpc>
                <a:spcPct val="150000"/>
              </a:lnSpc>
              <a:spcBef>
                <a:spcPts val="0"/>
              </a:spcBef>
              <a:spcAft>
                <a:spcPts val="0"/>
              </a:spcAft>
              <a:buNone/>
            </a:pPr>
            <a:endParaRPr lang="en-US" altLang="fr-CA" sz="2000"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Recommandations </a:t>
            </a: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20</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81" name="Google Shape;181;g3aabd3d1b2d_0_290"/>
          <p:cNvSpPr/>
          <p:nvPr/>
        </p:nvSpPr>
        <p:spPr>
          <a:xfrm>
            <a:off x="458600" y="1323700"/>
            <a:ext cx="11356500" cy="4764900"/>
          </a:xfrm>
          <a:prstGeom prst="rect">
            <a:avLst/>
          </a:prstGeom>
          <a:solidFill>
            <a:schemeClr val="accent1">
              <a:lumMod val="20000"/>
              <a:lumOff val="80000"/>
            </a:schemeClr>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0" lvl="0" indent="0" algn="l" rtl="0">
              <a:spcBef>
                <a:spcPts val="0"/>
              </a:spcBef>
              <a:spcAft>
                <a:spcPts val="0"/>
              </a:spcAft>
              <a:buNone/>
            </a:pPr>
            <a:r>
              <a:rPr lang="fr-FR" altLang="en-US" sz="2000" b="1" dirty="0">
                <a:latin typeface="Times New Roman" panose="02020603050405020304"/>
                <a:ea typeface="Times New Roman" panose="02020603050405020304"/>
                <a:cs typeface="Times New Roman" panose="02020603050405020304"/>
                <a:sym typeface="Times New Roman" panose="02020603050405020304"/>
              </a:rPr>
              <a:t>Au ministère de la Santé  et au PEV</a:t>
            </a:r>
          </a:p>
          <a:p>
            <a:pPr marL="342900" lvl="0" indent="-342900" algn="l" rtl="0">
              <a:spcBef>
                <a:spcPts val="0"/>
              </a:spcBef>
              <a:spcAft>
                <a:spcPts val="0"/>
              </a:spcAft>
              <a:buFont typeface="Wingdings" panose="05000000000000000000" pitchFamily="2" charset="2"/>
              <a:buChar char="q"/>
            </a:pPr>
            <a:r>
              <a:rPr lang="fr-FR" altLang="en-US" sz="2000" dirty="0">
                <a:latin typeface="Times New Roman" panose="02020603050405020304"/>
                <a:ea typeface="Times New Roman" panose="02020603050405020304"/>
                <a:cs typeface="Times New Roman" panose="02020603050405020304"/>
                <a:sym typeface="Times New Roman" panose="02020603050405020304"/>
              </a:rPr>
              <a:t>Renforcer la coordination des interventions communautaires des différents programmes du ministère de la santé .</a:t>
            </a:r>
          </a:p>
          <a:p>
            <a:pPr marL="342900" lvl="0" indent="-342900" algn="l" rtl="0">
              <a:spcBef>
                <a:spcPts val="0"/>
              </a:spcBef>
              <a:spcAft>
                <a:spcPts val="0"/>
              </a:spcAft>
              <a:buFont typeface="Wingdings" panose="05000000000000000000" pitchFamily="2" charset="2"/>
              <a:buChar char="q"/>
            </a:pPr>
            <a:r>
              <a:rPr lang="fr-FR" altLang="en-US" sz="2000" dirty="0">
                <a:latin typeface="Times New Roman" panose="02020603050405020304"/>
                <a:ea typeface="Times New Roman" panose="02020603050405020304"/>
                <a:cs typeface="Times New Roman" panose="02020603050405020304"/>
                <a:sym typeface="Times New Roman" panose="02020603050405020304"/>
              </a:rPr>
              <a:t>Finaliser la mise en place du SNIS communautaire et le paramétrage des données communautaires dans le DHIS2 </a:t>
            </a:r>
          </a:p>
          <a:p>
            <a:pPr marL="342900" lvl="0" indent="-342900" algn="l" rtl="0">
              <a:spcBef>
                <a:spcPts val="0"/>
              </a:spcBef>
              <a:spcAft>
                <a:spcPts val="0"/>
              </a:spcAft>
              <a:buFont typeface="Wingdings" panose="05000000000000000000" pitchFamily="2" charset="2"/>
              <a:buChar char="q"/>
            </a:pPr>
            <a:r>
              <a:rPr lang="fr-FR" altLang="en-US" sz="2000" dirty="0">
                <a:latin typeface="Times New Roman" panose="02020603050405020304"/>
                <a:ea typeface="Times New Roman" panose="02020603050405020304"/>
                <a:cs typeface="Times New Roman" panose="02020603050405020304"/>
                <a:sym typeface="Times New Roman" panose="02020603050405020304"/>
              </a:rPr>
              <a:t>Encadrer le processus de professionnalisation et institutionnalisation des relais communautaires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g3aabd3d1b2d_0_178"/>
          <p:cNvSpPr txBox="1"/>
          <p:nvPr/>
        </p:nvSpPr>
        <p:spPr>
          <a:xfrm>
            <a:off x="733100" y="1202135"/>
            <a:ext cx="10707600" cy="3576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US" sz="3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rPr>
              <a:t>Merci</a:t>
            </a:r>
            <a:endParaRPr sz="3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3" name="Google Shape;223;g3aabd3d1b2d_0_178"/>
          <p:cNvSpPr/>
          <p:nvPr/>
        </p:nvSpPr>
        <p:spPr>
          <a:xfrm>
            <a:off x="1588" y="2654952"/>
            <a:ext cx="4500900" cy="6549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endParaRPr sz="15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g3aabd3d1b2d_0_178"/>
          <p:cNvSpPr/>
          <p:nvPr/>
        </p:nvSpPr>
        <p:spPr>
          <a:xfrm>
            <a:off x="7689667" y="2654952"/>
            <a:ext cx="4501500" cy="6549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endParaRPr sz="15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6.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7.xml><?xml version="1.0" encoding="utf-8"?>
<p:tagLst xmlns:a="http://schemas.openxmlformats.org/drawingml/2006/main" xmlns:r="http://schemas.openxmlformats.org/officeDocument/2006/relationships" xmlns:p="http://schemas.openxmlformats.org/presentationml/2006/main">
  <p:tag name="TABLE_ENDDRAG_ORIGIN_RECT" val="882*362"/>
  <p:tag name="TABLE_ENDDRAG_RECT" val="36*103*882*362"/>
</p:tagLst>
</file>

<file path=ppt/tags/tag8.xml><?xml version="1.0" encoding="utf-8"?>
<p:tagLst xmlns:a="http://schemas.openxmlformats.org/drawingml/2006/main" xmlns:r="http://schemas.openxmlformats.org/officeDocument/2006/relationships" xmlns:p="http://schemas.openxmlformats.org/presentationml/2006/main">
  <p:tag name="TABLE_ENDDRAG_ORIGIN_RECT" val="882*362"/>
  <p:tag name="TABLE_ENDDRAG_RECT" val="36*103*882*36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Calibri"/>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1573</TotalTime>
  <Words>1877</Words>
  <Application>Microsoft Office PowerPoint</Application>
  <PresentationFormat>Grand écran</PresentationFormat>
  <Paragraphs>325</Paragraphs>
  <Slides>21</Slides>
  <Notes>16</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21</vt:i4>
      </vt:variant>
    </vt:vector>
  </HeadingPairs>
  <TitlesOfParts>
    <vt:vector size="30" baseType="lpstr">
      <vt:lpstr>微软雅黑</vt:lpstr>
      <vt:lpstr>Aptos Narrow</vt:lpstr>
      <vt:lpstr>Arial</vt:lpstr>
      <vt:lpstr>Arial Narrow</vt:lpstr>
      <vt:lpstr>Calibri</vt:lpstr>
      <vt:lpstr>Calibri Light</vt:lpstr>
      <vt:lpstr>Times New Roman</vt:lpstr>
      <vt:lpstr>Wingdings</vt:lpstr>
      <vt:lpstr>Office Theme</vt:lpstr>
      <vt:lpstr>Présentation PowerPoint</vt:lpstr>
      <vt:lpstr>Présentation PowerPoint</vt:lpstr>
      <vt:lpstr>Présentation PowerPoint</vt:lpstr>
      <vt:lpstr>Présentation PowerPoint</vt:lpstr>
      <vt:lpstr>Présentation PowerPoint</vt:lpstr>
      <vt:lpstr>Principaux résultats de FAE  en 2025</vt:lpstr>
      <vt:lpstr>Présentation PowerPoint</vt:lpstr>
      <vt:lpstr>Principaux résultats de FAE  en 2025</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Bienfait Kisamba</dc:creator>
  <cp:lastModifiedBy>Bienfait KISAMBA</cp:lastModifiedBy>
  <cp:revision>13</cp:revision>
  <dcterms:created xsi:type="dcterms:W3CDTF">2025-07-23T00:59:00Z</dcterms:created>
  <dcterms:modified xsi:type="dcterms:W3CDTF">2025-12-16T07:23:34Z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1036-12.2.0.23155</vt:lpwstr>
  </property>
  <property fmtid="{D5CDD505-2E9C-101B-9397-08002B2CF9AE}" pid="3" name="ICV">
    <vt:lpwstr>7B1E43FCB6934876B8E89E70B7276213_13</vt:lpwstr>
  </property>
</Properties>
</file>