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16765064" r:id="rId3"/>
    <p:sldId id="16765068" r:id="rId4"/>
    <p:sldId id="258" r:id="rId5"/>
    <p:sldId id="259" r:id="rId6"/>
    <p:sldId id="260" r:id="rId7"/>
    <p:sldId id="261" r:id="rId8"/>
    <p:sldId id="262" r:id="rId9"/>
    <p:sldId id="16765065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34E9-AEF8-4699-AAA2-E910EB89023C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20260-3FB7-4E53-A64F-A999A634B21B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34E9-AEF8-4699-AAA2-E910EB89023C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20260-3FB7-4E53-A64F-A999A634B21B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34E9-AEF8-4699-AAA2-E910EB89023C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20260-3FB7-4E53-A64F-A999A634B21B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34E9-AEF8-4699-AAA2-E910EB89023C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20260-3FB7-4E53-A64F-A999A634B21B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34E9-AEF8-4699-AAA2-E910EB89023C}" type="datetimeFigureOut">
              <a:rPr lang="fr-FR" smtClean="0"/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20260-3FB7-4E53-A64F-A999A634B21B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34E9-AEF8-4699-AAA2-E910EB89023C}" type="datetimeFigureOut">
              <a:rPr lang="fr-FR" smtClean="0"/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20260-3FB7-4E53-A64F-A999A634B21B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34E9-AEF8-4699-AAA2-E910EB89023C}" type="datetimeFigureOut">
              <a:rPr lang="fr-FR" smtClean="0"/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20260-3FB7-4E53-A64F-A999A634B21B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34E9-AEF8-4699-AAA2-E910EB89023C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20260-3FB7-4E53-A64F-A999A634B21B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34E9-AEF8-4699-AAA2-E910EB89023C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20260-3FB7-4E53-A64F-A999A634B21B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34E9-AEF8-4699-AAA2-E910EB89023C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20260-3FB7-4E53-A64F-A999A634B21B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F34E9-AEF8-4699-AAA2-E910EB89023C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20260-3FB7-4E53-A64F-A999A634B21B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F34E9-AEF8-4699-AAA2-E910EB89023C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A20260-3FB7-4E53-A64F-A999A634B21B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49"/>
          <p:cNvSpPr/>
          <p:nvPr/>
        </p:nvSpPr>
        <p:spPr>
          <a:xfrm>
            <a:off x="-102002" y="1231223"/>
            <a:ext cx="4892542" cy="5385239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 panose="020F0502020204030204"/>
            </a:endParaRPr>
          </a:p>
        </p:txBody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27" y="241538"/>
            <a:ext cx="4720013" cy="6618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Rectangle 2"/>
          <p:cNvSpPr/>
          <p:nvPr/>
        </p:nvSpPr>
        <p:spPr>
          <a:xfrm>
            <a:off x="5094433" y="169882"/>
            <a:ext cx="6959544" cy="138366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BE" sz="2000" b="0" i="0" u="none" strike="noStrike" kern="1200" cap="none" spc="0" baseline="0" dirty="0">
              <a:solidFill>
                <a:srgbClr val="000000"/>
              </a:solidFill>
              <a:uFillTx/>
              <a:latin typeface="Candara" panose="020E0502030303020204" pitchFamily="34"/>
              <a:cs typeface="Arial" panose="020B0604020202020204" pitchFamily="34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3200" b="1" i="0" u="none" strike="noStrike" kern="1200" cap="none" spc="0" baseline="0" dirty="0">
                <a:solidFill>
                  <a:srgbClr val="000000"/>
                </a:solidFill>
                <a:uFillTx/>
                <a:latin typeface="Candara" panose="020E0502030303020204" pitchFamily="34"/>
                <a:cs typeface="Arial" panose="020B0604020202020204" pitchFamily="34"/>
              </a:rPr>
              <a:t>VILLE PROVINCE DE KINSHASA</a:t>
            </a:r>
            <a:endParaRPr lang="fr-FR" sz="3200" b="1" i="0" u="none" strike="noStrike" kern="1200" cap="none" spc="0" baseline="0" dirty="0">
              <a:solidFill>
                <a:srgbClr val="000000"/>
              </a:solidFill>
              <a:uFillTx/>
              <a:latin typeface="Candara" panose="020E0502030303020204" pitchFamily="34"/>
              <a:cs typeface="Arial" panose="020B0604020202020204" pitchFamily="34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" altLang="fr-FR" sz="3200" b="1" i="0" u="none" strike="noStrike" kern="1200" cap="none" spc="0" baseline="0" dirty="0">
                <a:solidFill>
                  <a:srgbClr val="000000"/>
                </a:solidFill>
                <a:uFillTx/>
                <a:latin typeface="Candara" panose="020E0502030303020204" pitchFamily="34"/>
                <a:cs typeface="Arial" panose="020B0604020202020204" pitchFamily="34"/>
              </a:rPr>
              <a:t>Mission conjointe</a:t>
            </a:r>
            <a:endParaRPr lang="" altLang="fr-FR" sz="3200" b="1" i="0" u="none" strike="noStrike" kern="1200" cap="none" spc="0" baseline="0" dirty="0">
              <a:solidFill>
                <a:srgbClr val="000000"/>
              </a:solidFill>
              <a:uFillTx/>
              <a:latin typeface="Candara" panose="020E0502030303020204" pitchFamily="34"/>
              <a:cs typeface="Arial" panose="020B0604020202020204" pitchFamily="34"/>
            </a:endParaRPr>
          </a:p>
        </p:txBody>
      </p:sp>
      <p:sp>
        <p:nvSpPr>
          <p:cNvPr id="5" name="Titre 1"/>
          <p:cNvSpPr txBox="1"/>
          <p:nvPr/>
        </p:nvSpPr>
        <p:spPr>
          <a:xfrm>
            <a:off x="4790440" y="1885950"/>
            <a:ext cx="7401560" cy="30841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br>
              <a:rPr lang="fr-FR" sz="2800" b="1" i="0" u="none" strike="noStrike" kern="1200" cap="none" spc="0" baseline="0" dirty="0">
                <a:solidFill>
                  <a:srgbClr val="C00000"/>
                </a:solidFill>
                <a:effectLst>
                  <a:outerShdw dist="38096" dir="2700000">
                    <a:srgbClr val="000000"/>
                  </a:outerShdw>
                </a:effectLst>
                <a:uFillTx/>
                <a:latin typeface="Candara" panose="020E0502030303020204" pitchFamily="34" charset="0"/>
              </a:rPr>
            </a:br>
            <a:r>
              <a:rPr lang="fr-FR" sz="2800" b="1" dirty="0">
                <a:solidFill>
                  <a:srgbClr val="000000"/>
                </a:solidFill>
                <a:effectLst>
                  <a:outerShdw dist="38096" dir="2700000">
                    <a:srgbClr val="000000"/>
                  </a:outerShdw>
                </a:effectLst>
                <a:latin typeface="Candara" panose="020E0502030303020204" pitchFamily="34" charset="0"/>
              </a:rPr>
              <a:t>Quelques défis et Recommandations Spécifiques  issues des supervisions conjointes</a:t>
            </a:r>
            <a:endParaRPr lang="fr-FR" sz="2800" b="1" dirty="0">
              <a:solidFill>
                <a:srgbClr val="000000"/>
              </a:solidFill>
              <a:effectLst>
                <a:outerShdw dist="38096" dir="2700000">
                  <a:srgbClr val="000000"/>
                </a:outerShdw>
              </a:effectLst>
              <a:latin typeface="Candara" panose="020E0502030303020204" pitchFamily="34" charset="0"/>
            </a:endParaRP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800" b="1" dirty="0">
                <a:solidFill>
                  <a:srgbClr val="000000"/>
                </a:solidFill>
                <a:effectLst>
                  <a:outerShdw dist="38096" dir="2700000">
                    <a:srgbClr val="000000"/>
                  </a:outerShdw>
                </a:effectLst>
                <a:latin typeface="Candara" panose="020E0502030303020204" pitchFamily="34" charset="0"/>
              </a:rPr>
              <a:t>dans les 9 zones de santé</a:t>
            </a:r>
            <a:r>
              <a:rPr lang="en-US" altLang="fr-FR" sz="2800" b="1" dirty="0">
                <a:solidFill>
                  <a:srgbClr val="000000"/>
                </a:solidFill>
                <a:effectLst>
                  <a:outerShdw dist="38096" dir="2700000">
                    <a:srgbClr val="000000"/>
                  </a:outerShdw>
                </a:effectLst>
                <a:latin typeface="Candara" panose="020E0502030303020204" pitchFamily="34" charset="0"/>
              </a:rPr>
              <a:t> contre performantes</a:t>
            </a:r>
            <a:r>
              <a:rPr lang="fr-FR" sz="2800" b="1" dirty="0">
                <a:solidFill>
                  <a:srgbClr val="000000"/>
                </a:solidFill>
                <a:effectLst>
                  <a:outerShdw dist="38096" dir="2700000">
                    <a:srgbClr val="000000"/>
                  </a:outerShdw>
                </a:effectLst>
                <a:latin typeface="Candara" panose="020E0502030303020204" pitchFamily="34" charset="0"/>
              </a:rPr>
              <a:t> visitées</a:t>
            </a:r>
            <a:r>
              <a:rPr lang="en-US" altLang="fr-FR" sz="2800" b="1" dirty="0">
                <a:solidFill>
                  <a:srgbClr val="000000"/>
                </a:solidFill>
                <a:effectLst>
                  <a:outerShdw dist="38096" dir="2700000">
                    <a:srgbClr val="000000"/>
                  </a:outerShdw>
                </a:effectLst>
                <a:latin typeface="Candara" panose="020E0502030303020204" pitchFamily="34" charset="0"/>
              </a:rPr>
              <a:t> dans les 3 antennes de ville de Kinshasa</a:t>
            </a:r>
            <a:r>
              <a:rPr lang="fr-FR" sz="2800" b="1" dirty="0">
                <a:solidFill>
                  <a:srgbClr val="000000"/>
                </a:solidFill>
                <a:effectLst>
                  <a:outerShdw dist="38096" dir="2700000">
                    <a:srgbClr val="000000"/>
                  </a:outerShdw>
                </a:effectLst>
                <a:latin typeface="Candara" panose="020E0502030303020204" pitchFamily="34" charset="0"/>
              </a:rPr>
              <a:t>: </a:t>
            </a:r>
            <a:endParaRPr lang="fr-FR" sz="2800" b="1" dirty="0">
              <a:solidFill>
                <a:srgbClr val="000000"/>
              </a:solidFill>
              <a:effectLst>
                <a:outerShdw dist="38096" dir="2700000">
                  <a:srgbClr val="000000"/>
                </a:outerShdw>
              </a:effectLst>
              <a:latin typeface="Candara" panose="020E0502030303020204" pitchFamily="34" charset="0"/>
            </a:endParaRP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altLang="fr-FR" sz="2800" b="1" dirty="0">
                <a:solidFill>
                  <a:srgbClr val="000000"/>
                </a:solidFill>
                <a:effectLst>
                  <a:outerShdw dist="38096" dir="2700000">
                    <a:srgbClr val="000000"/>
                  </a:outerShdw>
                </a:effectLst>
                <a:latin typeface="Candara" panose="020E0502030303020204" pitchFamily="34" charset="0"/>
              </a:rPr>
              <a:t>Bandal,Mongafula1</a:t>
            </a:r>
            <a:r>
              <a:rPr lang="" altLang="en-US" sz="2800" b="1" dirty="0">
                <a:solidFill>
                  <a:srgbClr val="000000"/>
                </a:solidFill>
                <a:effectLst>
                  <a:outerShdw dist="38096" dir="2700000">
                    <a:srgbClr val="000000"/>
                  </a:outerShdw>
                </a:effectLst>
                <a:latin typeface="Candara" panose="020E0502030303020204" pitchFamily="34" charset="0"/>
              </a:rPr>
              <a:t>,Mongafula2</a:t>
            </a:r>
            <a:r>
              <a:rPr lang="en-US" altLang="fr-FR" sz="2800" b="1" dirty="0">
                <a:solidFill>
                  <a:srgbClr val="000000"/>
                </a:solidFill>
                <a:effectLst>
                  <a:outerShdw dist="38096" dir="2700000">
                    <a:srgbClr val="000000"/>
                  </a:outerShdw>
                </a:effectLst>
                <a:latin typeface="Candara" panose="020E0502030303020204" pitchFamily="34" charset="0"/>
              </a:rPr>
              <a:t> 2,Kisenso,Limeté,Kalamu2,Ndjili,Maluku1</a:t>
            </a:r>
            <a:r>
              <a:rPr lang="" altLang="en-US" sz="2800" b="1" dirty="0">
                <a:solidFill>
                  <a:srgbClr val="000000"/>
                </a:solidFill>
                <a:effectLst>
                  <a:outerShdw dist="38096" dir="2700000">
                    <a:srgbClr val="000000"/>
                  </a:outerShdw>
                </a:effectLst>
                <a:latin typeface="Candara" panose="020E0502030303020204" pitchFamily="34" charset="0"/>
              </a:rPr>
              <a:t> et Kingasani</a:t>
            </a:r>
            <a:endParaRPr lang="fr-FR" sz="2800" b="1" dirty="0">
              <a:solidFill>
                <a:srgbClr val="000000"/>
              </a:solidFill>
              <a:effectLst>
                <a:outerShdw dist="38096" dir="2700000">
                  <a:srgbClr val="000000"/>
                </a:outerShdw>
              </a:effectLst>
              <a:latin typeface="Candara" panose="020E0502030303020204" pitchFamily="34" charset="0"/>
            </a:endParaRPr>
          </a:p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800" i="1" u="none" strike="noStrike" kern="0" cap="none" spc="0" baseline="0" dirty="0">
              <a:solidFill>
                <a:srgbClr val="FF0000"/>
              </a:solidFill>
              <a:effectLst>
                <a:outerShdw dist="38096" dir="2700000">
                  <a:srgbClr val="000000"/>
                </a:outerShdw>
              </a:effectLst>
              <a:uFillTx/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40105" y="365125"/>
            <a:ext cx="10515600" cy="855345"/>
          </a:xfrm>
        </p:spPr>
        <p:txBody>
          <a:bodyPr/>
          <a:p>
            <a:endParaRPr lang="fr-FR" alt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40105" y="1447800"/>
            <a:ext cx="5157470" cy="4742180"/>
          </a:xfrm>
        </p:spPr>
        <p:txBody>
          <a:bodyPr>
            <a:normAutofit fontScale="90000" lnSpcReduction="20000"/>
          </a:bodyPr>
          <a:p>
            <a:r>
              <a:rPr lang="en-US" sz="2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Les supervisions conjointes OMS-Antennes PEV </a:t>
            </a:r>
            <a:r>
              <a:rPr lang="en-US" sz="2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ont ciblé </a:t>
            </a:r>
            <a:r>
              <a:rPr lang="en-US" altLang="en-US" sz="2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neuf</a:t>
            </a:r>
            <a:r>
              <a:rPr lang="en-US" sz="2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 zones de santé identifiées comme moins performantes au cours d</a:t>
            </a:r>
            <a:r>
              <a:rPr lang="en-US" altLang="en-US" sz="2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u 1 er semestre 2025, </a:t>
            </a:r>
            <a:r>
              <a:rPr lang="" altLang="en-US" sz="2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completé par le</a:t>
            </a:r>
            <a:r>
              <a:rPr lang="en-US" altLang="en-US" sz="2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 monitorage du mois d’Aout,</a:t>
            </a:r>
            <a:r>
              <a:rPr lang="en-US" sz="2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d</a:t>
            </a:r>
            <a:r>
              <a:rPr lang="en-US" altLang="en-US" sz="2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e </a:t>
            </a:r>
            <a:r>
              <a:rPr lang="en-US" sz="2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septembre  2025</a:t>
            </a:r>
            <a:r>
              <a:rPr lang="en-US" altLang="en-US" sz="2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 et de la classification ACZ</a:t>
            </a:r>
            <a:endParaRPr lang="en-US" altLang="en-US" sz="220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  <a:sym typeface="+mn-ea"/>
            </a:endParaRPr>
          </a:p>
          <a:p>
            <a:r>
              <a:rPr lang="en-US" altLang="en-US" sz="2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S</a:t>
            </a:r>
            <a:r>
              <a:rPr lang="en-US" sz="2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eptembre 2025</a:t>
            </a:r>
            <a:r>
              <a:rPr lang="en-US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 :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 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Kisenso, Ndjili et Bandalungwa</a:t>
            </a:r>
            <a:endParaRPr lang="en-US" dirty="0"/>
          </a:p>
          <a:p>
            <a:r>
              <a:rPr lang="en-US" altLang="en-US" sz="2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Octobre 2025</a:t>
            </a:r>
            <a:r>
              <a:rPr lang="en-US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 :</a:t>
            </a: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 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Kisenso, Ndjili, Bandalungwa</a:t>
            </a:r>
            <a:r>
              <a:rPr lang="en-US" alt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,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Limete, Mal</a:t>
            </a:r>
            <a:r>
              <a:rPr lang="en-US" alt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uku1</a:t>
            </a:r>
            <a:r>
              <a:rPr lang="" alt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,Mongafula2</a:t>
            </a:r>
            <a:endParaRPr lang="en-US" altLang="en-US" sz="240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  <a:sym typeface="+mn-ea"/>
            </a:endParaRPr>
          </a:p>
          <a:p>
            <a:r>
              <a:rPr lang="en-US" altLang="en-US" sz="2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Nov</a:t>
            </a:r>
            <a:r>
              <a:rPr lang="en-US" sz="2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embre 2025</a:t>
            </a:r>
            <a:r>
              <a:rPr lang="en-US" altLang="en-US" sz="2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 : </a:t>
            </a:r>
            <a:r>
              <a:rPr lang="en-US" alt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Mongafula2,Mongafula1</a:t>
            </a: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Limete, Mal</a:t>
            </a:r>
            <a:r>
              <a:rPr lang="en-US" alt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uku1,Kalamu2</a:t>
            </a:r>
            <a:r>
              <a:rPr lang="" alt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  <a:sym typeface="+mn-ea"/>
              </a:rPr>
              <a:t>,Kingasani</a:t>
            </a:r>
            <a:endParaRPr lang="en-US" altLang="en-US" sz="240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  <a:sym typeface="+mn-ea"/>
            </a:endParaRPr>
          </a:p>
          <a:p>
            <a:endParaRPr lang="en-US" altLang="en-US" sz="2400" b="1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  <a:sym typeface="+mn-ea"/>
            </a:endParaRPr>
          </a:p>
        </p:txBody>
      </p:sp>
      <p:pic>
        <p:nvPicPr>
          <p:cNvPr id="8" name="Espace réservé du contenu 7"/>
          <p:cNvPicPr>
            <a:picLocks noChangeAspect="1"/>
          </p:cNvPicPr>
          <p:nvPr>
            <p:ph sz="quarter" idx="4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447800"/>
            <a:ext cx="5183505" cy="452882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Titre 1"/>
          <p:cNvSpPr>
            <a:spLocks noGrp="1"/>
          </p:cNvSpPr>
          <p:nvPr/>
        </p:nvSpPr>
        <p:spPr>
          <a:xfrm>
            <a:off x="793790" y="365126"/>
            <a:ext cx="10560010" cy="775416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 fontScale="8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ts val="5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41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I. </a:t>
            </a:r>
            <a:r>
              <a:rPr kumimoji="0" lang="en-US" sz="41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Contexte</a:t>
            </a:r>
            <a:r>
              <a:rPr kumimoji="0" lang="en-US" sz="4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de la Mission</a:t>
            </a:r>
            <a:endParaRPr lang="fr-FR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8734" y="200738"/>
            <a:ext cx="11922304" cy="549275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FFFF00"/>
                </a:solidFill>
                <a:latin typeface="Candara" panose="020E0502030303020204" pitchFamily="34" charset="0"/>
              </a:rPr>
              <a:t>Défis majeurs</a:t>
            </a:r>
            <a:endParaRPr lang="fr-FR" b="1" dirty="0">
              <a:solidFill>
                <a:srgbClr val="FFFF00"/>
              </a:solidFill>
              <a:latin typeface="Candara" panose="020E0502030303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1749" y="1019496"/>
            <a:ext cx="11809289" cy="5494320"/>
          </a:xfrm>
        </p:spPr>
        <p:txBody>
          <a:bodyPr>
            <a:normAutofit fontScale="90000" lnSpcReduction="10000"/>
          </a:bodyPr>
          <a:lstStyle/>
          <a:p>
            <a:pPr marL="457200" lvl="0" indent="-457200" algn="just">
              <a:buFont typeface="+mj-lt"/>
              <a:buAutoNum type="arabicPeriod"/>
            </a:pPr>
            <a:r>
              <a:rPr lang="fr-FR" sz="3200" dirty="0">
                <a:latin typeface="Candara" panose="020E0502030303020204" pitchFamily="34" charset="0"/>
              </a:rPr>
              <a:t>Coordination et gouvernance : Leadership MCZ faible, faible implication des MCZ dans la supervision </a:t>
            </a:r>
            <a:r>
              <a:rPr lang="" altLang="fr-FR" sz="3200" dirty="0">
                <a:latin typeface="Candara" panose="020E0502030303020204" pitchFamily="34" charset="0"/>
              </a:rPr>
              <a:t>de la vaccination de routine</a:t>
            </a:r>
            <a:r>
              <a:rPr lang="fr-FR" sz="3200" dirty="0">
                <a:latin typeface="Candara" panose="020E0502030303020204" pitchFamily="34" charset="0"/>
              </a:rPr>
              <a:t>.​</a:t>
            </a:r>
            <a:endParaRPr lang="fr-FR" sz="3200" dirty="0">
              <a:latin typeface="Candara" panose="020E0502030303020204" pitchFamily="34" charset="0"/>
            </a:endParaRPr>
          </a:p>
          <a:p>
            <a:pPr marL="457200" lvl="0" indent="-457200" algn="just">
              <a:buFont typeface="+mj-lt"/>
              <a:buAutoNum type="arabicPeriod"/>
            </a:pPr>
            <a:r>
              <a:rPr lang="fr-FR" sz="3200" dirty="0">
                <a:latin typeface="Candara" panose="020E0502030303020204" pitchFamily="34" charset="0"/>
              </a:rPr>
              <a:t>Planification et ressources : Absence de micro plan 2025, mauvaise maîtrise des</a:t>
            </a:r>
            <a:r>
              <a:rPr lang="en-US" altLang="fr-FR" sz="3200" dirty="0">
                <a:latin typeface="Candara" panose="020E0502030303020204" pitchFamily="34" charset="0"/>
              </a:rPr>
              <a:t> populations</a:t>
            </a:r>
            <a:r>
              <a:rPr lang="fr-FR" sz="3200" dirty="0">
                <a:latin typeface="Candara" panose="020E0502030303020204" pitchFamily="34" charset="0"/>
              </a:rPr>
              <a:t> cibles</a:t>
            </a:r>
            <a:r>
              <a:rPr lang="en-US" altLang="fr-FR" sz="3200" dirty="0">
                <a:latin typeface="Candara" panose="020E0502030303020204" pitchFamily="34" charset="0"/>
              </a:rPr>
              <a:t> par les chargés de vaccination des AS</a:t>
            </a:r>
            <a:r>
              <a:rPr lang="fr-FR" sz="3200" dirty="0">
                <a:latin typeface="Candara" panose="020E0502030303020204" pitchFamily="34" charset="0"/>
              </a:rPr>
              <a:t> ,</a:t>
            </a:r>
            <a:r>
              <a:rPr lang="en-US" altLang="fr-FR" sz="3200" dirty="0">
                <a:latin typeface="Candara" panose="020E0502030303020204" pitchFamily="34" charset="0"/>
              </a:rPr>
              <a:t>non maitrise</a:t>
            </a:r>
            <a:r>
              <a:rPr lang="fr-FR" sz="3200" dirty="0">
                <a:latin typeface="Candara" panose="020E0502030303020204" pitchFamily="34" charset="0"/>
              </a:rPr>
              <a:t> du nombre des séances de vaccination sur</a:t>
            </a:r>
            <a:r>
              <a:rPr lang="en-US" altLang="fr-FR" sz="3200" dirty="0">
                <a:latin typeface="Candara" panose="020E0502030303020204" pitchFamily="34" charset="0"/>
              </a:rPr>
              <a:t> la </a:t>
            </a:r>
            <a:r>
              <a:rPr lang="fr-FR" sz="3200" dirty="0">
                <a:latin typeface="Candara" panose="020E0502030303020204" pitchFamily="34" charset="0"/>
              </a:rPr>
              <a:t>base  du poids démographique, estimation insuffisante des besoins en vaccins et intrants, forte dépendance aux ESS privés et prestataires non stabilisés, </a:t>
            </a:r>
            <a:r>
              <a:rPr lang="en-US" altLang="fr-FR" sz="3200" dirty="0">
                <a:latin typeface="Candara" panose="020E0502030303020204" pitchFamily="34" charset="0"/>
              </a:rPr>
              <a:t>Les c</a:t>
            </a:r>
            <a:r>
              <a:rPr lang="fr-FR" sz="3200" dirty="0">
                <a:latin typeface="Candara" panose="020E0502030303020204" pitchFamily="34" charset="0"/>
              </a:rPr>
              <a:t>hargés de vaccination</a:t>
            </a:r>
            <a:r>
              <a:rPr lang="en-US" altLang="fr-FR" sz="3200" dirty="0">
                <a:latin typeface="Candara" panose="020E0502030303020204" pitchFamily="34" charset="0"/>
              </a:rPr>
              <a:t> des AS</a:t>
            </a:r>
            <a:r>
              <a:rPr lang="fr-FR" sz="3200" dirty="0">
                <a:latin typeface="Candara" panose="020E0502030303020204" pitchFamily="34" charset="0"/>
              </a:rPr>
              <a:t> non formés en gestion PEV (Formation ayant ciblé les Infirmiers titulaires), AS surpeuplées</a:t>
            </a:r>
            <a:r>
              <a:rPr lang="en-US" altLang="fr-FR" sz="3200" dirty="0">
                <a:latin typeface="Candara" panose="020E0502030303020204" pitchFamily="34" charset="0"/>
              </a:rPr>
              <a:t> et</a:t>
            </a:r>
            <a:r>
              <a:rPr lang="fr-FR" sz="3200" dirty="0">
                <a:latin typeface="Candara" panose="020E0502030303020204" pitchFamily="34" charset="0"/>
              </a:rPr>
              <a:t> excentriques</a:t>
            </a:r>
            <a:endParaRPr lang="fr-FR" sz="3200" dirty="0">
              <a:latin typeface="Candara" panose="020E0502030303020204" pitchFamily="34" charset="0"/>
            </a:endParaRPr>
          </a:p>
          <a:p>
            <a:pPr marL="457200" lvl="0" indent="-457200" algn="just">
              <a:buFont typeface="+mj-lt"/>
              <a:buAutoNum type="arabicPeriod"/>
            </a:pPr>
            <a:r>
              <a:rPr lang="fr-FR" sz="3200" dirty="0">
                <a:latin typeface="Candara" panose="020E0502030303020204" pitchFamily="34" charset="0"/>
              </a:rPr>
              <a:t>Atteinte des cibles : Mauvaise planification et réalisation des séances, stratégies avancées/innovantes (OVM, points de concentration) non planifiées ou non réalisées, motivation financière qui n’arrive pas aux prestataires</a:t>
            </a:r>
            <a:r>
              <a:rPr lang="en-US" altLang="fr-FR" sz="3200" dirty="0">
                <a:latin typeface="Candara" panose="020E0502030303020204" pitchFamily="34" charset="0"/>
              </a:rPr>
              <a:t> réalisant les séances de vaccination avancées</a:t>
            </a:r>
            <a:r>
              <a:rPr lang="fr-FR" sz="3200" dirty="0">
                <a:latin typeface="Candara" panose="020E0502030303020204" pitchFamily="34" charset="0"/>
              </a:rPr>
              <a:t>.​</a:t>
            </a:r>
            <a:endParaRPr lang="fr-FR" sz="3200" dirty="0">
              <a:latin typeface="Candara" panose="020E0502030303020204" pitchFamily="34" charset="0"/>
            </a:endParaRPr>
          </a:p>
          <a:p>
            <a:pPr marL="0" indent="0" algn="just">
              <a:buNone/>
            </a:pPr>
            <a:endParaRPr lang="fr-FR" sz="3200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1750" y="1076004"/>
            <a:ext cx="11737369" cy="5689528"/>
          </a:xfrm>
        </p:spPr>
        <p:txBody>
          <a:bodyPr>
            <a:normAutofit/>
          </a:bodyPr>
          <a:lstStyle/>
          <a:p>
            <a:pPr marL="457200" lvl="0" indent="-457200" algn="just">
              <a:buFont typeface="+mj-lt"/>
              <a:buAutoNum type="arabicPeriod" startAt="4"/>
            </a:pPr>
            <a:r>
              <a:rPr lang="fr-FR" sz="3200" dirty="0">
                <a:latin typeface="Candara" panose="020E0502030303020204" pitchFamily="34" charset="0"/>
              </a:rPr>
              <a:t>Supervision formative : Supervisions de mauvaise qualité, centrées sur le</a:t>
            </a:r>
            <a:r>
              <a:rPr lang="en-US" altLang="fr-FR" sz="3200" dirty="0">
                <a:latin typeface="Candara" panose="020E0502030303020204" pitchFamily="34" charset="0"/>
              </a:rPr>
              <a:t>s IS</a:t>
            </a:r>
            <a:r>
              <a:rPr lang="fr-FR" sz="3200" dirty="0">
                <a:latin typeface="Candara" panose="020E0502030303020204" pitchFamily="34" charset="0"/>
              </a:rPr>
              <a:t>PEV avec faible engagement des MCZ, mauvaise répartition des frais de supervision</a:t>
            </a:r>
            <a:r>
              <a:rPr lang="en-US" altLang="fr-FR" sz="3200" dirty="0">
                <a:latin typeface="Candara" panose="020E0502030303020204" pitchFamily="34" charset="0"/>
              </a:rPr>
              <a:t> issue (de la </a:t>
            </a:r>
            <a:r>
              <a:rPr lang="en-US" altLang="fr-FR" sz="3200" dirty="0">
                <a:latin typeface="Candara" panose="020E0502030303020204" pitchFamily="34" charset="0"/>
              </a:rPr>
              <a:t>prime de performance mashako)</a:t>
            </a:r>
            <a:r>
              <a:rPr lang="fr-FR" sz="3200" dirty="0">
                <a:latin typeface="Candara" panose="020E0502030303020204" pitchFamily="34" charset="0"/>
              </a:rPr>
              <a:t>.​</a:t>
            </a:r>
            <a:endParaRPr lang="fr-FR" sz="3200" dirty="0">
              <a:latin typeface="Candara" panose="020E0502030303020204" pitchFamily="34" charset="0"/>
            </a:endParaRPr>
          </a:p>
          <a:p>
            <a:pPr marL="457200" lvl="0" indent="-457200" algn="just">
              <a:buFont typeface="+mj-lt"/>
              <a:buAutoNum type="arabicPeriod" startAt="4"/>
            </a:pPr>
            <a:r>
              <a:rPr lang="fr-FR" sz="3200" dirty="0">
                <a:latin typeface="Candara" panose="020E0502030303020204" pitchFamily="34" charset="0"/>
              </a:rPr>
              <a:t>Monitorage pour l’action : Faiblesse des outils de collecte </a:t>
            </a:r>
            <a:r>
              <a:rPr lang="fr-FR" dirty="0">
                <a:latin typeface="Candara" panose="020E0502030303020204" pitchFamily="34" charset="0"/>
              </a:rPr>
              <a:t>(absence de registres/pointage et/ou mal utilisées, quantité insuffisance par rapport aux ESS qui vaccinent), </a:t>
            </a:r>
            <a:r>
              <a:rPr lang="fr-FR" sz="3200" dirty="0">
                <a:latin typeface="Candara" panose="020E0502030303020204" pitchFamily="34" charset="0"/>
              </a:rPr>
              <a:t>données mal organisées, incohérentes à partir des différentes sources , sans courbes de suivi, réunions de monitorage mensuel peu qualitatives.​</a:t>
            </a:r>
            <a:endParaRPr lang="fr-FR" sz="3200" dirty="0">
              <a:latin typeface="Candara" panose="020E0502030303020204" pitchFamily="34" charset="0"/>
            </a:endParaRPr>
          </a:p>
          <a:p>
            <a:pPr marL="457200" lvl="0" indent="-457200" algn="just">
              <a:buFont typeface="+mj-lt"/>
              <a:buAutoNum type="arabicPeriod" startAt="4"/>
            </a:pPr>
            <a:r>
              <a:rPr lang="fr-FR" sz="3200" dirty="0">
                <a:latin typeface="Candara" panose="020E0502030303020204" pitchFamily="34" charset="0"/>
              </a:rPr>
              <a:t>Liens communautaires : Absence de plan de communication intégrant le PEV, pas de système structuré pour identifier et rattraper les enfants en retard vaccinal.​</a:t>
            </a:r>
            <a:endParaRPr lang="fr-FR" sz="3200" dirty="0">
              <a:latin typeface="Candara" panose="020E0502030303020204" pitchFamily="34" charset="0"/>
            </a:endParaRPr>
          </a:p>
          <a:p>
            <a:pPr marL="457200" indent="-457200" algn="just">
              <a:buFont typeface="+mj-lt"/>
              <a:buAutoNum type="arabicPeriod" startAt="4"/>
            </a:pPr>
            <a:endParaRPr lang="fr-FR" sz="3200" dirty="0">
              <a:latin typeface="Candara" panose="020E0502030303020204" pitchFamily="34" charset="0"/>
            </a:endParaRPr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08734" y="200738"/>
            <a:ext cx="11922304" cy="549275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FFFF00"/>
                </a:solidFill>
                <a:latin typeface="Candara" panose="020E0502030303020204" pitchFamily="34" charset="0"/>
              </a:rPr>
              <a:t>Défis majeurs</a:t>
            </a:r>
            <a:endParaRPr lang="fr-FR" b="1" dirty="0">
              <a:solidFill>
                <a:srgbClr val="FFFF00"/>
              </a:solidFill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1775" y="102235"/>
            <a:ext cx="11960225" cy="433070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FFFF00"/>
                </a:solidFill>
                <a:latin typeface="Candara" panose="020E0502030303020204" pitchFamily="34" charset="0"/>
              </a:rPr>
              <a:t>Recommandations</a:t>
            </a:r>
            <a:endParaRPr lang="fr-FR" b="1" dirty="0">
              <a:solidFill>
                <a:srgbClr val="FFFF00"/>
              </a:solidFill>
              <a:latin typeface="Candara" panose="020E0502030303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31775" y="455930"/>
            <a:ext cx="11778615" cy="64027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b="1" dirty="0">
                <a:latin typeface="Candara" panose="020E0502030303020204" pitchFamily="34" charset="0"/>
              </a:rPr>
              <a:t>Recommandations en coordination</a:t>
            </a:r>
            <a:endParaRPr lang="fr-FR" dirty="0">
              <a:latin typeface="Candara" panose="020E0502030303020204" pitchFamily="34" charset="0"/>
            </a:endParaRPr>
          </a:p>
          <a:p>
            <a:pPr lvl="0"/>
            <a:r>
              <a:rPr lang="fr-FR" sz="2500" dirty="0">
                <a:latin typeface="Candara" panose="020E0502030303020204" pitchFamily="34" charset="0"/>
              </a:rPr>
              <a:t>Renforcer le leadership du MCZ par un accompagnement ciblé (coaching, clarification des rôles, intégration systématique aux supervisions, restitution des performances par aire de santé).​</a:t>
            </a:r>
            <a:r>
              <a:rPr lang="en-US" altLang="fr-FR" sz="2500" dirty="0">
                <a:latin typeface="Candara" panose="020E0502030303020204" pitchFamily="34" charset="0"/>
              </a:rPr>
              <a:t> Responsable : CD,MC</a:t>
            </a:r>
            <a:r>
              <a:rPr lang="en-US" altLang="en-US" sz="2500" dirty="0">
                <a:latin typeface="Candara" panose="020E0502030303020204" pitchFamily="34" charset="0"/>
              </a:rPr>
              <a:t>P,MCA</a:t>
            </a:r>
            <a:endParaRPr lang="fr-FR" sz="2500" dirty="0">
              <a:latin typeface="Candara" panose="020E0502030303020204" pitchFamily="34" charset="0"/>
            </a:endParaRPr>
          </a:p>
          <a:p>
            <a:pPr lvl="0"/>
            <a:r>
              <a:rPr lang="fr-FR" sz="2500" dirty="0">
                <a:latin typeface="Candara" panose="020E0502030303020204" pitchFamily="34" charset="0"/>
              </a:rPr>
              <a:t>Instituer un cadre mensuel de coordination PEV (réunion MCZ–superviseur PEV–responsables ESS) avec plan d’actions suivi et responsabilités clairement définies.​</a:t>
            </a:r>
            <a:r>
              <a:rPr lang="en-US" altLang="fr-FR" sz="2500" dirty="0">
                <a:latin typeface="Candara" panose="020E0502030303020204" pitchFamily="34" charset="0"/>
              </a:rPr>
              <a:t> Responsable : CD</a:t>
            </a:r>
            <a:endParaRPr lang="fr-FR" sz="2500" dirty="0">
              <a:latin typeface="Candara" panose="020E0502030303020204" pitchFamily="34" charset="0"/>
            </a:endParaRPr>
          </a:p>
          <a:p>
            <a:pPr marL="0" indent="0">
              <a:buNone/>
            </a:pPr>
            <a:r>
              <a:rPr lang="fr-FR" b="1" dirty="0">
                <a:latin typeface="Candara" panose="020E0502030303020204" pitchFamily="34" charset="0"/>
              </a:rPr>
              <a:t>Recommandations en planification et ressources</a:t>
            </a:r>
            <a:endParaRPr lang="fr-FR" b="1" dirty="0">
              <a:latin typeface="Candara" panose="020E0502030303020204" pitchFamily="34" charset="0"/>
            </a:endParaRPr>
          </a:p>
          <a:p>
            <a:pPr lvl="0"/>
            <a:r>
              <a:rPr lang="fr-FR" sz="2500" dirty="0">
                <a:latin typeface="Candara" panose="020E0502030303020204" pitchFamily="34" charset="0"/>
              </a:rPr>
              <a:t>Élaborer et valider </a:t>
            </a:r>
            <a:r>
              <a:rPr lang="en-US" altLang="fr-FR" sz="2500" dirty="0">
                <a:latin typeface="Candara" panose="020E0502030303020204" pitchFamily="34" charset="0"/>
              </a:rPr>
              <a:t>le</a:t>
            </a:r>
            <a:r>
              <a:rPr lang="fr-FR" sz="2500" dirty="0">
                <a:latin typeface="Candara" panose="020E0502030303020204" pitchFamily="34" charset="0"/>
              </a:rPr>
              <a:t> micro plan PEV 2025 par aire de santé, basé sur la démographie réelle (cartographie, poids des ESS privés, zones de forte concentration).​</a:t>
            </a:r>
            <a:r>
              <a:rPr lang="en-US" altLang="fr-FR" sz="2500" dirty="0">
                <a:latin typeface="Candara" panose="020E0502030303020204" pitchFamily="34" charset="0"/>
              </a:rPr>
              <a:t> Responsable: ITAS,MCZS,MCA,MCP</a:t>
            </a:r>
            <a:endParaRPr lang="fr-FR" sz="2500" dirty="0">
              <a:latin typeface="Candara" panose="020E0502030303020204" pitchFamily="34" charset="0"/>
            </a:endParaRPr>
          </a:p>
          <a:p>
            <a:pPr lvl="0"/>
            <a:r>
              <a:rPr lang="fr-FR" sz="2500" dirty="0">
                <a:latin typeface="Candara" panose="020E0502030303020204" pitchFamily="34" charset="0"/>
              </a:rPr>
              <a:t>Former/recycler les prestataires (y compris privés) sur la gestion PEV : calcul des cibles, estimation des besoins, gestion des stocks, planification des séances fixes et avancées.​</a:t>
            </a:r>
            <a:r>
              <a:rPr lang="en-US" altLang="fr-FR" sz="2500" dirty="0">
                <a:latin typeface="Candara" panose="020E0502030303020204" pitchFamily="34" charset="0"/>
              </a:rPr>
              <a:t> Responsable : Direction PEV</a:t>
            </a:r>
            <a:r>
              <a:rPr lang="en-US" altLang="en-US" sz="2500" dirty="0">
                <a:latin typeface="Candara" panose="020E0502030303020204" pitchFamily="34" charset="0"/>
              </a:rPr>
              <a:t>,MCP,MCA,MCZS,IS PEV</a:t>
            </a:r>
            <a:endParaRPr lang="fr-FR" sz="2500" dirty="0">
              <a:latin typeface="Candara" panose="020E0502030303020204" pitchFamily="34" charset="0"/>
            </a:endParaRPr>
          </a:p>
          <a:p>
            <a:pPr lvl="0"/>
            <a:r>
              <a:rPr lang="fr-FR" sz="2500" dirty="0">
                <a:latin typeface="Candara" panose="020E0502030303020204" pitchFamily="34" charset="0"/>
              </a:rPr>
              <a:t>Mettre en place un système de contractualisation ou de convention avec les ESS privés pour stabiliser les prestataires et clarifier leurs responsabilités PEV.​</a:t>
            </a:r>
            <a:r>
              <a:rPr lang="en-US" altLang="fr-FR" sz="2500" dirty="0">
                <a:latin typeface="Candara" panose="020E0502030303020204" pitchFamily="34" charset="0"/>
              </a:rPr>
              <a:t> Resp CD</a:t>
            </a:r>
            <a:endParaRPr lang="en-US" altLang="fr-FR" sz="2500" dirty="0"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32024" y="870126"/>
            <a:ext cx="11665450" cy="58179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3200" b="1" dirty="0">
                <a:latin typeface="Candara" panose="020E0502030303020204" pitchFamily="34" charset="0"/>
              </a:rPr>
              <a:t>Recommandations sur </a:t>
            </a:r>
            <a:r>
              <a:rPr lang="en-US" altLang="fr-FR" sz="3200" b="1" dirty="0">
                <a:latin typeface="Candara" panose="020E0502030303020204" pitchFamily="34" charset="0"/>
              </a:rPr>
              <a:t>la </a:t>
            </a:r>
            <a:r>
              <a:rPr lang="fr-FR" sz="3200" b="1" dirty="0">
                <a:latin typeface="Candara" panose="020E0502030303020204" pitchFamily="34" charset="0"/>
              </a:rPr>
              <a:t>supervision et</a:t>
            </a:r>
            <a:r>
              <a:rPr lang="en-US" altLang="fr-FR" sz="3200" b="1" dirty="0">
                <a:latin typeface="Candara" panose="020E0502030303020204" pitchFamily="34" charset="0"/>
              </a:rPr>
              <a:t> le</a:t>
            </a:r>
            <a:r>
              <a:rPr lang="fr-FR" sz="3200" b="1" dirty="0">
                <a:latin typeface="Candara" panose="020E0502030303020204" pitchFamily="34" charset="0"/>
              </a:rPr>
              <a:t> monitorage</a:t>
            </a:r>
            <a:endParaRPr lang="fr-FR" sz="3200" dirty="0">
              <a:latin typeface="Candara" panose="020E0502030303020204" pitchFamily="34" charset="0"/>
            </a:endParaRPr>
          </a:p>
          <a:p>
            <a:pPr lvl="0"/>
            <a:r>
              <a:rPr lang="fr-FR" dirty="0">
                <a:latin typeface="Candara" panose="020E0502030303020204" pitchFamily="34" charset="0"/>
              </a:rPr>
              <a:t>Standardiser la supervision formative avec des check-lists PEV, et impliquer obligatoirement le MCZ dans un quota minimal de supervisions par mois.​</a:t>
            </a:r>
            <a:r>
              <a:rPr lang="en-US" altLang="fr-FR" dirty="0">
                <a:latin typeface="Candara" panose="020E0502030303020204" pitchFamily="34" charset="0"/>
              </a:rPr>
              <a:t> Responsable CD</a:t>
            </a:r>
            <a:endParaRPr lang="fr-FR" dirty="0">
              <a:latin typeface="Candara" panose="020E0502030303020204" pitchFamily="34" charset="0"/>
            </a:endParaRPr>
          </a:p>
          <a:p>
            <a:pPr lvl="0"/>
            <a:r>
              <a:rPr lang="fr-FR" dirty="0">
                <a:latin typeface="Candara" panose="020E0502030303020204" pitchFamily="34" charset="0"/>
              </a:rPr>
              <a:t>Réviser la répartition des primes de performance pour qu’elles bénéficient prioritairement aux vrais superviseurs et équipes opérationnelles.​</a:t>
            </a:r>
            <a:r>
              <a:rPr lang="en-US" altLang="fr-FR" dirty="0">
                <a:latin typeface="Candara" panose="020E0502030303020204" pitchFamily="34" charset="0"/>
              </a:rPr>
              <a:t> PEV NAT</a:t>
            </a:r>
            <a:endParaRPr lang="fr-FR" dirty="0">
              <a:latin typeface="Candara" panose="020E0502030303020204" pitchFamily="34" charset="0"/>
            </a:endParaRPr>
          </a:p>
          <a:p>
            <a:pPr lvl="0"/>
            <a:r>
              <a:rPr lang="fr-FR" dirty="0">
                <a:latin typeface="Candara" panose="020E0502030303020204" pitchFamily="34" charset="0"/>
              </a:rPr>
              <a:t>Assurer la disponibilité des registres, fiches de pointage, fiches de stock individuel  et outils de monitorage dans toutes les ESS, accompagner les prestataires sur l’utilisation correcte de ces </a:t>
            </a:r>
            <a:r>
              <a:rPr lang="fr-FR" dirty="0" err="1">
                <a:latin typeface="Candara" panose="020E0502030303020204" pitchFamily="34" charset="0"/>
              </a:rPr>
              <a:t>outils,organiser</a:t>
            </a:r>
            <a:r>
              <a:rPr lang="fr-FR" dirty="0">
                <a:latin typeface="Candara" panose="020E0502030303020204" pitchFamily="34" charset="0"/>
              </a:rPr>
              <a:t> les données par aire de santé et produire des courbes de couverture affichées.​</a:t>
            </a:r>
            <a:r>
              <a:rPr lang="en-US" altLang="fr-FR" dirty="0">
                <a:latin typeface="Candara" panose="020E0502030303020204" pitchFamily="34" charset="0"/>
              </a:rPr>
              <a:t> </a:t>
            </a:r>
            <a:r>
              <a:rPr lang="en-US" altLang="fr-FR" dirty="0">
                <a:latin typeface="Candara" panose="020E0502030303020204" pitchFamily="34" charset="0"/>
                <a:sym typeface="+mn-ea"/>
              </a:rPr>
              <a:t>PEV NAT</a:t>
            </a:r>
            <a:endParaRPr lang="fr-FR" dirty="0">
              <a:latin typeface="Candara" panose="020E0502030303020204" pitchFamily="34" charset="0"/>
            </a:endParaRPr>
          </a:p>
          <a:p>
            <a:pPr lvl="0"/>
            <a:r>
              <a:rPr lang="fr-FR" dirty="0">
                <a:latin typeface="Candara" panose="020E0502030303020204" pitchFamily="34" charset="0"/>
              </a:rPr>
              <a:t>Améliorer la qualité des réunions mensuelles de monitorage (analyse des écarts, identification des ESS problématiques, plan d’action correctif avec délais).​</a:t>
            </a:r>
            <a:r>
              <a:rPr lang="en-US" altLang="fr-FR" dirty="0">
                <a:latin typeface="Candara" panose="020E0502030303020204" pitchFamily="34" charset="0"/>
              </a:rPr>
              <a:t> Responsable MCZS</a:t>
            </a:r>
            <a:endParaRPr lang="en-US" altLang="fr-FR" dirty="0">
              <a:latin typeface="Candara" panose="020E0502030303020204" pitchFamily="34" charset="0"/>
            </a:endParaRPr>
          </a:p>
          <a:p>
            <a:pPr lvl="0"/>
            <a:r>
              <a:rPr lang="fr-FR" sz="2500" dirty="0">
                <a:latin typeface="Candara" panose="020E0502030303020204" pitchFamily="34" charset="0"/>
                <a:sym typeface="+mn-ea"/>
              </a:rPr>
              <a:t>Se rassurer que les déplacés internes du site </a:t>
            </a:r>
            <a:r>
              <a:rPr lang="fr-FR" sz="2500" dirty="0" err="1">
                <a:latin typeface="Candara" panose="020E0502030303020204" pitchFamily="34" charset="0"/>
                <a:sym typeface="+mn-ea"/>
              </a:rPr>
              <a:t>Nzamu</a:t>
            </a:r>
            <a:r>
              <a:rPr lang="fr-FR" sz="2500" dirty="0">
                <a:latin typeface="Candara" panose="020E0502030303020204" pitchFamily="34" charset="0"/>
                <a:sym typeface="+mn-ea"/>
              </a:rPr>
              <a:t> bénéficient d’une séance de vaccination en stratégie avancée chaque mois</a:t>
            </a:r>
            <a:endParaRPr lang="fr-FR" sz="2500" dirty="0">
              <a:latin typeface="Candara" panose="020E0502030303020204" pitchFamily="34" charset="0"/>
            </a:endParaRPr>
          </a:p>
          <a:p>
            <a:pPr lvl="0"/>
            <a:endParaRPr lang="en-US" altLang="fr-FR" sz="2500" dirty="0">
              <a:latin typeface="Candara" panose="020E0502030303020204" pitchFamily="34" charset="0"/>
            </a:endParaRPr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232024" y="169916"/>
            <a:ext cx="11959975" cy="511121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FFFF00"/>
                </a:solidFill>
                <a:latin typeface="Candara" panose="020E0502030303020204" pitchFamily="34" charset="0"/>
              </a:rPr>
              <a:t>Recommandations</a:t>
            </a:r>
            <a:endParaRPr lang="fr-FR" b="1" dirty="0">
              <a:solidFill>
                <a:srgbClr val="FFFF00"/>
              </a:solidFill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32024" y="870127"/>
            <a:ext cx="11778466" cy="54998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b="1" dirty="0">
                <a:latin typeface="Candara" panose="020E0502030303020204" pitchFamily="34" charset="0"/>
              </a:rPr>
              <a:t>Recommandations sur liens communautaires</a:t>
            </a:r>
            <a:endParaRPr lang="fr-FR" dirty="0">
              <a:latin typeface="Candara" panose="020E0502030303020204" pitchFamily="34" charset="0"/>
            </a:endParaRPr>
          </a:p>
          <a:p>
            <a:pPr lvl="0"/>
            <a:r>
              <a:rPr lang="fr-FR" dirty="0">
                <a:latin typeface="Candara" panose="020E0502030303020204" pitchFamily="34" charset="0"/>
              </a:rPr>
              <a:t>Élaborer un plan de communication communautaire intégré au micro plan PEV (messages, canaux, relais communautaires, calendrier).​</a:t>
            </a:r>
            <a:r>
              <a:rPr lang="en-US" altLang="fr-FR" dirty="0">
                <a:latin typeface="Candara" panose="020E0502030303020204" pitchFamily="34" charset="0"/>
              </a:rPr>
              <a:t> Responsable ECZS</a:t>
            </a:r>
            <a:endParaRPr lang="fr-FR" dirty="0">
              <a:latin typeface="Candara" panose="020E0502030303020204" pitchFamily="34" charset="0"/>
            </a:endParaRPr>
          </a:p>
          <a:p>
            <a:pPr lvl="0"/>
            <a:r>
              <a:rPr lang="fr-FR" dirty="0">
                <a:latin typeface="Candara" panose="020E0502030303020204" pitchFamily="34" charset="0"/>
              </a:rPr>
              <a:t>Mettre en place, avec les relais communautaires, les CAC un système d’identification et de suivi des enfants en retard (listes nominatives, rappels, visites à domicile, collaboration avec écoles et structures communautaires(OAC).​</a:t>
            </a:r>
            <a:r>
              <a:rPr lang="en-US" altLang="fr-FR" dirty="0">
                <a:latin typeface="Candara" panose="020E0502030303020204" pitchFamily="34" charset="0"/>
              </a:rPr>
              <a:t> Responsable (ITAS,PRESICODESA,AC,IS,MCZS,MCA)</a:t>
            </a:r>
            <a:endParaRPr lang="fr-FR" dirty="0">
              <a:latin typeface="Candara" panose="020E0502030303020204" pitchFamily="34" charset="0"/>
            </a:endParaRPr>
          </a:p>
          <a:p>
            <a:pPr marL="0" indent="0">
              <a:buNone/>
            </a:pPr>
            <a:endParaRPr lang="fr-FR" sz="2500" dirty="0">
              <a:latin typeface="Candara" panose="020E0502030303020204" pitchFamily="34" charset="0"/>
            </a:endParaRPr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232024" y="169916"/>
            <a:ext cx="11959975" cy="511121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FFFF00"/>
                </a:solidFill>
                <a:latin typeface="Candara" panose="020E0502030303020204" pitchFamily="34" charset="0"/>
              </a:rPr>
              <a:t>Recommandations</a:t>
            </a:r>
            <a:endParaRPr lang="fr-FR" b="1" dirty="0">
              <a:solidFill>
                <a:srgbClr val="FFFF00"/>
              </a:solidFill>
              <a:latin typeface="Candara" panose="020E0502030303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650875"/>
            <a:ext cx="10515600" cy="5526405"/>
          </a:xfrm>
        </p:spPr>
        <p:txBody>
          <a:bodyPr/>
          <a:p>
            <a:pPr marL="0" indent="0">
              <a:buNone/>
            </a:pPr>
            <a:endParaRPr lang="fr-FR" altLang="en-US"/>
          </a:p>
          <a:p>
            <a:pPr marL="0" indent="0">
              <a:buNone/>
            </a:pPr>
            <a:endParaRPr lang="fr-FR" altLang="en-US"/>
          </a:p>
          <a:p>
            <a:pPr marL="0" indent="0">
              <a:buNone/>
            </a:pPr>
            <a:endParaRPr lang="fr-FR" altLang="en-US"/>
          </a:p>
          <a:p>
            <a:pPr marL="0" indent="0">
              <a:buNone/>
            </a:pPr>
            <a:endParaRPr lang="fr-FR" altLang="en-US"/>
          </a:p>
          <a:p>
            <a:pPr marL="0" indent="0" algn="l">
              <a:buNone/>
            </a:pPr>
            <a:r>
              <a:rPr lang="en-US" altLang="fr-FR"/>
              <a:t>                                                  </a:t>
            </a:r>
            <a:r>
              <a:rPr lang="en-US" altLang="fr-FR" sz="8000" b="1"/>
              <a:t>MERCI</a:t>
            </a:r>
            <a:endParaRPr lang="en-US" altLang="fr-FR" sz="80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4921</Words>
  <Application>WPS Presentation</Application>
  <PresentationFormat>Grand écran</PresentationFormat>
  <Paragraphs>62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Candara</vt:lpstr>
      <vt:lpstr>Arial</vt:lpstr>
      <vt:lpstr>Candara</vt:lpstr>
      <vt:lpstr>Inter</vt:lpstr>
      <vt:lpstr>Segoe Print</vt:lpstr>
      <vt:lpstr>Inter</vt:lpstr>
      <vt:lpstr>Inter</vt:lpstr>
      <vt:lpstr>Petrona Bold</vt:lpstr>
      <vt:lpstr>Petrona Bold</vt:lpstr>
      <vt:lpstr>Petrona Bold</vt:lpstr>
      <vt:lpstr>Microsoft YaHei</vt:lpstr>
      <vt:lpstr>Arial Unicode MS</vt:lpstr>
      <vt:lpstr>Calibri Light</vt:lpstr>
      <vt:lpstr>MingLiU-ExtB</vt:lpstr>
      <vt:lpstr>Thème Office</vt:lpstr>
      <vt:lpstr>PowerPoint 演示文稿</vt:lpstr>
      <vt:lpstr>PowerPoint 演示文稿</vt:lpstr>
      <vt:lpstr>Défis majeurs</vt:lpstr>
      <vt:lpstr>Défis majeurs</vt:lpstr>
      <vt:lpstr>Recommandations</vt:lpstr>
      <vt:lpstr>Recommandations</vt:lpstr>
      <vt:lpstr>Recommandations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miterand mwamba</cp:lastModifiedBy>
  <cp:revision>32</cp:revision>
  <dcterms:created xsi:type="dcterms:W3CDTF">2025-12-11T12:33:00Z</dcterms:created>
  <dcterms:modified xsi:type="dcterms:W3CDTF">2025-12-16T14:36:23Z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BA35D46F180B4D2EA3992887FF49230D_13</vt:lpwstr>
  </property>
  <property fmtid="{D5CDD505-2E9C-101B-9397-08002B2CF9AE}" pid="3" name="KSOProductBuildVer">
    <vt:lpwstr>1036-12.2.0.23155</vt:lpwstr>
  </property>
</Properties>
</file>