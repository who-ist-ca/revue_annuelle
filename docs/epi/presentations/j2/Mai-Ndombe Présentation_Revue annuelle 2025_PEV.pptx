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7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lay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2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4484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08748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161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182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734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516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587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18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bc9d920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aabc9d920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96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9793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115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677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991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108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198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301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spécifiques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spéciales</a:t>
            </a:r>
            <a:r>
              <a:rPr lang="" altLang="en-US" sz="24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vaccins (VAP, RR, etc)</a:t>
            </a:r>
            <a:endParaRPr sz="24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Mai-Ndombe</a:t>
            </a: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de succès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capitaliser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pour 2026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 des antennes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g3aabc9d920d_0_207"/>
          <p:cNvSpPr/>
          <p:nvPr/>
        </p:nvSpPr>
        <p:spPr>
          <a:xfrm>
            <a:off x="45860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 de la province avec les antennes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615829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Tableau avec les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éléments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suivants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ZS: Total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(14),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(10)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(310),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(243)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(667),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(…)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2510729 Habitant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100429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90386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474528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ECF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92%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(…),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point de concentration (…), OVM (…)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16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Oui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 PAO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100%</a:t>
            </a: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432914167"/>
              </p:ext>
            </p:extLst>
          </p:nvPr>
        </p:nvGraphicFramePr>
        <p:xfrm>
          <a:off x="458600" y="771278"/>
          <a:ext cx="11274900" cy="481572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818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34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5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821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 place des équipes spéciales pour l’identification et la récupération des enfants de 12 à 59 mois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1) Identifier les enfants zéro dose et sous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vaccinés;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2) Récupérer les enfants zéro dose et sous vaccinés;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3) Restaurer la vaccination de routine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14 Zones de Santé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64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 place des équipes fixes pour la récupération des enfants zéro dose et sous vaccinés pendant la campagne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Vacciner tous les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enfants en conflit avec le calendrier vaccinal pendant la campagne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Toutes les 14 Zones de Santé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3991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 place des équipes de vaccination en stratégie fixe, mobile, horaire adapté, vaccination dans les lieu de concentration…,  en tenant compte de l’équité.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1) Identifier les enfants zéro dose et sous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vaccinés;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2) Récupérer les enfants zéro dose et sous vaccinés;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3) Restaurer la vaccination de routine</a:t>
                      </a:r>
                      <a:endParaRPr lang="fr-FR" dirty="0" smtClean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 10 Zones de Santé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81281"/>
            <a:ext cx="1127490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219744"/>
              </p:ext>
            </p:extLst>
          </p:nvPr>
        </p:nvGraphicFramePr>
        <p:xfrm>
          <a:off x="386080" y="927440"/>
          <a:ext cx="11347412" cy="5710686"/>
        </p:xfrm>
        <a:graphic>
          <a:graphicData uri="http://schemas.openxmlformats.org/drawingml/2006/table">
            <a:tbl>
              <a:tblPr/>
              <a:tblGrid>
                <a:gridCol w="1602921">
                  <a:extLst>
                    <a:ext uri="{9D8B030D-6E8A-4147-A177-3AD203B41FA5}">
                      <a16:colId xmlns:a16="http://schemas.microsoft.com/office/drawing/2014/main" xmlns="" val="3197893769"/>
                    </a:ext>
                  </a:extLst>
                </a:gridCol>
                <a:gridCol w="730044">
                  <a:extLst>
                    <a:ext uri="{9D8B030D-6E8A-4147-A177-3AD203B41FA5}">
                      <a16:colId xmlns:a16="http://schemas.microsoft.com/office/drawing/2014/main" xmlns="" val="690476001"/>
                    </a:ext>
                  </a:extLst>
                </a:gridCol>
                <a:gridCol w="841137">
                  <a:extLst>
                    <a:ext uri="{9D8B030D-6E8A-4147-A177-3AD203B41FA5}">
                      <a16:colId xmlns:a16="http://schemas.microsoft.com/office/drawing/2014/main" xmlns="" val="1926370785"/>
                    </a:ext>
                  </a:extLst>
                </a:gridCol>
                <a:gridCol w="904619">
                  <a:extLst>
                    <a:ext uri="{9D8B030D-6E8A-4147-A177-3AD203B41FA5}">
                      <a16:colId xmlns:a16="http://schemas.microsoft.com/office/drawing/2014/main" xmlns="" val="345264928"/>
                    </a:ext>
                  </a:extLst>
                </a:gridCol>
                <a:gridCol w="888748">
                  <a:extLst>
                    <a:ext uri="{9D8B030D-6E8A-4147-A177-3AD203B41FA5}">
                      <a16:colId xmlns:a16="http://schemas.microsoft.com/office/drawing/2014/main" xmlns="" val="3773605460"/>
                    </a:ext>
                  </a:extLst>
                </a:gridCol>
                <a:gridCol w="872878">
                  <a:extLst>
                    <a:ext uri="{9D8B030D-6E8A-4147-A177-3AD203B41FA5}">
                      <a16:colId xmlns:a16="http://schemas.microsoft.com/office/drawing/2014/main" xmlns="" val="3216324294"/>
                    </a:ext>
                  </a:extLst>
                </a:gridCol>
                <a:gridCol w="603079">
                  <a:extLst>
                    <a:ext uri="{9D8B030D-6E8A-4147-A177-3AD203B41FA5}">
                      <a16:colId xmlns:a16="http://schemas.microsoft.com/office/drawing/2014/main" xmlns="" val="351469526"/>
                    </a:ext>
                  </a:extLst>
                </a:gridCol>
                <a:gridCol w="936360">
                  <a:extLst>
                    <a:ext uri="{9D8B030D-6E8A-4147-A177-3AD203B41FA5}">
                      <a16:colId xmlns:a16="http://schemas.microsoft.com/office/drawing/2014/main" xmlns="" val="2580427348"/>
                    </a:ext>
                  </a:extLst>
                </a:gridCol>
                <a:gridCol w="698303">
                  <a:extLst>
                    <a:ext uri="{9D8B030D-6E8A-4147-A177-3AD203B41FA5}">
                      <a16:colId xmlns:a16="http://schemas.microsoft.com/office/drawing/2014/main" xmlns="" val="2728691910"/>
                    </a:ext>
                  </a:extLst>
                </a:gridCol>
                <a:gridCol w="714172">
                  <a:extLst>
                    <a:ext uri="{9D8B030D-6E8A-4147-A177-3AD203B41FA5}">
                      <a16:colId xmlns:a16="http://schemas.microsoft.com/office/drawing/2014/main" xmlns="" val="2454400565"/>
                    </a:ext>
                  </a:extLst>
                </a:gridCol>
                <a:gridCol w="666561">
                  <a:extLst>
                    <a:ext uri="{9D8B030D-6E8A-4147-A177-3AD203B41FA5}">
                      <a16:colId xmlns:a16="http://schemas.microsoft.com/office/drawing/2014/main" xmlns="" val="1850286103"/>
                    </a:ext>
                  </a:extLst>
                </a:gridCol>
                <a:gridCol w="634821">
                  <a:extLst>
                    <a:ext uri="{9D8B030D-6E8A-4147-A177-3AD203B41FA5}">
                      <a16:colId xmlns:a16="http://schemas.microsoft.com/office/drawing/2014/main" xmlns="" val="1000673024"/>
                    </a:ext>
                  </a:extLst>
                </a:gridCol>
                <a:gridCol w="603079">
                  <a:extLst>
                    <a:ext uri="{9D8B030D-6E8A-4147-A177-3AD203B41FA5}">
                      <a16:colId xmlns:a16="http://schemas.microsoft.com/office/drawing/2014/main" xmlns="" val="948314428"/>
                    </a:ext>
                  </a:extLst>
                </a:gridCol>
                <a:gridCol w="650690">
                  <a:extLst>
                    <a:ext uri="{9D8B030D-6E8A-4147-A177-3AD203B41FA5}">
                      <a16:colId xmlns:a16="http://schemas.microsoft.com/office/drawing/2014/main" xmlns="" val="1185011123"/>
                    </a:ext>
                  </a:extLst>
                </a:gridCol>
              </a:tblGrid>
              <a:tr h="452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Zones de Santé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 BCG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 Penta1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Penta3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PCV-13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Rota3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VPO3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VAP1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VPI1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VPI2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VAR1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VAR2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VAA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Td2+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63655431"/>
                  </a:ext>
                </a:extLst>
              </a:tr>
              <a:tr h="22928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Banzow Moke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66%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76039990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Bokoro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97%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0574215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Bolobo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118%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64%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123%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4459265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Bosobe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144%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4213303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Inongo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135%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8289497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Kiri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39881522"/>
                  </a:ext>
                </a:extLst>
              </a:tr>
              <a:tr h="22928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Kwamouth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36%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58%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51%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88156359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Mimia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2444622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Mushie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51%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27181641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Nioki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9333395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Ntandembelo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127%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168%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83916428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Oshwe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57%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137%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6669152"/>
                  </a:ext>
                </a:extLst>
              </a:tr>
              <a:tr h="22928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Pendjwa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74%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117%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8268604"/>
                  </a:ext>
                </a:extLst>
              </a:tr>
              <a:tr h="292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Yumbi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143%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132%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6658681"/>
                  </a:ext>
                </a:extLst>
              </a:tr>
              <a:tr h="452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 Maindombe Province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130%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98476737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effectLst/>
                          <a:latin typeface="Arial" panose="020B0604020202020204" pitchFamily="34" charset="0"/>
                        </a:rPr>
                        <a:t>Légende</a:t>
                      </a:r>
                      <a:endParaRPr lang="en-US" sz="1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&lt; 50%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50-69,99%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70-79,99%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80-94,999%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95-100%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&gt; 100%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8263622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2024-2025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91" name="Google Shape;191;g3aabc9d920d_0_390"/>
          <p:cNvGraphicFramePr/>
          <p:nvPr>
            <p:extLst/>
          </p:nvPr>
        </p:nvGraphicFramePr>
        <p:xfrm>
          <a:off x="458600" y="1189100"/>
          <a:ext cx="11275000" cy="524228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409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4093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1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5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porte</a:t>
                      </a: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</a:t>
                      </a:r>
                      <a:endParaRPr sz="1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14820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20971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3606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5322</a:t>
                      </a: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</a:t>
                      </a:r>
                      <a:endParaRPr sz="1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14820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20971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1333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1891</a:t>
                      </a: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OMV</a:t>
                      </a: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</a:t>
                      </a:r>
                      <a:endParaRPr sz="1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14820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20971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875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1844</a:t>
                      </a: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</a:t>
                      </a:r>
                      <a:endParaRPr sz="1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14820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20971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5211</a:t>
                      </a:r>
                      <a:endParaRPr sz="1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7944</a:t>
                      </a: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82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456045"/>
              </p:ext>
            </p:extLst>
          </p:nvPr>
        </p:nvGraphicFramePr>
        <p:xfrm>
          <a:off x="751837" y="1049645"/>
          <a:ext cx="10930562" cy="5188595"/>
        </p:xfrm>
        <a:graphic>
          <a:graphicData uri="http://schemas.openxmlformats.org/drawingml/2006/table">
            <a:tbl>
              <a:tblPr/>
              <a:tblGrid>
                <a:gridCol w="2356428">
                  <a:extLst>
                    <a:ext uri="{9D8B030D-6E8A-4147-A177-3AD203B41FA5}">
                      <a16:colId xmlns:a16="http://schemas.microsoft.com/office/drawing/2014/main" xmlns="" val="888977546"/>
                    </a:ext>
                  </a:extLst>
                </a:gridCol>
                <a:gridCol w="1329866">
                  <a:extLst>
                    <a:ext uri="{9D8B030D-6E8A-4147-A177-3AD203B41FA5}">
                      <a16:colId xmlns:a16="http://schemas.microsoft.com/office/drawing/2014/main" xmlns="" val="2274654714"/>
                    </a:ext>
                  </a:extLst>
                </a:gridCol>
                <a:gridCol w="1586506">
                  <a:extLst>
                    <a:ext uri="{9D8B030D-6E8A-4147-A177-3AD203B41FA5}">
                      <a16:colId xmlns:a16="http://schemas.microsoft.com/office/drawing/2014/main" xmlns="" val="23289190"/>
                    </a:ext>
                  </a:extLst>
                </a:gridCol>
                <a:gridCol w="1061560">
                  <a:extLst>
                    <a:ext uri="{9D8B030D-6E8A-4147-A177-3AD203B41FA5}">
                      <a16:colId xmlns:a16="http://schemas.microsoft.com/office/drawing/2014/main" xmlns="" val="4286736041"/>
                    </a:ext>
                  </a:extLst>
                </a:gridCol>
                <a:gridCol w="874911">
                  <a:extLst>
                    <a:ext uri="{9D8B030D-6E8A-4147-A177-3AD203B41FA5}">
                      <a16:colId xmlns:a16="http://schemas.microsoft.com/office/drawing/2014/main" xmlns="" val="3241001944"/>
                    </a:ext>
                  </a:extLst>
                </a:gridCol>
                <a:gridCol w="851581">
                  <a:extLst>
                    <a:ext uri="{9D8B030D-6E8A-4147-A177-3AD203B41FA5}">
                      <a16:colId xmlns:a16="http://schemas.microsoft.com/office/drawing/2014/main" xmlns="" val="794737571"/>
                    </a:ext>
                  </a:extLst>
                </a:gridCol>
                <a:gridCol w="583275">
                  <a:extLst>
                    <a:ext uri="{9D8B030D-6E8A-4147-A177-3AD203B41FA5}">
                      <a16:colId xmlns:a16="http://schemas.microsoft.com/office/drawing/2014/main" xmlns="" val="1733899507"/>
                    </a:ext>
                  </a:extLst>
                </a:gridCol>
                <a:gridCol w="909908">
                  <a:extLst>
                    <a:ext uri="{9D8B030D-6E8A-4147-A177-3AD203B41FA5}">
                      <a16:colId xmlns:a16="http://schemas.microsoft.com/office/drawing/2014/main" xmlns="" val="3497340594"/>
                    </a:ext>
                  </a:extLst>
                </a:gridCol>
                <a:gridCol w="676598">
                  <a:extLst>
                    <a:ext uri="{9D8B030D-6E8A-4147-A177-3AD203B41FA5}">
                      <a16:colId xmlns:a16="http://schemas.microsoft.com/office/drawing/2014/main" xmlns="" val="3715214329"/>
                    </a:ext>
                  </a:extLst>
                </a:gridCol>
                <a:gridCol w="699929">
                  <a:extLst>
                    <a:ext uri="{9D8B030D-6E8A-4147-A177-3AD203B41FA5}">
                      <a16:colId xmlns:a16="http://schemas.microsoft.com/office/drawing/2014/main" xmlns="" val="4047905582"/>
                    </a:ext>
                  </a:extLst>
                </a:gridCol>
              </a:tblGrid>
              <a:tr h="42355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Zone de santé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effectLst/>
                          <a:latin typeface="Arial" panose="020B0604020202020204" pitchFamily="34" charset="0"/>
                        </a:rPr>
                        <a:t>Cibles</a:t>
                      </a:r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Enfants identifiés 12 - 23 mois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Enfants </a:t>
                      </a:r>
                      <a:r>
                        <a:rPr lang="fr-FR" sz="1800" b="1" i="0" u="none" strike="noStrike" dirty="0" smtClean="0">
                          <a:effectLst/>
                          <a:latin typeface="Arial" panose="020B0604020202020204" pitchFamily="34" charset="0"/>
                        </a:rPr>
                        <a:t>récupérés </a:t>
                      </a:r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12 - 23 </a:t>
                      </a:r>
                      <a:r>
                        <a:rPr lang="fr-FR" sz="1800" b="1" i="0" u="none" strike="noStrike" dirty="0" smtClean="0">
                          <a:effectLst/>
                          <a:latin typeface="Arial" panose="020B0604020202020204" pitchFamily="34" charset="0"/>
                        </a:rPr>
                        <a:t>mois par antigène</a:t>
                      </a:r>
                      <a:endParaRPr lang="fr-FR" sz="1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2604453"/>
                  </a:ext>
                </a:extLst>
              </a:tr>
              <a:tr h="260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DTC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DTC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DTC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VAR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VAR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VPI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VPI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82012218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Banzow Moke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7197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68104898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Bokoro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55346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13309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8896629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Bolobo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34624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5568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1103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913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919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51490113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Bosobe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32191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7575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09941871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Inongo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53618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12064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34465080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Kiri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28975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6918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75511412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Kwamouth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38912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4550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29385196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Mimia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14022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2776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64607205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Mushie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33481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7908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520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82843171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Nioki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43456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9237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559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61289923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Ntandembelo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26891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13319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67467345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Oshwe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37385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4468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76422165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Pendjua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22034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10908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88778610"/>
                  </a:ext>
                </a:extLst>
              </a:tr>
              <a:tr h="26023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Yumbi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29403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7699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25244631"/>
                  </a:ext>
                </a:extLst>
              </a:tr>
              <a:tr h="27064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DPS Mai-Ndombe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482138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113496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4251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3071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4735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4263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4862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4127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3746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9496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bc9d920d_0_41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c9d920d_0_4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g3aabc9d920d_0_4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9" name="Google Shape;209;g3aabc9d920d_0_4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10" name="Google Shape;210;g3aabc9d920d_0_41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91165"/>
              </p:ext>
            </p:extLst>
          </p:nvPr>
        </p:nvGraphicFramePr>
        <p:xfrm>
          <a:off x="458586" y="1541237"/>
          <a:ext cx="11274905" cy="5392551"/>
        </p:xfrm>
        <a:graphic>
          <a:graphicData uri="http://schemas.openxmlformats.org/drawingml/2006/table">
            <a:tbl>
              <a:tblPr/>
              <a:tblGrid>
                <a:gridCol w="2218756">
                  <a:extLst>
                    <a:ext uri="{9D8B030D-6E8A-4147-A177-3AD203B41FA5}">
                      <a16:colId xmlns:a16="http://schemas.microsoft.com/office/drawing/2014/main" xmlns="" val="1565243462"/>
                    </a:ext>
                  </a:extLst>
                </a:gridCol>
                <a:gridCol w="1358422">
                  <a:extLst>
                    <a:ext uri="{9D8B030D-6E8A-4147-A177-3AD203B41FA5}">
                      <a16:colId xmlns:a16="http://schemas.microsoft.com/office/drawing/2014/main" xmlns="" val="1161397111"/>
                    </a:ext>
                  </a:extLst>
                </a:gridCol>
                <a:gridCol w="1470956">
                  <a:extLst>
                    <a:ext uri="{9D8B030D-6E8A-4147-A177-3AD203B41FA5}">
                      <a16:colId xmlns:a16="http://schemas.microsoft.com/office/drawing/2014/main" xmlns="" val="1724476456"/>
                    </a:ext>
                  </a:extLst>
                </a:gridCol>
                <a:gridCol w="793081">
                  <a:extLst>
                    <a:ext uri="{9D8B030D-6E8A-4147-A177-3AD203B41FA5}">
                      <a16:colId xmlns:a16="http://schemas.microsoft.com/office/drawing/2014/main" xmlns="" val="3947144786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3672697133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3285322228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3414066375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2280231088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1798551972"/>
                    </a:ext>
                  </a:extLst>
                </a:gridCol>
                <a:gridCol w="905615">
                  <a:extLst>
                    <a:ext uri="{9D8B030D-6E8A-4147-A177-3AD203B41FA5}">
                      <a16:colId xmlns:a16="http://schemas.microsoft.com/office/drawing/2014/main" xmlns="" val="4245693264"/>
                    </a:ext>
                  </a:extLst>
                </a:gridCol>
              </a:tblGrid>
              <a:tr h="38916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Zone de santé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effectLst/>
                          <a:latin typeface="Arial" panose="020B0604020202020204" pitchFamily="34" charset="0"/>
                        </a:rPr>
                        <a:t>Cibles</a:t>
                      </a:r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Enfants identifiés 24 - 59 mois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Enfants </a:t>
                      </a:r>
                      <a:r>
                        <a:rPr lang="fr-FR" sz="1800" b="1" i="0" u="none" strike="noStrike" dirty="0" err="1">
                          <a:effectLst/>
                          <a:latin typeface="Arial" panose="020B0604020202020204" pitchFamily="34" charset="0"/>
                        </a:rPr>
                        <a:t>recuperés</a:t>
                      </a:r>
                      <a:r>
                        <a:rPr lang="fr-FR" sz="1800" b="1" i="0" u="none" strike="noStrike" dirty="0">
                          <a:effectLst/>
                          <a:latin typeface="Arial" panose="020B0604020202020204" pitchFamily="34" charset="0"/>
                        </a:rPr>
                        <a:t> 24 - 59 </a:t>
                      </a:r>
                      <a:r>
                        <a:rPr lang="fr-FR" sz="1800" b="1" i="0" u="none" strike="noStrike" dirty="0" smtClean="0">
                          <a:effectLst/>
                          <a:latin typeface="Arial" panose="020B0604020202020204" pitchFamily="34" charset="0"/>
                        </a:rPr>
                        <a:t>mois par antigène</a:t>
                      </a:r>
                      <a:endParaRPr lang="fr-FR" sz="1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152418"/>
                  </a:ext>
                </a:extLst>
              </a:tr>
              <a:tr h="7721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DTC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DTC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DTC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VAR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VAR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VPI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VPI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43695126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Banzow Moke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31800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21372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45895109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Bokoro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55346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29799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88700601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Bolobo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34624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17747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823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2515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263936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Bosobe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32191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19287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2151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31248808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Inongo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53618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35021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79984152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Kiri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28975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18821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87332415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Kwamouth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38912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15701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853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18137678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Mimia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14022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9140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07742709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Mushie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33481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19052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1183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7306600"/>
                  </a:ext>
                </a:extLst>
              </a:tr>
              <a:tr h="30130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Nioki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43456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25607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830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945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1336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1212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5146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674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42442369"/>
                  </a:ext>
                </a:extLst>
              </a:tr>
              <a:tr h="281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Ntandembelo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26891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22541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9471272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Oshwe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37385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22541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31956771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Pendjua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22034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10908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21051120"/>
                  </a:ext>
                </a:extLst>
              </a:tr>
              <a:tr h="2510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Yumbi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29403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14455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649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504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382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69911447"/>
                  </a:ext>
                </a:extLst>
              </a:tr>
              <a:tr h="26112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DPS Mai-Ndombe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482138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264245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5531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3832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5404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7363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16129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5903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6637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73813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interventions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specifiques</a:t>
            </a:r>
            <a:r>
              <a:rPr lang="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(stratégie spéciale, introduction des nouveaux </a:t>
            </a:r>
            <a:r>
              <a:rPr lang="" alt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vaccins: VAP)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333533"/>
              </p:ext>
            </p:extLst>
          </p:nvPr>
        </p:nvGraphicFramePr>
        <p:xfrm>
          <a:off x="609599" y="1513843"/>
          <a:ext cx="10444481" cy="4704076"/>
        </p:xfrm>
        <a:graphic>
          <a:graphicData uri="http://schemas.openxmlformats.org/drawingml/2006/table">
            <a:tbl>
              <a:tblPr firstRow="1" bandRow="1"/>
              <a:tblGrid>
                <a:gridCol w="1987322">
                  <a:extLst>
                    <a:ext uri="{9D8B030D-6E8A-4147-A177-3AD203B41FA5}">
                      <a16:colId xmlns:a16="http://schemas.microsoft.com/office/drawing/2014/main" xmlns="" val="902930342"/>
                    </a:ext>
                  </a:extLst>
                </a:gridCol>
                <a:gridCol w="1766508">
                  <a:extLst>
                    <a:ext uri="{9D8B030D-6E8A-4147-A177-3AD203B41FA5}">
                      <a16:colId xmlns:a16="http://schemas.microsoft.com/office/drawing/2014/main" xmlns="" val="3533180667"/>
                    </a:ext>
                  </a:extLst>
                </a:gridCol>
                <a:gridCol w="1788590">
                  <a:extLst>
                    <a:ext uri="{9D8B030D-6E8A-4147-A177-3AD203B41FA5}">
                      <a16:colId xmlns:a16="http://schemas.microsoft.com/office/drawing/2014/main" xmlns="" val="1855158730"/>
                    </a:ext>
                  </a:extLst>
                </a:gridCol>
                <a:gridCol w="2362705">
                  <a:extLst>
                    <a:ext uri="{9D8B030D-6E8A-4147-A177-3AD203B41FA5}">
                      <a16:colId xmlns:a16="http://schemas.microsoft.com/office/drawing/2014/main" xmlns="" val="3698866191"/>
                    </a:ext>
                  </a:extLst>
                </a:gridCol>
                <a:gridCol w="2539356">
                  <a:extLst>
                    <a:ext uri="{9D8B030D-6E8A-4147-A177-3AD203B41FA5}">
                      <a16:colId xmlns:a16="http://schemas.microsoft.com/office/drawing/2014/main" xmlns="" val="75245638"/>
                    </a:ext>
                  </a:extLst>
                </a:gridCol>
              </a:tblGrid>
              <a:tr h="3042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Intervention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Zone de santé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Objectifs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Résultats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obtenus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Contribution </a:t>
                      </a:r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dans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la CV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5632231"/>
                  </a:ext>
                </a:extLst>
              </a:tr>
              <a:tr h="292542">
                <a:tc rowSpan="15"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Appui aux domaine de la </a:t>
                      </a:r>
                      <a:r>
                        <a:rPr lang="fr-FR" sz="1400" b="0" i="0" u="none" strike="noStrike" dirty="0" smtClean="0">
                          <a:effectLst/>
                          <a:latin typeface="Arial" panose="020B0604020202020204" pitchFamily="34" charset="0"/>
                        </a:rPr>
                        <a:t>vaccination (VAP)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Banzow Moke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7694170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Bokoro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1618802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Bolobo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30271993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Bosobe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04018663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Inongo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731062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Kiri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23205359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Kwamouth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72498164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Mimia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44263709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Mushie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51544632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Nioki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71515051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Ntandembelo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65226289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Oshwe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08448247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Pendjwa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84169375"/>
                  </a:ext>
                </a:extLst>
              </a:tr>
              <a:tr h="292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Yumbi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141%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50603334"/>
                  </a:ext>
                </a:extLst>
              </a:tr>
              <a:tr h="3042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DPS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254807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expliquant la performance (leadership, mobilisation communautaire, intégration, supervision)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g3aabc9d920d_0_217"/>
          <p:cNvSpPr/>
          <p:nvPr/>
        </p:nvSpPr>
        <p:spPr>
          <a:xfrm>
            <a:off x="458600" y="1323700"/>
            <a:ext cx="113565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Organisation des réunions en ligne (TC) avec les Zones de Santé pour le suivi de la préparation et de la mise en œuvre des IPVS;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Paiement de chaque Chef de localité d’accès difficile a renforcé leur implication sur l’identification et la récupération des EZD et SV;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chaque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mettre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évidence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endParaRPr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Problème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résolu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par la bonne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Gestion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réfus</a:t>
            </a:r>
            <a:endParaRPr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Description de la bonne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personnes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impliqu</a:t>
            </a:r>
            <a:r>
              <a:rPr lang="" alt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s: les Chefs de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localités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les RECO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ont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montré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l’importance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vaccination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auprès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Chefs de ménages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refractaires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La remise des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comprimés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paracetamol par les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vaccinteurs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à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l’enfant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vaccine.</a:t>
            </a:r>
            <a:endParaRPr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bonne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endParaRPr sz="20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 panose="02020603050405020304"/>
              <a:buAutoNum type="arabicPeriod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la replication</a:t>
            </a:r>
            <a:endParaRPr sz="20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Non organisation des IPVS dans les villages d’accès faciles dans les Aires de Santé de 6 Zones de Santé appuyées par Village Reach;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Non prise en charge des Infirmiers Titulaires de 6 Zones de Santé IPVS appuyées par Village </a:t>
            </a:r>
            <a:r>
              <a:rPr lang="fr-FR" sz="27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Réach</a:t>
            </a: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entrainant une démotivation;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Absence de Kits MAPI dans toutes les ZS;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Absence d’une rubrique de rapportage de la gestion des refus dans le masque de saisie.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68824055"/>
              </p:ext>
            </p:extLst>
          </p:nvPr>
        </p:nvGraphicFramePr>
        <p:xfrm>
          <a:off x="458586" y="1049652"/>
          <a:ext cx="11274925" cy="4468285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65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25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60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97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3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Disponibilité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plan de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contextualisation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FAE de la DPS</a:t>
                      </a:r>
                      <a:endParaRPr sz="2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 complétude des données encodées dans DHIS2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Implicat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ion  des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PTF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couverture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réseau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téléphonique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DPS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Formation des ECZS,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prestataires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relais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communaitaires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sur FAE et la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saisie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realisation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retrosaisie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Instabilité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connexion internet dans l’ensemble de la DPS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Organisation des séances de vaccination selon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les stratégies spéciales (horaire adapté, porte à porte, milieu de concentrations) en dehors de stratégies traditionnelles (fixe avancée et mobile)</a:t>
                      </a:r>
                      <a:endParaRPr lang="fr-FR"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des outils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gestion des données PEV dans les ZS (Registre de vaccination, fiches de pointage, cartes de vaccination, </a:t>
                      </a:r>
                      <a:r>
                        <a:rPr lang="fr-FR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jétons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fiches de stock…)</a:t>
                      </a:r>
                      <a:endParaRPr lang="fr-FR"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bc9d920d_0_43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>
            <p:extLst>
              <p:ext uri="{D42A27DB-BD31-4B8C-83A1-F6EECF244321}">
                <p14:modId xmlns:p14="http://schemas.microsoft.com/office/powerpoint/2010/main" val="2810277999"/>
              </p:ext>
            </p:extLst>
          </p:nvPr>
        </p:nvGraphicFramePr>
        <p:xfrm>
          <a:off x="458599" y="927452"/>
          <a:ext cx="11274925" cy="3858108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65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25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60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97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47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 IPVS</a:t>
                      </a:r>
                      <a:endParaRPr sz="1600" b="0" i="1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baseline="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0rganisation des séances de vaccination dans les localités d’accès difficiles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 complétude des données IPVS encodées dans DHIS2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Implicat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ion  des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PTF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couverture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réseau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téléphonique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DPS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Vaccination des EZD et ESV dans les AS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des outils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gestion des données PEV dans les ZS (Registre de vaccination, fiches de pointage, cartes de vaccination, </a:t>
                      </a:r>
                      <a:r>
                        <a:rPr lang="fr-FR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jétons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fiches de stock…)</a:t>
                      </a:r>
                      <a:endParaRPr lang="fr-FR"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Instabilité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connexion internet dans l’ensemble de la DPS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01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Recommendation 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AutoNum type="arabicParenR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Faire le plaidoyer pour l’organisation des IPVS dans toutes les localités de 6ZS ayant été appuyées par  Village Reach: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AutoNum type="arabicParenR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Former les prestataires et les datas sur gestion des données PEV;</a:t>
            </a:r>
          </a:p>
          <a:p>
            <a:pPr marL="514350" indent="-514350">
              <a:buClr>
                <a:schemeClr val="dk1"/>
              </a:buClr>
              <a:buSzPts val="1500"/>
              <a:buFont typeface="Arial" panose="020B0604020202020204"/>
              <a:buAutoNum type="arabicParenR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Approvisionner les Zones de Santé en outils de gestion des données PEV </a:t>
            </a:r>
            <a:r>
              <a:rPr lang="fr-FR" sz="28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(Registre de vaccination, fiches de pointage, cartes de vaccination, </a:t>
            </a:r>
            <a:r>
              <a:rPr lang="fr-FR" sz="28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jétons</a:t>
            </a:r>
            <a:r>
              <a:rPr lang="fr-FR" sz="28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fiches de stock</a:t>
            </a:r>
            <a:r>
              <a:rPr lang="fr-FR" sz="28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…);</a:t>
            </a:r>
          </a:p>
          <a:p>
            <a:pPr marL="514350" indent="-514350">
              <a:buClr>
                <a:schemeClr val="dk1"/>
              </a:buClr>
              <a:buSzPts val="1500"/>
              <a:buFont typeface="Arial" panose="020B0604020202020204"/>
              <a:buAutoNum type="arabicParenR"/>
            </a:pPr>
            <a:endParaRPr lang="fr-FR"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AutoNum type="arabicParenR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1721</Words>
  <Application>Microsoft Office PowerPoint</Application>
  <PresentationFormat>Grand écran</PresentationFormat>
  <Paragraphs>833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Calibri</vt:lpstr>
      <vt:lpstr>Play</vt:lpstr>
      <vt:lpstr>Times New Roman</vt:lpstr>
      <vt:lpstr>Arial</vt:lpstr>
      <vt:lpstr>Source Serif Pro</vt:lpstr>
      <vt:lpstr>Wingdings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lenovo</cp:lastModifiedBy>
  <cp:revision>47</cp:revision>
  <dcterms:created xsi:type="dcterms:W3CDTF">2025-11-28T20:10:05Z</dcterms:created>
  <dcterms:modified xsi:type="dcterms:W3CDTF">2025-12-09T21:06:56Z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