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737" r:id="rId2"/>
    <p:sldMasterId id="2147483755" r:id="rId3"/>
    <p:sldMasterId id="2147483767" r:id="rId4"/>
  </p:sldMasterIdLst>
  <p:notesMasterIdLst>
    <p:notesMasterId r:id="rId27"/>
  </p:notesMasterIdLst>
  <p:sldIdLst>
    <p:sldId id="2147474606" r:id="rId5"/>
    <p:sldId id="2147474614" r:id="rId6"/>
    <p:sldId id="2147474604" r:id="rId7"/>
    <p:sldId id="2147474615" r:id="rId8"/>
    <p:sldId id="258" r:id="rId9"/>
    <p:sldId id="2147474616" r:id="rId10"/>
    <p:sldId id="260" r:id="rId11"/>
    <p:sldId id="261" r:id="rId12"/>
    <p:sldId id="2147474611" r:id="rId13"/>
    <p:sldId id="2147474612" r:id="rId14"/>
    <p:sldId id="2147474610" r:id="rId15"/>
    <p:sldId id="2147481645" r:id="rId16"/>
    <p:sldId id="2147474619" r:id="rId17"/>
    <p:sldId id="262" r:id="rId18"/>
    <p:sldId id="263" r:id="rId19"/>
    <p:sldId id="264" r:id="rId20"/>
    <p:sldId id="2147474608" r:id="rId21"/>
    <p:sldId id="268" r:id="rId22"/>
    <p:sldId id="2147474618" r:id="rId23"/>
    <p:sldId id="2147481651" r:id="rId24"/>
    <p:sldId id="2147481653" r:id="rId25"/>
    <p:sldId id="2147474607" r:id="rId26"/>
  </p:sldIdLst>
  <p:sldSz cx="12192000" cy="6858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Arial Narrow" panose="020B0606020202030204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  <p:embeddedFont>
      <p:font typeface="Wingdings 3" panose="05040102010807070707" pitchFamily="18" charset="2"/>
      <p:regular r:id="rId38"/>
    </p:embeddedFont>
    <p:embeddedFont>
      <p:font typeface="Tw Cen MT Condensed" panose="020B0606020104020203" pitchFamily="34" charset="0"/>
      <p:regular r:id="rId39"/>
      <p:bold r:id="rId40"/>
    </p:embeddedFont>
    <p:embeddedFont>
      <p:font typeface="Tw Cen MT" panose="020B0602020104020603" pitchFamily="34" charset="0"/>
      <p:regular r:id="rId41"/>
      <p:bold r:id="rId42"/>
      <p:italic r:id="rId43"/>
      <p:boldItalic r:id="rId44"/>
    </p:embeddedFont>
    <p:embeddedFont>
      <p:font typeface="Lato" panose="020B060402020202020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hlXBlbK6868KCfjcj9yuViAesT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B16E58-4F23-4B08-B713-BBCB8CF34EC5}">
  <a:tblStyle styleId="{EDB16E58-4F23-4B08-B713-BBCB8CF34E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32"/>
    <p:restoredTop sz="94593"/>
  </p:normalViewPr>
  <p:slideViewPr>
    <p:cSldViewPr snapToGrid="0">
      <p:cViewPr varScale="1">
        <p:scale>
          <a:sx n="61" d="100"/>
          <a:sy n="61" d="100"/>
        </p:scale>
        <p:origin x="1362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2018 MICS</c:v>
                </c:pt>
              </c:strCache>
            </c:strRef>
          </c:tx>
          <c:spPr>
            <a:solidFill>
              <a:schemeClr val="accent3">
                <a:shade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Haut-Lomami </c:v>
                </c:pt>
                <c:pt idx="1">
                  <c:v>Tanganyika</c:v>
                </c:pt>
                <c:pt idx="2">
                  <c:v>Lualaba</c:v>
                </c:pt>
                <c:pt idx="3">
                  <c:v>DRC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3">
                  <c:v>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A50-8E4E-828A-EB6B2506CA79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2020 ECV </c:v>
                </c:pt>
              </c:strCache>
            </c:strRef>
          </c:tx>
          <c:spPr>
            <a:solidFill>
              <a:schemeClr val="accent3">
                <a:shade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Haut-Lomami </c:v>
                </c:pt>
                <c:pt idx="1">
                  <c:v>Tanganyika</c:v>
                </c:pt>
                <c:pt idx="2">
                  <c:v>Lualaba</c:v>
                </c:pt>
                <c:pt idx="3">
                  <c:v>DRC</c:v>
                </c:pt>
              </c:strCache>
            </c:strRef>
          </c:cat>
          <c:val>
            <c:numRef>
              <c:f>Feuil1!$C$2:$C$5</c:f>
              <c:numCache>
                <c:formatCode>General</c:formatCode>
                <c:ptCount val="4"/>
                <c:pt idx="0">
                  <c:v>79</c:v>
                </c:pt>
                <c:pt idx="1">
                  <c:v>53</c:v>
                </c:pt>
                <c:pt idx="3">
                  <c:v>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A50-8E4E-828A-EB6B2506CA79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2021 ECV</c:v>
                </c:pt>
              </c:strCache>
            </c:strRef>
          </c:tx>
          <c:spPr>
            <a:solidFill>
              <a:schemeClr val="accent3">
                <a:shade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Haut-Lomami </c:v>
                </c:pt>
                <c:pt idx="1">
                  <c:v>Tanganyika</c:v>
                </c:pt>
                <c:pt idx="2">
                  <c:v>Lualaba</c:v>
                </c:pt>
                <c:pt idx="3">
                  <c:v>DRC</c:v>
                </c:pt>
              </c:strCache>
            </c:strRef>
          </c:cat>
          <c:val>
            <c:numRef>
              <c:f>Feuil1!$D$2:$D$5</c:f>
              <c:numCache>
                <c:formatCode>General</c:formatCode>
                <c:ptCount val="4"/>
                <c:pt idx="0">
                  <c:v>95</c:v>
                </c:pt>
                <c:pt idx="1">
                  <c:v>32</c:v>
                </c:pt>
                <c:pt idx="2">
                  <c:v>36</c:v>
                </c:pt>
                <c:pt idx="3">
                  <c:v>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9A50-8E4E-828A-EB6B2506CA79}"/>
            </c:ext>
          </c:extLst>
        </c:ser>
        <c:ser>
          <c:idx val="3"/>
          <c:order val="3"/>
          <c:tx>
            <c:strRef>
              <c:f>Feuil1!$E$1</c:f>
              <c:strCache>
                <c:ptCount val="1"/>
                <c:pt idx="0">
                  <c:v>2022 ECV</c:v>
                </c:pt>
              </c:strCache>
            </c:strRef>
          </c:tx>
          <c:spPr>
            <a:solidFill>
              <a:schemeClr val="accent3">
                <a:tint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Haut-Lomami </c:v>
                </c:pt>
                <c:pt idx="1">
                  <c:v>Tanganyika</c:v>
                </c:pt>
                <c:pt idx="2">
                  <c:v>Lualaba</c:v>
                </c:pt>
                <c:pt idx="3">
                  <c:v>DRC</c:v>
                </c:pt>
              </c:strCache>
            </c:strRef>
          </c:cat>
          <c:val>
            <c:numRef>
              <c:f>Feuil1!$E$2:$E$5</c:f>
              <c:numCache>
                <c:formatCode>General</c:formatCode>
                <c:ptCount val="4"/>
                <c:pt idx="0">
                  <c:v>94.8</c:v>
                </c:pt>
                <c:pt idx="1">
                  <c:v>50.6</c:v>
                </c:pt>
                <c:pt idx="2">
                  <c:v>59.9</c:v>
                </c:pt>
                <c:pt idx="3">
                  <c:v>61.3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9A50-8E4E-828A-EB6B2506CA79}"/>
            </c:ext>
          </c:extLst>
        </c:ser>
        <c:ser>
          <c:idx val="4"/>
          <c:order val="4"/>
          <c:tx>
            <c:strRef>
              <c:f>Feuil1!$F$1</c:f>
              <c:strCache>
                <c:ptCount val="1"/>
                <c:pt idx="0">
                  <c:v>2023 ECV</c:v>
                </c:pt>
              </c:strCache>
            </c:strRef>
          </c:tx>
          <c:spPr>
            <a:solidFill>
              <a:schemeClr val="accent3">
                <a:tint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Haut-Lomami </c:v>
                </c:pt>
                <c:pt idx="1">
                  <c:v>Tanganyika</c:v>
                </c:pt>
                <c:pt idx="2">
                  <c:v>Lualaba</c:v>
                </c:pt>
                <c:pt idx="3">
                  <c:v>DRC</c:v>
                </c:pt>
              </c:strCache>
            </c:strRef>
          </c:cat>
          <c:val>
            <c:numRef>
              <c:f>Feuil1!$F$2:$F$5</c:f>
              <c:numCache>
                <c:formatCode>General</c:formatCode>
                <c:ptCount val="4"/>
                <c:pt idx="0">
                  <c:v>72.3</c:v>
                </c:pt>
                <c:pt idx="1">
                  <c:v>76.400000000000006</c:v>
                </c:pt>
                <c:pt idx="2">
                  <c:v>61.8</c:v>
                </c:pt>
                <c:pt idx="3">
                  <c:v>57.6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9A50-8E4E-828A-EB6B2506CA79}"/>
            </c:ext>
          </c:extLst>
        </c:ser>
        <c:ser>
          <c:idx val="5"/>
          <c:order val="5"/>
          <c:tx>
            <c:strRef>
              <c:f>Feuil1!$G$1</c:f>
              <c:strCache>
                <c:ptCount val="1"/>
                <c:pt idx="0">
                  <c:v>2024 ECV</c:v>
                </c:pt>
              </c:strCache>
            </c:strRef>
          </c:tx>
          <c:spPr>
            <a:solidFill>
              <a:schemeClr val="accent3">
                <a:tint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Haut-Lomami </c:v>
                </c:pt>
                <c:pt idx="1">
                  <c:v>Tanganyika</c:v>
                </c:pt>
                <c:pt idx="2">
                  <c:v>Lualaba</c:v>
                </c:pt>
                <c:pt idx="3">
                  <c:v>DRC</c:v>
                </c:pt>
              </c:strCache>
            </c:strRef>
          </c:cat>
          <c:val>
            <c:numRef>
              <c:f>Feuil1!$G$2:$G$5</c:f>
              <c:numCache>
                <c:formatCode>General</c:formatCode>
                <c:ptCount val="4"/>
                <c:pt idx="0">
                  <c:v>83</c:v>
                </c:pt>
                <c:pt idx="1">
                  <c:v>76</c:v>
                </c:pt>
                <c:pt idx="2">
                  <c:v>62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C01-40A4-A85A-88A1325B7E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466240"/>
        <c:axId val="-48465696"/>
      </c:barChart>
      <c:catAx>
        <c:axId val="-4846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-48465696"/>
        <c:crosses val="autoZero"/>
        <c:auto val="1"/>
        <c:lblAlgn val="ctr"/>
        <c:lblOffset val="100"/>
        <c:noMultiLvlLbl val="0"/>
      </c:catAx>
      <c:valAx>
        <c:axId val="-484656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4846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solidFill>
                  <a:schemeClr val="accent6"/>
                </a:solidFill>
              </a:rPr>
              <a:t>Tanganyika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Province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Feuil1!$A$2:$A$8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Feuil1!$B$2:$B$8</c:f>
              <c:numCache>
                <c:formatCode>_ * #\ ##0_)_ ;_ * \(#\ ##0\)_ ;_ * "-"_)_ ;_ @_ </c:formatCode>
                <c:ptCount val="6"/>
                <c:pt idx="0">
                  <c:v>0</c:v>
                </c:pt>
                <c:pt idx="1">
                  <c:v>50</c:v>
                </c:pt>
                <c:pt idx="2">
                  <c:v>120</c:v>
                </c:pt>
                <c:pt idx="3">
                  <c:v>75</c:v>
                </c:pt>
                <c:pt idx="4">
                  <c:v>75</c:v>
                </c:pt>
                <c:pt idx="5">
                  <c:v>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4D1-D04B-85AA-65D8714042B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FBMG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3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Feuil1!$A$2:$A$8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Feuil1!$C$2:$C$8</c:f>
              <c:numCache>
                <c:formatCode>_ * #\ ##0_)_ ;_ * \(#\ ##0\)_ ;_ * "-"_)_ ;_ @_ </c:formatCode>
                <c:ptCount val="6"/>
                <c:pt idx="0">
                  <c:v>1021</c:v>
                </c:pt>
                <c:pt idx="1">
                  <c:v>750</c:v>
                </c:pt>
                <c:pt idx="2">
                  <c:v>500</c:v>
                </c:pt>
                <c:pt idx="3">
                  <c:v>250</c:v>
                </c:pt>
                <c:pt idx="4">
                  <c:v>590</c:v>
                </c:pt>
                <c:pt idx="5">
                  <c:v>501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4D1-D04B-85AA-65D8714042BB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Taux de décaissement Prov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Feuil1!$A$2:$A$8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Feuil1!$D$2:$D$8</c:f>
              <c:numCache>
                <c:formatCode>0%</c:formatCode>
                <c:ptCount val="6"/>
                <c:pt idx="1">
                  <c:v>0.2</c:v>
                </c:pt>
                <c:pt idx="2">
                  <c:v>1</c:v>
                </c:pt>
                <c:pt idx="3">
                  <c:v>0.25</c:v>
                </c:pt>
                <c:pt idx="4">
                  <c:v>0.15</c:v>
                </c:pt>
                <c:pt idx="5">
                  <c:v>0.12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C2F-1042-AACB-7D790D165E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470592"/>
        <c:axId val="-48466784"/>
      </c:barChart>
      <c:catAx>
        <c:axId val="-48470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b="1" dirty="0">
                    <a:solidFill>
                      <a:schemeClr val="accent6"/>
                    </a:solidFill>
                  </a:rPr>
                  <a:t>,000</a:t>
                </a:r>
                <a:r>
                  <a:rPr lang="fr-FR" b="1" baseline="0" dirty="0">
                    <a:solidFill>
                      <a:schemeClr val="accent6"/>
                    </a:solidFill>
                  </a:rPr>
                  <a:t> USD</a:t>
                </a:r>
                <a:endParaRPr lang="fr-FR" b="1" dirty="0">
                  <a:solidFill>
                    <a:schemeClr val="accent6"/>
                  </a:solidFill>
                </a:endParaRPr>
              </a:p>
            </c:rich>
          </c:tx>
          <c:layout>
            <c:manualLayout>
              <c:xMode val="edge"/>
              <c:yMode val="edge"/>
              <c:x val="0.3806793301717501"/>
              <c:y val="0.933485624094871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-48466784"/>
        <c:crosses val="autoZero"/>
        <c:auto val="1"/>
        <c:lblAlgn val="ctr"/>
        <c:lblOffset val="100"/>
        <c:noMultiLvlLbl val="0"/>
      </c:catAx>
      <c:valAx>
        <c:axId val="-48466784"/>
        <c:scaling>
          <c:orientation val="minMax"/>
        </c:scaling>
        <c:delete val="1"/>
        <c:axPos val="l"/>
        <c:numFmt formatCode="_ * #\ ##0_)_ ;_ * \(#\ ##0\)_ ;_ * &quot;-&quot;_)_ ;_ @_ " sourceLinked="1"/>
        <c:majorTickMark val="out"/>
        <c:minorTickMark val="none"/>
        <c:tickLblPos val="nextTo"/>
        <c:crossAx val="-4847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solidFill>
                  <a:schemeClr val="accent6"/>
                </a:solidFill>
              </a:rPr>
              <a:t>Haut-Lomami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Province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Feuil1!$A$2:$A$8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Feuil1!$B$2:$B$8</c:f>
              <c:numCache>
                <c:formatCode>_ * #\ ##0_)_ ;_ * \(#\ ##0\)_ ;_ * "-"_)_ ;_ @_ </c:formatCode>
                <c:ptCount val="6"/>
                <c:pt idx="0">
                  <c:v>0</c:v>
                </c:pt>
                <c:pt idx="1">
                  <c:v>50.5</c:v>
                </c:pt>
                <c:pt idx="2">
                  <c:v>125</c:v>
                </c:pt>
                <c:pt idx="3">
                  <c:v>150</c:v>
                </c:pt>
                <c:pt idx="4">
                  <c:v>50</c:v>
                </c:pt>
                <c:pt idx="5">
                  <c:v>200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486-9741-8AB4-D5F3FAB74B6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FBMG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3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Feuil1!$A$2:$A$8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Feuil1!$C$2:$C$8</c:f>
              <c:numCache>
                <c:formatCode>_ * #\ ##0_)_ ;_ * \(#\ ##0\)_ ;_ * "-"_)_ ;_ @_ </c:formatCode>
                <c:ptCount val="6"/>
                <c:pt idx="0">
                  <c:v>1097</c:v>
                </c:pt>
                <c:pt idx="1">
                  <c:v>750</c:v>
                </c:pt>
                <c:pt idx="2">
                  <c:v>550</c:v>
                </c:pt>
                <c:pt idx="3">
                  <c:v>310</c:v>
                </c:pt>
                <c:pt idx="4">
                  <c:v>590</c:v>
                </c:pt>
                <c:pt idx="5">
                  <c:v>530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486-9741-8AB4-D5F3FAB74B6B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Taux de décaissement Prov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Feuil1!$A$2:$A$8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Feuil1!$D$2:$D$8</c:f>
              <c:numCache>
                <c:formatCode>0%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1</c:v>
                </c:pt>
                <c:pt idx="3">
                  <c:v>0.49</c:v>
                </c:pt>
                <c:pt idx="4">
                  <c:v>0.09</c:v>
                </c:pt>
                <c:pt idx="5">
                  <c:v>0.8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486-9741-8AB4-D5F3FAB74B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474944"/>
        <c:axId val="-48461888"/>
      </c:barChart>
      <c:catAx>
        <c:axId val="-48474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b="1" dirty="0">
                    <a:solidFill>
                      <a:schemeClr val="accent6"/>
                    </a:solidFill>
                  </a:rPr>
                  <a:t>,000</a:t>
                </a:r>
                <a:r>
                  <a:rPr lang="fr-FR" b="1" baseline="0" dirty="0">
                    <a:solidFill>
                      <a:schemeClr val="accent6"/>
                    </a:solidFill>
                  </a:rPr>
                  <a:t> USD</a:t>
                </a:r>
                <a:endParaRPr lang="fr-FR" b="1" dirty="0">
                  <a:solidFill>
                    <a:schemeClr val="accent6"/>
                  </a:solidFill>
                </a:endParaRPr>
              </a:p>
            </c:rich>
          </c:tx>
          <c:layout>
            <c:manualLayout>
              <c:xMode val="edge"/>
              <c:yMode val="edge"/>
              <c:x val="0.39158364410151031"/>
              <c:y val="0.942858246345476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-48461888"/>
        <c:crosses val="autoZero"/>
        <c:auto val="1"/>
        <c:lblAlgn val="ctr"/>
        <c:lblOffset val="100"/>
        <c:noMultiLvlLbl val="0"/>
      </c:catAx>
      <c:valAx>
        <c:axId val="-48461888"/>
        <c:scaling>
          <c:orientation val="minMax"/>
        </c:scaling>
        <c:delete val="1"/>
        <c:axPos val="l"/>
        <c:numFmt formatCode="_ * #\ ##0_)_ ;_ * \(#\ ##0\)_ ;_ * &quot;-&quot;_)_ ;_ @_ " sourceLinked="1"/>
        <c:majorTickMark val="out"/>
        <c:minorTickMark val="none"/>
        <c:tickLblPos val="nextTo"/>
        <c:crossAx val="-4847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solidFill>
                  <a:schemeClr val="accent6"/>
                </a:solidFill>
              </a:rPr>
              <a:t>Lualaba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Province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70C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Feuil1!$A$3:$A$8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Feuil1!$B$3:$B$8</c:f>
              <c:numCache>
                <c:formatCode>_ * #\ ##0_)_ ;_ * \(#\ ##0\)_ ;_ * "-"_)_ ;_ @_ </c:formatCode>
                <c:ptCount val="5"/>
                <c:pt idx="0">
                  <c:v>0</c:v>
                </c:pt>
                <c:pt idx="1">
                  <c:v>300</c:v>
                </c:pt>
                <c:pt idx="2">
                  <c:v>400</c:v>
                </c:pt>
                <c:pt idx="3">
                  <c:v>500</c:v>
                </c:pt>
                <c:pt idx="4">
                  <c:v>510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615-8F44-A80E-6F59C5995032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FBMG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3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Feuil1!$A$3:$A$8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Feuil1!$C$3:$C$8</c:f>
              <c:numCache>
                <c:formatCode>_ * #\ ##0_)_ ;_ * \(#\ ##0\)_ ;_ * "-"_)_ ;_ @_ </c:formatCode>
                <c:ptCount val="5"/>
                <c:pt idx="0">
                  <c:v>0</c:v>
                </c:pt>
                <c:pt idx="1">
                  <c:v>450</c:v>
                </c:pt>
                <c:pt idx="2">
                  <c:v>280</c:v>
                </c:pt>
                <c:pt idx="3">
                  <c:v>480</c:v>
                </c:pt>
                <c:pt idx="4">
                  <c:v>301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615-8F44-A80E-6F59C5995032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Taux de décaissement Prov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Feuil1!$A$3:$A$8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Feuil1!$D$3:$D$8</c:f>
              <c:numCache>
                <c:formatCode>0%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615-8F44-A80E-6F59C59950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464608"/>
        <c:axId val="-48459712"/>
      </c:barChart>
      <c:catAx>
        <c:axId val="-48464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b="1" dirty="0">
                    <a:solidFill>
                      <a:schemeClr val="accent6"/>
                    </a:solidFill>
                  </a:rPr>
                  <a:t>,000</a:t>
                </a:r>
                <a:r>
                  <a:rPr lang="fr-FR" b="1" baseline="0" dirty="0">
                    <a:solidFill>
                      <a:schemeClr val="accent6"/>
                    </a:solidFill>
                  </a:rPr>
                  <a:t> USD</a:t>
                </a:r>
                <a:endParaRPr lang="fr-FR" b="1" dirty="0">
                  <a:solidFill>
                    <a:schemeClr val="accent6"/>
                  </a:solidFill>
                </a:endParaRPr>
              </a:p>
            </c:rich>
          </c:tx>
          <c:layout>
            <c:manualLayout>
              <c:xMode val="edge"/>
              <c:yMode val="edge"/>
              <c:x val="0.38431410148167017"/>
              <c:y val="0.939734038928608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-48459712"/>
        <c:crosses val="autoZero"/>
        <c:auto val="1"/>
        <c:lblAlgn val="ctr"/>
        <c:lblOffset val="100"/>
        <c:noMultiLvlLbl val="0"/>
      </c:catAx>
      <c:valAx>
        <c:axId val="-48459712"/>
        <c:scaling>
          <c:orientation val="minMax"/>
        </c:scaling>
        <c:delete val="1"/>
        <c:axPos val="l"/>
        <c:numFmt formatCode="_ * #\ ##0_)_ ;_ * \(#\ ##0\)_ ;_ * &quot;-&quot;_)_ ;_ @_ " sourceLinked="1"/>
        <c:majorTickMark val="out"/>
        <c:minorTickMark val="none"/>
        <c:tickLblPos val="nextTo"/>
        <c:crossAx val="-48464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solidFill>
                  <a:schemeClr val="accent6"/>
                </a:solidFill>
              </a:rPr>
              <a:t>Tanganyika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Engagement 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PROV  </c:v>
                </c:pt>
                <c:pt idx="1">
                  <c:v>BMGF</c:v>
                </c:pt>
              </c:strCache>
            </c:strRef>
          </c:cat>
          <c:val>
            <c:numRef>
              <c:f>Feuil1!$B$2:$B$3</c:f>
              <c:numCache>
                <c:formatCode>_ * #\ ##0_)_ ;_ * \(#\ ##0\)_ ;_ * "-"_)_ ;_ @_ </c:formatCode>
                <c:ptCount val="2"/>
                <c:pt idx="0">
                  <c:v>450</c:v>
                </c:pt>
                <c:pt idx="1">
                  <c:v>250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17C-0145-BF11-961F32D72277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Taux décaissement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PROV  </c:v>
                </c:pt>
                <c:pt idx="1">
                  <c:v>BMGF</c:v>
                </c:pt>
              </c:strCache>
            </c:strRef>
          </c:cat>
          <c:val>
            <c:numRef>
              <c:f>Feuil1!$C$2:$C$3</c:f>
              <c:numCache>
                <c:formatCode>0%</c:formatCode>
                <c:ptCount val="2"/>
                <c:pt idx="0">
                  <c:v>0.15333333333333332</c:v>
                </c:pt>
                <c:pt idx="1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17C-0145-BF11-961F32D72277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Décaissement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PROV  </c:v>
                </c:pt>
                <c:pt idx="1">
                  <c:v>BMGF</c:v>
                </c:pt>
              </c:strCache>
            </c:strRef>
          </c:cat>
          <c:val>
            <c:numRef>
              <c:f>Feuil1!$D$2:$D$3</c:f>
              <c:numCache>
                <c:formatCode>_ * #\ ##0_)_ ;_ * \(#\ ##0\)_ ;_ * "-"_)_ ;_ @_ </c:formatCode>
                <c:ptCount val="2"/>
                <c:pt idx="0">
                  <c:v>69</c:v>
                </c:pt>
                <c:pt idx="1">
                  <c:v>250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D17C-0145-BF11-961F32D722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461344"/>
        <c:axId val="-48469504"/>
      </c:barChart>
      <c:catAx>
        <c:axId val="-48461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sz="1200" b="1" dirty="0">
                    <a:solidFill>
                      <a:schemeClr val="accent6"/>
                    </a:solidFill>
                  </a:rPr>
                  <a:t>,000 USD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-48469504"/>
        <c:crosses val="autoZero"/>
        <c:auto val="1"/>
        <c:lblAlgn val="ctr"/>
        <c:lblOffset val="100"/>
        <c:noMultiLvlLbl val="0"/>
      </c:catAx>
      <c:valAx>
        <c:axId val="-48469504"/>
        <c:scaling>
          <c:orientation val="minMax"/>
        </c:scaling>
        <c:delete val="1"/>
        <c:axPos val="l"/>
        <c:numFmt formatCode="_ * #\ ##0_)_ ;_ * \(#\ ##0\)_ ;_ * &quot;-&quot;_)_ ;_ @_ " sourceLinked="1"/>
        <c:majorTickMark val="out"/>
        <c:minorTickMark val="none"/>
        <c:tickLblPos val="nextTo"/>
        <c:crossAx val="-48461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0070C0"/>
      </a:solidFill>
      <a:prstDash val="sysDot"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solidFill>
                  <a:schemeClr val="accent6"/>
                </a:solidFill>
              </a:rPr>
              <a:t>Haut</a:t>
            </a:r>
            <a:r>
              <a:rPr lang="fr-FR" baseline="0" dirty="0">
                <a:solidFill>
                  <a:schemeClr val="accent6"/>
                </a:solidFill>
              </a:rPr>
              <a:t>-Lomami</a:t>
            </a:r>
            <a:endParaRPr lang="fr-FR" dirty="0">
              <a:solidFill>
                <a:schemeClr val="accent6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Engagement 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PROV</c:v>
                </c:pt>
                <c:pt idx="1">
                  <c:v>BMGF</c:v>
                </c:pt>
                <c:pt idx="2">
                  <c:v>USAID</c:v>
                </c:pt>
                <c:pt idx="3">
                  <c:v>GAVI-RSS3</c:v>
                </c:pt>
              </c:strCache>
            </c:strRef>
          </c:cat>
          <c:val>
            <c:numRef>
              <c:f>Feuil1!$B$2:$B$5</c:f>
              <c:numCache>
                <c:formatCode>_ * #\ ##0_)_ ;_ * \(#\ ##0\)_ ;_ * "-"_)_ ;_ @_ </c:formatCode>
                <c:ptCount val="4"/>
                <c:pt idx="0">
                  <c:v>300</c:v>
                </c:pt>
                <c:pt idx="1">
                  <c:v>250</c:v>
                </c:pt>
                <c:pt idx="2">
                  <c:v>0</c:v>
                </c:pt>
                <c:pt idx="3">
                  <c:v>138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C11-AC4B-8FA8-2511392D29DE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Taux décaissement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PROV</c:v>
                </c:pt>
                <c:pt idx="1">
                  <c:v>BMGF</c:v>
                </c:pt>
                <c:pt idx="2">
                  <c:v>USAID</c:v>
                </c:pt>
                <c:pt idx="3">
                  <c:v>GAVI-RSS3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0.56666666666666665</c:v>
                </c:pt>
                <c:pt idx="1">
                  <c:v>1</c:v>
                </c:pt>
                <c:pt idx="2">
                  <c:v>0</c:v>
                </c:pt>
                <c:pt idx="3">
                  <c:v>0.95652173913043481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C11-AC4B-8FA8-2511392D29DE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Décaissement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PROV</c:v>
                </c:pt>
                <c:pt idx="1">
                  <c:v>BMGF</c:v>
                </c:pt>
                <c:pt idx="2">
                  <c:v>USAID</c:v>
                </c:pt>
                <c:pt idx="3">
                  <c:v>GAVI-RSS3</c:v>
                </c:pt>
              </c:strCache>
            </c:strRef>
          </c:cat>
          <c:val>
            <c:numRef>
              <c:f>Feuil1!$D$2:$D$5</c:f>
              <c:numCache>
                <c:formatCode>_ * #\ ##0.0_)_ ;_ * \(#\ ##0.0\)_ ;_ * "-"_)_ ;_ @_ </c:formatCode>
                <c:ptCount val="4"/>
                <c:pt idx="0">
                  <c:v>170</c:v>
                </c:pt>
                <c:pt idx="1">
                  <c:v>250</c:v>
                </c:pt>
                <c:pt idx="2">
                  <c:v>0</c:v>
                </c:pt>
                <c:pt idx="3">
                  <c:v>132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C11-AC4B-8FA8-2511392D29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468960"/>
        <c:axId val="-48474400"/>
      </c:barChart>
      <c:catAx>
        <c:axId val="-48468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sz="1200" b="1" dirty="0">
                    <a:solidFill>
                      <a:schemeClr val="accent6"/>
                    </a:solidFill>
                  </a:rPr>
                  <a:t>,000 USD</a:t>
                </a:r>
              </a:p>
            </c:rich>
          </c:tx>
          <c:layout>
            <c:manualLayout>
              <c:xMode val="edge"/>
              <c:yMode val="edge"/>
              <c:x val="0.40446368141617561"/>
              <c:y val="0.864993033275809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-48474400"/>
        <c:crosses val="autoZero"/>
        <c:auto val="1"/>
        <c:lblAlgn val="ctr"/>
        <c:lblOffset val="100"/>
        <c:noMultiLvlLbl val="0"/>
      </c:catAx>
      <c:valAx>
        <c:axId val="-48474400"/>
        <c:scaling>
          <c:orientation val="minMax"/>
        </c:scaling>
        <c:delete val="1"/>
        <c:axPos val="l"/>
        <c:numFmt formatCode="_ * #\ ##0_)_ ;_ * \(#\ ##0\)_ ;_ * &quot;-&quot;_)_ ;_ @_ " sourceLinked="1"/>
        <c:majorTickMark val="out"/>
        <c:minorTickMark val="none"/>
        <c:tickLblPos val="nextTo"/>
        <c:crossAx val="-48468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0070C0"/>
      </a:solidFill>
      <a:prstDash val="sysDot"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fr-FR" dirty="0">
                <a:solidFill>
                  <a:schemeClr val="accent6"/>
                </a:solidFill>
              </a:rPr>
              <a:t>Lualaba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Engagement 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PROV</c:v>
                </c:pt>
                <c:pt idx="1">
                  <c:v>BMGF</c:v>
                </c:pt>
                <c:pt idx="2">
                  <c:v>USAID </c:v>
                </c:pt>
                <c:pt idx="3">
                  <c:v>GAVI-RSS3</c:v>
                </c:pt>
              </c:strCache>
            </c:strRef>
          </c:cat>
          <c:val>
            <c:numRef>
              <c:f>Feuil1!$B$2:$B$5</c:f>
              <c:numCache>
                <c:formatCode>_ * #\ ##0_)_ ;_ * \(#\ ##0\)_ ;_ * "-"_)_ ;_ @_ </c:formatCode>
                <c:ptCount val="4"/>
                <c:pt idx="0">
                  <c:v>600</c:v>
                </c:pt>
                <c:pt idx="1">
                  <c:v>150</c:v>
                </c:pt>
                <c:pt idx="2">
                  <c:v>0</c:v>
                </c:pt>
                <c:pt idx="3">
                  <c:v>55.29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A07-AF4A-88CC-5BC04741AEF2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Taux décaissement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PROV</c:v>
                </c:pt>
                <c:pt idx="1">
                  <c:v>BMGF</c:v>
                </c:pt>
                <c:pt idx="2">
                  <c:v>USAID </c:v>
                </c:pt>
                <c:pt idx="3">
                  <c:v>GAVI-RSS3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0.67783333333333329</c:v>
                </c:pt>
                <c:pt idx="1">
                  <c:v>1</c:v>
                </c:pt>
                <c:pt idx="2">
                  <c:v>0</c:v>
                </c:pt>
                <c:pt idx="3">
                  <c:v>0.74154458310725269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A07-AF4A-88CC-5BC04741AEF2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Décaissement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4"/>
                <c:pt idx="0">
                  <c:v>PROV</c:v>
                </c:pt>
                <c:pt idx="1">
                  <c:v>BMGF</c:v>
                </c:pt>
                <c:pt idx="2">
                  <c:v>USAID </c:v>
                </c:pt>
                <c:pt idx="3">
                  <c:v>GAVI-RSS3</c:v>
                </c:pt>
              </c:strCache>
            </c:strRef>
          </c:cat>
          <c:val>
            <c:numRef>
              <c:f>Feuil1!$D$2:$D$5</c:f>
              <c:numCache>
                <c:formatCode>_ * #\ ##0.0_)_ ;_ * \(#\ ##0.0\)_ ;_ * "-"_)_ ;_ @_ </c:formatCode>
                <c:ptCount val="4"/>
                <c:pt idx="0">
                  <c:v>406.7</c:v>
                </c:pt>
                <c:pt idx="1">
                  <c:v>150</c:v>
                </c:pt>
                <c:pt idx="2">
                  <c:v>0</c:v>
                </c:pt>
                <c:pt idx="3">
                  <c:v>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4A07-AF4A-88CC-5BC04741AE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464064"/>
        <c:axId val="-48473856"/>
      </c:barChart>
      <c:catAx>
        <c:axId val="-484640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sz="1200" b="1" dirty="0">
                    <a:solidFill>
                      <a:schemeClr val="accent6"/>
                    </a:solidFill>
                  </a:rPr>
                  <a:t>,000 USD</a:t>
                </a:r>
              </a:p>
            </c:rich>
          </c:tx>
          <c:layout>
            <c:manualLayout>
              <c:xMode val="edge"/>
              <c:yMode val="edge"/>
              <c:x val="0.41489740599393116"/>
              <c:y val="0.867094982432159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-48473856"/>
        <c:crosses val="autoZero"/>
        <c:auto val="1"/>
        <c:lblAlgn val="ctr"/>
        <c:lblOffset val="100"/>
        <c:noMultiLvlLbl val="0"/>
      </c:catAx>
      <c:valAx>
        <c:axId val="-48473856"/>
        <c:scaling>
          <c:orientation val="minMax"/>
        </c:scaling>
        <c:delete val="1"/>
        <c:axPos val="l"/>
        <c:numFmt formatCode="_ * #\ ##0_)_ ;_ * \(#\ ##0\)_ ;_ * &quot;-&quot;_)_ ;_ @_ " sourceLinked="1"/>
        <c:majorTickMark val="out"/>
        <c:minorTickMark val="none"/>
        <c:tickLblPos val="nextTo"/>
        <c:crossAx val="-48464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0070C0"/>
      </a:solidFill>
      <a:prstDash val="sysDot"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B226E9-49D3-46E4-AF4A-09F0ED50CE64}" type="doc">
      <dgm:prSet loTypeId="urn:microsoft.com/office/officeart/2005/8/layout/cycle4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97DC1C00-6558-4E25-BD18-E1D65126F0F0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Gouvernorat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345D471-048A-475E-BC13-6E09B21F42EA}" type="parTrans" cxnId="{79CC1A02-D5B7-43D9-BDA9-137C65293C8D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220175-486F-4276-913E-B7D56BDDC9DD}" type="sibTrans" cxnId="{79CC1A02-D5B7-43D9-BDA9-137C65293C8D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81EF11-0E58-4BCD-88CA-3A1CB974CADD}">
      <dgm:prSet phldrT="[Texte]" custT="1"/>
      <dgm:spPr>
        <a:xfrm>
          <a:off x="1030573" y="998860"/>
          <a:ext cx="2155741" cy="2155741"/>
        </a:xfrm>
        <a:prstGeom prst="pieWedge">
          <a:avLst/>
        </a:prstGeom>
        <a:solidFill>
          <a:srgbClr val="1F497D"/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None/>
          </a:pPr>
          <a:r>
            <a:rPr lang="fr-CD" sz="1500" b="1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Gouvernement Provincial</a:t>
          </a:r>
          <a:endParaRPr lang="fr-FR" sz="1500" b="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FAF950C-6B96-4439-A0B3-90E2137FF49B}" type="parTrans" cxnId="{530C4921-380D-44B1-B218-C3AD982ED9A2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C4847C-F2FE-4878-913E-1E8D2C1048DB}" type="sibTrans" cxnId="{530C4921-380D-44B1-B218-C3AD982ED9A2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CABAF3-C8A1-42DF-9A6E-497DBB76CDFB}">
      <dgm:prSet custT="1"/>
      <dgm:spPr>
        <a:xfrm rot="5400000">
          <a:off x="3285887" y="998860"/>
          <a:ext cx="2155741" cy="2155741"/>
        </a:xfrm>
        <a:prstGeom prst="pieWedge">
          <a:avLst/>
        </a:prstGeom>
        <a:solidFill>
          <a:srgbClr val="C0504D"/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None/>
          </a:pPr>
          <a:r>
            <a:rPr lang="fr-FR" sz="1600" b="1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Consortium des Bailleurs  </a:t>
          </a:r>
        </a:p>
        <a:p>
          <a:pPr>
            <a:buNone/>
          </a:pPr>
          <a:r>
            <a:rPr lang="fr-FR" sz="1600" b="0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</a:p>
      </dgm:t>
    </dgm:pt>
    <dgm:pt modelId="{ED92B9E2-C552-4B86-B752-F6EEDF4C0598}" type="parTrans" cxnId="{B482010C-4EEC-46DF-A807-05F54E783281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87A8B0-793B-4B37-89D2-F69C4177B489}" type="sibTrans" cxnId="{B482010C-4EEC-46DF-A807-05F54E783281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431BDD-F36B-4192-8376-1119C7697FE1}">
      <dgm:prSet phldrT="[Texte]" custT="1"/>
      <dgm:spPr>
        <a:xfrm rot="16200000">
          <a:off x="1030573" y="3254174"/>
          <a:ext cx="2155741" cy="2155741"/>
        </a:xfrm>
        <a:prstGeom prst="pieWedge">
          <a:avLst/>
        </a:prstGeom>
        <a:solidFill>
          <a:srgbClr val="4BACC6"/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None/>
          </a:pPr>
          <a:r>
            <a:rPr lang="fr-CD" sz="1600" b="1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Assemblée provinciale</a:t>
          </a:r>
          <a:endParaRPr lang="fr-FR" sz="1600" b="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7E63DD45-1CEB-452E-A1EB-4439713F3CA0}" type="sibTrans" cxnId="{F6C7128F-CA72-4030-9897-3AAEF6109C20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F60C16-EE17-493F-8BFB-493569582FAC}" type="parTrans" cxnId="{F6C7128F-CA72-4030-9897-3AAEF6109C20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F05819-7F4D-48DE-AB33-7557262D3BD0}">
      <dgm:prSet phldrT="[Texte]" custT="1"/>
      <dgm:spPr>
        <a:xfrm>
          <a:off x="8288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4BACC6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Bureau de l’Assemblée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5F918FC6-C294-42D0-B45D-757429B01845}" type="sibTrans" cxnId="{2E61368C-0D8E-4457-B870-358CD3871338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6A46DA-EC9D-420B-93DF-8A33A47A227A}" type="parTrans" cxnId="{2E61368C-0D8E-4457-B870-358CD3871338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963D67-6487-4944-BE9C-95BAE6CDA0BA}">
      <dgm:prSet custT="1"/>
      <dgm:spPr>
        <a:xfrm rot="10800000">
          <a:off x="3285887" y="3254174"/>
          <a:ext cx="2155741" cy="2155741"/>
        </a:xfrm>
        <a:prstGeom prst="pieWedge">
          <a:avLst/>
        </a:prstGeom>
        <a:solidFill>
          <a:sysClr val="windowText" lastClr="000000">
            <a:lumMod val="50000"/>
            <a:lumOff val="50000"/>
          </a:sysClr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None/>
          </a:pPr>
          <a:r>
            <a:rPr lang="fr-FR" sz="1600" b="1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Organisations de la société civile</a:t>
          </a:r>
        </a:p>
      </dgm:t>
    </dgm:pt>
    <dgm:pt modelId="{4B033275-71EA-44AE-845E-FB02E7DFD1FD}" type="parTrans" cxnId="{FFA025A9-F02A-4DA0-8F60-CCC035159711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1E60FA-2D8B-4267-A60A-BE48F88C2CD4}" type="sibTrans" cxnId="{FFA025A9-F02A-4DA0-8F60-CCC035159711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C08694-6D50-46C5-A8A0-38862E942861}">
      <dgm:prSet custT="1"/>
      <dgm:spPr>
        <a:xfrm>
          <a:off x="4012765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ysClr val="window" lastClr="FFFFFF">
              <a:lumMod val="5000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Communautés locales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0E83F55A-B501-4BF5-9855-ED88A699775C}" type="parTrans" cxnId="{49AEF32E-1642-4611-90E7-246C84C6D8BB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5DD1D6-A885-4884-B7CC-FFD6D3175724}" type="sibTrans" cxnId="{49AEF32E-1642-4611-90E7-246C84C6D8BB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883CC0-1709-48AD-A1CF-565A64E81988}">
      <dgm:prSet custT="1"/>
      <dgm:spPr>
        <a:xfrm>
          <a:off x="4012765" y="559810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C0504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Consortium des Partenaires Techniques mandatés </a:t>
          </a:r>
          <a:r>
            <a:rPr lang="fr-FR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(GET &amp; GAF)</a:t>
          </a:r>
        </a:p>
      </dgm:t>
    </dgm:pt>
    <dgm:pt modelId="{9D617473-2A6C-4BCF-B939-7463CB05FC87}" type="parTrans" cxnId="{D9B303F3-3B9B-4331-ABC3-E82E7C72036D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B60567-13F0-44D0-9CEA-DDC549794550}" type="sibTrans" cxnId="{D9B303F3-3B9B-4331-ABC3-E82E7C72036D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E319E5-62CD-4CAB-BBF4-787C1160675E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 Budget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49E8E3B-8382-4858-9173-21173454896B}" type="parTrans" cxnId="{696B966B-C1F4-429B-95BD-05D3E37AACB8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5EA610-BCFD-464D-AC7B-5C6AFF0B2111}" type="sibTrans" cxnId="{696B966B-C1F4-429B-95BD-05D3E37AACB8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997883-5B9E-43CC-93F2-AAF220B3A0EC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 Finance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F4DA45B-BB41-4FC1-813D-9273D818D60F}" type="parTrans" cxnId="{F256FDDA-3FF9-4705-A62A-69D53B7CFF74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851A7B-D47C-404A-A314-AC412E213126}" type="sibTrans" cxnId="{F256FDDA-3FF9-4705-A62A-69D53B7CFF74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81BE82-9406-4042-8E8F-4428062F14FF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 Santé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B25404B-3233-4E43-934E-6B2253FA19BD}" type="parTrans" cxnId="{574EA0CC-D4A6-4E2F-A6A1-0B05554E7BFF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AD2C6C-16FC-4E09-9B90-567463A3F9CC}" type="sibTrans" cxnId="{574EA0CC-D4A6-4E2F-A6A1-0B05554E7BFF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7B7E88-C783-4F7B-802C-D27CB8765E2A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ETD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CDA0F9A-D81F-4317-B1A4-2129D815ACCC}" type="parTrans" cxnId="{A6097B89-64E3-452B-8E38-443C00E1C46B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47F182-07CA-4730-B48B-92A32D55E4CE}" type="sibTrans" cxnId="{A6097B89-64E3-452B-8E38-443C00E1C46B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B7548B-D25F-4CBB-A65A-3A79D89A0812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DPS: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F5234802-474B-4DD9-80AD-A6C0DC90A1F6}" type="parTrans" cxnId="{70B5718D-103A-40E6-B42D-24BF412C3BD3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08AB1-FFFE-4B90-B0C1-5EF5EEDB7E44}" type="sibTrans" cxnId="{70B5718D-103A-40E6-B42D-24BF412C3BD3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A150A9-CE5E-4387-94E4-9F4696B8211B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Coordinations Programmes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7017FBF6-E411-460E-9FEA-BB312F0E683C}" type="parTrans" cxnId="{ED65BDC3-598B-40C2-BE42-ECDE98F1FAAE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BE6ED1-F597-4455-9469-1CD920C1D508}" type="sibTrans" cxnId="{ED65BDC3-598B-40C2-BE42-ECDE98F1FAAE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0C1B7B-9CE5-4568-AF56-097750B07BD4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Zones et Aires de Santé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C8ACAE3-DCF7-4FB4-8FC8-29F458D8CB2D}" type="parTrans" cxnId="{9F77E418-86D2-4869-8CA3-214DD19AF859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0E0805-71E6-46E5-965B-9316958FC208}" type="sibTrans" cxnId="{9F77E418-86D2-4869-8CA3-214DD19AF859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A0D57D-392B-47C1-9B67-583389E6307A}">
      <dgm:prSet phldrT="[Texte]" custT="1"/>
      <dgm:spPr>
        <a:xfrm>
          <a:off x="8288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4BACC6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REPACAV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F78FC0C-D891-4A33-84A7-945EB5770257}" type="parTrans" cxnId="{6A9F4E55-2AF7-4B85-9688-100C0AE71562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5DA162-6616-4C4B-9966-FF5BB8793895}" type="sibTrans" cxnId="{6A9F4E55-2AF7-4B85-9688-100C0AE71562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C84A59-8C7A-4270-82B5-9AD09E0006B4}">
      <dgm:prSet phldrT="[Texte]" custT="1"/>
      <dgm:spPr>
        <a:xfrm>
          <a:off x="8288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4BACC6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Commission affaires Sociales, Culturelles et  Santé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6D1E391-AD58-4B49-A041-C75D7573746C}" type="parTrans" cxnId="{2F356D2E-0A32-40E8-9930-6ADA5C6AB852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E4B15-EFC3-4354-9279-2913D9AC303D}" type="sibTrans" cxnId="{2F356D2E-0A32-40E8-9930-6ADA5C6AB852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9D2B1B-8719-452A-9A66-18D2ECB5AA6B}">
      <dgm:prSet custT="1"/>
      <dgm:spPr>
        <a:xfrm>
          <a:off x="4012765" y="559810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C0504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Autres bailleurs de fonds et partenaires PTF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06986400-538A-4756-9C98-BFA1771DDD2B}" type="parTrans" cxnId="{9C71ADE3-E760-4728-86C9-7222DCCAD6F7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EC1428-823D-40E8-BF08-7E0AE9DA87F9}" type="sibTrans" cxnId="{9C71ADE3-E760-4728-86C9-7222DCCAD6F7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BC81C2-CFF2-4ADC-9DDE-7BCF29498C14}">
      <dgm:prSet custT="1"/>
      <dgm:spPr>
        <a:xfrm>
          <a:off x="4012765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ysClr val="window" lastClr="FFFFFF">
              <a:lumMod val="5000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Associations féminines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28A5BBE-11B9-4E19-8839-12EC66CBD908}" type="parTrans" cxnId="{2DFC29B1-E733-4503-976D-FFCC86D58885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9E34CE-F947-49CA-99A3-BB4D9C72800B}" type="sibTrans" cxnId="{2DFC29B1-E733-4503-976D-FFCC86D58885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7F9348-CF5C-4596-B2EE-F6412079B0B7}">
      <dgm:prSet custT="1"/>
      <dgm:spPr>
        <a:xfrm>
          <a:off x="4012765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ysClr val="window" lastClr="FFFFFF">
              <a:lumMod val="5000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EB3D3E83-1707-4FC7-95D2-708973DE02D0}" type="parTrans" cxnId="{FA92E960-C4D6-4125-BF3F-3333EE7EF1D0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06C654-169D-42E2-AB10-24110E86083E}" type="sibTrans" cxnId="{FA92E960-C4D6-4125-BF3F-3333EE7EF1D0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B7112A-6AE9-4C14-A4F9-CF9975BB36D8}">
      <dgm:prSet phldrT="[Texte]" custT="1"/>
      <dgm:spPr>
        <a:xfrm>
          <a:off x="8288" y="5581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r>
            <a:rPr lang="fr-CD" sz="1100" b="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IPS</a:t>
          </a: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C8CBD06A-1079-4619-84E2-6AD157FD21C1}" type="parTrans" cxnId="{996AF9B4-E18C-4C03-B4F7-AF21FC4B0464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91734E-5F9D-44F3-AD40-80A8E912ED83}" type="sibTrans" cxnId="{996AF9B4-E18C-4C03-B4F7-AF21FC4B0464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9271E5-06D9-479B-A08C-BDBAB3AD6BBD}">
      <dgm:prSet custT="1"/>
      <dgm:spPr>
        <a:xfrm>
          <a:off x="4012765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ysClr val="window" lastClr="FFFFFF">
              <a:lumMod val="5000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735AE0F4-4A16-4381-B0C0-9D14D0B2ED9C}" type="parTrans" cxnId="{6AEFC4BB-BD73-4878-AB3B-E7F7DA679053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DDBDCC-8CCB-47FA-A90D-7C69D0CC9FC0}" type="sibTrans" cxnId="{6AEFC4BB-BD73-4878-AB3B-E7F7DA679053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BEFF00-2E75-40F9-925F-227614D26C01}">
      <dgm:prSet phldrT="[Texte]" custT="1"/>
      <dgm:spPr>
        <a:xfrm>
          <a:off x="8288" y="3945269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4BACC6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E0627EEC-BBE8-468F-84D6-3ED5FC0C6660}" type="parTrans" cxnId="{21220588-6F45-46E8-81A1-51176E3D22E9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BCF0FD-AF37-4C57-BC67-D7C530BF9549}" type="sibTrans" cxnId="{21220588-6F45-46E8-81A1-51176E3D22E9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7DDD23-A5AE-4CB6-9FA3-39DCF486ACFC}">
      <dgm:prSet custT="1"/>
      <dgm:spPr>
        <a:xfrm>
          <a:off x="4012765" y="559810"/>
          <a:ext cx="2459436" cy="1903695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C0504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buChar char="•"/>
          </a:pPr>
          <a:endParaRPr lang="fr-FR" sz="1100" b="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9CE3FEC-52B6-47A9-B687-94B883CBA915}" type="parTrans" cxnId="{A2A29924-2A06-45D1-B8B6-C03DB3D633B8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0FE0C8-11F7-4A88-AAA7-28A100AC2336}" type="sibTrans" cxnId="{A2A29924-2A06-45D1-B8B6-C03DB3D633B8}">
      <dgm:prSet/>
      <dgm:spPr/>
      <dgm:t>
        <a:bodyPr/>
        <a:lstStyle/>
        <a:p>
          <a:endParaRPr lang="fr-F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D01789-05C2-4D0B-974C-DBEE0FF4EE0E}" type="pres">
      <dgm:prSet presAssocID="{57B226E9-49D3-46E4-AF4A-09F0ED50CE64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57D56EBE-BE6D-433A-AF82-B602E66E30DC}" type="pres">
      <dgm:prSet presAssocID="{57B226E9-49D3-46E4-AF4A-09F0ED50CE64}" presName="children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E1BCBE9A-BCE5-4503-BAEA-4AD3879C8300}" type="pres">
      <dgm:prSet presAssocID="{57B226E9-49D3-46E4-AF4A-09F0ED50CE64}" presName="child1group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E328BA64-41E7-4029-A8E8-AE63F2C54EDF}" type="pres">
      <dgm:prSet presAssocID="{57B226E9-49D3-46E4-AF4A-09F0ED50CE64}" presName="child1" presStyleLbl="bgAcc1" presStyleIdx="0" presStyleCnt="4" custScaleY="119492" custLinFactNeighborX="337" custLinFactNeighborY="-103"/>
      <dgm:spPr/>
      <dgm:t>
        <a:bodyPr/>
        <a:lstStyle/>
        <a:p>
          <a:endParaRPr lang="fr-FR"/>
        </a:p>
      </dgm:t>
    </dgm:pt>
    <dgm:pt modelId="{4C0844A4-F444-4C94-8FE6-D8C89FBF8F29}" type="pres">
      <dgm:prSet presAssocID="{57B226E9-49D3-46E4-AF4A-09F0ED50CE64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1A326BA-0BE4-4AE0-A305-3079BF06DDE2}" type="pres">
      <dgm:prSet presAssocID="{57B226E9-49D3-46E4-AF4A-09F0ED50CE64}" presName="child2group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5B151367-EA37-4E5E-87A1-B125A1BA7A26}" type="pres">
      <dgm:prSet presAssocID="{57B226E9-49D3-46E4-AF4A-09F0ED50CE64}" presName="child2" presStyleLbl="bgAcc1" presStyleIdx="1" presStyleCnt="4" custScaleY="119492"/>
      <dgm:spPr/>
      <dgm:t>
        <a:bodyPr/>
        <a:lstStyle/>
        <a:p>
          <a:endParaRPr lang="fr-FR"/>
        </a:p>
      </dgm:t>
    </dgm:pt>
    <dgm:pt modelId="{E2B7AE23-E5F3-47AF-95E0-76E2D270592E}" type="pres">
      <dgm:prSet presAssocID="{57B226E9-49D3-46E4-AF4A-09F0ED50CE64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C2DAF9F-8CF3-4D5F-9C82-4CA041FB58FA}" type="pres">
      <dgm:prSet presAssocID="{57B226E9-49D3-46E4-AF4A-09F0ED50CE64}" presName="child3group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5A381002-2903-440D-9AC3-0E33FAF33487}" type="pres">
      <dgm:prSet presAssocID="{57B226E9-49D3-46E4-AF4A-09F0ED50CE64}" presName="child3" presStyleLbl="bgAcc1" presStyleIdx="2" presStyleCnt="4" custScaleY="119492" custLinFactNeighborX="0"/>
      <dgm:spPr/>
      <dgm:t>
        <a:bodyPr/>
        <a:lstStyle/>
        <a:p>
          <a:endParaRPr lang="fr-FR"/>
        </a:p>
      </dgm:t>
    </dgm:pt>
    <dgm:pt modelId="{2779AB93-FE95-425B-ABD0-33CD98EA4A19}" type="pres">
      <dgm:prSet presAssocID="{57B226E9-49D3-46E4-AF4A-09F0ED50CE64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6F1C585-9565-4723-8703-893CE3A85072}" type="pres">
      <dgm:prSet presAssocID="{57B226E9-49D3-46E4-AF4A-09F0ED50CE64}" presName="child4group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1CD1D575-6040-46C3-A995-980EEB8B3996}" type="pres">
      <dgm:prSet presAssocID="{57B226E9-49D3-46E4-AF4A-09F0ED50CE64}" presName="child4" presStyleLbl="bgAcc1" presStyleIdx="3" presStyleCnt="4" custScaleY="119492" custLinFactNeighborX="337"/>
      <dgm:spPr/>
      <dgm:t>
        <a:bodyPr/>
        <a:lstStyle/>
        <a:p>
          <a:endParaRPr lang="fr-FR"/>
        </a:p>
      </dgm:t>
    </dgm:pt>
    <dgm:pt modelId="{6DF62064-21BE-4F77-98F1-D84B2519C068}" type="pres">
      <dgm:prSet presAssocID="{57B226E9-49D3-46E4-AF4A-09F0ED50CE64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4E81AC3-F683-4BF0-9D06-6CEAC82F1F0C}" type="pres">
      <dgm:prSet presAssocID="{57B226E9-49D3-46E4-AF4A-09F0ED50CE64}" presName="childPlaceholder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0A86E98E-F2B2-4C07-BB81-B517851E2615}" type="pres">
      <dgm:prSet presAssocID="{57B226E9-49D3-46E4-AF4A-09F0ED50CE64}" presName="circle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2DCED1E3-A646-4CBD-95DA-75437E2EC8EE}" type="pres">
      <dgm:prSet presAssocID="{57B226E9-49D3-46E4-AF4A-09F0ED50CE64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3C232A1-703C-4DF6-A42A-2959325E5E89}" type="pres">
      <dgm:prSet presAssocID="{57B226E9-49D3-46E4-AF4A-09F0ED50CE64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EBBEAE9-8C69-4BB8-9400-A4F57514FF8F}" type="pres">
      <dgm:prSet presAssocID="{57B226E9-49D3-46E4-AF4A-09F0ED50CE64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C2534AB-39B2-4984-9DCD-9B6AC8A99BE8}" type="pres">
      <dgm:prSet presAssocID="{57B226E9-49D3-46E4-AF4A-09F0ED50CE64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EFCC8F2-80D2-4654-925D-CC9EC92CEB58}" type="pres">
      <dgm:prSet presAssocID="{57B226E9-49D3-46E4-AF4A-09F0ED50CE64}" presName="quadrantPlaceholder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7F6B3645-A13F-4AB9-A4B8-8EC6CE226157}" type="pres">
      <dgm:prSet presAssocID="{57B226E9-49D3-46E4-AF4A-09F0ED50CE64}" presName="center1" presStyleLbl="fgShp" presStyleIdx="0" presStyleCnt="2"/>
      <dgm:spPr>
        <a:xfrm>
          <a:off x="2863949" y="2756312"/>
          <a:ext cx="744303" cy="647220"/>
        </a:xfrm>
        <a:prstGeom prst="circularArrow">
          <a:avLst/>
        </a:prstGeom>
        <a:solidFill>
          <a:srgbClr val="C0504D"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</dgm:pt>
    <dgm:pt modelId="{977EA925-0BC6-4423-83CE-11DF7B2CA858}" type="pres">
      <dgm:prSet presAssocID="{57B226E9-49D3-46E4-AF4A-09F0ED50CE64}" presName="center2" presStyleLbl="fgShp" presStyleIdx="1" presStyleCnt="2"/>
      <dgm:spPr>
        <a:xfrm rot="10800000">
          <a:off x="2863949" y="3005243"/>
          <a:ext cx="744303" cy="647220"/>
        </a:xfrm>
        <a:prstGeom prst="circularArrow">
          <a:avLst/>
        </a:prstGeom>
        <a:solidFill>
          <a:srgbClr val="C0504D"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gm:spPr>
    </dgm:pt>
  </dgm:ptLst>
  <dgm:cxnLst>
    <dgm:cxn modelId="{066B4BA7-2A4E-448A-8412-6EF471CFE31F}" type="presOf" srcId="{4BF05819-7F4D-48DE-AB33-7557262D3BD0}" destId="{6DF62064-21BE-4F77-98F1-D84B2519C068}" srcOrd="1" destOrd="1" presId="urn:microsoft.com/office/officeart/2005/8/layout/cycle4"/>
    <dgm:cxn modelId="{FFD0F2CC-2830-405E-8025-6760348FF12C}" type="presOf" srcId="{1CB7112A-6AE9-4C14-A4F9-CF9975BB36D8}" destId="{4C0844A4-F444-4C94-8FE6-D8C89FBF8F29}" srcOrd="1" destOrd="7" presId="urn:microsoft.com/office/officeart/2005/8/layout/cycle4"/>
    <dgm:cxn modelId="{CA9274E4-BF71-47F6-BE23-772D33173BD5}" type="presOf" srcId="{70C84A59-8C7A-4270-82B5-9AD09E0006B4}" destId="{1CD1D575-6040-46C3-A995-980EEB8B3996}" srcOrd="0" destOrd="2" presId="urn:microsoft.com/office/officeart/2005/8/layout/cycle4"/>
    <dgm:cxn modelId="{21A22E02-5E7F-4114-807F-554384AEC936}" type="presOf" srcId="{C07DDD23-A5AE-4CB6-9FA3-39DCF486ACFC}" destId="{5B151367-EA37-4E5E-87A1-B125A1BA7A26}" srcOrd="0" destOrd="0" presId="urn:microsoft.com/office/officeart/2005/8/layout/cycle4"/>
    <dgm:cxn modelId="{F256FDDA-3FF9-4705-A62A-69D53B7CFF74}" srcId="{3781EF11-0E58-4BCD-88CA-3A1CB974CADD}" destId="{8B997883-5B9E-43CC-93F2-AAF220B3A0EC}" srcOrd="2" destOrd="0" parTransId="{1F4DA45B-BB41-4FC1-813D-9273D818D60F}" sibTransId="{07851A7B-D47C-404A-A314-AC412E213126}"/>
    <dgm:cxn modelId="{79CC1A02-D5B7-43D9-BDA9-137C65293C8D}" srcId="{3781EF11-0E58-4BCD-88CA-3A1CB974CADD}" destId="{97DC1C00-6558-4E25-BD18-E1D65126F0F0}" srcOrd="0" destOrd="0" parTransId="{9345D471-048A-475E-BC13-6E09B21F42EA}" sibTransId="{E9220175-486F-4276-913E-B7D56BDDC9DD}"/>
    <dgm:cxn modelId="{A2A29924-2A06-45D1-B8B6-C03DB3D633B8}" srcId="{95CABAF3-C8A1-42DF-9A6E-497DBB76CDFB}" destId="{C07DDD23-A5AE-4CB6-9FA3-39DCF486ACFC}" srcOrd="0" destOrd="0" parTransId="{B9CE3FEC-52B6-47A9-B687-94B883CBA915}" sibTransId="{2B0FE0C8-11F7-4A88-AAA7-28A100AC2336}"/>
    <dgm:cxn modelId="{CD62B740-94C9-419F-8E64-F106DD56296A}" type="presOf" srcId="{1CB7112A-6AE9-4C14-A4F9-CF9975BB36D8}" destId="{E328BA64-41E7-4029-A8E8-AE63F2C54EDF}" srcOrd="0" destOrd="7" presId="urn:microsoft.com/office/officeart/2005/8/layout/cycle4"/>
    <dgm:cxn modelId="{49AEF32E-1642-4611-90E7-246C84C6D8BB}" srcId="{79963D67-6487-4944-BE9C-95BAE6CDA0BA}" destId="{56C08694-6D50-46C5-A8A0-38862E942861}" srcOrd="2" destOrd="0" parTransId="{0E83F55A-B501-4BF5-9855-ED88A699775C}" sibTransId="{B95DD1D6-A885-4884-B7CC-FFD6D3175724}"/>
    <dgm:cxn modelId="{6AEFC4BB-BD73-4878-AB3B-E7F7DA679053}" srcId="{79963D67-6487-4944-BE9C-95BAE6CDA0BA}" destId="{F69271E5-06D9-479B-A08C-BDBAB3AD6BBD}" srcOrd="0" destOrd="0" parTransId="{735AE0F4-4A16-4381-B0C0-9D14D0B2ED9C}" sibTransId="{0CDDBDCC-8CCB-47FA-A90D-7C69D0CC9FC0}"/>
    <dgm:cxn modelId="{40D7B1B3-95D7-4A1F-B1CD-29A5C65F515C}" type="presOf" srcId="{3A0C1B7B-9CE5-4568-AF56-097750B07BD4}" destId="{4C0844A4-F444-4C94-8FE6-D8C89FBF8F29}" srcOrd="1" destOrd="6" presId="urn:microsoft.com/office/officeart/2005/8/layout/cycle4"/>
    <dgm:cxn modelId="{0DF5E8DF-DD2C-4F14-B9BA-254434082D98}" type="presOf" srcId="{95CABAF3-C8A1-42DF-9A6E-497DBB76CDFB}" destId="{93C232A1-703C-4DF6-A42A-2959325E5E89}" srcOrd="0" destOrd="0" presId="urn:microsoft.com/office/officeart/2005/8/layout/cycle4"/>
    <dgm:cxn modelId="{22CE3BA4-D139-4058-94F8-8880F4A71065}" type="presOf" srcId="{AB7B7E88-C783-4F7B-802C-D27CB8765E2A}" destId="{4C0844A4-F444-4C94-8FE6-D8C89FBF8F29}" srcOrd="1" destOrd="8" presId="urn:microsoft.com/office/officeart/2005/8/layout/cycle4"/>
    <dgm:cxn modelId="{87D56828-9D59-4C68-B006-135C30519A18}" type="presOf" srcId="{C07DDD23-A5AE-4CB6-9FA3-39DCF486ACFC}" destId="{E2B7AE23-E5F3-47AF-95E0-76E2D270592E}" srcOrd="1" destOrd="0" presId="urn:microsoft.com/office/officeart/2005/8/layout/cycle4"/>
    <dgm:cxn modelId="{8E56F5B1-65DD-4407-8C1E-9210E924A350}" type="presOf" srcId="{34E319E5-62CD-4CAB-BBF4-787C1160675E}" destId="{4C0844A4-F444-4C94-8FE6-D8C89FBF8F29}" srcOrd="1" destOrd="1" presId="urn:microsoft.com/office/officeart/2005/8/layout/cycle4"/>
    <dgm:cxn modelId="{2F356D2E-0A32-40E8-9930-6ADA5C6AB852}" srcId="{88431BDD-F36B-4192-8376-1119C7697FE1}" destId="{70C84A59-8C7A-4270-82B5-9AD09E0006B4}" srcOrd="2" destOrd="0" parTransId="{B6D1E391-AD58-4B49-A041-C75D7573746C}" sibTransId="{F38E4B15-EFC3-4354-9279-2913D9AC303D}"/>
    <dgm:cxn modelId="{1B1CFEF9-62DC-483E-9929-9FA1A94C7AAC}" type="presOf" srcId="{56C08694-6D50-46C5-A8A0-38862E942861}" destId="{5A381002-2903-440D-9AC3-0E33FAF33487}" srcOrd="0" destOrd="2" presId="urn:microsoft.com/office/officeart/2005/8/layout/cycle4"/>
    <dgm:cxn modelId="{F6C7128F-CA72-4030-9897-3AAEF6109C20}" srcId="{57B226E9-49D3-46E4-AF4A-09F0ED50CE64}" destId="{88431BDD-F36B-4192-8376-1119C7697FE1}" srcOrd="3" destOrd="0" parTransId="{B9F60C16-EE17-493F-8BFB-493569582FAC}" sibTransId="{7E63DD45-1CEB-452E-A1EB-4439713F3CA0}"/>
    <dgm:cxn modelId="{63255204-C87C-4167-928C-9A8428255951}" type="presOf" srcId="{E7BEFF00-2E75-40F9-925F-227614D26C01}" destId="{1CD1D575-6040-46C3-A995-980EEB8B3996}" srcOrd="0" destOrd="0" presId="urn:microsoft.com/office/officeart/2005/8/layout/cycle4"/>
    <dgm:cxn modelId="{4F0B4CD0-AE1C-489B-B827-4182DCB35E17}" type="presOf" srcId="{97DC1C00-6558-4E25-BD18-E1D65126F0F0}" destId="{E328BA64-41E7-4029-A8E8-AE63F2C54EDF}" srcOrd="0" destOrd="0" presId="urn:microsoft.com/office/officeart/2005/8/layout/cycle4"/>
    <dgm:cxn modelId="{9C71ADE3-E760-4728-86C9-7222DCCAD6F7}" srcId="{95CABAF3-C8A1-42DF-9A6E-497DBB76CDFB}" destId="{EE9D2B1B-8719-452A-9A66-18D2ECB5AA6B}" srcOrd="2" destOrd="0" parTransId="{06986400-538A-4756-9C98-BFA1771DDD2B}" sibTransId="{2EEC1428-823D-40E8-BF08-7E0AE9DA87F9}"/>
    <dgm:cxn modelId="{FA92E960-C4D6-4125-BF3F-3333EE7EF1D0}" srcId="{79963D67-6487-4944-BE9C-95BAE6CDA0BA}" destId="{AB7F9348-CF5C-4596-B2EE-F6412079B0B7}" srcOrd="1" destOrd="0" parTransId="{EB3D3E83-1707-4FC7-95D2-708973DE02D0}" sibTransId="{D906C654-169D-42E2-AB10-24110E86083E}"/>
    <dgm:cxn modelId="{8D7CBF6F-FC47-4151-B346-38CEF67841E0}" type="presOf" srcId="{FEA150A9-CE5E-4387-94E4-9F4696B8211B}" destId="{E328BA64-41E7-4029-A8E8-AE63F2C54EDF}" srcOrd="0" destOrd="5" presId="urn:microsoft.com/office/officeart/2005/8/layout/cycle4"/>
    <dgm:cxn modelId="{F585FD87-2A50-437F-964B-6E6C9FED4E5C}" type="presOf" srcId="{3A0C1B7B-9CE5-4568-AF56-097750B07BD4}" destId="{E328BA64-41E7-4029-A8E8-AE63F2C54EDF}" srcOrd="0" destOrd="6" presId="urn:microsoft.com/office/officeart/2005/8/layout/cycle4"/>
    <dgm:cxn modelId="{6A9F4E55-2AF7-4B85-9688-100C0AE71562}" srcId="{88431BDD-F36B-4192-8376-1119C7697FE1}" destId="{E2A0D57D-392B-47C1-9B67-583389E6307A}" srcOrd="3" destOrd="0" parTransId="{6F78FC0C-D891-4A33-84A7-945EB5770257}" sibTransId="{A65DA162-6616-4C4B-9966-FF5BB8793895}"/>
    <dgm:cxn modelId="{86E80EB0-6C4D-4031-8EE9-B882BE0EA4C8}" type="presOf" srcId="{E2A0D57D-392B-47C1-9B67-583389E6307A}" destId="{1CD1D575-6040-46C3-A995-980EEB8B3996}" srcOrd="0" destOrd="3" presId="urn:microsoft.com/office/officeart/2005/8/layout/cycle4"/>
    <dgm:cxn modelId="{CA103793-6EE7-4413-8CC3-84DD1EF70FDE}" type="presOf" srcId="{79963D67-6487-4944-BE9C-95BAE6CDA0BA}" destId="{5EBBEAE9-8C69-4BB8-9400-A4F57514FF8F}" srcOrd="0" destOrd="0" presId="urn:microsoft.com/office/officeart/2005/8/layout/cycle4"/>
    <dgm:cxn modelId="{5D71F9D3-CFAC-481F-A62F-55DE486139E7}" type="presOf" srcId="{EE9D2B1B-8719-452A-9A66-18D2ECB5AA6B}" destId="{5B151367-EA37-4E5E-87A1-B125A1BA7A26}" srcOrd="0" destOrd="2" presId="urn:microsoft.com/office/officeart/2005/8/layout/cycle4"/>
    <dgm:cxn modelId="{BD65AA97-DE4F-47E3-AB3C-69BFC20B395A}" type="presOf" srcId="{C5BC81C2-CFF2-4ADC-9DDE-7BCF29498C14}" destId="{2779AB93-FE95-425B-ABD0-33CD98EA4A19}" srcOrd="1" destOrd="3" presId="urn:microsoft.com/office/officeart/2005/8/layout/cycle4"/>
    <dgm:cxn modelId="{9F77E418-86D2-4869-8CA3-214DD19AF859}" srcId="{09B7548B-D25F-4CBB-A65A-3A79D89A0812}" destId="{3A0C1B7B-9CE5-4568-AF56-097750B07BD4}" srcOrd="1" destOrd="0" parTransId="{BC8ACAE3-DCF7-4FB4-8FC8-29F458D8CB2D}" sibTransId="{970E0805-71E6-46E5-965B-9316958FC208}"/>
    <dgm:cxn modelId="{A6097B89-64E3-452B-8E38-443C00E1C46B}" srcId="{3781EF11-0E58-4BCD-88CA-3A1CB974CADD}" destId="{AB7B7E88-C783-4F7B-802C-D27CB8765E2A}" srcOrd="6" destOrd="0" parTransId="{6CDA0F9A-D81F-4317-B1A4-2129D815ACCC}" sibTransId="{3347F182-07CA-4730-B48B-92A32D55E4CE}"/>
    <dgm:cxn modelId="{B75D3B68-A5C0-4458-B374-B40C898DD50D}" type="presOf" srcId="{F69271E5-06D9-479B-A08C-BDBAB3AD6BBD}" destId="{5A381002-2903-440D-9AC3-0E33FAF33487}" srcOrd="0" destOrd="0" presId="urn:microsoft.com/office/officeart/2005/8/layout/cycle4"/>
    <dgm:cxn modelId="{696B966B-C1F4-429B-95BD-05D3E37AACB8}" srcId="{3781EF11-0E58-4BCD-88CA-3A1CB974CADD}" destId="{34E319E5-62CD-4CAB-BBF4-787C1160675E}" srcOrd="1" destOrd="0" parTransId="{949E8E3B-8382-4858-9173-21173454896B}" sibTransId="{A35EA610-BCFD-464D-AC7B-5C6AFF0B2111}"/>
    <dgm:cxn modelId="{033BC54E-D4FF-431B-B92F-26D3B570EA26}" type="presOf" srcId="{09B7548B-D25F-4CBB-A65A-3A79D89A0812}" destId="{E328BA64-41E7-4029-A8E8-AE63F2C54EDF}" srcOrd="0" destOrd="4" presId="urn:microsoft.com/office/officeart/2005/8/layout/cycle4"/>
    <dgm:cxn modelId="{8C35A5C8-C774-4393-A7AB-5304E13BBA27}" type="presOf" srcId="{34E319E5-62CD-4CAB-BBF4-787C1160675E}" destId="{E328BA64-41E7-4029-A8E8-AE63F2C54EDF}" srcOrd="0" destOrd="1" presId="urn:microsoft.com/office/officeart/2005/8/layout/cycle4"/>
    <dgm:cxn modelId="{C181239A-98DE-45CE-B3E6-2AA3AE1CAC88}" type="presOf" srcId="{97DC1C00-6558-4E25-BD18-E1D65126F0F0}" destId="{4C0844A4-F444-4C94-8FE6-D8C89FBF8F29}" srcOrd="1" destOrd="0" presId="urn:microsoft.com/office/officeart/2005/8/layout/cycle4"/>
    <dgm:cxn modelId="{518BF1D7-2A11-4756-BB7D-F6188E646B2D}" type="presOf" srcId="{56C08694-6D50-46C5-A8A0-38862E942861}" destId="{2779AB93-FE95-425B-ABD0-33CD98EA4A19}" srcOrd="1" destOrd="2" presId="urn:microsoft.com/office/officeart/2005/8/layout/cycle4"/>
    <dgm:cxn modelId="{D37331DE-4605-4C4E-8AEC-90B8DB02BAB2}" type="presOf" srcId="{57B226E9-49D3-46E4-AF4A-09F0ED50CE64}" destId="{95D01789-05C2-4D0B-974C-DBEE0FF4EE0E}" srcOrd="0" destOrd="0" presId="urn:microsoft.com/office/officeart/2005/8/layout/cycle4"/>
    <dgm:cxn modelId="{038F31D0-0974-40F0-805B-FFC27EE94B33}" type="presOf" srcId="{E2A0D57D-392B-47C1-9B67-583389E6307A}" destId="{6DF62064-21BE-4F77-98F1-D84B2519C068}" srcOrd="1" destOrd="3" presId="urn:microsoft.com/office/officeart/2005/8/layout/cycle4"/>
    <dgm:cxn modelId="{CE987AB3-5319-4196-9916-4B6FF70CB321}" type="presOf" srcId="{F5883CC0-1709-48AD-A1CF-565A64E81988}" destId="{E2B7AE23-E5F3-47AF-95E0-76E2D270592E}" srcOrd="1" destOrd="1" presId="urn:microsoft.com/office/officeart/2005/8/layout/cycle4"/>
    <dgm:cxn modelId="{F67EC443-E4A8-492A-B839-7C5FABF8B8A4}" type="presOf" srcId="{F5883CC0-1709-48AD-A1CF-565A64E81988}" destId="{5B151367-EA37-4E5E-87A1-B125A1BA7A26}" srcOrd="0" destOrd="1" presId="urn:microsoft.com/office/officeart/2005/8/layout/cycle4"/>
    <dgm:cxn modelId="{996AF9B4-E18C-4C03-B4F7-AF21FC4B0464}" srcId="{3781EF11-0E58-4BCD-88CA-3A1CB974CADD}" destId="{1CB7112A-6AE9-4C14-A4F9-CF9975BB36D8}" srcOrd="5" destOrd="0" parTransId="{C8CBD06A-1079-4619-84E2-6AD157FD21C1}" sibTransId="{1791734E-5F9D-44F3-AD40-80A8E912ED83}"/>
    <dgm:cxn modelId="{8E55B052-4D1C-4F0B-9C97-3D0DD9073C36}" type="presOf" srcId="{E7BEFF00-2E75-40F9-925F-227614D26C01}" destId="{6DF62064-21BE-4F77-98F1-D84B2519C068}" srcOrd="1" destOrd="0" presId="urn:microsoft.com/office/officeart/2005/8/layout/cycle4"/>
    <dgm:cxn modelId="{DE5469FC-0517-491B-B1F0-A4264DDF0343}" type="presOf" srcId="{70C84A59-8C7A-4270-82B5-9AD09E0006B4}" destId="{6DF62064-21BE-4F77-98F1-D84B2519C068}" srcOrd="1" destOrd="2" presId="urn:microsoft.com/office/officeart/2005/8/layout/cycle4"/>
    <dgm:cxn modelId="{530C4921-380D-44B1-B218-C3AD982ED9A2}" srcId="{57B226E9-49D3-46E4-AF4A-09F0ED50CE64}" destId="{3781EF11-0E58-4BCD-88CA-3A1CB974CADD}" srcOrd="0" destOrd="0" parTransId="{CFAF950C-6B96-4439-A0B3-90E2137FF49B}" sibTransId="{7DC4847C-F2FE-4878-913E-1E8D2C1048DB}"/>
    <dgm:cxn modelId="{2DFC29B1-E733-4503-976D-FFCC86D58885}" srcId="{79963D67-6487-4944-BE9C-95BAE6CDA0BA}" destId="{C5BC81C2-CFF2-4ADC-9DDE-7BCF29498C14}" srcOrd="3" destOrd="0" parTransId="{C28A5BBE-11B9-4E19-8839-12EC66CBD908}" sibTransId="{339E34CE-F947-49CA-99A3-BB4D9C72800B}"/>
    <dgm:cxn modelId="{FFA025A9-F02A-4DA0-8F60-CCC035159711}" srcId="{57B226E9-49D3-46E4-AF4A-09F0ED50CE64}" destId="{79963D67-6487-4944-BE9C-95BAE6CDA0BA}" srcOrd="2" destOrd="0" parTransId="{4B033275-71EA-44AE-845E-FB02E7DFD1FD}" sibTransId="{9C1E60FA-2D8B-4267-A60A-BE48F88C2CD4}"/>
    <dgm:cxn modelId="{D23B2767-3EE0-4C45-B687-334E23B5E0E9}" type="presOf" srcId="{1F81BE82-9406-4042-8E8F-4428062F14FF}" destId="{4C0844A4-F444-4C94-8FE6-D8C89FBF8F29}" srcOrd="1" destOrd="3" presId="urn:microsoft.com/office/officeart/2005/8/layout/cycle4"/>
    <dgm:cxn modelId="{574EA0CC-D4A6-4E2F-A6A1-0B05554E7BFF}" srcId="{3781EF11-0E58-4BCD-88CA-3A1CB974CADD}" destId="{1F81BE82-9406-4042-8E8F-4428062F14FF}" srcOrd="3" destOrd="0" parTransId="{BB25404B-3233-4E43-934E-6B2253FA19BD}" sibTransId="{93AD2C6C-16FC-4E09-9B90-567463A3F9CC}"/>
    <dgm:cxn modelId="{C155912C-255F-4B16-9013-344913EB6C59}" type="presOf" srcId="{4BF05819-7F4D-48DE-AB33-7557262D3BD0}" destId="{1CD1D575-6040-46C3-A995-980EEB8B3996}" srcOrd="0" destOrd="1" presId="urn:microsoft.com/office/officeart/2005/8/layout/cycle4"/>
    <dgm:cxn modelId="{ED65BDC3-598B-40C2-BE42-ECDE98F1FAAE}" srcId="{09B7548B-D25F-4CBB-A65A-3A79D89A0812}" destId="{FEA150A9-CE5E-4387-94E4-9F4696B8211B}" srcOrd="0" destOrd="0" parTransId="{7017FBF6-E411-460E-9FEA-BB312F0E683C}" sibTransId="{A7BE6ED1-F597-4455-9469-1CD920C1D508}"/>
    <dgm:cxn modelId="{70B5718D-103A-40E6-B42D-24BF412C3BD3}" srcId="{3781EF11-0E58-4BCD-88CA-3A1CB974CADD}" destId="{09B7548B-D25F-4CBB-A65A-3A79D89A0812}" srcOrd="4" destOrd="0" parTransId="{F5234802-474B-4DD9-80AD-A6C0DC90A1F6}" sibTransId="{99C08AB1-FFFE-4B90-B0C1-5EF5EEDB7E44}"/>
    <dgm:cxn modelId="{107AD43F-ACFA-47F3-A02E-5962F7CF589B}" type="presOf" srcId="{AB7F9348-CF5C-4596-B2EE-F6412079B0B7}" destId="{2779AB93-FE95-425B-ABD0-33CD98EA4A19}" srcOrd="1" destOrd="1" presId="urn:microsoft.com/office/officeart/2005/8/layout/cycle4"/>
    <dgm:cxn modelId="{E9EB4429-403B-4DBD-99E4-2356FFD6171F}" type="presOf" srcId="{AB7F9348-CF5C-4596-B2EE-F6412079B0B7}" destId="{5A381002-2903-440D-9AC3-0E33FAF33487}" srcOrd="0" destOrd="1" presId="urn:microsoft.com/office/officeart/2005/8/layout/cycle4"/>
    <dgm:cxn modelId="{21220588-6F45-46E8-81A1-51176E3D22E9}" srcId="{88431BDD-F36B-4192-8376-1119C7697FE1}" destId="{E7BEFF00-2E75-40F9-925F-227614D26C01}" srcOrd="0" destOrd="0" parTransId="{E0627EEC-BBE8-468F-84D6-3ED5FC0C6660}" sibTransId="{19BCF0FD-AF37-4C57-BC67-D7C530BF9549}"/>
    <dgm:cxn modelId="{2E61368C-0D8E-4457-B870-358CD3871338}" srcId="{88431BDD-F36B-4192-8376-1119C7697FE1}" destId="{4BF05819-7F4D-48DE-AB33-7557262D3BD0}" srcOrd="1" destOrd="0" parTransId="{3B6A46DA-EC9D-420B-93DF-8A33A47A227A}" sibTransId="{5F918FC6-C294-42D0-B45D-757429B01845}"/>
    <dgm:cxn modelId="{C60B5CC1-76B9-4A96-B06C-1F47514DD358}" type="presOf" srcId="{EE9D2B1B-8719-452A-9A66-18D2ECB5AA6B}" destId="{E2B7AE23-E5F3-47AF-95E0-76E2D270592E}" srcOrd="1" destOrd="2" presId="urn:microsoft.com/office/officeart/2005/8/layout/cycle4"/>
    <dgm:cxn modelId="{8F620A67-4734-4F16-978F-6C1C0FA2F2C4}" type="presOf" srcId="{09B7548B-D25F-4CBB-A65A-3A79D89A0812}" destId="{4C0844A4-F444-4C94-8FE6-D8C89FBF8F29}" srcOrd="1" destOrd="4" presId="urn:microsoft.com/office/officeart/2005/8/layout/cycle4"/>
    <dgm:cxn modelId="{B482010C-4EEC-46DF-A807-05F54E783281}" srcId="{57B226E9-49D3-46E4-AF4A-09F0ED50CE64}" destId="{95CABAF3-C8A1-42DF-9A6E-497DBB76CDFB}" srcOrd="1" destOrd="0" parTransId="{ED92B9E2-C552-4B86-B752-F6EEDF4C0598}" sibTransId="{4787A8B0-793B-4B37-89D2-F69C4177B489}"/>
    <dgm:cxn modelId="{D9B303F3-3B9B-4331-ABC3-E82E7C72036D}" srcId="{95CABAF3-C8A1-42DF-9A6E-497DBB76CDFB}" destId="{F5883CC0-1709-48AD-A1CF-565A64E81988}" srcOrd="1" destOrd="0" parTransId="{9D617473-2A6C-4BCF-B939-7463CB05FC87}" sibTransId="{8FB60567-13F0-44D0-9CEA-DDC549794550}"/>
    <dgm:cxn modelId="{60D8A608-0A61-44C0-ACB0-CB2A9A2339DD}" type="presOf" srcId="{3781EF11-0E58-4BCD-88CA-3A1CB974CADD}" destId="{2DCED1E3-A646-4CBD-95DA-75437E2EC8EE}" srcOrd="0" destOrd="0" presId="urn:microsoft.com/office/officeart/2005/8/layout/cycle4"/>
    <dgm:cxn modelId="{5D9CD370-81B0-4F74-BF1A-55F906599F22}" type="presOf" srcId="{88431BDD-F36B-4192-8376-1119C7697FE1}" destId="{1C2534AB-39B2-4984-9DCD-9B6AC8A99BE8}" srcOrd="0" destOrd="0" presId="urn:microsoft.com/office/officeart/2005/8/layout/cycle4"/>
    <dgm:cxn modelId="{376ABE82-5DB6-44DD-BA29-1CF91DD5E6B8}" type="presOf" srcId="{1F81BE82-9406-4042-8E8F-4428062F14FF}" destId="{E328BA64-41E7-4029-A8E8-AE63F2C54EDF}" srcOrd="0" destOrd="3" presId="urn:microsoft.com/office/officeart/2005/8/layout/cycle4"/>
    <dgm:cxn modelId="{4A488681-BA99-44E1-A3DE-ACBBC0385738}" type="presOf" srcId="{C5BC81C2-CFF2-4ADC-9DDE-7BCF29498C14}" destId="{5A381002-2903-440D-9AC3-0E33FAF33487}" srcOrd="0" destOrd="3" presId="urn:microsoft.com/office/officeart/2005/8/layout/cycle4"/>
    <dgm:cxn modelId="{D3963399-9543-48FA-B70A-C7DBFF637212}" type="presOf" srcId="{AB7B7E88-C783-4F7B-802C-D27CB8765E2A}" destId="{E328BA64-41E7-4029-A8E8-AE63F2C54EDF}" srcOrd="0" destOrd="8" presId="urn:microsoft.com/office/officeart/2005/8/layout/cycle4"/>
    <dgm:cxn modelId="{1D02DE1C-9171-4412-A3E3-FC900D843DA9}" type="presOf" srcId="{FEA150A9-CE5E-4387-94E4-9F4696B8211B}" destId="{4C0844A4-F444-4C94-8FE6-D8C89FBF8F29}" srcOrd="1" destOrd="5" presId="urn:microsoft.com/office/officeart/2005/8/layout/cycle4"/>
    <dgm:cxn modelId="{EBE25E6F-791D-482D-8FF1-B6FA5E4CACB1}" type="presOf" srcId="{8B997883-5B9E-43CC-93F2-AAF220B3A0EC}" destId="{E328BA64-41E7-4029-A8E8-AE63F2C54EDF}" srcOrd="0" destOrd="2" presId="urn:microsoft.com/office/officeart/2005/8/layout/cycle4"/>
    <dgm:cxn modelId="{366CD110-0551-4165-A641-C877762FF28B}" type="presOf" srcId="{8B997883-5B9E-43CC-93F2-AAF220B3A0EC}" destId="{4C0844A4-F444-4C94-8FE6-D8C89FBF8F29}" srcOrd="1" destOrd="2" presId="urn:microsoft.com/office/officeart/2005/8/layout/cycle4"/>
    <dgm:cxn modelId="{FFC4288C-5523-4B43-9AD6-42CF8CDDDC78}" type="presOf" srcId="{F69271E5-06D9-479B-A08C-BDBAB3AD6BBD}" destId="{2779AB93-FE95-425B-ABD0-33CD98EA4A19}" srcOrd="1" destOrd="0" presId="urn:microsoft.com/office/officeart/2005/8/layout/cycle4"/>
    <dgm:cxn modelId="{5F7A68EC-7C98-4E42-89B7-1943672998FD}" type="presParOf" srcId="{95D01789-05C2-4D0B-974C-DBEE0FF4EE0E}" destId="{57D56EBE-BE6D-433A-AF82-B602E66E30DC}" srcOrd="0" destOrd="0" presId="urn:microsoft.com/office/officeart/2005/8/layout/cycle4"/>
    <dgm:cxn modelId="{FB88F95F-4236-4CD2-B482-D96424B4C7D7}" type="presParOf" srcId="{57D56EBE-BE6D-433A-AF82-B602E66E30DC}" destId="{E1BCBE9A-BCE5-4503-BAEA-4AD3879C8300}" srcOrd="0" destOrd="0" presId="urn:microsoft.com/office/officeart/2005/8/layout/cycle4"/>
    <dgm:cxn modelId="{4EA1AA94-BF29-47D0-8D89-E1AB53BA330F}" type="presParOf" srcId="{E1BCBE9A-BCE5-4503-BAEA-4AD3879C8300}" destId="{E328BA64-41E7-4029-A8E8-AE63F2C54EDF}" srcOrd="0" destOrd="0" presId="urn:microsoft.com/office/officeart/2005/8/layout/cycle4"/>
    <dgm:cxn modelId="{D91F522F-5047-4D63-9A07-666DC29A44D7}" type="presParOf" srcId="{E1BCBE9A-BCE5-4503-BAEA-4AD3879C8300}" destId="{4C0844A4-F444-4C94-8FE6-D8C89FBF8F29}" srcOrd="1" destOrd="0" presId="urn:microsoft.com/office/officeart/2005/8/layout/cycle4"/>
    <dgm:cxn modelId="{2159D9E2-2227-4582-9701-2B4232B68521}" type="presParOf" srcId="{57D56EBE-BE6D-433A-AF82-B602E66E30DC}" destId="{11A326BA-0BE4-4AE0-A305-3079BF06DDE2}" srcOrd="1" destOrd="0" presId="urn:microsoft.com/office/officeart/2005/8/layout/cycle4"/>
    <dgm:cxn modelId="{010640D1-C3C0-4CF7-9C72-2EF1150489AF}" type="presParOf" srcId="{11A326BA-0BE4-4AE0-A305-3079BF06DDE2}" destId="{5B151367-EA37-4E5E-87A1-B125A1BA7A26}" srcOrd="0" destOrd="0" presId="urn:microsoft.com/office/officeart/2005/8/layout/cycle4"/>
    <dgm:cxn modelId="{27380956-EB41-4B32-8270-32F0A287C299}" type="presParOf" srcId="{11A326BA-0BE4-4AE0-A305-3079BF06DDE2}" destId="{E2B7AE23-E5F3-47AF-95E0-76E2D270592E}" srcOrd="1" destOrd="0" presId="urn:microsoft.com/office/officeart/2005/8/layout/cycle4"/>
    <dgm:cxn modelId="{B40A70C6-623E-412E-99D1-6B7A3637A176}" type="presParOf" srcId="{57D56EBE-BE6D-433A-AF82-B602E66E30DC}" destId="{BC2DAF9F-8CF3-4D5F-9C82-4CA041FB58FA}" srcOrd="2" destOrd="0" presId="urn:microsoft.com/office/officeart/2005/8/layout/cycle4"/>
    <dgm:cxn modelId="{7362A98B-FC27-4803-A3B0-3D31293D16DE}" type="presParOf" srcId="{BC2DAF9F-8CF3-4D5F-9C82-4CA041FB58FA}" destId="{5A381002-2903-440D-9AC3-0E33FAF33487}" srcOrd="0" destOrd="0" presId="urn:microsoft.com/office/officeart/2005/8/layout/cycle4"/>
    <dgm:cxn modelId="{22045205-93FC-4CA5-95A3-3BE282B3CF1B}" type="presParOf" srcId="{BC2DAF9F-8CF3-4D5F-9C82-4CA041FB58FA}" destId="{2779AB93-FE95-425B-ABD0-33CD98EA4A19}" srcOrd="1" destOrd="0" presId="urn:microsoft.com/office/officeart/2005/8/layout/cycle4"/>
    <dgm:cxn modelId="{F11BA74C-6134-4185-AD71-B0DD2A1D82CF}" type="presParOf" srcId="{57D56EBE-BE6D-433A-AF82-B602E66E30DC}" destId="{86F1C585-9565-4723-8703-893CE3A85072}" srcOrd="3" destOrd="0" presId="urn:microsoft.com/office/officeart/2005/8/layout/cycle4"/>
    <dgm:cxn modelId="{5A648087-1EA1-4657-96FF-06AC809B2E11}" type="presParOf" srcId="{86F1C585-9565-4723-8703-893CE3A85072}" destId="{1CD1D575-6040-46C3-A995-980EEB8B3996}" srcOrd="0" destOrd="0" presId="urn:microsoft.com/office/officeart/2005/8/layout/cycle4"/>
    <dgm:cxn modelId="{83B2D487-BEC2-4FA7-BB91-DD55D3A5EE31}" type="presParOf" srcId="{86F1C585-9565-4723-8703-893CE3A85072}" destId="{6DF62064-21BE-4F77-98F1-D84B2519C068}" srcOrd="1" destOrd="0" presId="urn:microsoft.com/office/officeart/2005/8/layout/cycle4"/>
    <dgm:cxn modelId="{E5BC6AA9-5CD5-434C-804B-5355A1A9744E}" type="presParOf" srcId="{57D56EBE-BE6D-433A-AF82-B602E66E30DC}" destId="{84E81AC3-F683-4BF0-9D06-6CEAC82F1F0C}" srcOrd="4" destOrd="0" presId="urn:microsoft.com/office/officeart/2005/8/layout/cycle4"/>
    <dgm:cxn modelId="{E8AEADE1-AD97-4633-AF23-DA4110180A41}" type="presParOf" srcId="{95D01789-05C2-4D0B-974C-DBEE0FF4EE0E}" destId="{0A86E98E-F2B2-4C07-BB81-B517851E2615}" srcOrd="1" destOrd="0" presId="urn:microsoft.com/office/officeart/2005/8/layout/cycle4"/>
    <dgm:cxn modelId="{C149EB56-6A8A-4D95-AE14-075CA65AC475}" type="presParOf" srcId="{0A86E98E-F2B2-4C07-BB81-B517851E2615}" destId="{2DCED1E3-A646-4CBD-95DA-75437E2EC8EE}" srcOrd="0" destOrd="0" presId="urn:microsoft.com/office/officeart/2005/8/layout/cycle4"/>
    <dgm:cxn modelId="{41410771-B6F2-4AAA-9084-D6F9FE055636}" type="presParOf" srcId="{0A86E98E-F2B2-4C07-BB81-B517851E2615}" destId="{93C232A1-703C-4DF6-A42A-2959325E5E89}" srcOrd="1" destOrd="0" presId="urn:microsoft.com/office/officeart/2005/8/layout/cycle4"/>
    <dgm:cxn modelId="{8C2900F0-4597-4789-80AF-3688E26DBBF0}" type="presParOf" srcId="{0A86E98E-F2B2-4C07-BB81-B517851E2615}" destId="{5EBBEAE9-8C69-4BB8-9400-A4F57514FF8F}" srcOrd="2" destOrd="0" presId="urn:microsoft.com/office/officeart/2005/8/layout/cycle4"/>
    <dgm:cxn modelId="{5291252C-D411-440A-8CBA-3396B32A385F}" type="presParOf" srcId="{0A86E98E-F2B2-4C07-BB81-B517851E2615}" destId="{1C2534AB-39B2-4984-9DCD-9B6AC8A99BE8}" srcOrd="3" destOrd="0" presId="urn:microsoft.com/office/officeart/2005/8/layout/cycle4"/>
    <dgm:cxn modelId="{4152C7AE-7127-4B00-8AFB-866FA5DE262A}" type="presParOf" srcId="{0A86E98E-F2B2-4C07-BB81-B517851E2615}" destId="{0EFCC8F2-80D2-4654-925D-CC9EC92CEB58}" srcOrd="4" destOrd="0" presId="urn:microsoft.com/office/officeart/2005/8/layout/cycle4"/>
    <dgm:cxn modelId="{5733F679-E4F4-49AE-9A6A-CA11350CEAD8}" type="presParOf" srcId="{95D01789-05C2-4D0B-974C-DBEE0FF4EE0E}" destId="{7F6B3645-A13F-4AB9-A4B8-8EC6CE226157}" srcOrd="2" destOrd="0" presId="urn:microsoft.com/office/officeart/2005/8/layout/cycle4"/>
    <dgm:cxn modelId="{F958BDBF-2B0F-47AC-8033-692DC154F9A3}" type="presParOf" srcId="{95D01789-05C2-4D0B-974C-DBEE0FF4EE0E}" destId="{977EA925-0BC6-4423-83CE-11DF7B2CA858}" srcOrd="3" destOrd="0" presId="urn:microsoft.com/office/officeart/2005/8/layout/cycle4"/>
  </dgm:cxnLst>
  <dgm:bg>
    <a:noFill/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6C2203-2D5D-4283-99E3-81B7CFCF578A}" type="doc">
      <dgm:prSet loTypeId="urn:microsoft.com/office/officeart/2005/8/layout/lProcess2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DF790D52-0377-4880-82EE-9E8F93C0031E}">
      <dgm:prSet phldrT="[Texte]" custT="1"/>
      <dgm:spPr>
        <a:xfrm>
          <a:off x="3737" y="0"/>
          <a:ext cx="3595197" cy="4820098"/>
        </a:xfrm>
        <a:prstGeom prst="roundRect">
          <a:avLst>
            <a:gd name="adj" fmla="val 10000"/>
          </a:avLst>
        </a:prstGeom>
        <a:solidFill>
          <a:srgbClr val="4F81BD">
            <a:lumMod val="20000"/>
            <a:lumOff val="80000"/>
          </a:srgbClr>
        </a:solidFill>
        <a:ln>
          <a:noFill/>
        </a:ln>
        <a:effectLst/>
      </dgm:spPr>
      <dgm:t>
        <a:bodyPr/>
        <a:lstStyle/>
        <a:p>
          <a:pPr algn="ctr">
            <a:buNone/>
          </a:pPr>
          <a:r>
            <a:rPr lang="fr-CD" sz="18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Finance Group                  </a:t>
          </a:r>
        </a:p>
        <a:p>
          <a:pPr algn="ctr">
            <a:buNone/>
          </a:pPr>
          <a:r>
            <a:rPr lang="fr-FR" sz="16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Rôle:                                                        -Veiller à la conformité des requêtes                                     -Veiller au respect des lignes budgétaires</a:t>
          </a:r>
        </a:p>
        <a:p>
          <a:pPr algn="ctr">
            <a:buNone/>
          </a:pPr>
          <a:endParaRPr lang="fr-FR" sz="1200" b="0" i="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+mn-lt"/>
            <a:ea typeface="+mn-ea"/>
            <a:cs typeface="+mn-cs"/>
          </a:endParaRPr>
        </a:p>
      </dgm:t>
    </dgm:pt>
    <dgm:pt modelId="{B0039519-59B9-47C5-A0B9-964E5D8B62DF}" type="parTrans" cxnId="{E5173E39-3936-4A24-B57D-B184FD8A8F0C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DEFE1DBA-ABE8-43B8-905C-230C5B9D4635}" type="sibTrans" cxnId="{E5173E39-3936-4A24-B57D-B184FD8A8F0C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3450FB1C-015C-4408-9638-3DA9DB323900}">
      <dgm:prSet phldrT="[Texte]" custT="1"/>
      <dgm:spPr>
        <a:xfrm>
          <a:off x="222411" y="1446826"/>
          <a:ext cx="3157848" cy="518225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Prés. : MC Bureau Ressources DPS</a:t>
          </a:r>
        </a:p>
      </dgm:t>
    </dgm:pt>
    <dgm:pt modelId="{8E0280CC-AAB7-4AEB-8348-BC71A7280B75}" type="parTrans" cxnId="{6622B27B-ADB3-4633-A865-6B6421A7E45E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CB4CB814-75F5-4E04-842F-0509111BB34E}" type="sibTrans" cxnId="{6622B27B-ADB3-4633-A865-6B6421A7E45E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5DD1A87B-C043-4531-9737-06DD7CBCEB5A}">
      <dgm:prSet custT="1"/>
      <dgm:spPr>
        <a:xfrm>
          <a:off x="222411" y="1969037"/>
          <a:ext cx="3157848" cy="518225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C0504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C0504D"/>
              </a:solidFill>
              <a:latin typeface="+mn-lt"/>
              <a:ea typeface="+mn-ea"/>
              <a:cs typeface="+mn-cs"/>
            </a:rPr>
            <a:t>VP: Agent Fiduciaire du GAF (Bailleurs)</a:t>
          </a:r>
        </a:p>
      </dgm:t>
    </dgm:pt>
    <dgm:pt modelId="{9082C811-1001-4BB3-86DD-42E2E188E0F1}" type="parTrans" cxnId="{DBFAE235-E0A6-4BDC-BF79-B7368827AF2C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33B48681-F726-4108-A744-661B8AD076C3}" type="sibTrans" cxnId="{DBFAE235-E0A6-4BDC-BF79-B7368827AF2C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44631A92-623A-4218-BDC1-167162D7AC31}">
      <dgm:prSet custT="1"/>
      <dgm:spPr>
        <a:xfrm>
          <a:off x="222411" y="2491249"/>
          <a:ext cx="3157848" cy="518225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EEECE1"/>
              </a:solidFill>
              <a:latin typeface="+mn-lt"/>
              <a:ea typeface="+mn-ea"/>
              <a:cs typeface="+mn-cs"/>
            </a:rPr>
            <a:t>Secrétaire :Délégué Min. Finances</a:t>
          </a:r>
        </a:p>
      </dgm:t>
    </dgm:pt>
    <dgm:pt modelId="{3C400269-C00C-4CCF-9ED1-9FB18839E04B}" type="parTrans" cxnId="{03E05E63-4B3F-4908-94A8-F6329654593B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F75EAB8C-4281-492B-9CC0-194834492C7A}" type="sibTrans" cxnId="{03E05E63-4B3F-4908-94A8-F6329654593B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26D3A005-28EC-4B88-8B97-B8CAD6A91201}">
      <dgm:prSet custT="1"/>
      <dgm:spPr>
        <a:xfrm>
          <a:off x="222411" y="3013460"/>
          <a:ext cx="3157848" cy="518225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Cons.: Comptable Coordination Programme</a:t>
          </a:r>
        </a:p>
      </dgm:t>
    </dgm:pt>
    <dgm:pt modelId="{A33043FB-FCDD-4432-B496-33E89D4E064C}" type="parTrans" cxnId="{E3E34799-F9DF-4A72-BFC4-25A9877F0D14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7F9DA4D4-D0DE-45C2-A83A-65DAEF799802}" type="sibTrans" cxnId="{E3E34799-F9DF-4A72-BFC4-25A9877F0D14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C14DF1E4-84E2-463E-A783-1919D4690E70}">
      <dgm:prSet custT="1"/>
      <dgm:spPr>
        <a:xfrm>
          <a:off x="222411" y="3535672"/>
          <a:ext cx="3157848" cy="518225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2eme Cons. : Analyste Finances DPS</a:t>
          </a:r>
        </a:p>
      </dgm:t>
    </dgm:pt>
    <dgm:pt modelId="{812F18F6-F260-4836-84A4-804D2E5DD173}" type="parTrans" cxnId="{E7662651-31AE-42B9-8033-79A01FD6509E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F58B5D0E-1D87-45F5-89D9-BF76C91EA087}" type="sibTrans" cxnId="{E7662651-31AE-42B9-8033-79A01FD6509E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1416EFED-B132-4907-9569-EC678144D8B8}">
      <dgm:prSet custT="1"/>
      <dgm:spPr>
        <a:xfrm>
          <a:off x="222411" y="4057884"/>
          <a:ext cx="3157848" cy="518225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Cons.: Chargé Partenariat et Financement DPS</a:t>
          </a:r>
        </a:p>
      </dgm:t>
    </dgm:pt>
    <dgm:pt modelId="{BC1FB20E-5966-4C47-8EDB-0E16C8A8413F}" type="parTrans" cxnId="{F2B9E5B3-9FC6-429D-BB6D-DD87CDEC2FA3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19060A5E-04BC-4493-9279-372403767D6B}" type="sibTrans" cxnId="{F2B9E5B3-9FC6-429D-BB6D-DD87CDEC2FA3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3BADAE95-88DE-4448-8D64-78BB2373146E}">
      <dgm:prSet custT="1"/>
      <dgm:spPr>
        <a:xfrm>
          <a:off x="4087248" y="1794834"/>
          <a:ext cx="3157848" cy="34564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C0504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C0504D"/>
              </a:solidFill>
              <a:latin typeface="+mn-lt"/>
              <a:ea typeface="+mn-ea"/>
              <a:cs typeface="+mn-cs"/>
            </a:rPr>
            <a:t>VP: Coordonnateur du GET (Bailleurs)</a:t>
          </a:r>
        </a:p>
      </dgm:t>
    </dgm:pt>
    <dgm:pt modelId="{362700C7-F9B5-4C44-A4F5-09780EB107CB}" type="parTrans" cxnId="{666C160F-DAC0-41A3-92EC-CF051549FB0C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CF458953-BA52-4B27-A083-4615385BFF2D}" type="sibTrans" cxnId="{666C160F-DAC0-41A3-92EC-CF051549FB0C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9CDD67F1-ACC5-42E3-B23C-B6C6DE2CE71B}">
      <dgm:prSet custT="1"/>
      <dgm:spPr>
        <a:xfrm>
          <a:off x="4087248" y="2143136"/>
          <a:ext cx="3157848" cy="34564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Sec.: Chef Bureau INFOSAN</a:t>
          </a:r>
        </a:p>
      </dgm:t>
    </dgm:pt>
    <dgm:pt modelId="{2BAAC224-13CB-4C5D-BA3A-EEC112DED56B}" type="parTrans" cxnId="{A88074C1-6C7D-40B0-B677-723F6CA8FA76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5B1C814D-8ED8-4B9A-9FF2-2DA24D6A6618}" type="sibTrans" cxnId="{A88074C1-6C7D-40B0-B677-723F6CA8FA76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DBD28FA8-0DFB-4FEC-B1FD-AF80EB86660B}">
      <dgm:prSet custT="1"/>
      <dgm:spPr>
        <a:xfrm>
          <a:off x="4087248" y="2490316"/>
          <a:ext cx="3157848" cy="34564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C0504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C0504D"/>
              </a:solidFill>
              <a:latin typeface="+mn-lt"/>
              <a:ea typeface="+mn-ea"/>
              <a:cs typeface="+mn-cs"/>
            </a:rPr>
            <a:t>Cons.: Experts Techniques GET</a:t>
          </a:r>
        </a:p>
      </dgm:t>
    </dgm:pt>
    <dgm:pt modelId="{0BDD4005-C386-4896-89BE-0C86C29CD604}" type="parTrans" cxnId="{4D4ED6AD-BFE8-4973-BE82-EBA482AB169F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1D76093A-3035-41BC-92CF-8545BF831421}" type="sibTrans" cxnId="{4D4ED6AD-BFE8-4973-BE82-EBA482AB169F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FE02A2BA-C2A3-4B66-BC45-4DAB8D7B06D9}">
      <dgm:prSet custT="1"/>
      <dgm:spPr>
        <a:xfrm>
          <a:off x="4087248" y="2838618"/>
          <a:ext cx="3157848" cy="345642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EEECE1"/>
              </a:solidFill>
              <a:latin typeface="+mn-lt"/>
              <a:ea typeface="+mn-ea"/>
              <a:cs typeface="+mn-cs"/>
            </a:rPr>
            <a:t>2eme Sec.: Délégué Min. Budget</a:t>
          </a:r>
        </a:p>
      </dgm:t>
    </dgm:pt>
    <dgm:pt modelId="{F3FE403B-16A8-4458-AC27-F47EBCC0D2FC}" type="parTrans" cxnId="{08EC570B-C6E0-4610-91F7-19458AB44F11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0F02D39C-419E-4CA1-8F00-F954485F39F3}" type="sibTrans" cxnId="{08EC570B-C6E0-4610-91F7-19458AB44F11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E5E09500-2600-4790-B589-15B9D19C156B}">
      <dgm:prSet custT="1"/>
      <dgm:spPr>
        <a:xfrm>
          <a:off x="4087248" y="3883523"/>
          <a:ext cx="3157848" cy="34564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 w="38100">
          <a:solidFill>
            <a:srgbClr val="FFFF00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EEECE1">
                  <a:lumMod val="50000"/>
                </a:srgbClr>
              </a:solidFill>
              <a:latin typeface="+mn-lt"/>
              <a:ea typeface="+mn-ea"/>
              <a:cs typeface="+mn-cs"/>
            </a:rPr>
            <a:t>Cons.: Représentants des autres partenaires techniques non-signataires </a:t>
          </a:r>
        </a:p>
      </dgm:t>
    </dgm:pt>
    <dgm:pt modelId="{AA982874-2D50-4D37-9E4E-46CA6F33D5D7}" type="parTrans" cxnId="{9C7CF09F-47AD-4D8D-A9FC-AB3FCCD089D9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C1ED9705-FE02-4166-9DEE-D0A8D7A4BC7A}" type="sibTrans" cxnId="{9C7CF09F-47AD-4D8D-A9FC-AB3FCCD089D9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CCD2C001-4585-4A06-9D76-905D1AC583D5}">
      <dgm:prSet custT="1"/>
      <dgm:spPr>
        <a:xfrm>
          <a:off x="4087248" y="3186920"/>
          <a:ext cx="3157848" cy="345642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EEECE1"/>
              </a:solidFill>
              <a:latin typeface="+mn-lt"/>
              <a:ea typeface="+mn-ea"/>
              <a:cs typeface="+mn-cs"/>
            </a:rPr>
            <a:t>Cons.: Délégué Min.  Santé</a:t>
          </a:r>
        </a:p>
      </dgm:t>
    </dgm:pt>
    <dgm:pt modelId="{A02E6AC7-7ABB-488F-A3C2-78CE8DAE7555}" type="parTrans" cxnId="{460BCA40-C9BB-40E9-B6E9-8697C9856704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6258EBF9-57C2-44F0-82E6-A44640938D5C}" type="sibTrans" cxnId="{460BCA40-C9BB-40E9-B6E9-8697C9856704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0C36A91F-2F6F-4CB5-9ABD-CBFDB9711157}">
      <dgm:prSet custT="1"/>
      <dgm:spPr>
        <a:xfrm>
          <a:off x="4087248" y="3535221"/>
          <a:ext cx="3157848" cy="345642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EEECE1"/>
              </a:solidFill>
              <a:latin typeface="+mn-lt"/>
              <a:ea typeface="+mn-ea"/>
              <a:cs typeface="+mn-cs"/>
            </a:rPr>
            <a:t>Cons. Finances du Gouverneur </a:t>
          </a:r>
        </a:p>
      </dgm:t>
    </dgm:pt>
    <dgm:pt modelId="{4F2A8AF3-61C5-495F-9399-B64F796FA05E}" type="parTrans" cxnId="{5561F95B-9D55-4693-B2B9-CDA0E03EA907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4BA0558A-8BC8-4011-B302-982C3FA331D0}" type="sibTrans" cxnId="{5561F95B-9D55-4693-B2B9-CDA0E03EA907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8F065558-7807-4BD8-B32C-79060A3BEEF6}">
      <dgm:prSet custT="1"/>
      <dgm:spPr>
        <a:xfrm>
          <a:off x="4087248" y="4231825"/>
          <a:ext cx="3157848" cy="345642"/>
        </a:xfrm>
        <a:prstGeom prst="roundRect">
          <a:avLst>
            <a:gd name="adj" fmla="val 10000"/>
          </a:avLst>
        </a:prstGeom>
        <a:solidFill>
          <a:sysClr val="windowText" lastClr="000000">
            <a:lumMod val="50000"/>
            <a:lumOff val="50000"/>
          </a:sysClr>
        </a:solidFill>
        <a:ln>
          <a:solidFill>
            <a:sysClr val="window" lastClr="FFFFFF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EEECE1"/>
              </a:solidFill>
              <a:latin typeface="+mn-lt"/>
              <a:ea typeface="+mn-ea"/>
              <a:cs typeface="+mn-cs"/>
            </a:rPr>
            <a:t>Membre: Délégué  Société Civile</a:t>
          </a:r>
        </a:p>
      </dgm:t>
    </dgm:pt>
    <dgm:pt modelId="{E5874588-960A-4739-8CDD-C21F77C75B25}" type="parTrans" cxnId="{026D4F76-B1CA-4D89-AE08-7A86F205B1BD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7449ECCB-09CC-451B-A1CC-B0BEBA7F950A}" type="sibTrans" cxnId="{026D4F76-B1CA-4D89-AE08-7A86F205B1BD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C99FE277-19A5-40D6-A29E-C10E83CB3B58}">
      <dgm:prSet phldrT="[Texte]" custT="1"/>
      <dgm:spPr>
        <a:xfrm>
          <a:off x="4087248" y="1446533"/>
          <a:ext cx="3157848" cy="34564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pPr algn="l">
            <a:buNone/>
          </a:pPr>
          <a:r>
            <a:rPr lang="fr-FR" sz="12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Prés.: CD </a:t>
          </a:r>
          <a:r>
            <a:rPr lang="fr-FR" sz="1200" b="0" i="1" dirty="0">
              <a:solidFill>
                <a:srgbClr val="1F497D"/>
              </a:solidFill>
              <a:latin typeface="+mn-lt"/>
              <a:ea typeface="+mn-ea"/>
              <a:cs typeface="+mn-cs"/>
            </a:rPr>
            <a:t>(MCP / Chef d’Antenne Programme)</a:t>
          </a:r>
        </a:p>
      </dgm:t>
    </dgm:pt>
    <dgm:pt modelId="{92D39D52-926D-467C-9A65-BB48A7D49FFF}" type="sibTrans" cxnId="{847B9BE7-30DB-4085-B7E7-3F64D1487A2F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A023A6E9-F10B-4F4E-A74D-1FFDB473CA3D}" type="parTrans" cxnId="{847B9BE7-30DB-4085-B7E7-3F64D1487A2F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47BA96D9-0F86-4E16-8D72-AEDCBAFDCBFE}">
      <dgm:prSet phldrT="[Texte]" custT="1"/>
      <dgm:spPr>
        <a:xfrm>
          <a:off x="3872311" y="0"/>
          <a:ext cx="3595197" cy="4820098"/>
        </a:xfrm>
        <a:prstGeom prst="roundRect">
          <a:avLst>
            <a:gd name="adj" fmla="val 10000"/>
          </a:avLst>
        </a:prstGeom>
        <a:solidFill>
          <a:srgbClr val="4F81BD">
            <a:lumMod val="20000"/>
            <a:lumOff val="80000"/>
          </a:srgbClr>
        </a:solidFill>
        <a:ln>
          <a:noFill/>
        </a:ln>
        <a:effectLst/>
      </dgm:spPr>
      <dgm:t>
        <a:bodyPr/>
        <a:lstStyle/>
        <a:p>
          <a:pPr algn="ctr">
            <a:buNone/>
          </a:pPr>
          <a:r>
            <a:rPr lang="fr-CD" sz="20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Core Group </a:t>
          </a:r>
        </a:p>
        <a:p>
          <a:pPr algn="ctr">
            <a:buNone/>
          </a:pPr>
          <a:r>
            <a:rPr lang="fr-CD" sz="1600" b="0" i="0" dirty="0">
              <a:solidFill>
                <a:srgbClr val="1F497D"/>
              </a:solidFill>
              <a:latin typeface="+mn-lt"/>
              <a:ea typeface="+mn-ea"/>
              <a:cs typeface="+mn-cs"/>
            </a:rPr>
            <a:t>Rôle :                                                              -Validation des requêtes                                   -Suivi de l’exécution du Budget                         -Évaluation du PAO &amp; PTBT</a:t>
          </a:r>
          <a:endParaRPr lang="fr-FR" sz="1600" b="0" i="0" dirty="0">
            <a:solidFill>
              <a:srgbClr val="1F497D"/>
            </a:solidFill>
            <a:latin typeface="+mn-lt"/>
            <a:ea typeface="+mn-ea"/>
            <a:cs typeface="+mn-cs"/>
          </a:endParaRPr>
        </a:p>
      </dgm:t>
    </dgm:pt>
    <dgm:pt modelId="{47AF8D92-7390-4E07-A1AE-71F3B97B503B}" type="sibTrans" cxnId="{BD58113C-FAF6-47A4-8DEB-CB2F5C00CCF8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40DD712F-92B1-4E0D-882E-1BAE2FDCF184}" type="parTrans" cxnId="{BD58113C-FAF6-47A4-8DEB-CB2F5C00CCF8}">
      <dgm:prSet/>
      <dgm:spPr/>
      <dgm:t>
        <a:bodyPr/>
        <a:lstStyle/>
        <a:p>
          <a:endParaRPr lang="fr-FR">
            <a:latin typeface="+mn-lt"/>
          </a:endParaRPr>
        </a:p>
      </dgm:t>
    </dgm:pt>
    <dgm:pt modelId="{6ADE8694-446E-44B0-89EC-BCF4F043E394}" type="pres">
      <dgm:prSet presAssocID="{8B6C2203-2D5D-4283-99E3-81B7CFCF578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86BDFA1-496B-4D9E-92C7-C97615662635}" type="pres">
      <dgm:prSet presAssocID="{DF790D52-0377-4880-82EE-9E8F93C0031E}" presName="compNode" presStyleCnt="0"/>
      <dgm:spPr/>
    </dgm:pt>
    <dgm:pt modelId="{6A1D3369-C163-42D5-BC86-919BE3704296}" type="pres">
      <dgm:prSet presAssocID="{DF790D52-0377-4880-82EE-9E8F93C0031E}" presName="aNode" presStyleLbl="bgShp" presStyleIdx="0" presStyleCnt="2"/>
      <dgm:spPr/>
      <dgm:t>
        <a:bodyPr/>
        <a:lstStyle/>
        <a:p>
          <a:endParaRPr lang="fr-FR"/>
        </a:p>
      </dgm:t>
    </dgm:pt>
    <dgm:pt modelId="{9596B522-8ABB-4058-A635-89F197A3D371}" type="pres">
      <dgm:prSet presAssocID="{DF790D52-0377-4880-82EE-9E8F93C0031E}" presName="textNode" presStyleLbl="bgShp" presStyleIdx="0" presStyleCnt="2"/>
      <dgm:spPr/>
      <dgm:t>
        <a:bodyPr/>
        <a:lstStyle/>
        <a:p>
          <a:endParaRPr lang="fr-FR"/>
        </a:p>
      </dgm:t>
    </dgm:pt>
    <dgm:pt modelId="{E66AF44F-6DA5-46E3-AC68-EAB13D546681}" type="pres">
      <dgm:prSet presAssocID="{DF790D52-0377-4880-82EE-9E8F93C0031E}" presName="compChildNode" presStyleCnt="0"/>
      <dgm:spPr/>
    </dgm:pt>
    <dgm:pt modelId="{F68999B8-535E-49AF-8290-EA16461FC887}" type="pres">
      <dgm:prSet presAssocID="{DF790D52-0377-4880-82EE-9E8F93C0031E}" presName="theInnerList" presStyleCnt="0"/>
      <dgm:spPr/>
    </dgm:pt>
    <dgm:pt modelId="{553F921D-2296-47EE-9E04-D82AFFE451AD}" type="pres">
      <dgm:prSet presAssocID="{3450FB1C-015C-4408-9638-3DA9DB323900}" presName="childNode" presStyleLbl="node1" presStyleIdx="0" presStyleCnt="15" custScaleX="109794" custScaleY="2000000" custLinFactNeighborY="-2743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E51E6AC-9F93-458A-9D73-79D3772D2F23}" type="pres">
      <dgm:prSet presAssocID="{3450FB1C-015C-4408-9638-3DA9DB323900}" presName="aSpace2" presStyleCnt="0"/>
      <dgm:spPr/>
    </dgm:pt>
    <dgm:pt modelId="{86878EBB-D81E-47C2-8903-D67A28BC62E1}" type="pres">
      <dgm:prSet presAssocID="{5DD1A87B-C043-4531-9737-06DD7CBCEB5A}" presName="childNode" presStyleLbl="node1" presStyleIdx="1" presStyleCnt="15" custScaleX="109794" custScaleY="2000000" custLinFactNeighborY="-2743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F00B99D-7ADF-4F75-B7FB-948E6126447F}" type="pres">
      <dgm:prSet presAssocID="{5DD1A87B-C043-4531-9737-06DD7CBCEB5A}" presName="aSpace2" presStyleCnt="0"/>
      <dgm:spPr/>
    </dgm:pt>
    <dgm:pt modelId="{47F5C9BE-914E-4128-9F3B-3CF07EEF305B}" type="pres">
      <dgm:prSet presAssocID="{44631A92-623A-4218-BDC1-167162D7AC31}" presName="childNode" presStyleLbl="node1" presStyleIdx="2" presStyleCnt="15" custScaleX="109794" custScaleY="2000000" custLinFactNeighborY="-2743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C43B7B6-140F-48ED-8ADE-CC829B2FE1A1}" type="pres">
      <dgm:prSet presAssocID="{44631A92-623A-4218-BDC1-167162D7AC31}" presName="aSpace2" presStyleCnt="0"/>
      <dgm:spPr/>
    </dgm:pt>
    <dgm:pt modelId="{FB785D0D-CD98-478B-A078-C6CEB403689F}" type="pres">
      <dgm:prSet presAssocID="{26D3A005-28EC-4B88-8B97-B8CAD6A91201}" presName="childNode" presStyleLbl="node1" presStyleIdx="3" presStyleCnt="15" custScaleX="109794" custScaleY="2000000" custLinFactNeighborY="-2743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3F91E95-6DB7-45BC-947F-77BA003A9468}" type="pres">
      <dgm:prSet presAssocID="{26D3A005-28EC-4B88-8B97-B8CAD6A91201}" presName="aSpace2" presStyleCnt="0"/>
      <dgm:spPr/>
    </dgm:pt>
    <dgm:pt modelId="{D40E24C4-EFCE-410D-A0FD-8C3CA1DFEFA9}" type="pres">
      <dgm:prSet presAssocID="{C14DF1E4-84E2-463E-A783-1919D4690E70}" presName="childNode" presStyleLbl="node1" presStyleIdx="4" presStyleCnt="15" custScaleX="109794" custScaleY="2000000" custLinFactNeighborY="-2743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F3CF091-2452-40EB-A210-B35E1CA9ACA9}" type="pres">
      <dgm:prSet presAssocID="{C14DF1E4-84E2-463E-A783-1919D4690E70}" presName="aSpace2" presStyleCnt="0"/>
      <dgm:spPr/>
    </dgm:pt>
    <dgm:pt modelId="{147274E9-96F0-4A44-87DB-9C2A2C7D54E6}" type="pres">
      <dgm:prSet presAssocID="{1416EFED-B132-4907-9569-EC678144D8B8}" presName="childNode" presStyleLbl="node1" presStyleIdx="5" presStyleCnt="15" custScaleX="109794" custScaleY="2000000" custLinFactNeighborY="-2743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BFC6CA8-5B67-4D7E-A022-4CF4D38E76F9}" type="pres">
      <dgm:prSet presAssocID="{DF790D52-0377-4880-82EE-9E8F93C0031E}" presName="aSpace" presStyleCnt="0"/>
      <dgm:spPr/>
    </dgm:pt>
    <dgm:pt modelId="{9CF2B948-9854-4DD0-BA78-02AFA7B0B585}" type="pres">
      <dgm:prSet presAssocID="{47BA96D9-0F86-4E16-8D72-AEDCBAFDCBFE}" presName="compNode" presStyleCnt="0"/>
      <dgm:spPr/>
    </dgm:pt>
    <dgm:pt modelId="{5FFAA49D-145F-4BE4-9163-CDA1FB0D93D7}" type="pres">
      <dgm:prSet presAssocID="{47BA96D9-0F86-4E16-8D72-AEDCBAFDCBFE}" presName="aNode" presStyleLbl="bgShp" presStyleIdx="1" presStyleCnt="2" custLinFactNeighborX="2760" custLinFactNeighborY="69"/>
      <dgm:spPr/>
      <dgm:t>
        <a:bodyPr/>
        <a:lstStyle/>
        <a:p>
          <a:endParaRPr lang="fr-FR"/>
        </a:p>
      </dgm:t>
    </dgm:pt>
    <dgm:pt modelId="{ED38B53A-5D9D-4445-8399-DC3DB72974EC}" type="pres">
      <dgm:prSet presAssocID="{47BA96D9-0F86-4E16-8D72-AEDCBAFDCBFE}" presName="textNode" presStyleLbl="bgShp" presStyleIdx="1" presStyleCnt="2"/>
      <dgm:spPr/>
      <dgm:t>
        <a:bodyPr/>
        <a:lstStyle/>
        <a:p>
          <a:endParaRPr lang="fr-FR"/>
        </a:p>
      </dgm:t>
    </dgm:pt>
    <dgm:pt modelId="{4499E2BA-D4D7-467A-B23A-797DAC131654}" type="pres">
      <dgm:prSet presAssocID="{47BA96D9-0F86-4E16-8D72-AEDCBAFDCBFE}" presName="compChildNode" presStyleCnt="0"/>
      <dgm:spPr/>
    </dgm:pt>
    <dgm:pt modelId="{52E0366D-9612-496A-BFC4-BEAC58B21A9A}" type="pres">
      <dgm:prSet presAssocID="{47BA96D9-0F86-4E16-8D72-AEDCBAFDCBFE}" presName="theInnerList" presStyleCnt="0"/>
      <dgm:spPr/>
    </dgm:pt>
    <dgm:pt modelId="{2A64DEA5-288E-4E3B-AD57-0E9E7F9799E9}" type="pres">
      <dgm:prSet presAssocID="{C99FE277-19A5-40D6-A29E-C10E83CB3B58}" presName="childNode" presStyleLbl="node1" presStyleIdx="6" presStyleCnt="15" custScaleX="109794" custScaleY="20000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547313B-82AA-4429-A4DB-2ABDF0DA58DA}" type="pres">
      <dgm:prSet presAssocID="{C99FE277-19A5-40D6-A29E-C10E83CB3B58}" presName="aSpace2" presStyleCnt="0"/>
      <dgm:spPr/>
    </dgm:pt>
    <dgm:pt modelId="{4AA15711-DD73-425E-BF9C-DAFE15A17FD9}" type="pres">
      <dgm:prSet presAssocID="{3BADAE95-88DE-4448-8D64-78BB2373146E}" presName="childNode" presStyleLbl="node1" presStyleIdx="7" presStyleCnt="15" custScaleX="109794" custScaleY="20000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622EB21-AD30-4B99-82C5-CEC969B9D4EF}" type="pres">
      <dgm:prSet presAssocID="{3BADAE95-88DE-4448-8D64-78BB2373146E}" presName="aSpace2" presStyleCnt="0"/>
      <dgm:spPr/>
    </dgm:pt>
    <dgm:pt modelId="{09E70651-E940-469D-A60F-9BB235194DDE}" type="pres">
      <dgm:prSet presAssocID="{9CDD67F1-ACC5-42E3-B23C-B6C6DE2CE71B}" presName="childNode" presStyleLbl="node1" presStyleIdx="8" presStyleCnt="15" custScaleX="109794" custScaleY="20000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697E7F-454C-4F65-A106-C4817F61063D}" type="pres">
      <dgm:prSet presAssocID="{9CDD67F1-ACC5-42E3-B23C-B6C6DE2CE71B}" presName="aSpace2" presStyleCnt="0"/>
      <dgm:spPr/>
    </dgm:pt>
    <dgm:pt modelId="{5F25159A-36D3-456E-AA99-9DB7DC211A56}" type="pres">
      <dgm:prSet presAssocID="{DBD28FA8-0DFB-4FEC-B1FD-AF80EB86660B}" presName="childNode" presStyleLbl="node1" presStyleIdx="9" presStyleCnt="15" custScaleX="109794" custScaleY="2000000" custLinFactNeighborY="-4217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110661B-EB4C-49C3-A617-D070E818A20E}" type="pres">
      <dgm:prSet presAssocID="{DBD28FA8-0DFB-4FEC-B1FD-AF80EB86660B}" presName="aSpace2" presStyleCnt="0"/>
      <dgm:spPr/>
    </dgm:pt>
    <dgm:pt modelId="{1DD75031-D867-4441-B989-5DD467D8716B}" type="pres">
      <dgm:prSet presAssocID="{FE02A2BA-C2A3-4B66-BC45-4DAB8D7B06D9}" presName="childNode" presStyleLbl="node1" presStyleIdx="10" presStyleCnt="15" custScaleX="109794" custScaleY="2000000" custLinFactNeighborY="-4217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32694A0-B12B-4CF2-901C-8B4BA070CE49}" type="pres">
      <dgm:prSet presAssocID="{FE02A2BA-C2A3-4B66-BC45-4DAB8D7B06D9}" presName="aSpace2" presStyleCnt="0"/>
      <dgm:spPr/>
    </dgm:pt>
    <dgm:pt modelId="{C52067B7-F9A0-4B21-BFC1-A0DC276E06B9}" type="pres">
      <dgm:prSet presAssocID="{CCD2C001-4585-4A06-9D76-905D1AC583D5}" presName="childNode" presStyleLbl="node1" presStyleIdx="11" presStyleCnt="15" custScaleX="109794" custScaleY="2000000" custLinFactNeighborY="-4217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7EF6FD9-5EDA-4E45-964C-4216B735EB6E}" type="pres">
      <dgm:prSet presAssocID="{CCD2C001-4585-4A06-9D76-905D1AC583D5}" presName="aSpace2" presStyleCnt="0"/>
      <dgm:spPr/>
    </dgm:pt>
    <dgm:pt modelId="{4F56E133-DA89-4E69-9B55-134A10F408E4}" type="pres">
      <dgm:prSet presAssocID="{0C36A91F-2F6F-4CB5-9ABD-CBFDB9711157}" presName="childNode" presStyleLbl="node1" presStyleIdx="12" presStyleCnt="15" custScaleX="109794" custScaleY="2000000" custLinFactNeighborY="-4217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09B7BAB-8A1D-4DD0-BF58-3298749EF946}" type="pres">
      <dgm:prSet presAssocID="{0C36A91F-2F6F-4CB5-9ABD-CBFDB9711157}" presName="aSpace2" presStyleCnt="0"/>
      <dgm:spPr/>
    </dgm:pt>
    <dgm:pt modelId="{68CA1311-B6D4-49F1-8337-D02AFFF788BB}" type="pres">
      <dgm:prSet presAssocID="{E5E09500-2600-4790-B589-15B9D19C156B}" presName="childNode" presStyleLbl="node1" presStyleIdx="13" presStyleCnt="15" custScaleX="109794" custScaleY="2000000" custLinFactNeighborY="-4217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F5186B8-5932-48B1-B423-A05C8D33FB36}" type="pres">
      <dgm:prSet presAssocID="{E5E09500-2600-4790-B589-15B9D19C156B}" presName="aSpace2" presStyleCnt="0"/>
      <dgm:spPr/>
    </dgm:pt>
    <dgm:pt modelId="{D67D2487-1B9E-4FCD-9482-49D86ACBC807}" type="pres">
      <dgm:prSet presAssocID="{8F065558-7807-4BD8-B32C-79060A3BEEF6}" presName="childNode" presStyleLbl="node1" presStyleIdx="14" presStyleCnt="15" custScaleX="109794" custScaleY="2000000" custLinFactNeighborY="-4217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60BCA40-C9BB-40E9-B6E9-8697C9856704}" srcId="{47BA96D9-0F86-4E16-8D72-AEDCBAFDCBFE}" destId="{CCD2C001-4585-4A06-9D76-905D1AC583D5}" srcOrd="5" destOrd="0" parTransId="{A02E6AC7-7ABB-488F-A3C2-78CE8DAE7555}" sibTransId="{6258EBF9-57C2-44F0-82E6-A44640938D5C}"/>
    <dgm:cxn modelId="{847B9BE7-30DB-4085-B7E7-3F64D1487A2F}" srcId="{47BA96D9-0F86-4E16-8D72-AEDCBAFDCBFE}" destId="{C99FE277-19A5-40D6-A29E-C10E83CB3B58}" srcOrd="0" destOrd="0" parTransId="{A023A6E9-F10B-4F4E-A74D-1FFDB473CA3D}" sibTransId="{92D39D52-926D-467C-9A65-BB48A7D49FFF}"/>
    <dgm:cxn modelId="{9BC24425-E077-4947-8898-9BB81E0B259E}" type="presOf" srcId="{26D3A005-28EC-4B88-8B97-B8CAD6A91201}" destId="{FB785D0D-CD98-478B-A078-C6CEB403689F}" srcOrd="0" destOrd="0" presId="urn:microsoft.com/office/officeart/2005/8/layout/lProcess2"/>
    <dgm:cxn modelId="{9C7CF09F-47AD-4D8D-A9FC-AB3FCCD089D9}" srcId="{47BA96D9-0F86-4E16-8D72-AEDCBAFDCBFE}" destId="{E5E09500-2600-4790-B589-15B9D19C156B}" srcOrd="7" destOrd="0" parTransId="{AA982874-2D50-4D37-9E4E-46CA6F33D5D7}" sibTransId="{C1ED9705-FE02-4166-9DEE-D0A8D7A4BC7A}"/>
    <dgm:cxn modelId="{81B63FCA-5B91-470E-A637-579B5BDEC471}" type="presOf" srcId="{9CDD67F1-ACC5-42E3-B23C-B6C6DE2CE71B}" destId="{09E70651-E940-469D-A60F-9BB235194DDE}" srcOrd="0" destOrd="0" presId="urn:microsoft.com/office/officeart/2005/8/layout/lProcess2"/>
    <dgm:cxn modelId="{9EB4558F-72A9-4FD3-82F7-491DBC31D374}" type="presOf" srcId="{47BA96D9-0F86-4E16-8D72-AEDCBAFDCBFE}" destId="{5FFAA49D-145F-4BE4-9163-CDA1FB0D93D7}" srcOrd="0" destOrd="0" presId="urn:microsoft.com/office/officeart/2005/8/layout/lProcess2"/>
    <dgm:cxn modelId="{4274CB66-7FF2-48EE-B689-C53A250AC9A4}" type="presOf" srcId="{44631A92-623A-4218-BDC1-167162D7AC31}" destId="{47F5C9BE-914E-4128-9F3B-3CF07EEF305B}" srcOrd="0" destOrd="0" presId="urn:microsoft.com/office/officeart/2005/8/layout/lProcess2"/>
    <dgm:cxn modelId="{93F17187-34FC-41E2-91C8-3E5874499A33}" type="presOf" srcId="{3450FB1C-015C-4408-9638-3DA9DB323900}" destId="{553F921D-2296-47EE-9E04-D82AFFE451AD}" srcOrd="0" destOrd="0" presId="urn:microsoft.com/office/officeart/2005/8/layout/lProcess2"/>
    <dgm:cxn modelId="{4D4ED6AD-BFE8-4973-BE82-EBA482AB169F}" srcId="{47BA96D9-0F86-4E16-8D72-AEDCBAFDCBFE}" destId="{DBD28FA8-0DFB-4FEC-B1FD-AF80EB86660B}" srcOrd="3" destOrd="0" parTransId="{0BDD4005-C386-4896-89BE-0C86C29CD604}" sibTransId="{1D76093A-3035-41BC-92CF-8545BF831421}"/>
    <dgm:cxn modelId="{E18F22C5-88BF-4BEC-A30C-E647BD416C67}" type="presOf" srcId="{8F065558-7807-4BD8-B32C-79060A3BEEF6}" destId="{D67D2487-1B9E-4FCD-9482-49D86ACBC807}" srcOrd="0" destOrd="0" presId="urn:microsoft.com/office/officeart/2005/8/layout/lProcess2"/>
    <dgm:cxn modelId="{666C160F-DAC0-41A3-92EC-CF051549FB0C}" srcId="{47BA96D9-0F86-4E16-8D72-AEDCBAFDCBFE}" destId="{3BADAE95-88DE-4448-8D64-78BB2373146E}" srcOrd="1" destOrd="0" parTransId="{362700C7-F9B5-4C44-A4F5-09780EB107CB}" sibTransId="{CF458953-BA52-4B27-A083-4615385BFF2D}"/>
    <dgm:cxn modelId="{E5173E39-3936-4A24-B57D-B184FD8A8F0C}" srcId="{8B6C2203-2D5D-4283-99E3-81B7CFCF578A}" destId="{DF790D52-0377-4880-82EE-9E8F93C0031E}" srcOrd="0" destOrd="0" parTransId="{B0039519-59B9-47C5-A0B9-964E5D8B62DF}" sibTransId="{DEFE1DBA-ABE8-43B8-905C-230C5B9D4635}"/>
    <dgm:cxn modelId="{E7662651-31AE-42B9-8033-79A01FD6509E}" srcId="{DF790D52-0377-4880-82EE-9E8F93C0031E}" destId="{C14DF1E4-84E2-463E-A783-1919D4690E70}" srcOrd="4" destOrd="0" parTransId="{812F18F6-F260-4836-84A4-804D2E5DD173}" sibTransId="{F58B5D0E-1D87-45F5-89D9-BF76C91EA087}"/>
    <dgm:cxn modelId="{08EC570B-C6E0-4610-91F7-19458AB44F11}" srcId="{47BA96D9-0F86-4E16-8D72-AEDCBAFDCBFE}" destId="{FE02A2BA-C2A3-4B66-BC45-4DAB8D7B06D9}" srcOrd="4" destOrd="0" parTransId="{F3FE403B-16A8-4458-AC27-F47EBCC0D2FC}" sibTransId="{0F02D39C-419E-4CA1-8F00-F954485F39F3}"/>
    <dgm:cxn modelId="{1512AA86-B754-42E5-BF3F-A1788FD0AE19}" type="presOf" srcId="{CCD2C001-4585-4A06-9D76-905D1AC583D5}" destId="{C52067B7-F9A0-4B21-BFC1-A0DC276E06B9}" srcOrd="0" destOrd="0" presId="urn:microsoft.com/office/officeart/2005/8/layout/lProcess2"/>
    <dgm:cxn modelId="{F968D2DD-A8E3-4DB3-8609-FCA783E83BB5}" type="presOf" srcId="{C99FE277-19A5-40D6-A29E-C10E83CB3B58}" destId="{2A64DEA5-288E-4E3B-AD57-0E9E7F9799E9}" srcOrd="0" destOrd="0" presId="urn:microsoft.com/office/officeart/2005/8/layout/lProcess2"/>
    <dgm:cxn modelId="{6622B27B-ADB3-4633-A865-6B6421A7E45E}" srcId="{DF790D52-0377-4880-82EE-9E8F93C0031E}" destId="{3450FB1C-015C-4408-9638-3DA9DB323900}" srcOrd="0" destOrd="0" parTransId="{8E0280CC-AAB7-4AEB-8348-BC71A7280B75}" sibTransId="{CB4CB814-75F5-4E04-842F-0509111BB34E}"/>
    <dgm:cxn modelId="{7DB05297-37DD-4920-8A34-8764DC29146D}" type="presOf" srcId="{1416EFED-B132-4907-9569-EC678144D8B8}" destId="{147274E9-96F0-4A44-87DB-9C2A2C7D54E6}" srcOrd="0" destOrd="0" presId="urn:microsoft.com/office/officeart/2005/8/layout/lProcess2"/>
    <dgm:cxn modelId="{A1C27796-EBA7-491D-B897-0AD9D5C1B92A}" type="presOf" srcId="{5DD1A87B-C043-4531-9737-06DD7CBCEB5A}" destId="{86878EBB-D81E-47C2-8903-D67A28BC62E1}" srcOrd="0" destOrd="0" presId="urn:microsoft.com/office/officeart/2005/8/layout/lProcess2"/>
    <dgm:cxn modelId="{A88074C1-6C7D-40B0-B677-723F6CA8FA76}" srcId="{47BA96D9-0F86-4E16-8D72-AEDCBAFDCBFE}" destId="{9CDD67F1-ACC5-42E3-B23C-B6C6DE2CE71B}" srcOrd="2" destOrd="0" parTransId="{2BAAC224-13CB-4C5D-BA3A-EEC112DED56B}" sibTransId="{5B1C814D-8ED8-4B9A-9FF2-2DA24D6A6618}"/>
    <dgm:cxn modelId="{1C8022AA-4D25-42B6-8C4F-D7A11B84C124}" type="presOf" srcId="{0C36A91F-2F6F-4CB5-9ABD-CBFDB9711157}" destId="{4F56E133-DA89-4E69-9B55-134A10F408E4}" srcOrd="0" destOrd="0" presId="urn:microsoft.com/office/officeart/2005/8/layout/lProcess2"/>
    <dgm:cxn modelId="{2F38659F-9B13-4962-9D29-36BA29467460}" type="presOf" srcId="{E5E09500-2600-4790-B589-15B9D19C156B}" destId="{68CA1311-B6D4-49F1-8337-D02AFFF788BB}" srcOrd="0" destOrd="0" presId="urn:microsoft.com/office/officeart/2005/8/layout/lProcess2"/>
    <dgm:cxn modelId="{5561F95B-9D55-4693-B2B9-CDA0E03EA907}" srcId="{47BA96D9-0F86-4E16-8D72-AEDCBAFDCBFE}" destId="{0C36A91F-2F6F-4CB5-9ABD-CBFDB9711157}" srcOrd="6" destOrd="0" parTransId="{4F2A8AF3-61C5-495F-9399-B64F796FA05E}" sibTransId="{4BA0558A-8BC8-4011-B302-982C3FA331D0}"/>
    <dgm:cxn modelId="{341D91F7-7308-484B-904F-FED63EC6602E}" type="presOf" srcId="{47BA96D9-0F86-4E16-8D72-AEDCBAFDCBFE}" destId="{ED38B53A-5D9D-4445-8399-DC3DB72974EC}" srcOrd="1" destOrd="0" presId="urn:microsoft.com/office/officeart/2005/8/layout/lProcess2"/>
    <dgm:cxn modelId="{BD58113C-FAF6-47A4-8DEB-CB2F5C00CCF8}" srcId="{8B6C2203-2D5D-4283-99E3-81B7CFCF578A}" destId="{47BA96D9-0F86-4E16-8D72-AEDCBAFDCBFE}" srcOrd="1" destOrd="0" parTransId="{40DD712F-92B1-4E0D-882E-1BAE2FDCF184}" sibTransId="{47AF8D92-7390-4E07-A1AE-71F3B97B503B}"/>
    <dgm:cxn modelId="{DBFAE235-E0A6-4BDC-BF79-B7368827AF2C}" srcId="{DF790D52-0377-4880-82EE-9E8F93C0031E}" destId="{5DD1A87B-C043-4531-9737-06DD7CBCEB5A}" srcOrd="1" destOrd="0" parTransId="{9082C811-1001-4BB3-86DD-42E2E188E0F1}" sibTransId="{33B48681-F726-4108-A744-661B8AD076C3}"/>
    <dgm:cxn modelId="{B1D4902E-120D-4C5F-A541-6EE91D8EE035}" type="presOf" srcId="{FE02A2BA-C2A3-4B66-BC45-4DAB8D7B06D9}" destId="{1DD75031-D867-4441-B989-5DD467D8716B}" srcOrd="0" destOrd="0" presId="urn:microsoft.com/office/officeart/2005/8/layout/lProcess2"/>
    <dgm:cxn modelId="{1D794496-66E7-4B2D-A1B9-41D6B55D8FA0}" type="presOf" srcId="{C14DF1E4-84E2-463E-A783-1919D4690E70}" destId="{D40E24C4-EFCE-410D-A0FD-8C3CA1DFEFA9}" srcOrd="0" destOrd="0" presId="urn:microsoft.com/office/officeart/2005/8/layout/lProcess2"/>
    <dgm:cxn modelId="{82852AF0-FBB3-4E5B-B343-6DA4A15D2F7C}" type="presOf" srcId="{3BADAE95-88DE-4448-8D64-78BB2373146E}" destId="{4AA15711-DD73-425E-BF9C-DAFE15A17FD9}" srcOrd="0" destOrd="0" presId="urn:microsoft.com/office/officeart/2005/8/layout/lProcess2"/>
    <dgm:cxn modelId="{B58E5EA2-DF84-4D0E-B3B1-FAADE8C67020}" type="presOf" srcId="{DF790D52-0377-4880-82EE-9E8F93C0031E}" destId="{6A1D3369-C163-42D5-BC86-919BE3704296}" srcOrd="0" destOrd="0" presId="urn:microsoft.com/office/officeart/2005/8/layout/lProcess2"/>
    <dgm:cxn modelId="{026D4F76-B1CA-4D89-AE08-7A86F205B1BD}" srcId="{47BA96D9-0F86-4E16-8D72-AEDCBAFDCBFE}" destId="{8F065558-7807-4BD8-B32C-79060A3BEEF6}" srcOrd="8" destOrd="0" parTransId="{E5874588-960A-4739-8CDD-C21F77C75B25}" sibTransId="{7449ECCB-09CC-451B-A1CC-B0BEBA7F950A}"/>
    <dgm:cxn modelId="{03E05E63-4B3F-4908-94A8-F6329654593B}" srcId="{DF790D52-0377-4880-82EE-9E8F93C0031E}" destId="{44631A92-623A-4218-BDC1-167162D7AC31}" srcOrd="2" destOrd="0" parTransId="{3C400269-C00C-4CCF-9ED1-9FB18839E04B}" sibTransId="{F75EAB8C-4281-492B-9CC0-194834492C7A}"/>
    <dgm:cxn modelId="{3756A692-6F47-4FBE-B74C-D50950661003}" type="presOf" srcId="{DF790D52-0377-4880-82EE-9E8F93C0031E}" destId="{9596B522-8ABB-4058-A635-89F197A3D371}" srcOrd="1" destOrd="0" presId="urn:microsoft.com/office/officeart/2005/8/layout/lProcess2"/>
    <dgm:cxn modelId="{EC02D15F-B5F0-4B94-A8DD-EBA7F0FC0CA9}" type="presOf" srcId="{DBD28FA8-0DFB-4FEC-B1FD-AF80EB86660B}" destId="{5F25159A-36D3-456E-AA99-9DB7DC211A56}" srcOrd="0" destOrd="0" presId="urn:microsoft.com/office/officeart/2005/8/layout/lProcess2"/>
    <dgm:cxn modelId="{E3E34799-F9DF-4A72-BFC4-25A9877F0D14}" srcId="{DF790D52-0377-4880-82EE-9E8F93C0031E}" destId="{26D3A005-28EC-4B88-8B97-B8CAD6A91201}" srcOrd="3" destOrd="0" parTransId="{A33043FB-FCDD-4432-B496-33E89D4E064C}" sibTransId="{7F9DA4D4-D0DE-45C2-A83A-65DAEF799802}"/>
    <dgm:cxn modelId="{F2B9E5B3-9FC6-429D-BB6D-DD87CDEC2FA3}" srcId="{DF790D52-0377-4880-82EE-9E8F93C0031E}" destId="{1416EFED-B132-4907-9569-EC678144D8B8}" srcOrd="5" destOrd="0" parTransId="{BC1FB20E-5966-4C47-8EDB-0E16C8A8413F}" sibTransId="{19060A5E-04BC-4493-9279-372403767D6B}"/>
    <dgm:cxn modelId="{E463FA6A-9449-47D9-A065-E6C5AB849075}" type="presOf" srcId="{8B6C2203-2D5D-4283-99E3-81B7CFCF578A}" destId="{6ADE8694-446E-44B0-89EC-BCF4F043E394}" srcOrd="0" destOrd="0" presId="urn:microsoft.com/office/officeart/2005/8/layout/lProcess2"/>
    <dgm:cxn modelId="{28E4AEAA-E0AE-408E-B85E-0831B0656C7E}" type="presParOf" srcId="{6ADE8694-446E-44B0-89EC-BCF4F043E394}" destId="{B86BDFA1-496B-4D9E-92C7-C97615662635}" srcOrd="0" destOrd="0" presId="urn:microsoft.com/office/officeart/2005/8/layout/lProcess2"/>
    <dgm:cxn modelId="{484E494F-952E-45BE-BD7A-B95ACEDFF5FE}" type="presParOf" srcId="{B86BDFA1-496B-4D9E-92C7-C97615662635}" destId="{6A1D3369-C163-42D5-BC86-919BE3704296}" srcOrd="0" destOrd="0" presId="urn:microsoft.com/office/officeart/2005/8/layout/lProcess2"/>
    <dgm:cxn modelId="{189E29A1-5D34-4361-81A3-979E7863BABC}" type="presParOf" srcId="{B86BDFA1-496B-4D9E-92C7-C97615662635}" destId="{9596B522-8ABB-4058-A635-89F197A3D371}" srcOrd="1" destOrd="0" presId="urn:microsoft.com/office/officeart/2005/8/layout/lProcess2"/>
    <dgm:cxn modelId="{F3494C2F-0569-4330-A422-70A9BEA5918B}" type="presParOf" srcId="{B86BDFA1-496B-4D9E-92C7-C97615662635}" destId="{E66AF44F-6DA5-46E3-AC68-EAB13D546681}" srcOrd="2" destOrd="0" presId="urn:microsoft.com/office/officeart/2005/8/layout/lProcess2"/>
    <dgm:cxn modelId="{247D04DD-74F5-4081-AAFE-7C8613BDB8FC}" type="presParOf" srcId="{E66AF44F-6DA5-46E3-AC68-EAB13D546681}" destId="{F68999B8-535E-49AF-8290-EA16461FC887}" srcOrd="0" destOrd="0" presId="urn:microsoft.com/office/officeart/2005/8/layout/lProcess2"/>
    <dgm:cxn modelId="{89DF19F9-B3F5-474C-B035-2F279EDFA9C6}" type="presParOf" srcId="{F68999B8-535E-49AF-8290-EA16461FC887}" destId="{553F921D-2296-47EE-9E04-D82AFFE451AD}" srcOrd="0" destOrd="0" presId="urn:microsoft.com/office/officeart/2005/8/layout/lProcess2"/>
    <dgm:cxn modelId="{15D47E14-AFF1-4B0D-8E76-AB38B5ABFBCB}" type="presParOf" srcId="{F68999B8-535E-49AF-8290-EA16461FC887}" destId="{0E51E6AC-9F93-458A-9D73-79D3772D2F23}" srcOrd="1" destOrd="0" presId="urn:microsoft.com/office/officeart/2005/8/layout/lProcess2"/>
    <dgm:cxn modelId="{5FBA1078-B113-453A-80CA-63478B567AA4}" type="presParOf" srcId="{F68999B8-535E-49AF-8290-EA16461FC887}" destId="{86878EBB-D81E-47C2-8903-D67A28BC62E1}" srcOrd="2" destOrd="0" presId="urn:microsoft.com/office/officeart/2005/8/layout/lProcess2"/>
    <dgm:cxn modelId="{E6965D3D-28C9-4700-90C8-F0B8ED790577}" type="presParOf" srcId="{F68999B8-535E-49AF-8290-EA16461FC887}" destId="{4F00B99D-7ADF-4F75-B7FB-948E6126447F}" srcOrd="3" destOrd="0" presId="urn:microsoft.com/office/officeart/2005/8/layout/lProcess2"/>
    <dgm:cxn modelId="{24219CCE-EDC2-44F2-8AAB-EE444342B583}" type="presParOf" srcId="{F68999B8-535E-49AF-8290-EA16461FC887}" destId="{47F5C9BE-914E-4128-9F3B-3CF07EEF305B}" srcOrd="4" destOrd="0" presId="urn:microsoft.com/office/officeart/2005/8/layout/lProcess2"/>
    <dgm:cxn modelId="{57B6DD46-6BD9-4357-A622-1958A810D646}" type="presParOf" srcId="{F68999B8-535E-49AF-8290-EA16461FC887}" destId="{2C43B7B6-140F-48ED-8ADE-CC829B2FE1A1}" srcOrd="5" destOrd="0" presId="urn:microsoft.com/office/officeart/2005/8/layout/lProcess2"/>
    <dgm:cxn modelId="{D648DE45-57EA-48F3-A29E-5D532EC5775F}" type="presParOf" srcId="{F68999B8-535E-49AF-8290-EA16461FC887}" destId="{FB785D0D-CD98-478B-A078-C6CEB403689F}" srcOrd="6" destOrd="0" presId="urn:microsoft.com/office/officeart/2005/8/layout/lProcess2"/>
    <dgm:cxn modelId="{B4CBAEFF-2129-45D1-853E-E5C7BB18B9A7}" type="presParOf" srcId="{F68999B8-535E-49AF-8290-EA16461FC887}" destId="{63F91E95-6DB7-45BC-947F-77BA003A9468}" srcOrd="7" destOrd="0" presId="urn:microsoft.com/office/officeart/2005/8/layout/lProcess2"/>
    <dgm:cxn modelId="{280BFF5A-C4BB-48E5-93C7-9EA468414EC4}" type="presParOf" srcId="{F68999B8-535E-49AF-8290-EA16461FC887}" destId="{D40E24C4-EFCE-410D-A0FD-8C3CA1DFEFA9}" srcOrd="8" destOrd="0" presId="urn:microsoft.com/office/officeart/2005/8/layout/lProcess2"/>
    <dgm:cxn modelId="{CD1F7F05-8503-41E6-AECD-5F24FD25E588}" type="presParOf" srcId="{F68999B8-535E-49AF-8290-EA16461FC887}" destId="{3F3CF091-2452-40EB-A210-B35E1CA9ACA9}" srcOrd="9" destOrd="0" presId="urn:microsoft.com/office/officeart/2005/8/layout/lProcess2"/>
    <dgm:cxn modelId="{4A11566A-3F9F-4145-88AF-A34F1DD1557D}" type="presParOf" srcId="{F68999B8-535E-49AF-8290-EA16461FC887}" destId="{147274E9-96F0-4A44-87DB-9C2A2C7D54E6}" srcOrd="10" destOrd="0" presId="urn:microsoft.com/office/officeart/2005/8/layout/lProcess2"/>
    <dgm:cxn modelId="{84EC955C-9957-4628-BDDE-EC40EA589044}" type="presParOf" srcId="{6ADE8694-446E-44B0-89EC-BCF4F043E394}" destId="{6BFC6CA8-5B67-4D7E-A022-4CF4D38E76F9}" srcOrd="1" destOrd="0" presId="urn:microsoft.com/office/officeart/2005/8/layout/lProcess2"/>
    <dgm:cxn modelId="{0DB5E352-B6E5-4AEC-8275-4225F20BBDD5}" type="presParOf" srcId="{6ADE8694-446E-44B0-89EC-BCF4F043E394}" destId="{9CF2B948-9854-4DD0-BA78-02AFA7B0B585}" srcOrd="2" destOrd="0" presId="urn:microsoft.com/office/officeart/2005/8/layout/lProcess2"/>
    <dgm:cxn modelId="{738509A9-151A-4374-BCF2-85CB6A07212A}" type="presParOf" srcId="{9CF2B948-9854-4DD0-BA78-02AFA7B0B585}" destId="{5FFAA49D-145F-4BE4-9163-CDA1FB0D93D7}" srcOrd="0" destOrd="0" presId="urn:microsoft.com/office/officeart/2005/8/layout/lProcess2"/>
    <dgm:cxn modelId="{8914EA1C-9A51-4642-8EB5-A2F9784CCD64}" type="presParOf" srcId="{9CF2B948-9854-4DD0-BA78-02AFA7B0B585}" destId="{ED38B53A-5D9D-4445-8399-DC3DB72974EC}" srcOrd="1" destOrd="0" presId="urn:microsoft.com/office/officeart/2005/8/layout/lProcess2"/>
    <dgm:cxn modelId="{9C11BAA8-A273-4214-B422-2A515B37788D}" type="presParOf" srcId="{9CF2B948-9854-4DD0-BA78-02AFA7B0B585}" destId="{4499E2BA-D4D7-467A-B23A-797DAC131654}" srcOrd="2" destOrd="0" presId="urn:microsoft.com/office/officeart/2005/8/layout/lProcess2"/>
    <dgm:cxn modelId="{D1172A95-2564-4603-81FA-EF6F8484CA47}" type="presParOf" srcId="{4499E2BA-D4D7-467A-B23A-797DAC131654}" destId="{52E0366D-9612-496A-BFC4-BEAC58B21A9A}" srcOrd="0" destOrd="0" presId="urn:microsoft.com/office/officeart/2005/8/layout/lProcess2"/>
    <dgm:cxn modelId="{C559A01D-61FE-4B05-BAAF-67267E3E31AA}" type="presParOf" srcId="{52E0366D-9612-496A-BFC4-BEAC58B21A9A}" destId="{2A64DEA5-288E-4E3B-AD57-0E9E7F9799E9}" srcOrd="0" destOrd="0" presId="urn:microsoft.com/office/officeart/2005/8/layout/lProcess2"/>
    <dgm:cxn modelId="{B1543067-1FA1-403E-B463-DD35D324D9C0}" type="presParOf" srcId="{52E0366D-9612-496A-BFC4-BEAC58B21A9A}" destId="{5547313B-82AA-4429-A4DB-2ABDF0DA58DA}" srcOrd="1" destOrd="0" presId="urn:microsoft.com/office/officeart/2005/8/layout/lProcess2"/>
    <dgm:cxn modelId="{461AFABF-0087-4192-8EE3-CEAC602501E0}" type="presParOf" srcId="{52E0366D-9612-496A-BFC4-BEAC58B21A9A}" destId="{4AA15711-DD73-425E-BF9C-DAFE15A17FD9}" srcOrd="2" destOrd="0" presId="urn:microsoft.com/office/officeart/2005/8/layout/lProcess2"/>
    <dgm:cxn modelId="{541C3F7C-9E38-4D08-A3B0-C5564809F79E}" type="presParOf" srcId="{52E0366D-9612-496A-BFC4-BEAC58B21A9A}" destId="{0622EB21-AD30-4B99-82C5-CEC969B9D4EF}" srcOrd="3" destOrd="0" presId="urn:microsoft.com/office/officeart/2005/8/layout/lProcess2"/>
    <dgm:cxn modelId="{EF8783FA-7974-4F3D-92E5-13A25EC94F51}" type="presParOf" srcId="{52E0366D-9612-496A-BFC4-BEAC58B21A9A}" destId="{09E70651-E940-469D-A60F-9BB235194DDE}" srcOrd="4" destOrd="0" presId="urn:microsoft.com/office/officeart/2005/8/layout/lProcess2"/>
    <dgm:cxn modelId="{C80288EF-E31B-4F12-90A5-55B0D6C06B5E}" type="presParOf" srcId="{52E0366D-9612-496A-BFC4-BEAC58B21A9A}" destId="{23697E7F-454C-4F65-A106-C4817F61063D}" srcOrd="5" destOrd="0" presId="urn:microsoft.com/office/officeart/2005/8/layout/lProcess2"/>
    <dgm:cxn modelId="{9A71445E-34B6-410D-B4E0-10361A9B703E}" type="presParOf" srcId="{52E0366D-9612-496A-BFC4-BEAC58B21A9A}" destId="{5F25159A-36D3-456E-AA99-9DB7DC211A56}" srcOrd="6" destOrd="0" presId="urn:microsoft.com/office/officeart/2005/8/layout/lProcess2"/>
    <dgm:cxn modelId="{43F0A31B-D60A-4068-A0E7-8D0EAD5D409A}" type="presParOf" srcId="{52E0366D-9612-496A-BFC4-BEAC58B21A9A}" destId="{7110661B-EB4C-49C3-A617-D070E818A20E}" srcOrd="7" destOrd="0" presId="urn:microsoft.com/office/officeart/2005/8/layout/lProcess2"/>
    <dgm:cxn modelId="{EEB7A8FE-3720-4FB2-9F04-8F8BD4FAF424}" type="presParOf" srcId="{52E0366D-9612-496A-BFC4-BEAC58B21A9A}" destId="{1DD75031-D867-4441-B989-5DD467D8716B}" srcOrd="8" destOrd="0" presId="urn:microsoft.com/office/officeart/2005/8/layout/lProcess2"/>
    <dgm:cxn modelId="{CF50AEE8-B181-4546-972D-CD014BCAB45D}" type="presParOf" srcId="{52E0366D-9612-496A-BFC4-BEAC58B21A9A}" destId="{632694A0-B12B-4CF2-901C-8B4BA070CE49}" srcOrd="9" destOrd="0" presId="urn:microsoft.com/office/officeart/2005/8/layout/lProcess2"/>
    <dgm:cxn modelId="{2107F64F-7FFF-4797-A0D4-C0E41D8094A1}" type="presParOf" srcId="{52E0366D-9612-496A-BFC4-BEAC58B21A9A}" destId="{C52067B7-F9A0-4B21-BFC1-A0DC276E06B9}" srcOrd="10" destOrd="0" presId="urn:microsoft.com/office/officeart/2005/8/layout/lProcess2"/>
    <dgm:cxn modelId="{5012E263-1C83-4B6D-B412-8166DC86DC2C}" type="presParOf" srcId="{52E0366D-9612-496A-BFC4-BEAC58B21A9A}" destId="{D7EF6FD9-5EDA-4E45-964C-4216B735EB6E}" srcOrd="11" destOrd="0" presId="urn:microsoft.com/office/officeart/2005/8/layout/lProcess2"/>
    <dgm:cxn modelId="{FA8F8F05-FA91-4CB3-A81E-6F7DAC8065D7}" type="presParOf" srcId="{52E0366D-9612-496A-BFC4-BEAC58B21A9A}" destId="{4F56E133-DA89-4E69-9B55-134A10F408E4}" srcOrd="12" destOrd="0" presId="urn:microsoft.com/office/officeart/2005/8/layout/lProcess2"/>
    <dgm:cxn modelId="{E7AAA91D-C043-4634-8F9E-7EE6D12F5EC3}" type="presParOf" srcId="{52E0366D-9612-496A-BFC4-BEAC58B21A9A}" destId="{E09B7BAB-8A1D-4DD0-BF58-3298749EF946}" srcOrd="13" destOrd="0" presId="urn:microsoft.com/office/officeart/2005/8/layout/lProcess2"/>
    <dgm:cxn modelId="{98CBC56A-6F6C-4716-8B55-4AE7407648B3}" type="presParOf" srcId="{52E0366D-9612-496A-BFC4-BEAC58B21A9A}" destId="{68CA1311-B6D4-49F1-8337-D02AFFF788BB}" srcOrd="14" destOrd="0" presId="urn:microsoft.com/office/officeart/2005/8/layout/lProcess2"/>
    <dgm:cxn modelId="{10CDA884-AC3C-45EE-83F1-BE0D6406F6B4}" type="presParOf" srcId="{52E0366D-9612-496A-BFC4-BEAC58B21A9A}" destId="{5F5186B8-5932-48B1-B423-A05C8D33FB36}" srcOrd="15" destOrd="0" presId="urn:microsoft.com/office/officeart/2005/8/layout/lProcess2"/>
    <dgm:cxn modelId="{C8134115-02FE-4AC2-B7FD-B1526E640DAE}" type="presParOf" srcId="{52E0366D-9612-496A-BFC4-BEAC58B21A9A}" destId="{D67D2487-1B9E-4FCD-9482-49D86ACBC807}" srcOrd="16" destOrd="0" presId="urn:microsoft.com/office/officeart/2005/8/layout/lProcess2"/>
  </dgm:cxnLst>
  <dgm:bg/>
  <dgm:whole>
    <a:ln w="12700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81002-2903-440D-9AC3-0E33FAF33487}">
      <dsp:nvSpPr>
        <dsp:cNvPr id="0" name=""/>
        <dsp:cNvSpPr/>
      </dsp:nvSpPr>
      <dsp:spPr>
        <a:xfrm>
          <a:off x="5118665" y="3497207"/>
          <a:ext cx="2662741" cy="206106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ysClr val="window" lastClr="FFFFFF">
              <a:lumMod val="5000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Communautés locales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Associations féminines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962762" y="4057747"/>
        <a:ext cx="1773368" cy="1455245"/>
      </dsp:txXfrm>
    </dsp:sp>
    <dsp:sp modelId="{1CD1D575-6040-46C3-A995-980EEB8B3996}">
      <dsp:nvSpPr>
        <dsp:cNvPr id="0" name=""/>
        <dsp:cNvSpPr/>
      </dsp:nvSpPr>
      <dsp:spPr>
        <a:xfrm>
          <a:off x="783166" y="3497207"/>
          <a:ext cx="2662741" cy="206106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4BACC6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Bureau de l’Assemblée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Commission affaires Sociales, Culturelles et  Santé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REPACAV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828441" y="4057747"/>
        <a:ext cx="1773368" cy="1455245"/>
      </dsp:txXfrm>
    </dsp:sp>
    <dsp:sp modelId="{5B151367-EA37-4E5E-87A1-B125A1BA7A26}">
      <dsp:nvSpPr>
        <dsp:cNvPr id="0" name=""/>
        <dsp:cNvSpPr/>
      </dsp:nvSpPr>
      <dsp:spPr>
        <a:xfrm>
          <a:off x="5118665" y="-168104"/>
          <a:ext cx="2662741" cy="206106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C0504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Consortium des Partenaires Techniques mandatés </a:t>
          </a:r>
          <a:r>
            <a:rPr lang="fr-FR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(GET &amp; GAF)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Autres bailleurs de fonds et partenaires PTF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962762" y="-122829"/>
        <a:ext cx="1773368" cy="1455245"/>
      </dsp:txXfrm>
    </dsp:sp>
    <dsp:sp modelId="{E328BA64-41E7-4029-A8E8-AE63F2C54EDF}">
      <dsp:nvSpPr>
        <dsp:cNvPr id="0" name=""/>
        <dsp:cNvSpPr/>
      </dsp:nvSpPr>
      <dsp:spPr>
        <a:xfrm>
          <a:off x="783166" y="-168104"/>
          <a:ext cx="2662741" cy="206106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flat" cmpd="sng" algn="ctr">
          <a:solidFill>
            <a:srgbClr val="1F497D"/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Gouvernorat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 Budget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 Finance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Mini Santé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DPS: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Coordinations Programmes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Zones et Aires de Santé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IPS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D" sz="1100" b="0" kern="1200" dirty="0">
              <a:solidFill>
                <a:srgbClr val="EEECE1">
                  <a:lumMod val="10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ETD</a:t>
          </a:r>
          <a:endParaRPr lang="fr-FR" sz="1100" b="0" kern="1200" dirty="0">
            <a:solidFill>
              <a:srgbClr val="EEECE1">
                <a:lumMod val="1000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828441" y="-122829"/>
        <a:ext cx="1773368" cy="1455245"/>
      </dsp:txXfrm>
    </dsp:sp>
    <dsp:sp modelId="{2DCED1E3-A646-4CBD-95DA-75437E2EC8EE}">
      <dsp:nvSpPr>
        <dsp:cNvPr id="0" name=""/>
        <dsp:cNvSpPr/>
      </dsp:nvSpPr>
      <dsp:spPr>
        <a:xfrm>
          <a:off x="1889957" y="307239"/>
          <a:ext cx="2333941" cy="2333941"/>
        </a:xfrm>
        <a:prstGeom prst="pieWedge">
          <a:avLst/>
        </a:prstGeom>
        <a:solidFill>
          <a:srgbClr val="1F497D"/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D" sz="1500" b="1" kern="1200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Gouvernement Provincial</a:t>
          </a:r>
          <a:endParaRPr lang="fr-FR" sz="1500" b="0" kern="120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2573552" y="990834"/>
        <a:ext cx="1650346" cy="1650346"/>
      </dsp:txXfrm>
    </dsp:sp>
    <dsp:sp modelId="{93C232A1-703C-4DF6-A42A-2959325E5E89}">
      <dsp:nvSpPr>
        <dsp:cNvPr id="0" name=""/>
        <dsp:cNvSpPr/>
      </dsp:nvSpPr>
      <dsp:spPr>
        <a:xfrm rot="5400000">
          <a:off x="4331701" y="307239"/>
          <a:ext cx="2333941" cy="2333941"/>
        </a:xfrm>
        <a:prstGeom prst="pieWedge">
          <a:avLst/>
        </a:prstGeom>
        <a:solidFill>
          <a:srgbClr val="C0504D"/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Consortium des Bailleurs 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kern="1200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</a:p>
      </dsp:txBody>
      <dsp:txXfrm rot="-5400000">
        <a:off x="4331701" y="990834"/>
        <a:ext cx="1650346" cy="1650346"/>
      </dsp:txXfrm>
    </dsp:sp>
    <dsp:sp modelId="{5EBBEAE9-8C69-4BB8-9400-A4F57514FF8F}">
      <dsp:nvSpPr>
        <dsp:cNvPr id="0" name=""/>
        <dsp:cNvSpPr/>
      </dsp:nvSpPr>
      <dsp:spPr>
        <a:xfrm rot="10800000">
          <a:off x="4331701" y="2748983"/>
          <a:ext cx="2333941" cy="2333941"/>
        </a:xfrm>
        <a:prstGeom prst="pieWedge">
          <a:avLst/>
        </a:prstGeom>
        <a:solidFill>
          <a:sysClr val="windowText" lastClr="000000">
            <a:lumMod val="50000"/>
            <a:lumOff val="50000"/>
          </a:sysClr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Organisations de la société civile</a:t>
          </a:r>
        </a:p>
      </dsp:txBody>
      <dsp:txXfrm rot="10800000">
        <a:off x="4331701" y="2748983"/>
        <a:ext cx="1650346" cy="1650346"/>
      </dsp:txXfrm>
    </dsp:sp>
    <dsp:sp modelId="{1C2534AB-39B2-4984-9DCD-9B6AC8A99BE8}">
      <dsp:nvSpPr>
        <dsp:cNvPr id="0" name=""/>
        <dsp:cNvSpPr/>
      </dsp:nvSpPr>
      <dsp:spPr>
        <a:xfrm rot="16200000">
          <a:off x="1889957" y="2748983"/>
          <a:ext cx="2333941" cy="2333941"/>
        </a:xfrm>
        <a:prstGeom prst="pieWedge">
          <a:avLst/>
        </a:prstGeom>
        <a:solidFill>
          <a:srgbClr val="4BACC6"/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D" sz="1600" b="1" kern="1200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Assemblée provinciale</a:t>
          </a:r>
          <a:endParaRPr lang="fr-FR" sz="1600" b="0" kern="120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5400000">
        <a:off x="2573552" y="2748983"/>
        <a:ext cx="1650346" cy="1650346"/>
      </dsp:txXfrm>
    </dsp:sp>
    <dsp:sp modelId="{7F6B3645-A13F-4AB9-A4B8-8EC6CE226157}">
      <dsp:nvSpPr>
        <dsp:cNvPr id="0" name=""/>
        <dsp:cNvSpPr/>
      </dsp:nvSpPr>
      <dsp:spPr>
        <a:xfrm>
          <a:off x="3874885" y="2209967"/>
          <a:ext cx="805829" cy="700721"/>
        </a:xfrm>
        <a:prstGeom prst="circularArrow">
          <a:avLst/>
        </a:prstGeom>
        <a:solidFill>
          <a:srgbClr val="C0504D"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EA925-0BC6-4423-83CE-11DF7B2CA858}">
      <dsp:nvSpPr>
        <dsp:cNvPr id="0" name=""/>
        <dsp:cNvSpPr/>
      </dsp:nvSpPr>
      <dsp:spPr>
        <a:xfrm rot="10800000">
          <a:off x="3874885" y="2479475"/>
          <a:ext cx="805829" cy="700721"/>
        </a:xfrm>
        <a:prstGeom prst="circularArrow">
          <a:avLst/>
        </a:prstGeom>
        <a:solidFill>
          <a:srgbClr val="C0504D">
            <a:tint val="4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D3369-C163-42D5-BC86-919BE3704296}">
      <dsp:nvSpPr>
        <dsp:cNvPr id="0" name=""/>
        <dsp:cNvSpPr/>
      </dsp:nvSpPr>
      <dsp:spPr>
        <a:xfrm>
          <a:off x="3815" y="0"/>
          <a:ext cx="3670591" cy="5347505"/>
        </a:xfrm>
        <a:prstGeom prst="roundRect">
          <a:avLst>
            <a:gd name="adj" fmla="val 10000"/>
          </a:avLst>
        </a:prstGeom>
        <a:solidFill>
          <a:srgbClr val="4F81BD">
            <a:lumMod val="20000"/>
            <a:lumOff val="8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D" sz="18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Finance Group                 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Rôle:                                                        -Veiller à la conformité des requêtes                                     -Veiller au respect des lignes budgétaires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b="0" i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+mn-lt"/>
            <a:ea typeface="+mn-ea"/>
            <a:cs typeface="+mn-cs"/>
          </a:endParaRPr>
        </a:p>
      </dsp:txBody>
      <dsp:txXfrm>
        <a:off x="50802" y="46987"/>
        <a:ext cx="3576617" cy="1510277"/>
      </dsp:txXfrm>
    </dsp:sp>
    <dsp:sp modelId="{553F921D-2296-47EE-9E04-D82AFFE451AD}">
      <dsp:nvSpPr>
        <dsp:cNvPr id="0" name=""/>
        <dsp:cNvSpPr/>
      </dsp:nvSpPr>
      <dsp:spPr>
        <a:xfrm>
          <a:off x="227075" y="1605135"/>
          <a:ext cx="3224070" cy="574928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Prés. : MC Bureau Ressources DPS</a:t>
          </a:r>
        </a:p>
      </dsp:txBody>
      <dsp:txXfrm>
        <a:off x="243914" y="1621974"/>
        <a:ext cx="3190392" cy="541250"/>
      </dsp:txXfrm>
    </dsp:sp>
    <dsp:sp modelId="{86878EBB-D81E-47C2-8903-D67A28BC62E1}">
      <dsp:nvSpPr>
        <dsp:cNvPr id="0" name=""/>
        <dsp:cNvSpPr/>
      </dsp:nvSpPr>
      <dsp:spPr>
        <a:xfrm>
          <a:off x="227075" y="2184486"/>
          <a:ext cx="3224070" cy="574928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C0504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C0504D"/>
              </a:solidFill>
              <a:latin typeface="+mn-lt"/>
              <a:ea typeface="+mn-ea"/>
              <a:cs typeface="+mn-cs"/>
            </a:rPr>
            <a:t>VP: Agent Fiduciaire du GAF (Bailleurs)</a:t>
          </a:r>
        </a:p>
      </dsp:txBody>
      <dsp:txXfrm>
        <a:off x="243914" y="2201325"/>
        <a:ext cx="3190392" cy="541250"/>
      </dsp:txXfrm>
    </dsp:sp>
    <dsp:sp modelId="{47F5C9BE-914E-4128-9F3B-3CF07EEF305B}">
      <dsp:nvSpPr>
        <dsp:cNvPr id="0" name=""/>
        <dsp:cNvSpPr/>
      </dsp:nvSpPr>
      <dsp:spPr>
        <a:xfrm>
          <a:off x="227075" y="2763837"/>
          <a:ext cx="3224070" cy="574928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EEECE1"/>
              </a:solidFill>
              <a:latin typeface="+mn-lt"/>
              <a:ea typeface="+mn-ea"/>
              <a:cs typeface="+mn-cs"/>
            </a:rPr>
            <a:t>Secrétaire :Délégué Min. Finances</a:t>
          </a:r>
        </a:p>
      </dsp:txBody>
      <dsp:txXfrm>
        <a:off x="243914" y="2780676"/>
        <a:ext cx="3190392" cy="541250"/>
      </dsp:txXfrm>
    </dsp:sp>
    <dsp:sp modelId="{FB785D0D-CD98-478B-A078-C6CEB403689F}">
      <dsp:nvSpPr>
        <dsp:cNvPr id="0" name=""/>
        <dsp:cNvSpPr/>
      </dsp:nvSpPr>
      <dsp:spPr>
        <a:xfrm>
          <a:off x="227075" y="3343188"/>
          <a:ext cx="3224070" cy="574928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Cons.: Comptable Coordination Programme</a:t>
          </a:r>
        </a:p>
      </dsp:txBody>
      <dsp:txXfrm>
        <a:off x="243914" y="3360027"/>
        <a:ext cx="3190392" cy="541250"/>
      </dsp:txXfrm>
    </dsp:sp>
    <dsp:sp modelId="{D40E24C4-EFCE-410D-A0FD-8C3CA1DFEFA9}">
      <dsp:nvSpPr>
        <dsp:cNvPr id="0" name=""/>
        <dsp:cNvSpPr/>
      </dsp:nvSpPr>
      <dsp:spPr>
        <a:xfrm>
          <a:off x="227075" y="3922539"/>
          <a:ext cx="3224070" cy="574928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2eme Cons. : Analyste Finances DPS</a:t>
          </a:r>
        </a:p>
      </dsp:txBody>
      <dsp:txXfrm>
        <a:off x="243914" y="3939378"/>
        <a:ext cx="3190392" cy="541250"/>
      </dsp:txXfrm>
    </dsp:sp>
    <dsp:sp modelId="{147274E9-96F0-4A44-87DB-9C2A2C7D54E6}">
      <dsp:nvSpPr>
        <dsp:cNvPr id="0" name=""/>
        <dsp:cNvSpPr/>
      </dsp:nvSpPr>
      <dsp:spPr>
        <a:xfrm>
          <a:off x="227075" y="4501890"/>
          <a:ext cx="3224070" cy="574928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Cons.: Chargé Partenariat et Financement DPS</a:t>
          </a:r>
        </a:p>
      </dsp:txBody>
      <dsp:txXfrm>
        <a:off x="243914" y="4518729"/>
        <a:ext cx="3190392" cy="541250"/>
      </dsp:txXfrm>
    </dsp:sp>
    <dsp:sp modelId="{5FFAA49D-145F-4BE4-9163-CDA1FB0D93D7}">
      <dsp:nvSpPr>
        <dsp:cNvPr id="0" name=""/>
        <dsp:cNvSpPr/>
      </dsp:nvSpPr>
      <dsp:spPr>
        <a:xfrm>
          <a:off x="3953516" y="0"/>
          <a:ext cx="3670591" cy="5347505"/>
        </a:xfrm>
        <a:prstGeom prst="roundRect">
          <a:avLst>
            <a:gd name="adj" fmla="val 10000"/>
          </a:avLst>
        </a:prstGeom>
        <a:solidFill>
          <a:srgbClr val="4F81BD">
            <a:lumMod val="20000"/>
            <a:lumOff val="8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D" sz="20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Core Group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D" sz="16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Rôle :                                                              -Validation des requêtes                                   -Suivi de l’exécution du Budget                         -Évaluation du PAO &amp; PTBT</a:t>
          </a:r>
          <a:endParaRPr lang="fr-FR" sz="1600" b="0" i="0" kern="1200" dirty="0">
            <a:solidFill>
              <a:srgbClr val="1F497D"/>
            </a:solidFill>
            <a:latin typeface="+mn-lt"/>
            <a:ea typeface="+mn-ea"/>
            <a:cs typeface="+mn-cs"/>
          </a:endParaRPr>
        </a:p>
      </dsp:txBody>
      <dsp:txXfrm>
        <a:off x="4000503" y="46987"/>
        <a:ext cx="3576617" cy="1510277"/>
      </dsp:txXfrm>
    </dsp:sp>
    <dsp:sp modelId="{2A64DEA5-288E-4E3B-AD57-0E9E7F9799E9}">
      <dsp:nvSpPr>
        <dsp:cNvPr id="0" name=""/>
        <dsp:cNvSpPr/>
      </dsp:nvSpPr>
      <dsp:spPr>
        <a:xfrm>
          <a:off x="4172961" y="1604810"/>
          <a:ext cx="3224070" cy="38346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Prés.: CD </a:t>
          </a:r>
          <a:r>
            <a:rPr lang="fr-FR" sz="1200" b="0" i="1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(MCP / Chef d’Antenne Programme)</a:t>
          </a:r>
        </a:p>
      </dsp:txBody>
      <dsp:txXfrm>
        <a:off x="4184192" y="1616041"/>
        <a:ext cx="3201608" cy="361000"/>
      </dsp:txXfrm>
    </dsp:sp>
    <dsp:sp modelId="{4AA15711-DD73-425E-BF9C-DAFE15A17FD9}">
      <dsp:nvSpPr>
        <dsp:cNvPr id="0" name=""/>
        <dsp:cNvSpPr/>
      </dsp:nvSpPr>
      <dsp:spPr>
        <a:xfrm>
          <a:off x="4172961" y="1991222"/>
          <a:ext cx="3224070" cy="38346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C0504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C0504D"/>
              </a:solidFill>
              <a:latin typeface="+mn-lt"/>
              <a:ea typeface="+mn-ea"/>
              <a:cs typeface="+mn-cs"/>
            </a:rPr>
            <a:t>VP: Coordonnateur du GET (Bailleurs)</a:t>
          </a:r>
        </a:p>
      </dsp:txBody>
      <dsp:txXfrm>
        <a:off x="4184192" y="2002453"/>
        <a:ext cx="3201608" cy="361000"/>
      </dsp:txXfrm>
    </dsp:sp>
    <dsp:sp modelId="{09E70651-E940-469D-A60F-9BB235194DDE}">
      <dsp:nvSpPr>
        <dsp:cNvPr id="0" name=""/>
        <dsp:cNvSpPr/>
      </dsp:nvSpPr>
      <dsp:spPr>
        <a:xfrm>
          <a:off x="4172961" y="2377634"/>
          <a:ext cx="3224070" cy="38346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1F497D"/>
              </a:solidFill>
              <a:latin typeface="+mn-lt"/>
              <a:ea typeface="+mn-ea"/>
              <a:cs typeface="+mn-cs"/>
            </a:rPr>
            <a:t>Sec.: Chef Bureau INFOSAN</a:t>
          </a:r>
        </a:p>
      </dsp:txBody>
      <dsp:txXfrm>
        <a:off x="4184192" y="2388865"/>
        <a:ext cx="3201608" cy="361000"/>
      </dsp:txXfrm>
    </dsp:sp>
    <dsp:sp modelId="{5F25159A-36D3-456E-AA99-9DB7DC211A56}">
      <dsp:nvSpPr>
        <dsp:cNvPr id="0" name=""/>
        <dsp:cNvSpPr/>
      </dsp:nvSpPr>
      <dsp:spPr>
        <a:xfrm>
          <a:off x="4172961" y="2762803"/>
          <a:ext cx="3224070" cy="38346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>
          <a:solidFill>
            <a:srgbClr val="C0504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C0504D"/>
              </a:solidFill>
              <a:latin typeface="+mn-lt"/>
              <a:ea typeface="+mn-ea"/>
              <a:cs typeface="+mn-cs"/>
            </a:rPr>
            <a:t>Cons.: Experts Techniques GET</a:t>
          </a:r>
        </a:p>
      </dsp:txBody>
      <dsp:txXfrm>
        <a:off x="4184192" y="2774034"/>
        <a:ext cx="3201608" cy="361000"/>
      </dsp:txXfrm>
    </dsp:sp>
    <dsp:sp modelId="{1DD75031-D867-4441-B989-5DD467D8716B}">
      <dsp:nvSpPr>
        <dsp:cNvPr id="0" name=""/>
        <dsp:cNvSpPr/>
      </dsp:nvSpPr>
      <dsp:spPr>
        <a:xfrm>
          <a:off x="4172961" y="3149215"/>
          <a:ext cx="3224070" cy="383462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EEECE1"/>
              </a:solidFill>
              <a:latin typeface="+mn-lt"/>
              <a:ea typeface="+mn-ea"/>
              <a:cs typeface="+mn-cs"/>
            </a:rPr>
            <a:t>2eme Sec.: Délégué Min. Budget</a:t>
          </a:r>
        </a:p>
      </dsp:txBody>
      <dsp:txXfrm>
        <a:off x="4184192" y="3160446"/>
        <a:ext cx="3201608" cy="361000"/>
      </dsp:txXfrm>
    </dsp:sp>
    <dsp:sp modelId="{C52067B7-F9A0-4B21-BFC1-A0DC276E06B9}">
      <dsp:nvSpPr>
        <dsp:cNvPr id="0" name=""/>
        <dsp:cNvSpPr/>
      </dsp:nvSpPr>
      <dsp:spPr>
        <a:xfrm>
          <a:off x="4172961" y="3535627"/>
          <a:ext cx="3224070" cy="383462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EEECE1"/>
              </a:solidFill>
              <a:latin typeface="+mn-lt"/>
              <a:ea typeface="+mn-ea"/>
              <a:cs typeface="+mn-cs"/>
            </a:rPr>
            <a:t>Cons.: Délégué Min.  Santé</a:t>
          </a:r>
        </a:p>
      </dsp:txBody>
      <dsp:txXfrm>
        <a:off x="4184192" y="3546858"/>
        <a:ext cx="3201608" cy="361000"/>
      </dsp:txXfrm>
    </dsp:sp>
    <dsp:sp modelId="{4F56E133-DA89-4E69-9B55-134A10F408E4}">
      <dsp:nvSpPr>
        <dsp:cNvPr id="0" name=""/>
        <dsp:cNvSpPr/>
      </dsp:nvSpPr>
      <dsp:spPr>
        <a:xfrm>
          <a:off x="4172961" y="3922039"/>
          <a:ext cx="3224070" cy="383462"/>
        </a:xfrm>
        <a:prstGeom prst="roundRect">
          <a:avLst>
            <a:gd name="adj" fmla="val 10000"/>
          </a:avLst>
        </a:prstGeom>
        <a:solidFill>
          <a:srgbClr val="1F497D"/>
        </a:solidFill>
        <a:ln>
          <a:solidFill>
            <a:srgbClr val="1F497D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EEECE1"/>
              </a:solidFill>
              <a:latin typeface="+mn-lt"/>
              <a:ea typeface="+mn-ea"/>
              <a:cs typeface="+mn-cs"/>
            </a:rPr>
            <a:t>Cons. Finances du Gouverneur </a:t>
          </a:r>
        </a:p>
      </dsp:txBody>
      <dsp:txXfrm>
        <a:off x="4184192" y="3933270"/>
        <a:ext cx="3201608" cy="361000"/>
      </dsp:txXfrm>
    </dsp:sp>
    <dsp:sp modelId="{68CA1311-B6D4-49F1-8337-D02AFFF788BB}">
      <dsp:nvSpPr>
        <dsp:cNvPr id="0" name=""/>
        <dsp:cNvSpPr/>
      </dsp:nvSpPr>
      <dsp:spPr>
        <a:xfrm>
          <a:off x="4172961" y="4308452"/>
          <a:ext cx="3224070" cy="383462"/>
        </a:xfrm>
        <a:prstGeom prst="roundRect">
          <a:avLst>
            <a:gd name="adj" fmla="val 10000"/>
          </a:avLst>
        </a:prstGeom>
        <a:gradFill rotWithShape="0">
          <a:gsLst>
            <a:gs pos="0">
              <a:sysClr val="window" lastClr="FFFFFF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ysClr>
            </a:gs>
            <a:gs pos="100000">
              <a:sysClr val="window" lastClr="FFFFFF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ysClr>
            </a:gs>
          </a:gsLst>
          <a:path path="circle">
            <a:fillToRect l="100000" t="100000" r="100000" b="100000"/>
          </a:path>
        </a:gradFill>
        <a:ln w="38100">
          <a:solidFill>
            <a:srgbClr val="FFFF00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EEECE1">
                  <a:lumMod val="50000"/>
                </a:srgbClr>
              </a:solidFill>
              <a:latin typeface="+mn-lt"/>
              <a:ea typeface="+mn-ea"/>
              <a:cs typeface="+mn-cs"/>
            </a:rPr>
            <a:t>Cons.: Représentants des autres partenaires techniques non-signataires </a:t>
          </a:r>
        </a:p>
      </dsp:txBody>
      <dsp:txXfrm>
        <a:off x="4184192" y="4319683"/>
        <a:ext cx="3201608" cy="361000"/>
      </dsp:txXfrm>
    </dsp:sp>
    <dsp:sp modelId="{D67D2487-1B9E-4FCD-9482-49D86ACBC807}">
      <dsp:nvSpPr>
        <dsp:cNvPr id="0" name=""/>
        <dsp:cNvSpPr/>
      </dsp:nvSpPr>
      <dsp:spPr>
        <a:xfrm>
          <a:off x="4172961" y="4694864"/>
          <a:ext cx="3224070" cy="383462"/>
        </a:xfrm>
        <a:prstGeom prst="roundRect">
          <a:avLst>
            <a:gd name="adj" fmla="val 10000"/>
          </a:avLst>
        </a:prstGeom>
        <a:solidFill>
          <a:sysClr val="windowText" lastClr="000000">
            <a:lumMod val="50000"/>
            <a:lumOff val="50000"/>
          </a:sysClr>
        </a:solidFill>
        <a:ln>
          <a:solidFill>
            <a:sysClr val="window" lastClr="FFFFFF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solidFill>
                <a:srgbClr val="EEECE1"/>
              </a:solidFill>
              <a:latin typeface="+mn-lt"/>
              <a:ea typeface="+mn-ea"/>
              <a:cs typeface="+mn-cs"/>
            </a:rPr>
            <a:t>Membre: Délégué  Société Civile</a:t>
          </a:r>
        </a:p>
      </dsp:txBody>
      <dsp:txXfrm>
        <a:off x="4184192" y="4706095"/>
        <a:ext cx="3201608" cy="361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0.03852</cdr:x>
      <cdr:y>0.7558</cdr:y>
    </cdr:from>
    <cdr:to>
      <cdr:x>0.20589</cdr:x>
      <cdr:y>0.85828</cdr:y>
    </cdr:to>
    <cdr:sp macro="" textlink="">
      <cdr:nvSpPr>
        <cdr:cNvPr id="2" name="Google Shape;491;g2545694553a_0_806">
          <a:extLst xmlns:a="http://schemas.openxmlformats.org/drawingml/2006/main">
            <a:ext uri="{FF2B5EF4-FFF2-40B4-BE49-F238E27FC236}">
              <a16:creationId xmlns:a16="http://schemas.microsoft.com/office/drawing/2014/main" xmlns="" id="{A9EB6946-A8AC-CC94-9FE4-227D244ECDAF}"/>
            </a:ext>
          </a:extLst>
        </cdr:cNvPr>
        <cdr:cNvSpPr/>
      </cdr:nvSpPr>
      <cdr:spPr>
        <a:xfrm xmlns:a="http://schemas.openxmlformats.org/drawingml/2006/main">
          <a:off x="444239" y="2082645"/>
          <a:ext cx="1930427" cy="282399"/>
        </a:xfrm>
        <a:prstGeom xmlns:a="http://schemas.openxmlformats.org/drawingml/2006/main" prst="roundRect">
          <a:avLst>
            <a:gd name="adj" fmla="val 16667"/>
          </a:avLst>
        </a:prstGeom>
        <a:noFill xmlns:a="http://schemas.openxmlformats.org/drawingml/2006/main"/>
        <a:ln xmlns:a="http://schemas.openxmlformats.org/drawingml/2006/main" w="9525" cap="flat" cmpd="sng">
          <a:noFill/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91425" tIns="45700" rIns="91425" bIns="45700" anchor="ctr" anchorCtr="0">
          <a:noAutofit/>
        </a:bodyPr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SzPts val="1400"/>
            <a:buFont typeface="Arial"/>
            <a:buNone/>
            <a:tabLst/>
            <a:defRPr/>
          </a:pPr>
          <a:r>
            <a:rPr kumimoji="0" lang="en-GB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rPr>
            <a:t>+9k  enfants </a:t>
          </a:r>
          <a:r>
            <a:rPr kumimoji="0" lang="en-GB" sz="1200" b="1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rPr>
            <a:t>vaccinés</a:t>
          </a:r>
          <a:endParaRPr kumimoji="0" sz="1200" b="1" i="0" u="none" strike="noStrike" kern="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Arial"/>
            <a:cs typeface="Arial"/>
            <a:sym typeface="Arial"/>
          </a:endParaRPr>
        </a:p>
      </cdr:txBody>
    </cdr:sp>
  </cdr:relSizeAnchor>
  <cdr:relSizeAnchor xmlns:cdr="http://schemas.openxmlformats.org/drawingml/2006/chartDrawing">
    <cdr:from>
      <cdr:x>0.25996</cdr:x>
      <cdr:y>0.75937</cdr:y>
    </cdr:from>
    <cdr:to>
      <cdr:x>0.42986</cdr:x>
      <cdr:y>0.86675</cdr:y>
    </cdr:to>
    <cdr:sp macro="" textlink="">
      <cdr:nvSpPr>
        <cdr:cNvPr id="3" name="Google Shape;492;g2545694553a_0_806">
          <a:extLst xmlns:a="http://schemas.openxmlformats.org/drawingml/2006/main">
            <a:ext uri="{FF2B5EF4-FFF2-40B4-BE49-F238E27FC236}">
              <a16:creationId xmlns:a16="http://schemas.microsoft.com/office/drawing/2014/main" xmlns="" id="{94E40533-21E9-842F-5AA7-A76C00F136F6}"/>
            </a:ext>
          </a:extLst>
        </cdr:cNvPr>
        <cdr:cNvSpPr/>
      </cdr:nvSpPr>
      <cdr:spPr>
        <a:xfrm xmlns:a="http://schemas.openxmlformats.org/drawingml/2006/main">
          <a:off x="2998248" y="2092487"/>
          <a:ext cx="1959598" cy="295886"/>
        </a:xfrm>
        <a:prstGeom xmlns:a="http://schemas.openxmlformats.org/drawingml/2006/main" prst="roundRect">
          <a:avLst>
            <a:gd name="adj" fmla="val 16667"/>
          </a:avLst>
        </a:prstGeom>
        <a:noFill xmlns:a="http://schemas.openxmlformats.org/drawingml/2006/main"/>
        <a:ln xmlns:a="http://schemas.openxmlformats.org/drawingml/2006/main" w="9525" cap="flat" cmpd="sng">
          <a:noFill/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91425" tIns="45700" rIns="91425" bIns="45700" anchor="ctr" anchorCtr="0">
          <a:noAutofit/>
        </a:bodyPr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SzPts val="1400"/>
            <a:buFont typeface="Arial"/>
            <a:buNone/>
            <a:tabLst/>
            <a:defRPr/>
          </a:pPr>
          <a:r>
            <a:rPr kumimoji="0" lang="en-GB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rPr>
            <a:t>+17k  enfants </a:t>
          </a:r>
          <a:r>
            <a:rPr kumimoji="0" lang="en-GB" sz="1200" b="1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rPr>
            <a:t>vaccinés</a:t>
          </a:r>
          <a:endParaRPr kumimoji="0" sz="1200" b="1" i="0" u="none" strike="noStrike" kern="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Arial"/>
            <a:cs typeface="Arial"/>
            <a:sym typeface="Arial"/>
          </a:endParaRPr>
        </a:p>
      </cdr:txBody>
    </cdr:sp>
  </cdr:relSizeAnchor>
  <cdr:relSizeAnchor xmlns:cdr="http://schemas.openxmlformats.org/drawingml/2006/chartDrawing">
    <cdr:from>
      <cdr:x>0.5482</cdr:x>
      <cdr:y>0.73863</cdr:y>
    </cdr:from>
    <cdr:to>
      <cdr:x>0.65185</cdr:x>
      <cdr:y>0.86314</cdr:y>
    </cdr:to>
    <cdr:sp macro="" textlink="">
      <cdr:nvSpPr>
        <cdr:cNvPr id="4" name="Google Shape;493;g2545694553a_0_806">
          <a:extLst xmlns:a="http://schemas.openxmlformats.org/drawingml/2006/main">
            <a:ext uri="{FF2B5EF4-FFF2-40B4-BE49-F238E27FC236}">
              <a16:creationId xmlns:a16="http://schemas.microsoft.com/office/drawing/2014/main" xmlns="" id="{21E49901-FF49-F2C9-C56E-A3B49E44B26C}"/>
            </a:ext>
          </a:extLst>
        </cdr:cNvPr>
        <cdr:cNvSpPr/>
      </cdr:nvSpPr>
      <cdr:spPr>
        <a:xfrm xmlns:a="http://schemas.openxmlformats.org/drawingml/2006/main">
          <a:off x="6322717" y="2035337"/>
          <a:ext cx="1195449" cy="343096"/>
        </a:xfrm>
        <a:prstGeom xmlns:a="http://schemas.openxmlformats.org/drawingml/2006/main" prst="roundRect">
          <a:avLst>
            <a:gd name="adj" fmla="val 16667"/>
          </a:avLst>
        </a:prstGeom>
        <a:noFill xmlns:a="http://schemas.openxmlformats.org/drawingml/2006/main"/>
        <a:ln xmlns:a="http://schemas.openxmlformats.org/drawingml/2006/main" w="9525" cap="flat" cmpd="sng">
          <a:noFill/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91425" tIns="45700" rIns="91425" bIns="45700" anchor="ctr" anchorCtr="0">
          <a:noAutofit/>
        </a:bodyPr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SzPts val="1400"/>
            <a:buFont typeface="Arial"/>
            <a:buNone/>
            <a:tabLst/>
            <a:defRPr/>
          </a:pPr>
          <a:r>
            <a:rPr kumimoji="0" lang="en-GB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rPr>
            <a:t>+32k  enfants </a:t>
          </a:r>
          <a:r>
            <a:rPr kumimoji="0" lang="en-GB" sz="1200" b="1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rPr>
            <a:t>vaccinés</a:t>
          </a:r>
          <a:endParaRPr kumimoji="0" sz="1200" b="1" i="0" u="none" strike="noStrike" kern="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Arial"/>
            <a:cs typeface="Arial"/>
            <a:sym typeface="Arial"/>
          </a:endParaRPr>
        </a:p>
      </cdr:txBody>
    </cdr:sp>
  </cdr:relSizeAnchor>
  <cdr:relSizeAnchor xmlns:cdr="http://schemas.openxmlformats.org/drawingml/2006/chartDrawing">
    <cdr:from>
      <cdr:x>0.69939</cdr:x>
      <cdr:y>0.76826</cdr:y>
    </cdr:from>
    <cdr:to>
      <cdr:x>0.86591</cdr:x>
      <cdr:y>0.86675</cdr:y>
    </cdr:to>
    <cdr:sp macro="" textlink="">
      <cdr:nvSpPr>
        <cdr:cNvPr id="5" name="Google Shape;494;g2545694553a_0_806">
          <a:extLst xmlns:a="http://schemas.openxmlformats.org/drawingml/2006/main">
            <a:ext uri="{FF2B5EF4-FFF2-40B4-BE49-F238E27FC236}">
              <a16:creationId xmlns:a16="http://schemas.microsoft.com/office/drawing/2014/main" xmlns="" id="{B788E60E-E28D-363D-ACFA-051D567547BB}"/>
            </a:ext>
          </a:extLst>
        </cdr:cNvPr>
        <cdr:cNvSpPr/>
      </cdr:nvSpPr>
      <cdr:spPr>
        <a:xfrm xmlns:a="http://schemas.openxmlformats.org/drawingml/2006/main">
          <a:off x="8066441" y="2116992"/>
          <a:ext cx="1920605" cy="271381"/>
        </a:xfrm>
        <a:prstGeom xmlns:a="http://schemas.openxmlformats.org/drawingml/2006/main" prst="roundRect">
          <a:avLst>
            <a:gd name="adj" fmla="val 16667"/>
          </a:avLst>
        </a:prstGeom>
        <a:noFill xmlns:a="http://schemas.openxmlformats.org/drawingml/2006/main"/>
        <a:ln xmlns:a="http://schemas.openxmlformats.org/drawingml/2006/main" w="9525" cap="flat" cmpd="sng">
          <a:noFill/>
          <a:prstDash val="solid"/>
          <a:round/>
          <a:headEnd type="none" w="sm" len="sm"/>
          <a:tailEnd type="none" w="sm" len="sm"/>
        </a:ln>
      </cdr:spPr>
      <cdr:txBody>
        <a:bodyPr xmlns:a="http://schemas.openxmlformats.org/drawingml/2006/main" spcFirstLastPara="1" wrap="square" lIns="91425" tIns="45700" rIns="91425" bIns="45700" anchor="ctr" anchorCtr="0">
          <a:noAutofit/>
        </a:bodyPr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SzPts val="1400"/>
            <a:buFont typeface="Arial"/>
            <a:buNone/>
            <a:tabLst/>
            <a:defRPr/>
          </a:pPr>
          <a:r>
            <a:rPr kumimoji="0" lang="en-GB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rPr>
            <a:t>+200k  enfants vaccinés</a:t>
          </a:r>
          <a:endParaRPr kumimoji="0" sz="1200" b="1" i="0" u="none" strike="noStrike" kern="0" cap="none" spc="0" normalizeH="0" baseline="0" noProof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Arial"/>
            <a:cs typeface="Arial"/>
            <a:sym typeface="Arial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9579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45694553a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75" tIns="45650" rIns="91275" bIns="45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209" name="Google Shape;209;g2545694553a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9518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>
            <a:spLocks noGrp="1"/>
          </p:cNvSpPr>
          <p:nvPr>
            <p:ph type="body" idx="1"/>
          </p:nvPr>
        </p:nvSpPr>
        <p:spPr>
          <a:xfrm>
            <a:off x="702310" y="4480004"/>
            <a:ext cx="56184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5343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9508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10:notes"/>
          <p:cNvSpPr txBox="1">
            <a:spLocks noGrp="1"/>
          </p:cNvSpPr>
          <p:nvPr>
            <p:ph type="body" idx="1"/>
          </p:nvPr>
        </p:nvSpPr>
        <p:spPr>
          <a:xfrm>
            <a:off x="702310" y="4480004"/>
            <a:ext cx="56184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379" name="Google Shape;379;p10:notes"/>
          <p:cNvSpPr txBox="1">
            <a:spLocks noGrp="1"/>
          </p:cNvSpPr>
          <p:nvPr>
            <p:ph type="sldNum" idx="12"/>
          </p:nvPr>
        </p:nvSpPr>
        <p:spPr>
          <a:xfrm>
            <a:off x="3978132" y="8842030"/>
            <a:ext cx="30432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5042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:notes"/>
          <p:cNvSpPr txBox="1">
            <a:spLocks noGrp="1"/>
          </p:cNvSpPr>
          <p:nvPr>
            <p:ph type="body" idx="1"/>
          </p:nvPr>
        </p:nvSpPr>
        <p:spPr>
          <a:xfrm>
            <a:off x="702310" y="4480004"/>
            <a:ext cx="56184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31" name="Google Shape;4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6700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:notes"/>
          <p:cNvSpPr txBox="1">
            <a:spLocks noGrp="1"/>
          </p:cNvSpPr>
          <p:nvPr>
            <p:ph type="body" idx="1"/>
          </p:nvPr>
        </p:nvSpPr>
        <p:spPr>
          <a:xfrm>
            <a:off x="702310" y="4480004"/>
            <a:ext cx="56184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31" name="Google Shape;4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9261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:notes"/>
          <p:cNvSpPr txBox="1">
            <a:spLocks noGrp="1"/>
          </p:cNvSpPr>
          <p:nvPr>
            <p:ph type="body" idx="1"/>
          </p:nvPr>
        </p:nvSpPr>
        <p:spPr>
          <a:xfrm>
            <a:off x="702310" y="4480004"/>
            <a:ext cx="56184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31" name="Google Shape;4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817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Ce </a:t>
            </a:r>
            <a:r>
              <a:rPr lang="en-US" dirty="0" err="1"/>
              <a:t>mécanisme</a:t>
            </a:r>
            <a:r>
              <a:rPr lang="en-US" dirty="0"/>
              <a:t> fait suite aux </a:t>
            </a:r>
            <a:r>
              <a:rPr lang="en-US" dirty="0" err="1"/>
              <a:t>recommandations</a:t>
            </a:r>
            <a:r>
              <a:rPr lang="en-US" dirty="0"/>
              <a:t> des </a:t>
            </a:r>
            <a:r>
              <a:rPr lang="en-US" dirty="0" err="1"/>
              <a:t>autorités</a:t>
            </a:r>
            <a:r>
              <a:rPr lang="en-US" dirty="0"/>
              <a:t> et </a:t>
            </a:r>
            <a:r>
              <a:rPr lang="en-US" dirty="0" err="1"/>
              <a:t>bailleurs</a:t>
            </a:r>
            <a:r>
              <a:rPr lang="en-US" dirty="0"/>
              <a:t> pour </a:t>
            </a:r>
            <a:r>
              <a:rPr lang="en-US" dirty="0" err="1"/>
              <a:t>avoir</a:t>
            </a:r>
            <a:r>
              <a:rPr lang="en-US" dirty="0"/>
              <a:t> les </a:t>
            </a:r>
            <a:r>
              <a:rPr lang="en-US" dirty="0" err="1"/>
              <a:t>informations</a:t>
            </a:r>
            <a:r>
              <a:rPr lang="en-US" dirty="0"/>
              <a:t> </a:t>
            </a:r>
            <a:r>
              <a:rPr lang="en-US" dirty="0" err="1"/>
              <a:t>ponctuelement</a:t>
            </a:r>
            <a:r>
              <a:rPr lang="en-US" dirty="0"/>
              <a:t> pour </a:t>
            </a:r>
            <a:r>
              <a:rPr lang="en-US" dirty="0" err="1"/>
              <a:t>faciliter</a:t>
            </a:r>
            <a:r>
              <a:rPr lang="en-US" dirty="0"/>
              <a:t> le </a:t>
            </a:r>
            <a:r>
              <a:rPr lang="en-US" dirty="0" err="1"/>
              <a:t>suivi</a:t>
            </a:r>
            <a:r>
              <a:rPr lang="en-US" dirty="0"/>
              <a:t> et la </a:t>
            </a:r>
            <a:r>
              <a:rPr lang="en-US" dirty="0" err="1"/>
              <a:t>prise</a:t>
            </a:r>
            <a:r>
              <a:rPr lang="en-US" dirty="0"/>
              <a:t> des decision. Suite au </a:t>
            </a:r>
            <a:r>
              <a:rPr lang="en-US" dirty="0" err="1"/>
              <a:t>contexte</a:t>
            </a:r>
            <a:r>
              <a:rPr lang="en-US" dirty="0"/>
              <a:t> electoral,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mécanisme</a:t>
            </a:r>
            <a:r>
              <a:rPr lang="en-US" dirty="0"/>
              <a:t> </a:t>
            </a:r>
            <a:r>
              <a:rPr lang="en-US" dirty="0" err="1"/>
              <a:t>n’a</a:t>
            </a:r>
            <a:r>
              <a:rPr lang="en-US" dirty="0"/>
              <a:t> pas </a:t>
            </a:r>
            <a:r>
              <a:rPr lang="en-US" dirty="0" err="1"/>
              <a:t>pu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implementé</a:t>
            </a:r>
            <a:r>
              <a:rPr lang="en-US" dirty="0"/>
              <a:t>, avec la </a:t>
            </a:r>
            <a:r>
              <a:rPr lang="en-US" dirty="0" err="1"/>
              <a:t>l’entré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function de Nouvelles </a:t>
            </a:r>
            <a:r>
              <a:rPr lang="en-US" dirty="0" err="1"/>
              <a:t>autorités</a:t>
            </a:r>
            <a:r>
              <a:rPr lang="en-US" dirty="0"/>
              <a:t>, il </a:t>
            </a:r>
            <a:r>
              <a:rPr lang="en-US" dirty="0" err="1"/>
              <a:t>serait</a:t>
            </a:r>
            <a:r>
              <a:rPr lang="en-US" dirty="0"/>
              <a:t> utile de le </a:t>
            </a:r>
            <a:r>
              <a:rPr lang="en-US" dirty="0" err="1"/>
              <a:t>mettre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place </a:t>
            </a:r>
            <a:r>
              <a:rPr lang="en-US" dirty="0" err="1"/>
              <a:t>dès</a:t>
            </a:r>
            <a:r>
              <a:rPr lang="en-US" dirty="0"/>
              <a:t> mi-</a:t>
            </a:r>
            <a:r>
              <a:rPr lang="en-US" dirty="0" err="1"/>
              <a:t>octobre</a:t>
            </a:r>
            <a:r>
              <a:rPr lang="en-US" dirty="0"/>
              <a:t> et </a:t>
            </a:r>
            <a:r>
              <a:rPr lang="en-US" dirty="0" err="1"/>
              <a:t>planifié</a:t>
            </a:r>
            <a:r>
              <a:rPr lang="en-US" dirty="0"/>
              <a:t> la revue </a:t>
            </a:r>
            <a:r>
              <a:rPr lang="en-US" dirty="0" err="1"/>
              <a:t>annuelle</a:t>
            </a:r>
            <a:r>
              <a:rPr lang="en-US" dirty="0"/>
              <a:t> 2024 au plus tard la première </a:t>
            </a:r>
            <a:r>
              <a:rPr lang="en-US" dirty="0" err="1"/>
              <a:t>semaine</a:t>
            </a:r>
            <a:r>
              <a:rPr lang="en-US" dirty="0"/>
              <a:t> de Février 2024</a:t>
            </a:r>
            <a:endParaRPr dirty="0"/>
          </a:p>
        </p:txBody>
      </p:sp>
      <p:sp>
        <p:nvSpPr>
          <p:cNvPr id="851" name="Google Shape;8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5680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xmlns="" id="{A1411E6C-DC65-56B1-CBC7-56FA03A7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:notes">
            <a:extLst>
              <a:ext uri="{FF2B5EF4-FFF2-40B4-BE49-F238E27FC236}">
                <a16:creationId xmlns:a16="http://schemas.microsoft.com/office/drawing/2014/main" xmlns="" id="{116667A7-E310-DF0E-505C-69507D69E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310" y="4480004"/>
            <a:ext cx="56184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0" tIns="46650" rIns="93300" bIns="46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31" name="Google Shape;431;p13:notes">
            <a:extLst>
              <a:ext uri="{FF2B5EF4-FFF2-40B4-BE49-F238E27FC236}">
                <a16:creationId xmlns:a16="http://schemas.microsoft.com/office/drawing/2014/main" xmlns="" id="{7D0311C1-39BA-2899-CC77-988339A5D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949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545694553a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2545694553a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686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485e4e86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32" name="Google Shape;532;g2485e4e86d2_0_0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1544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J’ai essaye de comparaitre les contributions annuelles projetees avec 1$ et 2$ par enfant avec celles attendues dans le cadre des MOU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Reflexion: si BMGF doit combler les gaps, calculer les montants a debloquer par province. Par exemple $750K en plus pour TAN en 2023 et $700K en plus pour HL en 2023</a:t>
            </a:r>
            <a:endParaRPr/>
          </a:p>
        </p:txBody>
      </p:sp>
      <p:sp>
        <p:nvSpPr>
          <p:cNvPr id="572" name="Google Shape;572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495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J’ai essaye de comparaitre les contributions annuelles projetees avec 1$ et 2$ par enfant avec celles attendues dans le cadre des MOU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Reflexion: si BMGF doit combler les gaps, calculer les montants a debloquer par province. Par exemple $750K en plus pour TAN en 2023 et $700K en plus pour HL en 2023</a:t>
            </a:r>
            <a:endParaRPr/>
          </a:p>
        </p:txBody>
      </p:sp>
      <p:sp>
        <p:nvSpPr>
          <p:cNvPr id="572" name="Google Shape;572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06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17" name="Google Shape;71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3308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D" dirty="0"/>
              <a:t>Nouvelles provinces : </a:t>
            </a:r>
            <a:r>
              <a:rPr lang="fr-CD" dirty="0" err="1"/>
              <a:t>Tshopo</a:t>
            </a:r>
            <a:r>
              <a:rPr lang="fr-CD" dirty="0"/>
              <a:t>; Kasaï Oriental et Haut-Katanga</a:t>
            </a:r>
          </a:p>
          <a:p>
            <a:r>
              <a:rPr lang="fr-CD" dirty="0"/>
              <a:t>Anciennes provinces : Lualaba, Haut-</a:t>
            </a:r>
            <a:r>
              <a:rPr lang="fr-CD" dirty="0" err="1"/>
              <a:t>Lomami</a:t>
            </a:r>
            <a:r>
              <a:rPr lang="fr-CD" dirty="0"/>
              <a:t> et Tanganyika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A63DFC-29B0-CA44-B1FE-CE39E7A6D163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39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17" name="Google Shape;71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8497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70388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2"/>
          <p:cNvSpPr txBox="1">
            <a:spLocks noGrp="1"/>
          </p:cNvSpPr>
          <p:nvPr>
            <p:ph type="body" idx="1"/>
          </p:nvPr>
        </p:nvSpPr>
        <p:spPr>
          <a:xfrm>
            <a:off x="4874684" y="707270"/>
            <a:ext cx="6733115" cy="554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Width Head + Copy - Text Only">
  <p:cSld name="Full Width Head + Copy - Text 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0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11106151" cy="451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/>
            </a:lvl1pPr>
            <a:lvl2pPr marL="914400" lvl="1" indent="-33864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Font typeface="Arial"/>
              <a:buChar char="•"/>
              <a:defRPr sz="1600"/>
            </a:lvl3pPr>
            <a:lvl4pPr marL="1828800" lvl="3" indent="-32175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80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74" name="Google Shape;74;p80"/>
          <p:cNvSpPr txBox="1">
            <a:spLocks noGrp="1"/>
          </p:cNvSpPr>
          <p:nvPr>
            <p:ph type="title"/>
          </p:nvPr>
        </p:nvSpPr>
        <p:spPr>
          <a:xfrm>
            <a:off x="486833" y="384401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0"/>
          <p:cNvSpPr txBox="1">
            <a:spLocks noGrp="1"/>
          </p:cNvSpPr>
          <p:nvPr>
            <p:ph type="ftr" idx="11"/>
          </p:nvPr>
        </p:nvSpPr>
        <p:spPr>
          <a:xfrm>
            <a:off x="6515101" y="6536883"/>
            <a:ext cx="4839760" cy="20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1"/>
          <p:cNvSpPr txBox="1">
            <a:spLocks noGrp="1"/>
          </p:cNvSpPr>
          <p:nvPr>
            <p:ph type="title"/>
          </p:nvPr>
        </p:nvSpPr>
        <p:spPr>
          <a:xfrm>
            <a:off x="415626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l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1"/>
          <p:cNvSpPr txBox="1">
            <a:spLocks noGrp="1"/>
          </p:cNvSpPr>
          <p:nvPr>
            <p:ph type="body" idx="1"/>
          </p:nvPr>
        </p:nvSpPr>
        <p:spPr>
          <a:xfrm>
            <a:off x="415626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6pPr>
            <a:lvl7pPr marL="3200400" lvl="6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7pPr>
            <a:lvl8pPr marL="3657600" lvl="7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8pPr>
            <a:lvl9pPr marL="4114800" lvl="8" indent="-349250" algn="l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81"/>
          <p:cNvSpPr txBox="1">
            <a:spLocks noGrp="1"/>
          </p:cNvSpPr>
          <p:nvPr>
            <p:ph type="sldNum" idx="12"/>
          </p:nvPr>
        </p:nvSpPr>
        <p:spPr>
          <a:xfrm>
            <a:off x="11297329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Full Width Head + Copy - Text Only">
  <p:cSld name="2_Full Width Head + Copy - Text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6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11106151" cy="451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/>
            </a:lvl1pPr>
            <a:lvl2pPr marL="914400" lvl="1" indent="-33864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Font typeface="Arial"/>
              <a:buChar char="•"/>
              <a:defRPr sz="1600"/>
            </a:lvl3pPr>
            <a:lvl4pPr marL="1828800" lvl="3" indent="-32175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6pPr>
            <a:lvl7pPr marL="3200400" lvl="6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7pPr>
            <a:lvl8pPr marL="3657600" lvl="7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8pPr>
            <a:lvl9pPr marL="4114800" lvl="8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06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83" name="Google Shape;83;p106"/>
          <p:cNvSpPr txBox="1">
            <a:spLocks noGrp="1"/>
          </p:cNvSpPr>
          <p:nvPr>
            <p:ph type="title"/>
          </p:nvPr>
        </p:nvSpPr>
        <p:spPr>
          <a:xfrm>
            <a:off x="486833" y="384401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6"/>
          <p:cNvSpPr txBox="1">
            <a:spLocks noGrp="1"/>
          </p:cNvSpPr>
          <p:nvPr>
            <p:ph type="ftr" idx="11"/>
          </p:nvPr>
        </p:nvSpPr>
        <p:spPr>
          <a:xfrm>
            <a:off x="6515101" y="6536883"/>
            <a:ext cx="4839760" cy="20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ull Width Head + Copy - Text Only">
  <p:cSld name="1_Full Width Head + Copy - Text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3"/>
          <p:cNvSpPr txBox="1">
            <a:spLocks noGrp="1"/>
          </p:cNvSpPr>
          <p:nvPr>
            <p:ph type="body" idx="1"/>
          </p:nvPr>
        </p:nvSpPr>
        <p:spPr>
          <a:xfrm>
            <a:off x="486833" y="1718734"/>
            <a:ext cx="11106151" cy="451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67"/>
              <a:buNone/>
              <a:defRPr sz="1867" b="0"/>
            </a:lvl1pPr>
            <a:lvl2pPr marL="914400" lvl="1" indent="-33864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086AB"/>
              </a:buClr>
              <a:buSzPts val="1600"/>
              <a:buFont typeface="Arial"/>
              <a:buChar char="•"/>
              <a:defRPr sz="1600"/>
            </a:lvl3pPr>
            <a:lvl4pPr marL="1828800" lvl="3" indent="-32175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Arial"/>
              <a:buChar char="-"/>
              <a:defRPr/>
            </a:lvl4pPr>
            <a:lvl5pPr marL="2286000" lvl="4" indent="-32175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67"/>
              <a:buChar char="◦"/>
              <a:defRPr/>
            </a:lvl5pPr>
            <a:lvl6pPr marL="2743200" lvl="5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6pPr>
            <a:lvl7pPr marL="3200400" lvl="6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7pPr>
            <a:lvl8pPr marL="3657600" lvl="7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8pPr>
            <a:lvl9pPr marL="4114800" lvl="8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3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88" name="Google Shape;88;p83"/>
          <p:cNvSpPr txBox="1">
            <a:spLocks noGrp="1"/>
          </p:cNvSpPr>
          <p:nvPr>
            <p:ph type="title"/>
          </p:nvPr>
        </p:nvSpPr>
        <p:spPr>
          <a:xfrm>
            <a:off x="486833" y="384401"/>
            <a:ext cx="11106151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83"/>
          <p:cNvSpPr txBox="1">
            <a:spLocks noGrp="1"/>
          </p:cNvSpPr>
          <p:nvPr>
            <p:ph type="ftr" idx="11"/>
          </p:nvPr>
        </p:nvSpPr>
        <p:spPr>
          <a:xfrm>
            <a:off x="6515101" y="6536883"/>
            <a:ext cx="4839760" cy="20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A1682AE-108F-A6D5-6FB9-73B75975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x-non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394A5166-AE9F-CAE5-ECC3-EC7DCDE59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F7511FF3-5A94-C091-1837-8E9E6E2FB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93188B92-A36A-188F-9D2B-1C0B42CB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18C0D70C-E66E-56A3-52B7-D92EBB6F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952C45C5-0348-F366-2750-739933B2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2535435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FFBF4700-6D4E-4917-C78C-9F50714E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D1604201-4ABF-FC43-1E9C-B6683F1C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B2BBBB1D-4520-ACB7-8525-82608A76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9317422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8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2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95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771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4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499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528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387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598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282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701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PATH: DataVis - one column text box and half page graphic on color 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6602819" y="881994"/>
            <a:ext cx="5332006" cy="51455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837815"/>
            <a:ext cx="5105400" cy="10611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sz="3200" dirty="0">
                <a:solidFill>
                  <a:srgbClr val="F65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 – Arial 32 pt. red: </a:t>
            </a:r>
            <a:r>
              <a:rPr lang="en-US" dirty="0"/>
              <a:t>Data vis, half-page graphic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762000" y="2019300"/>
            <a:ext cx="5105400" cy="3924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Body text – Arial 16 pt., black, 18 pt. paragraph spacing after: This is used for a smaller amount of text to accompany a data visualization. It’s intended to hold a few talking points. Aim for clear and concise. </a:t>
            </a:r>
          </a:p>
        </p:txBody>
      </p:sp>
    </p:spTree>
    <p:extLst>
      <p:ext uri="{BB962C8B-B14F-4D97-AF65-F5344CB8AC3E}">
        <p14:creationId xmlns:p14="http://schemas.microsoft.com/office/powerpoint/2010/main" val="712046507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PATH: Beige Title slide w/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593931"/>
            <a:ext cx="2540000" cy="214988"/>
          </a:xfrm>
          <a:prstGeom prst="rect">
            <a:avLst/>
          </a:prstGeom>
        </p:spPr>
        <p:txBody>
          <a:bodyPr lIns="0" tIns="0" rIns="0" bIns="0"/>
          <a:lstStyle>
            <a:lvl1pPr algn="l">
              <a:spcBef>
                <a:spcPts val="0"/>
              </a:spcBef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Day, Year – Arial bold 9 pt. black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4600880"/>
            <a:ext cx="5334000" cy="6477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00" baseline="0">
                <a:solidFill>
                  <a:schemeClr val="tx1"/>
                </a:solidFill>
                <a:latin typeface="+mn-lt"/>
              </a:defRPr>
            </a:lvl1pPr>
            <a:lvl2pPr algn="l">
              <a:defRPr sz="900"/>
            </a:lvl2pPr>
            <a:lvl3pPr algn="l">
              <a:defRPr sz="900"/>
            </a:lvl3pPr>
            <a:lvl4pPr algn="l">
              <a:defRPr sz="900"/>
            </a:lvl4pPr>
            <a:lvl5pPr algn="l">
              <a:defRPr sz="900"/>
            </a:lvl5pPr>
          </a:lstStyle>
          <a:p>
            <a:pPr lvl="0"/>
            <a:r>
              <a:rPr lang="en-US" dirty="0"/>
              <a:t>Presenter Name - Arial 11 pt. black</a:t>
            </a:r>
            <a:br>
              <a:rPr lang="en-US" dirty="0"/>
            </a:br>
            <a:r>
              <a:rPr lang="en-US" dirty="0"/>
              <a:t>Presenter Title – Arial 11 pt. black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762000" y="2185988"/>
            <a:ext cx="5333999" cy="128111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 option 2 – Arial 36 pt. black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761999" y="3650041"/>
            <a:ext cx="5333999" cy="557213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Presentation subtitle – Arial 16 pt. black</a:t>
            </a:r>
          </a:p>
        </p:txBody>
      </p:sp>
    </p:spTree>
    <p:extLst>
      <p:ext uri="{BB962C8B-B14F-4D97-AF65-F5344CB8AC3E}">
        <p14:creationId xmlns:p14="http://schemas.microsoft.com/office/powerpoint/2010/main" val="1221065939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TH: Blank page with Header/Footer">
  <p:cSld name="PATH: Blank page with Header/Foo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dt" idx="10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D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1919784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7"/>
          <p:cNvSpPr txBox="1">
            <a:spLocks noGrp="1"/>
          </p:cNvSpPr>
          <p:nvPr>
            <p:ph type="title"/>
          </p:nvPr>
        </p:nvSpPr>
        <p:spPr>
          <a:xfrm>
            <a:off x="415626" y="593367"/>
            <a:ext cx="1136155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l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27"/>
          <p:cNvSpPr txBox="1">
            <a:spLocks noGrp="1"/>
          </p:cNvSpPr>
          <p:nvPr>
            <p:ph type="body" idx="1"/>
          </p:nvPr>
        </p:nvSpPr>
        <p:spPr>
          <a:xfrm>
            <a:off x="415626" y="1536633"/>
            <a:ext cx="1136155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6pPr>
            <a:lvl7pPr marL="3200400" lvl="6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7pPr>
            <a:lvl8pPr marL="3657600" lvl="7" indent="-34925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8pPr>
            <a:lvl9pPr marL="4114800" lvl="8" indent="-349250" algn="l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35" name="Google Shape;635;p27"/>
          <p:cNvSpPr txBox="1">
            <a:spLocks noGrp="1"/>
          </p:cNvSpPr>
          <p:nvPr>
            <p:ph type="sldNum" idx="12"/>
          </p:nvPr>
        </p:nvSpPr>
        <p:spPr>
          <a:xfrm>
            <a:off x="11297329" y="6217622"/>
            <a:ext cx="731591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D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6878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2225835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569749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64307202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4535035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45748973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5173897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73234387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400603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24397666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25959544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71778075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63E99BA-D296-E717-2C1E-8E2A4C9D3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8629789D-7977-9DF6-7BCF-DA3A6B104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9B2C91EC-3022-ECE2-6B1D-7993BA1C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FC685238-3DEE-B80E-7D31-A4C9A671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6B3BCC5-5FF3-5D89-EA10-B48A94C0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117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FEF169B-1E0A-2F6E-DBFF-B8D337D8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F8C99DD4-AA69-59F7-DD4F-C80C64178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8CA5FB49-9A53-CA16-66D9-5D643D56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FD8843B4-3BB2-9404-8CBE-8C0FC869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66ACCAEB-8AED-C9F7-41D3-1626F9AA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4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7C2F4B3-4BC1-2B31-D5BA-E3A2E3687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28F6E576-0647-AECF-D466-AA403EA5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5615CE41-7B1F-8775-473A-F30E2928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BCD34DF5-000D-D5CB-440C-0078CD97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EF0ABC8E-0069-53FC-EA6C-E8E9A648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1590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7F09207-1FC9-ADAF-F5B4-B74C4E56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8C5CB2B-F197-51CD-029B-921688835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4495FF5A-F2A5-82A6-8DC8-6193D8064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CBF59FB0-FBD7-ACEE-B43D-3557F229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0774CD90-CC32-367D-215A-A6ADC122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56E3E19F-06B0-DBF1-6D0C-2ECFAA48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407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47A32BB-96EC-91E7-9EB8-3EE35201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2D349F36-3541-1DE1-C2F0-3186D5A83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F4CEC33E-B81F-39B2-8546-076109E1E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14D59993-2F5A-D4A9-A085-9D7B08592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6A27B866-F587-65C1-44EA-9FC27F4F6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F78AC7DF-31DD-7B2C-571F-DFB142DB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3428A0E9-9587-A1A7-210E-F6B2345B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FD7BBBD0-A84D-BABB-7B5C-77015538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6333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776352D-32AA-B140-825C-14D51D5A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7E82362E-BD59-94DB-4C9F-A73BB948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8AAA9F1E-2DEF-D18A-FFE4-6F8A7110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E99BB958-764F-E5BD-3AB5-8BFC1678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11725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AB6045D0-9237-2707-3B2C-595F883F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C83D1B2A-E5F2-7F6D-618A-095F815A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6C14C1DC-DBF4-3C5C-BFA0-8DA01AB5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0812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DCE7848-DE18-AC02-37AB-D8BF48593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C54B478-CBFD-3667-AF8B-F26C2CB85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2BE176F8-9708-76AE-35A4-F8B0571C1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EF3A6C72-54C1-1ADA-ED4D-86477F590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39242269-0ECC-63B1-B0D8-0ACC428B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F566E50B-ED98-E649-A415-1F538332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502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D2F3481-B90A-2FCD-A0DA-047AF3AE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CD425CE6-8FAD-644F-7101-308525194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E173B724-DEC5-CCEB-BA95-F4406E44A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FC2DC672-1EF7-4101-EA43-EF219A1C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33FAA7CF-385A-3A25-B94C-ABC9C81F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191E6224-1948-B459-BA2B-CE0FA61D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6630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D26840BD-C701-B861-25A7-983A34BC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ADC7705D-4187-D26E-0F99-EEF419E6F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F2934A9B-EFB3-1040-E4AE-E394FEA6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9D3BD565-29AE-E0D9-A784-19007E87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231C65C8-8873-DE6C-0F28-E88EDACF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2940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978B3118-C009-A424-34C8-5C5C2B4F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FEA04711-A03E-0C6B-5A35-05BBBD65E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7BC79B58-689F-5664-6144-557FC647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53319482-9CD0-AF5C-15D3-58E01D63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FEA4DA47-BF1E-9E13-216B-0ABA642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69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9"/>
          <p:cNvSpPr txBox="1">
            <a:spLocks noGrp="1"/>
          </p:cNvSpPr>
          <p:nvPr>
            <p:ph type="body" idx="1"/>
          </p:nvPr>
        </p:nvSpPr>
        <p:spPr>
          <a:xfrm>
            <a:off x="4874684" y="707270"/>
            <a:ext cx="6733115" cy="554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F85AA"/>
              </a:buClr>
              <a:buSzPts val="1867"/>
              <a:buFont typeface="Noto Sans Symbols"/>
              <a:buNone/>
              <a:defRPr sz="18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864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733"/>
              <a:buFont typeface="Noto Sans Symbols"/>
              <a:buChar char="▪"/>
              <a:defRPr sz="1733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175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467"/>
              <a:buFont typeface="Arial"/>
              <a:buChar char="-"/>
              <a:defRPr sz="14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175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393AA"/>
              </a:buClr>
              <a:buSzPts val="1467"/>
              <a:buFont typeface="Arial"/>
              <a:buChar char="◦"/>
              <a:defRPr sz="1467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79"/>
          <p:cNvSpPr/>
          <p:nvPr/>
        </p:nvSpPr>
        <p:spPr>
          <a:xfrm>
            <a:off x="0" y="239810"/>
            <a:ext cx="268224" cy="2684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9"/>
          <p:cNvSpPr txBox="1">
            <a:spLocks noGrp="1"/>
          </p:cNvSpPr>
          <p:nvPr>
            <p:ph type="ftr" idx="11"/>
          </p:nvPr>
        </p:nvSpPr>
        <p:spPr>
          <a:xfrm>
            <a:off x="7498085" y="6527945"/>
            <a:ext cx="3860800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79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64" name="Google Shape;64;p79"/>
          <p:cNvSpPr txBox="1">
            <a:spLocks noGrp="1"/>
          </p:cNvSpPr>
          <p:nvPr>
            <p:ph type="title"/>
          </p:nvPr>
        </p:nvSpPr>
        <p:spPr>
          <a:xfrm>
            <a:off x="486833" y="637827"/>
            <a:ext cx="4226984" cy="86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735" r:id="rId6"/>
    <p:sldLayoutId id="214748373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28D367D-202E-4BB0-8243-51A46362D732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10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1" r:id="rId13"/>
    <p:sldLayoutId id="2147483753" r:id="rId14"/>
    <p:sldLayoutId id="2147483754" r:id="rId15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4A993-DBD4-430A-9A46-4295731A3B0F}" type="datetime1">
              <a:rPr lang="x-none" smtClean="0"/>
              <a:t>15/12/2025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18277-A96F-1445-97F7-FE2A0C8C53DC}" type="slidenum">
              <a:rPr lang="x-none" smtClean="0"/>
              <a:t>‹N°›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353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A519DDB4-527C-C168-8FF3-0AF54F35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7D3122E4-BA71-9F5E-B39D-022EF5CE7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848DF8DF-75A8-05C9-9C8F-2DC9833D0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7EEA2-BD6C-411B-A4C5-70D1622F2359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1BD65ABB-6840-022F-9262-A9B05D6BD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3DC9C028-589C-BFBB-EA17-0AAB992FD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E0C28-9929-4D5B-A563-F03E972400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21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6.png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https:/10.1016/j.vaccine.2023.11.029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BCA4D6D3-45A2-DBC5-6526-9A749F8D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01" y="1052415"/>
            <a:ext cx="5756148" cy="29674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REVUE ANNUELLE PEV MoUs </a:t>
            </a:r>
            <a:r>
              <a:rPr lang="en-US" sz="37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provinciaux </a:t>
            </a:r>
            <a:r>
              <a:rPr lang="en-US" sz="37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37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RDC</a:t>
            </a:r>
            <a:br>
              <a:rPr lang="en-US" sz="37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7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oogle Shape;139;g2545694553a_0_56">
            <a:extLst>
              <a:ext uri="{FF2B5EF4-FFF2-40B4-BE49-F238E27FC236}">
                <a16:creationId xmlns:a16="http://schemas.microsoft.com/office/drawing/2014/main" xmlns="" id="{FE807A3B-128C-B0D4-7976-6CE1F4EE9802}"/>
              </a:ext>
            </a:extLst>
          </p:cNvPr>
          <p:cNvPicPr preferRelativeResize="0">
            <a:picLocks noGrp="1"/>
          </p:cNvPicPr>
          <p:nvPr>
            <p:ph type="pic" idx="1"/>
          </p:nvPr>
        </p:nvPicPr>
        <p:blipFill rotWithShape="1">
          <a:blip r:embed="rId2"/>
          <a:srcRect b="1392"/>
          <a:stretch/>
        </p:blipFill>
        <p:spPr>
          <a:xfrm>
            <a:off x="7528756" y="508000"/>
            <a:ext cx="3904291" cy="4056240"/>
          </a:xfrm>
          <a:prstGeom prst="rect">
            <a:avLst/>
          </a:prstGeom>
          <a:noFill/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9B4737B3-6D8F-8B39-00BE-35DEDCF4F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4229100"/>
            <a:ext cx="5190847" cy="20109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Matadi</a:t>
            </a: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16 </a:t>
            </a:r>
            <a:r>
              <a:rPr lang="en-US" sz="2000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Decembre</a:t>
            </a: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E93EEE1F-AEA4-F82B-8C3E-4382DAA4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19938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buClrTx/>
              <a:defRPr/>
            </a:pPr>
            <a:fld id="{69618277-A96F-1445-97F7-FE2A0C8C53DC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  <a:buClrTx/>
                <a:defRPr/>
              </a:pPr>
              <a:t>1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8" name="Google Shape;143;g2545694553a_0_56">
            <a:extLst>
              <a:ext uri="{FF2B5EF4-FFF2-40B4-BE49-F238E27FC236}">
                <a16:creationId xmlns:a16="http://schemas.microsoft.com/office/drawing/2014/main" xmlns="" id="{88CEBC84-F0A5-5C62-D6E3-26C79BD0F82B}"/>
              </a:ext>
            </a:extLst>
          </p:cNvPr>
          <p:cNvGrpSpPr/>
          <p:nvPr/>
        </p:nvGrpSpPr>
        <p:grpSpPr>
          <a:xfrm>
            <a:off x="7528756" y="4919731"/>
            <a:ext cx="3758040" cy="879034"/>
            <a:chOff x="238125" y="2363000"/>
            <a:chExt cx="7122304" cy="975748"/>
          </a:xfrm>
        </p:grpSpPr>
        <p:sp>
          <p:nvSpPr>
            <p:cNvPr id="9" name="Google Shape;144;g2545694553a_0_56">
              <a:extLst>
                <a:ext uri="{FF2B5EF4-FFF2-40B4-BE49-F238E27FC236}">
                  <a16:creationId xmlns:a16="http://schemas.microsoft.com/office/drawing/2014/main" xmlns="" id="{67E50EA0-4DF9-FD2D-5904-3986E41988E2}"/>
                </a:ext>
              </a:extLst>
            </p:cNvPr>
            <p:cNvSpPr/>
            <p:nvPr/>
          </p:nvSpPr>
          <p:spPr>
            <a:xfrm>
              <a:off x="238125" y="2363000"/>
              <a:ext cx="695414" cy="956565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" name="Google Shape;145;g2545694553a_0_56">
              <a:extLst>
                <a:ext uri="{FF2B5EF4-FFF2-40B4-BE49-F238E27FC236}">
                  <a16:creationId xmlns:a16="http://schemas.microsoft.com/office/drawing/2014/main" xmlns="" id="{D25FE8AF-85EA-C114-8942-E374C5C1837D}"/>
                </a:ext>
              </a:extLst>
            </p:cNvPr>
            <p:cNvSpPr/>
            <p:nvPr/>
          </p:nvSpPr>
          <p:spPr>
            <a:xfrm>
              <a:off x="238125" y="2791076"/>
              <a:ext cx="695414" cy="547672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146;g2545694553a_0_56">
              <a:extLst>
                <a:ext uri="{FF2B5EF4-FFF2-40B4-BE49-F238E27FC236}">
                  <a16:creationId xmlns:a16="http://schemas.microsoft.com/office/drawing/2014/main" xmlns="" id="{96397073-A913-9BA2-4486-A01F5030C938}"/>
                </a:ext>
              </a:extLst>
            </p:cNvPr>
            <p:cNvSpPr/>
            <p:nvPr/>
          </p:nvSpPr>
          <p:spPr>
            <a:xfrm>
              <a:off x="1191504" y="2441920"/>
              <a:ext cx="614108" cy="793946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7;g2545694553a_0_56">
              <a:extLst>
                <a:ext uri="{FF2B5EF4-FFF2-40B4-BE49-F238E27FC236}">
                  <a16:creationId xmlns:a16="http://schemas.microsoft.com/office/drawing/2014/main" xmlns="" id="{50C0B57C-165F-702B-9C0D-A42C89A89FA8}"/>
                </a:ext>
              </a:extLst>
            </p:cNvPr>
            <p:cNvSpPr/>
            <p:nvPr/>
          </p:nvSpPr>
          <p:spPr>
            <a:xfrm>
              <a:off x="1912145" y="2441920"/>
              <a:ext cx="572050" cy="793946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" name="Google Shape;148;g2545694553a_0_56">
              <a:extLst>
                <a:ext uri="{FF2B5EF4-FFF2-40B4-BE49-F238E27FC236}">
                  <a16:creationId xmlns:a16="http://schemas.microsoft.com/office/drawing/2014/main" xmlns="" id="{51D32304-42ED-E2BB-90DB-0A52E1DC3269}"/>
                </a:ext>
              </a:extLst>
            </p:cNvPr>
            <p:cNvSpPr/>
            <p:nvPr/>
          </p:nvSpPr>
          <p:spPr>
            <a:xfrm>
              <a:off x="2543058" y="2441920"/>
              <a:ext cx="692571" cy="798794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" name="Google Shape;149;g2545694553a_0_56">
              <a:extLst>
                <a:ext uri="{FF2B5EF4-FFF2-40B4-BE49-F238E27FC236}">
                  <a16:creationId xmlns:a16="http://schemas.microsoft.com/office/drawing/2014/main" xmlns="" id="{D83C4957-95F6-6C9E-7ABA-C4C85030A6CE}"/>
                </a:ext>
              </a:extLst>
            </p:cNvPr>
            <p:cNvSpPr/>
            <p:nvPr/>
          </p:nvSpPr>
          <p:spPr>
            <a:xfrm>
              <a:off x="3488024" y="2439527"/>
              <a:ext cx="140210" cy="188928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" name="Google Shape;150;g2545694553a_0_56">
              <a:extLst>
                <a:ext uri="{FF2B5EF4-FFF2-40B4-BE49-F238E27FC236}">
                  <a16:creationId xmlns:a16="http://schemas.microsoft.com/office/drawing/2014/main" xmlns="" id="{D47702BC-4B29-3AAE-7EF3-88854DD6F5FC}"/>
                </a:ext>
              </a:extLst>
            </p:cNvPr>
            <p:cNvSpPr/>
            <p:nvPr/>
          </p:nvSpPr>
          <p:spPr>
            <a:xfrm>
              <a:off x="3650659" y="2489749"/>
              <a:ext cx="86928" cy="138701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" name="Google Shape;151;g2545694553a_0_56">
              <a:extLst>
                <a:ext uri="{FF2B5EF4-FFF2-40B4-BE49-F238E27FC236}">
                  <a16:creationId xmlns:a16="http://schemas.microsoft.com/office/drawing/2014/main" xmlns="" id="{D55FFDC3-3F3F-1A71-3086-4DD3A880BDFB}"/>
                </a:ext>
              </a:extLst>
            </p:cNvPr>
            <p:cNvSpPr/>
            <p:nvPr/>
          </p:nvSpPr>
          <p:spPr>
            <a:xfrm>
              <a:off x="3751605" y="2489749"/>
              <a:ext cx="123373" cy="14109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" name="Google Shape;152;g2545694553a_0_56">
              <a:extLst>
                <a:ext uri="{FF2B5EF4-FFF2-40B4-BE49-F238E27FC236}">
                  <a16:creationId xmlns:a16="http://schemas.microsoft.com/office/drawing/2014/main" xmlns="" id="{590BDB38-BD55-5AE1-FBC7-69EDFA85D17F}"/>
                </a:ext>
              </a:extLst>
            </p:cNvPr>
            <p:cNvSpPr/>
            <p:nvPr/>
          </p:nvSpPr>
          <p:spPr>
            <a:xfrm>
              <a:off x="3897416" y="2489749"/>
              <a:ext cx="120579" cy="188918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" name="Google Shape;153;g2545694553a_0_56">
              <a:extLst>
                <a:ext uri="{FF2B5EF4-FFF2-40B4-BE49-F238E27FC236}">
                  <a16:creationId xmlns:a16="http://schemas.microsoft.com/office/drawing/2014/main" xmlns="" id="{0277581C-ED97-D491-A920-00D66B038E5F}"/>
                </a:ext>
              </a:extLst>
            </p:cNvPr>
            <p:cNvSpPr/>
            <p:nvPr/>
          </p:nvSpPr>
          <p:spPr>
            <a:xfrm>
              <a:off x="4051640" y="2489749"/>
              <a:ext cx="86927" cy="138701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154;g2545694553a_0_56">
              <a:extLst>
                <a:ext uri="{FF2B5EF4-FFF2-40B4-BE49-F238E27FC236}">
                  <a16:creationId xmlns:a16="http://schemas.microsoft.com/office/drawing/2014/main" xmlns="" id="{7F7B915A-57BF-ED75-3673-2B9ED2CA1D32}"/>
                </a:ext>
              </a:extLst>
            </p:cNvPr>
            <p:cNvSpPr/>
            <p:nvPr/>
          </p:nvSpPr>
          <p:spPr>
            <a:xfrm>
              <a:off x="4149781" y="2489749"/>
              <a:ext cx="120576" cy="14109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" name="Google Shape;155;g2545694553a_0_56">
              <a:extLst>
                <a:ext uri="{FF2B5EF4-FFF2-40B4-BE49-F238E27FC236}">
                  <a16:creationId xmlns:a16="http://schemas.microsoft.com/office/drawing/2014/main" xmlns="" id="{5A4E4E0D-162E-73DC-4395-A138FD02F714}"/>
                </a:ext>
              </a:extLst>
            </p:cNvPr>
            <p:cNvSpPr/>
            <p:nvPr/>
          </p:nvSpPr>
          <p:spPr>
            <a:xfrm>
              <a:off x="4301200" y="2489749"/>
              <a:ext cx="196288" cy="138701"/>
            </a:xfrm>
            <a:custGeom>
              <a:avLst/>
              <a:gdLst/>
              <a:ahLst/>
              <a:cxnLst/>
              <a:rect l="l" t="t" r="r" b="b"/>
              <a:pathLst>
                <a:path w="7887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" name="Google Shape;156;g2545694553a_0_56">
              <a:extLst>
                <a:ext uri="{FF2B5EF4-FFF2-40B4-BE49-F238E27FC236}">
                  <a16:creationId xmlns:a16="http://schemas.microsoft.com/office/drawing/2014/main" xmlns="" id="{A0AC24A9-D725-2C32-EAAE-313DE1914595}"/>
                </a:ext>
              </a:extLst>
            </p:cNvPr>
            <p:cNvSpPr/>
            <p:nvPr/>
          </p:nvSpPr>
          <p:spPr>
            <a:xfrm>
              <a:off x="4531133" y="2489749"/>
              <a:ext cx="199089" cy="138701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" name="Google Shape;157;g2545694553a_0_56">
              <a:extLst>
                <a:ext uri="{FF2B5EF4-FFF2-40B4-BE49-F238E27FC236}">
                  <a16:creationId xmlns:a16="http://schemas.microsoft.com/office/drawing/2014/main" xmlns="" id="{B3703D2F-83BE-A744-1D29-36A44C131DA1}"/>
                </a:ext>
              </a:extLst>
            </p:cNvPr>
            <p:cNvSpPr/>
            <p:nvPr/>
          </p:nvSpPr>
          <p:spPr>
            <a:xfrm>
              <a:off x="4758262" y="2489749"/>
              <a:ext cx="120567" cy="14109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" name="Google Shape;158;g2545694553a_0_56">
              <a:extLst>
                <a:ext uri="{FF2B5EF4-FFF2-40B4-BE49-F238E27FC236}">
                  <a16:creationId xmlns:a16="http://schemas.microsoft.com/office/drawing/2014/main" xmlns="" id="{9E002573-4609-07CB-0E23-87155DBCB3A4}"/>
                </a:ext>
              </a:extLst>
            </p:cNvPr>
            <p:cNvSpPr/>
            <p:nvPr/>
          </p:nvSpPr>
          <p:spPr>
            <a:xfrm>
              <a:off x="3488024" y="2755203"/>
              <a:ext cx="131786" cy="188921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159;g2545694553a_0_56">
              <a:extLst>
                <a:ext uri="{FF2B5EF4-FFF2-40B4-BE49-F238E27FC236}">
                  <a16:creationId xmlns:a16="http://schemas.microsoft.com/office/drawing/2014/main" xmlns="" id="{743E36BD-67DD-3915-96DF-5CCECB1A7FF1}"/>
                </a:ext>
              </a:extLst>
            </p:cNvPr>
            <p:cNvSpPr/>
            <p:nvPr/>
          </p:nvSpPr>
          <p:spPr>
            <a:xfrm>
              <a:off x="3650659" y="2755203"/>
              <a:ext cx="58887" cy="191313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" name="Google Shape;160;g2545694553a_0_56">
              <a:extLst>
                <a:ext uri="{FF2B5EF4-FFF2-40B4-BE49-F238E27FC236}">
                  <a16:creationId xmlns:a16="http://schemas.microsoft.com/office/drawing/2014/main" xmlns="" id="{A0AB2566-CBCE-DF80-7920-A0751640D0E1}"/>
                </a:ext>
              </a:extLst>
            </p:cNvPr>
            <p:cNvSpPr/>
            <p:nvPr/>
          </p:nvSpPr>
          <p:spPr>
            <a:xfrm>
              <a:off x="3723565" y="2805425"/>
              <a:ext cx="120579" cy="14109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" name="Google Shape;161;g2545694553a_0_56">
              <a:extLst>
                <a:ext uri="{FF2B5EF4-FFF2-40B4-BE49-F238E27FC236}">
                  <a16:creationId xmlns:a16="http://schemas.microsoft.com/office/drawing/2014/main" xmlns="" id="{7943C2B0-59B8-98CA-C66F-F6E80DC3F852}"/>
                </a:ext>
              </a:extLst>
            </p:cNvPr>
            <p:cNvSpPr/>
            <p:nvPr/>
          </p:nvSpPr>
          <p:spPr>
            <a:xfrm>
              <a:off x="3872180" y="2807816"/>
              <a:ext cx="86929" cy="136312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" name="Google Shape;162;g2545694553a_0_56">
              <a:extLst>
                <a:ext uri="{FF2B5EF4-FFF2-40B4-BE49-F238E27FC236}">
                  <a16:creationId xmlns:a16="http://schemas.microsoft.com/office/drawing/2014/main" xmlns="" id="{FB70E208-B068-9BC1-C75B-D808270CAB14}"/>
                </a:ext>
              </a:extLst>
            </p:cNvPr>
            <p:cNvSpPr/>
            <p:nvPr/>
          </p:nvSpPr>
          <p:spPr>
            <a:xfrm>
              <a:off x="3975930" y="2807816"/>
              <a:ext cx="120579" cy="188930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" name="Google Shape;163;g2545694553a_0_56">
              <a:extLst>
                <a:ext uri="{FF2B5EF4-FFF2-40B4-BE49-F238E27FC236}">
                  <a16:creationId xmlns:a16="http://schemas.microsoft.com/office/drawing/2014/main" xmlns="" id="{844DD927-1671-FB94-9E49-ACDC9CE5BDFE}"/>
                </a:ext>
              </a:extLst>
            </p:cNvPr>
            <p:cNvSpPr/>
            <p:nvPr/>
          </p:nvSpPr>
          <p:spPr>
            <a:xfrm>
              <a:off x="4130154" y="2755203"/>
              <a:ext cx="33649" cy="188924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" name="Google Shape;164;g2545694553a_0_56">
              <a:extLst>
                <a:ext uri="{FF2B5EF4-FFF2-40B4-BE49-F238E27FC236}">
                  <a16:creationId xmlns:a16="http://schemas.microsoft.com/office/drawing/2014/main" xmlns="" id="{509BCB7B-06BC-9FD2-AD7D-79A7DF208BD8}"/>
                </a:ext>
              </a:extLst>
            </p:cNvPr>
            <p:cNvSpPr/>
            <p:nvPr/>
          </p:nvSpPr>
          <p:spPr>
            <a:xfrm>
              <a:off x="3479613" y="3073271"/>
              <a:ext cx="123373" cy="191317"/>
            </a:xfrm>
            <a:custGeom>
              <a:avLst/>
              <a:gdLst/>
              <a:ahLst/>
              <a:cxnLst/>
              <a:rect l="l" t="t" r="r" b="b"/>
              <a:pathLst>
                <a:path w="4905" h="7642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" name="Google Shape;165;g2545694553a_0_56">
              <a:extLst>
                <a:ext uri="{FF2B5EF4-FFF2-40B4-BE49-F238E27FC236}">
                  <a16:creationId xmlns:a16="http://schemas.microsoft.com/office/drawing/2014/main" xmlns="" id="{A990FFEC-0EB7-2970-D2B4-84BCFCE2463D}"/>
                </a:ext>
              </a:extLst>
            </p:cNvPr>
            <p:cNvSpPr/>
            <p:nvPr/>
          </p:nvSpPr>
          <p:spPr>
            <a:xfrm>
              <a:off x="3631032" y="3123492"/>
              <a:ext cx="120567" cy="141104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" name="Google Shape;166;g2545694553a_0_56">
              <a:extLst>
                <a:ext uri="{FF2B5EF4-FFF2-40B4-BE49-F238E27FC236}">
                  <a16:creationId xmlns:a16="http://schemas.microsoft.com/office/drawing/2014/main" xmlns="" id="{077C6CE8-5280-4573-50F0-3ADA62655584}"/>
                </a:ext>
              </a:extLst>
            </p:cNvPr>
            <p:cNvSpPr/>
            <p:nvPr/>
          </p:nvSpPr>
          <p:spPr>
            <a:xfrm>
              <a:off x="3827316" y="3073271"/>
              <a:ext cx="159826" cy="188921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" name="Google Shape;167;g2545694553a_0_56">
              <a:extLst>
                <a:ext uri="{FF2B5EF4-FFF2-40B4-BE49-F238E27FC236}">
                  <a16:creationId xmlns:a16="http://schemas.microsoft.com/office/drawing/2014/main" xmlns="" id="{E5515657-F9B7-9362-4890-3ED62887CE70}"/>
                </a:ext>
              </a:extLst>
            </p:cNvPr>
            <p:cNvSpPr/>
            <p:nvPr/>
          </p:nvSpPr>
          <p:spPr>
            <a:xfrm>
              <a:off x="3981538" y="3123492"/>
              <a:ext cx="120579" cy="138702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" name="Google Shape;168;g2545694553a_0_56">
              <a:extLst>
                <a:ext uri="{FF2B5EF4-FFF2-40B4-BE49-F238E27FC236}">
                  <a16:creationId xmlns:a16="http://schemas.microsoft.com/office/drawing/2014/main" xmlns="" id="{9F854D33-86A7-DEA5-A366-DBC6E8B28BDD}"/>
                </a:ext>
              </a:extLst>
            </p:cNvPr>
            <p:cNvSpPr/>
            <p:nvPr/>
          </p:nvSpPr>
          <p:spPr>
            <a:xfrm>
              <a:off x="4127349" y="3123492"/>
              <a:ext cx="120575" cy="141104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" name="Google Shape;169;g2545694553a_0_56">
              <a:extLst>
                <a:ext uri="{FF2B5EF4-FFF2-40B4-BE49-F238E27FC236}">
                  <a16:creationId xmlns:a16="http://schemas.microsoft.com/office/drawing/2014/main" xmlns="" id="{BE296739-7865-84E2-DF04-A30466F39797}"/>
                </a:ext>
              </a:extLst>
            </p:cNvPr>
            <p:cNvSpPr/>
            <p:nvPr/>
          </p:nvSpPr>
          <p:spPr>
            <a:xfrm>
              <a:off x="4264748" y="3123492"/>
              <a:ext cx="123377" cy="141104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" name="Google Shape;170;g2545694553a_0_56">
              <a:extLst>
                <a:ext uri="{FF2B5EF4-FFF2-40B4-BE49-F238E27FC236}">
                  <a16:creationId xmlns:a16="http://schemas.microsoft.com/office/drawing/2014/main" xmlns="" id="{C209A1E5-2258-6FA3-0951-2434CF37CAE6}"/>
                </a:ext>
              </a:extLst>
            </p:cNvPr>
            <p:cNvSpPr/>
            <p:nvPr/>
          </p:nvSpPr>
          <p:spPr>
            <a:xfrm>
              <a:off x="4410559" y="3070879"/>
              <a:ext cx="30844" cy="18893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" name="Google Shape;171;g2545694553a_0_56">
              <a:extLst>
                <a:ext uri="{FF2B5EF4-FFF2-40B4-BE49-F238E27FC236}">
                  <a16:creationId xmlns:a16="http://schemas.microsoft.com/office/drawing/2014/main" xmlns="" id="{D4A20B9C-DF46-EAB6-56B8-7044F72EEDC4}"/>
                </a:ext>
              </a:extLst>
            </p:cNvPr>
            <p:cNvSpPr/>
            <p:nvPr/>
          </p:nvSpPr>
          <p:spPr>
            <a:xfrm>
              <a:off x="4477856" y="3123492"/>
              <a:ext cx="117772" cy="136309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" name="Google Shape;172;g2545694553a_0_56">
              <a:extLst>
                <a:ext uri="{FF2B5EF4-FFF2-40B4-BE49-F238E27FC236}">
                  <a16:creationId xmlns:a16="http://schemas.microsoft.com/office/drawing/2014/main" xmlns="" id="{0BF30C35-B688-DDBD-46A4-4DAD150906AF}"/>
                </a:ext>
              </a:extLst>
            </p:cNvPr>
            <p:cNvSpPr/>
            <p:nvPr/>
          </p:nvSpPr>
          <p:spPr>
            <a:xfrm>
              <a:off x="4618059" y="3123492"/>
              <a:ext cx="120567" cy="138702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" name="Google Shape;173;g2545694553a_0_56">
              <a:extLst>
                <a:ext uri="{FF2B5EF4-FFF2-40B4-BE49-F238E27FC236}">
                  <a16:creationId xmlns:a16="http://schemas.microsoft.com/office/drawing/2014/main" xmlns="" id="{9AACFAAD-317A-C12D-49E0-5128E0010588}"/>
                </a:ext>
              </a:extLst>
            </p:cNvPr>
            <p:cNvSpPr/>
            <p:nvPr/>
          </p:nvSpPr>
          <p:spPr>
            <a:xfrm>
              <a:off x="4755457" y="3085228"/>
              <a:ext cx="81319" cy="176964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" name="Google Shape;174;g2545694553a_0_56">
              <a:extLst>
                <a:ext uri="{FF2B5EF4-FFF2-40B4-BE49-F238E27FC236}">
                  <a16:creationId xmlns:a16="http://schemas.microsoft.com/office/drawing/2014/main" xmlns="" id="{B5A1566F-A9DC-9126-B379-41E83C414BB9}"/>
                </a:ext>
              </a:extLst>
            </p:cNvPr>
            <p:cNvSpPr/>
            <p:nvPr/>
          </p:nvSpPr>
          <p:spPr>
            <a:xfrm>
              <a:off x="4856403" y="3070879"/>
              <a:ext cx="33649" cy="18893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" name="Google Shape;175;g2545694553a_0_56">
              <a:extLst>
                <a:ext uri="{FF2B5EF4-FFF2-40B4-BE49-F238E27FC236}">
                  <a16:creationId xmlns:a16="http://schemas.microsoft.com/office/drawing/2014/main" xmlns="" id="{9C433A73-8414-45CB-3E09-93A75818FA40}"/>
                </a:ext>
              </a:extLst>
            </p:cNvPr>
            <p:cNvSpPr/>
            <p:nvPr/>
          </p:nvSpPr>
          <p:spPr>
            <a:xfrm>
              <a:off x="4918092" y="3123492"/>
              <a:ext cx="123374" cy="141104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" name="Google Shape;176;g2545694553a_0_56">
              <a:extLst>
                <a:ext uri="{FF2B5EF4-FFF2-40B4-BE49-F238E27FC236}">
                  <a16:creationId xmlns:a16="http://schemas.microsoft.com/office/drawing/2014/main" xmlns="" id="{3038D31D-2F33-B204-CDA8-9AE4B12A3629}"/>
                </a:ext>
              </a:extLst>
            </p:cNvPr>
            <p:cNvSpPr/>
            <p:nvPr/>
          </p:nvSpPr>
          <p:spPr>
            <a:xfrm>
              <a:off x="5069511" y="3123492"/>
              <a:ext cx="117772" cy="136309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" name="Google Shape;177;g2545694553a_0_56">
              <a:extLst>
                <a:ext uri="{FF2B5EF4-FFF2-40B4-BE49-F238E27FC236}">
                  <a16:creationId xmlns:a16="http://schemas.microsoft.com/office/drawing/2014/main" xmlns="" id="{7D10D6E3-3CAC-2BFD-0849-FC3E5058B323}"/>
                </a:ext>
              </a:extLst>
            </p:cNvPr>
            <p:cNvSpPr/>
            <p:nvPr/>
          </p:nvSpPr>
          <p:spPr>
            <a:xfrm>
              <a:off x="5706032" y="2439527"/>
              <a:ext cx="148620" cy="188928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" name="Google Shape;178;g2545694553a_0_56">
              <a:extLst>
                <a:ext uri="{FF2B5EF4-FFF2-40B4-BE49-F238E27FC236}">
                  <a16:creationId xmlns:a16="http://schemas.microsoft.com/office/drawing/2014/main" xmlns="" id="{AC4172CF-5B42-EEB1-5A36-6EBC001ED67F}"/>
                </a:ext>
              </a:extLst>
            </p:cNvPr>
            <p:cNvSpPr/>
            <p:nvPr/>
          </p:nvSpPr>
          <p:spPr>
            <a:xfrm>
              <a:off x="5868668" y="2425179"/>
              <a:ext cx="120575" cy="205663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" name="Google Shape;179;g2545694553a_0_56">
              <a:extLst>
                <a:ext uri="{FF2B5EF4-FFF2-40B4-BE49-F238E27FC236}">
                  <a16:creationId xmlns:a16="http://schemas.microsoft.com/office/drawing/2014/main" xmlns="" id="{AF8C0559-4FE9-2D2F-D24B-1A0D3D17FC2C}"/>
                </a:ext>
              </a:extLst>
            </p:cNvPr>
            <p:cNvSpPr/>
            <p:nvPr/>
          </p:nvSpPr>
          <p:spPr>
            <a:xfrm>
              <a:off x="6017282" y="2489749"/>
              <a:ext cx="123384" cy="188921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180;g2545694553a_0_56">
              <a:extLst>
                <a:ext uri="{FF2B5EF4-FFF2-40B4-BE49-F238E27FC236}">
                  <a16:creationId xmlns:a16="http://schemas.microsoft.com/office/drawing/2014/main" xmlns="" id="{5CC0BEBB-3BE3-201A-DE60-63586356A37E}"/>
                </a:ext>
              </a:extLst>
            </p:cNvPr>
            <p:cNvSpPr/>
            <p:nvPr/>
          </p:nvSpPr>
          <p:spPr>
            <a:xfrm>
              <a:off x="6168701" y="2492140"/>
              <a:ext cx="117772" cy="138701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181;g2545694553a_0_56">
              <a:extLst>
                <a:ext uri="{FF2B5EF4-FFF2-40B4-BE49-F238E27FC236}">
                  <a16:creationId xmlns:a16="http://schemas.microsoft.com/office/drawing/2014/main" xmlns="" id="{D087FF0A-DCBF-5A96-DE63-A9CC00E85232}"/>
                </a:ext>
              </a:extLst>
            </p:cNvPr>
            <p:cNvSpPr/>
            <p:nvPr/>
          </p:nvSpPr>
          <p:spPr>
            <a:xfrm>
              <a:off x="6317316" y="2439527"/>
              <a:ext cx="123373" cy="191317"/>
            </a:xfrm>
            <a:custGeom>
              <a:avLst/>
              <a:gdLst/>
              <a:ahLst/>
              <a:cxnLst/>
              <a:rect l="l" t="t" r="r" b="b"/>
              <a:pathLst>
                <a:path w="4905" h="7642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182;g2545694553a_0_56">
              <a:extLst>
                <a:ext uri="{FF2B5EF4-FFF2-40B4-BE49-F238E27FC236}">
                  <a16:creationId xmlns:a16="http://schemas.microsoft.com/office/drawing/2014/main" xmlns="" id="{9BA882A7-7633-C0C1-5BB7-82C0452CE833}"/>
                </a:ext>
              </a:extLst>
            </p:cNvPr>
            <p:cNvSpPr/>
            <p:nvPr/>
          </p:nvSpPr>
          <p:spPr>
            <a:xfrm>
              <a:off x="6468735" y="2439527"/>
              <a:ext cx="58887" cy="191313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183;g2545694553a_0_56">
              <a:extLst>
                <a:ext uri="{FF2B5EF4-FFF2-40B4-BE49-F238E27FC236}">
                  <a16:creationId xmlns:a16="http://schemas.microsoft.com/office/drawing/2014/main" xmlns="" id="{D4B87A89-3EB5-C365-4F6A-2CBD63D54797}"/>
                </a:ext>
              </a:extLst>
            </p:cNvPr>
            <p:cNvSpPr/>
            <p:nvPr/>
          </p:nvSpPr>
          <p:spPr>
            <a:xfrm>
              <a:off x="6550052" y="2439527"/>
              <a:ext cx="33649" cy="188924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184;g2545694553a_0_56">
              <a:extLst>
                <a:ext uri="{FF2B5EF4-FFF2-40B4-BE49-F238E27FC236}">
                  <a16:creationId xmlns:a16="http://schemas.microsoft.com/office/drawing/2014/main" xmlns="" id="{4F34F4B7-E88B-757A-A1EA-C89E0883A712}"/>
                </a:ext>
              </a:extLst>
            </p:cNvPr>
            <p:cNvSpPr/>
            <p:nvPr/>
          </p:nvSpPr>
          <p:spPr>
            <a:xfrm>
              <a:off x="6611741" y="2489749"/>
              <a:ext cx="123373" cy="188928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185;g2545694553a_0_56">
              <a:extLst>
                <a:ext uri="{FF2B5EF4-FFF2-40B4-BE49-F238E27FC236}">
                  <a16:creationId xmlns:a16="http://schemas.microsoft.com/office/drawing/2014/main" xmlns="" id="{308F8A25-82AE-10BB-7082-F4D5A3B99DA2}"/>
                </a:ext>
              </a:extLst>
            </p:cNvPr>
            <p:cNvSpPr/>
            <p:nvPr/>
          </p:nvSpPr>
          <p:spPr>
            <a:xfrm>
              <a:off x="6765965" y="2492140"/>
              <a:ext cx="117774" cy="138701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186;g2545694553a_0_56">
              <a:extLst>
                <a:ext uri="{FF2B5EF4-FFF2-40B4-BE49-F238E27FC236}">
                  <a16:creationId xmlns:a16="http://schemas.microsoft.com/office/drawing/2014/main" xmlns="" id="{1958562A-ABBB-82FC-85FF-A287DF5E7CFD}"/>
                </a:ext>
              </a:extLst>
            </p:cNvPr>
            <p:cNvSpPr/>
            <p:nvPr/>
          </p:nvSpPr>
          <p:spPr>
            <a:xfrm>
              <a:off x="6911776" y="2489749"/>
              <a:ext cx="120567" cy="14109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187;g2545694553a_0_56">
              <a:extLst>
                <a:ext uri="{FF2B5EF4-FFF2-40B4-BE49-F238E27FC236}">
                  <a16:creationId xmlns:a16="http://schemas.microsoft.com/office/drawing/2014/main" xmlns="" id="{FC769E54-08BE-D9EC-3FB0-B70D58638FA1}"/>
                </a:ext>
              </a:extLst>
            </p:cNvPr>
            <p:cNvSpPr/>
            <p:nvPr/>
          </p:nvSpPr>
          <p:spPr>
            <a:xfrm>
              <a:off x="5706032" y="2755203"/>
              <a:ext cx="148620" cy="188921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188;g2545694553a_0_56">
              <a:extLst>
                <a:ext uri="{FF2B5EF4-FFF2-40B4-BE49-F238E27FC236}">
                  <a16:creationId xmlns:a16="http://schemas.microsoft.com/office/drawing/2014/main" xmlns="" id="{448C9B7E-2BBC-AD12-4D0D-22C0498E9AE5}"/>
                </a:ext>
              </a:extLst>
            </p:cNvPr>
            <p:cNvSpPr/>
            <p:nvPr/>
          </p:nvSpPr>
          <p:spPr>
            <a:xfrm>
              <a:off x="5879884" y="2740854"/>
              <a:ext cx="120567" cy="205667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189;g2545694553a_0_56">
              <a:extLst>
                <a:ext uri="{FF2B5EF4-FFF2-40B4-BE49-F238E27FC236}">
                  <a16:creationId xmlns:a16="http://schemas.microsoft.com/office/drawing/2014/main" xmlns="" id="{F9B028AC-91C6-7037-09B8-085A3EDD751D}"/>
                </a:ext>
              </a:extLst>
            </p:cNvPr>
            <p:cNvSpPr/>
            <p:nvPr/>
          </p:nvSpPr>
          <p:spPr>
            <a:xfrm>
              <a:off x="6028498" y="2807816"/>
              <a:ext cx="196288" cy="136312"/>
            </a:xfrm>
            <a:custGeom>
              <a:avLst/>
              <a:gdLst/>
              <a:ahLst/>
              <a:cxnLst/>
              <a:rect l="l" t="t" r="r" b="b"/>
              <a:pathLst>
                <a:path w="7887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190;g2545694553a_0_56">
              <a:extLst>
                <a:ext uri="{FF2B5EF4-FFF2-40B4-BE49-F238E27FC236}">
                  <a16:creationId xmlns:a16="http://schemas.microsoft.com/office/drawing/2014/main" xmlns="" id="{3CEA91DB-F078-AC42-2853-D7A1DBD149F9}"/>
                </a:ext>
              </a:extLst>
            </p:cNvPr>
            <p:cNvSpPr/>
            <p:nvPr/>
          </p:nvSpPr>
          <p:spPr>
            <a:xfrm>
              <a:off x="6252822" y="2807816"/>
              <a:ext cx="123373" cy="138702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191;g2545694553a_0_56">
              <a:extLst>
                <a:ext uri="{FF2B5EF4-FFF2-40B4-BE49-F238E27FC236}">
                  <a16:creationId xmlns:a16="http://schemas.microsoft.com/office/drawing/2014/main" xmlns="" id="{F92D2A03-1D7A-46BF-9804-4D81A75E417D}"/>
                </a:ext>
              </a:extLst>
            </p:cNvPr>
            <p:cNvSpPr/>
            <p:nvPr/>
          </p:nvSpPr>
          <p:spPr>
            <a:xfrm>
              <a:off x="6398633" y="2807816"/>
              <a:ext cx="120579" cy="138702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192;g2545694553a_0_56">
              <a:extLst>
                <a:ext uri="{FF2B5EF4-FFF2-40B4-BE49-F238E27FC236}">
                  <a16:creationId xmlns:a16="http://schemas.microsoft.com/office/drawing/2014/main" xmlns="" id="{44F22EB1-D46E-7962-8319-465295AFB343}"/>
                </a:ext>
              </a:extLst>
            </p:cNvPr>
            <p:cNvSpPr/>
            <p:nvPr/>
          </p:nvSpPr>
          <p:spPr>
            <a:xfrm>
              <a:off x="6541641" y="2807816"/>
              <a:ext cx="86927" cy="136312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193;g2545694553a_0_56">
              <a:extLst>
                <a:ext uri="{FF2B5EF4-FFF2-40B4-BE49-F238E27FC236}">
                  <a16:creationId xmlns:a16="http://schemas.microsoft.com/office/drawing/2014/main" xmlns="" id="{E7997D66-803B-1A11-F819-3623DA7FA1EE}"/>
                </a:ext>
              </a:extLst>
            </p:cNvPr>
            <p:cNvSpPr/>
            <p:nvPr/>
          </p:nvSpPr>
          <p:spPr>
            <a:xfrm>
              <a:off x="6639782" y="2805425"/>
              <a:ext cx="120575" cy="14109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194;g2545694553a_0_56">
              <a:extLst>
                <a:ext uri="{FF2B5EF4-FFF2-40B4-BE49-F238E27FC236}">
                  <a16:creationId xmlns:a16="http://schemas.microsoft.com/office/drawing/2014/main" xmlns="" id="{8541EA16-836A-B6B8-04A4-7B1D0138E430}"/>
                </a:ext>
              </a:extLst>
            </p:cNvPr>
            <p:cNvSpPr/>
            <p:nvPr/>
          </p:nvSpPr>
          <p:spPr>
            <a:xfrm>
              <a:off x="6777182" y="2769552"/>
              <a:ext cx="81315" cy="176964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195;g2545694553a_0_56">
              <a:extLst>
                <a:ext uri="{FF2B5EF4-FFF2-40B4-BE49-F238E27FC236}">
                  <a16:creationId xmlns:a16="http://schemas.microsoft.com/office/drawing/2014/main" xmlns="" id="{031AC114-2449-65E5-50CA-905049AF2C65}"/>
                </a:ext>
              </a:extLst>
            </p:cNvPr>
            <p:cNvSpPr/>
            <p:nvPr/>
          </p:nvSpPr>
          <p:spPr>
            <a:xfrm>
              <a:off x="6880931" y="2755203"/>
              <a:ext cx="30844" cy="188924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196;g2545694553a_0_56">
              <a:extLst>
                <a:ext uri="{FF2B5EF4-FFF2-40B4-BE49-F238E27FC236}">
                  <a16:creationId xmlns:a16="http://schemas.microsoft.com/office/drawing/2014/main" xmlns="" id="{82BBB25B-87C4-A698-7FED-12A42D35E595}"/>
                </a:ext>
              </a:extLst>
            </p:cNvPr>
            <p:cNvSpPr/>
            <p:nvPr/>
          </p:nvSpPr>
          <p:spPr>
            <a:xfrm>
              <a:off x="6939817" y="2807816"/>
              <a:ext cx="123373" cy="186534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197;g2545694553a_0_56">
              <a:extLst>
                <a:ext uri="{FF2B5EF4-FFF2-40B4-BE49-F238E27FC236}">
                  <a16:creationId xmlns:a16="http://schemas.microsoft.com/office/drawing/2014/main" xmlns="" id="{8C48FF0F-381E-0647-BA87-8F69FD06D6CE}"/>
                </a:ext>
              </a:extLst>
            </p:cNvPr>
            <p:cNvSpPr/>
            <p:nvPr/>
          </p:nvSpPr>
          <p:spPr>
            <a:xfrm>
              <a:off x="7096844" y="2810208"/>
              <a:ext cx="117772" cy="136312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198;g2545694553a_0_56">
              <a:extLst>
                <a:ext uri="{FF2B5EF4-FFF2-40B4-BE49-F238E27FC236}">
                  <a16:creationId xmlns:a16="http://schemas.microsoft.com/office/drawing/2014/main" xmlns="" id="{4E256BC2-5ED4-5504-2A4F-57FF29AB145F}"/>
                </a:ext>
              </a:extLst>
            </p:cNvPr>
            <p:cNvSpPr/>
            <p:nvPr/>
          </p:nvSpPr>
          <p:spPr>
            <a:xfrm>
              <a:off x="7239850" y="2807816"/>
              <a:ext cx="120579" cy="138702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199;g2545694553a_0_56">
              <a:extLst>
                <a:ext uri="{FF2B5EF4-FFF2-40B4-BE49-F238E27FC236}">
                  <a16:creationId xmlns:a16="http://schemas.microsoft.com/office/drawing/2014/main" xmlns="" id="{E72455DB-97EC-2469-A3A3-84389C5FC68F}"/>
                </a:ext>
              </a:extLst>
            </p:cNvPr>
            <p:cNvSpPr/>
            <p:nvPr/>
          </p:nvSpPr>
          <p:spPr>
            <a:xfrm>
              <a:off x="5700424" y="3073271"/>
              <a:ext cx="120577" cy="191317"/>
            </a:xfrm>
            <a:custGeom>
              <a:avLst/>
              <a:gdLst/>
              <a:ahLst/>
              <a:cxnLst/>
              <a:rect l="l" t="t" r="r" b="b"/>
              <a:pathLst>
                <a:path w="4905" h="7642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200;g2545694553a_0_56">
              <a:extLst>
                <a:ext uri="{FF2B5EF4-FFF2-40B4-BE49-F238E27FC236}">
                  <a16:creationId xmlns:a16="http://schemas.microsoft.com/office/drawing/2014/main" xmlns="" id="{9EB80544-7F0D-C2B1-5230-933B079B1E34}"/>
                </a:ext>
              </a:extLst>
            </p:cNvPr>
            <p:cNvSpPr/>
            <p:nvPr/>
          </p:nvSpPr>
          <p:spPr>
            <a:xfrm>
              <a:off x="5854647" y="3125884"/>
              <a:ext cx="117772" cy="136309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201;g2545694553a_0_56">
              <a:extLst>
                <a:ext uri="{FF2B5EF4-FFF2-40B4-BE49-F238E27FC236}">
                  <a16:creationId xmlns:a16="http://schemas.microsoft.com/office/drawing/2014/main" xmlns="" id="{7BBAA353-67FB-64B7-181E-8CFF11C97CCA}"/>
                </a:ext>
              </a:extLst>
            </p:cNvPr>
            <p:cNvSpPr/>
            <p:nvPr/>
          </p:nvSpPr>
          <p:spPr>
            <a:xfrm>
              <a:off x="6067755" y="3068488"/>
              <a:ext cx="148621" cy="19610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202;g2545694553a_0_56">
              <a:extLst>
                <a:ext uri="{FF2B5EF4-FFF2-40B4-BE49-F238E27FC236}">
                  <a16:creationId xmlns:a16="http://schemas.microsoft.com/office/drawing/2014/main" xmlns="" id="{1198B9FC-EF75-3AB9-B1D0-D9EB91B2A3C3}"/>
                </a:ext>
              </a:extLst>
            </p:cNvPr>
            <p:cNvSpPr/>
            <p:nvPr/>
          </p:nvSpPr>
          <p:spPr>
            <a:xfrm>
              <a:off x="6238803" y="3123492"/>
              <a:ext cx="123374" cy="141104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203;g2545694553a_0_56">
              <a:extLst>
                <a:ext uri="{FF2B5EF4-FFF2-40B4-BE49-F238E27FC236}">
                  <a16:creationId xmlns:a16="http://schemas.microsoft.com/office/drawing/2014/main" xmlns="" id="{5C5642F9-1E34-BE30-3171-62BBE84909C4}"/>
                </a:ext>
              </a:extLst>
            </p:cNvPr>
            <p:cNvSpPr/>
            <p:nvPr/>
          </p:nvSpPr>
          <p:spPr>
            <a:xfrm>
              <a:off x="6390222" y="3123492"/>
              <a:ext cx="117772" cy="136309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204;g2545694553a_0_56">
              <a:extLst>
                <a:ext uri="{FF2B5EF4-FFF2-40B4-BE49-F238E27FC236}">
                  <a16:creationId xmlns:a16="http://schemas.microsoft.com/office/drawing/2014/main" xmlns="" id="{EAE3D0CA-6DFA-238C-1588-B25D1A3B0642}"/>
                </a:ext>
              </a:extLst>
            </p:cNvPr>
            <p:cNvSpPr/>
            <p:nvPr/>
          </p:nvSpPr>
          <p:spPr>
            <a:xfrm>
              <a:off x="6533228" y="3123492"/>
              <a:ext cx="123377" cy="188937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205;g2545694553a_0_56">
              <a:extLst>
                <a:ext uri="{FF2B5EF4-FFF2-40B4-BE49-F238E27FC236}">
                  <a16:creationId xmlns:a16="http://schemas.microsoft.com/office/drawing/2014/main" xmlns="" id="{7601B38D-7E28-0E5A-A25F-350279FFF96A}"/>
                </a:ext>
              </a:extLst>
            </p:cNvPr>
            <p:cNvSpPr/>
            <p:nvPr/>
          </p:nvSpPr>
          <p:spPr>
            <a:xfrm>
              <a:off x="6681844" y="3123492"/>
              <a:ext cx="123384" cy="141104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206;g2545694553a_0_56">
              <a:extLst>
                <a:ext uri="{FF2B5EF4-FFF2-40B4-BE49-F238E27FC236}">
                  <a16:creationId xmlns:a16="http://schemas.microsoft.com/office/drawing/2014/main" xmlns="" id="{CCFFC181-7881-DFEC-7E3F-6A5BEA75C36F}"/>
                </a:ext>
              </a:extLst>
            </p:cNvPr>
            <p:cNvSpPr/>
            <p:nvPr/>
          </p:nvSpPr>
          <p:spPr>
            <a:xfrm>
              <a:off x="5434038" y="2439527"/>
              <a:ext cx="19628" cy="825065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81" name="Google Shape;1213;g29f431bead4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6974" y="5885126"/>
            <a:ext cx="2070950" cy="44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1212;g29f431bead4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66" y="5559601"/>
            <a:ext cx="2118789" cy="1098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1211;g29f431bead4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880" y="5659120"/>
            <a:ext cx="1735028" cy="666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325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/>
              <a:t>Fondamentaux du </a:t>
            </a:r>
            <a:r>
              <a:rPr lang="fr-FR" sz="2800" b="1" dirty="0" err="1"/>
              <a:t>MoU</a:t>
            </a:r>
            <a:endParaRPr lang="fr-FR" sz="2800" b="1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Réalisations </a:t>
            </a:r>
            <a:r>
              <a:rPr lang="fr-FR" sz="2400" dirty="0" smtClean="0"/>
              <a:t>dans les provinces MoU </a:t>
            </a:r>
            <a:endParaRPr lang="fr-FR" sz="240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Extension du </a:t>
            </a:r>
            <a:r>
              <a:rPr lang="fr-FR" sz="2400" dirty="0" smtClean="0"/>
              <a:t>MoU dans les 3 autres provinces</a:t>
            </a:r>
            <a:endParaRPr lang="fr-FR" sz="240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CONTENU</a:t>
            </a:r>
          </a:p>
        </p:txBody>
      </p:sp>
    </p:spTree>
    <p:extLst>
      <p:ext uri="{BB962C8B-B14F-4D97-AF65-F5344CB8AC3E}">
        <p14:creationId xmlns:p14="http://schemas.microsoft.com/office/powerpoint/2010/main" val="308711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6D10C48-8165-A5A1-EA97-DF46D3F993F2}"/>
              </a:ext>
            </a:extLst>
          </p:cNvPr>
          <p:cNvSpPr txBox="1"/>
          <p:nvPr/>
        </p:nvSpPr>
        <p:spPr>
          <a:xfrm>
            <a:off x="364834" y="154606"/>
            <a:ext cx="11453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L’ordonnance-loi </a:t>
            </a:r>
            <a:r>
              <a:rPr kumimoji="0" lang="fr-FR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23/006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du 03 mars 2023 pose les bases pour l’alignement de tous à la CSU.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oogle Shape;104;g2485e4e86d2_0_94">
            <a:extLst>
              <a:ext uri="{FF2B5EF4-FFF2-40B4-BE49-F238E27FC236}">
                <a16:creationId xmlns:a16="http://schemas.microsoft.com/office/drawing/2014/main" xmlns="" id="{81E1FACC-BA13-D184-0404-521A4869E605}"/>
              </a:ext>
            </a:extLst>
          </p:cNvPr>
          <p:cNvGrpSpPr/>
          <p:nvPr/>
        </p:nvGrpSpPr>
        <p:grpSpPr>
          <a:xfrm>
            <a:off x="1436397" y="2970757"/>
            <a:ext cx="680224" cy="791144"/>
            <a:chOff x="-60988625" y="3740800"/>
            <a:chExt cx="316650" cy="310350"/>
          </a:xfrm>
          <a:solidFill>
            <a:schemeClr val="accent6"/>
          </a:solidFill>
        </p:grpSpPr>
        <p:sp>
          <p:nvSpPr>
            <p:cNvPr id="12" name="Google Shape;105;g2485e4e86d2_0_94">
              <a:extLst>
                <a:ext uri="{FF2B5EF4-FFF2-40B4-BE49-F238E27FC236}">
                  <a16:creationId xmlns:a16="http://schemas.microsoft.com/office/drawing/2014/main" xmlns="" id="{31AF322F-1B42-E93E-4842-5E831D7FE68D}"/>
                </a:ext>
              </a:extLst>
            </p:cNvPr>
            <p:cNvSpPr/>
            <p:nvPr/>
          </p:nvSpPr>
          <p:spPr>
            <a:xfrm>
              <a:off x="-60988625" y="3740800"/>
              <a:ext cx="311125" cy="310350"/>
            </a:xfrm>
            <a:custGeom>
              <a:avLst/>
              <a:gdLst/>
              <a:ahLst/>
              <a:cxnLst/>
              <a:rect l="l" t="t" r="r" b="b"/>
              <a:pathLst>
                <a:path w="12445" h="12414" extrusionOk="0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06;g2485e4e86d2_0_94">
              <a:extLst>
                <a:ext uri="{FF2B5EF4-FFF2-40B4-BE49-F238E27FC236}">
                  <a16:creationId xmlns:a16="http://schemas.microsoft.com/office/drawing/2014/main" xmlns="" id="{F01C99B3-1E10-D95F-7368-D4B1870B7834}"/>
                </a:ext>
              </a:extLst>
            </p:cNvPr>
            <p:cNvSpPr/>
            <p:nvPr/>
          </p:nvSpPr>
          <p:spPr>
            <a:xfrm>
              <a:off x="-60742100" y="3920375"/>
              <a:ext cx="68550" cy="55175"/>
            </a:xfrm>
            <a:custGeom>
              <a:avLst/>
              <a:gdLst/>
              <a:ahLst/>
              <a:cxnLst/>
              <a:rect l="l" t="t" r="r" b="b"/>
              <a:pathLst>
                <a:path w="2742" h="2207" extrusionOk="0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07;g2485e4e86d2_0_94">
              <a:extLst>
                <a:ext uri="{FF2B5EF4-FFF2-40B4-BE49-F238E27FC236}">
                  <a16:creationId xmlns:a16="http://schemas.microsoft.com/office/drawing/2014/main" xmlns="" id="{4DB7218D-F4DF-0256-FAAE-122DB9E9E8B4}"/>
                </a:ext>
              </a:extLst>
            </p:cNvPr>
            <p:cNvSpPr/>
            <p:nvPr/>
          </p:nvSpPr>
          <p:spPr>
            <a:xfrm>
              <a:off x="-60740525" y="3741600"/>
              <a:ext cx="68550" cy="158325"/>
            </a:xfrm>
            <a:custGeom>
              <a:avLst/>
              <a:gdLst/>
              <a:ahLst/>
              <a:cxnLst/>
              <a:rect l="l" t="t" r="r" b="b"/>
              <a:pathLst>
                <a:path w="2742" h="6333" extrusionOk="0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08;g2485e4e86d2_0_94">
            <a:extLst>
              <a:ext uri="{FF2B5EF4-FFF2-40B4-BE49-F238E27FC236}">
                <a16:creationId xmlns:a16="http://schemas.microsoft.com/office/drawing/2014/main" xmlns="" id="{8E1023A4-8C58-8F55-110F-9D27F2AFD165}"/>
              </a:ext>
            </a:extLst>
          </p:cNvPr>
          <p:cNvSpPr txBox="1"/>
          <p:nvPr/>
        </p:nvSpPr>
        <p:spPr>
          <a:xfrm>
            <a:off x="637496" y="4011377"/>
            <a:ext cx="2239500" cy="1431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Contrat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Unique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alignement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tous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les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bailleurs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fonds pour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une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réponse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commune aux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priorités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sanitaires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nationales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highlight>
                <a:srgbClr val="FFFFFF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7" name="Google Shape;110;g2485e4e86d2_0_94">
            <a:extLst>
              <a:ext uri="{FF2B5EF4-FFF2-40B4-BE49-F238E27FC236}">
                <a16:creationId xmlns:a16="http://schemas.microsoft.com/office/drawing/2014/main" xmlns="" id="{8856646A-1387-C4FF-EAA5-ACA336A4F187}"/>
              </a:ext>
            </a:extLst>
          </p:cNvPr>
          <p:cNvSpPr txBox="1"/>
          <p:nvPr/>
        </p:nvSpPr>
        <p:spPr>
          <a:xfrm>
            <a:off x="3159095" y="4011636"/>
            <a:ext cx="2739900" cy="1431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MoU Vaccination 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highlight>
                <a:srgbClr val="FFFFFF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Panier commun des gouvernements provinciaux et  la fondation BMG, initialement piloté pour le programme de vaccination.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highlight>
                <a:srgbClr val="FFFFFF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18" name="Google Shape;111;g2485e4e86d2_0_94">
            <a:extLst>
              <a:ext uri="{FF2B5EF4-FFF2-40B4-BE49-F238E27FC236}">
                <a16:creationId xmlns:a16="http://schemas.microsoft.com/office/drawing/2014/main" xmlns="" id="{F8C4AE48-B5BE-EF48-6CB3-2FF05F932B0A}"/>
              </a:ext>
            </a:extLst>
          </p:cNvPr>
          <p:cNvGrpSpPr/>
          <p:nvPr/>
        </p:nvGrpSpPr>
        <p:grpSpPr>
          <a:xfrm>
            <a:off x="9654990" y="2907468"/>
            <a:ext cx="914400" cy="812383"/>
            <a:chOff x="-5971525" y="3273750"/>
            <a:chExt cx="292250" cy="290650"/>
          </a:xfrm>
          <a:solidFill>
            <a:schemeClr val="accent6"/>
          </a:solidFill>
        </p:grpSpPr>
        <p:sp>
          <p:nvSpPr>
            <p:cNvPr id="19" name="Google Shape;112;g2485e4e86d2_0_94">
              <a:extLst>
                <a:ext uri="{FF2B5EF4-FFF2-40B4-BE49-F238E27FC236}">
                  <a16:creationId xmlns:a16="http://schemas.microsoft.com/office/drawing/2014/main" xmlns="" id="{56611747-5A69-9611-3138-416D0B39E3CD}"/>
                </a:ext>
              </a:extLst>
            </p:cNvPr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13;g2485e4e86d2_0_94">
              <a:extLst>
                <a:ext uri="{FF2B5EF4-FFF2-40B4-BE49-F238E27FC236}">
                  <a16:creationId xmlns:a16="http://schemas.microsoft.com/office/drawing/2014/main" xmlns="" id="{2A026E13-D013-E8F1-B2D7-82F7452EEB9D}"/>
                </a:ext>
              </a:extLst>
            </p:cNvPr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6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114;g2485e4e86d2_0_94">
            <a:extLst>
              <a:ext uri="{FF2B5EF4-FFF2-40B4-BE49-F238E27FC236}">
                <a16:creationId xmlns:a16="http://schemas.microsoft.com/office/drawing/2014/main" xmlns="" id="{6A911688-CB2F-A269-DAE8-D0F49FFEF538}"/>
              </a:ext>
            </a:extLst>
          </p:cNvPr>
          <p:cNvSpPr txBox="1"/>
          <p:nvPr/>
        </p:nvSpPr>
        <p:spPr>
          <a:xfrm>
            <a:off x="8814604" y="4019561"/>
            <a:ext cx="2739900" cy="1431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Vers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une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CSU </a:t>
            </a: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basée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sur un </a:t>
            </a: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Mécanisme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Financement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GB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Commun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pour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une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mobilisation, mutualisation et rationalisation des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ressources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par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l’alignement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tous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highlight>
                <a:srgbClr val="FFFFFF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2" name="Google Shape;115;g2485e4e86d2_0_94">
            <a:extLst>
              <a:ext uri="{FF2B5EF4-FFF2-40B4-BE49-F238E27FC236}">
                <a16:creationId xmlns:a16="http://schemas.microsoft.com/office/drawing/2014/main" xmlns="" id="{F4A62C45-25F0-8A09-4FE7-86071E874EF3}"/>
              </a:ext>
            </a:extLst>
          </p:cNvPr>
          <p:cNvSpPr/>
          <p:nvPr/>
        </p:nvSpPr>
        <p:spPr>
          <a:xfrm>
            <a:off x="2903423" y="2976800"/>
            <a:ext cx="347061" cy="791144"/>
          </a:xfrm>
          <a:prstGeom prst="chevron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116;g2485e4e86d2_0_94">
            <a:extLst>
              <a:ext uri="{FF2B5EF4-FFF2-40B4-BE49-F238E27FC236}">
                <a16:creationId xmlns:a16="http://schemas.microsoft.com/office/drawing/2014/main" xmlns="" id="{9101885A-E124-CD8F-0BBB-0920BD7CDEE5}"/>
              </a:ext>
            </a:extLst>
          </p:cNvPr>
          <p:cNvSpPr/>
          <p:nvPr/>
        </p:nvSpPr>
        <p:spPr>
          <a:xfrm>
            <a:off x="5682150" y="2991839"/>
            <a:ext cx="347061" cy="791144"/>
          </a:xfrm>
          <a:prstGeom prst="chevron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17;g2485e4e86d2_0_94">
            <a:extLst>
              <a:ext uri="{FF2B5EF4-FFF2-40B4-BE49-F238E27FC236}">
                <a16:creationId xmlns:a16="http://schemas.microsoft.com/office/drawing/2014/main" xmlns="" id="{B85C8F32-4A5C-5333-2BAA-3D2F0CC3F7F3}"/>
              </a:ext>
            </a:extLst>
          </p:cNvPr>
          <p:cNvSpPr txBox="1"/>
          <p:nvPr/>
        </p:nvSpPr>
        <p:spPr>
          <a:xfrm>
            <a:off x="1239446" y="2277787"/>
            <a:ext cx="10356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2014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5" name="Google Shape;118;g2485e4e86d2_0_94">
            <a:extLst>
              <a:ext uri="{FF2B5EF4-FFF2-40B4-BE49-F238E27FC236}">
                <a16:creationId xmlns:a16="http://schemas.microsoft.com/office/drawing/2014/main" xmlns="" id="{AD780C80-8040-D963-D164-A0DBF365768C}"/>
              </a:ext>
            </a:extLst>
          </p:cNvPr>
          <p:cNvSpPr txBox="1"/>
          <p:nvPr/>
        </p:nvSpPr>
        <p:spPr>
          <a:xfrm>
            <a:off x="4067133" y="2251712"/>
            <a:ext cx="10356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2018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6" name="Google Shape;119;g2485e4e86d2_0_94">
            <a:extLst>
              <a:ext uri="{FF2B5EF4-FFF2-40B4-BE49-F238E27FC236}">
                <a16:creationId xmlns:a16="http://schemas.microsoft.com/office/drawing/2014/main" xmlns="" id="{7ECF152C-BBAB-2A97-165C-D53C16039E29}"/>
              </a:ext>
            </a:extLst>
          </p:cNvPr>
          <p:cNvSpPr txBox="1"/>
          <p:nvPr/>
        </p:nvSpPr>
        <p:spPr>
          <a:xfrm>
            <a:off x="9717822" y="2225521"/>
            <a:ext cx="10356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2024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1" name="Google Shape;119;g2485e4e86d2_0_94">
            <a:extLst>
              <a:ext uri="{FF2B5EF4-FFF2-40B4-BE49-F238E27FC236}">
                <a16:creationId xmlns:a16="http://schemas.microsoft.com/office/drawing/2014/main" xmlns="" id="{6B574D4C-C5D1-790F-02B7-FC9837D171AA}"/>
              </a:ext>
            </a:extLst>
          </p:cNvPr>
          <p:cNvSpPr txBox="1"/>
          <p:nvPr/>
        </p:nvSpPr>
        <p:spPr>
          <a:xfrm>
            <a:off x="6526107" y="2206400"/>
            <a:ext cx="10356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2023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2" name="Google Shape;116;g2485e4e86d2_0_94">
            <a:extLst>
              <a:ext uri="{FF2B5EF4-FFF2-40B4-BE49-F238E27FC236}">
                <a16:creationId xmlns:a16="http://schemas.microsoft.com/office/drawing/2014/main" xmlns="" id="{DBA0991C-B25E-A4EA-67B7-22693477FA69}"/>
              </a:ext>
            </a:extLst>
          </p:cNvPr>
          <p:cNvSpPr/>
          <p:nvPr/>
        </p:nvSpPr>
        <p:spPr>
          <a:xfrm>
            <a:off x="8525897" y="2991839"/>
            <a:ext cx="347061" cy="791144"/>
          </a:xfrm>
          <a:prstGeom prst="chevron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FF44996C-4665-C397-B825-31EC57E852DC}"/>
              </a:ext>
            </a:extLst>
          </p:cNvPr>
          <p:cNvSpPr txBox="1"/>
          <p:nvPr/>
        </p:nvSpPr>
        <p:spPr>
          <a:xfrm>
            <a:off x="5926930" y="4019561"/>
            <a:ext cx="25377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MoU SSP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Extension du Panier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Commun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à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d’autres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bailleurs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des fonds pour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renforcer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les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soins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de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santé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primaire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F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xmlns="" id="{2CBBE65B-53E4-9859-4767-36C4FDAF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18277-A96F-1445-97F7-FE2A0C8C53DC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xmlns="" id="{1A6957BA-EB46-81C1-7BC4-31BF68E8F53E}"/>
              </a:ext>
            </a:extLst>
          </p:cNvPr>
          <p:cNvSpPr/>
          <p:nvPr/>
        </p:nvSpPr>
        <p:spPr>
          <a:xfrm>
            <a:off x="505581" y="1188267"/>
            <a:ext cx="10620969" cy="101989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D" sz="1700" b="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 principe d’alignement initié par le Contrat Unique avec  le « Panier commun virtuel » par la suite matérialisé en « Panier commun tangible » par le biais du Mécanisme de gestion des financements communs (MoU), </a:t>
            </a:r>
            <a:r>
              <a:rPr kumimoji="0" lang="fr-FR" sz="1700" b="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pose ainsi les bases de la synergie du financement de la CSU.</a:t>
            </a:r>
          </a:p>
        </p:txBody>
      </p:sp>
      <p:pic>
        <p:nvPicPr>
          <p:cNvPr id="36" name="Graphique 35" descr="Poignée de main avec un remplissage uni">
            <a:extLst>
              <a:ext uri="{FF2B5EF4-FFF2-40B4-BE49-F238E27FC236}">
                <a16:creationId xmlns:a16="http://schemas.microsoft.com/office/drawing/2014/main" xmlns="" id="{A856F859-AC60-A5B1-EA17-9CE098E7E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1845" y="2863644"/>
            <a:ext cx="914400" cy="914400"/>
          </a:xfrm>
          <a:prstGeom prst="rect">
            <a:avLst/>
          </a:prstGeom>
        </p:spPr>
      </p:pic>
      <p:pic>
        <p:nvPicPr>
          <p:cNvPr id="38" name="Graphique 37" descr="Contrat avec un remplissage uni">
            <a:extLst>
              <a:ext uri="{FF2B5EF4-FFF2-40B4-BE49-F238E27FC236}">
                <a16:creationId xmlns:a16="http://schemas.microsoft.com/office/drawing/2014/main" xmlns="" id="{89AFFA9D-54BE-558C-2CC4-371A41415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6707" y="2866405"/>
            <a:ext cx="914400" cy="914400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xmlns="" id="{88E81A81-A3CC-E02B-FAB5-2995B46B615A}"/>
              </a:ext>
            </a:extLst>
          </p:cNvPr>
          <p:cNvSpPr txBox="1"/>
          <p:nvPr/>
        </p:nvSpPr>
        <p:spPr>
          <a:xfrm>
            <a:off x="762364" y="5704848"/>
            <a:ext cx="7645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Les signataires du Contrat Unique qui sont impliqués dans les </a:t>
            </a:r>
            <a:r>
              <a:rPr kumimoji="0" lang="fr-FR" sz="1200" b="0" i="1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MoUs</a:t>
            </a: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maintiennent leurs engagements initiaux, matérialisés via le compte du Panier Commun </a:t>
            </a:r>
            <a:r>
              <a:rPr kumimoji="0" lang="fr-FR" sz="1200" b="0" i="1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MoU</a:t>
            </a:r>
            <a:r>
              <a:rPr kumimoji="0" lang="fr-FR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" name="Google Shape;745;p65">
            <a:extLst>
              <a:ext uri="{FF2B5EF4-FFF2-40B4-BE49-F238E27FC236}">
                <a16:creationId xmlns:a16="http://schemas.microsoft.com/office/drawing/2014/main" xmlns="" id="{B4250005-BC36-C473-DF42-6357FF5B5493}"/>
              </a:ext>
            </a:extLst>
          </p:cNvPr>
          <p:cNvSpPr/>
          <p:nvPr/>
        </p:nvSpPr>
        <p:spPr>
          <a:xfrm rot="10800000" flipH="1" flipV="1">
            <a:off x="-2923" y="6418899"/>
            <a:ext cx="12189300" cy="103729"/>
          </a:xfrm>
          <a:prstGeom prst="rect">
            <a:avLst/>
          </a:prstGeom>
          <a:solidFill>
            <a:srgbClr val="00B0F0">
              <a:alpha val="7843"/>
            </a:srgbClr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43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545694553a_0_20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fld id="{00000000-1234-1234-1234-123412341234}" type="slidenum"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  <a:tabLst/>
                <a:defRPr/>
              </a:pPr>
              <a:t>4</a:t>
            </a:fld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1" name="Google Shape;211;g2545694553a_0_205"/>
          <p:cNvSpPr txBox="1">
            <a:spLocks noGrp="1"/>
          </p:cNvSpPr>
          <p:nvPr>
            <p:ph type="title"/>
          </p:nvPr>
        </p:nvSpPr>
        <p:spPr>
          <a:xfrm>
            <a:off x="433949" y="147006"/>
            <a:ext cx="11106000" cy="9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779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 MoU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GB" sz="2300" dirty="0">
                <a:solidFill>
                  <a:srgbClr val="0070C0"/>
                </a:solidFill>
              </a:rPr>
              <a:t>entente 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entre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province et un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plusieurs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donateurs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dans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laquel</a:t>
            </a:r>
            <a:r>
              <a:rPr lang="en-GB" sz="2300" dirty="0" err="1"/>
              <a:t>le</a:t>
            </a:r>
            <a:r>
              <a:rPr lang="en-GB" sz="2300" dirty="0"/>
              <a:t> 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les fonds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alloués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à un programme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sont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mis dans un panier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commun</a:t>
            </a:r>
            <a:r>
              <a:rPr lang="en-GB" sz="2300" dirty="0"/>
              <a:t>.</a:t>
            </a:r>
            <a:endParaRPr sz="2300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g2545694553a_0_205"/>
          <p:cNvGrpSpPr/>
          <p:nvPr/>
        </p:nvGrpSpPr>
        <p:grpSpPr>
          <a:xfrm>
            <a:off x="3354171" y="1453576"/>
            <a:ext cx="8419587" cy="2792158"/>
            <a:chOff x="1906435" y="1453607"/>
            <a:chExt cx="7648608" cy="2033618"/>
          </a:xfrm>
        </p:grpSpPr>
        <p:pic>
          <p:nvPicPr>
            <p:cNvPr id="215" name="Google Shape;215;g2545694553a_0_205" title="Chart"/>
            <p:cNvPicPr preferRelativeResize="0"/>
            <p:nvPr/>
          </p:nvPicPr>
          <p:blipFill rotWithShape="1">
            <a:blip r:embed="rId3">
              <a:alphaModFix/>
            </a:blip>
            <a:srcRect l="13186" r="7567"/>
            <a:stretch/>
          </p:blipFill>
          <p:spPr>
            <a:xfrm>
              <a:off x="2048525" y="1587675"/>
              <a:ext cx="3342901" cy="1899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g2545694553a_0_205" title="Chart"/>
            <p:cNvPicPr preferRelativeResize="0"/>
            <p:nvPr/>
          </p:nvPicPr>
          <p:blipFill rotWithShape="1">
            <a:blip r:embed="rId4">
              <a:alphaModFix/>
            </a:blip>
            <a:srcRect l="13804" r="6948"/>
            <a:stretch/>
          </p:blipFill>
          <p:spPr>
            <a:xfrm>
              <a:off x="5825375" y="1587674"/>
              <a:ext cx="3342901" cy="189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g2545694553a_0_205"/>
            <p:cNvSpPr txBox="1"/>
            <p:nvPr/>
          </p:nvSpPr>
          <p:spPr>
            <a:xfrm>
              <a:off x="1906435" y="1453607"/>
              <a:ext cx="38817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000" tIns="91425" rIns="54000" bIns="91425" anchor="ctr" anchorCtr="0">
              <a:noAutofit/>
            </a:bodyPr>
            <a:lstStyle/>
            <a:p>
              <a:pPr marL="0" marR="91440" lvl="0" indent="0" algn="ctr" defTabSz="914400" rtl="0" eaLnBrk="1" fontAlgn="auto" latinLnBrk="0" hangingPunct="1">
                <a:lnSpc>
                  <a:spcPct val="120000"/>
                </a:lnSpc>
                <a:spcBef>
                  <a:spcPts val="2500"/>
                </a:spcBef>
                <a:spcAft>
                  <a:spcPts val="25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Diminution progressive des contributions des bailleurs</a:t>
              </a:r>
              <a:endParaRPr kumimoji="0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g2545694553a_0_205"/>
            <p:cNvCxnSpPr/>
            <p:nvPr/>
          </p:nvCxnSpPr>
          <p:spPr>
            <a:xfrm>
              <a:off x="2048538" y="1664535"/>
              <a:ext cx="3456900" cy="15600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9" name="Google Shape;219;g2545694553a_0_205"/>
            <p:cNvSpPr txBox="1"/>
            <p:nvPr/>
          </p:nvSpPr>
          <p:spPr>
            <a:xfrm>
              <a:off x="5673343" y="1453607"/>
              <a:ext cx="38817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000" tIns="91425" rIns="54000" bIns="91425" anchor="ctr" anchorCtr="0">
              <a:noAutofit/>
            </a:bodyPr>
            <a:lstStyle/>
            <a:p>
              <a:pPr marL="0" marR="91440" lvl="0" indent="0" algn="ctr" defTabSz="914400" rtl="0" eaLnBrk="1" fontAlgn="auto" latinLnBrk="0" hangingPunct="1">
                <a:lnSpc>
                  <a:spcPct val="120000"/>
                </a:lnSpc>
                <a:spcBef>
                  <a:spcPts val="2500"/>
                </a:spcBef>
                <a:spcAft>
                  <a:spcPts val="2500"/>
                </a:spcAft>
                <a:buClr>
                  <a:srgbClr val="000000"/>
                </a:buClr>
                <a:buSzPts val="1000"/>
                <a:buFont typeface="Arial"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Augmentation progressive des contribution de la province</a:t>
              </a:r>
              <a:endParaRPr kumimoji="0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g2545694553a_0_205"/>
            <p:cNvCxnSpPr/>
            <p:nvPr/>
          </p:nvCxnSpPr>
          <p:spPr>
            <a:xfrm>
              <a:off x="5885744" y="1664535"/>
              <a:ext cx="3456900" cy="15600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1" name="Google Shape;221;g2545694553a_0_205"/>
          <p:cNvSpPr txBox="1"/>
          <p:nvPr/>
        </p:nvSpPr>
        <p:spPr>
          <a:xfrm>
            <a:off x="458649" y="2489650"/>
            <a:ext cx="2408700" cy="72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54000" anchor="ctr" anchorCtr="0">
            <a:noAutofit/>
          </a:bodyPr>
          <a:lstStyle/>
          <a:p>
            <a:pPr marL="0" marR="91440" lvl="0" indent="0" algn="ctr" defTabSz="914400" rtl="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Mise à disposition des fonds dans un compte bancaire domicilié en province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545694553a_0_205"/>
          <p:cNvSpPr txBox="1"/>
          <p:nvPr/>
        </p:nvSpPr>
        <p:spPr>
          <a:xfrm>
            <a:off x="458649" y="5211725"/>
            <a:ext cx="2408700" cy="720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54000" anchor="ctr" anchorCtr="0">
            <a:noAutofit/>
          </a:bodyPr>
          <a:lstStyle/>
          <a:p>
            <a:pPr marL="0" marR="91440" lvl="0" indent="0" algn="ctr" defTabSz="914400" rtl="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Augmentation du niveau de financement provincial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545694553a_0_205"/>
          <p:cNvSpPr txBox="1"/>
          <p:nvPr/>
        </p:nvSpPr>
        <p:spPr>
          <a:xfrm>
            <a:off x="4911849" y="5211725"/>
            <a:ext cx="2408700" cy="720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54000" anchor="ctr" anchorCtr="0">
            <a:noAutofit/>
          </a:bodyPr>
          <a:lstStyle/>
          <a:p>
            <a:pPr marL="0" marR="91440" lvl="0" indent="0" algn="ctr" defTabSz="914400" rtl="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Responsabilisation et autonomisation des provinces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2545694553a_0_205"/>
          <p:cNvSpPr txBox="1"/>
          <p:nvPr/>
        </p:nvSpPr>
        <p:spPr>
          <a:xfrm>
            <a:off x="9365049" y="5211725"/>
            <a:ext cx="2408700" cy="7200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54000" anchor="ctr" anchorCtr="0">
            <a:noAutofit/>
          </a:bodyPr>
          <a:lstStyle/>
          <a:p>
            <a:pPr marL="0" marR="91440" lvl="0" indent="0" algn="ctr" defTabSz="914400" rtl="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Optimisation de </a:t>
            </a:r>
            <a:r>
              <a:rPr kumimoji="0" lang="en-GB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l’impact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kumimoji="0" lang="en-GB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l’investissement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dans la </a:t>
            </a:r>
            <a:r>
              <a:rPr kumimoji="0" lang="en-GB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Santé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g2545694553a_0_205"/>
          <p:cNvGrpSpPr/>
          <p:nvPr/>
        </p:nvGrpSpPr>
        <p:grpSpPr>
          <a:xfrm>
            <a:off x="1552158" y="4705322"/>
            <a:ext cx="480004" cy="430191"/>
            <a:chOff x="-62511900" y="4129100"/>
            <a:chExt cx="304050" cy="282000"/>
          </a:xfrm>
        </p:grpSpPr>
        <p:sp>
          <p:nvSpPr>
            <p:cNvPr id="226" name="Google Shape;226;g2545694553a_0_205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2545694553a_0_205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2545694553a_0_205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2545694553a_0_205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2545694553a_0_205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g2545694553a_0_205"/>
          <p:cNvGrpSpPr/>
          <p:nvPr/>
        </p:nvGrpSpPr>
        <p:grpSpPr>
          <a:xfrm>
            <a:off x="6058458" y="4705332"/>
            <a:ext cx="373782" cy="430183"/>
            <a:chOff x="3235022" y="4048588"/>
            <a:chExt cx="322504" cy="361346"/>
          </a:xfrm>
        </p:grpSpPr>
        <p:sp>
          <p:nvSpPr>
            <p:cNvPr id="232" name="Google Shape;232;g2545694553a_0_205"/>
            <p:cNvSpPr/>
            <p:nvPr/>
          </p:nvSpPr>
          <p:spPr>
            <a:xfrm>
              <a:off x="3235022" y="4276583"/>
              <a:ext cx="322504" cy="133351"/>
            </a:xfrm>
            <a:custGeom>
              <a:avLst/>
              <a:gdLst/>
              <a:ahLst/>
              <a:cxnLst/>
              <a:rect l="l" t="t" r="r" b="b"/>
              <a:pathLst>
                <a:path w="9432" h="3900" extrusionOk="0">
                  <a:moveTo>
                    <a:pt x="3073" y="0"/>
                  </a:moveTo>
                  <a:cubicBezTo>
                    <a:pt x="2549" y="0"/>
                    <a:pt x="2049" y="214"/>
                    <a:pt x="1692" y="572"/>
                  </a:cubicBezTo>
                  <a:lnTo>
                    <a:pt x="96" y="2143"/>
                  </a:lnTo>
                  <a:cubicBezTo>
                    <a:pt x="25" y="2215"/>
                    <a:pt x="1" y="2310"/>
                    <a:pt x="25" y="2405"/>
                  </a:cubicBezTo>
                  <a:cubicBezTo>
                    <a:pt x="25" y="2501"/>
                    <a:pt x="96" y="2596"/>
                    <a:pt x="167" y="2643"/>
                  </a:cubicBezTo>
                  <a:lnTo>
                    <a:pt x="2454" y="3858"/>
                  </a:lnTo>
                  <a:cubicBezTo>
                    <a:pt x="2501" y="3886"/>
                    <a:pt x="2551" y="3900"/>
                    <a:pt x="2601" y="3900"/>
                  </a:cubicBezTo>
                  <a:cubicBezTo>
                    <a:pt x="2678" y="3900"/>
                    <a:pt x="2753" y="3868"/>
                    <a:pt x="2811" y="3810"/>
                  </a:cubicBezTo>
                  <a:lnTo>
                    <a:pt x="3382" y="3239"/>
                  </a:lnTo>
                  <a:cubicBezTo>
                    <a:pt x="3478" y="3144"/>
                    <a:pt x="3621" y="3096"/>
                    <a:pt x="3740" y="3096"/>
                  </a:cubicBezTo>
                  <a:lnTo>
                    <a:pt x="6050" y="3096"/>
                  </a:lnTo>
                  <a:cubicBezTo>
                    <a:pt x="6312" y="3096"/>
                    <a:pt x="6574" y="3025"/>
                    <a:pt x="6812" y="2882"/>
                  </a:cubicBezTo>
                  <a:lnTo>
                    <a:pt x="8907" y="1691"/>
                  </a:lnTo>
                  <a:cubicBezTo>
                    <a:pt x="9312" y="1453"/>
                    <a:pt x="9431" y="881"/>
                    <a:pt x="9122" y="500"/>
                  </a:cubicBezTo>
                  <a:lnTo>
                    <a:pt x="9122" y="476"/>
                  </a:lnTo>
                  <a:cubicBezTo>
                    <a:pt x="8957" y="281"/>
                    <a:pt x="8725" y="181"/>
                    <a:pt x="8493" y="181"/>
                  </a:cubicBezTo>
                  <a:cubicBezTo>
                    <a:pt x="8357" y="181"/>
                    <a:pt x="8221" y="215"/>
                    <a:pt x="8098" y="286"/>
                  </a:cubicBezTo>
                  <a:lnTo>
                    <a:pt x="6407" y="1262"/>
                  </a:lnTo>
                  <a:cubicBezTo>
                    <a:pt x="6192" y="1810"/>
                    <a:pt x="5692" y="2167"/>
                    <a:pt x="5121" y="2167"/>
                  </a:cubicBezTo>
                  <a:lnTo>
                    <a:pt x="3906" y="2167"/>
                  </a:lnTo>
                  <a:cubicBezTo>
                    <a:pt x="3501" y="2167"/>
                    <a:pt x="3501" y="1548"/>
                    <a:pt x="3906" y="1548"/>
                  </a:cubicBezTo>
                  <a:lnTo>
                    <a:pt x="5121" y="1548"/>
                  </a:lnTo>
                  <a:cubicBezTo>
                    <a:pt x="6073" y="1477"/>
                    <a:pt x="6073" y="72"/>
                    <a:pt x="5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2545694553a_0_205"/>
            <p:cNvSpPr/>
            <p:nvPr/>
          </p:nvSpPr>
          <p:spPr>
            <a:xfrm>
              <a:off x="3292020" y="4048588"/>
              <a:ext cx="203616" cy="203582"/>
            </a:xfrm>
            <a:custGeom>
              <a:avLst/>
              <a:gdLst/>
              <a:ahLst/>
              <a:cxnLst/>
              <a:rect l="l" t="t" r="r" b="b"/>
              <a:pathLst>
                <a:path w="5955" h="5954" extrusionOk="0">
                  <a:moveTo>
                    <a:pt x="2978" y="1953"/>
                  </a:moveTo>
                  <a:cubicBezTo>
                    <a:pt x="4287" y="2024"/>
                    <a:pt x="4287" y="3953"/>
                    <a:pt x="2978" y="4025"/>
                  </a:cubicBezTo>
                  <a:cubicBezTo>
                    <a:pt x="1668" y="3953"/>
                    <a:pt x="1668" y="2024"/>
                    <a:pt x="2978" y="1953"/>
                  </a:cubicBezTo>
                  <a:close/>
                  <a:moveTo>
                    <a:pt x="2573" y="0"/>
                  </a:moveTo>
                  <a:cubicBezTo>
                    <a:pt x="2406" y="0"/>
                    <a:pt x="2263" y="119"/>
                    <a:pt x="2263" y="286"/>
                  </a:cubicBezTo>
                  <a:lnTo>
                    <a:pt x="2263" y="381"/>
                  </a:lnTo>
                  <a:cubicBezTo>
                    <a:pt x="2073" y="453"/>
                    <a:pt x="1858" y="524"/>
                    <a:pt x="1668" y="643"/>
                  </a:cubicBezTo>
                  <a:lnTo>
                    <a:pt x="1596" y="572"/>
                  </a:lnTo>
                  <a:cubicBezTo>
                    <a:pt x="1549" y="500"/>
                    <a:pt x="1477" y="476"/>
                    <a:pt x="1382" y="476"/>
                  </a:cubicBezTo>
                  <a:cubicBezTo>
                    <a:pt x="1311" y="476"/>
                    <a:pt x="1215" y="500"/>
                    <a:pt x="1168" y="572"/>
                  </a:cubicBezTo>
                  <a:lnTo>
                    <a:pt x="572" y="1167"/>
                  </a:lnTo>
                  <a:cubicBezTo>
                    <a:pt x="525" y="1215"/>
                    <a:pt x="477" y="1286"/>
                    <a:pt x="477" y="1381"/>
                  </a:cubicBezTo>
                  <a:cubicBezTo>
                    <a:pt x="477" y="1453"/>
                    <a:pt x="525" y="1548"/>
                    <a:pt x="572" y="1596"/>
                  </a:cubicBezTo>
                  <a:lnTo>
                    <a:pt x="644" y="1667"/>
                  </a:lnTo>
                  <a:cubicBezTo>
                    <a:pt x="548" y="1858"/>
                    <a:pt x="453" y="2048"/>
                    <a:pt x="406" y="2262"/>
                  </a:cubicBezTo>
                  <a:lnTo>
                    <a:pt x="310" y="2262"/>
                  </a:lnTo>
                  <a:cubicBezTo>
                    <a:pt x="144" y="2262"/>
                    <a:pt x="1" y="2405"/>
                    <a:pt x="1" y="2572"/>
                  </a:cubicBezTo>
                  <a:lnTo>
                    <a:pt x="1" y="3382"/>
                  </a:lnTo>
                  <a:cubicBezTo>
                    <a:pt x="1" y="3548"/>
                    <a:pt x="144" y="3691"/>
                    <a:pt x="310" y="3691"/>
                  </a:cubicBezTo>
                  <a:lnTo>
                    <a:pt x="406" y="3691"/>
                  </a:lnTo>
                  <a:cubicBezTo>
                    <a:pt x="453" y="3882"/>
                    <a:pt x="525" y="4096"/>
                    <a:pt x="644" y="4287"/>
                  </a:cubicBezTo>
                  <a:lnTo>
                    <a:pt x="572" y="4358"/>
                  </a:lnTo>
                  <a:cubicBezTo>
                    <a:pt x="453" y="4477"/>
                    <a:pt x="453" y="4668"/>
                    <a:pt x="572" y="4787"/>
                  </a:cubicBezTo>
                  <a:lnTo>
                    <a:pt x="1168" y="5382"/>
                  </a:lnTo>
                  <a:cubicBezTo>
                    <a:pt x="1227" y="5442"/>
                    <a:pt x="1305" y="5471"/>
                    <a:pt x="1382" y="5471"/>
                  </a:cubicBezTo>
                  <a:cubicBezTo>
                    <a:pt x="1459" y="5471"/>
                    <a:pt x="1537" y="5442"/>
                    <a:pt x="1596" y="5382"/>
                  </a:cubicBezTo>
                  <a:lnTo>
                    <a:pt x="1668" y="5311"/>
                  </a:lnTo>
                  <a:cubicBezTo>
                    <a:pt x="1858" y="5406"/>
                    <a:pt x="2073" y="5501"/>
                    <a:pt x="2263" y="5549"/>
                  </a:cubicBezTo>
                  <a:lnTo>
                    <a:pt x="2263" y="5644"/>
                  </a:lnTo>
                  <a:cubicBezTo>
                    <a:pt x="2263" y="5811"/>
                    <a:pt x="2406" y="5954"/>
                    <a:pt x="2573" y="5954"/>
                  </a:cubicBezTo>
                  <a:lnTo>
                    <a:pt x="3382" y="5954"/>
                  </a:lnTo>
                  <a:cubicBezTo>
                    <a:pt x="3549" y="5954"/>
                    <a:pt x="3692" y="5811"/>
                    <a:pt x="3692" y="5644"/>
                  </a:cubicBezTo>
                  <a:lnTo>
                    <a:pt x="3692" y="5549"/>
                  </a:lnTo>
                  <a:cubicBezTo>
                    <a:pt x="3882" y="5501"/>
                    <a:pt x="4097" y="5406"/>
                    <a:pt x="4287" y="5311"/>
                  </a:cubicBezTo>
                  <a:lnTo>
                    <a:pt x="4359" y="5382"/>
                  </a:lnTo>
                  <a:cubicBezTo>
                    <a:pt x="4406" y="5430"/>
                    <a:pt x="4478" y="5477"/>
                    <a:pt x="4573" y="5477"/>
                  </a:cubicBezTo>
                  <a:cubicBezTo>
                    <a:pt x="4645" y="5477"/>
                    <a:pt x="4740" y="5430"/>
                    <a:pt x="4787" y="5382"/>
                  </a:cubicBezTo>
                  <a:lnTo>
                    <a:pt x="5383" y="4787"/>
                  </a:lnTo>
                  <a:cubicBezTo>
                    <a:pt x="5502" y="4668"/>
                    <a:pt x="5502" y="4477"/>
                    <a:pt x="5383" y="4358"/>
                  </a:cubicBezTo>
                  <a:lnTo>
                    <a:pt x="5311" y="4287"/>
                  </a:lnTo>
                  <a:cubicBezTo>
                    <a:pt x="5430" y="4096"/>
                    <a:pt x="5502" y="3882"/>
                    <a:pt x="5550" y="3691"/>
                  </a:cubicBezTo>
                  <a:lnTo>
                    <a:pt x="5669" y="3691"/>
                  </a:lnTo>
                  <a:cubicBezTo>
                    <a:pt x="5811" y="3691"/>
                    <a:pt x="5954" y="3548"/>
                    <a:pt x="5954" y="3382"/>
                  </a:cubicBezTo>
                  <a:lnTo>
                    <a:pt x="5954" y="2572"/>
                  </a:lnTo>
                  <a:cubicBezTo>
                    <a:pt x="5954" y="2405"/>
                    <a:pt x="5811" y="2262"/>
                    <a:pt x="5669" y="2262"/>
                  </a:cubicBezTo>
                  <a:lnTo>
                    <a:pt x="5550" y="2262"/>
                  </a:lnTo>
                  <a:cubicBezTo>
                    <a:pt x="5502" y="2048"/>
                    <a:pt x="5407" y="1858"/>
                    <a:pt x="5311" y="1667"/>
                  </a:cubicBezTo>
                  <a:lnTo>
                    <a:pt x="5383" y="1596"/>
                  </a:lnTo>
                  <a:cubicBezTo>
                    <a:pt x="5430" y="1548"/>
                    <a:pt x="5478" y="1453"/>
                    <a:pt x="5478" y="1381"/>
                  </a:cubicBezTo>
                  <a:cubicBezTo>
                    <a:pt x="5478" y="1286"/>
                    <a:pt x="5430" y="1215"/>
                    <a:pt x="5383" y="1167"/>
                  </a:cubicBezTo>
                  <a:lnTo>
                    <a:pt x="4787" y="572"/>
                  </a:lnTo>
                  <a:cubicBezTo>
                    <a:pt x="4728" y="500"/>
                    <a:pt x="4651" y="464"/>
                    <a:pt x="4573" y="464"/>
                  </a:cubicBezTo>
                  <a:cubicBezTo>
                    <a:pt x="4496" y="464"/>
                    <a:pt x="4418" y="500"/>
                    <a:pt x="4359" y="572"/>
                  </a:cubicBezTo>
                  <a:lnTo>
                    <a:pt x="4287" y="643"/>
                  </a:lnTo>
                  <a:cubicBezTo>
                    <a:pt x="4097" y="524"/>
                    <a:pt x="3882" y="453"/>
                    <a:pt x="3692" y="381"/>
                  </a:cubicBezTo>
                  <a:lnTo>
                    <a:pt x="3692" y="286"/>
                  </a:lnTo>
                  <a:cubicBezTo>
                    <a:pt x="3692" y="119"/>
                    <a:pt x="3549" y="0"/>
                    <a:pt x="3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g2545694553a_0_205"/>
          <p:cNvGrpSpPr/>
          <p:nvPr/>
        </p:nvGrpSpPr>
        <p:grpSpPr>
          <a:xfrm>
            <a:off x="10511654" y="4705333"/>
            <a:ext cx="373783" cy="430191"/>
            <a:chOff x="5579739" y="4041816"/>
            <a:chExt cx="370192" cy="362847"/>
          </a:xfrm>
        </p:grpSpPr>
        <p:sp>
          <p:nvSpPr>
            <p:cNvPr id="235" name="Google Shape;235;g2545694553a_0_205"/>
            <p:cNvSpPr/>
            <p:nvPr/>
          </p:nvSpPr>
          <p:spPr>
            <a:xfrm>
              <a:off x="5579739" y="4383484"/>
              <a:ext cx="370192" cy="21179"/>
            </a:xfrm>
            <a:custGeom>
              <a:avLst/>
              <a:gdLst/>
              <a:ahLst/>
              <a:cxnLst/>
              <a:rect l="l" t="t" r="r" b="b"/>
              <a:pathLst>
                <a:path w="10837" h="620" extrusionOk="0">
                  <a:moveTo>
                    <a:pt x="429" y="0"/>
                  </a:moveTo>
                  <a:cubicBezTo>
                    <a:pt x="0" y="0"/>
                    <a:pt x="0" y="619"/>
                    <a:pt x="429" y="619"/>
                  </a:cubicBezTo>
                  <a:lnTo>
                    <a:pt x="10407" y="619"/>
                  </a:lnTo>
                  <a:cubicBezTo>
                    <a:pt x="10836" y="619"/>
                    <a:pt x="10836" y="0"/>
                    <a:pt x="10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2545694553a_0_205"/>
            <p:cNvSpPr/>
            <p:nvPr/>
          </p:nvSpPr>
          <p:spPr>
            <a:xfrm>
              <a:off x="5733493" y="4106891"/>
              <a:ext cx="62684" cy="61864"/>
            </a:xfrm>
            <a:custGeom>
              <a:avLst/>
              <a:gdLst/>
              <a:ahLst/>
              <a:cxnLst/>
              <a:rect l="l" t="t" r="r" b="b"/>
              <a:pathLst>
                <a:path w="1835" h="1811" extrusionOk="0">
                  <a:moveTo>
                    <a:pt x="620" y="0"/>
                  </a:moveTo>
                  <a:lnTo>
                    <a:pt x="620" y="310"/>
                  </a:lnTo>
                  <a:cubicBezTo>
                    <a:pt x="620" y="477"/>
                    <a:pt x="477" y="596"/>
                    <a:pt x="310" y="596"/>
                  </a:cubicBezTo>
                  <a:lnTo>
                    <a:pt x="0" y="596"/>
                  </a:lnTo>
                  <a:lnTo>
                    <a:pt x="0" y="1215"/>
                  </a:lnTo>
                  <a:lnTo>
                    <a:pt x="310" y="1215"/>
                  </a:lnTo>
                  <a:cubicBezTo>
                    <a:pt x="477" y="1215"/>
                    <a:pt x="620" y="1358"/>
                    <a:pt x="620" y="1524"/>
                  </a:cubicBezTo>
                  <a:lnTo>
                    <a:pt x="620" y="1810"/>
                  </a:lnTo>
                  <a:lnTo>
                    <a:pt x="1215" y="1810"/>
                  </a:lnTo>
                  <a:lnTo>
                    <a:pt x="1215" y="1524"/>
                  </a:lnTo>
                  <a:cubicBezTo>
                    <a:pt x="1215" y="1358"/>
                    <a:pt x="1358" y="1215"/>
                    <a:pt x="1525" y="1215"/>
                  </a:cubicBezTo>
                  <a:lnTo>
                    <a:pt x="1834" y="1215"/>
                  </a:lnTo>
                  <a:lnTo>
                    <a:pt x="1834" y="596"/>
                  </a:lnTo>
                  <a:lnTo>
                    <a:pt x="1525" y="596"/>
                  </a:lnTo>
                  <a:cubicBezTo>
                    <a:pt x="1358" y="596"/>
                    <a:pt x="1215" y="477"/>
                    <a:pt x="1215" y="310"/>
                  </a:cubicBezTo>
                  <a:lnTo>
                    <a:pt x="1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2545694553a_0_205"/>
            <p:cNvSpPr/>
            <p:nvPr/>
          </p:nvSpPr>
          <p:spPr>
            <a:xfrm>
              <a:off x="5579739" y="4041816"/>
              <a:ext cx="370192" cy="320523"/>
            </a:xfrm>
            <a:custGeom>
              <a:avLst/>
              <a:gdLst/>
              <a:ahLst/>
              <a:cxnLst/>
              <a:rect l="l" t="t" r="r" b="b"/>
              <a:pathLst>
                <a:path w="10837" h="9383" extrusionOk="0">
                  <a:moveTo>
                    <a:pt x="6002" y="1262"/>
                  </a:moveTo>
                  <a:cubicBezTo>
                    <a:pt x="6168" y="1262"/>
                    <a:pt x="6311" y="1405"/>
                    <a:pt x="6311" y="1572"/>
                  </a:cubicBezTo>
                  <a:lnTo>
                    <a:pt x="6311" y="1881"/>
                  </a:lnTo>
                  <a:lnTo>
                    <a:pt x="6597" y="1881"/>
                  </a:lnTo>
                  <a:cubicBezTo>
                    <a:pt x="6764" y="1881"/>
                    <a:pt x="6907" y="2024"/>
                    <a:pt x="6907" y="2191"/>
                  </a:cubicBezTo>
                  <a:lnTo>
                    <a:pt x="6907" y="3429"/>
                  </a:lnTo>
                  <a:cubicBezTo>
                    <a:pt x="6907" y="3596"/>
                    <a:pt x="6764" y="3715"/>
                    <a:pt x="6597" y="3715"/>
                  </a:cubicBezTo>
                  <a:lnTo>
                    <a:pt x="6311" y="3715"/>
                  </a:lnTo>
                  <a:lnTo>
                    <a:pt x="6311" y="4025"/>
                  </a:lnTo>
                  <a:cubicBezTo>
                    <a:pt x="6311" y="4191"/>
                    <a:pt x="6192" y="4334"/>
                    <a:pt x="6002" y="4334"/>
                  </a:cubicBezTo>
                  <a:lnTo>
                    <a:pt x="4763" y="4334"/>
                  </a:lnTo>
                  <a:cubicBezTo>
                    <a:pt x="4597" y="4334"/>
                    <a:pt x="4454" y="4191"/>
                    <a:pt x="4478" y="4025"/>
                  </a:cubicBezTo>
                  <a:lnTo>
                    <a:pt x="4478" y="3715"/>
                  </a:lnTo>
                  <a:lnTo>
                    <a:pt x="4168" y="3715"/>
                  </a:lnTo>
                  <a:cubicBezTo>
                    <a:pt x="4156" y="3717"/>
                    <a:pt x="4144" y="3718"/>
                    <a:pt x="4132" y="3718"/>
                  </a:cubicBezTo>
                  <a:cubicBezTo>
                    <a:pt x="3981" y="3718"/>
                    <a:pt x="3858" y="3584"/>
                    <a:pt x="3858" y="3429"/>
                  </a:cubicBezTo>
                  <a:lnTo>
                    <a:pt x="3858" y="2191"/>
                  </a:lnTo>
                  <a:cubicBezTo>
                    <a:pt x="3858" y="2001"/>
                    <a:pt x="4001" y="1881"/>
                    <a:pt x="4168" y="1881"/>
                  </a:cubicBezTo>
                  <a:lnTo>
                    <a:pt x="4478" y="1881"/>
                  </a:lnTo>
                  <a:lnTo>
                    <a:pt x="4478" y="1572"/>
                  </a:lnTo>
                  <a:cubicBezTo>
                    <a:pt x="4478" y="1405"/>
                    <a:pt x="4597" y="1262"/>
                    <a:pt x="4763" y="1262"/>
                  </a:cubicBezTo>
                  <a:close/>
                  <a:moveTo>
                    <a:pt x="429" y="0"/>
                  </a:moveTo>
                  <a:cubicBezTo>
                    <a:pt x="0" y="0"/>
                    <a:pt x="0" y="619"/>
                    <a:pt x="429" y="619"/>
                  </a:cubicBezTo>
                  <a:lnTo>
                    <a:pt x="715" y="619"/>
                  </a:lnTo>
                  <a:lnTo>
                    <a:pt x="715" y="9383"/>
                  </a:lnTo>
                  <a:lnTo>
                    <a:pt x="1977" y="9383"/>
                  </a:lnTo>
                  <a:lnTo>
                    <a:pt x="1977" y="5311"/>
                  </a:lnTo>
                  <a:cubicBezTo>
                    <a:pt x="1977" y="5144"/>
                    <a:pt x="2120" y="5025"/>
                    <a:pt x="2287" y="5025"/>
                  </a:cubicBezTo>
                  <a:lnTo>
                    <a:pt x="8526" y="5025"/>
                  </a:lnTo>
                  <a:cubicBezTo>
                    <a:pt x="8693" y="5025"/>
                    <a:pt x="8836" y="5144"/>
                    <a:pt x="8836" y="5311"/>
                  </a:cubicBezTo>
                  <a:lnTo>
                    <a:pt x="8836" y="8311"/>
                  </a:lnTo>
                  <a:cubicBezTo>
                    <a:pt x="8836" y="8478"/>
                    <a:pt x="8693" y="8621"/>
                    <a:pt x="8526" y="8621"/>
                  </a:cubicBezTo>
                  <a:lnTo>
                    <a:pt x="5121" y="8621"/>
                  </a:lnTo>
                  <a:lnTo>
                    <a:pt x="5121" y="9359"/>
                  </a:lnTo>
                  <a:lnTo>
                    <a:pt x="10122" y="9359"/>
                  </a:lnTo>
                  <a:lnTo>
                    <a:pt x="10122" y="619"/>
                  </a:lnTo>
                  <a:lnTo>
                    <a:pt x="10407" y="619"/>
                  </a:lnTo>
                  <a:cubicBezTo>
                    <a:pt x="10836" y="619"/>
                    <a:pt x="10836" y="0"/>
                    <a:pt x="10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2545694553a_0_205"/>
            <p:cNvSpPr/>
            <p:nvPr/>
          </p:nvSpPr>
          <p:spPr>
            <a:xfrm>
              <a:off x="5754638" y="4233795"/>
              <a:ext cx="106613" cy="81369"/>
            </a:xfrm>
            <a:custGeom>
              <a:avLst/>
              <a:gdLst/>
              <a:ahLst/>
              <a:cxnLst/>
              <a:rect l="l" t="t" r="r" b="b"/>
              <a:pathLst>
                <a:path w="3121" h="2382" extrusionOk="0">
                  <a:moveTo>
                    <a:pt x="1" y="0"/>
                  </a:moveTo>
                  <a:lnTo>
                    <a:pt x="1" y="2382"/>
                  </a:lnTo>
                  <a:lnTo>
                    <a:pt x="620" y="2382"/>
                  </a:lnTo>
                  <a:lnTo>
                    <a:pt x="620" y="1858"/>
                  </a:lnTo>
                  <a:cubicBezTo>
                    <a:pt x="655" y="1274"/>
                    <a:pt x="1108" y="983"/>
                    <a:pt x="1560" y="983"/>
                  </a:cubicBezTo>
                  <a:cubicBezTo>
                    <a:pt x="2013" y="983"/>
                    <a:pt x="2465" y="1274"/>
                    <a:pt x="2501" y="1858"/>
                  </a:cubicBezTo>
                  <a:lnTo>
                    <a:pt x="2501" y="2382"/>
                  </a:lnTo>
                  <a:lnTo>
                    <a:pt x="3120" y="2382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2545694553a_0_205"/>
            <p:cNvSpPr/>
            <p:nvPr/>
          </p:nvSpPr>
          <p:spPr>
            <a:xfrm>
              <a:off x="5669238" y="4233795"/>
              <a:ext cx="63469" cy="128544"/>
            </a:xfrm>
            <a:custGeom>
              <a:avLst/>
              <a:gdLst/>
              <a:ahLst/>
              <a:cxnLst/>
              <a:rect l="l" t="t" r="r" b="b"/>
              <a:pathLst>
                <a:path w="1858" h="3763" extrusionOk="0">
                  <a:moveTo>
                    <a:pt x="0" y="0"/>
                  </a:moveTo>
                  <a:lnTo>
                    <a:pt x="0" y="3763"/>
                  </a:lnTo>
                  <a:lnTo>
                    <a:pt x="1858" y="3763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2545694553a_0_205"/>
            <p:cNvSpPr/>
            <p:nvPr/>
          </p:nvSpPr>
          <p:spPr>
            <a:xfrm>
              <a:off x="5796928" y="4286880"/>
              <a:ext cx="21213" cy="28284"/>
            </a:xfrm>
            <a:custGeom>
              <a:avLst/>
              <a:gdLst/>
              <a:ahLst/>
              <a:cxnLst/>
              <a:rect l="l" t="t" r="r" b="b"/>
              <a:pathLst>
                <a:path w="621" h="828" extrusionOk="0">
                  <a:moveTo>
                    <a:pt x="310" y="0"/>
                  </a:moveTo>
                  <a:cubicBezTo>
                    <a:pt x="156" y="0"/>
                    <a:pt x="1" y="101"/>
                    <a:pt x="1" y="304"/>
                  </a:cubicBezTo>
                  <a:lnTo>
                    <a:pt x="1" y="828"/>
                  </a:lnTo>
                  <a:lnTo>
                    <a:pt x="620" y="828"/>
                  </a:lnTo>
                  <a:lnTo>
                    <a:pt x="620" y="304"/>
                  </a:lnTo>
                  <a:cubicBezTo>
                    <a:pt x="620" y="101"/>
                    <a:pt x="465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g2545694553a_0_205"/>
          <p:cNvSpPr/>
          <p:nvPr/>
        </p:nvSpPr>
        <p:spPr>
          <a:xfrm rot="10800000">
            <a:off x="1328800" y="4047638"/>
            <a:ext cx="926700" cy="138000"/>
          </a:xfrm>
          <a:prstGeom prst="triangle">
            <a:avLst>
              <a:gd name="adj" fmla="val 5000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2545694553a_0_205"/>
          <p:cNvSpPr/>
          <p:nvPr/>
        </p:nvSpPr>
        <p:spPr>
          <a:xfrm rot="5400000">
            <a:off x="3555400" y="5211713"/>
            <a:ext cx="926700" cy="138000"/>
          </a:xfrm>
          <a:prstGeom prst="triangle">
            <a:avLst>
              <a:gd name="adj" fmla="val 5000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545694553a_0_205"/>
          <p:cNvSpPr/>
          <p:nvPr/>
        </p:nvSpPr>
        <p:spPr>
          <a:xfrm rot="5400000">
            <a:off x="8008600" y="5211713"/>
            <a:ext cx="926700" cy="138000"/>
          </a:xfrm>
          <a:prstGeom prst="triangle">
            <a:avLst>
              <a:gd name="adj" fmla="val 5000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2545694553a_0_205"/>
          <p:cNvGrpSpPr/>
          <p:nvPr/>
        </p:nvGrpSpPr>
        <p:grpSpPr>
          <a:xfrm>
            <a:off x="1552140" y="1983242"/>
            <a:ext cx="480008" cy="430214"/>
            <a:chOff x="-6690625" y="3631325"/>
            <a:chExt cx="307225" cy="292225"/>
          </a:xfrm>
        </p:grpSpPr>
        <p:sp>
          <p:nvSpPr>
            <p:cNvPr id="245" name="Google Shape;245;g2545694553a_0_205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2545694553a_0_205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2545694553a_0_205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2545694553a_0_205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2545694553a_0_205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0" name="Google Shape;250;g2545694553a_0_205"/>
          <p:cNvCxnSpPr/>
          <p:nvPr/>
        </p:nvCxnSpPr>
        <p:spPr>
          <a:xfrm>
            <a:off x="4633000" y="1868600"/>
            <a:ext cx="2215500" cy="142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1" name="Google Shape;251;g2545694553a_0_205"/>
          <p:cNvCxnSpPr/>
          <p:nvPr/>
        </p:nvCxnSpPr>
        <p:spPr>
          <a:xfrm rot="10800000" flipH="1">
            <a:off x="7985800" y="1868600"/>
            <a:ext cx="2215500" cy="142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1860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 txBox="1"/>
          <p:nvPr/>
        </p:nvSpPr>
        <p:spPr>
          <a:xfrm>
            <a:off x="279918" y="184625"/>
            <a:ext cx="11775233" cy="1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7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 Tanganyika et le Haut-Lomami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ont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signé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>
                <a:solidFill>
                  <a:srgbClr val="0070C0"/>
                </a:solidFill>
              </a:rPr>
              <a:t>le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MoU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2018 avec BMGF,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suivis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par le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Lualaba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2021 pour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améliorer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la performance du programme de vaccination de routi</a:t>
            </a:r>
            <a:r>
              <a:rPr lang="en-GB" sz="2300" dirty="0">
                <a:solidFill>
                  <a:srgbClr val="0070C0"/>
                </a:solidFill>
              </a:rPr>
              <a:t>ne</a:t>
            </a:r>
            <a:r>
              <a:rPr lang="en-GB" sz="2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1562470" y="1516402"/>
            <a:ext cx="0" cy="0"/>
          </a:xfrm>
          <a:prstGeom prst="rect">
            <a:avLst/>
          </a:prstGeom>
          <a:solidFill>
            <a:srgbClr val="9B242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85458" y="5651682"/>
            <a:ext cx="487363" cy="487363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128270" y="15875"/>
                </a:moveTo>
                <a:cubicBezTo>
                  <a:pt x="123825" y="15875"/>
                  <a:pt x="120015" y="19685"/>
                  <a:pt x="120015" y="24130"/>
                </a:cubicBezTo>
                <a:cubicBezTo>
                  <a:pt x="120015" y="27940"/>
                  <a:pt x="123825" y="31750"/>
                  <a:pt x="128270" y="31750"/>
                </a:cubicBezTo>
                <a:cubicBezTo>
                  <a:pt x="132715" y="31750"/>
                  <a:pt x="135890" y="27940"/>
                  <a:pt x="135890" y="24130"/>
                </a:cubicBezTo>
                <a:cubicBezTo>
                  <a:pt x="135890" y="19685"/>
                  <a:pt x="132715" y="15875"/>
                  <a:pt x="128270" y="15875"/>
                </a:cubicBezTo>
                <a:close/>
                <a:moveTo>
                  <a:pt x="24130" y="0"/>
                </a:moveTo>
                <a:cubicBezTo>
                  <a:pt x="10795" y="0"/>
                  <a:pt x="0" y="10795"/>
                  <a:pt x="0" y="24130"/>
                </a:cubicBezTo>
                <a:cubicBezTo>
                  <a:pt x="0" y="36830"/>
                  <a:pt x="10795" y="47625"/>
                  <a:pt x="24130" y="47625"/>
                </a:cubicBezTo>
                <a:cubicBezTo>
                  <a:pt x="36830" y="47625"/>
                  <a:pt x="47625" y="36830"/>
                  <a:pt x="47625" y="24130"/>
                </a:cubicBezTo>
                <a:cubicBezTo>
                  <a:pt x="47625" y="10795"/>
                  <a:pt x="36830" y="0"/>
                  <a:pt x="24130" y="0"/>
                </a:cubicBezTo>
                <a:close/>
                <a:moveTo>
                  <a:pt x="83820" y="31750"/>
                </a:moveTo>
                <a:cubicBezTo>
                  <a:pt x="79375" y="31750"/>
                  <a:pt x="76200" y="35560"/>
                  <a:pt x="76200" y="40005"/>
                </a:cubicBezTo>
                <a:cubicBezTo>
                  <a:pt x="76200" y="43815"/>
                  <a:pt x="79375" y="47625"/>
                  <a:pt x="83820" y="47625"/>
                </a:cubicBezTo>
                <a:cubicBezTo>
                  <a:pt x="88265" y="47625"/>
                  <a:pt x="92075" y="43815"/>
                  <a:pt x="92075" y="40005"/>
                </a:cubicBezTo>
                <a:cubicBezTo>
                  <a:pt x="92075" y="35560"/>
                  <a:pt x="88265" y="31750"/>
                  <a:pt x="83820" y="31750"/>
                </a:cubicBezTo>
                <a:close/>
                <a:moveTo>
                  <a:pt x="123190" y="69215"/>
                </a:moveTo>
                <a:cubicBezTo>
                  <a:pt x="114300" y="69215"/>
                  <a:pt x="107315" y="76200"/>
                  <a:pt x="107315" y="85090"/>
                </a:cubicBezTo>
                <a:cubicBezTo>
                  <a:pt x="107315" y="93980"/>
                  <a:pt x="114300" y="100965"/>
                  <a:pt x="123190" y="100965"/>
                </a:cubicBezTo>
                <a:cubicBezTo>
                  <a:pt x="131445" y="100965"/>
                  <a:pt x="139065" y="93980"/>
                  <a:pt x="139065" y="85090"/>
                </a:cubicBezTo>
                <a:cubicBezTo>
                  <a:pt x="139065" y="76200"/>
                  <a:pt x="131445" y="69215"/>
                  <a:pt x="123190" y="69215"/>
                </a:cubicBezTo>
                <a:close/>
                <a:moveTo>
                  <a:pt x="34290" y="73025"/>
                </a:moveTo>
                <a:cubicBezTo>
                  <a:pt x="25400" y="73025"/>
                  <a:pt x="18415" y="80010"/>
                  <a:pt x="18415" y="88900"/>
                </a:cubicBezTo>
                <a:cubicBezTo>
                  <a:pt x="18415" y="97790"/>
                  <a:pt x="25400" y="104775"/>
                  <a:pt x="34290" y="104775"/>
                </a:cubicBezTo>
                <a:cubicBezTo>
                  <a:pt x="43180" y="104775"/>
                  <a:pt x="50165" y="97790"/>
                  <a:pt x="50165" y="88900"/>
                </a:cubicBezTo>
                <a:cubicBezTo>
                  <a:pt x="50165" y="80010"/>
                  <a:pt x="43180" y="73025"/>
                  <a:pt x="34290" y="73025"/>
                </a:cubicBezTo>
                <a:close/>
                <a:moveTo>
                  <a:pt x="79375" y="92710"/>
                </a:moveTo>
                <a:cubicBezTo>
                  <a:pt x="74930" y="92710"/>
                  <a:pt x="71755" y="96520"/>
                  <a:pt x="71755" y="100965"/>
                </a:cubicBezTo>
                <a:cubicBezTo>
                  <a:pt x="71755" y="105410"/>
                  <a:pt x="74930" y="108585"/>
                  <a:pt x="79375" y="108585"/>
                </a:cubicBezTo>
                <a:cubicBezTo>
                  <a:pt x="83820" y="108585"/>
                  <a:pt x="87630" y="105410"/>
                  <a:pt x="87630" y="100965"/>
                </a:cubicBezTo>
                <a:cubicBezTo>
                  <a:pt x="87630" y="96520"/>
                  <a:pt x="83820" y="92710"/>
                  <a:pt x="79375" y="92710"/>
                </a:cubicBezTo>
                <a:close/>
                <a:moveTo>
                  <a:pt x="47625" y="135255"/>
                </a:moveTo>
                <a:cubicBezTo>
                  <a:pt x="43180" y="135255"/>
                  <a:pt x="40005" y="138430"/>
                  <a:pt x="40005" y="142875"/>
                </a:cubicBezTo>
                <a:cubicBezTo>
                  <a:pt x="40005" y="147320"/>
                  <a:pt x="43180" y="151130"/>
                  <a:pt x="47625" y="151130"/>
                </a:cubicBezTo>
                <a:cubicBezTo>
                  <a:pt x="52070" y="151130"/>
                  <a:pt x="55880" y="147320"/>
                  <a:pt x="55880" y="142875"/>
                </a:cubicBezTo>
                <a:cubicBezTo>
                  <a:pt x="55880" y="138430"/>
                  <a:pt x="52070" y="135255"/>
                  <a:pt x="47625" y="135255"/>
                </a:cubicBezTo>
                <a:close/>
                <a:moveTo>
                  <a:pt x="151130" y="142875"/>
                </a:moveTo>
                <a:cubicBezTo>
                  <a:pt x="146685" y="142875"/>
                  <a:pt x="142875" y="146685"/>
                  <a:pt x="142875" y="151130"/>
                </a:cubicBezTo>
                <a:cubicBezTo>
                  <a:pt x="142875" y="154940"/>
                  <a:pt x="146685" y="158750"/>
                  <a:pt x="151130" y="158750"/>
                </a:cubicBezTo>
                <a:cubicBezTo>
                  <a:pt x="154940" y="158750"/>
                  <a:pt x="158750" y="154940"/>
                  <a:pt x="158750" y="151130"/>
                </a:cubicBezTo>
                <a:cubicBezTo>
                  <a:pt x="158750" y="146685"/>
                  <a:pt x="154940" y="142875"/>
                  <a:pt x="151130" y="14287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45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8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458" y="2428379"/>
            <a:ext cx="449490" cy="44948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/>
          <p:nvPr/>
        </p:nvSpPr>
        <p:spPr>
          <a:xfrm>
            <a:off x="4524402" y="5763585"/>
            <a:ext cx="489300" cy="263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99071" y="4589105"/>
            <a:ext cx="487007" cy="451660"/>
          </a:xfrm>
          <a:custGeom>
            <a:avLst/>
            <a:gdLst/>
            <a:ahLst/>
            <a:cxnLst/>
            <a:rect l="l" t="t" r="r" b="b"/>
            <a:pathLst>
              <a:path w="157480" h="146050" extrusionOk="0">
                <a:moveTo>
                  <a:pt x="11430" y="11430"/>
                </a:moveTo>
                <a:lnTo>
                  <a:pt x="0" y="22225"/>
                </a:lnTo>
                <a:lnTo>
                  <a:pt x="22860" y="45085"/>
                </a:lnTo>
                <a:lnTo>
                  <a:pt x="0" y="67310"/>
                </a:lnTo>
                <a:lnTo>
                  <a:pt x="11430" y="78740"/>
                </a:lnTo>
                <a:lnTo>
                  <a:pt x="33655" y="56515"/>
                </a:lnTo>
                <a:lnTo>
                  <a:pt x="56515" y="78740"/>
                </a:lnTo>
                <a:lnTo>
                  <a:pt x="67310" y="67310"/>
                </a:lnTo>
                <a:lnTo>
                  <a:pt x="45085" y="45085"/>
                </a:lnTo>
                <a:lnTo>
                  <a:pt x="67310" y="22225"/>
                </a:lnTo>
                <a:lnTo>
                  <a:pt x="56515" y="11430"/>
                </a:lnTo>
                <a:lnTo>
                  <a:pt x="33655" y="33655"/>
                </a:lnTo>
                <a:lnTo>
                  <a:pt x="11430" y="11430"/>
                </a:lnTo>
                <a:close/>
                <a:moveTo>
                  <a:pt x="112395" y="0"/>
                </a:moveTo>
                <a:lnTo>
                  <a:pt x="100965" y="11430"/>
                </a:lnTo>
                <a:lnTo>
                  <a:pt x="118110" y="27940"/>
                </a:lnTo>
                <a:lnTo>
                  <a:pt x="106680" y="39370"/>
                </a:lnTo>
                <a:lnTo>
                  <a:pt x="90170" y="22225"/>
                </a:lnTo>
                <a:lnTo>
                  <a:pt x="78740" y="33655"/>
                </a:lnTo>
                <a:lnTo>
                  <a:pt x="67310" y="45085"/>
                </a:lnTo>
                <a:lnTo>
                  <a:pt x="78740" y="56515"/>
                </a:lnTo>
                <a:lnTo>
                  <a:pt x="90170" y="45085"/>
                </a:lnTo>
                <a:lnTo>
                  <a:pt x="112395" y="67310"/>
                </a:lnTo>
                <a:lnTo>
                  <a:pt x="100965" y="78740"/>
                </a:lnTo>
                <a:lnTo>
                  <a:pt x="90170" y="67310"/>
                </a:lnTo>
                <a:lnTo>
                  <a:pt x="78740" y="78740"/>
                </a:lnTo>
                <a:lnTo>
                  <a:pt x="90170" y="90170"/>
                </a:lnTo>
                <a:lnTo>
                  <a:pt x="78740" y="100965"/>
                </a:lnTo>
                <a:lnTo>
                  <a:pt x="67310" y="90170"/>
                </a:lnTo>
                <a:lnTo>
                  <a:pt x="56515" y="100965"/>
                </a:lnTo>
                <a:lnTo>
                  <a:pt x="67310" y="112395"/>
                </a:lnTo>
                <a:lnTo>
                  <a:pt x="56515" y="123190"/>
                </a:lnTo>
                <a:lnTo>
                  <a:pt x="33655" y="100965"/>
                </a:lnTo>
                <a:lnTo>
                  <a:pt x="45085" y="89535"/>
                </a:lnTo>
                <a:lnTo>
                  <a:pt x="33655" y="78740"/>
                </a:lnTo>
                <a:lnTo>
                  <a:pt x="22860" y="89535"/>
                </a:lnTo>
                <a:lnTo>
                  <a:pt x="11430" y="100965"/>
                </a:lnTo>
                <a:lnTo>
                  <a:pt x="22860" y="112395"/>
                </a:lnTo>
                <a:lnTo>
                  <a:pt x="28575" y="117475"/>
                </a:lnTo>
                <a:lnTo>
                  <a:pt x="17145" y="128905"/>
                </a:lnTo>
                <a:lnTo>
                  <a:pt x="27940" y="140335"/>
                </a:lnTo>
                <a:lnTo>
                  <a:pt x="39370" y="128905"/>
                </a:lnTo>
                <a:lnTo>
                  <a:pt x="45085" y="134620"/>
                </a:lnTo>
                <a:lnTo>
                  <a:pt x="56515" y="146050"/>
                </a:lnTo>
                <a:lnTo>
                  <a:pt x="134620" y="67310"/>
                </a:lnTo>
                <a:lnTo>
                  <a:pt x="118110" y="50165"/>
                </a:lnTo>
                <a:lnTo>
                  <a:pt x="129540" y="39370"/>
                </a:lnTo>
                <a:lnTo>
                  <a:pt x="146050" y="56515"/>
                </a:lnTo>
                <a:lnTo>
                  <a:pt x="157480" y="45085"/>
                </a:lnTo>
                <a:lnTo>
                  <a:pt x="11239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45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>
            <a:off x="402925" y="4552193"/>
            <a:ext cx="479308" cy="47392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8"/>
          <p:cNvSpPr txBox="1"/>
          <p:nvPr/>
        </p:nvSpPr>
        <p:spPr>
          <a:xfrm>
            <a:off x="5089904" y="5820263"/>
            <a:ext cx="12381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Provinces MoU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4" name="Google Shape;264;p8"/>
          <p:cNvGraphicFramePr/>
          <p:nvPr/>
        </p:nvGraphicFramePr>
        <p:xfrm>
          <a:off x="486834" y="2180942"/>
          <a:ext cx="3577575" cy="4162100"/>
        </p:xfrm>
        <a:graphic>
          <a:graphicData uri="http://schemas.openxmlformats.org/drawingml/2006/table">
            <a:tbl>
              <a:tblPr>
                <a:noFill/>
                <a:tableStyleId>{EDB16E58-4F23-4B08-B713-BBCB8CF34EC5}</a:tableStyleId>
              </a:tblPr>
              <a:tblGrid>
                <a:gridCol w="4232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543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040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Mortalité infantile &gt; 40 / 1000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43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40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Couverture vaccinale complète  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50%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43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40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66666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Enfants zéro dose</a:t>
                      </a: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10 %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43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40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Provinces à risque d’épidémie de poliomyélite (cVDPV)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4300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265" name="Google Shape;265;p8"/>
          <p:cNvGrpSpPr/>
          <p:nvPr/>
        </p:nvGrpSpPr>
        <p:grpSpPr>
          <a:xfrm>
            <a:off x="485458" y="1459913"/>
            <a:ext cx="3654900" cy="422422"/>
            <a:chOff x="485458" y="1459913"/>
            <a:chExt cx="3654900" cy="422422"/>
          </a:xfrm>
        </p:grpSpPr>
        <p:sp>
          <p:nvSpPr>
            <p:cNvPr id="266" name="Google Shape;266;p8"/>
            <p:cNvSpPr txBox="1"/>
            <p:nvPr/>
          </p:nvSpPr>
          <p:spPr>
            <a:xfrm>
              <a:off x="485458" y="1459913"/>
              <a:ext cx="3561300" cy="3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0" i="0" u="none" strike="noStrike" cap="none" dirty="0" err="1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Profil</a:t>
              </a:r>
              <a:r>
                <a:rPr lang="en-GB" sz="1800" b="0" i="0" u="none" strike="noStrike" cap="none" dirty="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800" b="0" i="0" u="none" strike="noStrike" cap="none" dirty="0" err="1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épidémiologique</a:t>
              </a:r>
              <a:r>
                <a:rPr lang="en-GB" sz="1800" b="0" i="0" u="none" strike="noStrike" cap="none" dirty="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800" b="0" i="0" u="none" strike="noStrike" cap="none" dirty="0" err="1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avant</a:t>
              </a:r>
              <a:r>
                <a:rPr lang="en-GB" sz="1800" b="0" i="0" u="none" strike="noStrike" cap="none" dirty="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 le </a:t>
              </a:r>
              <a:r>
                <a:rPr lang="en-GB" sz="1800" b="0" i="0" u="none" strike="noStrike" cap="none" dirty="0" err="1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MoU</a:t>
              </a:r>
              <a:r>
                <a:rPr lang="en-GB" sz="1800" b="0" i="0" u="none" strike="noStrike" cap="none" dirty="0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7" name="Google Shape;267;p8"/>
            <p:cNvCxnSpPr/>
            <p:nvPr/>
          </p:nvCxnSpPr>
          <p:spPr>
            <a:xfrm>
              <a:off x="485458" y="1882335"/>
              <a:ext cx="36549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8" name="Google Shape;268;p8"/>
          <p:cNvGrpSpPr/>
          <p:nvPr/>
        </p:nvGrpSpPr>
        <p:grpSpPr>
          <a:xfrm>
            <a:off x="4192156" y="2300416"/>
            <a:ext cx="3808181" cy="3612526"/>
            <a:chOff x="7520610" y="2211630"/>
            <a:chExt cx="2810258" cy="2814371"/>
          </a:xfrm>
        </p:grpSpPr>
        <p:sp>
          <p:nvSpPr>
            <p:cNvPr id="269" name="Google Shape;269;p8"/>
            <p:cNvSpPr/>
            <p:nvPr/>
          </p:nvSpPr>
          <p:spPr>
            <a:xfrm>
              <a:off x="9096412" y="3858650"/>
              <a:ext cx="184234" cy="156723"/>
            </a:xfrm>
            <a:custGeom>
              <a:avLst/>
              <a:gdLst/>
              <a:ahLst/>
              <a:cxnLst/>
              <a:rect l="l" t="t" r="r" b="b"/>
              <a:pathLst>
                <a:path w="197" h="165" extrusionOk="0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9111375" y="3733271"/>
              <a:ext cx="477884" cy="472070"/>
            </a:xfrm>
            <a:custGeom>
              <a:avLst/>
              <a:gdLst/>
              <a:ahLst/>
              <a:cxnLst/>
              <a:rect l="l" t="t" r="r" b="b"/>
              <a:pathLst>
                <a:path w="388" h="378" extrusionOk="0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9682779" y="3258352"/>
              <a:ext cx="369403" cy="506263"/>
            </a:xfrm>
            <a:custGeom>
              <a:avLst/>
              <a:gdLst/>
              <a:ahLst/>
              <a:cxnLst/>
              <a:rect l="l" t="t" r="r" b="b"/>
              <a:pathLst>
                <a:path w="300" h="405" extrusionOk="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9323664" y="3018992"/>
              <a:ext cx="636867" cy="742773"/>
            </a:xfrm>
            <a:custGeom>
              <a:avLst/>
              <a:gdLst/>
              <a:ahLst/>
              <a:cxnLst/>
              <a:rect l="l" t="t" r="r" b="b"/>
              <a:pathLst>
                <a:path w="518" h="594" extrusionOk="0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9749177" y="2866069"/>
              <a:ext cx="389976" cy="453073"/>
            </a:xfrm>
            <a:custGeom>
              <a:avLst/>
              <a:gdLst/>
              <a:ahLst/>
              <a:cxnLst/>
              <a:rect l="l" t="t" r="r" b="b"/>
              <a:pathLst>
                <a:path w="317" h="363" extrusionOk="0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9676232" y="2234426"/>
              <a:ext cx="551765" cy="549956"/>
            </a:xfrm>
            <a:custGeom>
              <a:avLst/>
              <a:gdLst/>
              <a:ahLst/>
              <a:cxnLst/>
              <a:rect l="l" t="t" r="r" b="b"/>
              <a:pathLst>
                <a:path w="448" h="440" extrusionOk="0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9035625" y="2211630"/>
              <a:ext cx="744415" cy="488217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9008504" y="2642857"/>
              <a:ext cx="854766" cy="690532"/>
            </a:xfrm>
            <a:custGeom>
              <a:avLst/>
              <a:gdLst/>
              <a:ahLst/>
              <a:cxnLst/>
              <a:rect l="l" t="t" r="r" b="b"/>
              <a:pathLst>
                <a:path w="914" h="727" extrusionOk="0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8942105" y="3265950"/>
              <a:ext cx="472273" cy="613595"/>
            </a:xfrm>
            <a:custGeom>
              <a:avLst/>
              <a:gdLst/>
              <a:ahLst/>
              <a:cxnLst/>
              <a:rect l="l" t="t" r="r" b="b"/>
              <a:pathLst>
                <a:path w="384" h="491" extrusionOk="0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8906567" y="3639237"/>
              <a:ext cx="308614" cy="565154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8931818" y="4163548"/>
              <a:ext cx="797720" cy="617395"/>
            </a:xfrm>
            <a:custGeom>
              <a:avLst/>
              <a:gdLst/>
              <a:ahLst/>
              <a:cxnLst/>
              <a:rect l="l" t="t" r="r" b="b"/>
              <a:pathLst>
                <a:path w="648" h="494" extrusionOk="0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70C0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8519397" y="2245824"/>
              <a:ext cx="673341" cy="352390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8382859" y="2299015"/>
              <a:ext cx="412420" cy="457822"/>
            </a:xfrm>
            <a:custGeom>
              <a:avLst/>
              <a:gdLst/>
              <a:ahLst/>
              <a:cxnLst/>
              <a:rect l="l" t="t" r="r" b="b"/>
              <a:pathLst>
                <a:path w="441" h="482" extrusionOk="0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8154672" y="2717894"/>
              <a:ext cx="627515" cy="603147"/>
            </a:xfrm>
            <a:custGeom>
              <a:avLst/>
              <a:gdLst/>
              <a:ahLst/>
              <a:cxnLst/>
              <a:rect l="l" t="t" r="r" b="b"/>
              <a:pathLst>
                <a:path w="510" h="482" extrusionOk="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8092949" y="3661083"/>
              <a:ext cx="566728" cy="569903"/>
            </a:xfrm>
            <a:custGeom>
              <a:avLst/>
              <a:gdLst/>
              <a:ahLst/>
              <a:cxnLst/>
              <a:rect l="l" t="t" r="r" b="b"/>
              <a:pathLst>
                <a:path w="606" h="600" extrusionOk="0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8067699" y="3131073"/>
              <a:ext cx="753767" cy="538558"/>
            </a:xfrm>
            <a:custGeom>
              <a:avLst/>
              <a:gdLst/>
              <a:ahLst/>
              <a:cxnLst/>
              <a:rect l="l" t="t" r="r" b="b"/>
              <a:pathLst>
                <a:path w="612" h="431" extrusionOk="0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7963892" y="3602193"/>
              <a:ext cx="204808" cy="163372"/>
            </a:xfrm>
            <a:custGeom>
              <a:avLst/>
              <a:gdLst/>
              <a:ahLst/>
              <a:cxnLst/>
              <a:rect l="l" t="t" r="r" b="b"/>
              <a:pathLst>
                <a:path w="219" h="172" extrusionOk="0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850" tIns="45925" rIns="91850" bIns="4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5945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7520610" y="3650635"/>
              <a:ext cx="613486" cy="265955"/>
            </a:xfrm>
            <a:custGeom>
              <a:avLst/>
              <a:gdLst/>
              <a:ahLst/>
              <a:cxnLst/>
              <a:rect l="l" t="t" r="r" b="b"/>
              <a:pathLst>
                <a:path w="656" h="280" extrusionOk="0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8157477" y="3500560"/>
              <a:ext cx="535866" cy="477768"/>
            </a:xfrm>
            <a:custGeom>
              <a:avLst/>
              <a:gdLst/>
              <a:ahLst/>
              <a:cxnLst/>
              <a:rect l="l" t="t" r="r" b="b"/>
              <a:pathLst>
                <a:path w="435" h="382" extrusionOk="0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098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9197413" y="3927988"/>
              <a:ext cx="641544" cy="603147"/>
            </a:xfrm>
            <a:custGeom>
              <a:avLst/>
              <a:gdLst/>
              <a:ahLst/>
              <a:cxnLst/>
              <a:rect l="l" t="t" r="r" b="b"/>
              <a:pathLst>
                <a:path w="686" h="635" extrusionOk="0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0070C0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9250" tIns="44625" rIns="89250" bIns="446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9529957" y="3752268"/>
              <a:ext cx="689239" cy="544257"/>
            </a:xfrm>
            <a:custGeom>
              <a:avLst/>
              <a:gdLst/>
              <a:ahLst/>
              <a:cxnLst/>
              <a:rect l="l" t="t" r="r" b="b"/>
              <a:pathLst>
                <a:path w="737" h="573" extrusionOk="0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rgbClr val="0070C0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9250" tIns="44625" rIns="89250" bIns="446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9757594" y="2459538"/>
              <a:ext cx="573274" cy="461622"/>
            </a:xfrm>
            <a:custGeom>
              <a:avLst/>
              <a:gdLst/>
              <a:ahLst/>
              <a:cxnLst/>
              <a:rect l="l" t="t" r="r" b="b"/>
              <a:pathLst>
                <a:path w="466" h="369" extrusionOk="0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850" tIns="45925" rIns="91850" bIns="4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5945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8571768" y="2526027"/>
              <a:ext cx="633125" cy="395133"/>
            </a:xfrm>
            <a:custGeom>
              <a:avLst/>
              <a:gdLst/>
              <a:ahLst/>
              <a:cxnLst/>
              <a:rect l="l" t="t" r="r" b="b"/>
              <a:pathLst>
                <a:path w="677" h="416" extrusionOk="0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850" tIns="45925" rIns="91850" bIns="4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5945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8584861" y="2752088"/>
              <a:ext cx="735062" cy="637341"/>
            </a:xfrm>
            <a:custGeom>
              <a:avLst/>
              <a:gdLst/>
              <a:ahLst/>
              <a:cxnLst/>
              <a:rect l="l" t="t" r="r" b="b"/>
              <a:pathLst>
                <a:path w="597" h="510" extrusionOk="0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850" tIns="45925" rIns="91850" bIns="4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5945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8622269" y="3361885"/>
              <a:ext cx="430189" cy="744673"/>
            </a:xfrm>
            <a:custGeom>
              <a:avLst/>
              <a:gdLst/>
              <a:ahLst/>
              <a:cxnLst/>
              <a:rect l="l" t="t" r="r" b="b"/>
              <a:pathLst>
                <a:path w="460" h="784" extrusionOk="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850" tIns="45925" rIns="91850" bIns="4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5945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9484517" y="4165448"/>
              <a:ext cx="630321" cy="860553"/>
            </a:xfrm>
            <a:custGeom>
              <a:avLst/>
              <a:gdLst/>
              <a:ahLst/>
              <a:cxnLst/>
              <a:rect l="l" t="t" r="r" b="b"/>
              <a:pathLst>
                <a:path w="674" h="906" extrusionOk="0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850" tIns="45925" rIns="91850" bIns="4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5945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8"/>
          <p:cNvGrpSpPr/>
          <p:nvPr/>
        </p:nvGrpSpPr>
        <p:grpSpPr>
          <a:xfrm>
            <a:off x="4292465" y="1459913"/>
            <a:ext cx="3654900" cy="422422"/>
            <a:chOff x="485458" y="1459913"/>
            <a:chExt cx="3654900" cy="422422"/>
          </a:xfrm>
        </p:grpSpPr>
        <p:sp>
          <p:nvSpPr>
            <p:cNvPr id="296" name="Google Shape;296;p8"/>
            <p:cNvSpPr txBox="1"/>
            <p:nvPr/>
          </p:nvSpPr>
          <p:spPr>
            <a:xfrm>
              <a:off x="485458" y="1459913"/>
              <a:ext cx="3561300" cy="3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Provinces de collaboration </a:t>
              </a: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" name="Google Shape;297;p8"/>
            <p:cNvCxnSpPr/>
            <p:nvPr/>
          </p:nvCxnSpPr>
          <p:spPr>
            <a:xfrm>
              <a:off x="485458" y="1882335"/>
              <a:ext cx="36549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98" name="Google Shape;298;p8"/>
          <p:cNvGrpSpPr/>
          <p:nvPr/>
        </p:nvGrpSpPr>
        <p:grpSpPr>
          <a:xfrm>
            <a:off x="8277126" y="1459913"/>
            <a:ext cx="3654900" cy="422422"/>
            <a:chOff x="485458" y="1459913"/>
            <a:chExt cx="3654900" cy="422422"/>
          </a:xfrm>
        </p:grpSpPr>
        <p:sp>
          <p:nvSpPr>
            <p:cNvPr id="299" name="Google Shape;299;p8"/>
            <p:cNvSpPr txBox="1"/>
            <p:nvPr/>
          </p:nvSpPr>
          <p:spPr>
            <a:xfrm>
              <a:off x="485458" y="1459913"/>
              <a:ext cx="3561300" cy="3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rPr>
                <a:t>Signature de MoU </a:t>
              </a:r>
              <a:endParaRPr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0" name="Google Shape;300;p8"/>
            <p:cNvCxnSpPr/>
            <p:nvPr/>
          </p:nvCxnSpPr>
          <p:spPr>
            <a:xfrm>
              <a:off x="485458" y="1882335"/>
              <a:ext cx="36549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01" name="Google Shape;301;p8"/>
          <p:cNvSpPr txBox="1"/>
          <p:nvPr/>
        </p:nvSpPr>
        <p:spPr>
          <a:xfrm>
            <a:off x="8565275" y="5026125"/>
            <a:ext cx="3366600" cy="1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Signataires: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Gouverneur de la province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Directeur du PEV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Président Développement de la fondation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Autre bailleur(s) potentiels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Ministère de la Santé (pour témoin)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8"/>
          <p:cNvPicPr preferRelativeResize="0"/>
          <p:nvPr/>
        </p:nvPicPr>
        <p:blipFill rotWithShape="1">
          <a:blip r:embed="rId4">
            <a:alphaModFix/>
          </a:blip>
          <a:srcRect l="25906" t="26136" r="49764" b="19615"/>
          <a:stretch/>
        </p:blipFill>
        <p:spPr>
          <a:xfrm>
            <a:off x="8959662" y="2029198"/>
            <a:ext cx="2289832" cy="271394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485446" y="3555800"/>
            <a:ext cx="449496" cy="422405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 b="0" i="0" u="none" strike="noStrike" cap="none">
              <a:solidFill>
                <a:srgbClr val="FFFFFF"/>
              </a:solidFill>
              <a:highlight>
                <a:srgbClr val="EEEEEE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"/>
          <p:cNvSpPr txBox="1">
            <a:spLocks noGrp="1"/>
          </p:cNvSpPr>
          <p:nvPr>
            <p:ph type="title"/>
          </p:nvPr>
        </p:nvSpPr>
        <p:spPr>
          <a:xfrm>
            <a:off x="325882" y="53637"/>
            <a:ext cx="11538600" cy="11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L’objectif des MoU est d’atteindre une couverture vaccinale de 80% et d’arrêter la transmission de la Polio et d’autres maladies évitables par la vaccination 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 flipH="1">
            <a:off x="486775" y="1582447"/>
            <a:ext cx="20580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OBJECTIF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26450" y="1234425"/>
            <a:ext cx="11698800" cy="8823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44000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 flipH="1">
            <a:off x="5090046" y="1310625"/>
            <a:ext cx="20118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VISION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9"/>
          <p:cNvGrpSpPr/>
          <p:nvPr/>
        </p:nvGrpSpPr>
        <p:grpSpPr>
          <a:xfrm>
            <a:off x="543956" y="2495608"/>
            <a:ext cx="11290261" cy="1147290"/>
            <a:chOff x="2749171" y="2046063"/>
            <a:chExt cx="9135600" cy="1580724"/>
          </a:xfrm>
        </p:grpSpPr>
        <p:sp>
          <p:nvSpPr>
            <p:cNvPr id="313" name="Google Shape;313;p9"/>
            <p:cNvSpPr txBox="1"/>
            <p:nvPr/>
          </p:nvSpPr>
          <p:spPr>
            <a:xfrm>
              <a:off x="2749171" y="2046063"/>
              <a:ext cx="9135600" cy="48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5040000" tIns="45700" rIns="91425" bIns="457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								Transparence financière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"/>
            <p:cNvSpPr txBox="1"/>
            <p:nvPr/>
          </p:nvSpPr>
          <p:spPr>
            <a:xfrm>
              <a:off x="2749171" y="2596425"/>
              <a:ext cx="9135600" cy="48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5040000" tIns="45700" rIns="91425" bIns="457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								Renforcement de la gouvernance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"/>
            <p:cNvSpPr txBox="1"/>
            <p:nvPr/>
          </p:nvSpPr>
          <p:spPr>
            <a:xfrm>
              <a:off x="2749171" y="3146787"/>
              <a:ext cx="9135600" cy="48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5040000" tIns="45700" rIns="91425" bIns="457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								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Innovation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9"/>
          <p:cNvSpPr txBox="1"/>
          <p:nvPr/>
        </p:nvSpPr>
        <p:spPr>
          <a:xfrm>
            <a:off x="970503" y="2360114"/>
            <a:ext cx="1876507" cy="1432422"/>
          </a:xfrm>
          <a:prstGeom prst="rect">
            <a:avLst/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1440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OBJECTIF 1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200"/>
              <a:buFont typeface="Arial"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Optimiser la prestation de la vaccination afin que la couverture vaccinale atteigne au moins 80%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3011431" y="2360114"/>
            <a:ext cx="1876507" cy="1427766"/>
          </a:xfrm>
          <a:prstGeom prst="rect">
            <a:avLst/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1440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OBJECTIF 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200"/>
              <a:buFont typeface="Arial"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Stopper la transmission de la Polio et maintenir la province exempte de Polio et d’autres MEV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5052359" y="2360114"/>
            <a:ext cx="1876507" cy="1432422"/>
          </a:xfrm>
          <a:prstGeom prst="rect">
            <a:avLst/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1440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OBJECTIF 3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200"/>
              <a:buFont typeface="Arial"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  <a:tabLst/>
              <a:defRPr/>
            </a:pPr>
            <a:r>
              <a:rPr kumimoji="0" lang="en-GB" sz="118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Améliorer l’équité en matière de vaccination et réduire la morbidité et la mortalité infantiles dans la province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7093288" y="2360114"/>
            <a:ext cx="1876507" cy="1432422"/>
          </a:xfrm>
          <a:prstGeom prst="rect">
            <a:avLst/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1440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OBJECTIF 4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452A"/>
              </a:buClr>
              <a:buSzPts val="1200"/>
              <a:buFont typeface="Arial"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  <a:tabLst/>
              <a:defRPr/>
            </a:pPr>
            <a:r>
              <a:rPr kumimoji="0" lang="en-GB" sz="118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Transférer toute la responsabilité de l’amélioration de ces acquis à la province d’ici décembre 2023</a:t>
            </a:r>
            <a:endParaRPr kumimoji="0" sz="118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 rot="-5400000">
            <a:off x="1698220" y="1853607"/>
            <a:ext cx="421046" cy="825499"/>
          </a:xfrm>
          <a:prstGeom prst="rightArrow">
            <a:avLst>
              <a:gd name="adj1" fmla="val 55475"/>
              <a:gd name="adj2" fmla="val 50000"/>
            </a:avLst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 rot="-5400000">
            <a:off x="3739149" y="1853607"/>
            <a:ext cx="421046" cy="825499"/>
          </a:xfrm>
          <a:prstGeom prst="rightArrow">
            <a:avLst>
              <a:gd name="adj1" fmla="val 55475"/>
              <a:gd name="adj2" fmla="val 50000"/>
            </a:avLst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 rot="-5400000">
            <a:off x="5780076" y="1853608"/>
            <a:ext cx="421046" cy="825499"/>
          </a:xfrm>
          <a:prstGeom prst="rightArrow">
            <a:avLst>
              <a:gd name="adj1" fmla="val 55475"/>
              <a:gd name="adj2" fmla="val 50000"/>
            </a:avLst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 rot="-5400000">
            <a:off x="7816322" y="1853608"/>
            <a:ext cx="421046" cy="825499"/>
          </a:xfrm>
          <a:prstGeom prst="rightArrow">
            <a:avLst>
              <a:gd name="adj1" fmla="val 55475"/>
              <a:gd name="adj2" fmla="val 50000"/>
            </a:avLst>
          </a:prstGeom>
          <a:solidFill>
            <a:srgbClr val="A0DD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246590" y="4436368"/>
            <a:ext cx="11698800" cy="2031900"/>
          </a:xfrm>
          <a:prstGeom prst="rect">
            <a:avLst/>
          </a:prstGeom>
          <a:solidFill>
            <a:srgbClr val="CFE2F3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464F6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306225" y="4553733"/>
            <a:ext cx="5425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AXES DE MISE EN OEUVRE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9"/>
          <p:cNvGrpSpPr/>
          <p:nvPr/>
        </p:nvGrpSpPr>
        <p:grpSpPr>
          <a:xfrm>
            <a:off x="4322062" y="5024314"/>
            <a:ext cx="2071800" cy="1089670"/>
            <a:chOff x="4474462" y="5024314"/>
            <a:chExt cx="2071800" cy="1089670"/>
          </a:xfrm>
        </p:grpSpPr>
        <p:grpSp>
          <p:nvGrpSpPr>
            <p:cNvPr id="327" name="Google Shape;327;p9"/>
            <p:cNvGrpSpPr/>
            <p:nvPr/>
          </p:nvGrpSpPr>
          <p:grpSpPr>
            <a:xfrm>
              <a:off x="5226003" y="5024314"/>
              <a:ext cx="568722" cy="504825"/>
              <a:chOff x="1587500" y="635000"/>
              <a:chExt cx="3968750" cy="3968750"/>
            </a:xfrm>
          </p:grpSpPr>
          <p:sp>
            <p:nvSpPr>
              <p:cNvPr id="328" name="Google Shape;328;p9"/>
              <p:cNvSpPr/>
              <p:nvPr/>
            </p:nvSpPr>
            <p:spPr>
              <a:xfrm>
                <a:off x="3175000" y="1666875"/>
                <a:ext cx="396875" cy="396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 extrusionOk="0">
                    <a:moveTo>
                      <a:pt x="0" y="0"/>
                    </a:moveTo>
                    <a:lnTo>
                      <a:pt x="0" y="15875"/>
                    </a:lnTo>
                    <a:lnTo>
                      <a:pt x="15875" y="15875"/>
                    </a:lnTo>
                    <a:lnTo>
                      <a:pt x="1587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3175000" y="2460625"/>
                <a:ext cx="396875" cy="396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 extrusionOk="0">
                    <a:moveTo>
                      <a:pt x="0" y="0"/>
                    </a:moveTo>
                    <a:lnTo>
                      <a:pt x="0" y="15875"/>
                    </a:lnTo>
                    <a:lnTo>
                      <a:pt x="15875" y="15875"/>
                    </a:lnTo>
                    <a:lnTo>
                      <a:pt x="1587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9"/>
              <p:cNvSpPr/>
              <p:nvPr/>
            </p:nvSpPr>
            <p:spPr>
              <a:xfrm>
                <a:off x="1587500" y="1016000"/>
                <a:ext cx="1984375" cy="358775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43510" extrusionOk="0">
                    <a:moveTo>
                      <a:pt x="0" y="0"/>
                    </a:moveTo>
                    <a:lnTo>
                      <a:pt x="0" y="143510"/>
                    </a:lnTo>
                    <a:lnTo>
                      <a:pt x="79375" y="143510"/>
                    </a:lnTo>
                    <a:lnTo>
                      <a:pt x="79375" y="127635"/>
                    </a:lnTo>
                    <a:lnTo>
                      <a:pt x="71755" y="127635"/>
                    </a:lnTo>
                    <a:lnTo>
                      <a:pt x="71755" y="89535"/>
                    </a:lnTo>
                    <a:lnTo>
                      <a:pt x="40005" y="89535"/>
                    </a:lnTo>
                    <a:lnTo>
                      <a:pt x="40005" y="127635"/>
                    </a:lnTo>
                    <a:lnTo>
                      <a:pt x="15875" y="127635"/>
                    </a:lnTo>
                    <a:lnTo>
                      <a:pt x="15875" y="15875"/>
                    </a:lnTo>
                    <a:lnTo>
                      <a:pt x="79375" y="15875"/>
                    </a:lnTo>
                    <a:lnTo>
                      <a:pt x="7937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2381250" y="2460625"/>
                <a:ext cx="396875" cy="396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 extrusionOk="0">
                    <a:moveTo>
                      <a:pt x="0" y="0"/>
                    </a:moveTo>
                    <a:lnTo>
                      <a:pt x="0" y="15875"/>
                    </a:lnTo>
                    <a:lnTo>
                      <a:pt x="15875" y="15875"/>
                    </a:lnTo>
                    <a:lnTo>
                      <a:pt x="1587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3968750" y="635000"/>
                <a:ext cx="1587500" cy="3968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58750" extrusionOk="0">
                    <a:moveTo>
                      <a:pt x="47625" y="31750"/>
                    </a:moveTo>
                    <a:lnTo>
                      <a:pt x="47625" y="111125"/>
                    </a:lnTo>
                    <a:lnTo>
                      <a:pt x="15875" y="111125"/>
                    </a:lnTo>
                    <a:lnTo>
                      <a:pt x="15875" y="95250"/>
                    </a:lnTo>
                    <a:lnTo>
                      <a:pt x="31750" y="95250"/>
                    </a:lnTo>
                    <a:lnTo>
                      <a:pt x="31750" y="79375"/>
                    </a:lnTo>
                    <a:lnTo>
                      <a:pt x="15875" y="79375"/>
                    </a:lnTo>
                    <a:lnTo>
                      <a:pt x="15875" y="63500"/>
                    </a:lnTo>
                    <a:lnTo>
                      <a:pt x="31750" y="63500"/>
                    </a:lnTo>
                    <a:lnTo>
                      <a:pt x="31750" y="47625"/>
                    </a:lnTo>
                    <a:lnTo>
                      <a:pt x="15875" y="47625"/>
                    </a:lnTo>
                    <a:lnTo>
                      <a:pt x="15875" y="31750"/>
                    </a:lnTo>
                    <a:close/>
                    <a:moveTo>
                      <a:pt x="24130" y="0"/>
                    </a:moveTo>
                    <a:lnTo>
                      <a:pt x="24130" y="15875"/>
                    </a:lnTo>
                    <a:lnTo>
                      <a:pt x="0" y="15875"/>
                    </a:lnTo>
                    <a:lnTo>
                      <a:pt x="0" y="47625"/>
                    </a:lnTo>
                    <a:lnTo>
                      <a:pt x="0" y="63500"/>
                    </a:lnTo>
                    <a:lnTo>
                      <a:pt x="0" y="79375"/>
                    </a:lnTo>
                    <a:lnTo>
                      <a:pt x="0" y="95250"/>
                    </a:lnTo>
                    <a:lnTo>
                      <a:pt x="0" y="127000"/>
                    </a:lnTo>
                    <a:lnTo>
                      <a:pt x="24130" y="127000"/>
                    </a:lnTo>
                    <a:lnTo>
                      <a:pt x="24130" y="142875"/>
                    </a:lnTo>
                    <a:lnTo>
                      <a:pt x="0" y="142875"/>
                    </a:lnTo>
                    <a:lnTo>
                      <a:pt x="0" y="158750"/>
                    </a:lnTo>
                    <a:lnTo>
                      <a:pt x="63500" y="158750"/>
                    </a:lnTo>
                    <a:lnTo>
                      <a:pt x="63500" y="142875"/>
                    </a:lnTo>
                    <a:lnTo>
                      <a:pt x="40005" y="142875"/>
                    </a:lnTo>
                    <a:lnTo>
                      <a:pt x="40005" y="127000"/>
                    </a:lnTo>
                    <a:lnTo>
                      <a:pt x="63500" y="127000"/>
                    </a:lnTo>
                    <a:lnTo>
                      <a:pt x="63500" y="111125"/>
                    </a:lnTo>
                    <a:lnTo>
                      <a:pt x="63500" y="31750"/>
                    </a:lnTo>
                    <a:lnTo>
                      <a:pt x="63500" y="15875"/>
                    </a:lnTo>
                    <a:lnTo>
                      <a:pt x="40005" y="15875"/>
                    </a:lnTo>
                    <a:lnTo>
                      <a:pt x="400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2381250" y="1666875"/>
                <a:ext cx="396875" cy="396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 extrusionOk="0">
                    <a:moveTo>
                      <a:pt x="0" y="0"/>
                    </a:moveTo>
                    <a:lnTo>
                      <a:pt x="0" y="15875"/>
                    </a:lnTo>
                    <a:lnTo>
                      <a:pt x="15875" y="15875"/>
                    </a:lnTo>
                    <a:lnTo>
                      <a:pt x="1587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59452A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" name="Google Shape;334;p9"/>
            <p:cNvSpPr/>
            <p:nvPr/>
          </p:nvSpPr>
          <p:spPr>
            <a:xfrm>
              <a:off x="4474462" y="5609084"/>
              <a:ext cx="20718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Sécurité du vaccin, chaîne de froid et logistique 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9"/>
          <p:cNvSpPr/>
          <p:nvPr/>
        </p:nvSpPr>
        <p:spPr>
          <a:xfrm flipH="1">
            <a:off x="544100" y="1658500"/>
            <a:ext cx="11290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 MOU vise à atteindre une couverture vaccinale complète supérieure à 80% et à pérenniser le financement de la vaccination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9"/>
          <p:cNvGrpSpPr/>
          <p:nvPr/>
        </p:nvGrpSpPr>
        <p:grpSpPr>
          <a:xfrm>
            <a:off x="326443" y="4994427"/>
            <a:ext cx="2071800" cy="1176892"/>
            <a:chOff x="474518" y="5003152"/>
            <a:chExt cx="2071800" cy="1176892"/>
          </a:xfrm>
        </p:grpSpPr>
        <p:sp>
          <p:nvSpPr>
            <p:cNvPr id="337" name="Google Shape;337;p9"/>
            <p:cNvSpPr/>
            <p:nvPr/>
          </p:nvSpPr>
          <p:spPr>
            <a:xfrm>
              <a:off x="474518" y="5675144"/>
              <a:ext cx="20718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Gouvernance, Redevabilité, Responsabilité</a:t>
              </a: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8" name="Google Shape;338;p9"/>
            <p:cNvGrpSpPr/>
            <p:nvPr/>
          </p:nvGrpSpPr>
          <p:grpSpPr>
            <a:xfrm>
              <a:off x="1149231" y="5003152"/>
              <a:ext cx="568653" cy="504904"/>
              <a:chOff x="829606" y="2320033"/>
              <a:chExt cx="368514" cy="303301"/>
            </a:xfrm>
          </p:grpSpPr>
          <p:sp>
            <p:nvSpPr>
              <p:cNvPr id="339" name="Google Shape;339;p9"/>
              <p:cNvSpPr/>
              <p:nvPr/>
            </p:nvSpPr>
            <p:spPr>
              <a:xfrm>
                <a:off x="912757" y="2320033"/>
                <a:ext cx="202211" cy="110913"/>
              </a:xfrm>
              <a:custGeom>
                <a:avLst/>
                <a:gdLst/>
                <a:ahLst/>
                <a:cxnLst/>
                <a:rect l="l" t="t" r="r" b="b"/>
                <a:pathLst>
                  <a:path w="5907" h="3240" extrusionOk="0">
                    <a:moveTo>
                      <a:pt x="2953" y="0"/>
                    </a:moveTo>
                    <a:lnTo>
                      <a:pt x="0" y="3239"/>
                    </a:lnTo>
                    <a:lnTo>
                      <a:pt x="5906" y="3239"/>
                    </a:lnTo>
                    <a:lnTo>
                      <a:pt x="2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1056225" y="2334719"/>
                <a:ext cx="141894" cy="107627"/>
              </a:xfrm>
              <a:custGeom>
                <a:avLst/>
                <a:gdLst/>
                <a:ahLst/>
                <a:cxnLst/>
                <a:rect l="l" t="t" r="r" b="b"/>
                <a:pathLst>
                  <a:path w="4145" h="3144" extrusionOk="0">
                    <a:moveTo>
                      <a:pt x="1" y="0"/>
                    </a:moveTo>
                    <a:lnTo>
                      <a:pt x="2168" y="2405"/>
                    </a:lnTo>
                    <a:cubicBezTo>
                      <a:pt x="2334" y="2596"/>
                      <a:pt x="2382" y="2858"/>
                      <a:pt x="2287" y="3072"/>
                    </a:cubicBezTo>
                    <a:cubicBezTo>
                      <a:pt x="2287" y="3096"/>
                      <a:pt x="2263" y="3120"/>
                      <a:pt x="2263" y="3144"/>
                    </a:cubicBezTo>
                    <a:lnTo>
                      <a:pt x="3835" y="3144"/>
                    </a:lnTo>
                    <a:cubicBezTo>
                      <a:pt x="3930" y="3144"/>
                      <a:pt x="4025" y="3072"/>
                      <a:pt x="4097" y="2977"/>
                    </a:cubicBezTo>
                    <a:cubicBezTo>
                      <a:pt x="4144" y="2882"/>
                      <a:pt x="4144" y="2786"/>
                      <a:pt x="4097" y="2691"/>
                    </a:cubicBezTo>
                    <a:lnTo>
                      <a:pt x="2834" y="167"/>
                    </a:lnTo>
                    <a:cubicBezTo>
                      <a:pt x="2787" y="71"/>
                      <a:pt x="2668" y="0"/>
                      <a:pt x="25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829606" y="2334719"/>
                <a:ext cx="141859" cy="107627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3144" extrusionOk="0">
                    <a:moveTo>
                      <a:pt x="1596" y="0"/>
                    </a:moveTo>
                    <a:cubicBezTo>
                      <a:pt x="1477" y="0"/>
                      <a:pt x="1358" y="71"/>
                      <a:pt x="1310" y="167"/>
                    </a:cubicBezTo>
                    <a:lnTo>
                      <a:pt x="48" y="2691"/>
                    </a:lnTo>
                    <a:cubicBezTo>
                      <a:pt x="0" y="2763"/>
                      <a:pt x="0" y="2882"/>
                      <a:pt x="48" y="2977"/>
                    </a:cubicBezTo>
                    <a:cubicBezTo>
                      <a:pt x="119" y="3072"/>
                      <a:pt x="214" y="3120"/>
                      <a:pt x="334" y="3120"/>
                    </a:cubicBezTo>
                    <a:lnTo>
                      <a:pt x="334" y="3144"/>
                    </a:lnTo>
                    <a:lnTo>
                      <a:pt x="1881" y="3144"/>
                    </a:lnTo>
                    <a:cubicBezTo>
                      <a:pt x="1881" y="3120"/>
                      <a:pt x="1858" y="3096"/>
                      <a:pt x="1858" y="3072"/>
                    </a:cubicBezTo>
                    <a:cubicBezTo>
                      <a:pt x="1762" y="2858"/>
                      <a:pt x="1810" y="2572"/>
                      <a:pt x="1977" y="2405"/>
                    </a:cubicBezTo>
                    <a:lnTo>
                      <a:pt x="414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830394" y="2463502"/>
                <a:ext cx="367726" cy="159832"/>
              </a:xfrm>
              <a:custGeom>
                <a:avLst/>
                <a:gdLst/>
                <a:ahLst/>
                <a:cxnLst/>
                <a:rect l="l" t="t" r="r" b="b"/>
                <a:pathLst>
                  <a:path w="10742" h="4669" extrusionOk="0">
                    <a:moveTo>
                      <a:pt x="2344" y="525"/>
                    </a:moveTo>
                    <a:cubicBezTo>
                      <a:pt x="2490" y="525"/>
                      <a:pt x="2632" y="620"/>
                      <a:pt x="2644" y="810"/>
                    </a:cubicBezTo>
                    <a:lnTo>
                      <a:pt x="2644" y="1453"/>
                    </a:lnTo>
                    <a:cubicBezTo>
                      <a:pt x="2632" y="1644"/>
                      <a:pt x="2490" y="1739"/>
                      <a:pt x="2344" y="1739"/>
                    </a:cubicBezTo>
                    <a:cubicBezTo>
                      <a:pt x="2198" y="1739"/>
                      <a:pt x="2049" y="1644"/>
                      <a:pt x="2025" y="1453"/>
                    </a:cubicBezTo>
                    <a:lnTo>
                      <a:pt x="2025" y="810"/>
                    </a:lnTo>
                    <a:cubicBezTo>
                      <a:pt x="2049" y="620"/>
                      <a:pt x="2198" y="525"/>
                      <a:pt x="2344" y="525"/>
                    </a:cubicBezTo>
                    <a:close/>
                    <a:moveTo>
                      <a:pt x="3847" y="525"/>
                    </a:moveTo>
                    <a:cubicBezTo>
                      <a:pt x="3996" y="525"/>
                      <a:pt x="4145" y="620"/>
                      <a:pt x="4168" y="810"/>
                    </a:cubicBezTo>
                    <a:lnTo>
                      <a:pt x="4168" y="1453"/>
                    </a:lnTo>
                    <a:cubicBezTo>
                      <a:pt x="4145" y="1644"/>
                      <a:pt x="3996" y="1739"/>
                      <a:pt x="3847" y="1739"/>
                    </a:cubicBezTo>
                    <a:cubicBezTo>
                      <a:pt x="3698" y="1739"/>
                      <a:pt x="3549" y="1644"/>
                      <a:pt x="3525" y="1453"/>
                    </a:cubicBezTo>
                    <a:lnTo>
                      <a:pt x="3525" y="810"/>
                    </a:lnTo>
                    <a:cubicBezTo>
                      <a:pt x="3549" y="620"/>
                      <a:pt x="3698" y="525"/>
                      <a:pt x="3847" y="525"/>
                    </a:cubicBezTo>
                    <a:close/>
                    <a:moveTo>
                      <a:pt x="6868" y="525"/>
                    </a:moveTo>
                    <a:cubicBezTo>
                      <a:pt x="7014" y="525"/>
                      <a:pt x="7157" y="620"/>
                      <a:pt x="7169" y="810"/>
                    </a:cubicBezTo>
                    <a:lnTo>
                      <a:pt x="7169" y="1453"/>
                    </a:lnTo>
                    <a:cubicBezTo>
                      <a:pt x="7157" y="1644"/>
                      <a:pt x="7014" y="1739"/>
                      <a:pt x="6868" y="1739"/>
                    </a:cubicBezTo>
                    <a:cubicBezTo>
                      <a:pt x="6723" y="1739"/>
                      <a:pt x="6574" y="1644"/>
                      <a:pt x="6550" y="1453"/>
                    </a:cubicBezTo>
                    <a:lnTo>
                      <a:pt x="6550" y="810"/>
                    </a:lnTo>
                    <a:cubicBezTo>
                      <a:pt x="6574" y="620"/>
                      <a:pt x="6723" y="525"/>
                      <a:pt x="6868" y="525"/>
                    </a:cubicBezTo>
                    <a:close/>
                    <a:moveTo>
                      <a:pt x="8372" y="525"/>
                    </a:moveTo>
                    <a:cubicBezTo>
                      <a:pt x="8521" y="525"/>
                      <a:pt x="8669" y="620"/>
                      <a:pt x="8693" y="810"/>
                    </a:cubicBezTo>
                    <a:lnTo>
                      <a:pt x="8693" y="1453"/>
                    </a:lnTo>
                    <a:cubicBezTo>
                      <a:pt x="8669" y="1644"/>
                      <a:pt x="8521" y="1739"/>
                      <a:pt x="8372" y="1739"/>
                    </a:cubicBezTo>
                    <a:cubicBezTo>
                      <a:pt x="8223" y="1739"/>
                      <a:pt x="8074" y="1644"/>
                      <a:pt x="8050" y="1453"/>
                    </a:cubicBezTo>
                    <a:lnTo>
                      <a:pt x="8050" y="810"/>
                    </a:lnTo>
                    <a:cubicBezTo>
                      <a:pt x="8074" y="620"/>
                      <a:pt x="8223" y="525"/>
                      <a:pt x="8372" y="525"/>
                    </a:cubicBezTo>
                    <a:close/>
                    <a:moveTo>
                      <a:pt x="5359" y="507"/>
                    </a:moveTo>
                    <a:cubicBezTo>
                      <a:pt x="5514" y="507"/>
                      <a:pt x="5669" y="608"/>
                      <a:pt x="5669" y="810"/>
                    </a:cubicBezTo>
                    <a:lnTo>
                      <a:pt x="5669" y="1453"/>
                    </a:lnTo>
                    <a:cubicBezTo>
                      <a:pt x="5669" y="1656"/>
                      <a:pt x="5514" y="1757"/>
                      <a:pt x="5359" y="1757"/>
                    </a:cubicBezTo>
                    <a:cubicBezTo>
                      <a:pt x="5204" y="1757"/>
                      <a:pt x="5050" y="1656"/>
                      <a:pt x="5050" y="1453"/>
                    </a:cubicBezTo>
                    <a:lnTo>
                      <a:pt x="5050" y="810"/>
                    </a:lnTo>
                    <a:cubicBezTo>
                      <a:pt x="5050" y="608"/>
                      <a:pt x="5204" y="507"/>
                      <a:pt x="5359" y="507"/>
                    </a:cubicBezTo>
                    <a:close/>
                    <a:moveTo>
                      <a:pt x="2344" y="2501"/>
                    </a:moveTo>
                    <a:cubicBezTo>
                      <a:pt x="2490" y="2501"/>
                      <a:pt x="2632" y="2596"/>
                      <a:pt x="2644" y="2787"/>
                    </a:cubicBezTo>
                    <a:lnTo>
                      <a:pt x="2644" y="3430"/>
                    </a:lnTo>
                    <a:cubicBezTo>
                      <a:pt x="2632" y="3620"/>
                      <a:pt x="2490" y="3716"/>
                      <a:pt x="2344" y="3716"/>
                    </a:cubicBezTo>
                    <a:cubicBezTo>
                      <a:pt x="2198" y="3716"/>
                      <a:pt x="2049" y="3620"/>
                      <a:pt x="2025" y="3430"/>
                    </a:cubicBezTo>
                    <a:lnTo>
                      <a:pt x="2025" y="2787"/>
                    </a:lnTo>
                    <a:cubicBezTo>
                      <a:pt x="2049" y="2596"/>
                      <a:pt x="2198" y="2501"/>
                      <a:pt x="2344" y="2501"/>
                    </a:cubicBezTo>
                    <a:close/>
                    <a:moveTo>
                      <a:pt x="3847" y="2501"/>
                    </a:moveTo>
                    <a:cubicBezTo>
                      <a:pt x="3996" y="2501"/>
                      <a:pt x="4145" y="2596"/>
                      <a:pt x="4168" y="2787"/>
                    </a:cubicBezTo>
                    <a:lnTo>
                      <a:pt x="4168" y="3430"/>
                    </a:lnTo>
                    <a:cubicBezTo>
                      <a:pt x="4145" y="3620"/>
                      <a:pt x="3996" y="3716"/>
                      <a:pt x="3847" y="3716"/>
                    </a:cubicBezTo>
                    <a:cubicBezTo>
                      <a:pt x="3698" y="3716"/>
                      <a:pt x="3549" y="3620"/>
                      <a:pt x="3525" y="3430"/>
                    </a:cubicBezTo>
                    <a:lnTo>
                      <a:pt x="3525" y="2787"/>
                    </a:lnTo>
                    <a:cubicBezTo>
                      <a:pt x="3549" y="2596"/>
                      <a:pt x="3698" y="2501"/>
                      <a:pt x="3847" y="2501"/>
                    </a:cubicBezTo>
                    <a:close/>
                    <a:moveTo>
                      <a:pt x="6868" y="2501"/>
                    </a:moveTo>
                    <a:cubicBezTo>
                      <a:pt x="7014" y="2501"/>
                      <a:pt x="7157" y="2596"/>
                      <a:pt x="7169" y="2787"/>
                    </a:cubicBezTo>
                    <a:lnTo>
                      <a:pt x="7169" y="3430"/>
                    </a:lnTo>
                    <a:cubicBezTo>
                      <a:pt x="7157" y="3620"/>
                      <a:pt x="7014" y="3716"/>
                      <a:pt x="6868" y="3716"/>
                    </a:cubicBezTo>
                    <a:cubicBezTo>
                      <a:pt x="6723" y="3716"/>
                      <a:pt x="6574" y="3620"/>
                      <a:pt x="6550" y="3430"/>
                    </a:cubicBezTo>
                    <a:lnTo>
                      <a:pt x="6550" y="2787"/>
                    </a:lnTo>
                    <a:cubicBezTo>
                      <a:pt x="6574" y="2596"/>
                      <a:pt x="6723" y="2501"/>
                      <a:pt x="6868" y="2501"/>
                    </a:cubicBezTo>
                    <a:close/>
                    <a:moveTo>
                      <a:pt x="8372" y="2501"/>
                    </a:moveTo>
                    <a:cubicBezTo>
                      <a:pt x="8521" y="2501"/>
                      <a:pt x="8669" y="2596"/>
                      <a:pt x="8693" y="2787"/>
                    </a:cubicBezTo>
                    <a:lnTo>
                      <a:pt x="8693" y="3430"/>
                    </a:lnTo>
                    <a:cubicBezTo>
                      <a:pt x="8669" y="3620"/>
                      <a:pt x="8521" y="3716"/>
                      <a:pt x="8372" y="3716"/>
                    </a:cubicBezTo>
                    <a:cubicBezTo>
                      <a:pt x="8223" y="3716"/>
                      <a:pt x="8074" y="3620"/>
                      <a:pt x="8050" y="3430"/>
                    </a:cubicBezTo>
                    <a:lnTo>
                      <a:pt x="8050" y="2787"/>
                    </a:lnTo>
                    <a:cubicBezTo>
                      <a:pt x="8074" y="2596"/>
                      <a:pt x="8223" y="2501"/>
                      <a:pt x="8372" y="2501"/>
                    </a:cubicBezTo>
                    <a:close/>
                    <a:moveTo>
                      <a:pt x="620" y="1"/>
                    </a:moveTo>
                    <a:lnTo>
                      <a:pt x="620" y="4025"/>
                    </a:lnTo>
                    <a:lnTo>
                      <a:pt x="334" y="4025"/>
                    </a:lnTo>
                    <a:cubicBezTo>
                      <a:pt x="168" y="4025"/>
                      <a:pt x="25" y="4168"/>
                      <a:pt x="1" y="4335"/>
                    </a:cubicBezTo>
                    <a:cubicBezTo>
                      <a:pt x="1" y="4502"/>
                      <a:pt x="144" y="4645"/>
                      <a:pt x="311" y="4668"/>
                    </a:cubicBezTo>
                    <a:lnTo>
                      <a:pt x="5073" y="4668"/>
                    </a:lnTo>
                    <a:lnTo>
                      <a:pt x="5073" y="2811"/>
                    </a:lnTo>
                    <a:cubicBezTo>
                      <a:pt x="5050" y="2620"/>
                      <a:pt x="5192" y="2477"/>
                      <a:pt x="5359" y="2477"/>
                    </a:cubicBezTo>
                    <a:cubicBezTo>
                      <a:pt x="5371" y="2476"/>
                      <a:pt x="5384" y="2475"/>
                      <a:pt x="5396" y="2475"/>
                    </a:cubicBezTo>
                    <a:cubicBezTo>
                      <a:pt x="5549" y="2475"/>
                      <a:pt x="5693" y="2610"/>
                      <a:pt x="5693" y="2787"/>
                    </a:cubicBezTo>
                    <a:lnTo>
                      <a:pt x="5693" y="4645"/>
                    </a:lnTo>
                    <a:lnTo>
                      <a:pt x="10432" y="4645"/>
                    </a:lnTo>
                    <a:cubicBezTo>
                      <a:pt x="10598" y="4645"/>
                      <a:pt x="10741" y="4502"/>
                      <a:pt x="10741" y="4311"/>
                    </a:cubicBezTo>
                    <a:cubicBezTo>
                      <a:pt x="10717" y="4144"/>
                      <a:pt x="10575" y="4025"/>
                      <a:pt x="10408" y="4025"/>
                    </a:cubicBezTo>
                    <a:lnTo>
                      <a:pt x="10098" y="4025"/>
                    </a:lnTo>
                    <a:lnTo>
                      <a:pt x="1009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3" name="Google Shape;343;p9"/>
          <p:cNvSpPr/>
          <p:nvPr/>
        </p:nvSpPr>
        <p:spPr>
          <a:xfrm>
            <a:off x="2314375" y="5613550"/>
            <a:ext cx="19722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Prestation, accès 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200"/>
              <a:buFont typeface="Arial"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et utilisation des services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9"/>
          <p:cNvGrpSpPr/>
          <p:nvPr/>
        </p:nvGrpSpPr>
        <p:grpSpPr>
          <a:xfrm>
            <a:off x="6342812" y="5024331"/>
            <a:ext cx="2071800" cy="1089638"/>
            <a:chOff x="6495212" y="5024331"/>
            <a:chExt cx="2071800" cy="1089638"/>
          </a:xfrm>
        </p:grpSpPr>
        <p:sp>
          <p:nvSpPr>
            <p:cNvPr id="345" name="Google Shape;345;p9"/>
            <p:cNvSpPr/>
            <p:nvPr/>
          </p:nvSpPr>
          <p:spPr>
            <a:xfrm>
              <a:off x="6495212" y="5609069"/>
              <a:ext cx="20718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Suivi, évaluation, inspection et contrôle 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6" name="Google Shape;346;p9"/>
            <p:cNvGrpSpPr/>
            <p:nvPr/>
          </p:nvGrpSpPr>
          <p:grpSpPr>
            <a:xfrm>
              <a:off x="7163425" y="5024331"/>
              <a:ext cx="472310" cy="431277"/>
              <a:chOff x="-62151950" y="4111775"/>
              <a:chExt cx="318225" cy="31665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-62151950" y="4407925"/>
                <a:ext cx="31822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2729" h="820" extrusionOk="0">
                    <a:moveTo>
                      <a:pt x="442" y="0"/>
                    </a:moveTo>
                    <a:cubicBezTo>
                      <a:pt x="221" y="0"/>
                      <a:pt x="1" y="189"/>
                      <a:pt x="1" y="441"/>
                    </a:cubicBezTo>
                    <a:cubicBezTo>
                      <a:pt x="1" y="662"/>
                      <a:pt x="221" y="819"/>
                      <a:pt x="442" y="819"/>
                    </a:cubicBezTo>
                    <a:lnTo>
                      <a:pt x="12288" y="819"/>
                    </a:lnTo>
                    <a:cubicBezTo>
                      <a:pt x="12540" y="819"/>
                      <a:pt x="12697" y="630"/>
                      <a:pt x="12697" y="441"/>
                    </a:cubicBezTo>
                    <a:cubicBezTo>
                      <a:pt x="12729" y="158"/>
                      <a:pt x="12540" y="0"/>
                      <a:pt x="122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-62151950" y="4283475"/>
                <a:ext cx="8430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4160" extrusionOk="0">
                    <a:moveTo>
                      <a:pt x="1009" y="0"/>
                    </a:moveTo>
                    <a:cubicBezTo>
                      <a:pt x="442" y="0"/>
                      <a:pt x="1" y="442"/>
                      <a:pt x="1" y="1009"/>
                    </a:cubicBezTo>
                    <a:lnTo>
                      <a:pt x="1" y="3214"/>
                    </a:lnTo>
                    <a:cubicBezTo>
                      <a:pt x="64" y="3718"/>
                      <a:pt x="473" y="4159"/>
                      <a:pt x="1009" y="4159"/>
                    </a:cubicBezTo>
                    <a:lnTo>
                      <a:pt x="2363" y="4159"/>
                    </a:lnTo>
                    <a:cubicBezTo>
                      <a:pt x="2931" y="4159"/>
                      <a:pt x="3372" y="3718"/>
                      <a:pt x="3372" y="3214"/>
                    </a:cubicBezTo>
                    <a:lnTo>
                      <a:pt x="3372" y="1009"/>
                    </a:lnTo>
                    <a:cubicBezTo>
                      <a:pt x="3372" y="442"/>
                      <a:pt x="2931" y="0"/>
                      <a:pt x="236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62033800" y="4111775"/>
                <a:ext cx="82725" cy="27570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11028" extrusionOk="0">
                    <a:moveTo>
                      <a:pt x="946" y="0"/>
                    </a:moveTo>
                    <a:cubicBezTo>
                      <a:pt x="410" y="0"/>
                      <a:pt x="0" y="410"/>
                      <a:pt x="0" y="977"/>
                    </a:cubicBezTo>
                    <a:lnTo>
                      <a:pt x="0" y="10082"/>
                    </a:lnTo>
                    <a:cubicBezTo>
                      <a:pt x="0" y="10618"/>
                      <a:pt x="441" y="11027"/>
                      <a:pt x="946" y="11027"/>
                    </a:cubicBezTo>
                    <a:lnTo>
                      <a:pt x="2332" y="11027"/>
                    </a:lnTo>
                    <a:cubicBezTo>
                      <a:pt x="2899" y="11027"/>
                      <a:pt x="3308" y="10586"/>
                      <a:pt x="3308" y="10082"/>
                    </a:cubicBezTo>
                    <a:lnTo>
                      <a:pt x="3308" y="977"/>
                    </a:lnTo>
                    <a:cubicBezTo>
                      <a:pt x="3308" y="410"/>
                      <a:pt x="2899" y="0"/>
                      <a:pt x="23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61916450" y="4200775"/>
                <a:ext cx="82725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7468" extrusionOk="0">
                    <a:moveTo>
                      <a:pt x="946" y="0"/>
                    </a:moveTo>
                    <a:cubicBezTo>
                      <a:pt x="410" y="0"/>
                      <a:pt x="1" y="442"/>
                      <a:pt x="1" y="1009"/>
                    </a:cubicBezTo>
                    <a:lnTo>
                      <a:pt x="1" y="6522"/>
                    </a:lnTo>
                    <a:cubicBezTo>
                      <a:pt x="1" y="7058"/>
                      <a:pt x="442" y="7467"/>
                      <a:pt x="946" y="7467"/>
                    </a:cubicBezTo>
                    <a:lnTo>
                      <a:pt x="2332" y="7467"/>
                    </a:lnTo>
                    <a:cubicBezTo>
                      <a:pt x="2868" y="7467"/>
                      <a:pt x="3309" y="7026"/>
                      <a:pt x="3309" y="6522"/>
                    </a:cubicBezTo>
                    <a:lnTo>
                      <a:pt x="3309" y="1009"/>
                    </a:lnTo>
                    <a:cubicBezTo>
                      <a:pt x="3309" y="442"/>
                      <a:pt x="2868" y="0"/>
                      <a:pt x="23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1" name="Google Shape;351;p9"/>
          <p:cNvGrpSpPr/>
          <p:nvPr/>
        </p:nvGrpSpPr>
        <p:grpSpPr>
          <a:xfrm>
            <a:off x="8264931" y="5024314"/>
            <a:ext cx="2071800" cy="1155733"/>
            <a:chOff x="8264931" y="5024314"/>
            <a:chExt cx="2071800" cy="1155733"/>
          </a:xfrm>
        </p:grpSpPr>
        <p:sp>
          <p:nvSpPr>
            <p:cNvPr id="352" name="Google Shape;352;p9"/>
            <p:cNvSpPr/>
            <p:nvPr/>
          </p:nvSpPr>
          <p:spPr>
            <a:xfrm>
              <a:off x="8264931" y="5675147"/>
              <a:ext cx="2071800" cy="5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Mobilisation sociale et engagement de la communauté 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9"/>
            <p:cNvGrpSpPr/>
            <p:nvPr/>
          </p:nvGrpSpPr>
          <p:grpSpPr>
            <a:xfrm>
              <a:off x="9004441" y="5024314"/>
              <a:ext cx="472281" cy="431290"/>
              <a:chOff x="3497300" y="3227275"/>
              <a:chExt cx="296175" cy="296175"/>
            </a:xfrm>
          </p:grpSpPr>
          <p:sp>
            <p:nvSpPr>
              <p:cNvPr id="354" name="Google Shape;354;p9"/>
              <p:cNvSpPr/>
              <p:nvPr/>
            </p:nvSpPr>
            <p:spPr>
              <a:xfrm>
                <a:off x="3609925" y="3339900"/>
                <a:ext cx="693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2742" extrusionOk="0">
                    <a:moveTo>
                      <a:pt x="1387" y="1"/>
                    </a:moveTo>
                    <a:cubicBezTo>
                      <a:pt x="631" y="1"/>
                      <a:pt x="1" y="631"/>
                      <a:pt x="1" y="1355"/>
                    </a:cubicBezTo>
                    <a:cubicBezTo>
                      <a:pt x="1" y="2112"/>
                      <a:pt x="631" y="2742"/>
                      <a:pt x="1387" y="2742"/>
                    </a:cubicBezTo>
                    <a:cubicBezTo>
                      <a:pt x="2143" y="2742"/>
                      <a:pt x="2773" y="2112"/>
                      <a:pt x="2773" y="1355"/>
                    </a:cubicBezTo>
                    <a:cubicBezTo>
                      <a:pt x="2773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531175" y="3227275"/>
                <a:ext cx="8665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3467" extrusionOk="0"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8"/>
                      <a:pt x="788" y="3466"/>
                      <a:pt x="1733" y="3466"/>
                    </a:cubicBezTo>
                    <a:cubicBezTo>
                      <a:pt x="2741" y="3466"/>
                      <a:pt x="3466" y="2678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3670575" y="3227275"/>
                <a:ext cx="8667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3467" h="3467" extrusionOk="0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8"/>
                      <a:pt x="788" y="3466"/>
                      <a:pt x="1733" y="3466"/>
                    </a:cubicBezTo>
                    <a:cubicBezTo>
                      <a:pt x="2679" y="3466"/>
                      <a:pt x="3466" y="2678"/>
                      <a:pt x="3466" y="1733"/>
                    </a:cubicBezTo>
                    <a:cubicBezTo>
                      <a:pt x="3466" y="788"/>
                      <a:pt x="2679" y="1"/>
                      <a:pt x="17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622525" y="3421825"/>
                <a:ext cx="4177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009" extrusionOk="0">
                    <a:moveTo>
                      <a:pt x="1" y="0"/>
                    </a:moveTo>
                    <a:lnTo>
                      <a:pt x="851" y="1008"/>
                    </a:lnTo>
                    <a:lnTo>
                      <a:pt x="1671" y="0"/>
                    </a:lnTo>
                    <a:lnTo>
                      <a:pt x="1671" y="0"/>
                    </a:lnTo>
                    <a:cubicBezTo>
                      <a:pt x="1450" y="126"/>
                      <a:pt x="1167" y="158"/>
                      <a:pt x="851" y="158"/>
                    </a:cubicBezTo>
                    <a:cubicBezTo>
                      <a:pt x="568" y="158"/>
                      <a:pt x="284" y="95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3566600" y="3416300"/>
                <a:ext cx="70125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4254" extrusionOk="0">
                    <a:moveTo>
                      <a:pt x="1261" y="1"/>
                    </a:moveTo>
                    <a:cubicBezTo>
                      <a:pt x="474" y="599"/>
                      <a:pt x="1" y="1513"/>
                      <a:pt x="1" y="2490"/>
                    </a:cubicBezTo>
                    <a:lnTo>
                      <a:pt x="1" y="3907"/>
                    </a:lnTo>
                    <a:cubicBezTo>
                      <a:pt x="1" y="4096"/>
                      <a:pt x="158" y="4254"/>
                      <a:pt x="379" y="4254"/>
                    </a:cubicBezTo>
                    <a:lnTo>
                      <a:pt x="2805" y="4254"/>
                    </a:lnTo>
                    <a:lnTo>
                      <a:pt x="2805" y="1891"/>
                    </a:lnTo>
                    <a:lnTo>
                      <a:pt x="126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9"/>
              <p:cNvSpPr/>
              <p:nvPr/>
            </p:nvSpPr>
            <p:spPr>
              <a:xfrm>
                <a:off x="3653250" y="3417100"/>
                <a:ext cx="70125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4254" extrusionOk="0">
                    <a:moveTo>
                      <a:pt x="1544" y="0"/>
                    </a:moveTo>
                    <a:lnTo>
                      <a:pt x="1" y="1890"/>
                    </a:lnTo>
                    <a:lnTo>
                      <a:pt x="1" y="4253"/>
                    </a:lnTo>
                    <a:lnTo>
                      <a:pt x="2458" y="4253"/>
                    </a:lnTo>
                    <a:cubicBezTo>
                      <a:pt x="2647" y="4253"/>
                      <a:pt x="2804" y="4096"/>
                      <a:pt x="2804" y="3907"/>
                    </a:cubicBezTo>
                    <a:lnTo>
                      <a:pt x="2804" y="2489"/>
                    </a:lnTo>
                    <a:cubicBezTo>
                      <a:pt x="2773" y="1481"/>
                      <a:pt x="2300" y="567"/>
                      <a:pt x="154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3655625" y="3310775"/>
                <a:ext cx="137850" cy="10870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4348" extrusionOk="0">
                    <a:moveTo>
                      <a:pt x="3686" y="1512"/>
                    </a:moveTo>
                    <a:cubicBezTo>
                      <a:pt x="3907" y="1512"/>
                      <a:pt x="4064" y="1670"/>
                      <a:pt x="4064" y="1859"/>
                    </a:cubicBezTo>
                    <a:cubicBezTo>
                      <a:pt x="4064" y="2048"/>
                      <a:pt x="3907" y="2205"/>
                      <a:pt x="3686" y="2205"/>
                    </a:cubicBezTo>
                    <a:lnTo>
                      <a:pt x="2993" y="2205"/>
                    </a:lnTo>
                    <a:cubicBezTo>
                      <a:pt x="2804" y="2205"/>
                      <a:pt x="2646" y="2048"/>
                      <a:pt x="2646" y="1859"/>
                    </a:cubicBezTo>
                    <a:cubicBezTo>
                      <a:pt x="2646" y="1670"/>
                      <a:pt x="2804" y="1512"/>
                      <a:pt x="2993" y="1512"/>
                    </a:cubicBezTo>
                    <a:close/>
                    <a:moveTo>
                      <a:pt x="4127" y="0"/>
                    </a:moveTo>
                    <a:cubicBezTo>
                      <a:pt x="3686" y="536"/>
                      <a:pt x="3056" y="851"/>
                      <a:pt x="2331" y="851"/>
                    </a:cubicBezTo>
                    <a:cubicBezTo>
                      <a:pt x="1607" y="851"/>
                      <a:pt x="977" y="504"/>
                      <a:pt x="536" y="63"/>
                    </a:cubicBezTo>
                    <a:cubicBezTo>
                      <a:pt x="347" y="221"/>
                      <a:pt x="158" y="378"/>
                      <a:pt x="0" y="567"/>
                    </a:cubicBezTo>
                    <a:cubicBezTo>
                      <a:pt x="945" y="756"/>
                      <a:pt x="1638" y="1575"/>
                      <a:pt x="1638" y="2615"/>
                    </a:cubicBezTo>
                    <a:cubicBezTo>
                      <a:pt x="1638" y="2930"/>
                      <a:pt x="1575" y="3214"/>
                      <a:pt x="1449" y="3466"/>
                    </a:cubicBezTo>
                    <a:cubicBezTo>
                      <a:pt x="1859" y="3718"/>
                      <a:pt x="2205" y="4001"/>
                      <a:pt x="2520" y="4348"/>
                    </a:cubicBezTo>
                    <a:lnTo>
                      <a:pt x="5167" y="4348"/>
                    </a:lnTo>
                    <a:cubicBezTo>
                      <a:pt x="5356" y="4348"/>
                      <a:pt x="5513" y="4190"/>
                      <a:pt x="5513" y="4001"/>
                    </a:cubicBezTo>
                    <a:lnTo>
                      <a:pt x="5513" y="2615"/>
                    </a:lnTo>
                    <a:cubicBezTo>
                      <a:pt x="5482" y="1512"/>
                      <a:pt x="4915" y="567"/>
                      <a:pt x="41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3497300" y="3309975"/>
                <a:ext cx="136275" cy="108725"/>
              </a:xfrm>
              <a:custGeom>
                <a:avLst/>
                <a:gdLst/>
                <a:ahLst/>
                <a:cxnLst/>
                <a:rect l="l" t="t" r="r" b="b"/>
                <a:pathLst>
                  <a:path w="5451" h="4349" extrusionOk="0">
                    <a:moveTo>
                      <a:pt x="2426" y="1544"/>
                    </a:moveTo>
                    <a:cubicBezTo>
                      <a:pt x="2615" y="1544"/>
                      <a:pt x="2773" y="1702"/>
                      <a:pt x="2773" y="1891"/>
                    </a:cubicBezTo>
                    <a:cubicBezTo>
                      <a:pt x="2773" y="2080"/>
                      <a:pt x="2615" y="2237"/>
                      <a:pt x="2426" y="2237"/>
                    </a:cubicBezTo>
                    <a:lnTo>
                      <a:pt x="1733" y="2237"/>
                    </a:lnTo>
                    <a:cubicBezTo>
                      <a:pt x="1513" y="2237"/>
                      <a:pt x="1355" y="2080"/>
                      <a:pt x="1355" y="1891"/>
                    </a:cubicBezTo>
                    <a:cubicBezTo>
                      <a:pt x="1355" y="1702"/>
                      <a:pt x="1513" y="1544"/>
                      <a:pt x="1733" y="1544"/>
                    </a:cubicBezTo>
                    <a:close/>
                    <a:moveTo>
                      <a:pt x="1324" y="1"/>
                    </a:moveTo>
                    <a:cubicBezTo>
                      <a:pt x="536" y="568"/>
                      <a:pt x="1" y="1513"/>
                      <a:pt x="1" y="2552"/>
                    </a:cubicBezTo>
                    <a:lnTo>
                      <a:pt x="1" y="3939"/>
                    </a:lnTo>
                    <a:cubicBezTo>
                      <a:pt x="1" y="4191"/>
                      <a:pt x="95" y="4348"/>
                      <a:pt x="316" y="4348"/>
                    </a:cubicBezTo>
                    <a:lnTo>
                      <a:pt x="2930" y="4348"/>
                    </a:lnTo>
                    <a:cubicBezTo>
                      <a:pt x="3214" y="3970"/>
                      <a:pt x="3561" y="3655"/>
                      <a:pt x="4002" y="3466"/>
                    </a:cubicBezTo>
                    <a:cubicBezTo>
                      <a:pt x="3876" y="3183"/>
                      <a:pt x="3813" y="2930"/>
                      <a:pt x="3813" y="2615"/>
                    </a:cubicBezTo>
                    <a:cubicBezTo>
                      <a:pt x="3813" y="1607"/>
                      <a:pt x="4506" y="757"/>
                      <a:pt x="5451" y="568"/>
                    </a:cubicBezTo>
                    <a:cubicBezTo>
                      <a:pt x="5293" y="347"/>
                      <a:pt x="5104" y="190"/>
                      <a:pt x="4915" y="32"/>
                    </a:cubicBezTo>
                    <a:cubicBezTo>
                      <a:pt x="4474" y="505"/>
                      <a:pt x="3844" y="820"/>
                      <a:pt x="3151" y="820"/>
                    </a:cubicBezTo>
                    <a:cubicBezTo>
                      <a:pt x="2426" y="820"/>
                      <a:pt x="1796" y="505"/>
                      <a:pt x="13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2" name="Google Shape;362;p9"/>
          <p:cNvGrpSpPr/>
          <p:nvPr/>
        </p:nvGrpSpPr>
        <p:grpSpPr>
          <a:xfrm>
            <a:off x="10026975" y="5024250"/>
            <a:ext cx="2071800" cy="1252025"/>
            <a:chOff x="10179375" y="5024250"/>
            <a:chExt cx="2071800" cy="1252025"/>
          </a:xfrm>
        </p:grpSpPr>
        <p:sp>
          <p:nvSpPr>
            <p:cNvPr id="363" name="Google Shape;363;p9"/>
            <p:cNvSpPr/>
            <p:nvPr/>
          </p:nvSpPr>
          <p:spPr>
            <a:xfrm>
              <a:off x="10179375" y="5609075"/>
              <a:ext cx="2071800" cy="66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4F61"/>
                </a:buClr>
                <a:buSzPts val="1200"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Formation et développement des compétences 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9"/>
            <p:cNvGrpSpPr/>
            <p:nvPr/>
          </p:nvGrpSpPr>
          <p:grpSpPr>
            <a:xfrm>
              <a:off x="10979127" y="5024250"/>
              <a:ext cx="472288" cy="431443"/>
              <a:chOff x="3206814" y="3461550"/>
              <a:chExt cx="362796" cy="363412"/>
            </a:xfrm>
          </p:grpSpPr>
          <p:sp>
            <p:nvSpPr>
              <p:cNvPr id="365" name="Google Shape;365;p9"/>
              <p:cNvSpPr/>
              <p:nvPr/>
            </p:nvSpPr>
            <p:spPr>
              <a:xfrm>
                <a:off x="3306259" y="3617068"/>
                <a:ext cx="162262" cy="127790"/>
              </a:xfrm>
              <a:custGeom>
                <a:avLst/>
                <a:gdLst/>
                <a:ahLst/>
                <a:cxnLst/>
                <a:rect l="l" t="t" r="r" b="b"/>
                <a:pathLst>
                  <a:path w="4740" h="3733" extrusionOk="0">
                    <a:moveTo>
                      <a:pt x="1" y="0"/>
                    </a:moveTo>
                    <a:lnTo>
                      <a:pt x="1" y="405"/>
                    </a:lnTo>
                    <a:cubicBezTo>
                      <a:pt x="1" y="1381"/>
                      <a:pt x="644" y="2262"/>
                      <a:pt x="1572" y="2572"/>
                    </a:cubicBezTo>
                    <a:lnTo>
                      <a:pt x="1572" y="2929"/>
                    </a:lnTo>
                    <a:cubicBezTo>
                      <a:pt x="1572" y="3465"/>
                      <a:pt x="1977" y="3733"/>
                      <a:pt x="2382" y="3733"/>
                    </a:cubicBezTo>
                    <a:cubicBezTo>
                      <a:pt x="2787" y="3733"/>
                      <a:pt x="3192" y="3465"/>
                      <a:pt x="3192" y="2929"/>
                    </a:cubicBezTo>
                    <a:lnTo>
                      <a:pt x="3192" y="2572"/>
                    </a:lnTo>
                    <a:cubicBezTo>
                      <a:pt x="4120" y="2262"/>
                      <a:pt x="4740" y="1381"/>
                      <a:pt x="4740" y="405"/>
                    </a:cubicBezTo>
                    <a:lnTo>
                      <a:pt x="4740" y="0"/>
                    </a:lnTo>
                    <a:cubicBezTo>
                      <a:pt x="4013" y="417"/>
                      <a:pt x="3198" y="625"/>
                      <a:pt x="2379" y="625"/>
                    </a:cubicBezTo>
                    <a:cubicBezTo>
                      <a:pt x="1560" y="625"/>
                      <a:pt x="739" y="417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3206814" y="3636615"/>
                <a:ext cx="170409" cy="188347"/>
              </a:xfrm>
              <a:custGeom>
                <a:avLst/>
                <a:gdLst/>
                <a:ahLst/>
                <a:cxnLst/>
                <a:rect l="l" t="t" r="r" b="b"/>
                <a:pathLst>
                  <a:path w="4978" h="5502" extrusionOk="0">
                    <a:moveTo>
                      <a:pt x="2310" y="1"/>
                    </a:moveTo>
                    <a:lnTo>
                      <a:pt x="2286" y="48"/>
                    </a:lnTo>
                    <a:cubicBezTo>
                      <a:pt x="2239" y="191"/>
                      <a:pt x="2191" y="310"/>
                      <a:pt x="2120" y="405"/>
                    </a:cubicBezTo>
                    <a:cubicBezTo>
                      <a:pt x="1762" y="953"/>
                      <a:pt x="1691" y="1644"/>
                      <a:pt x="1929" y="2239"/>
                    </a:cubicBezTo>
                    <a:cubicBezTo>
                      <a:pt x="834" y="2358"/>
                      <a:pt x="0" y="3263"/>
                      <a:pt x="0" y="4359"/>
                    </a:cubicBezTo>
                    <a:lnTo>
                      <a:pt x="0" y="4573"/>
                    </a:lnTo>
                    <a:cubicBezTo>
                      <a:pt x="0" y="5073"/>
                      <a:pt x="429" y="5502"/>
                      <a:pt x="929" y="5502"/>
                    </a:cubicBezTo>
                    <a:lnTo>
                      <a:pt x="4977" y="5502"/>
                    </a:lnTo>
                    <a:lnTo>
                      <a:pt x="4977" y="3739"/>
                    </a:lnTo>
                    <a:cubicBezTo>
                      <a:pt x="4453" y="3620"/>
                      <a:pt x="4049" y="3239"/>
                      <a:pt x="3906" y="2739"/>
                    </a:cubicBezTo>
                    <a:cubicBezTo>
                      <a:pt x="3882" y="2573"/>
                      <a:pt x="3858" y="2406"/>
                      <a:pt x="3858" y="2239"/>
                    </a:cubicBezTo>
                    <a:cubicBezTo>
                      <a:pt x="3644" y="2239"/>
                      <a:pt x="3120" y="1882"/>
                      <a:pt x="2858" y="1525"/>
                    </a:cubicBezTo>
                    <a:cubicBezTo>
                      <a:pt x="2524" y="1072"/>
                      <a:pt x="2334" y="548"/>
                      <a:pt x="23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3398379" y="3636615"/>
                <a:ext cx="171231" cy="188347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5502" extrusionOk="0">
                    <a:moveTo>
                      <a:pt x="2668" y="1"/>
                    </a:moveTo>
                    <a:cubicBezTo>
                      <a:pt x="2620" y="548"/>
                      <a:pt x="2430" y="1072"/>
                      <a:pt x="2120" y="1525"/>
                    </a:cubicBezTo>
                    <a:cubicBezTo>
                      <a:pt x="1858" y="1882"/>
                      <a:pt x="1334" y="2239"/>
                      <a:pt x="1120" y="2239"/>
                    </a:cubicBezTo>
                    <a:cubicBezTo>
                      <a:pt x="1120" y="2406"/>
                      <a:pt x="1096" y="2573"/>
                      <a:pt x="1048" y="2739"/>
                    </a:cubicBezTo>
                    <a:cubicBezTo>
                      <a:pt x="905" y="3239"/>
                      <a:pt x="501" y="3620"/>
                      <a:pt x="1" y="3739"/>
                    </a:cubicBezTo>
                    <a:lnTo>
                      <a:pt x="1" y="5502"/>
                    </a:lnTo>
                    <a:lnTo>
                      <a:pt x="4073" y="5502"/>
                    </a:lnTo>
                    <a:cubicBezTo>
                      <a:pt x="4573" y="5502"/>
                      <a:pt x="5002" y="5073"/>
                      <a:pt x="5002" y="4573"/>
                    </a:cubicBezTo>
                    <a:lnTo>
                      <a:pt x="5002" y="4382"/>
                    </a:lnTo>
                    <a:cubicBezTo>
                      <a:pt x="5002" y="3263"/>
                      <a:pt x="4144" y="2334"/>
                      <a:pt x="3025" y="2263"/>
                    </a:cubicBezTo>
                    <a:lnTo>
                      <a:pt x="3049" y="2239"/>
                    </a:lnTo>
                    <a:cubicBezTo>
                      <a:pt x="3263" y="1644"/>
                      <a:pt x="3192" y="953"/>
                      <a:pt x="2834" y="405"/>
                    </a:cubicBezTo>
                    <a:cubicBezTo>
                      <a:pt x="2763" y="310"/>
                      <a:pt x="2715" y="191"/>
                      <a:pt x="2692" y="48"/>
                    </a:cubicBezTo>
                    <a:lnTo>
                      <a:pt x="266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3241046" y="3461550"/>
                <a:ext cx="294331" cy="155552"/>
              </a:xfrm>
              <a:custGeom>
                <a:avLst/>
                <a:gdLst/>
                <a:ahLst/>
                <a:cxnLst/>
                <a:rect l="l" t="t" r="r" b="b"/>
                <a:pathLst>
                  <a:path w="8598" h="4544" extrusionOk="0">
                    <a:moveTo>
                      <a:pt x="4299" y="0"/>
                    </a:moveTo>
                    <a:cubicBezTo>
                      <a:pt x="4263" y="0"/>
                      <a:pt x="4227" y="6"/>
                      <a:pt x="4192" y="18"/>
                    </a:cubicBezTo>
                    <a:lnTo>
                      <a:pt x="381" y="1447"/>
                    </a:lnTo>
                    <a:cubicBezTo>
                      <a:pt x="0" y="1447"/>
                      <a:pt x="0" y="2043"/>
                      <a:pt x="381" y="2043"/>
                    </a:cubicBezTo>
                    <a:lnTo>
                      <a:pt x="381" y="2019"/>
                    </a:lnTo>
                    <a:lnTo>
                      <a:pt x="786" y="2162"/>
                    </a:lnTo>
                    <a:lnTo>
                      <a:pt x="786" y="3829"/>
                    </a:lnTo>
                    <a:cubicBezTo>
                      <a:pt x="786" y="4031"/>
                      <a:pt x="941" y="4132"/>
                      <a:pt x="1096" y="4132"/>
                    </a:cubicBezTo>
                    <a:cubicBezTo>
                      <a:pt x="1251" y="4132"/>
                      <a:pt x="1405" y="4031"/>
                      <a:pt x="1405" y="3829"/>
                    </a:cubicBezTo>
                    <a:lnTo>
                      <a:pt x="1405" y="2376"/>
                    </a:lnTo>
                    <a:lnTo>
                      <a:pt x="1906" y="2566"/>
                    </a:lnTo>
                    <a:lnTo>
                      <a:pt x="1906" y="3638"/>
                    </a:lnTo>
                    <a:cubicBezTo>
                      <a:pt x="1906" y="3733"/>
                      <a:pt x="1977" y="3829"/>
                      <a:pt x="2048" y="3900"/>
                    </a:cubicBezTo>
                    <a:cubicBezTo>
                      <a:pt x="2727" y="4329"/>
                      <a:pt x="3501" y="4543"/>
                      <a:pt x="4275" y="4543"/>
                    </a:cubicBezTo>
                    <a:cubicBezTo>
                      <a:pt x="5049" y="4543"/>
                      <a:pt x="5823" y="4329"/>
                      <a:pt x="6502" y="3900"/>
                    </a:cubicBezTo>
                    <a:cubicBezTo>
                      <a:pt x="6597" y="3829"/>
                      <a:pt x="6645" y="3733"/>
                      <a:pt x="6645" y="3638"/>
                    </a:cubicBezTo>
                    <a:lnTo>
                      <a:pt x="6645" y="2590"/>
                    </a:lnTo>
                    <a:lnTo>
                      <a:pt x="8216" y="2019"/>
                    </a:lnTo>
                    <a:cubicBezTo>
                      <a:pt x="8597" y="2019"/>
                      <a:pt x="8597" y="1423"/>
                      <a:pt x="8216" y="1423"/>
                    </a:cubicBezTo>
                    <a:lnTo>
                      <a:pt x="4406" y="18"/>
                    </a:lnTo>
                    <a:cubicBezTo>
                      <a:pt x="4370" y="6"/>
                      <a:pt x="4335" y="0"/>
                      <a:pt x="42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9" name="Google Shape;369;p9"/>
          <p:cNvGrpSpPr/>
          <p:nvPr/>
        </p:nvGrpSpPr>
        <p:grpSpPr>
          <a:xfrm>
            <a:off x="3078359" y="4993932"/>
            <a:ext cx="444220" cy="500406"/>
            <a:chOff x="-30354000" y="3569100"/>
            <a:chExt cx="292250" cy="292225"/>
          </a:xfrm>
        </p:grpSpPr>
        <p:sp>
          <p:nvSpPr>
            <p:cNvPr id="370" name="Google Shape;370;p9"/>
            <p:cNvSpPr/>
            <p:nvPr/>
          </p:nvSpPr>
          <p:spPr>
            <a:xfrm>
              <a:off x="-30354000" y="3604550"/>
              <a:ext cx="137875" cy="256000"/>
            </a:xfrm>
            <a:custGeom>
              <a:avLst/>
              <a:gdLst/>
              <a:ahLst/>
              <a:cxnLst/>
              <a:rect l="l" t="t" r="r" b="b"/>
              <a:pathLst>
                <a:path w="5515" h="10240" extrusionOk="0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-30198825" y="3604550"/>
              <a:ext cx="137075" cy="256775"/>
            </a:xfrm>
            <a:custGeom>
              <a:avLst/>
              <a:gdLst/>
              <a:ahLst/>
              <a:cxnLst/>
              <a:rect l="l" t="t" r="r" b="b"/>
              <a:pathLst>
                <a:path w="5483" h="10271" extrusionOk="0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-30139750" y="3636850"/>
              <a:ext cx="26000" cy="37825"/>
            </a:xfrm>
            <a:custGeom>
              <a:avLst/>
              <a:gdLst/>
              <a:ahLst/>
              <a:cxnLst/>
              <a:rect l="l" t="t" r="r" b="b"/>
              <a:pathLst>
                <a:path w="1040" h="1513" extrusionOk="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-30302800" y="3638950"/>
              <a:ext cx="25225" cy="36500"/>
            </a:xfrm>
            <a:custGeom>
              <a:avLst/>
              <a:gdLst/>
              <a:ahLst/>
              <a:cxnLst/>
              <a:rect l="l" t="t" r="r" b="b"/>
              <a:pathLst>
                <a:path w="1009" h="1460" extrusionOk="0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-30242925" y="3569100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-30262625" y="3654950"/>
              <a:ext cx="107925" cy="68550"/>
            </a:xfrm>
            <a:custGeom>
              <a:avLst/>
              <a:gdLst/>
              <a:ahLst/>
              <a:cxnLst/>
              <a:rect l="l" t="t" r="r" b="b"/>
              <a:pathLst>
                <a:path w="4317" h="2742" extrusionOk="0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43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"/>
          <p:cNvSpPr txBox="1">
            <a:spLocks noGrp="1"/>
          </p:cNvSpPr>
          <p:nvPr>
            <p:ph type="title"/>
          </p:nvPr>
        </p:nvSpPr>
        <p:spPr>
          <a:xfrm>
            <a:off x="434175" y="211452"/>
            <a:ext cx="11106000" cy="9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2779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philosophie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du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MoU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responsabili</a:t>
            </a:r>
            <a:r>
              <a:rPr lang="en-GB" sz="2300" dirty="0" err="1"/>
              <a:t>ser</a:t>
            </a:r>
            <a:r>
              <a:rPr lang="en-GB" sz="2300" dirty="0"/>
              <a:t> (</a:t>
            </a:r>
            <a:r>
              <a:rPr lang="en-GB" sz="2300" dirty="0" err="1"/>
              <a:t>Automoniser</a:t>
            </a:r>
            <a:r>
              <a:rPr lang="en-GB" sz="2300" dirty="0"/>
              <a:t>)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les provinces, de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renforcer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les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systèmes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mise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œuvre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et de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mesurer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les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résultats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2" name="Google Shape;382;p10"/>
          <p:cNvGrpSpPr/>
          <p:nvPr/>
        </p:nvGrpSpPr>
        <p:grpSpPr>
          <a:xfrm>
            <a:off x="547050" y="1549595"/>
            <a:ext cx="11208766" cy="4908006"/>
            <a:chOff x="718897" y="1549567"/>
            <a:chExt cx="11036595" cy="4737000"/>
          </a:xfrm>
        </p:grpSpPr>
        <p:sp>
          <p:nvSpPr>
            <p:cNvPr id="383" name="Google Shape;383;p10"/>
            <p:cNvSpPr/>
            <p:nvPr/>
          </p:nvSpPr>
          <p:spPr>
            <a:xfrm>
              <a:off x="1276629" y="4379756"/>
              <a:ext cx="2757290" cy="541400"/>
            </a:xfrm>
            <a:custGeom>
              <a:avLst/>
              <a:gdLst/>
              <a:ahLst/>
              <a:cxnLst/>
              <a:rect l="l" t="t" r="r" b="b"/>
              <a:pathLst>
                <a:path w="9990" h="10000" extrusionOk="0">
                  <a:moveTo>
                    <a:pt x="9990" y="10000"/>
                  </a:moveTo>
                  <a:lnTo>
                    <a:pt x="0" y="9972"/>
                  </a:lnTo>
                  <a:lnTo>
                    <a:pt x="1073" y="0"/>
                  </a:lnTo>
                </a:path>
              </a:pathLst>
            </a:cu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452A"/>
                </a:buClr>
                <a:buSzPts val="1176"/>
                <a:buFont typeface="Arial"/>
                <a:buNone/>
              </a:pPr>
              <a:endParaRPr sz="1176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384" name="Google Shape;384;p10"/>
            <p:cNvCxnSpPr/>
            <p:nvPr/>
          </p:nvCxnSpPr>
          <p:spPr>
            <a:xfrm>
              <a:off x="4673637" y="1549567"/>
              <a:ext cx="0" cy="4737000"/>
            </a:xfrm>
            <a:prstGeom prst="straightConnector1">
              <a:avLst/>
            </a:prstGeom>
            <a:noFill/>
            <a:ln w="28575" cap="flat" cmpd="sng">
              <a:solidFill>
                <a:srgbClr val="DEE0E3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385" name="Google Shape;385;p10"/>
            <p:cNvCxnSpPr/>
            <p:nvPr/>
          </p:nvCxnSpPr>
          <p:spPr>
            <a:xfrm>
              <a:off x="5047584" y="4724644"/>
              <a:ext cx="1498200" cy="0"/>
            </a:xfrm>
            <a:prstGeom prst="straightConnector1">
              <a:avLst/>
            </a:prstGeom>
            <a:noFill/>
            <a:ln w="9525" cap="flat" cmpd="sng">
              <a:solidFill>
                <a:srgbClr val="8D939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6" name="Google Shape;386;p10"/>
            <p:cNvCxnSpPr/>
            <p:nvPr/>
          </p:nvCxnSpPr>
          <p:spPr>
            <a:xfrm>
              <a:off x="6714624" y="4724644"/>
              <a:ext cx="4937700" cy="0"/>
            </a:xfrm>
            <a:prstGeom prst="straightConnector1">
              <a:avLst/>
            </a:prstGeom>
            <a:noFill/>
            <a:ln w="9525" cap="flat" cmpd="sng">
              <a:solidFill>
                <a:srgbClr val="8D939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7" name="Google Shape;387;p10"/>
            <p:cNvCxnSpPr/>
            <p:nvPr/>
          </p:nvCxnSpPr>
          <p:spPr>
            <a:xfrm>
              <a:off x="5047584" y="3100803"/>
              <a:ext cx="1498200" cy="0"/>
            </a:xfrm>
            <a:prstGeom prst="straightConnector1">
              <a:avLst/>
            </a:prstGeom>
            <a:noFill/>
            <a:ln w="9525" cap="flat" cmpd="sng">
              <a:solidFill>
                <a:srgbClr val="8D939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10"/>
            <p:cNvCxnSpPr/>
            <p:nvPr/>
          </p:nvCxnSpPr>
          <p:spPr>
            <a:xfrm>
              <a:off x="6714623" y="3100803"/>
              <a:ext cx="4937700" cy="0"/>
            </a:xfrm>
            <a:prstGeom prst="straightConnector1">
              <a:avLst/>
            </a:prstGeom>
            <a:noFill/>
            <a:ln w="9525" cap="flat" cmpd="sng">
              <a:solidFill>
                <a:srgbClr val="8D939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89" name="Google Shape;389;p10"/>
            <p:cNvSpPr/>
            <p:nvPr/>
          </p:nvSpPr>
          <p:spPr>
            <a:xfrm rot="10800000">
              <a:off x="9167844" y="3040943"/>
              <a:ext cx="272700" cy="1197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125" tIns="65125" rIns="65125" bIns="651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452A"/>
                </a:buClr>
                <a:buSzPts val="1357"/>
                <a:buFont typeface="Arial"/>
                <a:buNone/>
              </a:pPr>
              <a:endParaRPr sz="135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 rot="10800000">
              <a:off x="9167845" y="4664784"/>
              <a:ext cx="272700" cy="1197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125" tIns="65125" rIns="65125" bIns="651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452A"/>
                </a:buClr>
                <a:buSzPts val="1357"/>
                <a:buFont typeface="Arial"/>
                <a:buNone/>
              </a:pPr>
              <a:endParaRPr sz="135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91" name="Google Shape;391;p10"/>
            <p:cNvSpPr/>
            <p:nvPr/>
          </p:nvSpPr>
          <p:spPr>
            <a:xfrm rot="5400000">
              <a:off x="4557943" y="3994619"/>
              <a:ext cx="272700" cy="119700"/>
            </a:xfrm>
            <a:prstGeom prst="triangle">
              <a:avLst>
                <a:gd name="adj" fmla="val 50000"/>
              </a:avLst>
            </a:prstGeom>
            <a:solidFill>
              <a:srgbClr val="0070C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125" tIns="65125" rIns="65125" bIns="651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452A"/>
                </a:buClr>
                <a:buSzPts val="1357"/>
                <a:buFont typeface="Arial"/>
                <a:buNone/>
              </a:pPr>
              <a:endParaRPr sz="135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392" name="Google Shape;392;p10"/>
            <p:cNvGrpSpPr/>
            <p:nvPr/>
          </p:nvGrpSpPr>
          <p:grpSpPr>
            <a:xfrm>
              <a:off x="718897" y="2074770"/>
              <a:ext cx="3988232" cy="3346323"/>
              <a:chOff x="718897" y="2074769"/>
              <a:chExt cx="3988232" cy="3346323"/>
            </a:xfrm>
          </p:grpSpPr>
          <p:sp>
            <p:nvSpPr>
              <p:cNvPr id="393" name="Google Shape;393;p10"/>
              <p:cNvSpPr/>
              <p:nvPr/>
            </p:nvSpPr>
            <p:spPr>
              <a:xfrm>
                <a:off x="1311550" y="5013176"/>
                <a:ext cx="273600" cy="273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18000" tIns="45700" rIns="18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rgbClr val="FFFFFF"/>
                    </a:solidFill>
                    <a:highlight>
                      <a:srgbClr val="0070C0"/>
                    </a:highlight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highlight>
                    <a:srgbClr val="0070C0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0"/>
              <p:cNvSpPr/>
              <p:nvPr/>
            </p:nvSpPr>
            <p:spPr>
              <a:xfrm>
                <a:off x="3751014" y="2487362"/>
                <a:ext cx="273600" cy="273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18000" tIns="45700" rIns="18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0"/>
              <p:cNvSpPr/>
              <p:nvPr/>
            </p:nvSpPr>
            <p:spPr>
              <a:xfrm>
                <a:off x="1638381" y="2958581"/>
                <a:ext cx="1831200" cy="1585800"/>
              </a:xfrm>
              <a:prstGeom prst="triangle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0" tIns="0" rIns="0" bIns="2931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3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Système</a:t>
                </a:r>
                <a:endParaRPr sz="13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3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de vaccination</a:t>
                </a:r>
                <a:endParaRPr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3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résilient </a:t>
                </a:r>
                <a:endParaRPr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0"/>
              <p:cNvSpPr/>
              <p:nvPr/>
            </p:nvSpPr>
            <p:spPr>
              <a:xfrm>
                <a:off x="919764" y="2469704"/>
                <a:ext cx="1800904" cy="2563486"/>
              </a:xfrm>
              <a:custGeom>
                <a:avLst/>
                <a:gdLst/>
                <a:ahLst/>
                <a:cxnLst/>
                <a:rect l="l" t="t" r="r" b="b"/>
                <a:pathLst>
                  <a:path w="986" h="1404" extrusionOk="0">
                    <a:moveTo>
                      <a:pt x="0" y="1404"/>
                    </a:moveTo>
                    <a:lnTo>
                      <a:pt x="814" y="0"/>
                    </a:lnTo>
                    <a:lnTo>
                      <a:pt x="986" y="329"/>
                    </a:ln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176"/>
                  <a:buFont typeface="Arial"/>
                  <a:buNone/>
                </a:pPr>
                <a:endParaRPr sz="117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0"/>
              <p:cNvSpPr/>
              <p:nvPr/>
            </p:nvSpPr>
            <p:spPr>
              <a:xfrm>
                <a:off x="2442701" y="2074769"/>
                <a:ext cx="1476339" cy="2572106"/>
              </a:xfrm>
              <a:custGeom>
                <a:avLst/>
                <a:gdLst/>
                <a:ahLst/>
                <a:cxnLst/>
                <a:rect l="l" t="t" r="r" b="b"/>
                <a:pathLst>
                  <a:path w="808" h="1408" extrusionOk="0">
                    <a:moveTo>
                      <a:pt x="0" y="0"/>
                    </a:moveTo>
                    <a:lnTo>
                      <a:pt x="808" y="1408"/>
                    </a:lnTo>
                    <a:lnTo>
                      <a:pt x="430" y="1407"/>
                    </a:lnTo>
                  </a:path>
                </a:pathLst>
              </a:custGeom>
              <a:noFill/>
              <a:ln w="28575" cap="flat" cmpd="sng">
                <a:solidFill>
                  <a:srgbClr val="CFE2F3"/>
                </a:solidFill>
                <a:prstDash val="solid"/>
                <a:round/>
                <a:headEnd type="none" w="sm" len="sm"/>
                <a:tailEnd type="triangle" w="lg" len="lg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452A"/>
                  </a:buClr>
                  <a:buSzPts val="1176"/>
                  <a:buFont typeface="Arial"/>
                  <a:buNone/>
                </a:pPr>
                <a:endParaRPr sz="1176" b="1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0"/>
              <p:cNvSpPr/>
              <p:nvPr/>
            </p:nvSpPr>
            <p:spPr>
              <a:xfrm>
                <a:off x="718897" y="2891161"/>
                <a:ext cx="1038000" cy="53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chemeClr val="accent6"/>
                    </a:solidFill>
                    <a:latin typeface="Arial"/>
                    <a:ea typeface="Arial"/>
                    <a:cs typeface="Arial"/>
                    <a:sym typeface="Arial"/>
                  </a:rPr>
                  <a:t>Mesurer les résultats</a:t>
                </a:r>
                <a:endParaRPr sz="14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0"/>
              <p:cNvSpPr/>
              <p:nvPr/>
            </p:nvSpPr>
            <p:spPr>
              <a:xfrm>
                <a:off x="3230829" y="2872999"/>
                <a:ext cx="1476300" cy="38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chemeClr val="accent6"/>
                    </a:solidFill>
                    <a:latin typeface="Arial"/>
                    <a:ea typeface="Arial"/>
                    <a:cs typeface="Arial"/>
                    <a:sym typeface="Arial"/>
                  </a:rPr>
                  <a:t>Responsabiliser les provinces </a:t>
                </a:r>
                <a:endParaRPr sz="14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0"/>
              <p:cNvSpPr/>
              <p:nvPr/>
            </p:nvSpPr>
            <p:spPr>
              <a:xfrm>
                <a:off x="1691445" y="5033192"/>
                <a:ext cx="2134500" cy="38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chemeClr val="accent6"/>
                    </a:solidFill>
                    <a:latin typeface="Arial"/>
                    <a:ea typeface="Arial"/>
                    <a:cs typeface="Arial"/>
                    <a:sym typeface="Arial"/>
                  </a:rPr>
                  <a:t>Renforcer les systèmes et les processus  </a:t>
                </a:r>
                <a:endParaRPr sz="14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0"/>
              <p:cNvSpPr/>
              <p:nvPr/>
            </p:nvSpPr>
            <p:spPr>
              <a:xfrm>
                <a:off x="1062989" y="2525522"/>
                <a:ext cx="273600" cy="273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18000" tIns="45700" rIns="18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2" name="Google Shape;402;p10"/>
            <p:cNvGrpSpPr/>
            <p:nvPr/>
          </p:nvGrpSpPr>
          <p:grpSpPr>
            <a:xfrm>
              <a:off x="5053971" y="1583063"/>
              <a:ext cx="6598466" cy="1292700"/>
              <a:chOff x="5053971" y="1583063"/>
              <a:chExt cx="6598466" cy="1292700"/>
            </a:xfrm>
          </p:grpSpPr>
          <p:sp>
            <p:nvSpPr>
              <p:cNvPr id="403" name="Google Shape;403;p10"/>
              <p:cNvSpPr/>
              <p:nvPr/>
            </p:nvSpPr>
            <p:spPr>
              <a:xfrm>
                <a:off x="5376871" y="1611338"/>
                <a:ext cx="1498200" cy="38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chemeClr val="accent6"/>
                    </a:solidFill>
                    <a:latin typeface="Arial"/>
                    <a:ea typeface="Arial"/>
                    <a:cs typeface="Arial"/>
                    <a:sym typeface="Arial"/>
                  </a:rPr>
                  <a:t>Responsabiliser les provinces</a:t>
                </a:r>
                <a:endParaRPr sz="14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0"/>
              <p:cNvSpPr txBox="1"/>
              <p:nvPr/>
            </p:nvSpPr>
            <p:spPr>
              <a:xfrm>
                <a:off x="7023737" y="1583063"/>
                <a:ext cx="4628700" cy="129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Les provinces sont au </a:t>
                </a: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coeur du processus</a:t>
                </a: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de </a:t>
                </a: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gouvernance</a:t>
                </a: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, de </a:t>
                </a: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gestion</a:t>
                </a: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et de </a:t>
                </a: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mise en en œuvre</a:t>
                </a: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Les provinces </a:t>
                </a: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augmentent graduellement</a:t>
                </a: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leurs contributions financières pour la vaccination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Le </a:t>
                </a: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leadership provincial</a:t>
                </a: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(gouverneur, ministres) s’implique dans le suivi de la vaccination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0"/>
              <p:cNvSpPr/>
              <p:nvPr/>
            </p:nvSpPr>
            <p:spPr>
              <a:xfrm>
                <a:off x="5053971" y="1611338"/>
                <a:ext cx="273600" cy="273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18000" tIns="45700" rIns="18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>
              <a:off x="5033066" y="3209085"/>
              <a:ext cx="6722426" cy="1195200"/>
              <a:chOff x="5033066" y="3209085"/>
              <a:chExt cx="6722426" cy="11952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5033066" y="3314699"/>
                <a:ext cx="273600" cy="2352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18000" tIns="45700" rIns="18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0"/>
              <p:cNvSpPr/>
              <p:nvPr/>
            </p:nvSpPr>
            <p:spPr>
              <a:xfrm>
                <a:off x="5376871" y="3276417"/>
                <a:ext cx="1337700" cy="38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chemeClr val="accent6"/>
                    </a:solidFill>
                    <a:latin typeface="Arial"/>
                    <a:ea typeface="Arial"/>
                    <a:cs typeface="Arial"/>
                    <a:sym typeface="Arial"/>
                  </a:rPr>
                  <a:t>Renforcer les systèmes</a:t>
                </a:r>
                <a:endParaRPr sz="14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0"/>
              <p:cNvSpPr/>
              <p:nvPr/>
            </p:nvSpPr>
            <p:spPr>
              <a:xfrm>
                <a:off x="7030192" y="3209085"/>
                <a:ext cx="4725300" cy="11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▪"/>
                </a:pP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Mise en place de mécanisme de gestion dirigés par les institutions de la province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▪"/>
                </a:pP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Comité technique du plan Mashako avec des sous-commissions thématiques pour le renforcement des systèmes  </a:t>
                </a:r>
                <a:endParaRPr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10"/>
            <p:cNvGrpSpPr/>
            <p:nvPr/>
          </p:nvGrpSpPr>
          <p:grpSpPr>
            <a:xfrm>
              <a:off x="5059073" y="4874609"/>
              <a:ext cx="6696419" cy="1005300"/>
              <a:chOff x="5059073" y="4874609"/>
              <a:chExt cx="6696419" cy="1005300"/>
            </a:xfrm>
          </p:grpSpPr>
          <p:sp>
            <p:nvSpPr>
              <p:cNvPr id="411" name="Google Shape;411;p10"/>
              <p:cNvSpPr/>
              <p:nvPr/>
            </p:nvSpPr>
            <p:spPr>
              <a:xfrm>
                <a:off x="5059073" y="4938777"/>
                <a:ext cx="273600" cy="2736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18000" tIns="45700" rIns="180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0"/>
              <p:cNvSpPr/>
              <p:nvPr/>
            </p:nvSpPr>
            <p:spPr>
              <a:xfrm>
                <a:off x="5400621" y="4938777"/>
                <a:ext cx="1337700" cy="38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GB" sz="1400" b="0" i="0" u="none" strike="noStrike" cap="none">
                    <a:solidFill>
                      <a:schemeClr val="accent6"/>
                    </a:solidFill>
                    <a:latin typeface="Arial"/>
                    <a:ea typeface="Arial"/>
                    <a:cs typeface="Arial"/>
                    <a:sym typeface="Arial"/>
                  </a:rPr>
                  <a:t>Mesurer les résultats </a:t>
                </a:r>
                <a:endParaRPr sz="1400" b="0" i="0" u="none" strike="noStrike" cap="none">
                  <a:solidFill>
                    <a:schemeClr val="accent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0"/>
              <p:cNvSpPr/>
              <p:nvPr/>
            </p:nvSpPr>
            <p:spPr>
              <a:xfrm>
                <a:off x="7030192" y="4874609"/>
                <a:ext cx="4725300" cy="100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Intégration des provinces dans le </a:t>
                </a: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 Mashako </a:t>
                </a:r>
                <a:endParaRPr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en-GB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Suivi en temps réel</a:t>
                </a: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des activités de vaccination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107999" marR="0" lvl="1" indent="-107999" algn="just" rtl="0">
                  <a:lnSpc>
                    <a:spcPct val="100000"/>
                  </a:lnSpc>
                  <a:spcBef>
                    <a:spcPts val="181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Char char="▪"/>
                </a:pPr>
                <a:r>
                  <a:rPr lang="en-GB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Réalisation d’enquête de couverture vaccinale annuelle pour mesurer les changements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4" name="Google Shape;414;p10"/>
          <p:cNvSpPr txBox="1"/>
          <p:nvPr/>
        </p:nvSpPr>
        <p:spPr>
          <a:xfrm>
            <a:off x="-1663700" y="60325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10"/>
          <p:cNvGrpSpPr/>
          <p:nvPr/>
        </p:nvGrpSpPr>
        <p:grpSpPr>
          <a:xfrm>
            <a:off x="5677745" y="2187699"/>
            <a:ext cx="466460" cy="531205"/>
            <a:chOff x="5364750" y="3235150"/>
            <a:chExt cx="277275" cy="294950"/>
          </a:xfrm>
        </p:grpSpPr>
        <p:sp>
          <p:nvSpPr>
            <p:cNvPr id="416" name="Google Shape;416;p10"/>
            <p:cNvSpPr/>
            <p:nvPr/>
          </p:nvSpPr>
          <p:spPr>
            <a:xfrm>
              <a:off x="5502600" y="32351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>
              <a:off x="5555375" y="3253850"/>
              <a:ext cx="35450" cy="34100"/>
            </a:xfrm>
            <a:custGeom>
              <a:avLst/>
              <a:gdLst/>
              <a:ahLst/>
              <a:cxnLst/>
              <a:rect l="l" t="t" r="r" b="b"/>
              <a:pathLst>
                <a:path w="1418" h="1364" extrusionOk="0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>
              <a:off x="5606550" y="335722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0"/>
            <p:cNvSpPr/>
            <p:nvPr/>
          </p:nvSpPr>
          <p:spPr>
            <a:xfrm>
              <a:off x="5364750" y="335722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5433275" y="3253850"/>
              <a:ext cx="35475" cy="34100"/>
            </a:xfrm>
            <a:custGeom>
              <a:avLst/>
              <a:gdLst/>
              <a:ahLst/>
              <a:cxnLst/>
              <a:rect l="l" t="t" r="r" b="b"/>
              <a:pathLst>
                <a:path w="1419" h="1364" extrusionOk="0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5380500" y="3287775"/>
              <a:ext cx="37050" cy="25975"/>
            </a:xfrm>
            <a:custGeom>
              <a:avLst/>
              <a:gdLst/>
              <a:ahLst/>
              <a:cxnLst/>
              <a:rect l="l" t="t" r="r" b="b"/>
              <a:pathLst>
                <a:path w="1482" h="1039" extrusionOk="0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0"/>
            <p:cNvSpPr/>
            <p:nvPr/>
          </p:nvSpPr>
          <p:spPr>
            <a:xfrm>
              <a:off x="5588450" y="3288075"/>
              <a:ext cx="37025" cy="26800"/>
            </a:xfrm>
            <a:custGeom>
              <a:avLst/>
              <a:gdLst/>
              <a:ahLst/>
              <a:cxnLst/>
              <a:rect l="l" t="t" r="r" b="b"/>
              <a:pathLst>
                <a:path w="1481" h="1072" extrusionOk="0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0"/>
            <p:cNvSpPr/>
            <p:nvPr/>
          </p:nvSpPr>
          <p:spPr>
            <a:xfrm>
              <a:off x="5412025" y="3286350"/>
              <a:ext cx="177225" cy="243750"/>
            </a:xfrm>
            <a:custGeom>
              <a:avLst/>
              <a:gdLst/>
              <a:ahLst/>
              <a:cxnLst/>
              <a:rect l="l" t="t" r="r" b="b"/>
              <a:pathLst>
                <a:path w="7089" h="9750" extrusionOk="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4" name="Google Shape;424;p10"/>
          <p:cNvGrpSpPr/>
          <p:nvPr/>
        </p:nvGrpSpPr>
        <p:grpSpPr>
          <a:xfrm>
            <a:off x="5729974" y="3914144"/>
            <a:ext cx="362018" cy="531219"/>
            <a:chOff x="2463318" y="4051410"/>
            <a:chExt cx="275572" cy="367042"/>
          </a:xfrm>
        </p:grpSpPr>
        <p:sp>
          <p:nvSpPr>
            <p:cNvPr id="425" name="Google Shape;425;p10"/>
            <p:cNvSpPr/>
            <p:nvPr/>
          </p:nvSpPr>
          <p:spPr>
            <a:xfrm>
              <a:off x="2500803" y="4051410"/>
              <a:ext cx="200602" cy="172189"/>
            </a:xfrm>
            <a:custGeom>
              <a:avLst/>
              <a:gdLst/>
              <a:ahLst/>
              <a:cxnLst/>
              <a:rect l="l" t="t" r="r" b="b"/>
              <a:pathLst>
                <a:path w="5860" h="5030" extrusionOk="0">
                  <a:moveTo>
                    <a:pt x="131" y="0"/>
                  </a:moveTo>
                  <a:cubicBezTo>
                    <a:pt x="55" y="0"/>
                    <a:pt x="1" y="65"/>
                    <a:pt x="1" y="148"/>
                  </a:cubicBezTo>
                  <a:lnTo>
                    <a:pt x="1" y="2148"/>
                  </a:lnTo>
                  <a:cubicBezTo>
                    <a:pt x="1" y="2482"/>
                    <a:pt x="144" y="2768"/>
                    <a:pt x="382" y="3006"/>
                  </a:cubicBezTo>
                  <a:lnTo>
                    <a:pt x="1453" y="4054"/>
                  </a:lnTo>
                  <a:cubicBezTo>
                    <a:pt x="1192" y="4077"/>
                    <a:pt x="1001" y="4292"/>
                    <a:pt x="1001" y="4554"/>
                  </a:cubicBezTo>
                  <a:cubicBezTo>
                    <a:pt x="1001" y="4816"/>
                    <a:pt x="1215" y="5030"/>
                    <a:pt x="1477" y="5030"/>
                  </a:cubicBezTo>
                  <a:lnTo>
                    <a:pt x="4383" y="5030"/>
                  </a:lnTo>
                  <a:cubicBezTo>
                    <a:pt x="4978" y="4982"/>
                    <a:pt x="4978" y="4101"/>
                    <a:pt x="4383" y="4054"/>
                  </a:cubicBezTo>
                  <a:lnTo>
                    <a:pt x="4311" y="4054"/>
                  </a:lnTo>
                  <a:lnTo>
                    <a:pt x="5502" y="3006"/>
                  </a:lnTo>
                  <a:cubicBezTo>
                    <a:pt x="5740" y="2768"/>
                    <a:pt x="5859" y="2482"/>
                    <a:pt x="5859" y="2148"/>
                  </a:cubicBezTo>
                  <a:lnTo>
                    <a:pt x="5859" y="148"/>
                  </a:lnTo>
                  <a:cubicBezTo>
                    <a:pt x="5859" y="53"/>
                    <a:pt x="5788" y="5"/>
                    <a:pt x="5716" y="5"/>
                  </a:cubicBezTo>
                  <a:lnTo>
                    <a:pt x="4573" y="5"/>
                  </a:lnTo>
                  <a:cubicBezTo>
                    <a:pt x="4502" y="5"/>
                    <a:pt x="4430" y="53"/>
                    <a:pt x="4430" y="148"/>
                  </a:cubicBezTo>
                  <a:lnTo>
                    <a:pt x="4430" y="2005"/>
                  </a:lnTo>
                  <a:lnTo>
                    <a:pt x="3668" y="2005"/>
                  </a:lnTo>
                  <a:lnTo>
                    <a:pt x="3668" y="148"/>
                  </a:lnTo>
                  <a:cubicBezTo>
                    <a:pt x="3668" y="53"/>
                    <a:pt x="3597" y="5"/>
                    <a:pt x="3502" y="5"/>
                  </a:cubicBezTo>
                  <a:lnTo>
                    <a:pt x="2382" y="5"/>
                  </a:lnTo>
                  <a:cubicBezTo>
                    <a:pt x="2287" y="5"/>
                    <a:pt x="2216" y="53"/>
                    <a:pt x="2216" y="148"/>
                  </a:cubicBezTo>
                  <a:lnTo>
                    <a:pt x="2216" y="2005"/>
                  </a:lnTo>
                  <a:lnTo>
                    <a:pt x="1453" y="2005"/>
                  </a:lnTo>
                  <a:lnTo>
                    <a:pt x="1453" y="148"/>
                  </a:lnTo>
                  <a:cubicBezTo>
                    <a:pt x="1453" y="65"/>
                    <a:pt x="1400" y="0"/>
                    <a:pt x="1339" y="0"/>
                  </a:cubicBezTo>
                  <a:cubicBezTo>
                    <a:pt x="1329" y="0"/>
                    <a:pt x="1320" y="2"/>
                    <a:pt x="1311" y="5"/>
                  </a:cubicBezTo>
                  <a:lnTo>
                    <a:pt x="168" y="5"/>
                  </a:lnTo>
                  <a:cubicBezTo>
                    <a:pt x="155" y="2"/>
                    <a:pt x="143" y="0"/>
                    <a:pt x="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2463318" y="4366247"/>
              <a:ext cx="275572" cy="52205"/>
            </a:xfrm>
            <a:custGeom>
              <a:avLst/>
              <a:gdLst/>
              <a:ahLst/>
              <a:cxnLst/>
              <a:rect l="l" t="t" r="r" b="b"/>
              <a:pathLst>
                <a:path w="8050" h="1525" extrusionOk="0">
                  <a:moveTo>
                    <a:pt x="953" y="0"/>
                  </a:moveTo>
                  <a:cubicBezTo>
                    <a:pt x="0" y="48"/>
                    <a:pt x="0" y="1453"/>
                    <a:pt x="953" y="1525"/>
                  </a:cubicBezTo>
                  <a:lnTo>
                    <a:pt x="7097" y="1525"/>
                  </a:lnTo>
                  <a:cubicBezTo>
                    <a:pt x="8050" y="1453"/>
                    <a:pt x="8050" y="48"/>
                    <a:pt x="7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0"/>
            <p:cNvSpPr/>
            <p:nvPr/>
          </p:nvSpPr>
          <p:spPr>
            <a:xfrm>
              <a:off x="2501624" y="4240716"/>
              <a:ext cx="198959" cy="104375"/>
            </a:xfrm>
            <a:custGeom>
              <a:avLst/>
              <a:gdLst/>
              <a:ahLst/>
              <a:cxnLst/>
              <a:rect l="l" t="t" r="r" b="b"/>
              <a:pathLst>
                <a:path w="5812" h="3049" extrusionOk="0">
                  <a:moveTo>
                    <a:pt x="953" y="0"/>
                  </a:moveTo>
                  <a:lnTo>
                    <a:pt x="1" y="3048"/>
                  </a:lnTo>
                  <a:lnTo>
                    <a:pt x="5811" y="3048"/>
                  </a:lnTo>
                  <a:lnTo>
                    <a:pt x="4859" y="24"/>
                  </a:lnTo>
                  <a:cubicBezTo>
                    <a:pt x="4692" y="95"/>
                    <a:pt x="4525" y="119"/>
                    <a:pt x="4359" y="119"/>
                  </a:cubicBezTo>
                  <a:lnTo>
                    <a:pt x="1453" y="119"/>
                  </a:lnTo>
                  <a:cubicBezTo>
                    <a:pt x="1287" y="119"/>
                    <a:pt x="1120" y="71"/>
                    <a:pt x="9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10"/>
          <p:cNvSpPr/>
          <p:nvPr/>
        </p:nvSpPr>
        <p:spPr>
          <a:xfrm>
            <a:off x="5677747" y="5640599"/>
            <a:ext cx="466460" cy="391898"/>
          </a:xfrm>
          <a:custGeom>
            <a:avLst/>
            <a:gdLst/>
            <a:ahLst/>
            <a:cxnLst/>
            <a:rect l="l" t="t" r="r" b="b"/>
            <a:pathLst>
              <a:path w="18956" h="17942" extrusionOk="0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 txBox="1">
            <a:spLocks noGrp="1"/>
          </p:cNvSpPr>
          <p:nvPr>
            <p:ph type="title"/>
          </p:nvPr>
        </p:nvSpPr>
        <p:spPr>
          <a:xfrm>
            <a:off x="485503" y="169614"/>
            <a:ext cx="111063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2779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Le protocole d’accord vise à mettre en place des mécanismes de financement robustes et transparent pour assurer la bonne gestion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5" name="Google Shape;435;p13"/>
          <p:cNvGraphicFramePr/>
          <p:nvPr/>
        </p:nvGraphicFramePr>
        <p:xfrm>
          <a:off x="464090" y="1419059"/>
          <a:ext cx="11106300" cy="4782825"/>
        </p:xfrm>
        <a:graphic>
          <a:graphicData uri="http://schemas.openxmlformats.org/drawingml/2006/table">
            <a:tbl>
              <a:tblPr>
                <a:noFill/>
                <a:tableStyleId>{EDB16E58-4F23-4B08-B713-BBCB8CF34EC5}</a:tableStyleId>
              </a:tblPr>
              <a:tblGrid>
                <a:gridCol w="10190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87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903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414141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Gestion commune des fonds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avec contributions dans un </a:t>
                      </a: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compte commun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(Basket Fund) et </a:t>
                      </a: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autonomisation progressive des provinces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au fur et à mesure que leur contribution financière augmente – 3 signatures sur 4 requises : chef de DPS, ministre de la Santé, ministre des Finances et agent fiduciaire 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3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414141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0" lvl="0" indent="-268899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Mise en place d’un Core Group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réunissant le conseiller économique du gouverneur, le directeur provincial du budget, le dircab du min. santé, l’agence lead du contrat unique (prosani), l’agent fiduciaire pour </a:t>
                      </a: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engager les dépenses 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et </a:t>
                      </a: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suivre la mise en œuvre du plan de travail </a:t>
                      </a:r>
                      <a:endParaRPr sz="1400" b="1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8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414141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0" lvl="0" indent="-268899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Mise en place du comité Mashako provincial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avec ses commissions thématiques pour l’élaboration du </a:t>
                      </a: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budget annuel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la vaccination et des requêtes. La sous-commission finance (intégrant un délégué du min. fin.) est en charge de valider les </a:t>
                      </a: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requêtes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et de vérifier leur correspondance au budget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8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414141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0" lvl="0" indent="-26889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Disponibilité des fonds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à tout moment avec le décaissement des fonds en amont de la réalisation des activités, pour éviter le préfinancement et permettre la réalisation continue des activités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8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414141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0" lvl="0" indent="-26889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GB" sz="1400" b="1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Principe 0 cash</a:t>
                      </a:r>
                      <a:r>
                        <a:rPr lang="en-GB" sz="1400" u="none" strike="noStrike" cap="non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avec le décaissement par virement bancaire ou paiement par mobile money pour toutes les activités du MoU </a:t>
                      </a:r>
                      <a:endParaRPr sz="1400" u="none" strike="noStrike" cap="none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8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414141"/>
                        </a:solidFill>
                      </a:endParaRPr>
                    </a:p>
                  </a:txBody>
                  <a:tcPr marL="91425" marR="91425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0" lvl="0" indent="-26889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GB" sz="1400" b="1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 externe</a:t>
                      </a:r>
                      <a:r>
                        <a:rPr lang="en-GB" sz="1400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des </a:t>
                      </a:r>
                      <a:r>
                        <a:rPr lang="en-GB" sz="1400" u="none" strike="noStrike" cap="none" dirty="0" err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comptes</a:t>
                      </a:r>
                      <a:r>
                        <a:rPr lang="en-GB" sz="1400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du fonds </a:t>
                      </a:r>
                      <a:r>
                        <a:rPr lang="en-GB" sz="1400" u="none" strike="noStrike" cap="none" dirty="0" err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commun</a:t>
                      </a:r>
                      <a:r>
                        <a:rPr lang="en-GB" sz="1400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et des </a:t>
                      </a:r>
                      <a:r>
                        <a:rPr lang="en-GB" sz="1400" u="none" strike="noStrike" cap="none" dirty="0" err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mécanismes</a:t>
                      </a:r>
                      <a:r>
                        <a:rPr lang="en-GB" sz="1400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gestion par </a:t>
                      </a:r>
                      <a:r>
                        <a:rPr lang="en-GB" sz="1400" u="none" strike="noStrike" cap="none" dirty="0" err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une</a:t>
                      </a:r>
                      <a:r>
                        <a:rPr lang="en-GB" sz="1400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société </a:t>
                      </a:r>
                      <a:r>
                        <a:rPr lang="en-GB" sz="1400" u="none" strike="noStrike" cap="none" dirty="0" err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d’audit</a:t>
                      </a:r>
                      <a:r>
                        <a:rPr lang="en-GB" sz="1400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400" u="none" strike="noStrike" cap="none" dirty="0" err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indépendante</a:t>
                      </a:r>
                      <a:r>
                        <a:rPr lang="en-GB" sz="1400" u="none" strike="noStrike" cap="none" dirty="0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u="none" strike="noStrike" cap="none" dirty="0">
                        <a:solidFill>
                          <a:schemeClr val="accent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pSp>
        <p:nvGrpSpPr>
          <p:cNvPr id="436" name="Google Shape;436;p13"/>
          <p:cNvGrpSpPr/>
          <p:nvPr/>
        </p:nvGrpSpPr>
        <p:grpSpPr>
          <a:xfrm>
            <a:off x="733261" y="2426916"/>
            <a:ext cx="560274" cy="583376"/>
            <a:chOff x="583100" y="3982600"/>
            <a:chExt cx="296175" cy="296175"/>
          </a:xfrm>
        </p:grpSpPr>
        <p:sp>
          <p:nvSpPr>
            <p:cNvPr id="437" name="Google Shape;437;p13"/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13"/>
          <p:cNvGrpSpPr/>
          <p:nvPr/>
        </p:nvGrpSpPr>
        <p:grpSpPr>
          <a:xfrm>
            <a:off x="679518" y="4840507"/>
            <a:ext cx="641561" cy="491401"/>
            <a:chOff x="5587532" y="4711838"/>
            <a:chExt cx="367826" cy="205538"/>
          </a:xfrm>
        </p:grpSpPr>
        <p:sp>
          <p:nvSpPr>
            <p:cNvPr id="445" name="Google Shape;445;p13"/>
            <p:cNvSpPr/>
            <p:nvPr/>
          </p:nvSpPr>
          <p:spPr>
            <a:xfrm>
              <a:off x="5587532" y="4711838"/>
              <a:ext cx="159890" cy="205538"/>
            </a:xfrm>
            <a:custGeom>
              <a:avLst/>
              <a:gdLst/>
              <a:ahLst/>
              <a:cxnLst/>
              <a:rect l="l" t="t" r="r" b="b"/>
              <a:pathLst>
                <a:path w="4669" h="6002" extrusionOk="0">
                  <a:moveTo>
                    <a:pt x="334" y="1"/>
                  </a:moveTo>
                  <a:cubicBezTo>
                    <a:pt x="167" y="1"/>
                    <a:pt x="24" y="120"/>
                    <a:pt x="0" y="310"/>
                  </a:cubicBezTo>
                  <a:lnTo>
                    <a:pt x="0" y="5692"/>
                  </a:lnTo>
                  <a:cubicBezTo>
                    <a:pt x="0" y="5859"/>
                    <a:pt x="143" y="6002"/>
                    <a:pt x="334" y="6002"/>
                  </a:cubicBezTo>
                  <a:lnTo>
                    <a:pt x="4668" y="6002"/>
                  </a:lnTo>
                  <a:cubicBezTo>
                    <a:pt x="3263" y="5668"/>
                    <a:pt x="2287" y="4430"/>
                    <a:pt x="2263" y="3001"/>
                  </a:cubicBezTo>
                  <a:cubicBezTo>
                    <a:pt x="2287" y="1572"/>
                    <a:pt x="3263" y="310"/>
                    <a:pt x="46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5795502" y="4711838"/>
              <a:ext cx="159856" cy="205538"/>
            </a:xfrm>
            <a:custGeom>
              <a:avLst/>
              <a:gdLst/>
              <a:ahLst/>
              <a:cxnLst/>
              <a:rect l="l" t="t" r="r" b="b"/>
              <a:pathLst>
                <a:path w="4668" h="6002" extrusionOk="0">
                  <a:moveTo>
                    <a:pt x="0" y="1"/>
                  </a:moveTo>
                  <a:cubicBezTo>
                    <a:pt x="3191" y="715"/>
                    <a:pt x="3191" y="5287"/>
                    <a:pt x="0" y="6002"/>
                  </a:cubicBezTo>
                  <a:lnTo>
                    <a:pt x="4334" y="6002"/>
                  </a:lnTo>
                  <a:cubicBezTo>
                    <a:pt x="4525" y="6002"/>
                    <a:pt x="4668" y="5859"/>
                    <a:pt x="4644" y="5692"/>
                  </a:cubicBezTo>
                  <a:lnTo>
                    <a:pt x="4644" y="334"/>
                  </a:lnTo>
                  <a:cubicBezTo>
                    <a:pt x="4644" y="143"/>
                    <a:pt x="4501" y="24"/>
                    <a:pt x="4334" y="24"/>
                  </a:cubicBezTo>
                  <a:lnTo>
                    <a:pt x="43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5663384" y="4733036"/>
              <a:ext cx="190847" cy="163486"/>
            </a:xfrm>
            <a:custGeom>
              <a:avLst/>
              <a:gdLst/>
              <a:ahLst/>
              <a:cxnLst/>
              <a:rect l="l" t="t" r="r" b="b"/>
              <a:pathLst>
                <a:path w="5573" h="4774" extrusionOk="0">
                  <a:moveTo>
                    <a:pt x="3156" y="733"/>
                  </a:moveTo>
                  <a:cubicBezTo>
                    <a:pt x="3328" y="733"/>
                    <a:pt x="3501" y="846"/>
                    <a:pt x="3477" y="1072"/>
                  </a:cubicBezTo>
                  <a:lnTo>
                    <a:pt x="3477" y="1144"/>
                  </a:lnTo>
                  <a:lnTo>
                    <a:pt x="3549" y="1144"/>
                  </a:lnTo>
                  <a:cubicBezTo>
                    <a:pt x="3930" y="1191"/>
                    <a:pt x="3930" y="1739"/>
                    <a:pt x="3549" y="1787"/>
                  </a:cubicBezTo>
                  <a:lnTo>
                    <a:pt x="2977" y="1787"/>
                  </a:lnTo>
                  <a:cubicBezTo>
                    <a:pt x="2786" y="1787"/>
                    <a:pt x="2786" y="2073"/>
                    <a:pt x="2977" y="2073"/>
                  </a:cubicBezTo>
                  <a:lnTo>
                    <a:pt x="3310" y="2073"/>
                  </a:lnTo>
                  <a:cubicBezTo>
                    <a:pt x="4263" y="2073"/>
                    <a:pt x="4382" y="3430"/>
                    <a:pt x="3477" y="3620"/>
                  </a:cubicBezTo>
                  <a:lnTo>
                    <a:pt x="3477" y="3716"/>
                  </a:lnTo>
                  <a:cubicBezTo>
                    <a:pt x="3453" y="3894"/>
                    <a:pt x="3304" y="3984"/>
                    <a:pt x="3156" y="3984"/>
                  </a:cubicBezTo>
                  <a:cubicBezTo>
                    <a:pt x="3007" y="3984"/>
                    <a:pt x="2858" y="3894"/>
                    <a:pt x="2834" y="3716"/>
                  </a:cubicBezTo>
                  <a:lnTo>
                    <a:pt x="2834" y="3620"/>
                  </a:lnTo>
                  <a:lnTo>
                    <a:pt x="2667" y="3620"/>
                  </a:lnTo>
                  <a:cubicBezTo>
                    <a:pt x="2653" y="3622"/>
                    <a:pt x="2639" y="3623"/>
                    <a:pt x="2625" y="3623"/>
                  </a:cubicBezTo>
                  <a:cubicBezTo>
                    <a:pt x="2229" y="3623"/>
                    <a:pt x="2229" y="2999"/>
                    <a:pt x="2625" y="2999"/>
                  </a:cubicBezTo>
                  <a:cubicBezTo>
                    <a:pt x="2639" y="2999"/>
                    <a:pt x="2653" y="3000"/>
                    <a:pt x="2667" y="3001"/>
                  </a:cubicBezTo>
                  <a:lnTo>
                    <a:pt x="3310" y="3001"/>
                  </a:lnTo>
                  <a:cubicBezTo>
                    <a:pt x="3525" y="3001"/>
                    <a:pt x="3525" y="2716"/>
                    <a:pt x="3310" y="2716"/>
                  </a:cubicBezTo>
                  <a:lnTo>
                    <a:pt x="2977" y="2716"/>
                  </a:lnTo>
                  <a:cubicBezTo>
                    <a:pt x="2024" y="2716"/>
                    <a:pt x="1905" y="1334"/>
                    <a:pt x="2834" y="1168"/>
                  </a:cubicBezTo>
                  <a:lnTo>
                    <a:pt x="2834" y="1072"/>
                  </a:lnTo>
                  <a:cubicBezTo>
                    <a:pt x="2810" y="846"/>
                    <a:pt x="2983" y="733"/>
                    <a:pt x="3156" y="733"/>
                  </a:cubicBezTo>
                  <a:close/>
                  <a:moveTo>
                    <a:pt x="3144" y="1"/>
                  </a:moveTo>
                  <a:cubicBezTo>
                    <a:pt x="1048" y="25"/>
                    <a:pt x="0" y="2596"/>
                    <a:pt x="1501" y="4073"/>
                  </a:cubicBezTo>
                  <a:cubicBezTo>
                    <a:pt x="1992" y="4557"/>
                    <a:pt x="2590" y="4773"/>
                    <a:pt x="3175" y="4773"/>
                  </a:cubicBezTo>
                  <a:cubicBezTo>
                    <a:pt x="4403" y="4773"/>
                    <a:pt x="5573" y="3818"/>
                    <a:pt x="5573" y="2382"/>
                  </a:cubicBezTo>
                  <a:cubicBezTo>
                    <a:pt x="5549" y="1072"/>
                    <a:pt x="4477" y="1"/>
                    <a:pt x="3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" name="Google Shape;448;p13"/>
          <p:cNvGrpSpPr/>
          <p:nvPr/>
        </p:nvGrpSpPr>
        <p:grpSpPr>
          <a:xfrm>
            <a:off x="720174" y="4051300"/>
            <a:ext cx="560266" cy="491406"/>
            <a:chOff x="-65144125" y="4094450"/>
            <a:chExt cx="311900" cy="317425"/>
          </a:xfrm>
        </p:grpSpPr>
        <p:sp>
          <p:nvSpPr>
            <p:cNvPr id="449" name="Google Shape;449;p13"/>
            <p:cNvSpPr/>
            <p:nvPr/>
          </p:nvSpPr>
          <p:spPr>
            <a:xfrm>
              <a:off x="-65079550" y="4183450"/>
              <a:ext cx="185900" cy="185900"/>
            </a:xfrm>
            <a:custGeom>
              <a:avLst/>
              <a:gdLst/>
              <a:ahLst/>
              <a:cxnLst/>
              <a:rect l="l" t="t" r="r" b="b"/>
              <a:pathLst>
                <a:path w="7436" h="7436" extrusionOk="0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-65039375" y="4094450"/>
              <a:ext cx="104775" cy="19700"/>
            </a:xfrm>
            <a:custGeom>
              <a:avLst/>
              <a:gdLst/>
              <a:ahLst/>
              <a:cxnLst/>
              <a:rect l="l" t="t" r="r" b="b"/>
              <a:pathLst>
                <a:path w="4191" h="788" extrusionOk="0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-65144125" y="4121025"/>
              <a:ext cx="311900" cy="290850"/>
            </a:xfrm>
            <a:custGeom>
              <a:avLst/>
              <a:gdLst/>
              <a:ahLst/>
              <a:cxnLst/>
              <a:rect l="l" t="t" r="r" b="b"/>
              <a:pathLst>
                <a:path w="12476" h="11634" extrusionOk="0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p13"/>
          <p:cNvGrpSpPr/>
          <p:nvPr/>
        </p:nvGrpSpPr>
        <p:grpSpPr>
          <a:xfrm>
            <a:off x="784805" y="5629694"/>
            <a:ext cx="583426" cy="491402"/>
            <a:chOff x="946175" y="3253275"/>
            <a:chExt cx="298550" cy="296150"/>
          </a:xfrm>
        </p:grpSpPr>
        <p:sp>
          <p:nvSpPr>
            <p:cNvPr id="453" name="Google Shape;453;p13"/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8" name="Google Shape;458;p13"/>
          <p:cNvCxnSpPr/>
          <p:nvPr/>
        </p:nvCxnSpPr>
        <p:spPr>
          <a:xfrm>
            <a:off x="680850" y="4845125"/>
            <a:ext cx="665100" cy="474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9" name="Google Shape;459;p13"/>
          <p:cNvGrpSpPr/>
          <p:nvPr/>
        </p:nvGrpSpPr>
        <p:grpSpPr>
          <a:xfrm>
            <a:off x="733269" y="1591734"/>
            <a:ext cx="560265" cy="583383"/>
            <a:chOff x="7953758" y="3457741"/>
            <a:chExt cx="366474" cy="366954"/>
          </a:xfrm>
        </p:grpSpPr>
        <p:sp>
          <p:nvSpPr>
            <p:cNvPr id="460" name="Google Shape;460;p13"/>
            <p:cNvSpPr/>
            <p:nvPr/>
          </p:nvSpPr>
          <p:spPr>
            <a:xfrm>
              <a:off x="8083245" y="3760311"/>
              <a:ext cx="106681" cy="64384"/>
            </a:xfrm>
            <a:custGeom>
              <a:avLst/>
              <a:gdLst/>
              <a:ahLst/>
              <a:cxnLst/>
              <a:rect l="l" t="t" r="r" b="b"/>
              <a:pathLst>
                <a:path w="3120" h="1883" extrusionOk="0">
                  <a:moveTo>
                    <a:pt x="500" y="1"/>
                  </a:moveTo>
                  <a:cubicBezTo>
                    <a:pt x="167" y="310"/>
                    <a:pt x="0" y="715"/>
                    <a:pt x="0" y="1144"/>
                  </a:cubicBezTo>
                  <a:lnTo>
                    <a:pt x="0" y="1573"/>
                  </a:lnTo>
                  <a:cubicBezTo>
                    <a:pt x="0" y="1739"/>
                    <a:pt x="119" y="1882"/>
                    <a:pt x="310" y="1882"/>
                  </a:cubicBezTo>
                  <a:lnTo>
                    <a:pt x="2810" y="1882"/>
                  </a:lnTo>
                  <a:cubicBezTo>
                    <a:pt x="2977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15"/>
                    <a:pt x="2929" y="310"/>
                    <a:pt x="2620" y="25"/>
                  </a:cubicBezTo>
                  <a:cubicBezTo>
                    <a:pt x="2358" y="334"/>
                    <a:pt x="1953" y="525"/>
                    <a:pt x="1548" y="525"/>
                  </a:cubicBezTo>
                  <a:lnTo>
                    <a:pt x="1572" y="501"/>
                  </a:lnTo>
                  <a:cubicBezTo>
                    <a:pt x="1143" y="501"/>
                    <a:pt x="762" y="334"/>
                    <a:pt x="5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7980633" y="3636568"/>
              <a:ext cx="313956" cy="121554"/>
            </a:xfrm>
            <a:custGeom>
              <a:avLst/>
              <a:gdLst/>
              <a:ahLst/>
              <a:cxnLst/>
              <a:rect l="l" t="t" r="r" b="b"/>
              <a:pathLst>
                <a:path w="9182" h="3555" extrusionOk="0">
                  <a:moveTo>
                    <a:pt x="4263" y="0"/>
                  </a:moveTo>
                  <a:lnTo>
                    <a:pt x="4263" y="452"/>
                  </a:lnTo>
                  <a:lnTo>
                    <a:pt x="1406" y="452"/>
                  </a:lnTo>
                  <a:cubicBezTo>
                    <a:pt x="882" y="452"/>
                    <a:pt x="477" y="857"/>
                    <a:pt x="477" y="1381"/>
                  </a:cubicBezTo>
                  <a:lnTo>
                    <a:pt x="477" y="1572"/>
                  </a:lnTo>
                  <a:cubicBezTo>
                    <a:pt x="191" y="1715"/>
                    <a:pt x="1" y="1977"/>
                    <a:pt x="1" y="2310"/>
                  </a:cubicBezTo>
                  <a:lnTo>
                    <a:pt x="1" y="2715"/>
                  </a:lnTo>
                  <a:cubicBezTo>
                    <a:pt x="1" y="3144"/>
                    <a:pt x="358" y="3501"/>
                    <a:pt x="786" y="3501"/>
                  </a:cubicBezTo>
                  <a:cubicBezTo>
                    <a:pt x="1215" y="3501"/>
                    <a:pt x="1572" y="3144"/>
                    <a:pt x="1572" y="2715"/>
                  </a:cubicBezTo>
                  <a:lnTo>
                    <a:pt x="1572" y="2310"/>
                  </a:lnTo>
                  <a:cubicBezTo>
                    <a:pt x="1572" y="1977"/>
                    <a:pt x="1382" y="1715"/>
                    <a:pt x="1096" y="1572"/>
                  </a:cubicBezTo>
                  <a:lnTo>
                    <a:pt x="1096" y="1381"/>
                  </a:lnTo>
                  <a:cubicBezTo>
                    <a:pt x="1096" y="1215"/>
                    <a:pt x="1239" y="1072"/>
                    <a:pt x="1406" y="1072"/>
                  </a:cubicBezTo>
                  <a:lnTo>
                    <a:pt x="4287" y="1072"/>
                  </a:lnTo>
                  <a:lnTo>
                    <a:pt x="4287" y="1572"/>
                  </a:lnTo>
                  <a:cubicBezTo>
                    <a:pt x="3978" y="1715"/>
                    <a:pt x="3811" y="1977"/>
                    <a:pt x="3811" y="2310"/>
                  </a:cubicBezTo>
                  <a:lnTo>
                    <a:pt x="3811" y="2715"/>
                  </a:lnTo>
                  <a:cubicBezTo>
                    <a:pt x="3811" y="3239"/>
                    <a:pt x="4204" y="3501"/>
                    <a:pt x="4597" y="3501"/>
                  </a:cubicBezTo>
                  <a:cubicBezTo>
                    <a:pt x="4990" y="3501"/>
                    <a:pt x="5383" y="3239"/>
                    <a:pt x="5383" y="2715"/>
                  </a:cubicBezTo>
                  <a:lnTo>
                    <a:pt x="5383" y="2310"/>
                  </a:lnTo>
                  <a:cubicBezTo>
                    <a:pt x="5383" y="1977"/>
                    <a:pt x="5192" y="1715"/>
                    <a:pt x="4906" y="1572"/>
                  </a:cubicBezTo>
                  <a:lnTo>
                    <a:pt x="4906" y="1072"/>
                  </a:lnTo>
                  <a:lnTo>
                    <a:pt x="7740" y="1072"/>
                  </a:lnTo>
                  <a:cubicBezTo>
                    <a:pt x="7907" y="1072"/>
                    <a:pt x="8050" y="1215"/>
                    <a:pt x="8050" y="1381"/>
                  </a:cubicBezTo>
                  <a:lnTo>
                    <a:pt x="8050" y="1572"/>
                  </a:lnTo>
                  <a:cubicBezTo>
                    <a:pt x="7764" y="1715"/>
                    <a:pt x="7574" y="1977"/>
                    <a:pt x="7574" y="2310"/>
                  </a:cubicBezTo>
                  <a:lnTo>
                    <a:pt x="7574" y="2715"/>
                  </a:lnTo>
                  <a:cubicBezTo>
                    <a:pt x="7538" y="3274"/>
                    <a:pt x="7949" y="3554"/>
                    <a:pt x="8359" y="3554"/>
                  </a:cubicBezTo>
                  <a:cubicBezTo>
                    <a:pt x="8770" y="3554"/>
                    <a:pt x="9181" y="3274"/>
                    <a:pt x="9145" y="2715"/>
                  </a:cubicBezTo>
                  <a:lnTo>
                    <a:pt x="9145" y="2310"/>
                  </a:lnTo>
                  <a:cubicBezTo>
                    <a:pt x="9145" y="1977"/>
                    <a:pt x="8955" y="1715"/>
                    <a:pt x="8669" y="1572"/>
                  </a:cubicBezTo>
                  <a:lnTo>
                    <a:pt x="8669" y="1381"/>
                  </a:lnTo>
                  <a:cubicBezTo>
                    <a:pt x="8669" y="857"/>
                    <a:pt x="8264" y="452"/>
                    <a:pt x="7740" y="452"/>
                  </a:cubicBezTo>
                  <a:lnTo>
                    <a:pt x="4883" y="452"/>
                  </a:lnTo>
                  <a:lnTo>
                    <a:pt x="48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7953758" y="3760311"/>
              <a:ext cx="106715" cy="64384"/>
            </a:xfrm>
            <a:custGeom>
              <a:avLst/>
              <a:gdLst/>
              <a:ahLst/>
              <a:cxnLst/>
              <a:rect l="l" t="t" r="r" b="b"/>
              <a:pathLst>
                <a:path w="3121" h="1883" extrusionOk="0">
                  <a:moveTo>
                    <a:pt x="501" y="1"/>
                  </a:moveTo>
                  <a:cubicBezTo>
                    <a:pt x="167" y="310"/>
                    <a:pt x="1" y="715"/>
                    <a:pt x="1" y="1144"/>
                  </a:cubicBezTo>
                  <a:lnTo>
                    <a:pt x="1" y="1573"/>
                  </a:lnTo>
                  <a:cubicBezTo>
                    <a:pt x="1" y="1739"/>
                    <a:pt x="120" y="1882"/>
                    <a:pt x="310" y="1882"/>
                  </a:cubicBezTo>
                  <a:lnTo>
                    <a:pt x="2811" y="1882"/>
                  </a:lnTo>
                  <a:cubicBezTo>
                    <a:pt x="2977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15"/>
                    <a:pt x="2954" y="310"/>
                    <a:pt x="2644" y="25"/>
                  </a:cubicBezTo>
                  <a:cubicBezTo>
                    <a:pt x="2358" y="334"/>
                    <a:pt x="1977" y="525"/>
                    <a:pt x="1549" y="525"/>
                  </a:cubicBezTo>
                  <a:lnTo>
                    <a:pt x="1572" y="501"/>
                  </a:lnTo>
                  <a:cubicBezTo>
                    <a:pt x="1144" y="501"/>
                    <a:pt x="763" y="334"/>
                    <a:pt x="5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8212697" y="3760311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501" y="1"/>
                  </a:moveTo>
                  <a:cubicBezTo>
                    <a:pt x="191" y="310"/>
                    <a:pt x="1" y="715"/>
                    <a:pt x="1" y="1144"/>
                  </a:cubicBezTo>
                  <a:lnTo>
                    <a:pt x="1" y="1573"/>
                  </a:lnTo>
                  <a:cubicBezTo>
                    <a:pt x="1" y="1739"/>
                    <a:pt x="144" y="1882"/>
                    <a:pt x="310" y="1882"/>
                  </a:cubicBezTo>
                  <a:lnTo>
                    <a:pt x="2858" y="1882"/>
                  </a:lnTo>
                  <a:cubicBezTo>
                    <a:pt x="3025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77" y="310"/>
                    <a:pt x="2668" y="25"/>
                  </a:cubicBezTo>
                  <a:lnTo>
                    <a:pt x="2668" y="1"/>
                  </a:lnTo>
                  <a:cubicBezTo>
                    <a:pt x="2382" y="334"/>
                    <a:pt x="1977" y="501"/>
                    <a:pt x="1575" y="501"/>
                  </a:cubicBezTo>
                  <a:cubicBezTo>
                    <a:pt x="1174" y="501"/>
                    <a:pt x="775" y="334"/>
                    <a:pt x="5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8143492" y="3542915"/>
              <a:ext cx="8172" cy="23627"/>
            </a:xfrm>
            <a:custGeom>
              <a:avLst/>
              <a:gdLst/>
              <a:ahLst/>
              <a:cxnLst/>
              <a:rect l="l" t="t" r="r" b="b"/>
              <a:pathLst>
                <a:path w="239" h="691" extrusionOk="0">
                  <a:moveTo>
                    <a:pt x="0" y="0"/>
                  </a:moveTo>
                  <a:lnTo>
                    <a:pt x="0" y="691"/>
                  </a:lnTo>
                  <a:cubicBezTo>
                    <a:pt x="120" y="620"/>
                    <a:pt x="191" y="500"/>
                    <a:pt x="215" y="381"/>
                  </a:cubicBezTo>
                  <a:cubicBezTo>
                    <a:pt x="239" y="215"/>
                    <a:pt x="167" y="72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8057976" y="3457741"/>
              <a:ext cx="184879" cy="157662"/>
            </a:xfrm>
            <a:custGeom>
              <a:avLst/>
              <a:gdLst/>
              <a:ahLst/>
              <a:cxnLst/>
              <a:rect l="l" t="t" r="r" b="b"/>
              <a:pathLst>
                <a:path w="5407" h="4611" extrusionOk="0">
                  <a:moveTo>
                    <a:pt x="2302" y="634"/>
                  </a:moveTo>
                  <a:cubicBezTo>
                    <a:pt x="2406" y="634"/>
                    <a:pt x="2513" y="705"/>
                    <a:pt x="2525" y="848"/>
                  </a:cubicBezTo>
                  <a:lnTo>
                    <a:pt x="2525" y="943"/>
                  </a:lnTo>
                  <a:cubicBezTo>
                    <a:pt x="2668" y="967"/>
                    <a:pt x="2811" y="1039"/>
                    <a:pt x="2930" y="1158"/>
                  </a:cubicBezTo>
                  <a:cubicBezTo>
                    <a:pt x="3002" y="1253"/>
                    <a:pt x="3002" y="1396"/>
                    <a:pt x="2906" y="1467"/>
                  </a:cubicBezTo>
                  <a:cubicBezTo>
                    <a:pt x="2873" y="1501"/>
                    <a:pt x="2825" y="1518"/>
                    <a:pt x="2775" y="1518"/>
                  </a:cubicBezTo>
                  <a:cubicBezTo>
                    <a:pt x="2718" y="1518"/>
                    <a:pt x="2659" y="1495"/>
                    <a:pt x="2621" y="1444"/>
                  </a:cubicBezTo>
                  <a:cubicBezTo>
                    <a:pt x="2573" y="1420"/>
                    <a:pt x="2549" y="1396"/>
                    <a:pt x="2501" y="1396"/>
                  </a:cubicBezTo>
                  <a:lnTo>
                    <a:pt x="2501" y="2063"/>
                  </a:lnTo>
                  <a:lnTo>
                    <a:pt x="2621" y="2110"/>
                  </a:lnTo>
                  <a:cubicBezTo>
                    <a:pt x="2978" y="2206"/>
                    <a:pt x="3192" y="2587"/>
                    <a:pt x="3144" y="2944"/>
                  </a:cubicBezTo>
                  <a:cubicBezTo>
                    <a:pt x="3073" y="3277"/>
                    <a:pt x="2835" y="3539"/>
                    <a:pt x="2501" y="3634"/>
                  </a:cubicBezTo>
                  <a:lnTo>
                    <a:pt x="2501" y="3777"/>
                  </a:lnTo>
                  <a:cubicBezTo>
                    <a:pt x="2501" y="3920"/>
                    <a:pt x="2400" y="3992"/>
                    <a:pt x="2299" y="3992"/>
                  </a:cubicBezTo>
                  <a:cubicBezTo>
                    <a:pt x="2198" y="3992"/>
                    <a:pt x="2097" y="3920"/>
                    <a:pt x="2097" y="3777"/>
                  </a:cubicBezTo>
                  <a:lnTo>
                    <a:pt x="2097" y="3658"/>
                  </a:lnTo>
                  <a:cubicBezTo>
                    <a:pt x="1906" y="3634"/>
                    <a:pt x="1739" y="3563"/>
                    <a:pt x="1596" y="3468"/>
                  </a:cubicBezTo>
                  <a:cubicBezTo>
                    <a:pt x="1477" y="3396"/>
                    <a:pt x="1454" y="3253"/>
                    <a:pt x="1525" y="3158"/>
                  </a:cubicBezTo>
                  <a:cubicBezTo>
                    <a:pt x="1554" y="3100"/>
                    <a:pt x="1618" y="3069"/>
                    <a:pt x="1685" y="3069"/>
                  </a:cubicBezTo>
                  <a:cubicBezTo>
                    <a:pt x="1728" y="3069"/>
                    <a:pt x="1773" y="3082"/>
                    <a:pt x="1811" y="3111"/>
                  </a:cubicBezTo>
                  <a:cubicBezTo>
                    <a:pt x="1906" y="3158"/>
                    <a:pt x="2001" y="3206"/>
                    <a:pt x="2097" y="3230"/>
                  </a:cubicBezTo>
                  <a:lnTo>
                    <a:pt x="2097" y="2325"/>
                  </a:lnTo>
                  <a:cubicBezTo>
                    <a:pt x="1978" y="2277"/>
                    <a:pt x="1882" y="2206"/>
                    <a:pt x="1787" y="2134"/>
                  </a:cubicBezTo>
                  <a:cubicBezTo>
                    <a:pt x="1596" y="1991"/>
                    <a:pt x="1525" y="1753"/>
                    <a:pt x="1573" y="1515"/>
                  </a:cubicBezTo>
                  <a:cubicBezTo>
                    <a:pt x="1620" y="1253"/>
                    <a:pt x="1811" y="1063"/>
                    <a:pt x="2049" y="967"/>
                  </a:cubicBezTo>
                  <a:lnTo>
                    <a:pt x="2097" y="967"/>
                  </a:lnTo>
                  <a:lnTo>
                    <a:pt x="2097" y="848"/>
                  </a:lnTo>
                  <a:cubicBezTo>
                    <a:pt x="2097" y="705"/>
                    <a:pt x="2198" y="634"/>
                    <a:pt x="2302" y="634"/>
                  </a:cubicBezTo>
                  <a:close/>
                  <a:moveTo>
                    <a:pt x="2332" y="0"/>
                  </a:moveTo>
                  <a:cubicBezTo>
                    <a:pt x="1143" y="0"/>
                    <a:pt x="1" y="917"/>
                    <a:pt x="1" y="2301"/>
                  </a:cubicBezTo>
                  <a:cubicBezTo>
                    <a:pt x="1" y="3587"/>
                    <a:pt x="1049" y="4611"/>
                    <a:pt x="2311" y="4611"/>
                  </a:cubicBezTo>
                  <a:cubicBezTo>
                    <a:pt x="4359" y="4611"/>
                    <a:pt x="5407" y="2134"/>
                    <a:pt x="3954" y="681"/>
                  </a:cubicBezTo>
                  <a:cubicBezTo>
                    <a:pt x="3483" y="211"/>
                    <a:pt x="2903" y="0"/>
                    <a:pt x="23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8124754" y="3506260"/>
              <a:ext cx="4924" cy="14703"/>
            </a:xfrm>
            <a:custGeom>
              <a:avLst/>
              <a:gdLst/>
              <a:ahLst/>
              <a:cxnLst/>
              <a:rect l="l" t="t" r="r" b="b"/>
              <a:pathLst>
                <a:path w="144" h="430" extrusionOk="0">
                  <a:moveTo>
                    <a:pt x="144" y="1"/>
                  </a:moveTo>
                  <a:cubicBezTo>
                    <a:pt x="72" y="48"/>
                    <a:pt x="48" y="120"/>
                    <a:pt x="25" y="191"/>
                  </a:cubicBezTo>
                  <a:cubicBezTo>
                    <a:pt x="1" y="263"/>
                    <a:pt x="25" y="358"/>
                    <a:pt x="72" y="406"/>
                  </a:cubicBezTo>
                  <a:cubicBezTo>
                    <a:pt x="96" y="429"/>
                    <a:pt x="120" y="429"/>
                    <a:pt x="144" y="429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7" name="Google Shape;467;p13"/>
          <p:cNvGrpSpPr/>
          <p:nvPr/>
        </p:nvGrpSpPr>
        <p:grpSpPr>
          <a:xfrm>
            <a:off x="720175" y="3262097"/>
            <a:ext cx="560247" cy="491412"/>
            <a:chOff x="580725" y="3617925"/>
            <a:chExt cx="299325" cy="297375"/>
          </a:xfrm>
        </p:grpSpPr>
        <p:sp>
          <p:nvSpPr>
            <p:cNvPr id="468" name="Google Shape;468;p13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3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 txBox="1">
            <a:spLocks noGrp="1"/>
          </p:cNvSpPr>
          <p:nvPr>
            <p:ph type="title"/>
          </p:nvPr>
        </p:nvSpPr>
        <p:spPr>
          <a:xfrm>
            <a:off x="485503" y="169614"/>
            <a:ext cx="111063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2779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Les parties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prenantes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impliquées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dans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le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MoU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Espace réservé du contenu 5">
            <a:extLst>
              <a:ext uri="{FF2B5EF4-FFF2-40B4-BE49-F238E27FC236}">
                <a16:creationId xmlns:a16="http://schemas.microsoft.com/office/drawing/2014/main" xmlns="" id="{3331949A-4D2A-7E53-9AF2-E5ABD806F3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417156"/>
              </p:ext>
            </p:extLst>
          </p:nvPr>
        </p:nvGraphicFramePr>
        <p:xfrm>
          <a:off x="1286934" y="1137193"/>
          <a:ext cx="8555600" cy="53901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0078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 txBox="1">
            <a:spLocks noGrp="1"/>
          </p:cNvSpPr>
          <p:nvPr>
            <p:ph type="title"/>
          </p:nvPr>
        </p:nvSpPr>
        <p:spPr>
          <a:xfrm>
            <a:off x="485503" y="169614"/>
            <a:ext cx="111063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2779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</a:pP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lang="en-GB" sz="2300" dirty="0" err="1"/>
              <a:t>rôles</a:t>
            </a:r>
            <a:r>
              <a:rPr lang="en-GB" sz="2300" dirty="0"/>
              <a:t> des 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parties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prenantes</a:t>
            </a:r>
            <a:r>
              <a:rPr lang="en-GB" sz="2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latin typeface="Arial"/>
                <a:ea typeface="Arial"/>
                <a:cs typeface="Arial"/>
                <a:sym typeface="Arial"/>
              </a:rPr>
              <a:t>impliquées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oogle Shape;820;p5">
            <a:extLst>
              <a:ext uri="{FF2B5EF4-FFF2-40B4-BE49-F238E27FC236}">
                <a16:creationId xmlns:a16="http://schemas.microsoft.com/office/drawing/2014/main" xmlns="" id="{D80C6AA5-0F11-AEBD-9869-39F6ED681613}"/>
              </a:ext>
            </a:extLst>
          </p:cNvPr>
          <p:cNvGrpSpPr/>
          <p:nvPr/>
        </p:nvGrpSpPr>
        <p:grpSpPr>
          <a:xfrm>
            <a:off x="843838" y="781974"/>
            <a:ext cx="10902091" cy="6017723"/>
            <a:chOff x="686602" y="104003"/>
            <a:chExt cx="10902091" cy="5464076"/>
          </a:xfrm>
        </p:grpSpPr>
        <p:sp>
          <p:nvSpPr>
            <p:cNvPr id="4" name="Google Shape;821;p5">
              <a:extLst>
                <a:ext uri="{FF2B5EF4-FFF2-40B4-BE49-F238E27FC236}">
                  <a16:creationId xmlns:a16="http://schemas.microsoft.com/office/drawing/2014/main" xmlns="" id="{10B0BD8E-BB32-EA9E-73FC-E24813CB8A74}"/>
                </a:ext>
              </a:extLst>
            </p:cNvPr>
            <p:cNvSpPr/>
            <p:nvPr/>
          </p:nvSpPr>
          <p:spPr>
            <a:xfrm>
              <a:off x="747830" y="168512"/>
              <a:ext cx="5445617" cy="805076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" name="Google Shape;823;p5">
              <a:extLst>
                <a:ext uri="{FF2B5EF4-FFF2-40B4-BE49-F238E27FC236}">
                  <a16:creationId xmlns:a16="http://schemas.microsoft.com/office/drawing/2014/main" xmlns="" id="{8EF9C3C5-393A-3E27-2804-E856196E93E8}"/>
                </a:ext>
              </a:extLst>
            </p:cNvPr>
            <p:cNvSpPr/>
            <p:nvPr/>
          </p:nvSpPr>
          <p:spPr>
            <a:xfrm>
              <a:off x="686603" y="104003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Google Shape;824;p5">
              <a:extLst>
                <a:ext uri="{FF2B5EF4-FFF2-40B4-BE49-F238E27FC236}">
                  <a16:creationId xmlns:a16="http://schemas.microsoft.com/office/drawing/2014/main" xmlns="" id="{A7EA9262-929D-54F4-217C-D5BB8C2A9BD2}"/>
                </a:ext>
              </a:extLst>
            </p:cNvPr>
            <p:cNvSpPr/>
            <p:nvPr/>
          </p:nvSpPr>
          <p:spPr>
            <a:xfrm>
              <a:off x="6656139" y="145261"/>
              <a:ext cx="4823273" cy="805076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Google Shape;825;p5">
              <a:extLst>
                <a:ext uri="{FF2B5EF4-FFF2-40B4-BE49-F238E27FC236}">
                  <a16:creationId xmlns:a16="http://schemas.microsoft.com/office/drawing/2014/main" xmlns="" id="{EECF4E0C-4E7C-07ED-1C32-A16F1C5004A0}"/>
                </a:ext>
              </a:extLst>
            </p:cNvPr>
            <p:cNvSpPr txBox="1"/>
            <p:nvPr/>
          </p:nvSpPr>
          <p:spPr>
            <a:xfrm>
              <a:off x="6656139" y="145261"/>
              <a:ext cx="4823273" cy="805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ACC6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4BACC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Assemblée provinciale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38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Plaidoyer pour la mobilisation des ressources 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Vote des Édits budgétaires pour la santé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Suivi des décaissements de la province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Google Shape;826;p5">
              <a:extLst>
                <a:ext uri="{FF2B5EF4-FFF2-40B4-BE49-F238E27FC236}">
                  <a16:creationId xmlns:a16="http://schemas.microsoft.com/office/drawing/2014/main" xmlns="" id="{EE467283-42BA-7443-F390-47C84190F0CE}"/>
                </a:ext>
              </a:extLst>
            </p:cNvPr>
            <p:cNvSpPr/>
            <p:nvPr/>
          </p:nvSpPr>
          <p:spPr>
            <a:xfrm>
              <a:off x="6521953" y="106328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Google Shape;827;p5">
              <a:extLst>
                <a:ext uri="{FF2B5EF4-FFF2-40B4-BE49-F238E27FC236}">
                  <a16:creationId xmlns:a16="http://schemas.microsoft.com/office/drawing/2014/main" xmlns="" id="{BC7C08A6-D7DC-3D74-1D00-DEFFFEAA2AE2}"/>
                </a:ext>
              </a:extLst>
            </p:cNvPr>
            <p:cNvSpPr/>
            <p:nvPr/>
          </p:nvSpPr>
          <p:spPr>
            <a:xfrm>
              <a:off x="766982" y="1135317"/>
              <a:ext cx="5445617" cy="1646578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Google Shape;828;p5">
              <a:extLst>
                <a:ext uri="{FF2B5EF4-FFF2-40B4-BE49-F238E27FC236}">
                  <a16:creationId xmlns:a16="http://schemas.microsoft.com/office/drawing/2014/main" xmlns="" id="{FDD1FBBC-604A-3A4A-7B62-9FA8F7FB0607}"/>
                </a:ext>
              </a:extLst>
            </p:cNvPr>
            <p:cNvSpPr txBox="1"/>
            <p:nvPr/>
          </p:nvSpPr>
          <p:spPr>
            <a:xfrm>
              <a:off x="766983" y="120427"/>
              <a:ext cx="5445617" cy="941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497D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Gouvernement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Mobiliser les ressources et décaisser selon le plan de trésorerie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Régulation en  cohérence avec la stratégie nationale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Superviser la planification et suivi de la mise en œuvre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Passation des marchés (ANO selon le seuil)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Google Shape;829;p5">
              <a:extLst>
                <a:ext uri="{FF2B5EF4-FFF2-40B4-BE49-F238E27FC236}">
                  <a16:creationId xmlns:a16="http://schemas.microsoft.com/office/drawing/2014/main" xmlns="" id="{89788F3C-D4AF-6DE5-748E-F353EB0DEDAD}"/>
                </a:ext>
              </a:extLst>
            </p:cNvPr>
            <p:cNvSpPr/>
            <p:nvPr/>
          </p:nvSpPr>
          <p:spPr>
            <a:xfrm>
              <a:off x="691054" y="1123794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Google Shape;830;p5">
              <a:extLst>
                <a:ext uri="{FF2B5EF4-FFF2-40B4-BE49-F238E27FC236}">
                  <a16:creationId xmlns:a16="http://schemas.microsoft.com/office/drawing/2014/main" xmlns="" id="{AF55D4DF-992B-D182-002B-3587FEE6D7B2}"/>
                </a:ext>
              </a:extLst>
            </p:cNvPr>
            <p:cNvSpPr/>
            <p:nvPr/>
          </p:nvSpPr>
          <p:spPr>
            <a:xfrm>
              <a:off x="6732771" y="1165489"/>
              <a:ext cx="4784964" cy="1616406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Google Shape;831;p5">
              <a:extLst>
                <a:ext uri="{FF2B5EF4-FFF2-40B4-BE49-F238E27FC236}">
                  <a16:creationId xmlns:a16="http://schemas.microsoft.com/office/drawing/2014/main" xmlns="" id="{332F90D8-0A3C-7F0E-8627-B6CD2DAE0B3D}"/>
                </a:ext>
              </a:extLst>
            </p:cNvPr>
            <p:cNvSpPr txBox="1"/>
            <p:nvPr/>
          </p:nvSpPr>
          <p:spPr>
            <a:xfrm>
              <a:off x="6702267" y="1159562"/>
              <a:ext cx="4784964" cy="16500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504D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Consortium Bailleurs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38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Coordonner le décaissement des fonds selon le calendrier et les modalités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Validation de la sélection du cabinet d'audit externe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ANO pour les grands achats selon le seuil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Google Shape;832;p5">
              <a:extLst>
                <a:ext uri="{FF2B5EF4-FFF2-40B4-BE49-F238E27FC236}">
                  <a16:creationId xmlns:a16="http://schemas.microsoft.com/office/drawing/2014/main" xmlns="" id="{4F2C1D49-C370-16EF-1F43-6BD5DE6CFED6}"/>
                </a:ext>
              </a:extLst>
            </p:cNvPr>
            <p:cNvSpPr/>
            <p:nvPr/>
          </p:nvSpPr>
          <p:spPr>
            <a:xfrm>
              <a:off x="6521953" y="1131804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Google Shape;833;p5">
              <a:extLst>
                <a:ext uri="{FF2B5EF4-FFF2-40B4-BE49-F238E27FC236}">
                  <a16:creationId xmlns:a16="http://schemas.microsoft.com/office/drawing/2014/main" xmlns="" id="{823EDAFB-264A-2845-E222-5D509EEC03C5}"/>
                </a:ext>
              </a:extLst>
            </p:cNvPr>
            <p:cNvSpPr/>
            <p:nvPr/>
          </p:nvSpPr>
          <p:spPr>
            <a:xfrm>
              <a:off x="766982" y="2920176"/>
              <a:ext cx="5445617" cy="934362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Google Shape;834;p5">
              <a:extLst>
                <a:ext uri="{FF2B5EF4-FFF2-40B4-BE49-F238E27FC236}">
                  <a16:creationId xmlns:a16="http://schemas.microsoft.com/office/drawing/2014/main" xmlns="" id="{6A93EFD9-47AA-766B-3177-3DD2F50F19F0}"/>
                </a:ext>
              </a:extLst>
            </p:cNvPr>
            <p:cNvSpPr txBox="1"/>
            <p:nvPr/>
          </p:nvSpPr>
          <p:spPr>
            <a:xfrm>
              <a:off x="766982" y="1165489"/>
              <a:ext cx="5365236" cy="1621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497D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DPS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38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Gestion de la planification et intégration des financements de tous les bailleurs dans le PAO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Gestion la mise en œuvre (éviter  la duplication d’activités sur le terrain)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Préparation et soumission des rapports programmatiques et financiers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Renforcement des capacités et appui technique aux ZS, y compris la supervision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Assurer le respect des normes et suivi des indicateurs 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Google Shape;835;p5">
              <a:extLst>
                <a:ext uri="{FF2B5EF4-FFF2-40B4-BE49-F238E27FC236}">
                  <a16:creationId xmlns:a16="http://schemas.microsoft.com/office/drawing/2014/main" xmlns="" id="{72A2B1D6-5D87-7DD9-8199-B9A5784A1C5C}"/>
                </a:ext>
              </a:extLst>
            </p:cNvPr>
            <p:cNvSpPr/>
            <p:nvPr/>
          </p:nvSpPr>
          <p:spPr>
            <a:xfrm>
              <a:off x="710125" y="2356221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Google Shape;836;p5">
              <a:extLst>
                <a:ext uri="{FF2B5EF4-FFF2-40B4-BE49-F238E27FC236}">
                  <a16:creationId xmlns:a16="http://schemas.microsoft.com/office/drawing/2014/main" xmlns="" id="{8E2DD141-595C-7710-B8D2-45C9082B1BAF}"/>
                </a:ext>
              </a:extLst>
            </p:cNvPr>
            <p:cNvSpPr/>
            <p:nvPr/>
          </p:nvSpPr>
          <p:spPr>
            <a:xfrm>
              <a:off x="6702267" y="2913514"/>
              <a:ext cx="4784964" cy="935066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" name="Google Shape;837;p5">
              <a:extLst>
                <a:ext uri="{FF2B5EF4-FFF2-40B4-BE49-F238E27FC236}">
                  <a16:creationId xmlns:a16="http://schemas.microsoft.com/office/drawing/2014/main" xmlns="" id="{9906B373-A3FC-E4A5-9D27-2555B10D9FDA}"/>
                </a:ext>
              </a:extLst>
            </p:cNvPr>
            <p:cNvSpPr txBox="1"/>
            <p:nvPr/>
          </p:nvSpPr>
          <p:spPr>
            <a:xfrm>
              <a:off x="6732771" y="2928030"/>
              <a:ext cx="4784964" cy="935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0504D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Consortium Partenaires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38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Groupe d’Experts Technique (GET):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Appui conseils programmatique et en gouvernance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Groupe d’Agents Fiduciaires (GAF):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Appui en gestion financière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Google Shape;838;p5">
              <a:extLst>
                <a:ext uri="{FF2B5EF4-FFF2-40B4-BE49-F238E27FC236}">
                  <a16:creationId xmlns:a16="http://schemas.microsoft.com/office/drawing/2014/main" xmlns="" id="{2BF98E21-769B-616C-360C-4A4C8AA60A36}"/>
                </a:ext>
              </a:extLst>
            </p:cNvPr>
            <p:cNvSpPr/>
            <p:nvPr/>
          </p:nvSpPr>
          <p:spPr>
            <a:xfrm>
              <a:off x="6521953" y="2358546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3" name="Google Shape;840;p5">
              <a:extLst>
                <a:ext uri="{FF2B5EF4-FFF2-40B4-BE49-F238E27FC236}">
                  <a16:creationId xmlns:a16="http://schemas.microsoft.com/office/drawing/2014/main" xmlns="" id="{59009233-3D52-E219-BB9B-69BD25B79481}"/>
                </a:ext>
              </a:extLst>
            </p:cNvPr>
            <p:cNvSpPr txBox="1"/>
            <p:nvPr/>
          </p:nvSpPr>
          <p:spPr>
            <a:xfrm>
              <a:off x="766982" y="2928030"/>
              <a:ext cx="5365236" cy="805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497D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Coordinations des programmes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Préparer la planification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Élaboration et soumission des requêtes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Coordonner la mise en œuvre des activités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Google Shape;841;p5">
              <a:extLst>
                <a:ext uri="{FF2B5EF4-FFF2-40B4-BE49-F238E27FC236}">
                  <a16:creationId xmlns:a16="http://schemas.microsoft.com/office/drawing/2014/main" xmlns="" id="{ECC60E0A-B7FC-B5AF-1859-DEC7104FF4AB}"/>
                </a:ext>
              </a:extLst>
            </p:cNvPr>
            <p:cNvSpPr/>
            <p:nvPr/>
          </p:nvSpPr>
          <p:spPr>
            <a:xfrm>
              <a:off x="686602" y="3582360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Google Shape;842;p5">
              <a:extLst>
                <a:ext uri="{FF2B5EF4-FFF2-40B4-BE49-F238E27FC236}">
                  <a16:creationId xmlns:a16="http://schemas.microsoft.com/office/drawing/2014/main" xmlns="" id="{2E97FBA4-C86A-0DAB-2D2D-B9870AB08F91}"/>
                </a:ext>
              </a:extLst>
            </p:cNvPr>
            <p:cNvSpPr/>
            <p:nvPr/>
          </p:nvSpPr>
          <p:spPr>
            <a:xfrm>
              <a:off x="6702267" y="3946486"/>
              <a:ext cx="4784964" cy="805076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Google Shape;843;p5">
              <a:extLst>
                <a:ext uri="{FF2B5EF4-FFF2-40B4-BE49-F238E27FC236}">
                  <a16:creationId xmlns:a16="http://schemas.microsoft.com/office/drawing/2014/main" xmlns="" id="{F3CA0ED6-B75F-2C46-A834-42693601C299}"/>
                </a:ext>
              </a:extLst>
            </p:cNvPr>
            <p:cNvSpPr txBox="1"/>
            <p:nvPr/>
          </p:nvSpPr>
          <p:spPr>
            <a:xfrm>
              <a:off x="6803729" y="3953959"/>
              <a:ext cx="4784964" cy="805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497D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Zones/Aires de Santé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38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Préparer la micro-planification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lvl="1" indent="-69850" defTabSz="457200" eaLnBrk="0" fontAlgn="base" latinLnBrk="0" hangingPunct="0">
                <a:lnSpc>
                  <a:spcPct val="90000"/>
                </a:lnSpc>
                <a:spcBef>
                  <a:spcPts val="165"/>
                </a:spcBef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lang="fr-CD" sz="1200" kern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Mise en œuvre des activités</a:t>
              </a:r>
              <a:endParaRPr sz="120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Google Shape;844;p5">
              <a:extLst>
                <a:ext uri="{FF2B5EF4-FFF2-40B4-BE49-F238E27FC236}">
                  <a16:creationId xmlns:a16="http://schemas.microsoft.com/office/drawing/2014/main" xmlns="" id="{69AB442C-8344-D1A5-E8B2-768B1BC3B726}"/>
                </a:ext>
              </a:extLst>
            </p:cNvPr>
            <p:cNvSpPr/>
            <p:nvPr/>
          </p:nvSpPr>
          <p:spPr>
            <a:xfrm>
              <a:off x="6521953" y="3586832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Google Shape;845;p5">
              <a:extLst>
                <a:ext uri="{FF2B5EF4-FFF2-40B4-BE49-F238E27FC236}">
                  <a16:creationId xmlns:a16="http://schemas.microsoft.com/office/drawing/2014/main" xmlns="" id="{02309D85-E2D2-3458-FCCD-8B0B7F90A9A9}"/>
                </a:ext>
              </a:extLst>
            </p:cNvPr>
            <p:cNvSpPr/>
            <p:nvPr/>
          </p:nvSpPr>
          <p:spPr>
            <a:xfrm>
              <a:off x="4723609" y="4856604"/>
              <a:ext cx="2576246" cy="595673"/>
            </a:xfrm>
            <a:prstGeom prst="rect">
              <a:avLst/>
            </a:prstGeom>
            <a:solidFill>
              <a:sysClr val="window" lastClr="FFFFFF">
                <a:alpha val="54901"/>
              </a:sysClr>
            </a:solidFill>
            <a:ln w="9525" cap="flat" cmpd="sng">
              <a:solidFill>
                <a:srgbClr val="DAE5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Google Shape;846;p5">
              <a:extLst>
                <a:ext uri="{FF2B5EF4-FFF2-40B4-BE49-F238E27FC236}">
                  <a16:creationId xmlns:a16="http://schemas.microsoft.com/office/drawing/2014/main" xmlns="" id="{006AC998-5010-3620-C19E-26F5DECE93FC}"/>
                </a:ext>
              </a:extLst>
            </p:cNvPr>
            <p:cNvSpPr txBox="1"/>
            <p:nvPr/>
          </p:nvSpPr>
          <p:spPr>
            <a:xfrm>
              <a:off x="4723609" y="4801614"/>
              <a:ext cx="2576246" cy="7664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5300" tIns="41900" rIns="41900" bIns="41900" anchor="t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C9B"/>
                </a:buClr>
                <a:buSzPts val="1100"/>
                <a:buFontTx/>
                <a:buNone/>
                <a:tabLst/>
                <a:defRPr/>
              </a:pP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8C9B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IPS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8C9B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7150" marR="0" lvl="1" indent="-69850" defTabSz="457200" eaLnBrk="0" fontAlgn="base" latinLnBrk="0" hangingPunct="0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Assurer l’inspection et le contrôle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Google Shape;847;p5">
              <a:extLst>
                <a:ext uri="{FF2B5EF4-FFF2-40B4-BE49-F238E27FC236}">
                  <a16:creationId xmlns:a16="http://schemas.microsoft.com/office/drawing/2014/main" xmlns="" id="{4526597E-1B29-7482-CACF-66155B93CBF1}"/>
                </a:ext>
              </a:extLst>
            </p:cNvPr>
            <p:cNvSpPr/>
            <p:nvPr/>
          </p:nvSpPr>
          <p:spPr>
            <a:xfrm>
              <a:off x="4612692" y="4559894"/>
              <a:ext cx="563553" cy="845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e 31"/>
          <p:cNvGrpSpPr/>
          <p:nvPr/>
        </p:nvGrpSpPr>
        <p:grpSpPr>
          <a:xfrm>
            <a:off x="905066" y="5054583"/>
            <a:ext cx="5464769" cy="805076"/>
            <a:chOff x="747830" y="168512"/>
            <a:chExt cx="5445617" cy="805076"/>
          </a:xfrm>
        </p:grpSpPr>
        <p:sp>
          <p:nvSpPr>
            <p:cNvPr id="33" name="Rectangle 32"/>
            <p:cNvSpPr/>
            <p:nvPr/>
          </p:nvSpPr>
          <p:spPr>
            <a:xfrm>
              <a:off x="747830" y="168512"/>
              <a:ext cx="5445617" cy="805076"/>
            </a:xfrm>
            <a:prstGeom prst="rect">
              <a:avLst/>
            </a:prstGeom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rgbClr r="0" g="0" b="0"/>
            </a:lnRef>
            <a:fillRef idx="1">
              <a:schemeClr val="lt1">
                <a:alpha val="55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5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x-none"/>
            </a:p>
          </p:txBody>
        </p:sp>
        <p:sp>
          <p:nvSpPr>
            <p:cNvPr id="34" name="ZoneTexte 33"/>
            <p:cNvSpPr txBox="1"/>
            <p:nvPr/>
          </p:nvSpPr>
          <p:spPr>
            <a:xfrm>
              <a:off x="767200" y="168512"/>
              <a:ext cx="5426247" cy="805076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5305" tIns="41910" rIns="41910" bIns="41910" numCol="1" spcCol="1270" anchor="t" anchorCtr="0">
              <a:noAutofit/>
            </a:bodyPr>
            <a:lstStyle/>
            <a:p>
              <a:pPr defTabSz="457200" eaLnBrk="0" fontAlgn="base" hangingPunct="0">
                <a:lnSpc>
                  <a:spcPct val="90000"/>
                </a:lnSpc>
                <a:buClr>
                  <a:srgbClr val="1F497D"/>
                </a:buClr>
                <a:buSzPts val="1100"/>
                <a:defRPr/>
              </a:pPr>
              <a:r>
                <a:rPr lang="fr-FR" sz="1200" b="1" kern="1200" dirty="0">
                  <a:solidFill>
                    <a:srgbClr val="1F497D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Organisations des Sociétés Civiles</a:t>
              </a:r>
            </a:p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1200" kern="1200" dirty="0">
                  <a:solidFill>
                    <a:prstClr val="black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Plaidoyer: planification basée les besoins des communautés</a:t>
              </a:r>
            </a:p>
            <a:p>
              <a:pPr marL="57150" lvl="1" indent="-69850" defTabSz="457200" eaLnBrk="0" fontAlgn="base" hangingPunct="0">
                <a:lnSpc>
                  <a:spcPct val="90000"/>
                </a:lnSpc>
                <a:spcBef>
                  <a:spcPct val="0"/>
                </a:spcBef>
                <a:buClr>
                  <a:prstClr val="black"/>
                </a:buClr>
                <a:buSzPts val="1100"/>
                <a:buFont typeface="Arial"/>
                <a:buChar char="•"/>
                <a:defRPr/>
              </a:pPr>
              <a:r>
                <a:rPr lang="fr-FR" sz="1200" kern="1200" dirty="0">
                  <a:solidFill>
                    <a:prstClr val="black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Contrôle Citoyen : décaissement et alignement des dépenses selon les axes prioritaires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585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3" name="Google Shape;853;p6"/>
          <p:cNvGrpSpPr/>
          <p:nvPr/>
        </p:nvGrpSpPr>
        <p:grpSpPr>
          <a:xfrm>
            <a:off x="504372" y="710201"/>
            <a:ext cx="11306627" cy="5437597"/>
            <a:chOff x="0" y="0"/>
            <a:chExt cx="11306627" cy="5437597"/>
          </a:xfrm>
        </p:grpSpPr>
        <p:sp>
          <p:nvSpPr>
            <p:cNvPr id="854" name="Google Shape;854;p6"/>
            <p:cNvSpPr/>
            <p:nvPr/>
          </p:nvSpPr>
          <p:spPr>
            <a:xfrm rot="10800000">
              <a:off x="3844253" y="0"/>
              <a:ext cx="7462374" cy="156228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  <a:lnTo>
                    <a:pt x="102239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>
                <a:alpha val="89803"/>
              </a:schemeClr>
            </a:soli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55" name="Google Shape;855;p6"/>
            <p:cNvSpPr txBox="1"/>
            <p:nvPr/>
          </p:nvSpPr>
          <p:spPr>
            <a:xfrm>
              <a:off x="4948750" y="0"/>
              <a:ext cx="6357877" cy="1562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247650" rIns="247650" bIns="247650" anchor="ctr" anchorCtr="0">
              <a:noAutofit/>
            </a:bodyPr>
            <a:lstStyle/>
            <a:p>
              <a:pPr marL="114300" marR="0" lvl="1" indent="-114300" algn="l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Noto Sans Symbols"/>
                <a:buChar char="❖"/>
                <a:tabLst/>
                <a:defRPr/>
              </a:pPr>
              <a:r>
                <a:rPr kumimoji="0" lang="fr-CD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Le gouverneur, le consortium des bailleurs et toutes les parties prenantes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Évaluation annuelle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Validation du budget de l'année suivante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Twentieth Century"/>
                <a:buChar char="•"/>
                <a:tabLst/>
                <a:defRPr/>
              </a:pPr>
              <a:r>
                <a:rPr kumimoji="0" lang="fr-CD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Twentieth Century"/>
                  <a:cs typeface="Arial" panose="020B0604020202020204" pitchFamily="34" charset="0"/>
                  <a:sym typeface="Twentieth Century"/>
                </a:rPr>
                <a:t>PS: En plus des revues annuelles et semestrielles, chaque bailleur peut convoquer des réunions d'urgence pour résoudre les problèmes graves.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2739757" y="0"/>
              <a:ext cx="2208993" cy="1562281"/>
            </a:xfrm>
            <a:prstGeom prst="trapezoid">
              <a:avLst>
                <a:gd name="adj" fmla="val 70698"/>
              </a:avLst>
            </a:prstGeom>
            <a:gradFill>
              <a:gsLst>
                <a:gs pos="0">
                  <a:srgbClr val="32577F"/>
                </a:gs>
                <a:gs pos="100000">
                  <a:srgbClr val="5778A7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57" name="Google Shape;857;p6"/>
            <p:cNvSpPr txBox="1"/>
            <p:nvPr/>
          </p:nvSpPr>
          <p:spPr>
            <a:xfrm>
              <a:off x="2739757" y="0"/>
              <a:ext cx="2208993" cy="1562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fr-CD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                                                     Revue              annuelle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</p:txBody>
        </p:sp>
        <p:sp>
          <p:nvSpPr>
            <p:cNvPr id="858" name="Google Shape;858;p6"/>
            <p:cNvSpPr/>
            <p:nvPr/>
          </p:nvSpPr>
          <p:spPr>
            <a:xfrm rot="10800000">
              <a:off x="4948750" y="1562281"/>
              <a:ext cx="6357877" cy="129177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  <a:lnTo>
                    <a:pt x="102763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>
                <a:alpha val="89803"/>
              </a:schemeClr>
            </a:soli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59" name="Google Shape;859;p6"/>
            <p:cNvSpPr txBox="1"/>
            <p:nvPr/>
          </p:nvSpPr>
          <p:spPr>
            <a:xfrm>
              <a:off x="5862002" y="1562281"/>
              <a:ext cx="5444625" cy="1291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247650" rIns="247650" bIns="247650" anchor="ctr" anchorCtr="0">
              <a:noAutofit/>
            </a:bodyPr>
            <a:lstStyle/>
            <a:p>
              <a:pPr marL="114300" marR="0" lvl="1" indent="-114300" algn="l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Noto Sans Symbols"/>
                <a:buChar char="❖"/>
                <a:tabLst/>
                <a:defRPr/>
              </a:pPr>
              <a:r>
                <a:rPr kumimoji="0" lang="fr-CD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Le gouverneur et le consortium des bailleurs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Redevabilité et suivi de l'avancement du projet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Suivi des indicateurs de gouvernance, score global, décaissement, ajustement budgétaire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Confirmation de la contribution au PAO de l'année suivante par chaque bailleur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1826504" y="1562281"/>
              <a:ext cx="4035497" cy="1291772"/>
            </a:xfrm>
            <a:prstGeom prst="trapezoid">
              <a:avLst>
                <a:gd name="adj" fmla="val 70698"/>
              </a:avLst>
            </a:prstGeom>
            <a:gradFill>
              <a:gsLst>
                <a:gs pos="0">
                  <a:srgbClr val="6582AF"/>
                </a:gs>
                <a:gs pos="100000">
                  <a:srgbClr val="7498D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1" name="Google Shape;861;p6"/>
            <p:cNvSpPr txBox="1"/>
            <p:nvPr/>
          </p:nvSpPr>
          <p:spPr>
            <a:xfrm>
              <a:off x="2532716" y="1562281"/>
              <a:ext cx="2623073" cy="1291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fr-CD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Réunion semestrielle</a:t>
              </a: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</p:txBody>
        </p:sp>
        <p:sp>
          <p:nvSpPr>
            <p:cNvPr id="862" name="Google Shape;862;p6"/>
            <p:cNvSpPr/>
            <p:nvPr/>
          </p:nvSpPr>
          <p:spPr>
            <a:xfrm rot="10800000">
              <a:off x="5862002" y="2854053"/>
              <a:ext cx="5444625" cy="129177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  <a:lnTo>
                    <a:pt x="99872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>
                <a:alpha val="89803"/>
              </a:schemeClr>
            </a:soli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3" name="Google Shape;863;p6"/>
            <p:cNvSpPr txBox="1"/>
            <p:nvPr/>
          </p:nvSpPr>
          <p:spPr>
            <a:xfrm>
              <a:off x="6775254" y="2854053"/>
              <a:ext cx="4531373" cy="1291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247650" rIns="247650" bIns="247650" anchor="ctr" anchorCtr="0">
              <a:noAutofit/>
            </a:bodyPr>
            <a:lstStyle/>
            <a:p>
              <a:pPr marL="114300" marR="0" lvl="1" indent="-114300" algn="l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Noto Sans Symbols"/>
                <a:buChar char="❖"/>
                <a:tabLst/>
                <a:defRPr/>
              </a:pPr>
              <a:r>
                <a:rPr kumimoji="0" lang="fr-CD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Présenté une fois par mois lors du Conseil des Ministres: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Le ministre des Finances présente le rapport financier 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Le ministre de la Santé présente le rapport des programmes MoU</a:t>
              </a: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913252" y="2854053"/>
              <a:ext cx="5862002" cy="1291772"/>
            </a:xfrm>
            <a:prstGeom prst="trapezoid">
              <a:avLst>
                <a:gd name="adj" fmla="val 70698"/>
              </a:avLst>
            </a:prstGeom>
            <a:gradFill>
              <a:gsLst>
                <a:gs pos="0">
                  <a:srgbClr val="ABB7CD"/>
                </a:gs>
                <a:gs pos="100000">
                  <a:srgbClr val="B9CBE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5" name="Google Shape;865;p6"/>
            <p:cNvSpPr txBox="1"/>
            <p:nvPr/>
          </p:nvSpPr>
          <p:spPr>
            <a:xfrm>
              <a:off x="1939102" y="2854053"/>
              <a:ext cx="3810301" cy="1291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fr-CD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Rapport mensuel au Gouverneur</a:t>
              </a: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</p:txBody>
        </p:sp>
        <p:sp>
          <p:nvSpPr>
            <p:cNvPr id="866" name="Google Shape;866;p6"/>
            <p:cNvSpPr/>
            <p:nvPr/>
          </p:nvSpPr>
          <p:spPr>
            <a:xfrm rot="10800000">
              <a:off x="6775254" y="4145825"/>
              <a:ext cx="4531373" cy="129177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0"/>
                  </a:lnTo>
                  <a:lnTo>
                    <a:pt x="95815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chemeClr val="lt1">
                <a:alpha val="89803"/>
              </a:schemeClr>
            </a:soli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7" name="Google Shape;867;p6"/>
            <p:cNvSpPr txBox="1"/>
            <p:nvPr/>
          </p:nvSpPr>
          <p:spPr>
            <a:xfrm>
              <a:off x="7688507" y="4145825"/>
              <a:ext cx="3618120" cy="1291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247650" rIns="247650" bIns="247650" anchor="ctr" anchorCtr="0">
              <a:noAutofit/>
            </a:bodyPr>
            <a:lstStyle/>
            <a:p>
              <a:pPr marL="114300" marR="0" lvl="1" indent="-114300" algn="l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Noto Sans Symbols"/>
                <a:buChar char="❖"/>
                <a:tabLst/>
                <a:defRPr/>
              </a:pPr>
              <a:r>
                <a:rPr kumimoji="0" lang="fr-CD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Ministre de la Santé et consortium des partenaires techniques </a:t>
              </a:r>
              <a:r>
                <a:rPr kumimoji="0" lang="fr-CD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(et bailleurs selon disponibilité)</a:t>
              </a:r>
              <a:endParaRPr kumimoji="0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  <a:p>
              <a:pPr marL="228600" marR="0" lvl="2" indent="-114300" algn="l" defTabSz="457200" rtl="0" eaLnBrk="0" fontAlgn="base" latinLnBrk="0" hangingPunct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 typeface="Arial"/>
                <a:buChar char="•"/>
                <a:tabLst/>
                <a:defRPr/>
              </a:pP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Suivi de l'avancement du projet présenté par la </a:t>
              </a:r>
              <a:r>
                <a:rPr kumimoji="0" lang="fr-CD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DPS</a:t>
              </a:r>
              <a:r>
                <a:rPr kumimoji="0" lang="fr-CD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.</a:t>
              </a: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0" y="4145825"/>
              <a:ext cx="7688507" cy="1291772"/>
            </a:xfrm>
            <a:prstGeom prst="trapezoid">
              <a:avLst>
                <a:gd name="adj" fmla="val 7069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12700" dir="5400000" algn="ctr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9" name="Google Shape;869;p6"/>
            <p:cNvSpPr txBox="1"/>
            <p:nvPr/>
          </p:nvSpPr>
          <p:spPr>
            <a:xfrm>
              <a:off x="1345488" y="4145825"/>
              <a:ext cx="4997529" cy="1291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defTabSz="457200" rtl="0" eaLnBrk="0" fontAlgn="base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Pts val="1800"/>
                <a:buFont typeface="Arial"/>
                <a:buNone/>
                <a:tabLst/>
                <a:defRPr/>
              </a:pPr>
              <a:r>
                <a:rPr kumimoji="0" lang="fr-CD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Réunion mensuelle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wentieth Century"/>
                <a:cs typeface="Arial" panose="020B0604020202020204" pitchFamily="34" charset="0"/>
                <a:sym typeface="Twentieth Century"/>
              </a:endParaRPr>
            </a:p>
          </p:txBody>
        </p:sp>
      </p:grpSp>
      <p:sp>
        <p:nvSpPr>
          <p:cNvPr id="870" name="Google Shape;870;p6"/>
          <p:cNvSpPr txBox="1"/>
          <p:nvPr/>
        </p:nvSpPr>
        <p:spPr>
          <a:xfrm>
            <a:off x="120363" y="0"/>
            <a:ext cx="9885528" cy="471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2800"/>
              <a:buFont typeface="Arial"/>
              <a:buNone/>
              <a:tabLst/>
              <a:defRPr/>
            </a:pPr>
            <a:r>
              <a:rPr kumimoji="0" lang="en-GB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Mécanismes</a:t>
            </a:r>
            <a:r>
              <a:rPr kumimoji="0" lang="en-GB" sz="23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kumimoji="0" lang="en-GB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suivi</a:t>
            </a:r>
            <a:r>
              <a:rPr kumimoji="0" lang="en-GB" sz="23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et de </a:t>
            </a:r>
            <a:r>
              <a:rPr kumimoji="0" lang="en-GB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redevabilité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71" name="Google Shape;871;p6"/>
          <p:cNvSpPr txBox="1">
            <a:spLocks noGrp="1"/>
          </p:cNvSpPr>
          <p:nvPr>
            <p:ph type="sldNum" idx="12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000"/>
              <a:buFont typeface="Twentieth Century"/>
              <a:buNone/>
              <a:tabLst/>
              <a:defRPr/>
            </a:pPr>
            <a:fld id="{00000000-1234-1234-1234-123412341234}" type="slidenum">
              <a:rPr kumimoji="0" lang="fr-CD" sz="10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wentieth Century"/>
                <a:ea typeface="Twentieth Century"/>
                <a:cs typeface="Twentieth Century"/>
                <a:sym typeface="Twentieth Century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000"/>
                <a:buFont typeface="Twentieth Century"/>
                <a:buNone/>
                <a:tabLst/>
                <a:defRPr/>
              </a:pPr>
              <a:t>11</a:t>
            </a:fld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4289441683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>
          <a:extLst>
            <a:ext uri="{FF2B5EF4-FFF2-40B4-BE49-F238E27FC236}">
              <a16:creationId xmlns:a16="http://schemas.microsoft.com/office/drawing/2014/main" xmlns="" id="{0FA54EED-841B-67CF-4ED4-E9C49253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">
            <a:extLst>
              <a:ext uri="{FF2B5EF4-FFF2-40B4-BE49-F238E27FC236}">
                <a16:creationId xmlns:a16="http://schemas.microsoft.com/office/drawing/2014/main" xmlns="" id="{2D6B6390-25BA-9985-1BC5-37CCFA1AA4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fld id="{00000000-1234-1234-1234-123412341234}" type="slidenum"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  <a:tabLst/>
                <a:defRPr/>
              </a:pPr>
              <a:t>12</a:t>
            </a:fld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>
            <a:extLst>
              <a:ext uri="{FF2B5EF4-FFF2-40B4-BE49-F238E27FC236}">
                <a16:creationId xmlns:a16="http://schemas.microsoft.com/office/drawing/2014/main" xmlns="" id="{920ACC78-A882-BE41-1B35-58F74A7DCF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965" y="169615"/>
            <a:ext cx="11516810" cy="432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27791"/>
              </a:lnSpc>
              <a:buSzPts val="2400"/>
            </a:pPr>
            <a:r>
              <a:rPr kumimoji="0" lang="en-GB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Fonctionnement</a:t>
            </a:r>
            <a:r>
              <a:rPr kumimoji="0" lang="en-GB" sz="23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des </a:t>
            </a:r>
            <a:r>
              <a:rPr kumimoji="0" lang="en-GB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organes</a:t>
            </a:r>
            <a:r>
              <a:rPr kumimoji="0" lang="en-GB" sz="23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MoU pour </a:t>
            </a:r>
            <a:r>
              <a:rPr kumimoji="0" lang="en-GB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kumimoji="0" lang="en-GB" sz="23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planification et gestion communes. 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xmlns="" id="{9A02637E-03BE-A7CD-61DA-ECC68C91A5B1}"/>
              </a:ext>
            </a:extLst>
          </p:cNvPr>
          <p:cNvGraphicFramePr/>
          <p:nvPr/>
        </p:nvGraphicFramePr>
        <p:xfrm>
          <a:off x="385573" y="949124"/>
          <a:ext cx="7624108" cy="5347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Google Shape;264;p8">
            <a:extLst>
              <a:ext uri="{FF2B5EF4-FFF2-40B4-BE49-F238E27FC236}">
                <a16:creationId xmlns:a16="http://schemas.microsoft.com/office/drawing/2014/main" xmlns="" id="{92CB3BDA-9534-2BEA-C945-9CF0EBC03057}"/>
              </a:ext>
            </a:extLst>
          </p:cNvPr>
          <p:cNvGraphicFramePr/>
          <p:nvPr/>
        </p:nvGraphicFramePr>
        <p:xfrm>
          <a:off x="8565265" y="1456976"/>
          <a:ext cx="3047869" cy="383265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478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828981"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F61"/>
                        </a:buClr>
                        <a:buSzPts val="12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fr-FR" sz="1400" b="0" i="0" dirty="0">
                          <a:solidFill>
                            <a:srgbClr val="005493"/>
                          </a:solidFill>
                          <a:latin typeface="+mn-lt"/>
                        </a:rPr>
                        <a:t>Tous les acteurs du secteur  santé participent à la gestion à travers les organes MoU. </a:t>
                      </a:r>
                    </a:p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F61"/>
                        </a:buClr>
                        <a:buSzPts val="1200"/>
                        <a:buFont typeface="Wingdings" pitchFamily="2" charset="2"/>
                        <a:buNone/>
                        <a:tabLst/>
                        <a:defRPr/>
                      </a:pPr>
                      <a:endParaRPr lang="fr-FR" sz="1400" b="0" i="0" dirty="0">
                        <a:solidFill>
                          <a:srgbClr val="005493"/>
                        </a:solidFill>
                        <a:latin typeface="+mn-lt"/>
                      </a:endParaRPr>
                    </a:p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64F61"/>
                        </a:buClr>
                        <a:buSzPts val="1200"/>
                        <a:buFont typeface="Wingdings" pitchFamily="2" charset="2"/>
                        <a:buNone/>
                        <a:tabLst/>
                        <a:defRPr/>
                      </a:pPr>
                      <a:endParaRPr lang="fr-FR" sz="1400" b="0" i="0" dirty="0">
                        <a:solidFill>
                          <a:srgbClr val="005493"/>
                        </a:solidFill>
                        <a:latin typeface="+mn-lt"/>
                      </a:endParaRPr>
                    </a:p>
                  </a:txBody>
                  <a:tcPr marL="274300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0367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400" b="0" i="0" dirty="0">
                          <a:solidFill>
                            <a:srgbClr val="005493"/>
                          </a:solidFill>
                          <a:latin typeface="+mn-lt"/>
                        </a:rPr>
                        <a:t>Ces deux organes jouent un rôle essentiel dans la chaîne des dépenses et veillent à la conformité des demandes et au respect des lignes budgétaires.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FR" sz="1400" b="0" i="0" dirty="0">
                        <a:solidFill>
                          <a:srgbClr val="005493"/>
                        </a:solidFill>
                        <a:latin typeface="+mn-lt"/>
                      </a:endParaRPr>
                    </a:p>
                  </a:txBody>
                  <a:tcPr marL="274300" marR="91425" marT="91425" marB="91425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889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Fondamentaux du </a:t>
            </a:r>
            <a:r>
              <a:rPr lang="fr-FR" sz="2400" dirty="0" err="1"/>
              <a:t>MoU</a:t>
            </a:r>
            <a:endParaRPr lang="fr-FR" sz="240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/>
              <a:t>Réalisations</a:t>
            </a:r>
            <a:r>
              <a:rPr lang="fr-FR" sz="2400" b="1" dirty="0"/>
              <a:t> 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Extension du </a:t>
            </a:r>
            <a:r>
              <a:rPr lang="fr-FR" sz="2400" dirty="0" err="1"/>
              <a:t>MoU</a:t>
            </a:r>
            <a:endParaRPr lang="fr-FR" sz="240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75942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545694553a_0_806"/>
          <p:cNvSpPr txBox="1"/>
          <p:nvPr/>
        </p:nvSpPr>
        <p:spPr>
          <a:xfrm>
            <a:off x="352675" y="208087"/>
            <a:ext cx="114867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Les provinces MoU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réalisent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des innovations dans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l’investissement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, la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gouvernance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, la gestion et le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suivi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du programme avec un impact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positif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sur la couverture </a:t>
            </a:r>
            <a:r>
              <a:rPr lang="en-GB" sz="23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vaccinale</a:t>
            </a:r>
            <a:r>
              <a:rPr lang="en-GB" sz="23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3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2545694553a_0_806"/>
          <p:cNvSpPr txBox="1"/>
          <p:nvPr/>
        </p:nvSpPr>
        <p:spPr>
          <a:xfrm>
            <a:off x="330200" y="-1435100"/>
            <a:ext cx="0" cy="0"/>
          </a:xfrm>
          <a:prstGeom prst="rect">
            <a:avLst/>
          </a:prstGeom>
          <a:noFill/>
          <a:ln w="9525" cap="flat" cmpd="sng">
            <a:solidFill>
              <a:srgbClr val="BB6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2545694553a_0_806"/>
          <p:cNvSpPr txBox="1"/>
          <p:nvPr/>
        </p:nvSpPr>
        <p:spPr>
          <a:xfrm>
            <a:off x="4766128" y="-208458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2545694553a_0_806"/>
          <p:cNvSpPr/>
          <p:nvPr/>
        </p:nvSpPr>
        <p:spPr>
          <a:xfrm>
            <a:off x="330200" y="1021063"/>
            <a:ext cx="113604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chemeClr val="accent6"/>
              </a:buClr>
              <a:buSzPts val="1200"/>
            </a:pPr>
            <a:r>
              <a:rPr lang="en-GB" sz="1400" b="1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Progrès</a:t>
            </a:r>
            <a:r>
              <a:rPr lang="en-GB" sz="1400" b="1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de la couverture du DTC3 dans les cadres du MoU par rapport au </a:t>
            </a:r>
            <a:r>
              <a:rPr lang="en-GB" sz="1400" b="1" i="0" u="none" strike="noStrike" cap="none" dirty="0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pays, </a:t>
            </a:r>
            <a:r>
              <a:rPr lang="en-GB" sz="1400" b="1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mesuré</a:t>
            </a:r>
            <a:r>
              <a:rPr lang="en-GB" sz="1400" b="1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par des </a:t>
            </a:r>
            <a:r>
              <a:rPr lang="en-GB" sz="1400" b="1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enquêtes</a:t>
            </a:r>
            <a:r>
              <a:rPr lang="en-GB" sz="1400" b="1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 b="1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indépendantes</a:t>
            </a:r>
            <a:r>
              <a:rPr lang="en-GB" sz="1400" b="1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au </a:t>
            </a:r>
            <a:r>
              <a:rPr lang="en-GB" sz="1400" b="1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niveau</a:t>
            </a:r>
            <a:r>
              <a:rPr lang="en-GB" sz="1400" b="1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du district,  </a:t>
            </a:r>
            <a:r>
              <a:rPr lang="en-GB" sz="14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[% MICS 17-18, ECV </a:t>
            </a:r>
            <a:r>
              <a:rPr lang="en-GB" sz="1400" b="0" i="0" u="none" strike="noStrike" cap="none" dirty="0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2020-2024</a:t>
            </a:r>
            <a:r>
              <a:rPr lang="en-GB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], </a:t>
            </a:r>
            <a:r>
              <a:rPr lang="en-GB" b="1" dirty="0" err="1">
                <a:solidFill>
                  <a:schemeClr val="accent6"/>
                </a:solidFill>
              </a:rPr>
              <a:t>en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b="1" dirty="0" err="1">
                <a:solidFill>
                  <a:schemeClr val="accent6"/>
                </a:solidFill>
              </a:rPr>
              <a:t>depit</a:t>
            </a:r>
            <a:r>
              <a:rPr lang="en-GB" b="1" dirty="0">
                <a:solidFill>
                  <a:schemeClr val="accent6"/>
                </a:solidFill>
              </a:rPr>
              <a:t> de la </a:t>
            </a:r>
            <a:r>
              <a:rPr lang="en-GB" b="1" dirty="0" err="1">
                <a:solidFill>
                  <a:schemeClr val="accent6"/>
                </a:solidFill>
              </a:rPr>
              <a:t>baisse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b="1" dirty="0" err="1">
                <a:solidFill>
                  <a:schemeClr val="accent6"/>
                </a:solidFill>
              </a:rPr>
              <a:t>conue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b="1" dirty="0" err="1">
                <a:solidFill>
                  <a:schemeClr val="accent6"/>
                </a:solidFill>
              </a:rPr>
              <a:t>en</a:t>
            </a:r>
            <a:r>
              <a:rPr lang="en-GB" b="1" dirty="0">
                <a:solidFill>
                  <a:schemeClr val="accent6"/>
                </a:solidFill>
              </a:rPr>
              <a:t> 2023</a:t>
            </a:r>
            <a:r>
              <a:rPr lang="en-GB" sz="1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2545694553a_0_806"/>
          <p:cNvSpPr/>
          <p:nvPr/>
        </p:nvSpPr>
        <p:spPr>
          <a:xfrm>
            <a:off x="246615" y="4619043"/>
            <a:ext cx="11698800" cy="2031900"/>
          </a:xfrm>
          <a:prstGeom prst="rect">
            <a:avLst/>
          </a:prstGeom>
          <a:solidFill>
            <a:srgbClr val="CFE2F3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464F6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2545694553a_0_806"/>
          <p:cNvSpPr/>
          <p:nvPr/>
        </p:nvSpPr>
        <p:spPr>
          <a:xfrm>
            <a:off x="3297650" y="4766433"/>
            <a:ext cx="5425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INNOVATIONS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g2545694553a_0_806"/>
          <p:cNvGrpSpPr/>
          <p:nvPr/>
        </p:nvGrpSpPr>
        <p:grpSpPr>
          <a:xfrm>
            <a:off x="940348" y="5162842"/>
            <a:ext cx="615156" cy="492301"/>
            <a:chOff x="-61354875" y="4101525"/>
            <a:chExt cx="316650" cy="317450"/>
          </a:xfrm>
        </p:grpSpPr>
        <p:sp>
          <p:nvSpPr>
            <p:cNvPr id="499" name="Google Shape;499;g2545694553a_0_806"/>
            <p:cNvSpPr/>
            <p:nvPr/>
          </p:nvSpPr>
          <p:spPr>
            <a:xfrm>
              <a:off x="-61172925" y="4240150"/>
              <a:ext cx="62225" cy="145750"/>
            </a:xfrm>
            <a:custGeom>
              <a:avLst/>
              <a:gdLst/>
              <a:ahLst/>
              <a:cxnLst/>
              <a:rect l="l" t="t" r="r" b="b"/>
              <a:pathLst>
                <a:path w="2489" h="5830" extrusionOk="0">
                  <a:moveTo>
                    <a:pt x="1260" y="1"/>
                  </a:moveTo>
                  <a:cubicBezTo>
                    <a:pt x="1071" y="1"/>
                    <a:pt x="819" y="221"/>
                    <a:pt x="819" y="442"/>
                  </a:cubicBezTo>
                  <a:lnTo>
                    <a:pt x="819" y="725"/>
                  </a:lnTo>
                  <a:cubicBezTo>
                    <a:pt x="347" y="883"/>
                    <a:pt x="0" y="1355"/>
                    <a:pt x="0" y="1891"/>
                  </a:cubicBezTo>
                  <a:cubicBezTo>
                    <a:pt x="0" y="2584"/>
                    <a:pt x="536" y="2962"/>
                    <a:pt x="977" y="3277"/>
                  </a:cubicBezTo>
                  <a:cubicBezTo>
                    <a:pt x="1292" y="3529"/>
                    <a:pt x="1639" y="3750"/>
                    <a:pt x="1639" y="4002"/>
                  </a:cubicBezTo>
                  <a:cubicBezTo>
                    <a:pt x="1639" y="4222"/>
                    <a:pt x="1450" y="4411"/>
                    <a:pt x="1260" y="4411"/>
                  </a:cubicBezTo>
                  <a:cubicBezTo>
                    <a:pt x="1008" y="4411"/>
                    <a:pt x="819" y="4222"/>
                    <a:pt x="819" y="4002"/>
                  </a:cubicBezTo>
                  <a:cubicBezTo>
                    <a:pt x="819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51"/>
                  </a:lnTo>
                  <a:cubicBezTo>
                    <a:pt x="819" y="5672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4002"/>
                  </a:cubicBezTo>
                  <a:cubicBezTo>
                    <a:pt x="2489" y="3309"/>
                    <a:pt x="1922" y="2931"/>
                    <a:pt x="1481" y="2616"/>
                  </a:cubicBezTo>
                  <a:cubicBezTo>
                    <a:pt x="1166" y="2364"/>
                    <a:pt x="819" y="2143"/>
                    <a:pt x="819" y="1891"/>
                  </a:cubicBezTo>
                  <a:cubicBezTo>
                    <a:pt x="819" y="1702"/>
                    <a:pt x="1008" y="1513"/>
                    <a:pt x="1260" y="1513"/>
                  </a:cubicBezTo>
                  <a:cubicBezTo>
                    <a:pt x="1513" y="1513"/>
                    <a:pt x="1639" y="1702"/>
                    <a:pt x="1639" y="1891"/>
                  </a:cubicBezTo>
                  <a:cubicBezTo>
                    <a:pt x="1639" y="2143"/>
                    <a:pt x="1859" y="2332"/>
                    <a:pt x="2048" y="2332"/>
                  </a:cubicBezTo>
                  <a:cubicBezTo>
                    <a:pt x="2300" y="2332"/>
                    <a:pt x="2489" y="2143"/>
                    <a:pt x="2489" y="1891"/>
                  </a:cubicBezTo>
                  <a:cubicBezTo>
                    <a:pt x="2489" y="1355"/>
                    <a:pt x="2143" y="914"/>
                    <a:pt x="1639" y="725"/>
                  </a:cubicBezTo>
                  <a:lnTo>
                    <a:pt x="1639" y="442"/>
                  </a:lnTo>
                  <a:cubicBezTo>
                    <a:pt x="1639" y="221"/>
                    <a:pt x="1450" y="1"/>
                    <a:pt x="12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2545694553a_0_806"/>
            <p:cNvSpPr/>
            <p:nvPr/>
          </p:nvSpPr>
          <p:spPr>
            <a:xfrm>
              <a:off x="-61354875" y="4101525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11405" y="1608"/>
                  </a:moveTo>
                  <a:cubicBezTo>
                    <a:pt x="11657" y="1608"/>
                    <a:pt x="11847" y="1797"/>
                    <a:pt x="11847" y="2049"/>
                  </a:cubicBezTo>
                  <a:lnTo>
                    <a:pt x="11847" y="3277"/>
                  </a:lnTo>
                  <a:lnTo>
                    <a:pt x="820" y="3277"/>
                  </a:lnTo>
                  <a:lnTo>
                    <a:pt x="820" y="2049"/>
                  </a:lnTo>
                  <a:cubicBezTo>
                    <a:pt x="820" y="1797"/>
                    <a:pt x="1009" y="1608"/>
                    <a:pt x="1198" y="1608"/>
                  </a:cubicBezTo>
                  <a:lnTo>
                    <a:pt x="1639" y="1608"/>
                  </a:lnTo>
                  <a:lnTo>
                    <a:pt x="1639" y="2049"/>
                  </a:lnTo>
                  <a:cubicBezTo>
                    <a:pt x="1639" y="2301"/>
                    <a:pt x="1828" y="2458"/>
                    <a:pt x="2048" y="2458"/>
                  </a:cubicBezTo>
                  <a:cubicBezTo>
                    <a:pt x="2237" y="2458"/>
                    <a:pt x="2427" y="2238"/>
                    <a:pt x="2427" y="2049"/>
                  </a:cubicBezTo>
                  <a:lnTo>
                    <a:pt x="2427" y="1608"/>
                  </a:lnTo>
                  <a:lnTo>
                    <a:pt x="5892" y="1608"/>
                  </a:lnTo>
                  <a:lnTo>
                    <a:pt x="5892" y="2049"/>
                  </a:lnTo>
                  <a:cubicBezTo>
                    <a:pt x="5892" y="2301"/>
                    <a:pt x="6081" y="2458"/>
                    <a:pt x="6333" y="2458"/>
                  </a:cubicBezTo>
                  <a:cubicBezTo>
                    <a:pt x="6585" y="2458"/>
                    <a:pt x="6743" y="2238"/>
                    <a:pt x="6743" y="2049"/>
                  </a:cubicBezTo>
                  <a:lnTo>
                    <a:pt x="6743" y="1608"/>
                  </a:lnTo>
                  <a:lnTo>
                    <a:pt x="10208" y="1608"/>
                  </a:lnTo>
                  <a:lnTo>
                    <a:pt x="10208" y="2049"/>
                  </a:lnTo>
                  <a:cubicBezTo>
                    <a:pt x="10208" y="2301"/>
                    <a:pt x="10397" y="2458"/>
                    <a:pt x="10618" y="2458"/>
                  </a:cubicBezTo>
                  <a:cubicBezTo>
                    <a:pt x="10870" y="2458"/>
                    <a:pt x="11027" y="2238"/>
                    <a:pt x="11027" y="2049"/>
                  </a:cubicBezTo>
                  <a:lnTo>
                    <a:pt x="11027" y="1608"/>
                  </a:lnTo>
                  <a:close/>
                  <a:moveTo>
                    <a:pt x="2868" y="4916"/>
                  </a:moveTo>
                  <a:cubicBezTo>
                    <a:pt x="3088" y="4916"/>
                    <a:pt x="3246" y="5136"/>
                    <a:pt x="3246" y="5357"/>
                  </a:cubicBezTo>
                  <a:cubicBezTo>
                    <a:pt x="3309" y="5546"/>
                    <a:pt x="3088" y="5766"/>
                    <a:pt x="2868" y="5766"/>
                  </a:cubicBezTo>
                  <a:lnTo>
                    <a:pt x="2048" y="5766"/>
                  </a:lnTo>
                  <a:cubicBezTo>
                    <a:pt x="1796" y="5766"/>
                    <a:pt x="1639" y="5546"/>
                    <a:pt x="1639" y="5357"/>
                  </a:cubicBezTo>
                  <a:cubicBezTo>
                    <a:pt x="1639" y="5136"/>
                    <a:pt x="1828" y="4916"/>
                    <a:pt x="2048" y="4916"/>
                  </a:cubicBezTo>
                  <a:close/>
                  <a:moveTo>
                    <a:pt x="2868" y="6585"/>
                  </a:moveTo>
                  <a:cubicBezTo>
                    <a:pt x="3088" y="6585"/>
                    <a:pt x="3246" y="6774"/>
                    <a:pt x="3246" y="6963"/>
                  </a:cubicBezTo>
                  <a:cubicBezTo>
                    <a:pt x="3309" y="7215"/>
                    <a:pt x="3088" y="7404"/>
                    <a:pt x="2868" y="7404"/>
                  </a:cubicBezTo>
                  <a:lnTo>
                    <a:pt x="2048" y="7404"/>
                  </a:lnTo>
                  <a:cubicBezTo>
                    <a:pt x="1796" y="7404"/>
                    <a:pt x="1639" y="7215"/>
                    <a:pt x="1639" y="6963"/>
                  </a:cubicBezTo>
                  <a:cubicBezTo>
                    <a:pt x="1639" y="6743"/>
                    <a:pt x="1828" y="6585"/>
                    <a:pt x="2048" y="6585"/>
                  </a:cubicBezTo>
                  <a:close/>
                  <a:moveTo>
                    <a:pt x="2868" y="8287"/>
                  </a:moveTo>
                  <a:cubicBezTo>
                    <a:pt x="3088" y="8287"/>
                    <a:pt x="3246" y="8476"/>
                    <a:pt x="3246" y="8665"/>
                  </a:cubicBezTo>
                  <a:cubicBezTo>
                    <a:pt x="3309" y="8854"/>
                    <a:pt x="3088" y="9074"/>
                    <a:pt x="2868" y="9074"/>
                  </a:cubicBezTo>
                  <a:lnTo>
                    <a:pt x="2048" y="9074"/>
                  </a:lnTo>
                  <a:cubicBezTo>
                    <a:pt x="1796" y="9074"/>
                    <a:pt x="1639" y="8854"/>
                    <a:pt x="1639" y="8665"/>
                  </a:cubicBezTo>
                  <a:cubicBezTo>
                    <a:pt x="1639" y="8413"/>
                    <a:pt x="1828" y="8287"/>
                    <a:pt x="2048" y="8287"/>
                  </a:cubicBezTo>
                  <a:close/>
                  <a:moveTo>
                    <a:pt x="8538" y="5199"/>
                  </a:moveTo>
                  <a:cubicBezTo>
                    <a:pt x="10366" y="5199"/>
                    <a:pt x="11847" y="6711"/>
                    <a:pt x="11847" y="8507"/>
                  </a:cubicBezTo>
                  <a:cubicBezTo>
                    <a:pt x="11847" y="10334"/>
                    <a:pt x="10334" y="11815"/>
                    <a:pt x="8538" y="11815"/>
                  </a:cubicBezTo>
                  <a:cubicBezTo>
                    <a:pt x="6711" y="11815"/>
                    <a:pt x="5230" y="10334"/>
                    <a:pt x="5230" y="8507"/>
                  </a:cubicBezTo>
                  <a:cubicBezTo>
                    <a:pt x="5230" y="6711"/>
                    <a:pt x="6743" y="5199"/>
                    <a:pt x="8538" y="5199"/>
                  </a:cubicBezTo>
                  <a:close/>
                  <a:moveTo>
                    <a:pt x="2048" y="1"/>
                  </a:moveTo>
                  <a:cubicBezTo>
                    <a:pt x="1828" y="1"/>
                    <a:pt x="1639" y="190"/>
                    <a:pt x="1639" y="410"/>
                  </a:cubicBezTo>
                  <a:lnTo>
                    <a:pt x="1639" y="788"/>
                  </a:lnTo>
                  <a:lnTo>
                    <a:pt x="1198" y="788"/>
                  </a:lnTo>
                  <a:cubicBezTo>
                    <a:pt x="536" y="788"/>
                    <a:pt x="1" y="1324"/>
                    <a:pt x="1" y="2049"/>
                  </a:cubicBezTo>
                  <a:lnTo>
                    <a:pt x="1" y="9767"/>
                  </a:lnTo>
                  <a:cubicBezTo>
                    <a:pt x="1" y="10429"/>
                    <a:pt x="536" y="11028"/>
                    <a:pt x="1198" y="11028"/>
                  </a:cubicBezTo>
                  <a:lnTo>
                    <a:pt x="5230" y="11028"/>
                  </a:lnTo>
                  <a:cubicBezTo>
                    <a:pt x="5987" y="12004"/>
                    <a:pt x="7184" y="12697"/>
                    <a:pt x="8538" y="12697"/>
                  </a:cubicBezTo>
                  <a:cubicBezTo>
                    <a:pt x="10807" y="12697"/>
                    <a:pt x="12666" y="10838"/>
                    <a:pt x="12666" y="8539"/>
                  </a:cubicBezTo>
                  <a:lnTo>
                    <a:pt x="12666" y="2080"/>
                  </a:lnTo>
                  <a:cubicBezTo>
                    <a:pt x="12666" y="1356"/>
                    <a:pt x="12130" y="788"/>
                    <a:pt x="11405" y="788"/>
                  </a:cubicBezTo>
                  <a:lnTo>
                    <a:pt x="11027" y="788"/>
                  </a:lnTo>
                  <a:lnTo>
                    <a:pt x="11027" y="410"/>
                  </a:lnTo>
                  <a:cubicBezTo>
                    <a:pt x="11027" y="158"/>
                    <a:pt x="10807" y="1"/>
                    <a:pt x="10618" y="1"/>
                  </a:cubicBezTo>
                  <a:cubicBezTo>
                    <a:pt x="10429" y="1"/>
                    <a:pt x="10177" y="190"/>
                    <a:pt x="10177" y="410"/>
                  </a:cubicBezTo>
                  <a:lnTo>
                    <a:pt x="10177" y="788"/>
                  </a:lnTo>
                  <a:lnTo>
                    <a:pt x="6711" y="788"/>
                  </a:lnTo>
                  <a:lnTo>
                    <a:pt x="6711" y="410"/>
                  </a:lnTo>
                  <a:cubicBezTo>
                    <a:pt x="6711" y="158"/>
                    <a:pt x="6522" y="1"/>
                    <a:pt x="6333" y="1"/>
                  </a:cubicBezTo>
                  <a:cubicBezTo>
                    <a:pt x="6144" y="1"/>
                    <a:pt x="5892" y="190"/>
                    <a:pt x="5892" y="410"/>
                  </a:cubicBezTo>
                  <a:lnTo>
                    <a:pt x="5892" y="788"/>
                  </a:lnTo>
                  <a:lnTo>
                    <a:pt x="2427" y="788"/>
                  </a:lnTo>
                  <a:lnTo>
                    <a:pt x="2427" y="410"/>
                  </a:lnTo>
                  <a:cubicBezTo>
                    <a:pt x="2427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g2545694553a_0_806"/>
          <p:cNvSpPr txBox="1"/>
          <p:nvPr/>
        </p:nvSpPr>
        <p:spPr>
          <a:xfrm>
            <a:off x="421575" y="5817750"/>
            <a:ext cx="1652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2545694553a_0_806"/>
          <p:cNvSpPr/>
          <p:nvPr/>
        </p:nvSpPr>
        <p:spPr>
          <a:xfrm>
            <a:off x="261825" y="5688775"/>
            <a:ext cx="1972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2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Décaissement réel des fonds sous principe du zéros  cash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3" name="Google Shape;503;g2545694553a_0_806"/>
          <p:cNvGrpSpPr/>
          <p:nvPr/>
        </p:nvGrpSpPr>
        <p:grpSpPr>
          <a:xfrm>
            <a:off x="3229622" y="5208891"/>
            <a:ext cx="558858" cy="400214"/>
            <a:chOff x="-62884425" y="4111775"/>
            <a:chExt cx="317425" cy="316650"/>
          </a:xfrm>
        </p:grpSpPr>
        <p:sp>
          <p:nvSpPr>
            <p:cNvPr id="504" name="Google Shape;504;g2545694553a_0_806"/>
            <p:cNvSpPr/>
            <p:nvPr/>
          </p:nvSpPr>
          <p:spPr>
            <a:xfrm>
              <a:off x="-62884425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2545694553a_0_806"/>
            <p:cNvSpPr/>
            <p:nvPr/>
          </p:nvSpPr>
          <p:spPr>
            <a:xfrm>
              <a:off x="-62884425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20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6" name="Google Shape;506;g2545694553a_0_806"/>
          <p:cNvSpPr/>
          <p:nvPr/>
        </p:nvSpPr>
        <p:spPr>
          <a:xfrm>
            <a:off x="2325550" y="5730575"/>
            <a:ext cx="2367000" cy="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2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Digitalisation de la comptabilité provinciale et formations sur le logiciel TomPro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2545694553a_0_806"/>
          <p:cNvSpPr/>
          <p:nvPr/>
        </p:nvSpPr>
        <p:spPr>
          <a:xfrm>
            <a:off x="4692550" y="5656325"/>
            <a:ext cx="22233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2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Mise en place du vaccination tracker, formation continue (e-learning Gestion PEV)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" name="Google Shape;508;g2545694553a_0_806"/>
          <p:cNvGrpSpPr/>
          <p:nvPr/>
        </p:nvGrpSpPr>
        <p:grpSpPr>
          <a:xfrm>
            <a:off x="5702500" y="5208891"/>
            <a:ext cx="454849" cy="400199"/>
            <a:chOff x="3210885" y="2307541"/>
            <a:chExt cx="366636" cy="325895"/>
          </a:xfrm>
        </p:grpSpPr>
        <p:sp>
          <p:nvSpPr>
            <p:cNvPr id="509" name="Google Shape;509;g2545694553a_0_806"/>
            <p:cNvSpPr/>
            <p:nvPr/>
          </p:nvSpPr>
          <p:spPr>
            <a:xfrm>
              <a:off x="3318433" y="2598373"/>
              <a:ext cx="151539" cy="35063"/>
            </a:xfrm>
            <a:custGeom>
              <a:avLst/>
              <a:gdLst/>
              <a:ahLst/>
              <a:cxnLst/>
              <a:rect l="l" t="t" r="r" b="b"/>
              <a:pathLst>
                <a:path w="4430" h="1025" extrusionOk="0">
                  <a:moveTo>
                    <a:pt x="0" y="1"/>
                  </a:moveTo>
                  <a:lnTo>
                    <a:pt x="0" y="739"/>
                  </a:lnTo>
                  <a:cubicBezTo>
                    <a:pt x="0" y="906"/>
                    <a:pt x="143" y="1025"/>
                    <a:pt x="310" y="1025"/>
                  </a:cubicBezTo>
                  <a:lnTo>
                    <a:pt x="4120" y="1025"/>
                  </a:lnTo>
                  <a:cubicBezTo>
                    <a:pt x="4287" y="1025"/>
                    <a:pt x="4430" y="906"/>
                    <a:pt x="4430" y="739"/>
                  </a:cubicBezTo>
                  <a:lnTo>
                    <a:pt x="44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2545694553a_0_806"/>
            <p:cNvSpPr/>
            <p:nvPr/>
          </p:nvSpPr>
          <p:spPr>
            <a:xfrm>
              <a:off x="3210885" y="2307541"/>
              <a:ext cx="366636" cy="268871"/>
            </a:xfrm>
            <a:custGeom>
              <a:avLst/>
              <a:gdLst/>
              <a:ahLst/>
              <a:cxnLst/>
              <a:rect l="l" t="t" r="r" b="b"/>
              <a:pathLst>
                <a:path w="10718" h="7860" extrusionOk="0">
                  <a:moveTo>
                    <a:pt x="8717" y="1239"/>
                  </a:moveTo>
                  <a:cubicBezTo>
                    <a:pt x="9122" y="1239"/>
                    <a:pt x="9455" y="1573"/>
                    <a:pt x="9455" y="2001"/>
                  </a:cubicBezTo>
                  <a:lnTo>
                    <a:pt x="9455" y="5859"/>
                  </a:lnTo>
                  <a:cubicBezTo>
                    <a:pt x="9455" y="6264"/>
                    <a:pt x="9122" y="6621"/>
                    <a:pt x="8717" y="6621"/>
                  </a:cubicBezTo>
                  <a:lnTo>
                    <a:pt x="3882" y="6621"/>
                  </a:lnTo>
                  <a:cubicBezTo>
                    <a:pt x="3478" y="6621"/>
                    <a:pt x="3144" y="6288"/>
                    <a:pt x="3144" y="5859"/>
                  </a:cubicBezTo>
                  <a:lnTo>
                    <a:pt x="3144" y="2001"/>
                  </a:lnTo>
                  <a:cubicBezTo>
                    <a:pt x="3144" y="1573"/>
                    <a:pt x="3478" y="1239"/>
                    <a:pt x="3882" y="1239"/>
                  </a:cubicBezTo>
                  <a:close/>
                  <a:moveTo>
                    <a:pt x="1001" y="1"/>
                  </a:moveTo>
                  <a:cubicBezTo>
                    <a:pt x="453" y="1"/>
                    <a:pt x="1" y="453"/>
                    <a:pt x="1" y="1001"/>
                  </a:cubicBezTo>
                  <a:lnTo>
                    <a:pt x="1" y="1882"/>
                  </a:lnTo>
                  <a:lnTo>
                    <a:pt x="953" y="1882"/>
                  </a:lnTo>
                  <a:cubicBezTo>
                    <a:pt x="1310" y="1930"/>
                    <a:pt x="1310" y="2478"/>
                    <a:pt x="953" y="2501"/>
                  </a:cubicBezTo>
                  <a:lnTo>
                    <a:pt x="1" y="2501"/>
                  </a:lnTo>
                  <a:lnTo>
                    <a:pt x="1" y="3406"/>
                  </a:lnTo>
                  <a:lnTo>
                    <a:pt x="953" y="3406"/>
                  </a:lnTo>
                  <a:cubicBezTo>
                    <a:pt x="1358" y="3406"/>
                    <a:pt x="1358" y="4026"/>
                    <a:pt x="953" y="4026"/>
                  </a:cubicBezTo>
                  <a:lnTo>
                    <a:pt x="1" y="4026"/>
                  </a:lnTo>
                  <a:lnTo>
                    <a:pt x="1" y="4931"/>
                  </a:lnTo>
                  <a:lnTo>
                    <a:pt x="953" y="4931"/>
                  </a:lnTo>
                  <a:cubicBezTo>
                    <a:pt x="1310" y="4978"/>
                    <a:pt x="1310" y="5526"/>
                    <a:pt x="953" y="5574"/>
                  </a:cubicBezTo>
                  <a:lnTo>
                    <a:pt x="1" y="5574"/>
                  </a:lnTo>
                  <a:lnTo>
                    <a:pt x="1" y="6860"/>
                  </a:lnTo>
                  <a:cubicBezTo>
                    <a:pt x="1" y="7407"/>
                    <a:pt x="453" y="7860"/>
                    <a:pt x="1001" y="7860"/>
                  </a:cubicBezTo>
                  <a:lnTo>
                    <a:pt x="9717" y="7860"/>
                  </a:lnTo>
                  <a:cubicBezTo>
                    <a:pt x="10265" y="7860"/>
                    <a:pt x="10717" y="7407"/>
                    <a:pt x="10717" y="6860"/>
                  </a:cubicBezTo>
                  <a:lnTo>
                    <a:pt x="10717" y="1001"/>
                  </a:lnTo>
                  <a:cubicBezTo>
                    <a:pt x="10717" y="430"/>
                    <a:pt x="10265" y="1"/>
                    <a:pt x="97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2545694553a_0_806"/>
            <p:cNvSpPr/>
            <p:nvPr/>
          </p:nvSpPr>
          <p:spPr>
            <a:xfrm>
              <a:off x="3339608" y="2428122"/>
              <a:ext cx="172748" cy="84766"/>
            </a:xfrm>
            <a:custGeom>
              <a:avLst/>
              <a:gdLst/>
              <a:ahLst/>
              <a:cxnLst/>
              <a:rect l="l" t="t" r="r" b="b"/>
              <a:pathLst>
                <a:path w="5050" h="2478" extrusionOk="0">
                  <a:moveTo>
                    <a:pt x="1024" y="1"/>
                  </a:moveTo>
                  <a:lnTo>
                    <a:pt x="643" y="596"/>
                  </a:lnTo>
                  <a:cubicBezTo>
                    <a:pt x="572" y="691"/>
                    <a:pt x="477" y="739"/>
                    <a:pt x="381" y="739"/>
                  </a:cubicBezTo>
                  <a:lnTo>
                    <a:pt x="0" y="739"/>
                  </a:lnTo>
                  <a:lnTo>
                    <a:pt x="0" y="2358"/>
                  </a:lnTo>
                  <a:cubicBezTo>
                    <a:pt x="0" y="2406"/>
                    <a:pt x="48" y="2477"/>
                    <a:pt x="119" y="2477"/>
                  </a:cubicBezTo>
                  <a:lnTo>
                    <a:pt x="4930" y="2477"/>
                  </a:lnTo>
                  <a:cubicBezTo>
                    <a:pt x="5001" y="2477"/>
                    <a:pt x="5049" y="2406"/>
                    <a:pt x="5049" y="2358"/>
                  </a:cubicBezTo>
                  <a:lnTo>
                    <a:pt x="5049" y="739"/>
                  </a:lnTo>
                  <a:lnTo>
                    <a:pt x="4882" y="739"/>
                  </a:lnTo>
                  <a:lnTo>
                    <a:pt x="4406" y="1644"/>
                  </a:lnTo>
                  <a:cubicBezTo>
                    <a:pt x="4341" y="1763"/>
                    <a:pt x="4232" y="1818"/>
                    <a:pt x="4123" y="1818"/>
                  </a:cubicBezTo>
                  <a:cubicBezTo>
                    <a:pt x="3992" y="1818"/>
                    <a:pt x="3863" y="1739"/>
                    <a:pt x="3811" y="1596"/>
                  </a:cubicBezTo>
                  <a:lnTo>
                    <a:pt x="3406" y="215"/>
                  </a:lnTo>
                  <a:lnTo>
                    <a:pt x="3263" y="524"/>
                  </a:lnTo>
                  <a:cubicBezTo>
                    <a:pt x="3215" y="643"/>
                    <a:pt x="3096" y="715"/>
                    <a:pt x="2977" y="715"/>
                  </a:cubicBezTo>
                  <a:lnTo>
                    <a:pt x="2596" y="715"/>
                  </a:lnTo>
                  <a:lnTo>
                    <a:pt x="2167" y="1644"/>
                  </a:lnTo>
                  <a:cubicBezTo>
                    <a:pt x="2108" y="1763"/>
                    <a:pt x="1989" y="1822"/>
                    <a:pt x="1870" y="1822"/>
                  </a:cubicBezTo>
                  <a:cubicBezTo>
                    <a:pt x="1751" y="1822"/>
                    <a:pt x="1632" y="1763"/>
                    <a:pt x="1572" y="1644"/>
                  </a:cubicBezTo>
                  <a:lnTo>
                    <a:pt x="102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2545694553a_0_806"/>
            <p:cNvSpPr/>
            <p:nvPr/>
          </p:nvSpPr>
          <p:spPr>
            <a:xfrm>
              <a:off x="3339608" y="2371748"/>
              <a:ext cx="174356" cy="80046"/>
            </a:xfrm>
            <a:custGeom>
              <a:avLst/>
              <a:gdLst/>
              <a:ahLst/>
              <a:cxnLst/>
              <a:rect l="l" t="t" r="r" b="b"/>
              <a:pathLst>
                <a:path w="5097" h="2340" extrusionOk="0">
                  <a:moveTo>
                    <a:pt x="92" y="1"/>
                  </a:moveTo>
                  <a:cubicBezTo>
                    <a:pt x="36" y="1"/>
                    <a:pt x="0" y="63"/>
                    <a:pt x="0" y="124"/>
                  </a:cubicBezTo>
                  <a:lnTo>
                    <a:pt x="0" y="1744"/>
                  </a:lnTo>
                  <a:lnTo>
                    <a:pt x="215" y="1744"/>
                  </a:lnTo>
                  <a:lnTo>
                    <a:pt x="881" y="767"/>
                  </a:lnTo>
                  <a:cubicBezTo>
                    <a:pt x="944" y="674"/>
                    <a:pt x="1037" y="631"/>
                    <a:pt x="1131" y="631"/>
                  </a:cubicBezTo>
                  <a:cubicBezTo>
                    <a:pt x="1253" y="631"/>
                    <a:pt x="1375" y="704"/>
                    <a:pt x="1429" y="839"/>
                  </a:cubicBezTo>
                  <a:cubicBezTo>
                    <a:pt x="1644" y="1458"/>
                    <a:pt x="1524" y="1125"/>
                    <a:pt x="1929" y="2315"/>
                  </a:cubicBezTo>
                  <a:lnTo>
                    <a:pt x="2120" y="1934"/>
                  </a:lnTo>
                  <a:cubicBezTo>
                    <a:pt x="2167" y="1815"/>
                    <a:pt x="2287" y="1744"/>
                    <a:pt x="2406" y="1744"/>
                  </a:cubicBezTo>
                  <a:lnTo>
                    <a:pt x="2787" y="1744"/>
                  </a:lnTo>
                  <a:lnTo>
                    <a:pt x="3191" y="839"/>
                  </a:lnTo>
                  <a:cubicBezTo>
                    <a:pt x="3247" y="716"/>
                    <a:pt x="3365" y="656"/>
                    <a:pt x="3483" y="656"/>
                  </a:cubicBezTo>
                  <a:cubicBezTo>
                    <a:pt x="3616" y="656"/>
                    <a:pt x="3749" y="734"/>
                    <a:pt x="3787" y="886"/>
                  </a:cubicBezTo>
                  <a:lnTo>
                    <a:pt x="4216" y="2339"/>
                  </a:lnTo>
                  <a:lnTo>
                    <a:pt x="4454" y="1910"/>
                  </a:lnTo>
                  <a:cubicBezTo>
                    <a:pt x="4501" y="1815"/>
                    <a:pt x="4597" y="1744"/>
                    <a:pt x="4716" y="1744"/>
                  </a:cubicBezTo>
                  <a:lnTo>
                    <a:pt x="5097" y="1744"/>
                  </a:lnTo>
                  <a:lnTo>
                    <a:pt x="5097" y="124"/>
                  </a:lnTo>
                  <a:cubicBezTo>
                    <a:pt x="5097" y="53"/>
                    <a:pt x="5025" y="5"/>
                    <a:pt x="4978" y="5"/>
                  </a:cubicBezTo>
                  <a:lnTo>
                    <a:pt x="119" y="5"/>
                  </a:lnTo>
                  <a:cubicBezTo>
                    <a:pt x="110" y="2"/>
                    <a:pt x="101" y="1"/>
                    <a:pt x="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g2545694553a_0_806"/>
          <p:cNvSpPr/>
          <p:nvPr/>
        </p:nvSpPr>
        <p:spPr>
          <a:xfrm>
            <a:off x="6953100" y="5666500"/>
            <a:ext cx="24912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2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Mise en place de la Nouvelle Génération de la Chaîne d’Approvisionnement (NGCA)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2545694553a_0_806"/>
          <p:cNvSpPr/>
          <p:nvPr/>
        </p:nvSpPr>
        <p:spPr>
          <a:xfrm>
            <a:off x="9374375" y="5655425"/>
            <a:ext cx="26385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F61"/>
              </a:buClr>
              <a:buSzPts val="12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Formation en décentralisation, élaboration des édits budgétaires, installation des  REPACAV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g2545694553a_0_806"/>
          <p:cNvGrpSpPr/>
          <p:nvPr/>
        </p:nvGrpSpPr>
        <p:grpSpPr>
          <a:xfrm>
            <a:off x="7908215" y="5176861"/>
            <a:ext cx="832857" cy="400214"/>
            <a:chOff x="-59470075" y="3308975"/>
            <a:chExt cx="318200" cy="316075"/>
          </a:xfrm>
        </p:grpSpPr>
        <p:sp>
          <p:nvSpPr>
            <p:cNvPr id="516" name="Google Shape;516;g2545694553a_0_806"/>
            <p:cNvSpPr/>
            <p:nvPr/>
          </p:nvSpPr>
          <p:spPr>
            <a:xfrm>
              <a:off x="-59403925" y="3522625"/>
              <a:ext cx="21275" cy="20500"/>
            </a:xfrm>
            <a:custGeom>
              <a:avLst/>
              <a:gdLst/>
              <a:ahLst/>
              <a:cxnLst/>
              <a:rect l="l" t="t" r="r" b="b"/>
              <a:pathLst>
                <a:path w="851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2545694553a_0_806"/>
            <p:cNvSpPr/>
            <p:nvPr/>
          </p:nvSpPr>
          <p:spPr>
            <a:xfrm>
              <a:off x="-593621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2545694553a_0_806"/>
            <p:cNvSpPr/>
            <p:nvPr/>
          </p:nvSpPr>
          <p:spPr>
            <a:xfrm>
              <a:off x="-593212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2545694553a_0_806"/>
            <p:cNvSpPr/>
            <p:nvPr/>
          </p:nvSpPr>
          <p:spPr>
            <a:xfrm>
              <a:off x="-5927947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2545694553a_0_806"/>
            <p:cNvSpPr/>
            <p:nvPr/>
          </p:nvSpPr>
          <p:spPr>
            <a:xfrm>
              <a:off x="-59470075" y="3418825"/>
              <a:ext cx="317425" cy="206225"/>
            </a:xfrm>
            <a:custGeom>
              <a:avLst/>
              <a:gdLst/>
              <a:ahLst/>
              <a:cxnLst/>
              <a:rect l="l" t="t" r="r" b="b"/>
              <a:pathLst>
                <a:path w="12697" h="8249" extrusionOk="0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2545694553a_0_806"/>
            <p:cNvSpPr/>
            <p:nvPr/>
          </p:nvSpPr>
          <p:spPr>
            <a:xfrm>
              <a:off x="-59238525" y="3522625"/>
              <a:ext cx="20500" cy="20500"/>
            </a:xfrm>
            <a:custGeom>
              <a:avLst/>
              <a:gdLst/>
              <a:ahLst/>
              <a:cxnLst/>
              <a:rect l="l" t="t" r="r" b="b"/>
              <a:pathLst>
                <a:path w="820" h="820" extrusionOk="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2545694553a_0_806"/>
            <p:cNvSpPr/>
            <p:nvPr/>
          </p:nvSpPr>
          <p:spPr>
            <a:xfrm>
              <a:off x="-59292875" y="3308975"/>
              <a:ext cx="106350" cy="41400"/>
            </a:xfrm>
            <a:custGeom>
              <a:avLst/>
              <a:gdLst/>
              <a:ahLst/>
              <a:cxnLst/>
              <a:rect l="l" t="t" r="r" b="b"/>
              <a:pathLst>
                <a:path w="4254" h="1656" extrusionOk="0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2545694553a_0_806"/>
            <p:cNvSpPr/>
            <p:nvPr/>
          </p:nvSpPr>
          <p:spPr>
            <a:xfrm>
              <a:off x="-59214100" y="3371400"/>
              <a:ext cx="62225" cy="68550"/>
            </a:xfrm>
            <a:custGeom>
              <a:avLst/>
              <a:gdLst/>
              <a:ahLst/>
              <a:cxnLst/>
              <a:rect l="l" t="t" r="r" b="b"/>
              <a:pathLst>
                <a:path w="2489" h="2742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2545694553a_0_806"/>
            <p:cNvSpPr/>
            <p:nvPr/>
          </p:nvSpPr>
          <p:spPr>
            <a:xfrm>
              <a:off x="-59297600" y="3392600"/>
              <a:ext cx="62250" cy="48150"/>
            </a:xfrm>
            <a:custGeom>
              <a:avLst/>
              <a:gdLst/>
              <a:ahLst/>
              <a:cxnLst/>
              <a:rect l="l" t="t" r="r" b="b"/>
              <a:pathLst>
                <a:path w="2490" h="1926" extrusionOk="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g2545694553a_0_806"/>
          <p:cNvGrpSpPr/>
          <p:nvPr/>
        </p:nvGrpSpPr>
        <p:grpSpPr>
          <a:xfrm>
            <a:off x="10491928" y="5115169"/>
            <a:ext cx="403393" cy="492316"/>
            <a:chOff x="2420117" y="3461550"/>
            <a:chExt cx="362796" cy="363413"/>
          </a:xfrm>
        </p:grpSpPr>
        <p:sp>
          <p:nvSpPr>
            <p:cNvPr id="526" name="Google Shape;526;g2545694553a_0_806"/>
            <p:cNvSpPr/>
            <p:nvPr/>
          </p:nvSpPr>
          <p:spPr>
            <a:xfrm>
              <a:off x="2519562" y="3617068"/>
              <a:ext cx="162262" cy="126592"/>
            </a:xfrm>
            <a:custGeom>
              <a:avLst/>
              <a:gdLst/>
              <a:ahLst/>
              <a:cxnLst/>
              <a:rect l="l" t="t" r="r" b="b"/>
              <a:pathLst>
                <a:path w="4740" h="3698" extrusionOk="0">
                  <a:moveTo>
                    <a:pt x="1" y="0"/>
                  </a:moveTo>
                  <a:lnTo>
                    <a:pt x="1" y="405"/>
                  </a:lnTo>
                  <a:cubicBezTo>
                    <a:pt x="1" y="1381"/>
                    <a:pt x="620" y="2262"/>
                    <a:pt x="1572" y="2572"/>
                  </a:cubicBezTo>
                  <a:lnTo>
                    <a:pt x="1572" y="2929"/>
                  </a:lnTo>
                  <a:cubicBezTo>
                    <a:pt x="1596" y="3441"/>
                    <a:pt x="1983" y="3697"/>
                    <a:pt x="2370" y="3697"/>
                  </a:cubicBezTo>
                  <a:cubicBezTo>
                    <a:pt x="2757" y="3697"/>
                    <a:pt x="3144" y="3441"/>
                    <a:pt x="3168" y="2929"/>
                  </a:cubicBezTo>
                  <a:lnTo>
                    <a:pt x="3168" y="2572"/>
                  </a:lnTo>
                  <a:cubicBezTo>
                    <a:pt x="4097" y="2262"/>
                    <a:pt x="4740" y="1381"/>
                    <a:pt x="4740" y="405"/>
                  </a:cubicBezTo>
                  <a:lnTo>
                    <a:pt x="4740" y="0"/>
                  </a:lnTo>
                  <a:cubicBezTo>
                    <a:pt x="4001" y="417"/>
                    <a:pt x="3186" y="625"/>
                    <a:pt x="2370" y="625"/>
                  </a:cubicBezTo>
                  <a:cubicBezTo>
                    <a:pt x="1554" y="625"/>
                    <a:pt x="739" y="417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545694553a_0_806"/>
            <p:cNvSpPr/>
            <p:nvPr/>
          </p:nvSpPr>
          <p:spPr>
            <a:xfrm>
              <a:off x="2420117" y="3713262"/>
              <a:ext cx="169588" cy="111701"/>
            </a:xfrm>
            <a:custGeom>
              <a:avLst/>
              <a:gdLst/>
              <a:ahLst/>
              <a:cxnLst/>
              <a:rect l="l" t="t" r="r" b="b"/>
              <a:pathLst>
                <a:path w="4954" h="3263" extrusionOk="0">
                  <a:moveTo>
                    <a:pt x="2143" y="0"/>
                  </a:moveTo>
                  <a:cubicBezTo>
                    <a:pt x="953" y="0"/>
                    <a:pt x="0" y="953"/>
                    <a:pt x="0" y="2143"/>
                  </a:cubicBezTo>
                  <a:lnTo>
                    <a:pt x="0" y="2334"/>
                  </a:lnTo>
                  <a:cubicBezTo>
                    <a:pt x="0" y="2834"/>
                    <a:pt x="429" y="3263"/>
                    <a:pt x="929" y="3263"/>
                  </a:cubicBezTo>
                  <a:lnTo>
                    <a:pt x="4954" y="3263"/>
                  </a:lnTo>
                  <a:lnTo>
                    <a:pt x="4954" y="1500"/>
                  </a:lnTo>
                  <a:cubicBezTo>
                    <a:pt x="4311" y="1358"/>
                    <a:pt x="3858" y="786"/>
                    <a:pt x="3858" y="119"/>
                  </a:cubicBezTo>
                  <a:lnTo>
                    <a:pt x="38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2545694553a_0_806"/>
            <p:cNvSpPr/>
            <p:nvPr/>
          </p:nvSpPr>
          <p:spPr>
            <a:xfrm>
              <a:off x="2611682" y="3713262"/>
              <a:ext cx="171231" cy="111701"/>
            </a:xfrm>
            <a:custGeom>
              <a:avLst/>
              <a:gdLst/>
              <a:ahLst/>
              <a:cxnLst/>
              <a:rect l="l" t="t" r="r" b="b"/>
              <a:pathLst>
                <a:path w="5002" h="3263" extrusionOk="0">
                  <a:moveTo>
                    <a:pt x="1120" y="0"/>
                  </a:moveTo>
                  <a:lnTo>
                    <a:pt x="1120" y="119"/>
                  </a:lnTo>
                  <a:cubicBezTo>
                    <a:pt x="1096" y="786"/>
                    <a:pt x="644" y="1358"/>
                    <a:pt x="1" y="1500"/>
                  </a:cubicBezTo>
                  <a:lnTo>
                    <a:pt x="1" y="3263"/>
                  </a:lnTo>
                  <a:lnTo>
                    <a:pt x="4049" y="3263"/>
                  </a:lnTo>
                  <a:cubicBezTo>
                    <a:pt x="4573" y="3263"/>
                    <a:pt x="5002" y="2834"/>
                    <a:pt x="5002" y="2334"/>
                  </a:cubicBezTo>
                  <a:lnTo>
                    <a:pt x="5002" y="2143"/>
                  </a:lnTo>
                  <a:cubicBezTo>
                    <a:pt x="4978" y="953"/>
                    <a:pt x="4025" y="0"/>
                    <a:pt x="28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2545694553a_0_806"/>
            <p:cNvSpPr/>
            <p:nvPr/>
          </p:nvSpPr>
          <p:spPr>
            <a:xfrm>
              <a:off x="2453528" y="3461550"/>
              <a:ext cx="295153" cy="155552"/>
            </a:xfrm>
            <a:custGeom>
              <a:avLst/>
              <a:gdLst/>
              <a:ahLst/>
              <a:cxnLst/>
              <a:rect l="l" t="t" r="r" b="b"/>
              <a:pathLst>
                <a:path w="8622" h="4544" extrusionOk="0">
                  <a:moveTo>
                    <a:pt x="4323" y="0"/>
                  </a:moveTo>
                  <a:cubicBezTo>
                    <a:pt x="4287" y="0"/>
                    <a:pt x="4251" y="6"/>
                    <a:pt x="4216" y="18"/>
                  </a:cubicBezTo>
                  <a:lnTo>
                    <a:pt x="405" y="1447"/>
                  </a:lnTo>
                  <a:cubicBezTo>
                    <a:pt x="1" y="1447"/>
                    <a:pt x="1" y="2043"/>
                    <a:pt x="405" y="2043"/>
                  </a:cubicBezTo>
                  <a:lnTo>
                    <a:pt x="405" y="2019"/>
                  </a:lnTo>
                  <a:lnTo>
                    <a:pt x="810" y="2162"/>
                  </a:lnTo>
                  <a:lnTo>
                    <a:pt x="810" y="3829"/>
                  </a:lnTo>
                  <a:cubicBezTo>
                    <a:pt x="810" y="4031"/>
                    <a:pt x="965" y="4132"/>
                    <a:pt x="1120" y="4132"/>
                  </a:cubicBezTo>
                  <a:cubicBezTo>
                    <a:pt x="1275" y="4132"/>
                    <a:pt x="1429" y="4031"/>
                    <a:pt x="1429" y="3829"/>
                  </a:cubicBezTo>
                  <a:lnTo>
                    <a:pt x="1429" y="2376"/>
                  </a:lnTo>
                  <a:lnTo>
                    <a:pt x="1930" y="2566"/>
                  </a:lnTo>
                  <a:lnTo>
                    <a:pt x="1930" y="3638"/>
                  </a:lnTo>
                  <a:cubicBezTo>
                    <a:pt x="1930" y="3733"/>
                    <a:pt x="1977" y="3829"/>
                    <a:pt x="2072" y="3900"/>
                  </a:cubicBezTo>
                  <a:cubicBezTo>
                    <a:pt x="2751" y="4329"/>
                    <a:pt x="3525" y="4543"/>
                    <a:pt x="4299" y="4543"/>
                  </a:cubicBezTo>
                  <a:cubicBezTo>
                    <a:pt x="5073" y="4543"/>
                    <a:pt x="5847" y="4329"/>
                    <a:pt x="6526" y="3900"/>
                  </a:cubicBezTo>
                  <a:cubicBezTo>
                    <a:pt x="6621" y="3829"/>
                    <a:pt x="6669" y="3733"/>
                    <a:pt x="6669" y="3638"/>
                  </a:cubicBezTo>
                  <a:lnTo>
                    <a:pt x="6669" y="2590"/>
                  </a:lnTo>
                  <a:lnTo>
                    <a:pt x="8217" y="2019"/>
                  </a:lnTo>
                  <a:cubicBezTo>
                    <a:pt x="8621" y="2019"/>
                    <a:pt x="8621" y="1423"/>
                    <a:pt x="8217" y="1423"/>
                  </a:cubicBezTo>
                  <a:lnTo>
                    <a:pt x="4430" y="18"/>
                  </a:lnTo>
                  <a:cubicBezTo>
                    <a:pt x="4394" y="6"/>
                    <a:pt x="4359" y="0"/>
                    <a:pt x="43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xmlns="" id="{99859118-E646-9718-73B6-ADCFFC658A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0189867"/>
              </p:ext>
            </p:extLst>
          </p:nvPr>
        </p:nvGraphicFramePr>
        <p:xfrm>
          <a:off x="231374" y="1642338"/>
          <a:ext cx="11533551" cy="2952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g2485e4e86d2_0_0" title="Chart"/>
          <p:cNvPicPr preferRelativeResize="0"/>
          <p:nvPr/>
        </p:nvPicPr>
        <p:blipFill rotWithShape="1">
          <a:blip r:embed="rId3">
            <a:alphaModFix/>
          </a:blip>
          <a:srcRect b="7533"/>
          <a:stretch/>
        </p:blipFill>
        <p:spPr>
          <a:xfrm>
            <a:off x="555189" y="893750"/>
            <a:ext cx="9308626" cy="59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2485e4e86d2_0_0"/>
          <p:cNvSpPr txBox="1"/>
          <p:nvPr/>
        </p:nvSpPr>
        <p:spPr>
          <a:xfrm>
            <a:off x="423838" y="263718"/>
            <a:ext cx="116052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300" b="0" i="0" u="none" strike="noStrike" cap="none" dirty="0" err="1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Financement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: les 3 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provinces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 MoU </a:t>
            </a:r>
            <a:r>
              <a:rPr lang="en-GB" sz="2300" b="0" i="0" u="none" strike="noStrike" cap="none" dirty="0" err="1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ont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0" i="0" u="none" strike="noStrike" cap="none" dirty="0" err="1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décaissé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 84% des USD 1.9 million </a:t>
            </a:r>
            <a:r>
              <a:rPr lang="en-GB" sz="2300" b="0" i="0" u="none" strike="noStrike" cap="none" dirty="0" err="1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provenant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 des 11 provinces </a:t>
            </a:r>
            <a:r>
              <a:rPr lang="en-GB" sz="2300" b="0" i="0" u="none" strike="noStrike" cap="none" dirty="0" err="1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ayant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0" i="0" u="none" strike="noStrike" cap="none" dirty="0" err="1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décaissé</a:t>
            </a:r>
            <a:r>
              <a:rPr lang="en-GB" sz="2300" b="0" i="0" u="none" strike="noStrike" cap="none" dirty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 des fonds pour la vaccination entre 2020 et </a:t>
            </a:r>
            <a:r>
              <a:rPr lang="en-GB" sz="2300" b="0" i="0" u="none" strike="noStrike" cap="none" dirty="0" smtClean="0">
                <a:solidFill>
                  <a:srgbClr val="145ABE"/>
                </a:solidFill>
                <a:latin typeface="Arial"/>
                <a:ea typeface="Arial"/>
                <a:cs typeface="Arial"/>
                <a:sym typeface="Arial"/>
              </a:rPr>
              <a:t>2025    </a:t>
            </a:r>
            <a:endParaRPr sz="2300" b="0" i="0" u="none" strike="noStrike" cap="none" dirty="0">
              <a:solidFill>
                <a:srgbClr val="145A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2485e4e86d2_0_0"/>
          <p:cNvSpPr txBox="1">
            <a:spLocks noGrp="1"/>
          </p:cNvSpPr>
          <p:nvPr>
            <p:ph type="sldNum" idx="12"/>
          </p:nvPr>
        </p:nvSpPr>
        <p:spPr>
          <a:xfrm>
            <a:off x="11297341" y="610487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375" tIns="124375" rIns="124375" bIns="1243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537" name="Google Shape;537;g2485e4e86d2_0_0"/>
          <p:cNvSpPr/>
          <p:nvPr/>
        </p:nvSpPr>
        <p:spPr>
          <a:xfrm>
            <a:off x="9919906" y="1291525"/>
            <a:ext cx="1692300" cy="3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3275" tIns="46625" rIns="93275" bIns="46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Édit promulgué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2485e4e86d2_0_0"/>
          <p:cNvSpPr/>
          <p:nvPr/>
        </p:nvSpPr>
        <p:spPr>
          <a:xfrm>
            <a:off x="510620" y="1292357"/>
            <a:ext cx="1221600" cy="3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3275" tIns="46625" rIns="93275" bIns="466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Provinces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2485e4e86d2_0_0"/>
          <p:cNvSpPr/>
          <p:nvPr/>
        </p:nvSpPr>
        <p:spPr>
          <a:xfrm>
            <a:off x="1737157" y="1320349"/>
            <a:ext cx="7348228" cy="3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3275" tIns="46625" rIns="93275" bIns="46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400" b="0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Décaissements</a:t>
            </a:r>
            <a:r>
              <a:rPr lang="en-GB" sz="14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entre 2020 et </a:t>
            </a:r>
            <a:r>
              <a:rPr lang="en-GB" sz="1400" b="0" i="0" u="none" strike="noStrike" cap="none" dirty="0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2025 </a:t>
            </a:r>
            <a:r>
              <a:rPr lang="en-GB" sz="14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(USD)</a:t>
            </a:r>
            <a:endParaRPr sz="14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1672484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1865376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2058268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2251160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2444052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2636944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2829836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3022728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3215620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3611712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3804604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3997496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4190388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4383280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4576172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4769064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5347740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5733524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6119308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6505096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5154848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5540632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5926416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g2485e4e86d2_0_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57517" y="6312200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3413661"/>
            <a:ext cx="183656" cy="18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2485e4e86d2_0_0" descr="Ti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517" y="4967097"/>
            <a:ext cx="183656" cy="18365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2485e4e86d2_0_0"/>
          <p:cNvSpPr/>
          <p:nvPr/>
        </p:nvSpPr>
        <p:spPr>
          <a:xfrm rot="5400000">
            <a:off x="5672050" y="-3346725"/>
            <a:ext cx="630900" cy="10627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rgbClr val="9900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7" name="Google Shape;567;g2485e4e86d2_0_0"/>
          <p:cNvCxnSpPr/>
          <p:nvPr/>
        </p:nvCxnSpPr>
        <p:spPr>
          <a:xfrm rot="10800000">
            <a:off x="611266" y="3804685"/>
            <a:ext cx="106236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8" name="Google Shape;568;g2485e4e86d2_0_0"/>
          <p:cNvCxnSpPr/>
          <p:nvPr/>
        </p:nvCxnSpPr>
        <p:spPr>
          <a:xfrm rot="10800000">
            <a:off x="611275" y="5145630"/>
            <a:ext cx="106236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4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4"/>
          <p:cNvSpPr txBox="1">
            <a:spLocks noGrp="1"/>
          </p:cNvSpPr>
          <p:nvPr>
            <p:ph type="title"/>
          </p:nvPr>
        </p:nvSpPr>
        <p:spPr>
          <a:xfrm>
            <a:off x="486833" y="221948"/>
            <a:ext cx="11705167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None/>
            </a:pP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Les 3 provinces MoU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ont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continuellement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déboursé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les fonds </a:t>
            </a:r>
            <a:r>
              <a:rPr lang="en-GB" sz="23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alloués</a:t>
            </a:r>
            <a:r>
              <a:rPr lang="en-GB" sz="23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à la vaccination de 2019 à </a:t>
            </a:r>
            <a:r>
              <a:rPr lang="en-GB" sz="2300" dirty="0" smtClean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2024.</a:t>
            </a:r>
            <a:endParaRPr sz="2300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>
              <a:solidFill>
                <a:srgbClr val="145ABE"/>
              </a:solidFill>
            </a:endParaRPr>
          </a:p>
        </p:txBody>
      </p:sp>
      <p:sp>
        <p:nvSpPr>
          <p:cNvPr id="579" name="Google Shape;579;p64"/>
          <p:cNvSpPr/>
          <p:nvPr/>
        </p:nvSpPr>
        <p:spPr>
          <a:xfrm>
            <a:off x="486833" y="5895271"/>
            <a:ext cx="1147450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139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</a:pPr>
            <a:r>
              <a:rPr lang="en-GB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lang="en-GB" sz="2000" dirty="0">
                <a:solidFill>
                  <a:schemeClr val="accent6"/>
                </a:solidFill>
              </a:rPr>
              <a:t>c</a:t>
            </a:r>
            <a:r>
              <a:rPr lang="en-GB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ontributions </a:t>
            </a:r>
            <a:r>
              <a:rPr lang="en-GB" sz="2000" b="0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sont</a:t>
            </a:r>
            <a:r>
              <a:rPr lang="en-GB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continues sur </a:t>
            </a:r>
            <a:r>
              <a:rPr lang="en-GB" sz="2000" b="0" i="0" u="none" strike="noStrike" cap="none" dirty="0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lang="en-GB" sz="2000" b="0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ans</a:t>
            </a:r>
            <a:r>
              <a:rPr lang="en-GB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2000" b="0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GB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000" b="0" i="0" u="none" strike="noStrike" cap="none" dirty="0" err="1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inférieures</a:t>
            </a:r>
            <a:r>
              <a:rPr lang="en-GB" sz="2000" b="0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aux </a:t>
            </a:r>
            <a:r>
              <a:rPr lang="en-GB" sz="2000" b="0" i="0" u="none" strike="noStrike" cap="none" dirty="0" err="1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prévisions</a:t>
            </a:r>
            <a:r>
              <a:rPr lang="en-GB" sz="2000" b="0" i="0" u="none" strike="noStrike" cap="none" dirty="0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000" b="0" i="0" u="none" strike="noStrike" cap="none" dirty="0" err="1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GB" sz="2000" b="0" i="0" u="none" strike="noStrike" cap="none" dirty="0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2024</a:t>
            </a:r>
            <a:endParaRPr sz="2000" b="0" i="0" u="none" strike="noStrike" cap="none" dirty="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64"/>
          <p:cNvSpPr txBox="1"/>
          <p:nvPr/>
        </p:nvSpPr>
        <p:spPr>
          <a:xfrm>
            <a:off x="4559395" y="2535797"/>
            <a:ext cx="4572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4"/>
          <p:cNvSpPr txBox="1"/>
          <p:nvPr/>
        </p:nvSpPr>
        <p:spPr>
          <a:xfrm>
            <a:off x="793684" y="2685254"/>
            <a:ext cx="484884" cy="36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xmlns="" id="{A61BCACE-4679-5CA1-FFE3-3952E78D47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181061"/>
              </p:ext>
            </p:extLst>
          </p:nvPr>
        </p:nvGraphicFramePr>
        <p:xfrm>
          <a:off x="303857" y="1396484"/>
          <a:ext cx="3494030" cy="4065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xmlns="" id="{F0DAA682-B09D-DC05-33D0-8AB140A360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7047264"/>
              </p:ext>
            </p:extLst>
          </p:nvPr>
        </p:nvGraphicFramePr>
        <p:xfrm>
          <a:off x="4159310" y="1505889"/>
          <a:ext cx="3494030" cy="4065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xmlns="" id="{4D149EFC-E849-CD3C-00A0-DFEC29C89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760292"/>
              </p:ext>
            </p:extLst>
          </p:nvPr>
        </p:nvGraphicFramePr>
        <p:xfrm>
          <a:off x="8452022" y="1505890"/>
          <a:ext cx="3362549" cy="4065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4"/>
          <p:cNvSpPr txBox="1">
            <a:spLocks noGrp="1"/>
          </p:cNvSpPr>
          <p:nvPr>
            <p:ph type="sldNum" idx="12"/>
          </p:nvPr>
        </p:nvSpPr>
        <p:spPr>
          <a:xfrm>
            <a:off x="11359635" y="6527357"/>
            <a:ext cx="253444" cy="2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4"/>
          <p:cNvSpPr txBox="1">
            <a:spLocks noGrp="1"/>
          </p:cNvSpPr>
          <p:nvPr>
            <p:ph type="title"/>
          </p:nvPr>
        </p:nvSpPr>
        <p:spPr>
          <a:xfrm>
            <a:off x="486833" y="221948"/>
            <a:ext cx="11705167" cy="6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None/>
            </a:pPr>
            <a:r>
              <a:rPr lang="en-GB" sz="2400" dirty="0"/>
              <a:t>État du </a:t>
            </a:r>
            <a:r>
              <a:rPr lang="en-GB" sz="2400" dirty="0" err="1"/>
              <a:t>d</a:t>
            </a:r>
            <a:r>
              <a:rPr lang="en-GB" sz="2400" dirty="0" err="1">
                <a:solidFill>
                  <a:srgbClr val="0070C0"/>
                </a:solidFill>
                <a:sym typeface="Arial"/>
              </a:rPr>
              <a:t>écaissement</a:t>
            </a:r>
            <a:r>
              <a:rPr lang="en-GB" sz="2400" dirty="0">
                <a:solidFill>
                  <a:srgbClr val="0070C0"/>
                </a:solidFill>
                <a:sym typeface="Arial"/>
              </a:rPr>
              <a:t> </a:t>
            </a:r>
            <a:r>
              <a:rPr lang="en-GB" sz="2400" dirty="0" smtClean="0">
                <a:solidFill>
                  <a:srgbClr val="0070C0"/>
                </a:solidFill>
                <a:sym typeface="Arial"/>
              </a:rPr>
              <a:t>2025 </a:t>
            </a:r>
            <a:r>
              <a:rPr lang="en-GB" sz="2400" dirty="0">
                <a:solidFill>
                  <a:srgbClr val="0070C0"/>
                </a:solidFill>
                <a:sym typeface="Arial"/>
              </a:rPr>
              <a:t>après integration des nouveaux </a:t>
            </a:r>
            <a:r>
              <a:rPr lang="en-GB" sz="2400" dirty="0" err="1">
                <a:solidFill>
                  <a:srgbClr val="0070C0"/>
                </a:solidFill>
                <a:sym typeface="Arial"/>
              </a:rPr>
              <a:t>bailleurs</a:t>
            </a:r>
            <a:r>
              <a:rPr lang="en-GB" sz="2400" dirty="0">
                <a:solidFill>
                  <a:srgbClr val="0070C0"/>
                </a:solidFill>
                <a:sym typeface="Arial"/>
              </a:rPr>
              <a:t>(GAVI et USAID)</a:t>
            </a:r>
            <a:endParaRPr sz="2400" dirty="0">
              <a:solidFill>
                <a:srgbClr val="0070C0"/>
              </a:solidFill>
              <a:sym typeface="Arial"/>
            </a:endParaRPr>
          </a:p>
          <a:p>
            <a:pPr marL="0" lvl="0" indent="0" algn="l" rtl="0">
              <a:lnSpc>
                <a:spcPct val="109535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400" dirty="0">
              <a:solidFill>
                <a:srgbClr val="145ABE"/>
              </a:solidFill>
            </a:endParaRPr>
          </a:p>
        </p:txBody>
      </p:sp>
      <p:sp>
        <p:nvSpPr>
          <p:cNvPr id="579" name="Google Shape;579;p64"/>
          <p:cNvSpPr/>
          <p:nvPr/>
        </p:nvSpPr>
        <p:spPr>
          <a:xfrm>
            <a:off x="187467" y="5881067"/>
            <a:ext cx="117051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139700" lvl="0">
              <a:buClr>
                <a:schemeClr val="accent6"/>
              </a:buClr>
              <a:buSzPts val="1400"/>
            </a:pPr>
            <a:r>
              <a:rPr lang="en-GB" sz="1800" b="0" i="0" u="none" strike="noStrike" cap="none" dirty="0" err="1">
                <a:solidFill>
                  <a:schemeClr val="accent6"/>
                </a:solidFill>
                <a:sym typeface="Arial"/>
              </a:rPr>
              <a:t>Seuls</a:t>
            </a:r>
            <a:r>
              <a:rPr lang="en-GB" sz="1800" b="0" i="0" u="none" strike="noStrike" cap="none" dirty="0">
                <a:solidFill>
                  <a:schemeClr val="accent6"/>
                </a:solidFill>
                <a:sym typeface="Arial"/>
              </a:rPr>
              <a:t> 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la foundation gates  a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contribu</a:t>
            </a:r>
            <a:r>
              <a:rPr lang="en-GB" sz="1800" dirty="0" err="1" smtClean="0">
                <a:solidFill>
                  <a:schemeClr val="accent6"/>
                </a:solidFill>
              </a:rPr>
              <a:t>é</a:t>
            </a:r>
            <a:r>
              <a:rPr lang="en-GB" sz="1800" dirty="0" smtClean="0">
                <a:solidFill>
                  <a:schemeClr val="accent6"/>
                </a:solidFill>
              </a:rPr>
              <a:t> </a:t>
            </a:r>
            <a:r>
              <a:rPr lang="en-GB" sz="1800" dirty="0">
                <a:solidFill>
                  <a:schemeClr val="accent6"/>
                </a:solidFill>
              </a:rPr>
              <a:t>à hauteur de </a:t>
            </a:r>
            <a:r>
              <a:rPr lang="en-GB" sz="1800" dirty="0" smtClean="0">
                <a:solidFill>
                  <a:schemeClr val="accent6"/>
                </a:solidFill>
              </a:rPr>
              <a:t>100%, la </a:t>
            </a:r>
            <a:r>
              <a:rPr lang="en-GB" sz="1800" dirty="0">
                <a:solidFill>
                  <a:schemeClr val="accent6"/>
                </a:solidFill>
              </a:rPr>
              <a:t>province de Tanganyika </a:t>
            </a:r>
            <a:r>
              <a:rPr lang="en-GB" sz="1800" dirty="0" smtClean="0">
                <a:solidFill>
                  <a:schemeClr val="accent6"/>
                </a:solidFill>
              </a:rPr>
              <a:t>à </a:t>
            </a:r>
            <a:r>
              <a:rPr lang="en-GB" sz="1800" dirty="0" err="1" smtClean="0">
                <a:solidFill>
                  <a:schemeClr val="accent6"/>
                </a:solidFill>
              </a:rPr>
              <a:t>moins</a:t>
            </a:r>
            <a:r>
              <a:rPr lang="en-GB" sz="1800" dirty="0" smtClean="0">
                <a:solidFill>
                  <a:schemeClr val="accent6"/>
                </a:solidFill>
              </a:rPr>
              <a:t> de la </a:t>
            </a:r>
            <a:r>
              <a:rPr lang="en-GB" sz="1800" dirty="0" err="1">
                <a:solidFill>
                  <a:schemeClr val="accent6"/>
                </a:solidFill>
              </a:rPr>
              <a:t>moitié</a:t>
            </a:r>
            <a:r>
              <a:rPr lang="en-GB" sz="1800" dirty="0">
                <a:solidFill>
                  <a:schemeClr val="accent6"/>
                </a:solidFill>
              </a:rPr>
              <a:t> de </a:t>
            </a:r>
            <a:r>
              <a:rPr lang="en-GB" sz="1800" dirty="0" err="1">
                <a:solidFill>
                  <a:schemeClr val="accent6"/>
                </a:solidFill>
              </a:rPr>
              <a:t>leurs</a:t>
            </a:r>
            <a:r>
              <a:rPr lang="en-GB" sz="1800" dirty="0">
                <a:solidFill>
                  <a:schemeClr val="accent6"/>
                </a:solidFill>
              </a:rPr>
              <a:t> engagements</a:t>
            </a:r>
            <a:r>
              <a:rPr lang="en-GB" sz="1800" b="0" i="0" u="none" strike="noStrike" cap="none" dirty="0">
                <a:solidFill>
                  <a:schemeClr val="accent6"/>
                </a:solidFill>
                <a:sym typeface="Arial"/>
              </a:rPr>
              <a:t>  dans le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MoU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,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alors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 que le</a:t>
            </a:r>
            <a:r>
              <a:rPr lang="en-GB" sz="1800" dirty="0" smtClean="0">
                <a:solidFill>
                  <a:schemeClr val="accent6"/>
                </a:solidFill>
              </a:rPr>
              <a:t> </a:t>
            </a:r>
            <a:r>
              <a:rPr lang="en-GB" sz="1800" dirty="0" err="1" smtClean="0">
                <a:solidFill>
                  <a:schemeClr val="accent6"/>
                </a:solidFill>
              </a:rPr>
              <a:t>Lualaba</a:t>
            </a:r>
            <a:r>
              <a:rPr lang="en-GB" sz="1800" dirty="0" smtClean="0">
                <a:solidFill>
                  <a:schemeClr val="accent6"/>
                </a:solidFill>
              </a:rPr>
              <a:t> a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atteint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 le 1$ par enfant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en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 2025 de meme que le Haut Lomami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dont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 le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virement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est</a:t>
            </a:r>
            <a:r>
              <a:rPr lang="en-GB" sz="1800" b="0" i="0" u="none" strike="noStrike" cap="none" dirty="0" smtClean="0">
                <a:solidFill>
                  <a:schemeClr val="accent6"/>
                </a:solidFill>
                <a:sym typeface="Arial"/>
              </a:rPr>
              <a:t> </a:t>
            </a:r>
            <a:r>
              <a:rPr lang="en-GB" sz="1800" b="0" i="0" u="none" strike="noStrike" cap="none" dirty="0" err="1" smtClean="0">
                <a:solidFill>
                  <a:schemeClr val="accent6"/>
                </a:solidFill>
                <a:sym typeface="Arial"/>
              </a:rPr>
              <a:t>encours</a:t>
            </a:r>
            <a:r>
              <a:rPr lang="en-GB" sz="1800" dirty="0">
                <a:solidFill>
                  <a:schemeClr val="accent6"/>
                </a:solidFill>
              </a:rPr>
              <a:t>.</a:t>
            </a:r>
            <a:endParaRPr sz="1800" b="0" i="0" u="none" strike="noStrike" cap="none" dirty="0">
              <a:solidFill>
                <a:schemeClr val="accent6"/>
              </a:solidFill>
              <a:sym typeface="Arial"/>
            </a:endParaRPr>
          </a:p>
        </p:txBody>
      </p:sp>
      <p:sp>
        <p:nvSpPr>
          <p:cNvPr id="598" name="Google Shape;598;p64"/>
          <p:cNvSpPr txBox="1"/>
          <p:nvPr/>
        </p:nvSpPr>
        <p:spPr>
          <a:xfrm>
            <a:off x="793684" y="2685254"/>
            <a:ext cx="484884" cy="36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xmlns="" id="{130610AB-2D42-2235-5546-1D16E29840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93742"/>
              </p:ext>
            </p:extLst>
          </p:nvPr>
        </p:nvGraphicFramePr>
        <p:xfrm>
          <a:off x="104452" y="919525"/>
          <a:ext cx="2683904" cy="4701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xmlns="" id="{15952482-CB08-258E-F693-56E90ACAE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6949733"/>
              </p:ext>
            </p:extLst>
          </p:nvPr>
        </p:nvGraphicFramePr>
        <p:xfrm>
          <a:off x="2991556" y="949509"/>
          <a:ext cx="4334933" cy="4651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xmlns="" id="{2199E441-589D-D710-245D-D65EE66F3A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933616"/>
              </p:ext>
            </p:extLst>
          </p:nvPr>
        </p:nvGraphicFramePr>
        <p:xfrm>
          <a:off x="7529688" y="974572"/>
          <a:ext cx="4362879" cy="4626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6869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5"/>
          <p:cNvSpPr txBox="1">
            <a:spLocks noGrp="1"/>
          </p:cNvSpPr>
          <p:nvPr>
            <p:ph type="sldNum" idx="12"/>
          </p:nvPr>
        </p:nvSpPr>
        <p:spPr>
          <a:xfrm>
            <a:off x="11759992" y="6650400"/>
            <a:ext cx="432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65"/>
          <p:cNvSpPr txBox="1">
            <a:spLocks noGrp="1"/>
          </p:cNvSpPr>
          <p:nvPr>
            <p:ph type="title"/>
          </p:nvPr>
        </p:nvSpPr>
        <p:spPr>
          <a:xfrm>
            <a:off x="460208" y="226670"/>
            <a:ext cx="11106300" cy="4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400" dirty="0"/>
              <a:t>Avantages et Enseignements tirés des MoU en cours d'implémentation</a:t>
            </a:r>
            <a:endParaRPr sz="2400" dirty="0">
              <a:solidFill>
                <a:srgbClr val="0070C0"/>
              </a:solidFill>
            </a:endParaRPr>
          </a:p>
        </p:txBody>
      </p:sp>
      <p:grpSp>
        <p:nvGrpSpPr>
          <p:cNvPr id="721" name="Google Shape;721;p65"/>
          <p:cNvGrpSpPr/>
          <p:nvPr/>
        </p:nvGrpSpPr>
        <p:grpSpPr>
          <a:xfrm>
            <a:off x="-5261607" y="159349"/>
            <a:ext cx="16806327" cy="6877500"/>
            <a:chOff x="-5773290" y="-884170"/>
            <a:chExt cx="16811370" cy="6877500"/>
          </a:xfrm>
        </p:grpSpPr>
        <p:sp>
          <p:nvSpPr>
            <p:cNvPr id="722" name="Google Shape;722;p65"/>
            <p:cNvSpPr/>
            <p:nvPr/>
          </p:nvSpPr>
          <p:spPr>
            <a:xfrm>
              <a:off x="-5773290" y="-884170"/>
              <a:ext cx="6877500" cy="6877500"/>
            </a:xfrm>
            <a:prstGeom prst="blockArc">
              <a:avLst>
                <a:gd name="adj1" fmla="val 18900000"/>
                <a:gd name="adj2" fmla="val 2700000"/>
                <a:gd name="adj3" fmla="val 314"/>
              </a:avLst>
            </a:prstGeom>
            <a:noFill/>
            <a:ln w="254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65"/>
            <p:cNvSpPr/>
            <p:nvPr/>
          </p:nvSpPr>
          <p:spPr>
            <a:xfrm>
              <a:off x="358405" y="232261"/>
              <a:ext cx="10679400" cy="4644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5"/>
            <p:cNvSpPr txBox="1"/>
            <p:nvPr/>
          </p:nvSpPr>
          <p:spPr>
            <a:xfrm>
              <a:off x="358405" y="232261"/>
              <a:ext cx="10679400" cy="4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8550" tIns="35550" rIns="35550" bIns="35550" anchor="ctr" anchorCtr="0">
              <a:noAutofit/>
            </a:bodyPr>
            <a:lstStyle/>
            <a:p>
              <a:pPr>
                <a:lnSpc>
                  <a:spcPct val="90000"/>
                </a:lnSpc>
                <a:buSzPts val="1400"/>
              </a:pPr>
              <a:r>
                <a:rPr lang="en-GB" sz="1800" i="0" u="none" strike="noStrike" cap="none" dirty="0" err="1">
                  <a:latin typeface="Arial"/>
                  <a:ea typeface="Arial"/>
                  <a:cs typeface="Arial"/>
                  <a:sym typeface="Arial"/>
                </a:rPr>
                <a:t>Amélioration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du cadre de mobilisation des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ressources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provinciales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Édits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budgétaires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 </a:t>
              </a:r>
              <a:endParaRPr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5"/>
            <p:cNvSpPr/>
            <p:nvPr/>
          </p:nvSpPr>
          <p:spPr>
            <a:xfrm>
              <a:off x="68206" y="174221"/>
              <a:ext cx="580500" cy="580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 w="9525" cap="flat" cmpd="sng">
              <a:solidFill>
                <a:srgbClr val="145A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65"/>
            <p:cNvSpPr/>
            <p:nvPr/>
          </p:nvSpPr>
          <p:spPr>
            <a:xfrm>
              <a:off x="778886" y="929146"/>
              <a:ext cx="10259100" cy="4644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65"/>
            <p:cNvSpPr txBox="1"/>
            <p:nvPr/>
          </p:nvSpPr>
          <p:spPr>
            <a:xfrm>
              <a:off x="778886" y="929146"/>
              <a:ext cx="10259100" cy="4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8550" tIns="35550" rIns="35550" bIns="35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800" dirty="0" err="1"/>
                <a:t>A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sym typeface="Arial"/>
                </a:rPr>
                <a:t>mélioration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sym typeface="Arial"/>
                </a:rPr>
                <a:t> de la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sym typeface="Arial"/>
                </a:rPr>
                <a:t>maîtrise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sym typeface="Arial"/>
                </a:rPr>
                <a:t> de la gestion du programme par les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sym typeface="Arial"/>
                </a:rPr>
                <a:t>autorités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sym typeface="Arial"/>
                </a:rPr>
                <a:t>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sym typeface="Arial"/>
                </a:rPr>
                <a:t>provinciales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sym typeface="Arial"/>
                </a:rPr>
                <a:t>.</a:t>
              </a:r>
              <a:endParaRPr sz="1800" i="0" u="none" strike="noStrike" cap="none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488688" y="871106"/>
              <a:ext cx="580500" cy="580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 w="9525" cap="flat" cmpd="sng">
              <a:solidFill>
                <a:srgbClr val="145A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1009308" y="1625520"/>
              <a:ext cx="10028700" cy="4644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65"/>
            <p:cNvSpPr txBox="1"/>
            <p:nvPr/>
          </p:nvSpPr>
          <p:spPr>
            <a:xfrm>
              <a:off x="1009308" y="1625520"/>
              <a:ext cx="10028700" cy="4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8550" tIns="35550" rIns="35550" bIns="35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800" b="0" i="0" u="none" strike="noStrike" cap="none" dirty="0">
                  <a:solidFill>
                    <a:srgbClr val="000000"/>
                  </a:solidFill>
                  <a:sym typeface="Arial"/>
                </a:rPr>
                <a:t>Digitalisation et </a:t>
              </a:r>
              <a:r>
                <a:rPr lang="en-GB" sz="1800" b="0" i="0" u="none" strike="noStrike" cap="none" dirty="0" err="1">
                  <a:solidFill>
                    <a:srgbClr val="000000"/>
                  </a:solidFill>
                  <a:sym typeface="Arial"/>
                </a:rPr>
                <a:t>visibilité</a:t>
              </a:r>
              <a:r>
                <a:rPr lang="en-GB" sz="1800" b="0" i="0" u="none" strike="noStrike" cap="none" dirty="0">
                  <a:solidFill>
                    <a:srgbClr val="000000"/>
                  </a:solidFill>
                  <a:sym typeface="Arial"/>
                </a:rPr>
                <a:t> des données </a:t>
              </a:r>
              <a:r>
                <a:rPr lang="en-GB" sz="1800" b="0" i="0" u="none" strike="noStrike" cap="none" dirty="0" err="1">
                  <a:solidFill>
                    <a:srgbClr val="000000"/>
                  </a:solidFill>
                  <a:sym typeface="Arial"/>
                </a:rPr>
                <a:t>programmatiques</a:t>
              </a:r>
              <a:r>
                <a:rPr lang="en-GB" sz="1800" b="0" i="0" u="none" strike="noStrike" cap="none" dirty="0">
                  <a:solidFill>
                    <a:srgbClr val="000000"/>
                  </a:solidFill>
                  <a:sym typeface="Arial"/>
                </a:rPr>
                <a:t> et </a:t>
              </a:r>
              <a:r>
                <a:rPr lang="en-GB" sz="1800" b="0" i="0" u="none" strike="noStrike" cap="none" dirty="0" err="1">
                  <a:solidFill>
                    <a:srgbClr val="000000"/>
                  </a:solidFill>
                  <a:sym typeface="Arial"/>
                </a:rPr>
                <a:t>financières</a:t>
              </a:r>
              <a:r>
                <a:rPr lang="en-GB" sz="1800" b="0" i="0" u="none" strike="noStrike" cap="none" dirty="0">
                  <a:solidFill>
                    <a:srgbClr val="000000"/>
                  </a:solidFill>
                  <a:sym typeface="Arial"/>
                </a:rPr>
                <a:t> </a:t>
              </a:r>
              <a:r>
                <a:rPr lang="en-GB" sz="1800" b="0" i="0" u="none" strike="noStrike" cap="none" dirty="0" err="1">
                  <a:solidFill>
                    <a:srgbClr val="000000"/>
                  </a:solidFill>
                  <a:sym typeface="Arial"/>
                </a:rPr>
                <a:t>en</a:t>
              </a:r>
              <a:r>
                <a:rPr lang="en-GB" sz="1800" b="0" i="0" u="none" strike="noStrike" cap="none" dirty="0">
                  <a:solidFill>
                    <a:srgbClr val="000000"/>
                  </a:solidFill>
                  <a:sym typeface="Arial"/>
                </a:rPr>
                <a:t> temps reel</a:t>
              </a:r>
              <a:r>
                <a:rPr lang="en-GB" sz="1800" dirty="0"/>
                <a:t>.</a:t>
              </a:r>
              <a:r>
                <a:rPr lang="en-GB" sz="1800" b="0" i="0" u="none" strike="noStrike" cap="none" dirty="0">
                  <a:solidFill>
                    <a:srgbClr val="000000"/>
                  </a:solidFill>
                  <a:sym typeface="Arial"/>
                </a:rPr>
                <a:t> </a:t>
              </a:r>
              <a:endParaRPr sz="1800" b="0" i="0" u="none" strike="noStrike" cap="none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719110" y="1567481"/>
              <a:ext cx="580500" cy="580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 w="9525" cap="flat" cmpd="sng">
              <a:solidFill>
                <a:srgbClr val="145A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1082880" y="2322406"/>
              <a:ext cx="9955200" cy="4644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65"/>
            <p:cNvSpPr txBox="1"/>
            <p:nvPr/>
          </p:nvSpPr>
          <p:spPr>
            <a:xfrm>
              <a:off x="1082880" y="2322406"/>
              <a:ext cx="9955200" cy="4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8550" tIns="35550" rIns="35550" bIns="35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Gouvernance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participative et gestion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transparente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(audits externes).</a:t>
              </a:r>
              <a:endParaRPr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792681" y="2264366"/>
              <a:ext cx="580500" cy="580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 w="9525" cap="flat" cmpd="sng">
              <a:solidFill>
                <a:srgbClr val="145A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1009308" y="3019291"/>
              <a:ext cx="10028700" cy="4644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65"/>
            <p:cNvSpPr txBox="1"/>
            <p:nvPr/>
          </p:nvSpPr>
          <p:spPr>
            <a:xfrm>
              <a:off x="1009308" y="3019291"/>
              <a:ext cx="10028700" cy="4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8550" tIns="35550" rIns="35550" bIns="35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800" b="0" i="0" u="none" strike="noStrike" cap="none" dirty="0">
                  <a:solidFill>
                    <a:srgbClr val="000000"/>
                  </a:solidFill>
                  <a:sym typeface="Arial"/>
                </a:rPr>
                <a:t>Alignement des parties prenantes et rationalisation des ressources</a:t>
              </a:r>
              <a:r>
                <a:rPr lang="fr-FR" sz="1800" dirty="0"/>
                <a:t>.</a:t>
              </a:r>
              <a:endParaRPr lang="fr-FR" sz="1800" b="0" i="0" u="none" strike="noStrike" cap="none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719110" y="2961251"/>
              <a:ext cx="580500" cy="580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 w="9525" cap="flat" cmpd="sng">
              <a:solidFill>
                <a:srgbClr val="145A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778886" y="3715665"/>
              <a:ext cx="10259100" cy="4644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65"/>
            <p:cNvSpPr txBox="1"/>
            <p:nvPr/>
          </p:nvSpPr>
          <p:spPr>
            <a:xfrm>
              <a:off x="778886" y="3715665"/>
              <a:ext cx="10259100" cy="4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8550" tIns="35550" rIns="35550" bIns="35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Optimisation de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l’impact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des programmes de la </a:t>
              </a:r>
              <a:r>
                <a:rPr lang="en-GB" sz="180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Santé</a:t>
              </a:r>
              <a:r>
                <a:rPr lang="en-GB" sz="180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la population de la province.</a:t>
              </a:r>
              <a:endParaRPr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488688" y="3657626"/>
              <a:ext cx="580500" cy="580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 w="9525" cap="flat" cmpd="sng">
              <a:solidFill>
                <a:srgbClr val="145A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358405" y="4412551"/>
              <a:ext cx="10679400" cy="4644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411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65"/>
            <p:cNvSpPr txBox="1"/>
            <p:nvPr/>
          </p:nvSpPr>
          <p:spPr>
            <a:xfrm>
              <a:off x="358405" y="4412551"/>
              <a:ext cx="10679400" cy="4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8550" tIns="35550" rIns="35550" bIns="35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800" b="0" i="0" u="none" strike="noStrike" cap="none" dirty="0">
                  <a:solidFill>
                    <a:srgbClr val="000000"/>
                  </a:solidFill>
                  <a:sym typeface="Arial"/>
                </a:rPr>
                <a:t>Stabilité du personnel de santé au niveau opérationnel</a:t>
              </a:r>
              <a:r>
                <a:rPr lang="fr-FR" sz="1800" dirty="0"/>
                <a:t>.</a:t>
              </a:r>
              <a:endParaRPr lang="fr-FR" sz="1800" b="0" i="0" u="none" strike="noStrike" cap="none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68206" y="4354511"/>
              <a:ext cx="580500" cy="580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35000">
                  <a:schemeClr val="lt1"/>
                </a:gs>
                <a:gs pos="100000">
                  <a:schemeClr val="lt1"/>
                </a:gs>
              </a:gsLst>
              <a:lin ang="16200038" scaled="0"/>
            </a:gradFill>
            <a:ln w="9525" cap="flat" cmpd="sng">
              <a:solidFill>
                <a:srgbClr val="145A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5" name="Google Shape;745;p65"/>
          <p:cNvSpPr/>
          <p:nvPr/>
        </p:nvSpPr>
        <p:spPr>
          <a:xfrm rot="10800000" flipH="1">
            <a:off x="1678" y="6084040"/>
            <a:ext cx="12189300" cy="40500"/>
          </a:xfrm>
          <a:prstGeom prst="rect">
            <a:avLst/>
          </a:prstGeom>
          <a:solidFill>
            <a:srgbClr val="00B0F0">
              <a:alpha val="7843"/>
            </a:srgbClr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6" name="Google Shape;746;p65"/>
          <p:cNvGrpSpPr/>
          <p:nvPr/>
        </p:nvGrpSpPr>
        <p:grpSpPr>
          <a:xfrm>
            <a:off x="460211" y="6277143"/>
            <a:ext cx="3140934" cy="430295"/>
            <a:chOff x="238125" y="2363000"/>
            <a:chExt cx="7122300" cy="975725"/>
          </a:xfrm>
        </p:grpSpPr>
        <p:sp>
          <p:nvSpPr>
            <p:cNvPr id="747" name="Google Shape;747;p65"/>
            <p:cNvSpPr/>
            <p:nvPr/>
          </p:nvSpPr>
          <p:spPr>
            <a:xfrm>
              <a:off x="238125" y="2363000"/>
              <a:ext cx="695275" cy="955800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38125" y="2791600"/>
              <a:ext cx="695275" cy="547125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1191350" y="2441650"/>
              <a:ext cx="614600" cy="794900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1911675" y="2441650"/>
              <a:ext cx="571650" cy="794900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2542575" y="2441650"/>
              <a:ext cx="692225" cy="798475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3487650" y="2440125"/>
              <a:ext cx="140000" cy="188025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3650100" y="2490700"/>
              <a:ext cx="86850" cy="137450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3752775" y="2490700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3897850" y="2490700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4051100" y="2490700"/>
              <a:ext cx="86875" cy="137450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4149700" y="2490200"/>
              <a:ext cx="120600" cy="14050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4300925" y="2490700"/>
              <a:ext cx="197200" cy="137450"/>
            </a:xfrm>
            <a:custGeom>
              <a:avLst/>
              <a:gdLst/>
              <a:ahLst/>
              <a:cxnLst/>
              <a:rect l="l" t="t" r="r" b="b"/>
              <a:pathLst>
                <a:path w="7888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4532325" y="2490700"/>
              <a:ext cx="197725" cy="137450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475812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3487650" y="2756350"/>
              <a:ext cx="131300" cy="188000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3650600" y="2756350"/>
              <a:ext cx="58275" cy="189550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3723150" y="28064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3872825" y="2806925"/>
              <a:ext cx="86350" cy="137425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3975000" y="2806925"/>
              <a:ext cx="121600" cy="189025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41303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347947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3630675" y="31231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3828375" y="3072550"/>
              <a:ext cx="158400" cy="188525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3982150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4127225" y="3123125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65"/>
            <p:cNvSpPr/>
            <p:nvPr/>
          </p:nvSpPr>
          <p:spPr>
            <a:xfrm>
              <a:off x="4265675" y="31231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65"/>
            <p:cNvSpPr/>
            <p:nvPr/>
          </p:nvSpPr>
          <p:spPr>
            <a:xfrm>
              <a:off x="4410750" y="3070500"/>
              <a:ext cx="31700" cy="19007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65"/>
            <p:cNvSpPr/>
            <p:nvPr/>
          </p:nvSpPr>
          <p:spPr>
            <a:xfrm>
              <a:off x="4477675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65"/>
            <p:cNvSpPr/>
            <p:nvPr/>
          </p:nvSpPr>
          <p:spPr>
            <a:xfrm>
              <a:off x="4619175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65"/>
            <p:cNvSpPr/>
            <p:nvPr/>
          </p:nvSpPr>
          <p:spPr>
            <a:xfrm>
              <a:off x="4756600" y="3084825"/>
              <a:ext cx="79725" cy="177800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65"/>
            <p:cNvSpPr/>
            <p:nvPr/>
          </p:nvSpPr>
          <p:spPr>
            <a:xfrm>
              <a:off x="4857750" y="3070500"/>
              <a:ext cx="32200" cy="19007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65"/>
            <p:cNvSpPr/>
            <p:nvPr/>
          </p:nvSpPr>
          <p:spPr>
            <a:xfrm>
              <a:off x="491852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65"/>
            <p:cNvSpPr/>
            <p:nvPr/>
          </p:nvSpPr>
          <p:spPr>
            <a:xfrm>
              <a:off x="5069750" y="312312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5706775" y="2440125"/>
              <a:ext cx="147675" cy="188025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5868725" y="2425825"/>
              <a:ext cx="120575" cy="205375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6017900" y="2490200"/>
              <a:ext cx="123125" cy="188525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6167575" y="2493250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6318275" y="2440125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6469475" y="2440125"/>
              <a:ext cx="58775" cy="189550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6550700" y="2438600"/>
              <a:ext cx="32225" cy="189550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6611500" y="2490700"/>
              <a:ext cx="122625" cy="188025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6767300" y="2493250"/>
              <a:ext cx="117025" cy="137450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691137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5706775" y="2756350"/>
              <a:ext cx="147675" cy="188000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5879450" y="2742025"/>
              <a:ext cx="120075" cy="205400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6028625" y="2806925"/>
              <a:ext cx="197200" cy="137425"/>
            </a:xfrm>
            <a:custGeom>
              <a:avLst/>
              <a:gdLst/>
              <a:ahLst/>
              <a:cxnLst/>
              <a:rect l="l" t="t" r="r" b="b"/>
              <a:pathLst>
                <a:path w="7888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6253900" y="2806925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6398975" y="28069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6542025" y="2806925"/>
              <a:ext cx="86875" cy="137425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6640625" y="2806400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6778550" y="2768600"/>
              <a:ext cx="79200" cy="177800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68797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6939975" y="2806925"/>
              <a:ext cx="122625" cy="188000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7096300" y="2809475"/>
              <a:ext cx="117000" cy="137425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7240350" y="28069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569912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5854925" y="312567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6067950" y="3069500"/>
              <a:ext cx="147150" cy="19412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623907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6390300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6534350" y="3123125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6683025" y="3123125"/>
              <a:ext cx="123125" cy="140500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5432975" y="2440125"/>
              <a:ext cx="21475" cy="823500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0" name="Google Shape;810;p65"/>
          <p:cNvSpPr txBox="1"/>
          <p:nvPr/>
        </p:nvSpPr>
        <p:spPr>
          <a:xfrm>
            <a:off x="8247907" y="6126435"/>
            <a:ext cx="3486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AC"/>
              </a:buClr>
              <a:buSzPts val="1800"/>
              <a:buFont typeface="Lato"/>
              <a:buNone/>
            </a:pPr>
            <a:r>
              <a:rPr lang="en-GB" sz="1800" b="0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vacciner c'est </a:t>
            </a:r>
            <a:r>
              <a:rPr lang="en-GB" sz="1800" b="1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aimer,</a:t>
            </a:r>
            <a:r>
              <a:rPr lang="en-GB" sz="1800" b="0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 vacciner c'est </a:t>
            </a:r>
            <a:r>
              <a:rPr lang="en-GB" sz="1800" b="1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protéger</a:t>
            </a:r>
            <a:endParaRPr sz="1800" b="1" i="0" u="none" strike="noStrike" cap="none">
              <a:solidFill>
                <a:srgbClr val="4A66A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16" name="Google Shape;816;p65"/>
          <p:cNvGrpSpPr/>
          <p:nvPr/>
        </p:nvGrpSpPr>
        <p:grpSpPr>
          <a:xfrm>
            <a:off x="1100784" y="2023454"/>
            <a:ext cx="346322" cy="346323"/>
            <a:chOff x="4787840" y="4628321"/>
            <a:chExt cx="367295" cy="367296"/>
          </a:xfrm>
        </p:grpSpPr>
        <p:sp>
          <p:nvSpPr>
            <p:cNvPr id="817" name="Google Shape;817;p65"/>
            <p:cNvSpPr/>
            <p:nvPr/>
          </p:nvSpPr>
          <p:spPr>
            <a:xfrm>
              <a:off x="4947450" y="4628321"/>
              <a:ext cx="207685" cy="179203"/>
            </a:xfrm>
            <a:custGeom>
              <a:avLst/>
              <a:gdLst/>
              <a:ahLst/>
              <a:cxnLst/>
              <a:rect l="l" t="t" r="r" b="b"/>
              <a:pathLst>
                <a:path w="6074" h="5241" extrusionOk="0">
                  <a:moveTo>
                    <a:pt x="2299" y="2549"/>
                  </a:moveTo>
                  <a:cubicBezTo>
                    <a:pt x="2448" y="2549"/>
                    <a:pt x="2596" y="2644"/>
                    <a:pt x="2620" y="2835"/>
                  </a:cubicBezTo>
                  <a:lnTo>
                    <a:pt x="2620" y="3668"/>
                  </a:lnTo>
                  <a:cubicBezTo>
                    <a:pt x="2632" y="3895"/>
                    <a:pt x="2459" y="4008"/>
                    <a:pt x="2290" y="4008"/>
                  </a:cubicBezTo>
                  <a:cubicBezTo>
                    <a:pt x="2120" y="4008"/>
                    <a:pt x="1953" y="3895"/>
                    <a:pt x="1977" y="3668"/>
                  </a:cubicBezTo>
                  <a:lnTo>
                    <a:pt x="1977" y="2835"/>
                  </a:lnTo>
                  <a:cubicBezTo>
                    <a:pt x="2001" y="2644"/>
                    <a:pt x="2150" y="2549"/>
                    <a:pt x="2299" y="2549"/>
                  </a:cubicBezTo>
                  <a:close/>
                  <a:moveTo>
                    <a:pt x="3549" y="1906"/>
                  </a:moveTo>
                  <a:cubicBezTo>
                    <a:pt x="3698" y="1906"/>
                    <a:pt x="3847" y="2001"/>
                    <a:pt x="3859" y="2192"/>
                  </a:cubicBezTo>
                  <a:lnTo>
                    <a:pt x="3859" y="3668"/>
                  </a:lnTo>
                  <a:cubicBezTo>
                    <a:pt x="3882" y="3895"/>
                    <a:pt x="3716" y="4008"/>
                    <a:pt x="3549" y="4008"/>
                  </a:cubicBezTo>
                  <a:cubicBezTo>
                    <a:pt x="3382" y="4008"/>
                    <a:pt x="3216" y="3895"/>
                    <a:pt x="3239" y="3668"/>
                  </a:cubicBezTo>
                  <a:lnTo>
                    <a:pt x="3239" y="2192"/>
                  </a:lnTo>
                  <a:cubicBezTo>
                    <a:pt x="3251" y="2001"/>
                    <a:pt x="3400" y="1906"/>
                    <a:pt x="3549" y="1906"/>
                  </a:cubicBezTo>
                  <a:close/>
                  <a:moveTo>
                    <a:pt x="4802" y="1287"/>
                  </a:moveTo>
                  <a:cubicBezTo>
                    <a:pt x="4948" y="1287"/>
                    <a:pt x="5097" y="1382"/>
                    <a:pt x="5121" y="1573"/>
                  </a:cubicBezTo>
                  <a:lnTo>
                    <a:pt x="5121" y="3668"/>
                  </a:lnTo>
                  <a:cubicBezTo>
                    <a:pt x="5145" y="3895"/>
                    <a:pt x="4978" y="4008"/>
                    <a:pt x="4811" y="4008"/>
                  </a:cubicBezTo>
                  <a:cubicBezTo>
                    <a:pt x="4644" y="4008"/>
                    <a:pt x="4478" y="3895"/>
                    <a:pt x="4502" y="3668"/>
                  </a:cubicBezTo>
                  <a:lnTo>
                    <a:pt x="4502" y="1573"/>
                  </a:lnTo>
                  <a:cubicBezTo>
                    <a:pt x="4513" y="1382"/>
                    <a:pt x="4656" y="1287"/>
                    <a:pt x="4802" y="1287"/>
                  </a:cubicBezTo>
                  <a:close/>
                  <a:moveTo>
                    <a:pt x="310" y="1"/>
                  </a:moveTo>
                  <a:cubicBezTo>
                    <a:pt x="143" y="1"/>
                    <a:pt x="1" y="144"/>
                    <a:pt x="1" y="310"/>
                  </a:cubicBezTo>
                  <a:lnTo>
                    <a:pt x="1" y="1477"/>
                  </a:lnTo>
                  <a:lnTo>
                    <a:pt x="382" y="1477"/>
                  </a:lnTo>
                  <a:cubicBezTo>
                    <a:pt x="2049" y="1477"/>
                    <a:pt x="2049" y="3978"/>
                    <a:pt x="382" y="3978"/>
                  </a:cubicBezTo>
                  <a:lnTo>
                    <a:pt x="1" y="3978"/>
                  </a:lnTo>
                  <a:lnTo>
                    <a:pt x="1" y="4930"/>
                  </a:lnTo>
                  <a:cubicBezTo>
                    <a:pt x="1" y="5097"/>
                    <a:pt x="143" y="5216"/>
                    <a:pt x="310" y="5240"/>
                  </a:cubicBezTo>
                  <a:lnTo>
                    <a:pt x="5764" y="5240"/>
                  </a:lnTo>
                  <a:cubicBezTo>
                    <a:pt x="5930" y="5216"/>
                    <a:pt x="6073" y="5097"/>
                    <a:pt x="6073" y="4930"/>
                  </a:cubicBezTo>
                  <a:lnTo>
                    <a:pt x="6073" y="310"/>
                  </a:lnTo>
                  <a:cubicBezTo>
                    <a:pt x="6073" y="144"/>
                    <a:pt x="5930" y="1"/>
                    <a:pt x="57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65"/>
            <p:cNvSpPr/>
            <p:nvPr/>
          </p:nvSpPr>
          <p:spPr>
            <a:xfrm>
              <a:off x="4944612" y="4858779"/>
              <a:ext cx="54161" cy="67599"/>
            </a:xfrm>
            <a:custGeom>
              <a:avLst/>
              <a:gdLst/>
              <a:ahLst/>
              <a:cxnLst/>
              <a:rect l="l" t="t" r="r" b="b"/>
              <a:pathLst>
                <a:path w="1584" h="1977" extrusionOk="0">
                  <a:moveTo>
                    <a:pt x="798" y="0"/>
                  </a:moveTo>
                  <a:cubicBezTo>
                    <a:pt x="346" y="0"/>
                    <a:pt x="12" y="358"/>
                    <a:pt x="12" y="786"/>
                  </a:cubicBezTo>
                  <a:lnTo>
                    <a:pt x="12" y="1191"/>
                  </a:lnTo>
                  <a:cubicBezTo>
                    <a:pt x="0" y="1715"/>
                    <a:pt x="387" y="1977"/>
                    <a:pt x="780" y="1977"/>
                  </a:cubicBezTo>
                  <a:cubicBezTo>
                    <a:pt x="1173" y="1977"/>
                    <a:pt x="1572" y="1715"/>
                    <a:pt x="1584" y="1191"/>
                  </a:cubicBezTo>
                  <a:lnTo>
                    <a:pt x="1584" y="786"/>
                  </a:lnTo>
                  <a:cubicBezTo>
                    <a:pt x="1584" y="358"/>
                    <a:pt x="1227" y="0"/>
                    <a:pt x="7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5"/>
            <p:cNvSpPr/>
            <p:nvPr/>
          </p:nvSpPr>
          <p:spPr>
            <a:xfrm>
              <a:off x="4917327" y="4931233"/>
              <a:ext cx="106715" cy="64384"/>
            </a:xfrm>
            <a:custGeom>
              <a:avLst/>
              <a:gdLst/>
              <a:ahLst/>
              <a:cxnLst/>
              <a:rect l="l" t="t" r="r" b="b"/>
              <a:pathLst>
                <a:path w="3121" h="1883" extrusionOk="0">
                  <a:moveTo>
                    <a:pt x="2644" y="1"/>
                  </a:moveTo>
                  <a:cubicBezTo>
                    <a:pt x="2648" y="5"/>
                    <a:pt x="2652" y="9"/>
                    <a:pt x="2657" y="14"/>
                  </a:cubicBezTo>
                  <a:lnTo>
                    <a:pt x="2657" y="14"/>
                  </a:lnTo>
                  <a:cubicBezTo>
                    <a:pt x="2660" y="9"/>
                    <a:pt x="2664" y="5"/>
                    <a:pt x="2668" y="1"/>
                  </a:cubicBezTo>
                  <a:close/>
                  <a:moveTo>
                    <a:pt x="501" y="1"/>
                  </a:moveTo>
                  <a:cubicBezTo>
                    <a:pt x="191" y="287"/>
                    <a:pt x="24" y="691"/>
                    <a:pt x="24" y="1120"/>
                  </a:cubicBezTo>
                  <a:lnTo>
                    <a:pt x="24" y="1573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2834" y="1882"/>
                  </a:lnTo>
                  <a:cubicBezTo>
                    <a:pt x="3001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21"/>
                    <a:pt x="2958" y="322"/>
                    <a:pt x="2657" y="14"/>
                  </a:cubicBezTo>
                  <a:lnTo>
                    <a:pt x="2657" y="14"/>
                  </a:lnTo>
                  <a:cubicBezTo>
                    <a:pt x="2372" y="339"/>
                    <a:pt x="1978" y="501"/>
                    <a:pt x="1584" y="501"/>
                  </a:cubicBezTo>
                  <a:cubicBezTo>
                    <a:pt x="1185" y="501"/>
                    <a:pt x="786" y="334"/>
                    <a:pt x="5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65"/>
            <p:cNvSpPr/>
            <p:nvPr/>
          </p:nvSpPr>
          <p:spPr>
            <a:xfrm>
              <a:off x="4814305" y="4858779"/>
              <a:ext cx="55426" cy="69445"/>
            </a:xfrm>
            <a:custGeom>
              <a:avLst/>
              <a:gdLst/>
              <a:ahLst/>
              <a:cxnLst/>
              <a:rect l="l" t="t" r="r" b="b"/>
              <a:pathLst>
                <a:path w="1621" h="2031" extrusionOk="0">
                  <a:moveTo>
                    <a:pt x="799" y="0"/>
                  </a:moveTo>
                  <a:cubicBezTo>
                    <a:pt x="370" y="0"/>
                    <a:pt x="13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1" y="2031"/>
                  </a:cubicBezTo>
                  <a:cubicBezTo>
                    <a:pt x="1215" y="2031"/>
                    <a:pt x="1620" y="1751"/>
                    <a:pt x="1585" y="1191"/>
                  </a:cubicBezTo>
                  <a:lnTo>
                    <a:pt x="1585" y="786"/>
                  </a:lnTo>
                  <a:cubicBezTo>
                    <a:pt x="1585" y="358"/>
                    <a:pt x="1251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5"/>
            <p:cNvSpPr/>
            <p:nvPr/>
          </p:nvSpPr>
          <p:spPr>
            <a:xfrm>
              <a:off x="478784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501" y="1"/>
                  </a:moveTo>
                  <a:cubicBezTo>
                    <a:pt x="191" y="287"/>
                    <a:pt x="1" y="691"/>
                    <a:pt x="25" y="1120"/>
                  </a:cubicBezTo>
                  <a:lnTo>
                    <a:pt x="25" y="1573"/>
                  </a:lnTo>
                  <a:cubicBezTo>
                    <a:pt x="1" y="1739"/>
                    <a:pt x="144" y="1882"/>
                    <a:pt x="334" y="1882"/>
                  </a:cubicBezTo>
                  <a:lnTo>
                    <a:pt x="2835" y="1882"/>
                  </a:lnTo>
                  <a:cubicBezTo>
                    <a:pt x="3002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78" y="310"/>
                    <a:pt x="2668" y="1"/>
                  </a:cubicBezTo>
                  <a:cubicBezTo>
                    <a:pt x="2382" y="334"/>
                    <a:pt x="1984" y="501"/>
                    <a:pt x="1585" y="501"/>
                  </a:cubicBezTo>
                  <a:cubicBezTo>
                    <a:pt x="1186" y="501"/>
                    <a:pt x="787" y="334"/>
                    <a:pt x="5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5"/>
            <p:cNvSpPr/>
            <p:nvPr/>
          </p:nvSpPr>
          <p:spPr>
            <a:xfrm>
              <a:off x="5073245" y="4858779"/>
              <a:ext cx="55836" cy="69445"/>
            </a:xfrm>
            <a:custGeom>
              <a:avLst/>
              <a:gdLst/>
              <a:ahLst/>
              <a:cxnLst/>
              <a:rect l="l" t="t" r="r" b="b"/>
              <a:pathLst>
                <a:path w="1633" h="2031" extrusionOk="0">
                  <a:moveTo>
                    <a:pt x="823" y="0"/>
                  </a:moveTo>
                  <a:cubicBezTo>
                    <a:pt x="370" y="0"/>
                    <a:pt x="37" y="358"/>
                    <a:pt x="37" y="786"/>
                  </a:cubicBezTo>
                  <a:lnTo>
                    <a:pt x="37" y="1191"/>
                  </a:lnTo>
                  <a:cubicBezTo>
                    <a:pt x="1" y="1751"/>
                    <a:pt x="406" y="2031"/>
                    <a:pt x="814" y="2031"/>
                  </a:cubicBezTo>
                  <a:cubicBezTo>
                    <a:pt x="1221" y="2031"/>
                    <a:pt x="1632" y="1751"/>
                    <a:pt x="1608" y="1191"/>
                  </a:cubicBezTo>
                  <a:lnTo>
                    <a:pt x="1608" y="786"/>
                  </a:lnTo>
                  <a:cubicBezTo>
                    <a:pt x="1608" y="358"/>
                    <a:pt x="1251" y="0"/>
                    <a:pt x="8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5"/>
            <p:cNvSpPr/>
            <p:nvPr/>
          </p:nvSpPr>
          <p:spPr>
            <a:xfrm>
              <a:off x="5047600" y="4931233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477" y="1"/>
                  </a:moveTo>
                  <a:cubicBezTo>
                    <a:pt x="167" y="287"/>
                    <a:pt x="1" y="691"/>
                    <a:pt x="1" y="1120"/>
                  </a:cubicBezTo>
                  <a:lnTo>
                    <a:pt x="1" y="1573"/>
                  </a:lnTo>
                  <a:cubicBezTo>
                    <a:pt x="1" y="1739"/>
                    <a:pt x="144" y="1882"/>
                    <a:pt x="310" y="1882"/>
                  </a:cubicBezTo>
                  <a:lnTo>
                    <a:pt x="2835" y="1882"/>
                  </a:lnTo>
                  <a:cubicBezTo>
                    <a:pt x="3001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54" y="310"/>
                    <a:pt x="2644" y="1"/>
                  </a:cubicBezTo>
                  <a:cubicBezTo>
                    <a:pt x="2358" y="334"/>
                    <a:pt x="1960" y="501"/>
                    <a:pt x="1561" y="501"/>
                  </a:cubicBezTo>
                  <a:cubicBezTo>
                    <a:pt x="1162" y="501"/>
                    <a:pt x="763" y="334"/>
                    <a:pt x="4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65"/>
            <p:cNvSpPr/>
            <p:nvPr/>
          </p:nvSpPr>
          <p:spPr>
            <a:xfrm>
              <a:off x="4822066" y="4628321"/>
              <a:ext cx="68419" cy="82301"/>
            </a:xfrm>
            <a:custGeom>
              <a:avLst/>
              <a:gdLst/>
              <a:ahLst/>
              <a:cxnLst/>
              <a:rect l="l" t="t" r="r" b="b"/>
              <a:pathLst>
                <a:path w="2001" h="2407" extrusionOk="0">
                  <a:moveTo>
                    <a:pt x="1000" y="1"/>
                  </a:moveTo>
                  <a:cubicBezTo>
                    <a:pt x="453" y="1"/>
                    <a:pt x="0" y="453"/>
                    <a:pt x="0" y="1001"/>
                  </a:cubicBezTo>
                  <a:lnTo>
                    <a:pt x="0" y="1406"/>
                  </a:lnTo>
                  <a:cubicBezTo>
                    <a:pt x="0" y="2073"/>
                    <a:pt x="500" y="2406"/>
                    <a:pt x="1000" y="2406"/>
                  </a:cubicBezTo>
                  <a:cubicBezTo>
                    <a:pt x="1500" y="2406"/>
                    <a:pt x="2001" y="2073"/>
                    <a:pt x="2001" y="1406"/>
                  </a:cubicBezTo>
                  <a:lnTo>
                    <a:pt x="2001" y="1001"/>
                  </a:lnTo>
                  <a:cubicBezTo>
                    <a:pt x="2001" y="453"/>
                    <a:pt x="1548" y="1"/>
                    <a:pt x="10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65"/>
            <p:cNvSpPr/>
            <p:nvPr/>
          </p:nvSpPr>
          <p:spPr>
            <a:xfrm>
              <a:off x="4787840" y="4699989"/>
              <a:ext cx="201189" cy="136018"/>
            </a:xfrm>
            <a:custGeom>
              <a:avLst/>
              <a:gdLst/>
              <a:ahLst/>
              <a:cxnLst/>
              <a:rect l="l" t="t" r="r" b="b"/>
              <a:pathLst>
                <a:path w="5884" h="3978" extrusionOk="0">
                  <a:moveTo>
                    <a:pt x="3478" y="1"/>
                  </a:moveTo>
                  <a:cubicBezTo>
                    <a:pt x="3195" y="606"/>
                    <a:pt x="2601" y="930"/>
                    <a:pt x="2000" y="930"/>
                  </a:cubicBezTo>
                  <a:cubicBezTo>
                    <a:pt x="1537" y="930"/>
                    <a:pt x="1071" y="738"/>
                    <a:pt x="739" y="334"/>
                  </a:cubicBezTo>
                  <a:cubicBezTo>
                    <a:pt x="287" y="667"/>
                    <a:pt x="1" y="1215"/>
                    <a:pt x="25" y="1787"/>
                  </a:cubicBezTo>
                  <a:lnTo>
                    <a:pt x="25" y="3668"/>
                  </a:lnTo>
                  <a:cubicBezTo>
                    <a:pt x="1" y="3835"/>
                    <a:pt x="144" y="3978"/>
                    <a:pt x="334" y="3978"/>
                  </a:cubicBezTo>
                  <a:lnTo>
                    <a:pt x="3264" y="3978"/>
                  </a:lnTo>
                  <a:cubicBezTo>
                    <a:pt x="3430" y="3978"/>
                    <a:pt x="3573" y="3835"/>
                    <a:pt x="3573" y="3668"/>
                  </a:cubicBezTo>
                  <a:lnTo>
                    <a:pt x="3573" y="1263"/>
                  </a:lnTo>
                  <a:lnTo>
                    <a:pt x="5050" y="1263"/>
                  </a:lnTo>
                  <a:cubicBezTo>
                    <a:pt x="5883" y="1263"/>
                    <a:pt x="5883" y="1"/>
                    <a:pt x="50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65"/>
          <p:cNvGrpSpPr/>
          <p:nvPr/>
        </p:nvGrpSpPr>
        <p:grpSpPr>
          <a:xfrm>
            <a:off x="1333896" y="2698619"/>
            <a:ext cx="349421" cy="348568"/>
            <a:chOff x="-62884425" y="4111775"/>
            <a:chExt cx="317425" cy="316650"/>
          </a:xfrm>
        </p:grpSpPr>
        <p:sp>
          <p:nvSpPr>
            <p:cNvPr id="827" name="Google Shape;827;p65"/>
            <p:cNvSpPr/>
            <p:nvPr/>
          </p:nvSpPr>
          <p:spPr>
            <a:xfrm>
              <a:off x="-62884425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5"/>
            <p:cNvSpPr/>
            <p:nvPr/>
          </p:nvSpPr>
          <p:spPr>
            <a:xfrm>
              <a:off x="-62884425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20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p65"/>
          <p:cNvGrpSpPr/>
          <p:nvPr/>
        </p:nvGrpSpPr>
        <p:grpSpPr>
          <a:xfrm>
            <a:off x="1126531" y="4821631"/>
            <a:ext cx="294828" cy="334886"/>
            <a:chOff x="-28069875" y="3175300"/>
            <a:chExt cx="260725" cy="296150"/>
          </a:xfrm>
        </p:grpSpPr>
        <p:sp>
          <p:nvSpPr>
            <p:cNvPr id="839" name="Google Shape;839;p65"/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65"/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65"/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5"/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65"/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65"/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65"/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459;p13">
            <a:extLst>
              <a:ext uri="{FF2B5EF4-FFF2-40B4-BE49-F238E27FC236}">
                <a16:creationId xmlns:a16="http://schemas.microsoft.com/office/drawing/2014/main" xmlns="" id="{33C84DE0-E48F-BA6A-961B-35722277A9E0}"/>
              </a:ext>
            </a:extLst>
          </p:cNvPr>
          <p:cNvGrpSpPr/>
          <p:nvPr/>
        </p:nvGrpSpPr>
        <p:grpSpPr>
          <a:xfrm>
            <a:off x="1333896" y="4056795"/>
            <a:ext cx="439418" cy="497676"/>
            <a:chOff x="7953758" y="3457741"/>
            <a:chExt cx="366474" cy="366954"/>
          </a:xfrm>
        </p:grpSpPr>
        <p:sp>
          <p:nvSpPr>
            <p:cNvPr id="11" name="Google Shape;460;p13">
              <a:extLst>
                <a:ext uri="{FF2B5EF4-FFF2-40B4-BE49-F238E27FC236}">
                  <a16:creationId xmlns:a16="http://schemas.microsoft.com/office/drawing/2014/main" xmlns="" id="{5C6E4253-734C-AC1B-D1F2-3990667DEEE5}"/>
                </a:ext>
              </a:extLst>
            </p:cNvPr>
            <p:cNvSpPr/>
            <p:nvPr/>
          </p:nvSpPr>
          <p:spPr>
            <a:xfrm>
              <a:off x="8083245" y="3760311"/>
              <a:ext cx="106681" cy="64384"/>
            </a:xfrm>
            <a:custGeom>
              <a:avLst/>
              <a:gdLst/>
              <a:ahLst/>
              <a:cxnLst/>
              <a:rect l="l" t="t" r="r" b="b"/>
              <a:pathLst>
                <a:path w="3120" h="1883" extrusionOk="0">
                  <a:moveTo>
                    <a:pt x="500" y="1"/>
                  </a:moveTo>
                  <a:cubicBezTo>
                    <a:pt x="167" y="310"/>
                    <a:pt x="0" y="715"/>
                    <a:pt x="0" y="1144"/>
                  </a:cubicBezTo>
                  <a:lnTo>
                    <a:pt x="0" y="1573"/>
                  </a:lnTo>
                  <a:cubicBezTo>
                    <a:pt x="0" y="1739"/>
                    <a:pt x="119" y="1882"/>
                    <a:pt x="310" y="1882"/>
                  </a:cubicBezTo>
                  <a:lnTo>
                    <a:pt x="2810" y="1882"/>
                  </a:lnTo>
                  <a:cubicBezTo>
                    <a:pt x="2977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15"/>
                    <a:pt x="2929" y="310"/>
                    <a:pt x="2620" y="25"/>
                  </a:cubicBezTo>
                  <a:cubicBezTo>
                    <a:pt x="2358" y="334"/>
                    <a:pt x="1953" y="525"/>
                    <a:pt x="1548" y="525"/>
                  </a:cubicBezTo>
                  <a:lnTo>
                    <a:pt x="1572" y="501"/>
                  </a:lnTo>
                  <a:cubicBezTo>
                    <a:pt x="1143" y="501"/>
                    <a:pt x="762" y="334"/>
                    <a:pt x="5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461;p13">
              <a:extLst>
                <a:ext uri="{FF2B5EF4-FFF2-40B4-BE49-F238E27FC236}">
                  <a16:creationId xmlns:a16="http://schemas.microsoft.com/office/drawing/2014/main" xmlns="" id="{A619DDFE-2C16-90D7-14F2-031EB0513A57}"/>
                </a:ext>
              </a:extLst>
            </p:cNvPr>
            <p:cNvSpPr/>
            <p:nvPr/>
          </p:nvSpPr>
          <p:spPr>
            <a:xfrm>
              <a:off x="7980633" y="3636568"/>
              <a:ext cx="313956" cy="121554"/>
            </a:xfrm>
            <a:custGeom>
              <a:avLst/>
              <a:gdLst/>
              <a:ahLst/>
              <a:cxnLst/>
              <a:rect l="l" t="t" r="r" b="b"/>
              <a:pathLst>
                <a:path w="9182" h="3555" extrusionOk="0">
                  <a:moveTo>
                    <a:pt x="4263" y="0"/>
                  </a:moveTo>
                  <a:lnTo>
                    <a:pt x="4263" y="452"/>
                  </a:lnTo>
                  <a:lnTo>
                    <a:pt x="1406" y="452"/>
                  </a:lnTo>
                  <a:cubicBezTo>
                    <a:pt x="882" y="452"/>
                    <a:pt x="477" y="857"/>
                    <a:pt x="477" y="1381"/>
                  </a:cubicBezTo>
                  <a:lnTo>
                    <a:pt x="477" y="1572"/>
                  </a:lnTo>
                  <a:cubicBezTo>
                    <a:pt x="191" y="1715"/>
                    <a:pt x="1" y="1977"/>
                    <a:pt x="1" y="2310"/>
                  </a:cubicBezTo>
                  <a:lnTo>
                    <a:pt x="1" y="2715"/>
                  </a:lnTo>
                  <a:cubicBezTo>
                    <a:pt x="1" y="3144"/>
                    <a:pt x="358" y="3501"/>
                    <a:pt x="786" y="3501"/>
                  </a:cubicBezTo>
                  <a:cubicBezTo>
                    <a:pt x="1215" y="3501"/>
                    <a:pt x="1572" y="3144"/>
                    <a:pt x="1572" y="2715"/>
                  </a:cubicBezTo>
                  <a:lnTo>
                    <a:pt x="1572" y="2310"/>
                  </a:lnTo>
                  <a:cubicBezTo>
                    <a:pt x="1572" y="1977"/>
                    <a:pt x="1382" y="1715"/>
                    <a:pt x="1096" y="1572"/>
                  </a:cubicBezTo>
                  <a:lnTo>
                    <a:pt x="1096" y="1381"/>
                  </a:lnTo>
                  <a:cubicBezTo>
                    <a:pt x="1096" y="1215"/>
                    <a:pt x="1239" y="1072"/>
                    <a:pt x="1406" y="1072"/>
                  </a:cubicBezTo>
                  <a:lnTo>
                    <a:pt x="4287" y="1072"/>
                  </a:lnTo>
                  <a:lnTo>
                    <a:pt x="4287" y="1572"/>
                  </a:lnTo>
                  <a:cubicBezTo>
                    <a:pt x="3978" y="1715"/>
                    <a:pt x="3811" y="1977"/>
                    <a:pt x="3811" y="2310"/>
                  </a:cubicBezTo>
                  <a:lnTo>
                    <a:pt x="3811" y="2715"/>
                  </a:lnTo>
                  <a:cubicBezTo>
                    <a:pt x="3811" y="3239"/>
                    <a:pt x="4204" y="3501"/>
                    <a:pt x="4597" y="3501"/>
                  </a:cubicBezTo>
                  <a:cubicBezTo>
                    <a:pt x="4990" y="3501"/>
                    <a:pt x="5383" y="3239"/>
                    <a:pt x="5383" y="2715"/>
                  </a:cubicBezTo>
                  <a:lnTo>
                    <a:pt x="5383" y="2310"/>
                  </a:lnTo>
                  <a:cubicBezTo>
                    <a:pt x="5383" y="1977"/>
                    <a:pt x="5192" y="1715"/>
                    <a:pt x="4906" y="1572"/>
                  </a:cubicBezTo>
                  <a:lnTo>
                    <a:pt x="4906" y="1072"/>
                  </a:lnTo>
                  <a:lnTo>
                    <a:pt x="7740" y="1072"/>
                  </a:lnTo>
                  <a:cubicBezTo>
                    <a:pt x="7907" y="1072"/>
                    <a:pt x="8050" y="1215"/>
                    <a:pt x="8050" y="1381"/>
                  </a:cubicBezTo>
                  <a:lnTo>
                    <a:pt x="8050" y="1572"/>
                  </a:lnTo>
                  <a:cubicBezTo>
                    <a:pt x="7764" y="1715"/>
                    <a:pt x="7574" y="1977"/>
                    <a:pt x="7574" y="2310"/>
                  </a:cubicBezTo>
                  <a:lnTo>
                    <a:pt x="7574" y="2715"/>
                  </a:lnTo>
                  <a:cubicBezTo>
                    <a:pt x="7538" y="3274"/>
                    <a:pt x="7949" y="3554"/>
                    <a:pt x="8359" y="3554"/>
                  </a:cubicBezTo>
                  <a:cubicBezTo>
                    <a:pt x="8770" y="3554"/>
                    <a:pt x="9181" y="3274"/>
                    <a:pt x="9145" y="2715"/>
                  </a:cubicBezTo>
                  <a:lnTo>
                    <a:pt x="9145" y="2310"/>
                  </a:lnTo>
                  <a:cubicBezTo>
                    <a:pt x="9145" y="1977"/>
                    <a:pt x="8955" y="1715"/>
                    <a:pt x="8669" y="1572"/>
                  </a:cubicBezTo>
                  <a:lnTo>
                    <a:pt x="8669" y="1381"/>
                  </a:lnTo>
                  <a:cubicBezTo>
                    <a:pt x="8669" y="857"/>
                    <a:pt x="8264" y="452"/>
                    <a:pt x="7740" y="452"/>
                  </a:cubicBezTo>
                  <a:lnTo>
                    <a:pt x="4883" y="452"/>
                  </a:lnTo>
                  <a:lnTo>
                    <a:pt x="48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462;p13">
              <a:extLst>
                <a:ext uri="{FF2B5EF4-FFF2-40B4-BE49-F238E27FC236}">
                  <a16:creationId xmlns:a16="http://schemas.microsoft.com/office/drawing/2014/main" xmlns="" id="{D1800C2D-2157-2519-98A5-37A572EC3A46}"/>
                </a:ext>
              </a:extLst>
            </p:cNvPr>
            <p:cNvSpPr/>
            <p:nvPr/>
          </p:nvSpPr>
          <p:spPr>
            <a:xfrm>
              <a:off x="7953758" y="3760311"/>
              <a:ext cx="106715" cy="64384"/>
            </a:xfrm>
            <a:custGeom>
              <a:avLst/>
              <a:gdLst/>
              <a:ahLst/>
              <a:cxnLst/>
              <a:rect l="l" t="t" r="r" b="b"/>
              <a:pathLst>
                <a:path w="3121" h="1883" extrusionOk="0">
                  <a:moveTo>
                    <a:pt x="501" y="1"/>
                  </a:moveTo>
                  <a:cubicBezTo>
                    <a:pt x="167" y="310"/>
                    <a:pt x="1" y="715"/>
                    <a:pt x="1" y="1144"/>
                  </a:cubicBezTo>
                  <a:lnTo>
                    <a:pt x="1" y="1573"/>
                  </a:lnTo>
                  <a:cubicBezTo>
                    <a:pt x="1" y="1739"/>
                    <a:pt x="120" y="1882"/>
                    <a:pt x="310" y="1882"/>
                  </a:cubicBezTo>
                  <a:lnTo>
                    <a:pt x="2811" y="1882"/>
                  </a:lnTo>
                  <a:cubicBezTo>
                    <a:pt x="2977" y="1882"/>
                    <a:pt x="3120" y="1739"/>
                    <a:pt x="3120" y="1573"/>
                  </a:cubicBezTo>
                  <a:lnTo>
                    <a:pt x="3120" y="1144"/>
                  </a:lnTo>
                  <a:cubicBezTo>
                    <a:pt x="3120" y="715"/>
                    <a:pt x="2954" y="310"/>
                    <a:pt x="2644" y="25"/>
                  </a:cubicBezTo>
                  <a:cubicBezTo>
                    <a:pt x="2358" y="334"/>
                    <a:pt x="1977" y="525"/>
                    <a:pt x="1549" y="525"/>
                  </a:cubicBezTo>
                  <a:lnTo>
                    <a:pt x="1572" y="501"/>
                  </a:lnTo>
                  <a:cubicBezTo>
                    <a:pt x="1144" y="501"/>
                    <a:pt x="763" y="334"/>
                    <a:pt x="5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463;p13">
              <a:extLst>
                <a:ext uri="{FF2B5EF4-FFF2-40B4-BE49-F238E27FC236}">
                  <a16:creationId xmlns:a16="http://schemas.microsoft.com/office/drawing/2014/main" xmlns="" id="{734331F1-0FEE-BCD9-CAE6-84E4D955B489}"/>
                </a:ext>
              </a:extLst>
            </p:cNvPr>
            <p:cNvSpPr/>
            <p:nvPr/>
          </p:nvSpPr>
          <p:spPr>
            <a:xfrm>
              <a:off x="8212697" y="3760311"/>
              <a:ext cx="107535" cy="64384"/>
            </a:xfrm>
            <a:custGeom>
              <a:avLst/>
              <a:gdLst/>
              <a:ahLst/>
              <a:cxnLst/>
              <a:rect l="l" t="t" r="r" b="b"/>
              <a:pathLst>
                <a:path w="3145" h="1883" extrusionOk="0">
                  <a:moveTo>
                    <a:pt x="501" y="1"/>
                  </a:moveTo>
                  <a:cubicBezTo>
                    <a:pt x="191" y="310"/>
                    <a:pt x="1" y="715"/>
                    <a:pt x="1" y="1144"/>
                  </a:cubicBezTo>
                  <a:lnTo>
                    <a:pt x="1" y="1573"/>
                  </a:lnTo>
                  <a:cubicBezTo>
                    <a:pt x="1" y="1739"/>
                    <a:pt x="144" y="1882"/>
                    <a:pt x="310" y="1882"/>
                  </a:cubicBezTo>
                  <a:lnTo>
                    <a:pt x="2858" y="1882"/>
                  </a:lnTo>
                  <a:cubicBezTo>
                    <a:pt x="3025" y="1882"/>
                    <a:pt x="3144" y="1739"/>
                    <a:pt x="3144" y="1573"/>
                  </a:cubicBezTo>
                  <a:lnTo>
                    <a:pt x="3144" y="1144"/>
                  </a:lnTo>
                  <a:cubicBezTo>
                    <a:pt x="3144" y="715"/>
                    <a:pt x="2977" y="310"/>
                    <a:pt x="2668" y="25"/>
                  </a:cubicBezTo>
                  <a:lnTo>
                    <a:pt x="2668" y="1"/>
                  </a:lnTo>
                  <a:cubicBezTo>
                    <a:pt x="2382" y="334"/>
                    <a:pt x="1977" y="501"/>
                    <a:pt x="1575" y="501"/>
                  </a:cubicBezTo>
                  <a:cubicBezTo>
                    <a:pt x="1174" y="501"/>
                    <a:pt x="775" y="334"/>
                    <a:pt x="5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464;p13">
              <a:extLst>
                <a:ext uri="{FF2B5EF4-FFF2-40B4-BE49-F238E27FC236}">
                  <a16:creationId xmlns:a16="http://schemas.microsoft.com/office/drawing/2014/main" xmlns="" id="{FC978E04-C842-9163-EF4A-D4A4D90BEF0B}"/>
                </a:ext>
              </a:extLst>
            </p:cNvPr>
            <p:cNvSpPr/>
            <p:nvPr/>
          </p:nvSpPr>
          <p:spPr>
            <a:xfrm>
              <a:off x="8143492" y="3542915"/>
              <a:ext cx="8172" cy="23627"/>
            </a:xfrm>
            <a:custGeom>
              <a:avLst/>
              <a:gdLst/>
              <a:ahLst/>
              <a:cxnLst/>
              <a:rect l="l" t="t" r="r" b="b"/>
              <a:pathLst>
                <a:path w="239" h="691" extrusionOk="0">
                  <a:moveTo>
                    <a:pt x="0" y="0"/>
                  </a:moveTo>
                  <a:lnTo>
                    <a:pt x="0" y="691"/>
                  </a:lnTo>
                  <a:cubicBezTo>
                    <a:pt x="120" y="620"/>
                    <a:pt x="191" y="500"/>
                    <a:pt x="215" y="381"/>
                  </a:cubicBezTo>
                  <a:cubicBezTo>
                    <a:pt x="239" y="215"/>
                    <a:pt x="167" y="72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465;p13">
              <a:extLst>
                <a:ext uri="{FF2B5EF4-FFF2-40B4-BE49-F238E27FC236}">
                  <a16:creationId xmlns:a16="http://schemas.microsoft.com/office/drawing/2014/main" xmlns="" id="{702437C4-A801-D0C4-CAE4-EA5F2B039C35}"/>
                </a:ext>
              </a:extLst>
            </p:cNvPr>
            <p:cNvSpPr/>
            <p:nvPr/>
          </p:nvSpPr>
          <p:spPr>
            <a:xfrm>
              <a:off x="8057976" y="3457741"/>
              <a:ext cx="184879" cy="157662"/>
            </a:xfrm>
            <a:custGeom>
              <a:avLst/>
              <a:gdLst/>
              <a:ahLst/>
              <a:cxnLst/>
              <a:rect l="l" t="t" r="r" b="b"/>
              <a:pathLst>
                <a:path w="5407" h="4611" extrusionOk="0">
                  <a:moveTo>
                    <a:pt x="2302" y="634"/>
                  </a:moveTo>
                  <a:cubicBezTo>
                    <a:pt x="2406" y="634"/>
                    <a:pt x="2513" y="705"/>
                    <a:pt x="2525" y="848"/>
                  </a:cubicBezTo>
                  <a:lnTo>
                    <a:pt x="2525" y="943"/>
                  </a:lnTo>
                  <a:cubicBezTo>
                    <a:pt x="2668" y="967"/>
                    <a:pt x="2811" y="1039"/>
                    <a:pt x="2930" y="1158"/>
                  </a:cubicBezTo>
                  <a:cubicBezTo>
                    <a:pt x="3002" y="1253"/>
                    <a:pt x="3002" y="1396"/>
                    <a:pt x="2906" y="1467"/>
                  </a:cubicBezTo>
                  <a:cubicBezTo>
                    <a:pt x="2873" y="1501"/>
                    <a:pt x="2825" y="1518"/>
                    <a:pt x="2775" y="1518"/>
                  </a:cubicBezTo>
                  <a:cubicBezTo>
                    <a:pt x="2718" y="1518"/>
                    <a:pt x="2659" y="1495"/>
                    <a:pt x="2621" y="1444"/>
                  </a:cubicBezTo>
                  <a:cubicBezTo>
                    <a:pt x="2573" y="1420"/>
                    <a:pt x="2549" y="1396"/>
                    <a:pt x="2501" y="1396"/>
                  </a:cubicBezTo>
                  <a:lnTo>
                    <a:pt x="2501" y="2063"/>
                  </a:lnTo>
                  <a:lnTo>
                    <a:pt x="2621" y="2110"/>
                  </a:lnTo>
                  <a:cubicBezTo>
                    <a:pt x="2978" y="2206"/>
                    <a:pt x="3192" y="2587"/>
                    <a:pt x="3144" y="2944"/>
                  </a:cubicBezTo>
                  <a:cubicBezTo>
                    <a:pt x="3073" y="3277"/>
                    <a:pt x="2835" y="3539"/>
                    <a:pt x="2501" y="3634"/>
                  </a:cubicBezTo>
                  <a:lnTo>
                    <a:pt x="2501" y="3777"/>
                  </a:lnTo>
                  <a:cubicBezTo>
                    <a:pt x="2501" y="3920"/>
                    <a:pt x="2400" y="3992"/>
                    <a:pt x="2299" y="3992"/>
                  </a:cubicBezTo>
                  <a:cubicBezTo>
                    <a:pt x="2198" y="3992"/>
                    <a:pt x="2097" y="3920"/>
                    <a:pt x="2097" y="3777"/>
                  </a:cubicBezTo>
                  <a:lnTo>
                    <a:pt x="2097" y="3658"/>
                  </a:lnTo>
                  <a:cubicBezTo>
                    <a:pt x="1906" y="3634"/>
                    <a:pt x="1739" y="3563"/>
                    <a:pt x="1596" y="3468"/>
                  </a:cubicBezTo>
                  <a:cubicBezTo>
                    <a:pt x="1477" y="3396"/>
                    <a:pt x="1454" y="3253"/>
                    <a:pt x="1525" y="3158"/>
                  </a:cubicBezTo>
                  <a:cubicBezTo>
                    <a:pt x="1554" y="3100"/>
                    <a:pt x="1618" y="3069"/>
                    <a:pt x="1685" y="3069"/>
                  </a:cubicBezTo>
                  <a:cubicBezTo>
                    <a:pt x="1728" y="3069"/>
                    <a:pt x="1773" y="3082"/>
                    <a:pt x="1811" y="3111"/>
                  </a:cubicBezTo>
                  <a:cubicBezTo>
                    <a:pt x="1906" y="3158"/>
                    <a:pt x="2001" y="3206"/>
                    <a:pt x="2097" y="3230"/>
                  </a:cubicBezTo>
                  <a:lnTo>
                    <a:pt x="2097" y="2325"/>
                  </a:lnTo>
                  <a:cubicBezTo>
                    <a:pt x="1978" y="2277"/>
                    <a:pt x="1882" y="2206"/>
                    <a:pt x="1787" y="2134"/>
                  </a:cubicBezTo>
                  <a:cubicBezTo>
                    <a:pt x="1596" y="1991"/>
                    <a:pt x="1525" y="1753"/>
                    <a:pt x="1573" y="1515"/>
                  </a:cubicBezTo>
                  <a:cubicBezTo>
                    <a:pt x="1620" y="1253"/>
                    <a:pt x="1811" y="1063"/>
                    <a:pt x="2049" y="967"/>
                  </a:cubicBezTo>
                  <a:lnTo>
                    <a:pt x="2097" y="967"/>
                  </a:lnTo>
                  <a:lnTo>
                    <a:pt x="2097" y="848"/>
                  </a:lnTo>
                  <a:cubicBezTo>
                    <a:pt x="2097" y="705"/>
                    <a:pt x="2198" y="634"/>
                    <a:pt x="2302" y="634"/>
                  </a:cubicBezTo>
                  <a:close/>
                  <a:moveTo>
                    <a:pt x="2332" y="0"/>
                  </a:moveTo>
                  <a:cubicBezTo>
                    <a:pt x="1143" y="0"/>
                    <a:pt x="1" y="917"/>
                    <a:pt x="1" y="2301"/>
                  </a:cubicBezTo>
                  <a:cubicBezTo>
                    <a:pt x="1" y="3587"/>
                    <a:pt x="1049" y="4611"/>
                    <a:pt x="2311" y="4611"/>
                  </a:cubicBezTo>
                  <a:cubicBezTo>
                    <a:pt x="4359" y="4611"/>
                    <a:pt x="5407" y="2134"/>
                    <a:pt x="3954" y="681"/>
                  </a:cubicBezTo>
                  <a:cubicBezTo>
                    <a:pt x="3483" y="211"/>
                    <a:pt x="2903" y="0"/>
                    <a:pt x="23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466;p13">
              <a:extLst>
                <a:ext uri="{FF2B5EF4-FFF2-40B4-BE49-F238E27FC236}">
                  <a16:creationId xmlns:a16="http://schemas.microsoft.com/office/drawing/2014/main" xmlns="" id="{2B989822-5D42-401C-8518-BB35A11D9BFA}"/>
                </a:ext>
              </a:extLst>
            </p:cNvPr>
            <p:cNvSpPr/>
            <p:nvPr/>
          </p:nvSpPr>
          <p:spPr>
            <a:xfrm>
              <a:off x="8124754" y="3506260"/>
              <a:ext cx="4924" cy="14703"/>
            </a:xfrm>
            <a:custGeom>
              <a:avLst/>
              <a:gdLst/>
              <a:ahLst/>
              <a:cxnLst/>
              <a:rect l="l" t="t" r="r" b="b"/>
              <a:pathLst>
                <a:path w="144" h="430" extrusionOk="0">
                  <a:moveTo>
                    <a:pt x="144" y="1"/>
                  </a:moveTo>
                  <a:cubicBezTo>
                    <a:pt x="72" y="48"/>
                    <a:pt x="48" y="120"/>
                    <a:pt x="25" y="191"/>
                  </a:cubicBezTo>
                  <a:cubicBezTo>
                    <a:pt x="1" y="263"/>
                    <a:pt x="25" y="358"/>
                    <a:pt x="72" y="406"/>
                  </a:cubicBezTo>
                  <a:cubicBezTo>
                    <a:pt x="96" y="429"/>
                    <a:pt x="120" y="429"/>
                    <a:pt x="144" y="429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" name="Graphique 18" descr="Banque avec un remplissage uni">
            <a:extLst>
              <a:ext uri="{FF2B5EF4-FFF2-40B4-BE49-F238E27FC236}">
                <a16:creationId xmlns:a16="http://schemas.microsoft.com/office/drawing/2014/main" xmlns="" id="{39DC1A34-1357-8C92-85A3-9F71033F1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519" y="1161032"/>
            <a:ext cx="580500" cy="580500"/>
          </a:xfrm>
          <a:prstGeom prst="rect">
            <a:avLst/>
          </a:prstGeom>
        </p:spPr>
      </p:pic>
      <p:pic>
        <p:nvPicPr>
          <p:cNvPr id="23" name="Graphique 22" descr="Groupe avec un remplissage uni">
            <a:extLst>
              <a:ext uri="{FF2B5EF4-FFF2-40B4-BE49-F238E27FC236}">
                <a16:creationId xmlns:a16="http://schemas.microsoft.com/office/drawing/2014/main" xmlns="" id="{C074C61B-C7D4-EF68-9D59-544C9CB45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873" y="5355408"/>
            <a:ext cx="634126" cy="634126"/>
          </a:xfrm>
          <a:prstGeom prst="rect">
            <a:avLst/>
          </a:prstGeom>
        </p:spPr>
      </p:pic>
      <p:pic>
        <p:nvPicPr>
          <p:cNvPr id="25" name="Graphique 24" descr="Conseil d’administration avec un remplissage uni">
            <a:extLst>
              <a:ext uri="{FF2B5EF4-FFF2-40B4-BE49-F238E27FC236}">
                <a16:creationId xmlns:a16="http://schemas.microsoft.com/office/drawing/2014/main" xmlns="" id="{71C27632-CECC-9283-6F08-4B6F6EF877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4670" y="3270364"/>
            <a:ext cx="715101" cy="6691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Fondamentaux du </a:t>
            </a:r>
            <a:r>
              <a:rPr lang="fr-FR" sz="2400" dirty="0" err="1"/>
              <a:t>MoU</a:t>
            </a:r>
            <a:endParaRPr lang="fr-FR" sz="240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/>
              <a:t>Réalisations 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dirty="0"/>
              <a:t>Extension du </a:t>
            </a:r>
            <a:r>
              <a:rPr lang="fr-FR" sz="2800" b="1" dirty="0" err="1"/>
              <a:t>MoU</a:t>
            </a:r>
            <a:endParaRPr lang="fr-FR" sz="2800" b="1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70056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A778B7A-0E59-E130-DC39-30CF12BFE705}"/>
              </a:ext>
            </a:extLst>
          </p:cNvPr>
          <p:cNvSpPr/>
          <p:nvPr/>
        </p:nvSpPr>
        <p:spPr>
          <a:xfrm>
            <a:off x="0" y="328247"/>
            <a:ext cx="457200" cy="3516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9" name="Titre 3">
            <a:extLst>
              <a:ext uri="{FF2B5EF4-FFF2-40B4-BE49-F238E27FC236}">
                <a16:creationId xmlns:a16="http://schemas.microsoft.com/office/drawing/2014/main" xmlns="" id="{BC645AB5-61ED-59A6-CC74-D2D1A0186CFB}"/>
              </a:ext>
            </a:extLst>
          </p:cNvPr>
          <p:cNvSpPr txBox="1">
            <a:spLocks/>
          </p:cNvSpPr>
          <p:nvPr/>
        </p:nvSpPr>
        <p:spPr>
          <a:xfrm>
            <a:off x="542924" y="344367"/>
            <a:ext cx="11106151" cy="4403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/>
              </a:rPr>
              <a:t>L'extension de l’approche MoU en RDC dans 3 nouvelles provinces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xmlns="" id="{159BFA55-982D-74C3-C34D-FADDFD061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618277-A96F-1445-97F7-FE2A0C8C53DC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grpSp>
        <p:nvGrpSpPr>
          <p:cNvPr id="8" name="Google Shape;610;g1e20f346e65_0_0">
            <a:extLst>
              <a:ext uri="{FF2B5EF4-FFF2-40B4-BE49-F238E27FC236}">
                <a16:creationId xmlns:a16="http://schemas.microsoft.com/office/drawing/2014/main" xmlns="" id="{C931FF06-AC33-4233-CE82-A2095061AACC}"/>
              </a:ext>
            </a:extLst>
          </p:cNvPr>
          <p:cNvGrpSpPr/>
          <p:nvPr/>
        </p:nvGrpSpPr>
        <p:grpSpPr>
          <a:xfrm>
            <a:off x="6160580" y="1262743"/>
            <a:ext cx="4289010" cy="3859037"/>
            <a:chOff x="5103997" y="1636168"/>
            <a:chExt cx="3102807" cy="2950342"/>
          </a:xfrm>
        </p:grpSpPr>
        <p:sp>
          <p:nvSpPr>
            <p:cNvPr id="10" name="Google Shape;611;g1e20f346e65_0_0">
              <a:extLst>
                <a:ext uri="{FF2B5EF4-FFF2-40B4-BE49-F238E27FC236}">
                  <a16:creationId xmlns:a16="http://schemas.microsoft.com/office/drawing/2014/main" xmlns="" id="{9D6456E2-0817-9F02-E2D4-1F876EAE7A09}"/>
                </a:ext>
              </a:extLst>
            </p:cNvPr>
            <p:cNvSpPr/>
            <p:nvPr/>
          </p:nvSpPr>
          <p:spPr>
            <a:xfrm>
              <a:off x="6776724" y="1705583"/>
              <a:ext cx="821908" cy="500178"/>
            </a:xfrm>
            <a:custGeom>
              <a:avLst/>
              <a:gdLst/>
              <a:ahLst/>
              <a:cxnLst/>
              <a:rect l="l" t="t" r="r" b="b"/>
              <a:pathLst>
                <a:path w="605" h="390" extrusionOk="0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882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endPara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451F6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612;g1e20f346e65_0_0">
              <a:extLst>
                <a:ext uri="{FF2B5EF4-FFF2-40B4-BE49-F238E27FC236}">
                  <a16:creationId xmlns:a16="http://schemas.microsoft.com/office/drawing/2014/main" xmlns="" id="{C1E83CF1-B20C-157F-6399-0DC47BF19BA9}"/>
                </a:ext>
              </a:extLst>
            </p:cNvPr>
            <p:cNvSpPr/>
            <p:nvPr/>
          </p:nvSpPr>
          <p:spPr>
            <a:xfrm>
              <a:off x="6206756" y="1740615"/>
              <a:ext cx="743436" cy="361023"/>
            </a:xfrm>
            <a:custGeom>
              <a:avLst/>
              <a:gdLst/>
              <a:ahLst/>
              <a:cxnLst/>
              <a:rect l="l" t="t" r="r" b="b"/>
              <a:pathLst>
                <a:path w="547" h="282" extrusionOk="0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D8D8D8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28398" dir="6993903" algn="ctr" rotWithShape="0">
                <a:srgbClr val="B2B2B2">
                  <a:alpha val="45882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endPara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451F6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613;g1e20f346e65_0_0">
              <a:extLst>
                <a:ext uri="{FF2B5EF4-FFF2-40B4-BE49-F238E27FC236}">
                  <a16:creationId xmlns:a16="http://schemas.microsoft.com/office/drawing/2014/main" xmlns="" id="{6F8A4CCE-4F4C-E5C0-64A3-32D4462DF4A6}"/>
                </a:ext>
              </a:extLst>
            </p:cNvPr>
            <p:cNvGrpSpPr/>
            <p:nvPr/>
          </p:nvGrpSpPr>
          <p:grpSpPr>
            <a:xfrm>
              <a:off x="5103997" y="1636168"/>
              <a:ext cx="3102807" cy="2950342"/>
              <a:chOff x="5103996" y="1728938"/>
              <a:chExt cx="3102807" cy="2859967"/>
            </a:xfrm>
          </p:grpSpPr>
          <p:sp>
            <p:nvSpPr>
              <p:cNvPr id="15" name="Google Shape;614;g1e20f346e65_0_0">
                <a:extLst>
                  <a:ext uri="{FF2B5EF4-FFF2-40B4-BE49-F238E27FC236}">
                    <a16:creationId xmlns:a16="http://schemas.microsoft.com/office/drawing/2014/main" xmlns="" id="{EDCE7C29-92B7-C7E1-84B4-0A72301BC58A}"/>
                  </a:ext>
                </a:extLst>
              </p:cNvPr>
              <p:cNvSpPr/>
              <p:nvPr/>
            </p:nvSpPr>
            <p:spPr>
              <a:xfrm>
                <a:off x="6843838" y="3392955"/>
                <a:ext cx="203413" cy="160563"/>
              </a:xfrm>
              <a:custGeom>
                <a:avLst/>
                <a:gdLst/>
                <a:ahLst/>
                <a:cxnLst/>
                <a:rect l="l" t="t" r="r" b="b"/>
                <a:pathLst>
                  <a:path w="197" h="165" extrusionOk="0">
                    <a:moveTo>
                      <a:pt x="106" y="0"/>
                    </a:moveTo>
                    <a:lnTo>
                      <a:pt x="102" y="6"/>
                    </a:lnTo>
                    <a:lnTo>
                      <a:pt x="79" y="17"/>
                    </a:lnTo>
                    <a:lnTo>
                      <a:pt x="66" y="10"/>
                    </a:lnTo>
                    <a:lnTo>
                      <a:pt x="45" y="19"/>
                    </a:lnTo>
                    <a:lnTo>
                      <a:pt x="16" y="21"/>
                    </a:lnTo>
                    <a:lnTo>
                      <a:pt x="0" y="64"/>
                    </a:lnTo>
                    <a:lnTo>
                      <a:pt x="31" y="88"/>
                    </a:lnTo>
                    <a:lnTo>
                      <a:pt x="19" y="100"/>
                    </a:lnTo>
                    <a:lnTo>
                      <a:pt x="31" y="109"/>
                    </a:lnTo>
                    <a:lnTo>
                      <a:pt x="29" y="130"/>
                    </a:lnTo>
                    <a:lnTo>
                      <a:pt x="58" y="139"/>
                    </a:lnTo>
                    <a:lnTo>
                      <a:pt x="65" y="147"/>
                    </a:lnTo>
                    <a:lnTo>
                      <a:pt x="74" y="147"/>
                    </a:lnTo>
                    <a:lnTo>
                      <a:pt x="91" y="163"/>
                    </a:lnTo>
                    <a:lnTo>
                      <a:pt x="123" y="165"/>
                    </a:lnTo>
                    <a:lnTo>
                      <a:pt x="132" y="126"/>
                    </a:lnTo>
                    <a:lnTo>
                      <a:pt x="140" y="107"/>
                    </a:lnTo>
                    <a:lnTo>
                      <a:pt x="164" y="110"/>
                    </a:lnTo>
                    <a:lnTo>
                      <a:pt x="197" y="73"/>
                    </a:lnTo>
                    <a:lnTo>
                      <a:pt x="191" y="51"/>
                    </a:lnTo>
                    <a:lnTo>
                      <a:pt x="185" y="27"/>
                    </a:lnTo>
                    <a:lnTo>
                      <a:pt x="181" y="21"/>
                    </a:lnTo>
                    <a:lnTo>
                      <a:pt x="149" y="17"/>
                    </a:lnTo>
                    <a:lnTo>
                      <a:pt x="128" y="21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615;g1e20f346e65_0_0">
                <a:extLst>
                  <a:ext uri="{FF2B5EF4-FFF2-40B4-BE49-F238E27FC236}">
                    <a16:creationId xmlns:a16="http://schemas.microsoft.com/office/drawing/2014/main" xmlns="" id="{1C56AFC5-5700-4C52-7ACB-2384BAD06EF8}"/>
                  </a:ext>
                </a:extLst>
              </p:cNvPr>
              <p:cNvSpPr/>
              <p:nvPr/>
            </p:nvSpPr>
            <p:spPr>
              <a:xfrm>
                <a:off x="7491246" y="2777950"/>
                <a:ext cx="407857" cy="518666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05" extrusionOk="0">
                    <a:moveTo>
                      <a:pt x="261" y="0"/>
                    </a:moveTo>
                    <a:cubicBezTo>
                      <a:pt x="253" y="10"/>
                      <a:pt x="253" y="10"/>
                      <a:pt x="253" y="10"/>
                    </a:cubicBezTo>
                    <a:cubicBezTo>
                      <a:pt x="223" y="15"/>
                      <a:pt x="223" y="15"/>
                      <a:pt x="223" y="15"/>
                    </a:cubicBezTo>
                    <a:cubicBezTo>
                      <a:pt x="217" y="27"/>
                      <a:pt x="217" y="27"/>
                      <a:pt x="217" y="27"/>
                    </a:cubicBezTo>
                    <a:cubicBezTo>
                      <a:pt x="200" y="33"/>
                      <a:pt x="200" y="33"/>
                      <a:pt x="200" y="33"/>
                    </a:cubicBezTo>
                    <a:cubicBezTo>
                      <a:pt x="185" y="20"/>
                      <a:pt x="185" y="20"/>
                      <a:pt x="185" y="20"/>
                    </a:cubicBezTo>
                    <a:cubicBezTo>
                      <a:pt x="180" y="44"/>
                      <a:pt x="180" y="44"/>
                      <a:pt x="180" y="44"/>
                    </a:cubicBezTo>
                    <a:cubicBezTo>
                      <a:pt x="161" y="49"/>
                      <a:pt x="161" y="49"/>
                      <a:pt x="161" y="49"/>
                    </a:cubicBezTo>
                    <a:cubicBezTo>
                      <a:pt x="117" y="46"/>
                      <a:pt x="117" y="46"/>
                      <a:pt x="117" y="46"/>
                    </a:cubicBezTo>
                    <a:cubicBezTo>
                      <a:pt x="117" y="46"/>
                      <a:pt x="110" y="41"/>
                      <a:pt x="104" y="36"/>
                    </a:cubicBezTo>
                    <a:cubicBezTo>
                      <a:pt x="106" y="42"/>
                      <a:pt x="106" y="42"/>
                      <a:pt x="106" y="42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56" y="75"/>
                      <a:pt x="56" y="75"/>
                      <a:pt x="56" y="75"/>
                    </a:cubicBezTo>
                    <a:cubicBezTo>
                      <a:pt x="33" y="77"/>
                      <a:pt x="33" y="77"/>
                      <a:pt x="33" y="77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9" y="142"/>
                      <a:pt x="9" y="142"/>
                      <a:pt x="9" y="142"/>
                    </a:cubicBezTo>
                    <a:cubicBezTo>
                      <a:pt x="25" y="158"/>
                      <a:pt x="25" y="158"/>
                      <a:pt x="25" y="158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0" y="230"/>
                      <a:pt x="30" y="230"/>
                      <a:pt x="30" y="230"/>
                    </a:cubicBezTo>
                    <a:cubicBezTo>
                      <a:pt x="30" y="230"/>
                      <a:pt x="22" y="260"/>
                      <a:pt x="26" y="260"/>
                    </a:cubicBezTo>
                    <a:cubicBezTo>
                      <a:pt x="31" y="260"/>
                      <a:pt x="47" y="270"/>
                      <a:pt x="47" y="270"/>
                    </a:cubicBezTo>
                    <a:cubicBezTo>
                      <a:pt x="85" y="277"/>
                      <a:pt x="85" y="277"/>
                      <a:pt x="85" y="277"/>
                    </a:cubicBezTo>
                    <a:cubicBezTo>
                      <a:pt x="109" y="277"/>
                      <a:pt x="109" y="277"/>
                      <a:pt x="109" y="277"/>
                    </a:cubicBezTo>
                    <a:cubicBezTo>
                      <a:pt x="119" y="294"/>
                      <a:pt x="119" y="294"/>
                      <a:pt x="119" y="294"/>
                    </a:cubicBezTo>
                    <a:cubicBezTo>
                      <a:pt x="135" y="298"/>
                      <a:pt x="135" y="298"/>
                      <a:pt x="135" y="298"/>
                    </a:cubicBezTo>
                    <a:cubicBezTo>
                      <a:pt x="149" y="303"/>
                      <a:pt x="149" y="303"/>
                      <a:pt x="149" y="303"/>
                    </a:cubicBezTo>
                    <a:cubicBezTo>
                      <a:pt x="158" y="297"/>
                      <a:pt x="158" y="297"/>
                      <a:pt x="158" y="297"/>
                    </a:cubicBezTo>
                    <a:cubicBezTo>
                      <a:pt x="190" y="321"/>
                      <a:pt x="190" y="321"/>
                      <a:pt x="190" y="321"/>
                    </a:cubicBezTo>
                    <a:cubicBezTo>
                      <a:pt x="202" y="342"/>
                      <a:pt x="202" y="342"/>
                      <a:pt x="202" y="342"/>
                    </a:cubicBezTo>
                    <a:cubicBezTo>
                      <a:pt x="225" y="402"/>
                      <a:pt x="225" y="402"/>
                      <a:pt x="225" y="402"/>
                    </a:cubicBezTo>
                    <a:cubicBezTo>
                      <a:pt x="226" y="403"/>
                      <a:pt x="226" y="403"/>
                      <a:pt x="226" y="403"/>
                    </a:cubicBezTo>
                    <a:cubicBezTo>
                      <a:pt x="296" y="405"/>
                      <a:pt x="296" y="405"/>
                      <a:pt x="296" y="405"/>
                    </a:cubicBezTo>
                    <a:cubicBezTo>
                      <a:pt x="296" y="362"/>
                      <a:pt x="296" y="362"/>
                      <a:pt x="296" y="362"/>
                    </a:cubicBezTo>
                    <a:cubicBezTo>
                      <a:pt x="300" y="326"/>
                      <a:pt x="300" y="326"/>
                      <a:pt x="300" y="326"/>
                    </a:cubicBezTo>
                    <a:cubicBezTo>
                      <a:pt x="295" y="290"/>
                      <a:pt x="295" y="290"/>
                      <a:pt x="295" y="290"/>
                    </a:cubicBezTo>
                    <a:cubicBezTo>
                      <a:pt x="284" y="275"/>
                      <a:pt x="284" y="275"/>
                      <a:pt x="284" y="275"/>
                    </a:cubicBezTo>
                    <a:cubicBezTo>
                      <a:pt x="283" y="251"/>
                      <a:pt x="283" y="251"/>
                      <a:pt x="283" y="251"/>
                    </a:cubicBezTo>
                    <a:cubicBezTo>
                      <a:pt x="280" y="191"/>
                      <a:pt x="280" y="191"/>
                      <a:pt x="280" y="191"/>
                    </a:cubicBezTo>
                    <a:cubicBezTo>
                      <a:pt x="284" y="165"/>
                      <a:pt x="284" y="165"/>
                      <a:pt x="284" y="165"/>
                    </a:cubicBezTo>
                    <a:cubicBezTo>
                      <a:pt x="275" y="166"/>
                      <a:pt x="275" y="166"/>
                      <a:pt x="275" y="166"/>
                    </a:cubicBezTo>
                    <a:cubicBezTo>
                      <a:pt x="257" y="144"/>
                      <a:pt x="257" y="144"/>
                      <a:pt x="257" y="144"/>
                    </a:cubicBezTo>
                    <a:cubicBezTo>
                      <a:pt x="258" y="131"/>
                      <a:pt x="258" y="131"/>
                      <a:pt x="258" y="131"/>
                    </a:cubicBezTo>
                    <a:cubicBezTo>
                      <a:pt x="245" y="124"/>
                      <a:pt x="245" y="124"/>
                      <a:pt x="245" y="124"/>
                    </a:cubicBezTo>
                    <a:cubicBezTo>
                      <a:pt x="240" y="107"/>
                      <a:pt x="240" y="107"/>
                      <a:pt x="240" y="107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50" y="80"/>
                      <a:pt x="250" y="80"/>
                      <a:pt x="250" y="80"/>
                    </a:cubicBezTo>
                    <a:cubicBezTo>
                      <a:pt x="264" y="79"/>
                      <a:pt x="264" y="79"/>
                      <a:pt x="264" y="79"/>
                    </a:cubicBezTo>
                    <a:cubicBezTo>
                      <a:pt x="277" y="61"/>
                      <a:pt x="277" y="61"/>
                      <a:pt x="277" y="61"/>
                    </a:cubicBezTo>
                    <a:cubicBezTo>
                      <a:pt x="269" y="36"/>
                      <a:pt x="269" y="36"/>
                      <a:pt x="269" y="36"/>
                    </a:cubicBezTo>
                    <a:cubicBezTo>
                      <a:pt x="277" y="11"/>
                      <a:pt x="277" y="11"/>
                      <a:pt x="277" y="11"/>
                    </a:cubicBez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16;g1e20f346e65_0_0">
                <a:extLst>
                  <a:ext uri="{FF2B5EF4-FFF2-40B4-BE49-F238E27FC236}">
                    <a16:creationId xmlns:a16="http://schemas.microsoft.com/office/drawing/2014/main" xmlns="" id="{E0176F6F-98F4-23B7-AD5B-262026150E90}"/>
                  </a:ext>
                </a:extLst>
              </p:cNvPr>
              <p:cNvSpPr/>
              <p:nvPr/>
            </p:nvSpPr>
            <p:spPr>
              <a:xfrm>
                <a:off x="7094747" y="2532726"/>
                <a:ext cx="703164" cy="760972"/>
              </a:xfrm>
              <a:custGeom>
                <a:avLst/>
                <a:gdLst/>
                <a:ahLst/>
                <a:cxnLst/>
                <a:rect l="l" t="t" r="r" b="b"/>
                <a:pathLst>
                  <a:path w="518" h="594" extrusionOk="0">
                    <a:moveTo>
                      <a:pt x="207" y="0"/>
                    </a:moveTo>
                    <a:cubicBezTo>
                      <a:pt x="200" y="10"/>
                      <a:pt x="200" y="10"/>
                      <a:pt x="200" y="10"/>
                    </a:cubicBezTo>
                    <a:cubicBezTo>
                      <a:pt x="216" y="25"/>
                      <a:pt x="216" y="25"/>
                      <a:pt x="216" y="25"/>
                    </a:cubicBezTo>
                    <a:cubicBezTo>
                      <a:pt x="217" y="33"/>
                      <a:pt x="217" y="33"/>
                      <a:pt x="217" y="33"/>
                    </a:cubicBezTo>
                    <a:cubicBezTo>
                      <a:pt x="226" y="51"/>
                      <a:pt x="226" y="51"/>
                      <a:pt x="226" y="51"/>
                    </a:cubicBezTo>
                    <a:cubicBezTo>
                      <a:pt x="220" y="65"/>
                      <a:pt x="220" y="65"/>
                      <a:pt x="220" y="65"/>
                    </a:cubicBezTo>
                    <a:cubicBezTo>
                      <a:pt x="222" y="94"/>
                      <a:pt x="222" y="94"/>
                      <a:pt x="222" y="94"/>
                    </a:cubicBezTo>
                    <a:cubicBezTo>
                      <a:pt x="206" y="100"/>
                      <a:pt x="206" y="100"/>
                      <a:pt x="206" y="100"/>
                    </a:cubicBezTo>
                    <a:cubicBezTo>
                      <a:pt x="199" y="124"/>
                      <a:pt x="199" y="124"/>
                      <a:pt x="199" y="124"/>
                    </a:cubicBezTo>
                    <a:cubicBezTo>
                      <a:pt x="200" y="140"/>
                      <a:pt x="200" y="140"/>
                      <a:pt x="200" y="140"/>
                    </a:cubicBezTo>
                    <a:cubicBezTo>
                      <a:pt x="194" y="156"/>
                      <a:pt x="194" y="156"/>
                      <a:pt x="194" y="156"/>
                    </a:cubicBezTo>
                    <a:cubicBezTo>
                      <a:pt x="183" y="162"/>
                      <a:pt x="183" y="162"/>
                      <a:pt x="183" y="162"/>
                    </a:cubicBezTo>
                    <a:cubicBezTo>
                      <a:pt x="171" y="154"/>
                      <a:pt x="171" y="154"/>
                      <a:pt x="171" y="154"/>
                    </a:cubicBezTo>
                    <a:cubicBezTo>
                      <a:pt x="170" y="204"/>
                      <a:pt x="170" y="204"/>
                      <a:pt x="170" y="204"/>
                    </a:cubicBezTo>
                    <a:cubicBezTo>
                      <a:pt x="151" y="204"/>
                      <a:pt x="151" y="204"/>
                      <a:pt x="151" y="204"/>
                    </a:cubicBezTo>
                    <a:cubicBezTo>
                      <a:pt x="150" y="212"/>
                      <a:pt x="150" y="212"/>
                      <a:pt x="150" y="212"/>
                    </a:cubicBezTo>
                    <a:cubicBezTo>
                      <a:pt x="132" y="216"/>
                      <a:pt x="132" y="216"/>
                      <a:pt x="132" y="216"/>
                    </a:cubicBezTo>
                    <a:cubicBezTo>
                      <a:pt x="115" y="228"/>
                      <a:pt x="115" y="228"/>
                      <a:pt x="115" y="228"/>
                    </a:cubicBezTo>
                    <a:cubicBezTo>
                      <a:pt x="109" y="244"/>
                      <a:pt x="109" y="244"/>
                      <a:pt x="109" y="244"/>
                    </a:cubicBezTo>
                    <a:cubicBezTo>
                      <a:pt x="98" y="249"/>
                      <a:pt x="98" y="249"/>
                      <a:pt x="98" y="249"/>
                    </a:cubicBezTo>
                    <a:cubicBezTo>
                      <a:pt x="84" y="251"/>
                      <a:pt x="84" y="251"/>
                      <a:pt x="84" y="251"/>
                    </a:cubicBezTo>
                    <a:cubicBezTo>
                      <a:pt x="71" y="237"/>
                      <a:pt x="71" y="237"/>
                      <a:pt x="71" y="237"/>
                    </a:cubicBezTo>
                    <a:cubicBezTo>
                      <a:pt x="72" y="222"/>
                      <a:pt x="72" y="222"/>
                      <a:pt x="72" y="222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29" y="276"/>
                      <a:pt x="29" y="276"/>
                      <a:pt x="29" y="276"/>
                    </a:cubicBezTo>
                    <a:cubicBezTo>
                      <a:pt x="74" y="274"/>
                      <a:pt x="74" y="274"/>
                      <a:pt x="74" y="274"/>
                    </a:cubicBezTo>
                    <a:cubicBezTo>
                      <a:pt x="74" y="331"/>
                      <a:pt x="74" y="331"/>
                      <a:pt x="74" y="331"/>
                    </a:cubicBezTo>
                    <a:cubicBezTo>
                      <a:pt x="61" y="373"/>
                      <a:pt x="61" y="373"/>
                      <a:pt x="61" y="373"/>
                    </a:cubicBezTo>
                    <a:cubicBezTo>
                      <a:pt x="39" y="404"/>
                      <a:pt x="39" y="404"/>
                      <a:pt x="39" y="404"/>
                    </a:cubicBezTo>
                    <a:cubicBezTo>
                      <a:pt x="35" y="440"/>
                      <a:pt x="35" y="440"/>
                      <a:pt x="35" y="440"/>
                    </a:cubicBezTo>
                    <a:cubicBezTo>
                      <a:pt x="60" y="470"/>
                      <a:pt x="60" y="470"/>
                      <a:pt x="60" y="470"/>
                    </a:cubicBezTo>
                    <a:cubicBezTo>
                      <a:pt x="66" y="495"/>
                      <a:pt x="66" y="495"/>
                      <a:pt x="66" y="495"/>
                    </a:cubicBezTo>
                    <a:cubicBezTo>
                      <a:pt x="60" y="521"/>
                      <a:pt x="60" y="521"/>
                      <a:pt x="60" y="521"/>
                    </a:cubicBezTo>
                    <a:cubicBezTo>
                      <a:pt x="49" y="544"/>
                      <a:pt x="49" y="544"/>
                      <a:pt x="49" y="544"/>
                    </a:cubicBezTo>
                    <a:cubicBezTo>
                      <a:pt x="74" y="587"/>
                      <a:pt x="74" y="587"/>
                      <a:pt x="74" y="587"/>
                    </a:cubicBezTo>
                    <a:cubicBezTo>
                      <a:pt x="216" y="587"/>
                      <a:pt x="216" y="587"/>
                      <a:pt x="216" y="587"/>
                    </a:cubicBezTo>
                    <a:cubicBezTo>
                      <a:pt x="216" y="587"/>
                      <a:pt x="216" y="587"/>
                      <a:pt x="216" y="587"/>
                    </a:cubicBezTo>
                    <a:cubicBezTo>
                      <a:pt x="217" y="586"/>
                      <a:pt x="217" y="586"/>
                      <a:pt x="217" y="586"/>
                    </a:cubicBezTo>
                    <a:cubicBezTo>
                      <a:pt x="518" y="594"/>
                      <a:pt x="518" y="594"/>
                      <a:pt x="518" y="594"/>
                    </a:cubicBezTo>
                    <a:cubicBezTo>
                      <a:pt x="517" y="593"/>
                      <a:pt x="517" y="593"/>
                      <a:pt x="517" y="593"/>
                    </a:cubicBezTo>
                    <a:cubicBezTo>
                      <a:pt x="494" y="533"/>
                      <a:pt x="494" y="533"/>
                      <a:pt x="494" y="533"/>
                    </a:cubicBezTo>
                    <a:cubicBezTo>
                      <a:pt x="482" y="512"/>
                      <a:pt x="482" y="512"/>
                      <a:pt x="482" y="512"/>
                    </a:cubicBezTo>
                    <a:cubicBezTo>
                      <a:pt x="450" y="488"/>
                      <a:pt x="450" y="488"/>
                      <a:pt x="450" y="488"/>
                    </a:cubicBezTo>
                    <a:cubicBezTo>
                      <a:pt x="441" y="494"/>
                      <a:pt x="441" y="494"/>
                      <a:pt x="441" y="494"/>
                    </a:cubicBezTo>
                    <a:cubicBezTo>
                      <a:pt x="427" y="489"/>
                      <a:pt x="427" y="489"/>
                      <a:pt x="427" y="489"/>
                    </a:cubicBezTo>
                    <a:cubicBezTo>
                      <a:pt x="411" y="485"/>
                      <a:pt x="411" y="485"/>
                      <a:pt x="411" y="485"/>
                    </a:cubicBezTo>
                    <a:cubicBezTo>
                      <a:pt x="401" y="468"/>
                      <a:pt x="401" y="468"/>
                      <a:pt x="401" y="468"/>
                    </a:cubicBezTo>
                    <a:cubicBezTo>
                      <a:pt x="377" y="468"/>
                      <a:pt x="377" y="468"/>
                      <a:pt x="377" y="468"/>
                    </a:cubicBezTo>
                    <a:cubicBezTo>
                      <a:pt x="339" y="461"/>
                      <a:pt x="339" y="461"/>
                      <a:pt x="339" y="461"/>
                    </a:cubicBezTo>
                    <a:cubicBezTo>
                      <a:pt x="339" y="461"/>
                      <a:pt x="323" y="451"/>
                      <a:pt x="318" y="451"/>
                    </a:cubicBezTo>
                    <a:cubicBezTo>
                      <a:pt x="314" y="451"/>
                      <a:pt x="322" y="421"/>
                      <a:pt x="322" y="421"/>
                    </a:cubicBezTo>
                    <a:cubicBezTo>
                      <a:pt x="322" y="377"/>
                      <a:pt x="322" y="377"/>
                      <a:pt x="322" y="377"/>
                    </a:cubicBezTo>
                    <a:cubicBezTo>
                      <a:pt x="317" y="349"/>
                      <a:pt x="317" y="349"/>
                      <a:pt x="317" y="349"/>
                    </a:cubicBezTo>
                    <a:cubicBezTo>
                      <a:pt x="301" y="333"/>
                      <a:pt x="301" y="333"/>
                      <a:pt x="301" y="333"/>
                    </a:cubicBezTo>
                    <a:cubicBezTo>
                      <a:pt x="292" y="290"/>
                      <a:pt x="292" y="290"/>
                      <a:pt x="292" y="290"/>
                    </a:cubicBezTo>
                    <a:cubicBezTo>
                      <a:pt x="298" y="263"/>
                      <a:pt x="298" y="263"/>
                      <a:pt x="298" y="263"/>
                    </a:cubicBezTo>
                    <a:cubicBezTo>
                      <a:pt x="309" y="256"/>
                      <a:pt x="309" y="256"/>
                      <a:pt x="309" y="256"/>
                    </a:cubicBezTo>
                    <a:cubicBezTo>
                      <a:pt x="325" y="268"/>
                      <a:pt x="325" y="268"/>
                      <a:pt x="325" y="268"/>
                    </a:cubicBezTo>
                    <a:cubicBezTo>
                      <a:pt x="348" y="266"/>
                      <a:pt x="348" y="266"/>
                      <a:pt x="348" y="266"/>
                    </a:cubicBezTo>
                    <a:cubicBezTo>
                      <a:pt x="364" y="249"/>
                      <a:pt x="364" y="249"/>
                      <a:pt x="364" y="249"/>
                    </a:cubicBezTo>
                    <a:cubicBezTo>
                      <a:pt x="398" y="233"/>
                      <a:pt x="398" y="233"/>
                      <a:pt x="398" y="233"/>
                    </a:cubicBezTo>
                    <a:cubicBezTo>
                      <a:pt x="389" y="204"/>
                      <a:pt x="389" y="204"/>
                      <a:pt x="389" y="204"/>
                    </a:cubicBezTo>
                    <a:cubicBezTo>
                      <a:pt x="370" y="188"/>
                      <a:pt x="370" y="188"/>
                      <a:pt x="370" y="188"/>
                    </a:cubicBezTo>
                    <a:cubicBezTo>
                      <a:pt x="350" y="162"/>
                      <a:pt x="350" y="162"/>
                      <a:pt x="350" y="162"/>
                    </a:cubicBezTo>
                    <a:cubicBezTo>
                      <a:pt x="346" y="133"/>
                      <a:pt x="346" y="133"/>
                      <a:pt x="346" y="133"/>
                    </a:cubicBezTo>
                    <a:cubicBezTo>
                      <a:pt x="349" y="113"/>
                      <a:pt x="349" y="113"/>
                      <a:pt x="349" y="113"/>
                    </a:cubicBezTo>
                    <a:cubicBezTo>
                      <a:pt x="379" y="105"/>
                      <a:pt x="379" y="105"/>
                      <a:pt x="379" y="105"/>
                    </a:cubicBezTo>
                    <a:cubicBezTo>
                      <a:pt x="408" y="122"/>
                      <a:pt x="408" y="122"/>
                      <a:pt x="408" y="122"/>
                    </a:cubicBezTo>
                    <a:cubicBezTo>
                      <a:pt x="419" y="101"/>
                      <a:pt x="419" y="101"/>
                      <a:pt x="419" y="101"/>
                    </a:cubicBezTo>
                    <a:cubicBezTo>
                      <a:pt x="421" y="69"/>
                      <a:pt x="421" y="69"/>
                      <a:pt x="421" y="69"/>
                    </a:cubicBezTo>
                    <a:cubicBezTo>
                      <a:pt x="394" y="61"/>
                      <a:pt x="394" y="61"/>
                      <a:pt x="394" y="61"/>
                    </a:cubicBezTo>
                    <a:cubicBezTo>
                      <a:pt x="375" y="50"/>
                      <a:pt x="375" y="50"/>
                      <a:pt x="375" y="50"/>
                    </a:cubicBezTo>
                    <a:cubicBezTo>
                      <a:pt x="344" y="50"/>
                      <a:pt x="344" y="50"/>
                      <a:pt x="344" y="50"/>
                    </a:cubicBezTo>
                    <a:cubicBezTo>
                      <a:pt x="326" y="39"/>
                      <a:pt x="326" y="39"/>
                      <a:pt x="326" y="39"/>
                    </a:cubicBezTo>
                    <a:cubicBezTo>
                      <a:pt x="288" y="12"/>
                      <a:pt x="288" y="12"/>
                      <a:pt x="288" y="12"/>
                    </a:cubicBezTo>
                    <a:cubicBezTo>
                      <a:pt x="273" y="25"/>
                      <a:pt x="273" y="25"/>
                      <a:pt x="273" y="25"/>
                    </a:cubicBezTo>
                    <a:cubicBezTo>
                      <a:pt x="242" y="35"/>
                      <a:pt x="242" y="35"/>
                      <a:pt x="242" y="35"/>
                    </a:cubicBezTo>
                    <a:lnTo>
                      <a:pt x="207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617;g1e20f346e65_0_0">
                <a:extLst>
                  <a:ext uri="{FF2B5EF4-FFF2-40B4-BE49-F238E27FC236}">
                    <a16:creationId xmlns:a16="http://schemas.microsoft.com/office/drawing/2014/main" xmlns="" id="{8AF9A1ED-6535-05F2-1734-55AD6BB31138}"/>
                  </a:ext>
                </a:extLst>
              </p:cNvPr>
              <p:cNvSpPr/>
              <p:nvPr/>
            </p:nvSpPr>
            <p:spPr>
              <a:xfrm>
                <a:off x="7564556" y="2376056"/>
                <a:ext cx="430572" cy="464174"/>
              </a:xfrm>
              <a:custGeom>
                <a:avLst/>
                <a:gdLst/>
                <a:ahLst/>
                <a:cxnLst/>
                <a:rect l="l" t="t" r="r" b="b"/>
                <a:pathLst>
                  <a:path w="317" h="363" extrusionOk="0">
                    <a:moveTo>
                      <a:pt x="296" y="0"/>
                    </a:moveTo>
                    <a:cubicBezTo>
                      <a:pt x="285" y="8"/>
                      <a:pt x="285" y="8"/>
                      <a:pt x="285" y="8"/>
                    </a:cubicBezTo>
                    <a:cubicBezTo>
                      <a:pt x="264" y="9"/>
                      <a:pt x="264" y="9"/>
                      <a:pt x="264" y="9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46" y="12"/>
                      <a:pt x="246" y="12"/>
                      <a:pt x="246" y="12"/>
                    </a:cubicBezTo>
                    <a:cubicBezTo>
                      <a:pt x="240" y="23"/>
                      <a:pt x="240" y="23"/>
                      <a:pt x="240" y="23"/>
                    </a:cubicBezTo>
                    <a:cubicBezTo>
                      <a:pt x="252" y="31"/>
                      <a:pt x="252" y="31"/>
                      <a:pt x="252" y="31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35" y="34"/>
                      <a:pt x="235" y="34"/>
                      <a:pt x="235" y="34"/>
                    </a:cubicBezTo>
                    <a:cubicBezTo>
                      <a:pt x="229" y="37"/>
                      <a:pt x="229" y="37"/>
                      <a:pt x="229" y="37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198" y="41"/>
                      <a:pt x="198" y="41"/>
                      <a:pt x="198" y="41"/>
                    </a:cubicBezTo>
                    <a:cubicBezTo>
                      <a:pt x="180" y="36"/>
                      <a:pt x="180" y="36"/>
                      <a:pt x="180" y="36"/>
                    </a:cubicBezTo>
                    <a:cubicBezTo>
                      <a:pt x="143" y="44"/>
                      <a:pt x="143" y="44"/>
                      <a:pt x="143" y="44"/>
                    </a:cubicBezTo>
                    <a:cubicBezTo>
                      <a:pt x="121" y="25"/>
                      <a:pt x="121" y="25"/>
                      <a:pt x="121" y="25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93" y="29"/>
                      <a:pt x="93" y="29"/>
                      <a:pt x="93" y="29"/>
                    </a:cubicBezTo>
                    <a:cubicBezTo>
                      <a:pt x="76" y="30"/>
                      <a:pt x="76" y="30"/>
                      <a:pt x="76" y="30"/>
                    </a:cubicBezTo>
                    <a:cubicBezTo>
                      <a:pt x="65" y="39"/>
                      <a:pt x="65" y="39"/>
                      <a:pt x="65" y="39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82" y="75"/>
                      <a:pt x="82" y="75"/>
                      <a:pt x="82" y="75"/>
                    </a:cubicBezTo>
                    <a:cubicBezTo>
                      <a:pt x="93" y="101"/>
                      <a:pt x="93" y="101"/>
                      <a:pt x="93" y="101"/>
                    </a:cubicBezTo>
                    <a:cubicBezTo>
                      <a:pt x="91" y="141"/>
                      <a:pt x="91" y="141"/>
                      <a:pt x="91" y="141"/>
                    </a:cubicBezTo>
                    <a:cubicBezTo>
                      <a:pt x="71" y="153"/>
                      <a:pt x="71" y="153"/>
                      <a:pt x="71" y="153"/>
                    </a:cubicBezTo>
                    <a:cubicBezTo>
                      <a:pt x="70" y="168"/>
                      <a:pt x="70" y="168"/>
                      <a:pt x="70" y="168"/>
                    </a:cubicBezTo>
                    <a:cubicBezTo>
                      <a:pt x="59" y="172"/>
                      <a:pt x="59" y="172"/>
                      <a:pt x="59" y="172"/>
                    </a:cubicBezTo>
                    <a:cubicBezTo>
                      <a:pt x="49" y="184"/>
                      <a:pt x="49" y="184"/>
                      <a:pt x="49" y="184"/>
                    </a:cubicBezTo>
                    <a:cubicBezTo>
                      <a:pt x="75" y="192"/>
                      <a:pt x="75" y="192"/>
                      <a:pt x="75" y="192"/>
                    </a:cubicBezTo>
                    <a:cubicBezTo>
                      <a:pt x="73" y="224"/>
                      <a:pt x="73" y="224"/>
                      <a:pt x="73" y="224"/>
                    </a:cubicBezTo>
                    <a:cubicBezTo>
                      <a:pt x="62" y="245"/>
                      <a:pt x="62" y="245"/>
                      <a:pt x="62" y="245"/>
                    </a:cubicBezTo>
                    <a:cubicBezTo>
                      <a:pt x="33" y="228"/>
                      <a:pt x="33" y="228"/>
                      <a:pt x="33" y="228"/>
                    </a:cubicBezTo>
                    <a:cubicBezTo>
                      <a:pt x="3" y="236"/>
                      <a:pt x="3" y="236"/>
                      <a:pt x="3" y="236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4" y="285"/>
                      <a:pt x="4" y="285"/>
                      <a:pt x="4" y="285"/>
                    </a:cubicBezTo>
                    <a:cubicBezTo>
                      <a:pt x="24" y="311"/>
                      <a:pt x="24" y="311"/>
                      <a:pt x="24" y="311"/>
                    </a:cubicBezTo>
                    <a:cubicBezTo>
                      <a:pt x="43" y="327"/>
                      <a:pt x="43" y="327"/>
                      <a:pt x="43" y="327"/>
                    </a:cubicBezTo>
                    <a:cubicBezTo>
                      <a:pt x="50" y="350"/>
                      <a:pt x="50" y="350"/>
                      <a:pt x="50" y="350"/>
                    </a:cubicBezTo>
                    <a:cubicBezTo>
                      <a:pt x="56" y="355"/>
                      <a:pt x="63" y="360"/>
                      <a:pt x="63" y="360"/>
                    </a:cubicBezTo>
                    <a:cubicBezTo>
                      <a:pt x="107" y="363"/>
                      <a:pt x="107" y="363"/>
                      <a:pt x="107" y="363"/>
                    </a:cubicBezTo>
                    <a:cubicBezTo>
                      <a:pt x="126" y="358"/>
                      <a:pt x="126" y="358"/>
                      <a:pt x="126" y="358"/>
                    </a:cubicBezTo>
                    <a:cubicBezTo>
                      <a:pt x="131" y="334"/>
                      <a:pt x="131" y="334"/>
                      <a:pt x="131" y="334"/>
                    </a:cubicBezTo>
                    <a:cubicBezTo>
                      <a:pt x="146" y="347"/>
                      <a:pt x="146" y="347"/>
                      <a:pt x="146" y="347"/>
                    </a:cubicBezTo>
                    <a:cubicBezTo>
                      <a:pt x="163" y="341"/>
                      <a:pt x="163" y="341"/>
                      <a:pt x="163" y="341"/>
                    </a:cubicBezTo>
                    <a:cubicBezTo>
                      <a:pt x="169" y="329"/>
                      <a:pt x="169" y="329"/>
                      <a:pt x="169" y="329"/>
                    </a:cubicBezTo>
                    <a:cubicBezTo>
                      <a:pt x="199" y="324"/>
                      <a:pt x="199" y="324"/>
                      <a:pt x="199" y="324"/>
                    </a:cubicBezTo>
                    <a:cubicBezTo>
                      <a:pt x="207" y="314"/>
                      <a:pt x="207" y="314"/>
                      <a:pt x="207" y="314"/>
                    </a:cubicBezTo>
                    <a:cubicBezTo>
                      <a:pt x="221" y="324"/>
                      <a:pt x="221" y="324"/>
                      <a:pt x="221" y="324"/>
                    </a:cubicBezTo>
                    <a:cubicBezTo>
                      <a:pt x="241" y="301"/>
                      <a:pt x="241" y="301"/>
                      <a:pt x="241" y="301"/>
                    </a:cubicBezTo>
                    <a:cubicBezTo>
                      <a:pt x="257" y="294"/>
                      <a:pt x="257" y="294"/>
                      <a:pt x="257" y="294"/>
                    </a:cubicBezTo>
                    <a:cubicBezTo>
                      <a:pt x="273" y="284"/>
                      <a:pt x="273" y="284"/>
                      <a:pt x="273" y="284"/>
                    </a:cubicBezTo>
                    <a:cubicBezTo>
                      <a:pt x="271" y="261"/>
                      <a:pt x="271" y="261"/>
                      <a:pt x="271" y="261"/>
                    </a:cubicBezTo>
                    <a:cubicBezTo>
                      <a:pt x="269" y="239"/>
                      <a:pt x="269" y="239"/>
                      <a:pt x="269" y="239"/>
                    </a:cubicBezTo>
                    <a:cubicBezTo>
                      <a:pt x="274" y="224"/>
                      <a:pt x="274" y="224"/>
                      <a:pt x="274" y="224"/>
                    </a:cubicBezTo>
                    <a:cubicBezTo>
                      <a:pt x="276" y="205"/>
                      <a:pt x="276" y="205"/>
                      <a:pt x="276" y="205"/>
                    </a:cubicBezTo>
                    <a:cubicBezTo>
                      <a:pt x="280" y="188"/>
                      <a:pt x="280" y="188"/>
                      <a:pt x="280" y="188"/>
                    </a:cubicBezTo>
                    <a:cubicBezTo>
                      <a:pt x="279" y="174"/>
                      <a:pt x="279" y="174"/>
                      <a:pt x="279" y="174"/>
                    </a:cubicBezTo>
                    <a:cubicBezTo>
                      <a:pt x="286" y="142"/>
                      <a:pt x="286" y="142"/>
                      <a:pt x="286" y="142"/>
                    </a:cubicBezTo>
                    <a:cubicBezTo>
                      <a:pt x="286" y="118"/>
                      <a:pt x="286" y="118"/>
                      <a:pt x="286" y="118"/>
                    </a:cubicBezTo>
                    <a:cubicBezTo>
                      <a:pt x="286" y="106"/>
                      <a:pt x="286" y="106"/>
                      <a:pt x="286" y="106"/>
                    </a:cubicBezTo>
                    <a:cubicBezTo>
                      <a:pt x="297" y="97"/>
                      <a:pt x="297" y="97"/>
                      <a:pt x="297" y="97"/>
                    </a:cubicBezTo>
                    <a:cubicBezTo>
                      <a:pt x="303" y="77"/>
                      <a:pt x="303" y="77"/>
                      <a:pt x="303" y="77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46"/>
                      <a:pt x="317" y="46"/>
                      <a:pt x="317" y="46"/>
                    </a:cubicBezTo>
                    <a:cubicBezTo>
                      <a:pt x="315" y="22"/>
                      <a:pt x="315" y="22"/>
                      <a:pt x="315" y="22"/>
                    </a:cubicBezTo>
                    <a:cubicBezTo>
                      <a:pt x="313" y="20"/>
                      <a:pt x="313" y="20"/>
                      <a:pt x="313" y="20"/>
                    </a:cubicBezTo>
                    <a:cubicBezTo>
                      <a:pt x="298" y="20"/>
                      <a:pt x="298" y="20"/>
                      <a:pt x="298" y="20"/>
                    </a:cubicBezTo>
                    <a:cubicBezTo>
                      <a:pt x="304" y="4"/>
                      <a:pt x="304" y="4"/>
                      <a:pt x="304" y="4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618;g1e20f346e65_0_0">
                <a:extLst>
                  <a:ext uri="{FF2B5EF4-FFF2-40B4-BE49-F238E27FC236}">
                    <a16:creationId xmlns:a16="http://schemas.microsoft.com/office/drawing/2014/main" xmlns="" id="{B7E3BCFD-F0DF-3FEA-C82E-55C822FB18E8}"/>
                  </a:ext>
                </a:extLst>
              </p:cNvPr>
              <p:cNvSpPr/>
              <p:nvPr/>
            </p:nvSpPr>
            <p:spPr>
              <a:xfrm>
                <a:off x="7484018" y="1728938"/>
                <a:ext cx="609204" cy="56343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40" extrusionOk="0">
                    <a:moveTo>
                      <a:pt x="34" y="0"/>
                    </a:moveTo>
                    <a:cubicBezTo>
                      <a:pt x="12" y="11"/>
                      <a:pt x="12" y="11"/>
                      <a:pt x="12" y="1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27" y="73"/>
                      <a:pt x="27" y="73"/>
                      <a:pt x="27" y="73"/>
                    </a:cubicBezTo>
                    <a:cubicBezTo>
                      <a:pt x="41" y="87"/>
                      <a:pt x="41" y="87"/>
                      <a:pt x="41" y="87"/>
                    </a:cubicBezTo>
                    <a:cubicBezTo>
                      <a:pt x="36" y="121"/>
                      <a:pt x="36" y="121"/>
                      <a:pt x="36" y="121"/>
                    </a:cubicBezTo>
                    <a:cubicBezTo>
                      <a:pt x="40" y="140"/>
                      <a:pt x="40" y="140"/>
                      <a:pt x="40" y="140"/>
                    </a:cubicBezTo>
                    <a:cubicBezTo>
                      <a:pt x="39" y="147"/>
                      <a:pt x="39" y="147"/>
                      <a:pt x="39" y="147"/>
                    </a:cubicBezTo>
                    <a:cubicBezTo>
                      <a:pt x="49" y="169"/>
                      <a:pt x="49" y="169"/>
                      <a:pt x="49" y="169"/>
                    </a:cubicBezTo>
                    <a:cubicBezTo>
                      <a:pt x="39" y="213"/>
                      <a:pt x="39" y="213"/>
                      <a:pt x="39" y="213"/>
                    </a:cubicBezTo>
                    <a:cubicBezTo>
                      <a:pt x="41" y="222"/>
                      <a:pt x="41" y="222"/>
                      <a:pt x="41" y="222"/>
                    </a:cubicBezTo>
                    <a:cubicBezTo>
                      <a:pt x="62" y="220"/>
                      <a:pt x="62" y="220"/>
                      <a:pt x="62" y="220"/>
                    </a:cubicBezTo>
                    <a:cubicBezTo>
                      <a:pt x="78" y="226"/>
                      <a:pt x="78" y="226"/>
                      <a:pt x="78" y="226"/>
                    </a:cubicBezTo>
                    <a:cubicBezTo>
                      <a:pt x="84" y="246"/>
                      <a:pt x="84" y="246"/>
                      <a:pt x="84" y="246"/>
                    </a:cubicBezTo>
                    <a:cubicBezTo>
                      <a:pt x="77" y="255"/>
                      <a:pt x="77" y="255"/>
                      <a:pt x="77" y="255"/>
                    </a:cubicBezTo>
                    <a:cubicBezTo>
                      <a:pt x="74" y="267"/>
                      <a:pt x="74" y="267"/>
                      <a:pt x="74" y="267"/>
                    </a:cubicBezTo>
                    <a:cubicBezTo>
                      <a:pt x="62" y="284"/>
                      <a:pt x="62" y="284"/>
                      <a:pt x="62" y="284"/>
                    </a:cubicBezTo>
                    <a:cubicBezTo>
                      <a:pt x="55" y="286"/>
                      <a:pt x="55" y="286"/>
                      <a:pt x="55" y="286"/>
                    </a:cubicBezTo>
                    <a:cubicBezTo>
                      <a:pt x="45" y="274"/>
                      <a:pt x="45" y="274"/>
                      <a:pt x="45" y="274"/>
                    </a:cubicBezTo>
                    <a:cubicBezTo>
                      <a:pt x="19" y="266"/>
                      <a:pt x="19" y="266"/>
                      <a:pt x="19" y="266"/>
                    </a:cubicBezTo>
                    <a:cubicBezTo>
                      <a:pt x="8" y="262"/>
                      <a:pt x="8" y="262"/>
                      <a:pt x="8" y="262"/>
                    </a:cubicBezTo>
                    <a:cubicBezTo>
                      <a:pt x="11" y="281"/>
                      <a:pt x="11" y="281"/>
                      <a:pt x="11" y="281"/>
                    </a:cubicBezTo>
                    <a:cubicBezTo>
                      <a:pt x="1" y="286"/>
                      <a:pt x="1" y="286"/>
                      <a:pt x="1" y="286"/>
                    </a:cubicBezTo>
                    <a:cubicBezTo>
                      <a:pt x="0" y="296"/>
                      <a:pt x="0" y="296"/>
                      <a:pt x="0" y="296"/>
                    </a:cubicBezTo>
                    <a:cubicBezTo>
                      <a:pt x="17" y="309"/>
                      <a:pt x="17" y="309"/>
                      <a:pt x="17" y="309"/>
                    </a:cubicBezTo>
                    <a:cubicBezTo>
                      <a:pt x="29" y="342"/>
                      <a:pt x="29" y="342"/>
                      <a:pt x="29" y="342"/>
                    </a:cubicBezTo>
                    <a:cubicBezTo>
                      <a:pt x="22" y="357"/>
                      <a:pt x="22" y="357"/>
                      <a:pt x="22" y="357"/>
                    </a:cubicBezTo>
                    <a:cubicBezTo>
                      <a:pt x="22" y="357"/>
                      <a:pt x="20" y="362"/>
                      <a:pt x="19" y="364"/>
                    </a:cubicBezTo>
                    <a:cubicBezTo>
                      <a:pt x="31" y="373"/>
                      <a:pt x="31" y="373"/>
                      <a:pt x="31" y="373"/>
                    </a:cubicBezTo>
                    <a:cubicBezTo>
                      <a:pt x="47" y="378"/>
                      <a:pt x="47" y="378"/>
                      <a:pt x="47" y="378"/>
                    </a:cubicBezTo>
                    <a:cubicBezTo>
                      <a:pt x="53" y="408"/>
                      <a:pt x="53" y="408"/>
                      <a:pt x="53" y="408"/>
                    </a:cubicBezTo>
                    <a:cubicBezTo>
                      <a:pt x="39" y="431"/>
                      <a:pt x="39" y="431"/>
                      <a:pt x="39" y="431"/>
                    </a:cubicBezTo>
                    <a:cubicBezTo>
                      <a:pt x="57" y="437"/>
                      <a:pt x="57" y="437"/>
                      <a:pt x="57" y="437"/>
                    </a:cubicBezTo>
                    <a:cubicBezTo>
                      <a:pt x="66" y="434"/>
                      <a:pt x="66" y="434"/>
                      <a:pt x="66" y="434"/>
                    </a:cubicBezTo>
                    <a:cubicBezTo>
                      <a:pt x="66" y="435"/>
                      <a:pt x="66" y="435"/>
                      <a:pt x="66" y="435"/>
                    </a:cubicBezTo>
                    <a:cubicBezTo>
                      <a:pt x="66" y="435"/>
                      <a:pt x="68" y="434"/>
                      <a:pt x="68" y="434"/>
                    </a:cubicBezTo>
                    <a:cubicBezTo>
                      <a:pt x="91" y="440"/>
                      <a:pt x="91" y="440"/>
                      <a:pt x="91" y="440"/>
                    </a:cubicBezTo>
                    <a:cubicBezTo>
                      <a:pt x="99" y="435"/>
                      <a:pt x="99" y="435"/>
                      <a:pt x="99" y="435"/>
                    </a:cubicBezTo>
                    <a:cubicBezTo>
                      <a:pt x="86" y="409"/>
                      <a:pt x="86" y="409"/>
                      <a:pt x="86" y="409"/>
                    </a:cubicBezTo>
                    <a:cubicBezTo>
                      <a:pt x="91" y="405"/>
                      <a:pt x="91" y="405"/>
                      <a:pt x="91" y="405"/>
                    </a:cubicBezTo>
                    <a:cubicBezTo>
                      <a:pt x="114" y="403"/>
                      <a:pt x="114" y="403"/>
                      <a:pt x="114" y="403"/>
                    </a:cubicBezTo>
                    <a:cubicBezTo>
                      <a:pt x="125" y="414"/>
                      <a:pt x="125" y="414"/>
                      <a:pt x="125" y="414"/>
                    </a:cubicBezTo>
                    <a:cubicBezTo>
                      <a:pt x="132" y="407"/>
                      <a:pt x="132" y="407"/>
                      <a:pt x="132" y="407"/>
                    </a:cubicBezTo>
                    <a:cubicBezTo>
                      <a:pt x="162" y="406"/>
                      <a:pt x="162" y="406"/>
                      <a:pt x="162" y="406"/>
                    </a:cubicBezTo>
                    <a:cubicBezTo>
                      <a:pt x="172" y="396"/>
                      <a:pt x="172" y="396"/>
                      <a:pt x="172" y="396"/>
                    </a:cubicBezTo>
                    <a:cubicBezTo>
                      <a:pt x="169" y="370"/>
                      <a:pt x="169" y="370"/>
                      <a:pt x="169" y="370"/>
                    </a:cubicBezTo>
                    <a:cubicBezTo>
                      <a:pt x="178" y="334"/>
                      <a:pt x="178" y="334"/>
                      <a:pt x="178" y="334"/>
                    </a:cubicBezTo>
                    <a:cubicBezTo>
                      <a:pt x="191" y="337"/>
                      <a:pt x="191" y="337"/>
                      <a:pt x="191" y="337"/>
                    </a:cubicBezTo>
                    <a:cubicBezTo>
                      <a:pt x="218" y="340"/>
                      <a:pt x="218" y="340"/>
                      <a:pt x="218" y="340"/>
                    </a:cubicBezTo>
                    <a:cubicBezTo>
                      <a:pt x="223" y="335"/>
                      <a:pt x="223" y="335"/>
                      <a:pt x="223" y="335"/>
                    </a:cubicBezTo>
                    <a:cubicBezTo>
                      <a:pt x="255" y="339"/>
                      <a:pt x="255" y="339"/>
                      <a:pt x="255" y="339"/>
                    </a:cubicBezTo>
                    <a:cubicBezTo>
                      <a:pt x="284" y="323"/>
                      <a:pt x="284" y="323"/>
                      <a:pt x="284" y="323"/>
                    </a:cubicBezTo>
                    <a:cubicBezTo>
                      <a:pt x="300" y="329"/>
                      <a:pt x="300" y="329"/>
                      <a:pt x="300" y="329"/>
                    </a:cubicBezTo>
                    <a:cubicBezTo>
                      <a:pt x="315" y="314"/>
                      <a:pt x="315" y="314"/>
                      <a:pt x="315" y="314"/>
                    </a:cubicBezTo>
                    <a:cubicBezTo>
                      <a:pt x="321" y="324"/>
                      <a:pt x="321" y="324"/>
                      <a:pt x="321" y="324"/>
                    </a:cubicBezTo>
                    <a:cubicBezTo>
                      <a:pt x="310" y="344"/>
                      <a:pt x="310" y="344"/>
                      <a:pt x="310" y="344"/>
                    </a:cubicBezTo>
                    <a:cubicBezTo>
                      <a:pt x="315" y="356"/>
                      <a:pt x="315" y="356"/>
                      <a:pt x="315" y="356"/>
                    </a:cubicBezTo>
                    <a:cubicBezTo>
                      <a:pt x="328" y="358"/>
                      <a:pt x="328" y="358"/>
                      <a:pt x="328" y="358"/>
                    </a:cubicBezTo>
                    <a:cubicBezTo>
                      <a:pt x="336" y="356"/>
                      <a:pt x="336" y="356"/>
                      <a:pt x="336" y="356"/>
                    </a:cubicBezTo>
                    <a:cubicBezTo>
                      <a:pt x="350" y="364"/>
                      <a:pt x="350" y="364"/>
                      <a:pt x="350" y="364"/>
                    </a:cubicBezTo>
                    <a:cubicBezTo>
                      <a:pt x="360" y="345"/>
                      <a:pt x="360" y="345"/>
                      <a:pt x="360" y="345"/>
                    </a:cubicBezTo>
                    <a:cubicBezTo>
                      <a:pt x="384" y="335"/>
                      <a:pt x="384" y="335"/>
                      <a:pt x="384" y="335"/>
                    </a:cubicBezTo>
                    <a:cubicBezTo>
                      <a:pt x="383" y="323"/>
                      <a:pt x="383" y="323"/>
                      <a:pt x="383" y="323"/>
                    </a:cubicBezTo>
                    <a:cubicBezTo>
                      <a:pt x="383" y="316"/>
                      <a:pt x="383" y="316"/>
                      <a:pt x="383" y="316"/>
                    </a:cubicBezTo>
                    <a:cubicBezTo>
                      <a:pt x="385" y="280"/>
                      <a:pt x="385" y="280"/>
                      <a:pt x="385" y="280"/>
                    </a:cubicBezTo>
                    <a:cubicBezTo>
                      <a:pt x="379" y="256"/>
                      <a:pt x="379" y="256"/>
                      <a:pt x="379" y="256"/>
                    </a:cubicBezTo>
                    <a:cubicBezTo>
                      <a:pt x="386" y="247"/>
                      <a:pt x="386" y="247"/>
                      <a:pt x="386" y="247"/>
                    </a:cubicBezTo>
                    <a:cubicBezTo>
                      <a:pt x="404" y="246"/>
                      <a:pt x="404" y="246"/>
                      <a:pt x="404" y="246"/>
                    </a:cubicBezTo>
                    <a:cubicBezTo>
                      <a:pt x="407" y="241"/>
                      <a:pt x="407" y="241"/>
                      <a:pt x="407" y="241"/>
                    </a:cubicBezTo>
                    <a:cubicBezTo>
                      <a:pt x="407" y="225"/>
                      <a:pt x="407" y="225"/>
                      <a:pt x="407" y="225"/>
                    </a:cubicBezTo>
                    <a:cubicBezTo>
                      <a:pt x="412" y="203"/>
                      <a:pt x="412" y="203"/>
                      <a:pt x="412" y="203"/>
                    </a:cubicBezTo>
                    <a:cubicBezTo>
                      <a:pt x="415" y="187"/>
                      <a:pt x="415" y="187"/>
                      <a:pt x="415" y="187"/>
                    </a:cubicBezTo>
                    <a:cubicBezTo>
                      <a:pt x="434" y="181"/>
                      <a:pt x="434" y="181"/>
                      <a:pt x="434" y="181"/>
                    </a:cubicBezTo>
                    <a:cubicBezTo>
                      <a:pt x="448" y="180"/>
                      <a:pt x="448" y="180"/>
                      <a:pt x="448" y="180"/>
                    </a:cubicBezTo>
                    <a:cubicBezTo>
                      <a:pt x="445" y="164"/>
                      <a:pt x="445" y="164"/>
                      <a:pt x="445" y="164"/>
                    </a:cubicBezTo>
                    <a:cubicBezTo>
                      <a:pt x="429" y="158"/>
                      <a:pt x="429" y="158"/>
                      <a:pt x="429" y="158"/>
                    </a:cubicBezTo>
                    <a:cubicBezTo>
                      <a:pt x="406" y="148"/>
                      <a:pt x="406" y="148"/>
                      <a:pt x="406" y="148"/>
                    </a:cubicBezTo>
                    <a:cubicBezTo>
                      <a:pt x="396" y="135"/>
                      <a:pt x="396" y="135"/>
                      <a:pt x="396" y="135"/>
                    </a:cubicBezTo>
                    <a:cubicBezTo>
                      <a:pt x="379" y="123"/>
                      <a:pt x="379" y="123"/>
                      <a:pt x="379" y="123"/>
                    </a:cubicBezTo>
                    <a:cubicBezTo>
                      <a:pt x="372" y="109"/>
                      <a:pt x="372" y="109"/>
                      <a:pt x="372" y="109"/>
                    </a:cubicBezTo>
                    <a:cubicBezTo>
                      <a:pt x="356" y="107"/>
                      <a:pt x="356" y="107"/>
                      <a:pt x="356" y="107"/>
                    </a:cubicBezTo>
                    <a:cubicBezTo>
                      <a:pt x="356" y="80"/>
                      <a:pt x="356" y="80"/>
                      <a:pt x="356" y="80"/>
                    </a:cubicBezTo>
                    <a:cubicBezTo>
                      <a:pt x="317" y="65"/>
                      <a:pt x="317" y="65"/>
                      <a:pt x="317" y="65"/>
                    </a:cubicBezTo>
                    <a:cubicBezTo>
                      <a:pt x="315" y="75"/>
                      <a:pt x="315" y="75"/>
                      <a:pt x="315" y="75"/>
                    </a:cubicBezTo>
                    <a:cubicBezTo>
                      <a:pt x="302" y="93"/>
                      <a:pt x="302" y="93"/>
                      <a:pt x="302" y="93"/>
                    </a:cubicBezTo>
                    <a:cubicBezTo>
                      <a:pt x="290" y="106"/>
                      <a:pt x="290" y="106"/>
                      <a:pt x="290" y="106"/>
                    </a:cubicBezTo>
                    <a:cubicBezTo>
                      <a:pt x="279" y="102"/>
                      <a:pt x="279" y="102"/>
                      <a:pt x="279" y="102"/>
                    </a:cubicBezTo>
                    <a:cubicBezTo>
                      <a:pt x="261" y="87"/>
                      <a:pt x="261" y="87"/>
                      <a:pt x="261" y="87"/>
                    </a:cubicBezTo>
                    <a:cubicBezTo>
                      <a:pt x="239" y="87"/>
                      <a:pt x="239" y="87"/>
                      <a:pt x="239" y="87"/>
                    </a:cubicBezTo>
                    <a:cubicBezTo>
                      <a:pt x="228" y="79"/>
                      <a:pt x="228" y="79"/>
                      <a:pt x="228" y="79"/>
                    </a:cubicBezTo>
                    <a:cubicBezTo>
                      <a:pt x="217" y="95"/>
                      <a:pt x="217" y="95"/>
                      <a:pt x="217" y="95"/>
                    </a:cubicBezTo>
                    <a:cubicBezTo>
                      <a:pt x="201" y="108"/>
                      <a:pt x="201" y="108"/>
                      <a:pt x="201" y="108"/>
                    </a:cubicBezTo>
                    <a:cubicBezTo>
                      <a:pt x="188" y="113"/>
                      <a:pt x="188" y="113"/>
                      <a:pt x="188" y="113"/>
                    </a:cubicBezTo>
                    <a:cubicBezTo>
                      <a:pt x="183" y="104"/>
                      <a:pt x="183" y="104"/>
                      <a:pt x="183" y="104"/>
                    </a:cubicBezTo>
                    <a:cubicBezTo>
                      <a:pt x="168" y="107"/>
                      <a:pt x="168" y="107"/>
                      <a:pt x="168" y="107"/>
                    </a:cubicBezTo>
                    <a:cubicBezTo>
                      <a:pt x="161" y="95"/>
                      <a:pt x="161" y="95"/>
                      <a:pt x="161" y="95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145" y="82"/>
                      <a:pt x="145" y="82"/>
                      <a:pt x="145" y="82"/>
                    </a:cubicBezTo>
                    <a:cubicBezTo>
                      <a:pt x="129" y="82"/>
                      <a:pt x="129" y="82"/>
                      <a:pt x="129" y="82"/>
                    </a:cubicBezTo>
                    <a:cubicBezTo>
                      <a:pt x="113" y="73"/>
                      <a:pt x="113" y="73"/>
                      <a:pt x="113" y="73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102" y="42"/>
                      <a:pt x="102" y="42"/>
                      <a:pt x="102" y="42"/>
                    </a:cubicBezTo>
                    <a:cubicBezTo>
                      <a:pt x="89" y="39"/>
                      <a:pt x="89" y="39"/>
                      <a:pt x="89" y="3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72" y="21"/>
                      <a:pt x="72" y="21"/>
                      <a:pt x="72" y="2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619;g1e20f346e65_0_0">
                <a:extLst>
                  <a:ext uri="{FF2B5EF4-FFF2-40B4-BE49-F238E27FC236}">
                    <a16:creationId xmlns:a16="http://schemas.microsoft.com/office/drawing/2014/main" xmlns="" id="{72331E0F-122F-5279-01D5-4DFF6C19B163}"/>
                  </a:ext>
                </a:extLst>
              </p:cNvPr>
              <p:cNvSpPr/>
              <p:nvPr/>
            </p:nvSpPr>
            <p:spPr>
              <a:xfrm>
                <a:off x="6746779" y="2147375"/>
                <a:ext cx="943746" cy="707449"/>
              </a:xfrm>
              <a:custGeom>
                <a:avLst/>
                <a:gdLst/>
                <a:ahLst/>
                <a:cxnLst/>
                <a:rect l="l" t="t" r="r" b="b"/>
                <a:pathLst>
                  <a:path w="914" h="727" extrusionOk="0">
                    <a:moveTo>
                      <a:pt x="598" y="0"/>
                    </a:moveTo>
                    <a:lnTo>
                      <a:pt x="548" y="14"/>
                    </a:lnTo>
                    <a:lnTo>
                      <a:pt x="520" y="37"/>
                    </a:lnTo>
                    <a:lnTo>
                      <a:pt x="463" y="19"/>
                    </a:lnTo>
                    <a:lnTo>
                      <a:pt x="430" y="31"/>
                    </a:lnTo>
                    <a:lnTo>
                      <a:pt x="409" y="16"/>
                    </a:lnTo>
                    <a:lnTo>
                      <a:pt x="379" y="11"/>
                    </a:lnTo>
                    <a:lnTo>
                      <a:pt x="322" y="20"/>
                    </a:lnTo>
                    <a:lnTo>
                      <a:pt x="285" y="52"/>
                    </a:lnTo>
                    <a:lnTo>
                      <a:pt x="262" y="35"/>
                    </a:lnTo>
                    <a:lnTo>
                      <a:pt x="241" y="40"/>
                    </a:lnTo>
                    <a:lnTo>
                      <a:pt x="218" y="31"/>
                    </a:lnTo>
                    <a:lnTo>
                      <a:pt x="208" y="27"/>
                    </a:lnTo>
                    <a:lnTo>
                      <a:pt x="210" y="40"/>
                    </a:lnTo>
                    <a:lnTo>
                      <a:pt x="167" y="28"/>
                    </a:lnTo>
                    <a:lnTo>
                      <a:pt x="125" y="52"/>
                    </a:lnTo>
                    <a:lnTo>
                      <a:pt x="108" y="46"/>
                    </a:lnTo>
                    <a:lnTo>
                      <a:pt x="93" y="64"/>
                    </a:lnTo>
                    <a:lnTo>
                      <a:pt x="71" y="71"/>
                    </a:lnTo>
                    <a:lnTo>
                      <a:pt x="50" y="57"/>
                    </a:lnTo>
                    <a:lnTo>
                      <a:pt x="18" y="41"/>
                    </a:lnTo>
                    <a:lnTo>
                      <a:pt x="16" y="67"/>
                    </a:lnTo>
                    <a:lnTo>
                      <a:pt x="25" y="85"/>
                    </a:lnTo>
                    <a:lnTo>
                      <a:pt x="31" y="107"/>
                    </a:lnTo>
                    <a:lnTo>
                      <a:pt x="17" y="128"/>
                    </a:lnTo>
                    <a:lnTo>
                      <a:pt x="1" y="133"/>
                    </a:lnTo>
                    <a:lnTo>
                      <a:pt x="0" y="156"/>
                    </a:lnTo>
                    <a:lnTo>
                      <a:pt x="39" y="179"/>
                    </a:lnTo>
                    <a:lnTo>
                      <a:pt x="67" y="218"/>
                    </a:lnTo>
                    <a:lnTo>
                      <a:pt x="91" y="293"/>
                    </a:lnTo>
                    <a:lnTo>
                      <a:pt x="100" y="321"/>
                    </a:lnTo>
                    <a:lnTo>
                      <a:pt x="109" y="327"/>
                    </a:lnTo>
                    <a:lnTo>
                      <a:pt x="123" y="350"/>
                    </a:lnTo>
                    <a:lnTo>
                      <a:pt x="154" y="399"/>
                    </a:lnTo>
                    <a:lnTo>
                      <a:pt x="167" y="410"/>
                    </a:lnTo>
                    <a:lnTo>
                      <a:pt x="168" y="418"/>
                    </a:lnTo>
                    <a:lnTo>
                      <a:pt x="151" y="427"/>
                    </a:lnTo>
                    <a:lnTo>
                      <a:pt x="130" y="427"/>
                    </a:lnTo>
                    <a:lnTo>
                      <a:pt x="108" y="444"/>
                    </a:lnTo>
                    <a:lnTo>
                      <a:pt x="141" y="447"/>
                    </a:lnTo>
                    <a:lnTo>
                      <a:pt x="139" y="461"/>
                    </a:lnTo>
                    <a:lnTo>
                      <a:pt x="177" y="450"/>
                    </a:lnTo>
                    <a:lnTo>
                      <a:pt x="202" y="482"/>
                    </a:lnTo>
                    <a:lnTo>
                      <a:pt x="179" y="491"/>
                    </a:lnTo>
                    <a:lnTo>
                      <a:pt x="156" y="507"/>
                    </a:lnTo>
                    <a:lnTo>
                      <a:pt x="188" y="537"/>
                    </a:lnTo>
                    <a:lnTo>
                      <a:pt x="218" y="548"/>
                    </a:lnTo>
                    <a:lnTo>
                      <a:pt x="227" y="564"/>
                    </a:lnTo>
                    <a:lnTo>
                      <a:pt x="276" y="595"/>
                    </a:lnTo>
                    <a:lnTo>
                      <a:pt x="313" y="593"/>
                    </a:lnTo>
                    <a:lnTo>
                      <a:pt x="329" y="648"/>
                    </a:lnTo>
                    <a:lnTo>
                      <a:pt x="342" y="690"/>
                    </a:lnTo>
                    <a:lnTo>
                      <a:pt x="431" y="689"/>
                    </a:lnTo>
                    <a:lnTo>
                      <a:pt x="430" y="708"/>
                    </a:lnTo>
                    <a:lnTo>
                      <a:pt x="447" y="727"/>
                    </a:lnTo>
                    <a:lnTo>
                      <a:pt x="466" y="724"/>
                    </a:lnTo>
                    <a:lnTo>
                      <a:pt x="480" y="718"/>
                    </a:lnTo>
                    <a:lnTo>
                      <a:pt x="488" y="697"/>
                    </a:lnTo>
                    <a:lnTo>
                      <a:pt x="510" y="681"/>
                    </a:lnTo>
                    <a:lnTo>
                      <a:pt x="534" y="675"/>
                    </a:lnTo>
                    <a:lnTo>
                      <a:pt x="535" y="665"/>
                    </a:lnTo>
                    <a:lnTo>
                      <a:pt x="560" y="665"/>
                    </a:lnTo>
                    <a:lnTo>
                      <a:pt x="562" y="599"/>
                    </a:lnTo>
                    <a:lnTo>
                      <a:pt x="577" y="610"/>
                    </a:lnTo>
                    <a:lnTo>
                      <a:pt x="592" y="602"/>
                    </a:lnTo>
                    <a:lnTo>
                      <a:pt x="600" y="581"/>
                    </a:lnTo>
                    <a:lnTo>
                      <a:pt x="598" y="560"/>
                    </a:lnTo>
                    <a:lnTo>
                      <a:pt x="608" y="528"/>
                    </a:lnTo>
                    <a:lnTo>
                      <a:pt x="629" y="520"/>
                    </a:lnTo>
                    <a:lnTo>
                      <a:pt x="626" y="482"/>
                    </a:lnTo>
                    <a:lnTo>
                      <a:pt x="634" y="464"/>
                    </a:lnTo>
                    <a:lnTo>
                      <a:pt x="622" y="440"/>
                    </a:lnTo>
                    <a:lnTo>
                      <a:pt x="621" y="429"/>
                    </a:lnTo>
                    <a:lnTo>
                      <a:pt x="600" y="410"/>
                    </a:lnTo>
                    <a:lnTo>
                      <a:pt x="609" y="396"/>
                    </a:lnTo>
                    <a:lnTo>
                      <a:pt x="655" y="443"/>
                    </a:lnTo>
                    <a:lnTo>
                      <a:pt x="696" y="429"/>
                    </a:lnTo>
                    <a:lnTo>
                      <a:pt x="716" y="412"/>
                    </a:lnTo>
                    <a:lnTo>
                      <a:pt x="766" y="448"/>
                    </a:lnTo>
                    <a:lnTo>
                      <a:pt x="789" y="462"/>
                    </a:lnTo>
                    <a:lnTo>
                      <a:pt x="830" y="462"/>
                    </a:lnTo>
                    <a:lnTo>
                      <a:pt x="855" y="477"/>
                    </a:lnTo>
                    <a:lnTo>
                      <a:pt x="856" y="477"/>
                    </a:lnTo>
                    <a:lnTo>
                      <a:pt x="870" y="461"/>
                    </a:lnTo>
                    <a:lnTo>
                      <a:pt x="884" y="456"/>
                    </a:lnTo>
                    <a:lnTo>
                      <a:pt x="885" y="436"/>
                    </a:lnTo>
                    <a:lnTo>
                      <a:pt x="912" y="420"/>
                    </a:lnTo>
                    <a:lnTo>
                      <a:pt x="914" y="368"/>
                    </a:lnTo>
                    <a:lnTo>
                      <a:pt x="900" y="333"/>
                    </a:lnTo>
                    <a:lnTo>
                      <a:pt x="889" y="304"/>
                    </a:lnTo>
                    <a:lnTo>
                      <a:pt x="859" y="308"/>
                    </a:lnTo>
                    <a:lnTo>
                      <a:pt x="852" y="293"/>
                    </a:lnTo>
                    <a:lnTo>
                      <a:pt x="877" y="286"/>
                    </a:lnTo>
                    <a:lnTo>
                      <a:pt x="888" y="277"/>
                    </a:lnTo>
                    <a:lnTo>
                      <a:pt x="888" y="275"/>
                    </a:lnTo>
                    <a:lnTo>
                      <a:pt x="877" y="244"/>
                    </a:lnTo>
                    <a:lnTo>
                      <a:pt x="847" y="218"/>
                    </a:lnTo>
                    <a:lnTo>
                      <a:pt x="845" y="189"/>
                    </a:lnTo>
                    <a:lnTo>
                      <a:pt x="809" y="169"/>
                    </a:lnTo>
                    <a:lnTo>
                      <a:pt x="801" y="141"/>
                    </a:lnTo>
                    <a:lnTo>
                      <a:pt x="789" y="145"/>
                    </a:lnTo>
                    <a:lnTo>
                      <a:pt x="766" y="137"/>
                    </a:lnTo>
                    <a:lnTo>
                      <a:pt x="784" y="107"/>
                    </a:lnTo>
                    <a:lnTo>
                      <a:pt x="776" y="67"/>
                    </a:lnTo>
                    <a:lnTo>
                      <a:pt x="755" y="61"/>
                    </a:lnTo>
                    <a:lnTo>
                      <a:pt x="733" y="45"/>
                    </a:lnTo>
                    <a:lnTo>
                      <a:pt x="708" y="28"/>
                    </a:lnTo>
                    <a:lnTo>
                      <a:pt x="681" y="28"/>
                    </a:lnTo>
                    <a:lnTo>
                      <a:pt x="664" y="48"/>
                    </a:lnTo>
                    <a:lnTo>
                      <a:pt x="645" y="60"/>
                    </a:lnTo>
                    <a:lnTo>
                      <a:pt x="627" y="56"/>
                    </a:lnTo>
                    <a:lnTo>
                      <a:pt x="621" y="23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620;g1e20f346e65_0_0">
                <a:extLst>
                  <a:ext uri="{FF2B5EF4-FFF2-40B4-BE49-F238E27FC236}">
                    <a16:creationId xmlns:a16="http://schemas.microsoft.com/office/drawing/2014/main" xmlns="" id="{4A0F8D17-A7E0-F8A0-4F5B-DD07CC90F025}"/>
                  </a:ext>
                </a:extLst>
              </p:cNvPr>
              <p:cNvSpPr/>
              <p:nvPr/>
            </p:nvSpPr>
            <p:spPr>
              <a:xfrm>
                <a:off x="6662110" y="3705323"/>
                <a:ext cx="880763" cy="63252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494" extrusionOk="0">
                    <a:moveTo>
                      <a:pt x="4" y="0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21" y="87"/>
                      <a:pt x="21" y="87"/>
                      <a:pt x="21" y="87"/>
                    </a:cubicBezTo>
                    <a:cubicBezTo>
                      <a:pt x="10" y="164"/>
                      <a:pt x="10" y="164"/>
                      <a:pt x="10" y="164"/>
                    </a:cubicBezTo>
                    <a:cubicBezTo>
                      <a:pt x="11" y="188"/>
                      <a:pt x="11" y="188"/>
                      <a:pt x="11" y="188"/>
                    </a:cubicBezTo>
                    <a:cubicBezTo>
                      <a:pt x="3" y="206"/>
                      <a:pt x="3" y="206"/>
                      <a:pt x="3" y="206"/>
                    </a:cubicBezTo>
                    <a:cubicBezTo>
                      <a:pt x="14" y="234"/>
                      <a:pt x="14" y="234"/>
                      <a:pt x="14" y="234"/>
                    </a:cubicBezTo>
                    <a:cubicBezTo>
                      <a:pt x="36" y="258"/>
                      <a:pt x="36" y="258"/>
                      <a:pt x="36" y="258"/>
                    </a:cubicBezTo>
                    <a:cubicBezTo>
                      <a:pt x="51" y="267"/>
                      <a:pt x="51" y="267"/>
                      <a:pt x="51" y="267"/>
                    </a:cubicBezTo>
                    <a:cubicBezTo>
                      <a:pt x="56" y="301"/>
                      <a:pt x="56" y="301"/>
                      <a:pt x="56" y="301"/>
                    </a:cubicBezTo>
                    <a:cubicBezTo>
                      <a:pt x="67" y="331"/>
                      <a:pt x="67" y="331"/>
                      <a:pt x="67" y="331"/>
                    </a:cubicBezTo>
                    <a:cubicBezTo>
                      <a:pt x="69" y="361"/>
                      <a:pt x="69" y="361"/>
                      <a:pt x="69" y="361"/>
                    </a:cubicBezTo>
                    <a:cubicBezTo>
                      <a:pt x="68" y="373"/>
                      <a:pt x="68" y="373"/>
                      <a:pt x="68" y="373"/>
                    </a:cubicBezTo>
                    <a:cubicBezTo>
                      <a:pt x="51" y="382"/>
                      <a:pt x="51" y="382"/>
                      <a:pt x="51" y="382"/>
                    </a:cubicBezTo>
                    <a:cubicBezTo>
                      <a:pt x="62" y="420"/>
                      <a:pt x="62" y="420"/>
                      <a:pt x="62" y="420"/>
                    </a:cubicBezTo>
                    <a:cubicBezTo>
                      <a:pt x="80" y="422"/>
                      <a:pt x="80" y="422"/>
                      <a:pt x="80" y="422"/>
                    </a:cubicBezTo>
                    <a:cubicBezTo>
                      <a:pt x="91" y="410"/>
                      <a:pt x="91" y="410"/>
                      <a:pt x="91" y="410"/>
                    </a:cubicBezTo>
                    <a:cubicBezTo>
                      <a:pt x="95" y="404"/>
                      <a:pt x="95" y="404"/>
                      <a:pt x="95" y="404"/>
                    </a:cubicBezTo>
                    <a:cubicBezTo>
                      <a:pt x="129" y="412"/>
                      <a:pt x="129" y="412"/>
                      <a:pt x="129" y="412"/>
                    </a:cubicBezTo>
                    <a:cubicBezTo>
                      <a:pt x="137" y="405"/>
                      <a:pt x="137" y="405"/>
                      <a:pt x="137" y="405"/>
                    </a:cubicBezTo>
                    <a:cubicBezTo>
                      <a:pt x="167" y="410"/>
                      <a:pt x="167" y="410"/>
                      <a:pt x="167" y="410"/>
                    </a:cubicBezTo>
                    <a:cubicBezTo>
                      <a:pt x="199" y="390"/>
                      <a:pt x="199" y="390"/>
                      <a:pt x="199" y="390"/>
                    </a:cubicBezTo>
                    <a:cubicBezTo>
                      <a:pt x="252" y="401"/>
                      <a:pt x="252" y="401"/>
                      <a:pt x="252" y="401"/>
                    </a:cubicBezTo>
                    <a:cubicBezTo>
                      <a:pt x="273" y="383"/>
                      <a:pt x="273" y="383"/>
                      <a:pt x="273" y="383"/>
                    </a:cubicBezTo>
                    <a:cubicBezTo>
                      <a:pt x="284" y="388"/>
                      <a:pt x="284" y="388"/>
                      <a:pt x="284" y="388"/>
                    </a:cubicBezTo>
                    <a:cubicBezTo>
                      <a:pt x="285" y="401"/>
                      <a:pt x="285" y="401"/>
                      <a:pt x="285" y="401"/>
                    </a:cubicBezTo>
                    <a:cubicBezTo>
                      <a:pt x="301" y="405"/>
                      <a:pt x="301" y="405"/>
                      <a:pt x="301" y="405"/>
                    </a:cubicBezTo>
                    <a:cubicBezTo>
                      <a:pt x="310" y="407"/>
                      <a:pt x="310" y="407"/>
                      <a:pt x="310" y="407"/>
                    </a:cubicBezTo>
                    <a:cubicBezTo>
                      <a:pt x="315" y="423"/>
                      <a:pt x="315" y="423"/>
                      <a:pt x="315" y="423"/>
                    </a:cubicBezTo>
                    <a:cubicBezTo>
                      <a:pt x="310" y="441"/>
                      <a:pt x="310" y="441"/>
                      <a:pt x="310" y="441"/>
                    </a:cubicBezTo>
                    <a:cubicBezTo>
                      <a:pt x="318" y="451"/>
                      <a:pt x="318" y="451"/>
                      <a:pt x="318" y="451"/>
                    </a:cubicBezTo>
                    <a:cubicBezTo>
                      <a:pt x="337" y="450"/>
                      <a:pt x="337" y="450"/>
                      <a:pt x="337" y="450"/>
                    </a:cubicBezTo>
                    <a:cubicBezTo>
                      <a:pt x="367" y="430"/>
                      <a:pt x="367" y="430"/>
                      <a:pt x="367" y="430"/>
                    </a:cubicBezTo>
                    <a:cubicBezTo>
                      <a:pt x="427" y="421"/>
                      <a:pt x="427" y="421"/>
                      <a:pt x="427" y="421"/>
                    </a:cubicBezTo>
                    <a:cubicBezTo>
                      <a:pt x="422" y="448"/>
                      <a:pt x="422" y="448"/>
                      <a:pt x="422" y="448"/>
                    </a:cubicBezTo>
                    <a:cubicBezTo>
                      <a:pt x="424" y="467"/>
                      <a:pt x="424" y="467"/>
                      <a:pt x="424" y="467"/>
                    </a:cubicBezTo>
                    <a:cubicBezTo>
                      <a:pt x="435" y="477"/>
                      <a:pt x="435" y="477"/>
                      <a:pt x="435" y="477"/>
                    </a:cubicBezTo>
                    <a:cubicBezTo>
                      <a:pt x="446" y="482"/>
                      <a:pt x="446" y="482"/>
                      <a:pt x="446" y="482"/>
                    </a:cubicBezTo>
                    <a:cubicBezTo>
                      <a:pt x="446" y="482"/>
                      <a:pt x="444" y="490"/>
                      <a:pt x="446" y="490"/>
                    </a:cubicBezTo>
                    <a:cubicBezTo>
                      <a:pt x="448" y="491"/>
                      <a:pt x="465" y="486"/>
                      <a:pt x="465" y="486"/>
                    </a:cubicBezTo>
                    <a:cubicBezTo>
                      <a:pt x="473" y="494"/>
                      <a:pt x="473" y="494"/>
                      <a:pt x="473" y="494"/>
                    </a:cubicBezTo>
                    <a:cubicBezTo>
                      <a:pt x="473" y="479"/>
                      <a:pt x="473" y="479"/>
                      <a:pt x="473" y="479"/>
                    </a:cubicBezTo>
                    <a:cubicBezTo>
                      <a:pt x="494" y="443"/>
                      <a:pt x="494" y="443"/>
                      <a:pt x="494" y="443"/>
                    </a:cubicBezTo>
                    <a:cubicBezTo>
                      <a:pt x="500" y="407"/>
                      <a:pt x="500" y="407"/>
                      <a:pt x="500" y="407"/>
                    </a:cubicBezTo>
                    <a:cubicBezTo>
                      <a:pt x="510" y="398"/>
                      <a:pt x="510" y="398"/>
                      <a:pt x="510" y="398"/>
                    </a:cubicBezTo>
                    <a:cubicBezTo>
                      <a:pt x="525" y="394"/>
                      <a:pt x="525" y="394"/>
                      <a:pt x="525" y="394"/>
                    </a:cubicBezTo>
                    <a:cubicBezTo>
                      <a:pt x="541" y="385"/>
                      <a:pt x="541" y="385"/>
                      <a:pt x="541" y="385"/>
                    </a:cubicBezTo>
                    <a:cubicBezTo>
                      <a:pt x="552" y="392"/>
                      <a:pt x="552" y="392"/>
                      <a:pt x="552" y="392"/>
                    </a:cubicBezTo>
                    <a:cubicBezTo>
                      <a:pt x="552" y="425"/>
                      <a:pt x="552" y="425"/>
                      <a:pt x="552" y="425"/>
                    </a:cubicBezTo>
                    <a:cubicBezTo>
                      <a:pt x="560" y="426"/>
                      <a:pt x="560" y="426"/>
                      <a:pt x="560" y="426"/>
                    </a:cubicBezTo>
                    <a:cubicBezTo>
                      <a:pt x="572" y="400"/>
                      <a:pt x="572" y="400"/>
                      <a:pt x="572" y="400"/>
                    </a:cubicBezTo>
                    <a:cubicBezTo>
                      <a:pt x="582" y="375"/>
                      <a:pt x="582" y="375"/>
                      <a:pt x="582" y="375"/>
                    </a:cubicBezTo>
                    <a:cubicBezTo>
                      <a:pt x="576" y="342"/>
                      <a:pt x="576" y="342"/>
                      <a:pt x="576" y="342"/>
                    </a:cubicBezTo>
                    <a:cubicBezTo>
                      <a:pt x="590" y="342"/>
                      <a:pt x="590" y="342"/>
                      <a:pt x="590" y="342"/>
                    </a:cubicBezTo>
                    <a:cubicBezTo>
                      <a:pt x="616" y="342"/>
                      <a:pt x="616" y="342"/>
                      <a:pt x="616" y="342"/>
                    </a:cubicBezTo>
                    <a:cubicBezTo>
                      <a:pt x="629" y="360"/>
                      <a:pt x="629" y="360"/>
                      <a:pt x="629" y="360"/>
                    </a:cubicBezTo>
                    <a:cubicBezTo>
                      <a:pt x="637" y="362"/>
                      <a:pt x="637" y="362"/>
                      <a:pt x="637" y="362"/>
                    </a:cubicBezTo>
                    <a:cubicBezTo>
                      <a:pt x="648" y="335"/>
                      <a:pt x="648" y="335"/>
                      <a:pt x="648" y="335"/>
                    </a:cubicBezTo>
                    <a:cubicBezTo>
                      <a:pt x="632" y="312"/>
                      <a:pt x="632" y="312"/>
                      <a:pt x="632" y="312"/>
                    </a:cubicBezTo>
                    <a:cubicBezTo>
                      <a:pt x="634" y="277"/>
                      <a:pt x="634" y="277"/>
                      <a:pt x="634" y="277"/>
                    </a:cubicBezTo>
                    <a:cubicBezTo>
                      <a:pt x="626" y="265"/>
                      <a:pt x="626" y="265"/>
                      <a:pt x="626" y="265"/>
                    </a:cubicBezTo>
                    <a:cubicBezTo>
                      <a:pt x="595" y="268"/>
                      <a:pt x="595" y="268"/>
                      <a:pt x="595" y="268"/>
                    </a:cubicBezTo>
                    <a:cubicBezTo>
                      <a:pt x="584" y="262"/>
                      <a:pt x="584" y="262"/>
                      <a:pt x="584" y="262"/>
                    </a:cubicBezTo>
                    <a:cubicBezTo>
                      <a:pt x="551" y="261"/>
                      <a:pt x="551" y="261"/>
                      <a:pt x="551" y="261"/>
                    </a:cubicBezTo>
                    <a:cubicBezTo>
                      <a:pt x="552" y="240"/>
                      <a:pt x="552" y="240"/>
                      <a:pt x="552" y="240"/>
                    </a:cubicBezTo>
                    <a:cubicBezTo>
                      <a:pt x="536" y="248"/>
                      <a:pt x="536" y="248"/>
                      <a:pt x="536" y="248"/>
                    </a:cubicBezTo>
                    <a:cubicBezTo>
                      <a:pt x="516" y="243"/>
                      <a:pt x="516" y="243"/>
                      <a:pt x="516" y="243"/>
                    </a:cubicBezTo>
                    <a:cubicBezTo>
                      <a:pt x="475" y="226"/>
                      <a:pt x="475" y="226"/>
                      <a:pt x="475" y="226"/>
                    </a:cubicBezTo>
                    <a:cubicBezTo>
                      <a:pt x="454" y="214"/>
                      <a:pt x="454" y="214"/>
                      <a:pt x="454" y="214"/>
                    </a:cubicBezTo>
                    <a:cubicBezTo>
                      <a:pt x="446" y="218"/>
                      <a:pt x="446" y="218"/>
                      <a:pt x="446" y="218"/>
                    </a:cubicBezTo>
                    <a:cubicBezTo>
                      <a:pt x="449" y="239"/>
                      <a:pt x="449" y="239"/>
                      <a:pt x="449" y="239"/>
                    </a:cubicBezTo>
                    <a:cubicBezTo>
                      <a:pt x="451" y="259"/>
                      <a:pt x="451" y="259"/>
                      <a:pt x="451" y="259"/>
                    </a:cubicBezTo>
                    <a:cubicBezTo>
                      <a:pt x="435" y="270"/>
                      <a:pt x="435" y="270"/>
                      <a:pt x="435" y="270"/>
                    </a:cubicBezTo>
                    <a:cubicBezTo>
                      <a:pt x="411" y="282"/>
                      <a:pt x="411" y="282"/>
                      <a:pt x="411" y="282"/>
                    </a:cubicBezTo>
                    <a:cubicBezTo>
                      <a:pt x="397" y="285"/>
                      <a:pt x="397" y="285"/>
                      <a:pt x="397" y="285"/>
                    </a:cubicBezTo>
                    <a:cubicBezTo>
                      <a:pt x="386" y="294"/>
                      <a:pt x="386" y="294"/>
                      <a:pt x="386" y="294"/>
                    </a:cubicBezTo>
                    <a:cubicBezTo>
                      <a:pt x="367" y="289"/>
                      <a:pt x="367" y="289"/>
                      <a:pt x="367" y="289"/>
                    </a:cubicBezTo>
                    <a:cubicBezTo>
                      <a:pt x="360" y="289"/>
                      <a:pt x="360" y="289"/>
                      <a:pt x="360" y="289"/>
                    </a:cubicBezTo>
                    <a:cubicBezTo>
                      <a:pt x="339" y="281"/>
                      <a:pt x="339" y="281"/>
                      <a:pt x="339" y="281"/>
                    </a:cubicBezTo>
                    <a:cubicBezTo>
                      <a:pt x="323" y="284"/>
                      <a:pt x="323" y="284"/>
                      <a:pt x="323" y="284"/>
                    </a:cubicBezTo>
                    <a:cubicBezTo>
                      <a:pt x="299" y="277"/>
                      <a:pt x="299" y="277"/>
                      <a:pt x="299" y="277"/>
                    </a:cubicBezTo>
                    <a:cubicBezTo>
                      <a:pt x="284" y="284"/>
                      <a:pt x="284" y="284"/>
                      <a:pt x="284" y="284"/>
                    </a:cubicBezTo>
                    <a:cubicBezTo>
                      <a:pt x="282" y="283"/>
                      <a:pt x="282" y="283"/>
                      <a:pt x="282" y="283"/>
                    </a:cubicBezTo>
                    <a:cubicBezTo>
                      <a:pt x="279" y="254"/>
                      <a:pt x="279" y="254"/>
                      <a:pt x="279" y="254"/>
                    </a:cubicBezTo>
                    <a:cubicBezTo>
                      <a:pt x="284" y="238"/>
                      <a:pt x="284" y="238"/>
                      <a:pt x="284" y="238"/>
                    </a:cubicBezTo>
                    <a:cubicBezTo>
                      <a:pt x="288" y="207"/>
                      <a:pt x="288" y="207"/>
                      <a:pt x="288" y="207"/>
                    </a:cubicBezTo>
                    <a:cubicBezTo>
                      <a:pt x="296" y="194"/>
                      <a:pt x="296" y="194"/>
                      <a:pt x="296" y="194"/>
                    </a:cubicBezTo>
                    <a:cubicBezTo>
                      <a:pt x="305" y="189"/>
                      <a:pt x="305" y="189"/>
                      <a:pt x="305" y="189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56" y="139"/>
                      <a:pt x="256" y="139"/>
                      <a:pt x="256" y="139"/>
                    </a:cubicBezTo>
                    <a:cubicBezTo>
                      <a:pt x="223" y="129"/>
                      <a:pt x="223" y="129"/>
                      <a:pt x="223" y="129"/>
                    </a:cubicBezTo>
                    <a:cubicBezTo>
                      <a:pt x="220" y="87"/>
                      <a:pt x="220" y="87"/>
                      <a:pt x="220" y="87"/>
                    </a:cubicBezTo>
                    <a:cubicBezTo>
                      <a:pt x="227" y="60"/>
                      <a:pt x="227" y="60"/>
                      <a:pt x="227" y="60"/>
                    </a:cubicBezTo>
                    <a:cubicBezTo>
                      <a:pt x="216" y="34"/>
                      <a:pt x="216" y="34"/>
                      <a:pt x="216" y="34"/>
                    </a:cubicBezTo>
                    <a:cubicBezTo>
                      <a:pt x="168" y="34"/>
                      <a:pt x="168" y="34"/>
                      <a:pt x="168" y="34"/>
                    </a:cubicBezTo>
                    <a:cubicBezTo>
                      <a:pt x="162" y="23"/>
                      <a:pt x="162" y="23"/>
                      <a:pt x="162" y="23"/>
                    </a:cubicBezTo>
                    <a:cubicBezTo>
                      <a:pt x="140" y="33"/>
                      <a:pt x="140" y="33"/>
                      <a:pt x="140" y="33"/>
                    </a:cubicBezTo>
                    <a:cubicBezTo>
                      <a:pt x="140" y="33"/>
                      <a:pt x="110" y="33"/>
                      <a:pt x="107" y="28"/>
                    </a:cubicBezTo>
                    <a:cubicBezTo>
                      <a:pt x="104" y="22"/>
                      <a:pt x="101" y="11"/>
                      <a:pt x="101" y="11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23" y="7"/>
                      <a:pt x="23" y="7"/>
                      <a:pt x="23" y="7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621;g1e20f346e65_0_0">
                <a:extLst>
                  <a:ext uri="{FF2B5EF4-FFF2-40B4-BE49-F238E27FC236}">
                    <a16:creationId xmlns:a16="http://schemas.microsoft.com/office/drawing/2014/main" xmlns="" id="{5E6691E9-1B5A-8D4D-71FF-9BE27BB64256}"/>
                  </a:ext>
                </a:extLst>
              </p:cNvPr>
              <p:cNvSpPr/>
              <p:nvPr/>
            </p:nvSpPr>
            <p:spPr>
              <a:xfrm>
                <a:off x="6056005" y="1795109"/>
                <a:ext cx="455352" cy="469038"/>
              </a:xfrm>
              <a:custGeom>
                <a:avLst/>
                <a:gdLst/>
                <a:ahLst/>
                <a:cxnLst/>
                <a:rect l="l" t="t" r="r" b="b"/>
                <a:pathLst>
                  <a:path w="441" h="482" extrusionOk="0">
                    <a:moveTo>
                      <a:pt x="146" y="0"/>
                    </a:moveTo>
                    <a:lnTo>
                      <a:pt x="137" y="16"/>
                    </a:lnTo>
                    <a:lnTo>
                      <a:pt x="121" y="37"/>
                    </a:lnTo>
                    <a:lnTo>
                      <a:pt x="115" y="57"/>
                    </a:lnTo>
                    <a:lnTo>
                      <a:pt x="100" y="66"/>
                    </a:lnTo>
                    <a:lnTo>
                      <a:pt x="77" y="66"/>
                    </a:lnTo>
                    <a:lnTo>
                      <a:pt x="77" y="78"/>
                    </a:lnTo>
                    <a:lnTo>
                      <a:pt x="91" y="118"/>
                    </a:lnTo>
                    <a:lnTo>
                      <a:pt x="85" y="140"/>
                    </a:lnTo>
                    <a:lnTo>
                      <a:pt x="87" y="174"/>
                    </a:lnTo>
                    <a:lnTo>
                      <a:pt x="94" y="228"/>
                    </a:lnTo>
                    <a:lnTo>
                      <a:pt x="87" y="257"/>
                    </a:lnTo>
                    <a:lnTo>
                      <a:pt x="70" y="276"/>
                    </a:lnTo>
                    <a:lnTo>
                      <a:pt x="58" y="304"/>
                    </a:lnTo>
                    <a:lnTo>
                      <a:pt x="57" y="323"/>
                    </a:lnTo>
                    <a:lnTo>
                      <a:pt x="27" y="364"/>
                    </a:lnTo>
                    <a:lnTo>
                      <a:pt x="15" y="390"/>
                    </a:lnTo>
                    <a:lnTo>
                      <a:pt x="6" y="402"/>
                    </a:lnTo>
                    <a:lnTo>
                      <a:pt x="3" y="437"/>
                    </a:lnTo>
                    <a:lnTo>
                      <a:pt x="0" y="468"/>
                    </a:lnTo>
                    <a:lnTo>
                      <a:pt x="0" y="477"/>
                    </a:lnTo>
                    <a:lnTo>
                      <a:pt x="13" y="477"/>
                    </a:lnTo>
                    <a:lnTo>
                      <a:pt x="56" y="482"/>
                    </a:lnTo>
                    <a:lnTo>
                      <a:pt x="69" y="473"/>
                    </a:lnTo>
                    <a:lnTo>
                      <a:pt x="88" y="476"/>
                    </a:lnTo>
                    <a:lnTo>
                      <a:pt x="99" y="482"/>
                    </a:lnTo>
                    <a:lnTo>
                      <a:pt x="145" y="468"/>
                    </a:lnTo>
                    <a:lnTo>
                      <a:pt x="174" y="444"/>
                    </a:lnTo>
                    <a:lnTo>
                      <a:pt x="194" y="441"/>
                    </a:lnTo>
                    <a:lnTo>
                      <a:pt x="223" y="452"/>
                    </a:lnTo>
                    <a:lnTo>
                      <a:pt x="248" y="462"/>
                    </a:lnTo>
                    <a:lnTo>
                      <a:pt x="285" y="462"/>
                    </a:lnTo>
                    <a:lnTo>
                      <a:pt x="291" y="466"/>
                    </a:lnTo>
                    <a:lnTo>
                      <a:pt x="298" y="460"/>
                    </a:lnTo>
                    <a:lnTo>
                      <a:pt x="336" y="408"/>
                    </a:lnTo>
                    <a:lnTo>
                      <a:pt x="363" y="393"/>
                    </a:lnTo>
                    <a:lnTo>
                      <a:pt x="407" y="394"/>
                    </a:lnTo>
                    <a:lnTo>
                      <a:pt x="435" y="382"/>
                    </a:lnTo>
                    <a:lnTo>
                      <a:pt x="441" y="352"/>
                    </a:lnTo>
                    <a:lnTo>
                      <a:pt x="432" y="319"/>
                    </a:lnTo>
                    <a:lnTo>
                      <a:pt x="419" y="279"/>
                    </a:lnTo>
                    <a:lnTo>
                      <a:pt x="420" y="278"/>
                    </a:lnTo>
                    <a:lnTo>
                      <a:pt x="420" y="278"/>
                    </a:lnTo>
                    <a:lnTo>
                      <a:pt x="394" y="293"/>
                    </a:lnTo>
                    <a:lnTo>
                      <a:pt x="358" y="301"/>
                    </a:lnTo>
                    <a:lnTo>
                      <a:pt x="344" y="282"/>
                    </a:lnTo>
                    <a:lnTo>
                      <a:pt x="349" y="262"/>
                    </a:lnTo>
                    <a:lnTo>
                      <a:pt x="346" y="212"/>
                    </a:lnTo>
                    <a:lnTo>
                      <a:pt x="341" y="193"/>
                    </a:lnTo>
                    <a:lnTo>
                      <a:pt x="336" y="164"/>
                    </a:lnTo>
                    <a:lnTo>
                      <a:pt x="306" y="127"/>
                    </a:lnTo>
                    <a:lnTo>
                      <a:pt x="267" y="118"/>
                    </a:lnTo>
                    <a:lnTo>
                      <a:pt x="252" y="120"/>
                    </a:lnTo>
                    <a:lnTo>
                      <a:pt x="232" y="148"/>
                    </a:lnTo>
                    <a:lnTo>
                      <a:pt x="202" y="132"/>
                    </a:lnTo>
                    <a:lnTo>
                      <a:pt x="204" y="115"/>
                    </a:lnTo>
                    <a:lnTo>
                      <a:pt x="225" y="75"/>
                    </a:lnTo>
                    <a:lnTo>
                      <a:pt x="232" y="53"/>
                    </a:lnTo>
                    <a:lnTo>
                      <a:pt x="231" y="39"/>
                    </a:lnTo>
                    <a:lnTo>
                      <a:pt x="202" y="37"/>
                    </a:lnTo>
                    <a:lnTo>
                      <a:pt x="181" y="25"/>
                    </a:lnTo>
                    <a:lnTo>
                      <a:pt x="146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622;g1e20f346e65_0_0">
                <a:extLst>
                  <a:ext uri="{FF2B5EF4-FFF2-40B4-BE49-F238E27FC236}">
                    <a16:creationId xmlns:a16="http://schemas.microsoft.com/office/drawing/2014/main" xmlns="" id="{F86D05D7-E169-F6C1-F85D-5A947A4E003A}"/>
                  </a:ext>
                </a:extLst>
              </p:cNvPr>
              <p:cNvSpPr/>
              <p:nvPr/>
            </p:nvSpPr>
            <p:spPr>
              <a:xfrm>
                <a:off x="5804063" y="2224251"/>
                <a:ext cx="692840" cy="617924"/>
              </a:xfrm>
              <a:custGeom>
                <a:avLst/>
                <a:gdLst/>
                <a:ahLst/>
                <a:cxnLst/>
                <a:rect l="l" t="t" r="r" b="b"/>
                <a:pathLst>
                  <a:path w="510" h="482" extrusionOk="0">
                    <a:moveTo>
                      <a:pt x="333" y="0"/>
                    </a:moveTo>
                    <a:cubicBezTo>
                      <a:pt x="318" y="2"/>
                      <a:pt x="318" y="2"/>
                      <a:pt x="318" y="2"/>
                    </a:cubicBezTo>
                    <a:cubicBezTo>
                      <a:pt x="296" y="20"/>
                      <a:pt x="296" y="20"/>
                      <a:pt x="296" y="20"/>
                    </a:cubicBezTo>
                    <a:cubicBezTo>
                      <a:pt x="261" y="31"/>
                      <a:pt x="261" y="31"/>
                      <a:pt x="261" y="31"/>
                    </a:cubicBezTo>
                    <a:cubicBezTo>
                      <a:pt x="253" y="26"/>
                      <a:pt x="253" y="26"/>
                      <a:pt x="253" y="26"/>
                    </a:cubicBezTo>
                    <a:cubicBezTo>
                      <a:pt x="238" y="24"/>
                      <a:pt x="238" y="24"/>
                      <a:pt x="238" y="24"/>
                    </a:cubicBezTo>
                    <a:cubicBezTo>
                      <a:pt x="228" y="31"/>
                      <a:pt x="228" y="31"/>
                      <a:pt x="228" y="31"/>
                    </a:cubicBezTo>
                    <a:cubicBezTo>
                      <a:pt x="196" y="27"/>
                      <a:pt x="196" y="27"/>
                      <a:pt x="196" y="27"/>
                    </a:cubicBezTo>
                    <a:cubicBezTo>
                      <a:pt x="186" y="27"/>
                      <a:pt x="186" y="27"/>
                      <a:pt x="186" y="27"/>
                    </a:cubicBezTo>
                    <a:cubicBezTo>
                      <a:pt x="186" y="52"/>
                      <a:pt x="186" y="52"/>
                      <a:pt x="186" y="52"/>
                    </a:cubicBezTo>
                    <a:cubicBezTo>
                      <a:pt x="174" y="86"/>
                      <a:pt x="174" y="86"/>
                      <a:pt x="174" y="86"/>
                    </a:cubicBez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9" y="118"/>
                      <a:pt x="159" y="118"/>
                      <a:pt x="159" y="118"/>
                    </a:cubicBezTo>
                    <a:cubicBezTo>
                      <a:pt x="163" y="137"/>
                      <a:pt x="163" y="137"/>
                      <a:pt x="163" y="137"/>
                    </a:cubicBezTo>
                    <a:cubicBezTo>
                      <a:pt x="167" y="160"/>
                      <a:pt x="167" y="160"/>
                      <a:pt x="167" y="160"/>
                    </a:cubicBezTo>
                    <a:cubicBezTo>
                      <a:pt x="164" y="166"/>
                      <a:pt x="164" y="166"/>
                      <a:pt x="164" y="166"/>
                    </a:cubicBezTo>
                    <a:cubicBezTo>
                      <a:pt x="174" y="184"/>
                      <a:pt x="174" y="184"/>
                      <a:pt x="174" y="184"/>
                    </a:cubicBezTo>
                    <a:cubicBezTo>
                      <a:pt x="172" y="198"/>
                      <a:pt x="172" y="198"/>
                      <a:pt x="172" y="198"/>
                    </a:cubicBezTo>
                    <a:cubicBezTo>
                      <a:pt x="157" y="212"/>
                      <a:pt x="157" y="212"/>
                      <a:pt x="157" y="212"/>
                    </a:cubicBezTo>
                    <a:cubicBezTo>
                      <a:pt x="146" y="243"/>
                      <a:pt x="146" y="243"/>
                      <a:pt x="146" y="243"/>
                    </a:cubicBezTo>
                    <a:cubicBezTo>
                      <a:pt x="145" y="266"/>
                      <a:pt x="145" y="266"/>
                      <a:pt x="145" y="266"/>
                    </a:cubicBezTo>
                    <a:cubicBezTo>
                      <a:pt x="145" y="293"/>
                      <a:pt x="145" y="293"/>
                      <a:pt x="145" y="293"/>
                    </a:cubicBezTo>
                    <a:cubicBezTo>
                      <a:pt x="134" y="320"/>
                      <a:pt x="134" y="320"/>
                      <a:pt x="134" y="320"/>
                    </a:cubicBezTo>
                    <a:cubicBezTo>
                      <a:pt x="109" y="345"/>
                      <a:pt x="109" y="345"/>
                      <a:pt x="109" y="345"/>
                    </a:cubicBezTo>
                    <a:cubicBezTo>
                      <a:pt x="89" y="360"/>
                      <a:pt x="89" y="360"/>
                      <a:pt x="89" y="360"/>
                    </a:cubicBezTo>
                    <a:cubicBezTo>
                      <a:pt x="76" y="360"/>
                      <a:pt x="76" y="360"/>
                      <a:pt x="76" y="360"/>
                    </a:cubicBezTo>
                    <a:cubicBezTo>
                      <a:pt x="46" y="380"/>
                      <a:pt x="46" y="380"/>
                      <a:pt x="46" y="380"/>
                    </a:cubicBezTo>
                    <a:cubicBezTo>
                      <a:pt x="32" y="401"/>
                      <a:pt x="32" y="401"/>
                      <a:pt x="32" y="401"/>
                    </a:cubicBezTo>
                    <a:cubicBezTo>
                      <a:pt x="0" y="459"/>
                      <a:pt x="0" y="459"/>
                      <a:pt x="0" y="459"/>
                    </a:cubicBezTo>
                    <a:cubicBezTo>
                      <a:pt x="11" y="471"/>
                      <a:pt x="11" y="471"/>
                      <a:pt x="11" y="471"/>
                    </a:cubicBezTo>
                    <a:cubicBezTo>
                      <a:pt x="20" y="482"/>
                      <a:pt x="20" y="482"/>
                      <a:pt x="20" y="482"/>
                    </a:cubicBezTo>
                    <a:cubicBezTo>
                      <a:pt x="48" y="478"/>
                      <a:pt x="48" y="478"/>
                      <a:pt x="48" y="478"/>
                    </a:cubicBezTo>
                    <a:cubicBezTo>
                      <a:pt x="50" y="462"/>
                      <a:pt x="50" y="462"/>
                      <a:pt x="50" y="462"/>
                    </a:cubicBezTo>
                    <a:cubicBezTo>
                      <a:pt x="39" y="456"/>
                      <a:pt x="39" y="456"/>
                      <a:pt x="39" y="456"/>
                    </a:cubicBezTo>
                    <a:cubicBezTo>
                      <a:pt x="42" y="451"/>
                      <a:pt x="42" y="451"/>
                      <a:pt x="42" y="451"/>
                    </a:cubicBezTo>
                    <a:cubicBezTo>
                      <a:pt x="67" y="454"/>
                      <a:pt x="67" y="454"/>
                      <a:pt x="67" y="454"/>
                    </a:cubicBezTo>
                    <a:cubicBezTo>
                      <a:pt x="97" y="445"/>
                      <a:pt x="97" y="445"/>
                      <a:pt x="97" y="445"/>
                    </a:cubicBezTo>
                    <a:cubicBezTo>
                      <a:pt x="106" y="429"/>
                      <a:pt x="106" y="429"/>
                      <a:pt x="106" y="429"/>
                    </a:cubicBezTo>
                    <a:cubicBezTo>
                      <a:pt x="138" y="418"/>
                      <a:pt x="138" y="418"/>
                      <a:pt x="138" y="418"/>
                    </a:cubicBezTo>
                    <a:cubicBezTo>
                      <a:pt x="156" y="408"/>
                      <a:pt x="156" y="408"/>
                      <a:pt x="156" y="408"/>
                    </a:cubicBezTo>
                    <a:cubicBezTo>
                      <a:pt x="173" y="409"/>
                      <a:pt x="173" y="409"/>
                      <a:pt x="173" y="409"/>
                    </a:cubicBezTo>
                    <a:cubicBezTo>
                      <a:pt x="194" y="392"/>
                      <a:pt x="194" y="392"/>
                      <a:pt x="194" y="392"/>
                    </a:cubicBezTo>
                    <a:cubicBezTo>
                      <a:pt x="198" y="375"/>
                      <a:pt x="198" y="375"/>
                      <a:pt x="198" y="375"/>
                    </a:cubicBezTo>
                    <a:cubicBezTo>
                      <a:pt x="222" y="376"/>
                      <a:pt x="222" y="376"/>
                      <a:pt x="222" y="376"/>
                    </a:cubicBezTo>
                    <a:cubicBezTo>
                      <a:pt x="235" y="391"/>
                      <a:pt x="235" y="391"/>
                      <a:pt x="235" y="391"/>
                    </a:cubicBezTo>
                    <a:cubicBezTo>
                      <a:pt x="255" y="393"/>
                      <a:pt x="255" y="393"/>
                      <a:pt x="255" y="393"/>
                    </a:cubicBezTo>
                    <a:cubicBezTo>
                      <a:pt x="275" y="390"/>
                      <a:pt x="275" y="390"/>
                      <a:pt x="275" y="390"/>
                    </a:cubicBezTo>
                    <a:cubicBezTo>
                      <a:pt x="266" y="380"/>
                      <a:pt x="266" y="380"/>
                      <a:pt x="266" y="380"/>
                    </a:cubicBezTo>
                    <a:cubicBezTo>
                      <a:pt x="267" y="370"/>
                      <a:pt x="267" y="370"/>
                      <a:pt x="267" y="370"/>
                    </a:cubicBezTo>
                    <a:cubicBezTo>
                      <a:pt x="279" y="377"/>
                      <a:pt x="279" y="377"/>
                      <a:pt x="279" y="377"/>
                    </a:cubicBezTo>
                    <a:cubicBezTo>
                      <a:pt x="275" y="363"/>
                      <a:pt x="275" y="363"/>
                      <a:pt x="275" y="363"/>
                    </a:cubicBezTo>
                    <a:cubicBezTo>
                      <a:pt x="266" y="359"/>
                      <a:pt x="266" y="359"/>
                      <a:pt x="266" y="359"/>
                    </a:cubicBezTo>
                    <a:cubicBezTo>
                      <a:pt x="274" y="335"/>
                      <a:pt x="274" y="335"/>
                      <a:pt x="274" y="335"/>
                    </a:cubicBezTo>
                    <a:cubicBezTo>
                      <a:pt x="288" y="337"/>
                      <a:pt x="288" y="337"/>
                      <a:pt x="288" y="337"/>
                    </a:cubicBezTo>
                    <a:cubicBezTo>
                      <a:pt x="303" y="330"/>
                      <a:pt x="303" y="330"/>
                      <a:pt x="303" y="330"/>
                    </a:cubicBezTo>
                    <a:cubicBezTo>
                      <a:pt x="312" y="357"/>
                      <a:pt x="312" y="357"/>
                      <a:pt x="312" y="357"/>
                    </a:cubicBezTo>
                    <a:cubicBezTo>
                      <a:pt x="339" y="390"/>
                      <a:pt x="339" y="390"/>
                      <a:pt x="339" y="390"/>
                    </a:cubicBezTo>
                    <a:cubicBezTo>
                      <a:pt x="346" y="413"/>
                      <a:pt x="346" y="413"/>
                      <a:pt x="346" y="413"/>
                    </a:cubicBezTo>
                    <a:cubicBezTo>
                      <a:pt x="350" y="417"/>
                      <a:pt x="350" y="417"/>
                      <a:pt x="350" y="417"/>
                    </a:cubicBezTo>
                    <a:cubicBezTo>
                      <a:pt x="377" y="398"/>
                      <a:pt x="377" y="398"/>
                      <a:pt x="377" y="398"/>
                    </a:cubicBezTo>
                    <a:cubicBezTo>
                      <a:pt x="377" y="369"/>
                      <a:pt x="377" y="369"/>
                      <a:pt x="377" y="369"/>
                    </a:cubicBezTo>
                    <a:cubicBezTo>
                      <a:pt x="380" y="365"/>
                      <a:pt x="380" y="365"/>
                      <a:pt x="380" y="365"/>
                    </a:cubicBezTo>
                    <a:cubicBezTo>
                      <a:pt x="403" y="391"/>
                      <a:pt x="403" y="391"/>
                      <a:pt x="403" y="391"/>
                    </a:cubicBezTo>
                    <a:cubicBezTo>
                      <a:pt x="403" y="391"/>
                      <a:pt x="422" y="381"/>
                      <a:pt x="427" y="381"/>
                    </a:cubicBezTo>
                    <a:cubicBezTo>
                      <a:pt x="432" y="381"/>
                      <a:pt x="441" y="381"/>
                      <a:pt x="441" y="381"/>
                    </a:cubicBezTo>
                    <a:cubicBezTo>
                      <a:pt x="451" y="351"/>
                      <a:pt x="451" y="351"/>
                      <a:pt x="451" y="351"/>
                    </a:cubicBezTo>
                    <a:cubicBezTo>
                      <a:pt x="462" y="343"/>
                      <a:pt x="462" y="343"/>
                      <a:pt x="462" y="343"/>
                    </a:cubicBezTo>
                    <a:cubicBezTo>
                      <a:pt x="460" y="329"/>
                      <a:pt x="460" y="329"/>
                      <a:pt x="460" y="329"/>
                    </a:cubicBezTo>
                    <a:cubicBezTo>
                      <a:pt x="445" y="316"/>
                      <a:pt x="445" y="316"/>
                      <a:pt x="445" y="316"/>
                    </a:cubicBezTo>
                    <a:cubicBezTo>
                      <a:pt x="434" y="292"/>
                      <a:pt x="434" y="292"/>
                      <a:pt x="434" y="292"/>
                    </a:cubicBezTo>
                    <a:cubicBezTo>
                      <a:pt x="413" y="279"/>
                      <a:pt x="413" y="279"/>
                      <a:pt x="413" y="279"/>
                    </a:cubicBezTo>
                    <a:cubicBezTo>
                      <a:pt x="412" y="266"/>
                      <a:pt x="412" y="266"/>
                      <a:pt x="412" y="266"/>
                    </a:cubicBezTo>
                    <a:cubicBezTo>
                      <a:pt x="422" y="262"/>
                      <a:pt x="422" y="262"/>
                      <a:pt x="422" y="262"/>
                    </a:cubicBezTo>
                    <a:cubicBezTo>
                      <a:pt x="439" y="262"/>
                      <a:pt x="439" y="262"/>
                      <a:pt x="439" y="262"/>
                    </a:cubicBezTo>
                    <a:cubicBezTo>
                      <a:pt x="456" y="275"/>
                      <a:pt x="456" y="275"/>
                      <a:pt x="456" y="275"/>
                    </a:cubicBezTo>
                    <a:cubicBezTo>
                      <a:pt x="467" y="269"/>
                      <a:pt x="467" y="269"/>
                      <a:pt x="467" y="269"/>
                    </a:cubicBezTo>
                    <a:cubicBezTo>
                      <a:pt x="471" y="257"/>
                      <a:pt x="471" y="257"/>
                      <a:pt x="471" y="257"/>
                    </a:cubicBezTo>
                    <a:cubicBezTo>
                      <a:pt x="493" y="245"/>
                      <a:pt x="493" y="245"/>
                      <a:pt x="493" y="245"/>
                    </a:cubicBezTo>
                    <a:cubicBezTo>
                      <a:pt x="491" y="226"/>
                      <a:pt x="491" y="226"/>
                      <a:pt x="491" y="226"/>
                    </a:cubicBezTo>
                    <a:cubicBezTo>
                      <a:pt x="462" y="206"/>
                      <a:pt x="462" y="206"/>
                      <a:pt x="462" y="206"/>
                    </a:cubicBezTo>
                    <a:cubicBezTo>
                      <a:pt x="464" y="195"/>
                      <a:pt x="464" y="195"/>
                      <a:pt x="464" y="195"/>
                    </a:cubicBezTo>
                    <a:cubicBezTo>
                      <a:pt x="483" y="175"/>
                      <a:pt x="483" y="175"/>
                      <a:pt x="483" y="175"/>
                    </a:cubicBezTo>
                    <a:cubicBezTo>
                      <a:pt x="490" y="158"/>
                      <a:pt x="490" y="158"/>
                      <a:pt x="490" y="158"/>
                    </a:cubicBezTo>
                    <a:cubicBezTo>
                      <a:pt x="486" y="144"/>
                      <a:pt x="486" y="144"/>
                      <a:pt x="486" y="144"/>
                    </a:cubicBezTo>
                    <a:cubicBezTo>
                      <a:pt x="485" y="120"/>
                      <a:pt x="485" y="120"/>
                      <a:pt x="485" y="120"/>
                    </a:cubicBezTo>
                    <a:cubicBezTo>
                      <a:pt x="510" y="107"/>
                      <a:pt x="510" y="107"/>
                      <a:pt x="510" y="107"/>
                    </a:cubicBezTo>
                    <a:cubicBezTo>
                      <a:pt x="510" y="107"/>
                      <a:pt x="510" y="107"/>
                      <a:pt x="510" y="107"/>
                    </a:cubicBezTo>
                    <a:cubicBezTo>
                      <a:pt x="504" y="85"/>
                      <a:pt x="504" y="85"/>
                      <a:pt x="504" y="85"/>
                    </a:cubicBezTo>
                    <a:cubicBezTo>
                      <a:pt x="504" y="60"/>
                      <a:pt x="504" y="60"/>
                      <a:pt x="504" y="60"/>
                    </a:cubicBezTo>
                    <a:cubicBezTo>
                      <a:pt x="489" y="52"/>
                      <a:pt x="489" y="52"/>
                      <a:pt x="489" y="52"/>
                    </a:cubicBezTo>
                    <a:cubicBezTo>
                      <a:pt x="455" y="47"/>
                      <a:pt x="455" y="47"/>
                      <a:pt x="455" y="47"/>
                    </a:cubicBezTo>
                    <a:cubicBezTo>
                      <a:pt x="436" y="49"/>
                      <a:pt x="436" y="49"/>
                      <a:pt x="436" y="49"/>
                    </a:cubicBezTo>
                    <a:cubicBezTo>
                      <a:pt x="425" y="60"/>
                      <a:pt x="425" y="60"/>
                      <a:pt x="425" y="60"/>
                    </a:cubicBezTo>
                    <a:cubicBezTo>
                      <a:pt x="402" y="71"/>
                      <a:pt x="402" y="71"/>
                      <a:pt x="402" y="71"/>
                    </a:cubicBezTo>
                    <a:cubicBezTo>
                      <a:pt x="358" y="79"/>
                      <a:pt x="358" y="79"/>
                      <a:pt x="358" y="79"/>
                    </a:cubicBezTo>
                    <a:cubicBezTo>
                      <a:pt x="339" y="86"/>
                      <a:pt x="339" y="86"/>
                      <a:pt x="339" y="86"/>
                    </a:cubicBezTo>
                    <a:cubicBezTo>
                      <a:pt x="340" y="64"/>
                      <a:pt x="340" y="64"/>
                      <a:pt x="340" y="64"/>
                    </a:cubicBezTo>
                    <a:cubicBezTo>
                      <a:pt x="358" y="46"/>
                      <a:pt x="358" y="46"/>
                      <a:pt x="358" y="46"/>
                    </a:cubicBezTo>
                    <a:cubicBezTo>
                      <a:pt x="375" y="37"/>
                      <a:pt x="375" y="37"/>
                      <a:pt x="375" y="37"/>
                    </a:cubicBezTo>
                    <a:cubicBezTo>
                      <a:pt x="402" y="24"/>
                      <a:pt x="402" y="24"/>
                      <a:pt x="402" y="24"/>
                    </a:cubicBezTo>
                    <a:cubicBezTo>
                      <a:pt x="407" y="19"/>
                      <a:pt x="407" y="19"/>
                      <a:pt x="407" y="19"/>
                    </a:cubicBezTo>
                    <a:cubicBezTo>
                      <a:pt x="402" y="16"/>
                      <a:pt x="402" y="16"/>
                      <a:pt x="402" y="16"/>
                    </a:cubicBezTo>
                    <a:cubicBezTo>
                      <a:pt x="374" y="16"/>
                      <a:pt x="374" y="16"/>
                      <a:pt x="374" y="16"/>
                    </a:cubicBezTo>
                    <a:cubicBezTo>
                      <a:pt x="355" y="8"/>
                      <a:pt x="355" y="8"/>
                      <a:pt x="355" y="8"/>
                    </a:cubicBezTo>
                    <a:lnTo>
                      <a:pt x="333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623;g1e20f346e65_0_0">
                <a:extLst>
                  <a:ext uri="{FF2B5EF4-FFF2-40B4-BE49-F238E27FC236}">
                    <a16:creationId xmlns:a16="http://schemas.microsoft.com/office/drawing/2014/main" xmlns="" id="{49AF86CD-7580-2A46-A22E-E26C0186D51B}"/>
                  </a:ext>
                </a:extLst>
              </p:cNvPr>
              <p:cNvSpPr/>
              <p:nvPr/>
            </p:nvSpPr>
            <p:spPr>
              <a:xfrm>
                <a:off x="5735915" y="3190548"/>
                <a:ext cx="625725" cy="583865"/>
              </a:xfrm>
              <a:custGeom>
                <a:avLst/>
                <a:gdLst/>
                <a:ahLst/>
                <a:cxnLst/>
                <a:rect l="l" t="t" r="r" b="b"/>
                <a:pathLst>
                  <a:path w="606" h="600" extrusionOk="0">
                    <a:moveTo>
                      <a:pt x="120" y="0"/>
                    </a:moveTo>
                    <a:lnTo>
                      <a:pt x="97" y="9"/>
                    </a:lnTo>
                    <a:lnTo>
                      <a:pt x="79" y="14"/>
                    </a:lnTo>
                    <a:lnTo>
                      <a:pt x="81" y="33"/>
                    </a:lnTo>
                    <a:lnTo>
                      <a:pt x="71" y="35"/>
                    </a:lnTo>
                    <a:lnTo>
                      <a:pt x="48" y="76"/>
                    </a:lnTo>
                    <a:lnTo>
                      <a:pt x="47" y="98"/>
                    </a:lnTo>
                    <a:lnTo>
                      <a:pt x="30" y="152"/>
                    </a:lnTo>
                    <a:lnTo>
                      <a:pt x="18" y="156"/>
                    </a:lnTo>
                    <a:lnTo>
                      <a:pt x="9" y="193"/>
                    </a:lnTo>
                    <a:lnTo>
                      <a:pt x="8" y="217"/>
                    </a:lnTo>
                    <a:lnTo>
                      <a:pt x="0" y="230"/>
                    </a:lnTo>
                    <a:lnTo>
                      <a:pt x="0" y="242"/>
                    </a:lnTo>
                    <a:lnTo>
                      <a:pt x="41" y="242"/>
                    </a:lnTo>
                    <a:lnTo>
                      <a:pt x="54" y="250"/>
                    </a:lnTo>
                    <a:lnTo>
                      <a:pt x="67" y="242"/>
                    </a:lnTo>
                    <a:lnTo>
                      <a:pt x="77" y="252"/>
                    </a:lnTo>
                    <a:lnTo>
                      <a:pt x="80" y="275"/>
                    </a:lnTo>
                    <a:lnTo>
                      <a:pt x="98" y="290"/>
                    </a:lnTo>
                    <a:lnTo>
                      <a:pt x="96" y="325"/>
                    </a:lnTo>
                    <a:lnTo>
                      <a:pt x="121" y="389"/>
                    </a:lnTo>
                    <a:lnTo>
                      <a:pt x="137" y="410"/>
                    </a:lnTo>
                    <a:lnTo>
                      <a:pt x="134" y="435"/>
                    </a:lnTo>
                    <a:lnTo>
                      <a:pt x="141" y="462"/>
                    </a:lnTo>
                    <a:lnTo>
                      <a:pt x="160" y="480"/>
                    </a:lnTo>
                    <a:lnTo>
                      <a:pt x="176" y="502"/>
                    </a:lnTo>
                    <a:lnTo>
                      <a:pt x="189" y="521"/>
                    </a:lnTo>
                    <a:lnTo>
                      <a:pt x="193" y="535"/>
                    </a:lnTo>
                    <a:lnTo>
                      <a:pt x="222" y="583"/>
                    </a:lnTo>
                    <a:lnTo>
                      <a:pt x="233" y="600"/>
                    </a:lnTo>
                    <a:lnTo>
                      <a:pt x="247" y="593"/>
                    </a:lnTo>
                    <a:lnTo>
                      <a:pt x="266" y="596"/>
                    </a:lnTo>
                    <a:lnTo>
                      <a:pt x="279" y="592"/>
                    </a:lnTo>
                    <a:lnTo>
                      <a:pt x="292" y="594"/>
                    </a:lnTo>
                    <a:lnTo>
                      <a:pt x="318" y="596"/>
                    </a:lnTo>
                    <a:lnTo>
                      <a:pt x="314" y="583"/>
                    </a:lnTo>
                    <a:lnTo>
                      <a:pt x="346" y="577"/>
                    </a:lnTo>
                    <a:lnTo>
                      <a:pt x="355" y="581"/>
                    </a:lnTo>
                    <a:lnTo>
                      <a:pt x="360" y="577"/>
                    </a:lnTo>
                    <a:lnTo>
                      <a:pt x="384" y="579"/>
                    </a:lnTo>
                    <a:lnTo>
                      <a:pt x="380" y="567"/>
                    </a:lnTo>
                    <a:lnTo>
                      <a:pt x="421" y="568"/>
                    </a:lnTo>
                    <a:lnTo>
                      <a:pt x="426" y="580"/>
                    </a:lnTo>
                    <a:lnTo>
                      <a:pt x="520" y="580"/>
                    </a:lnTo>
                    <a:lnTo>
                      <a:pt x="513" y="572"/>
                    </a:lnTo>
                    <a:lnTo>
                      <a:pt x="521" y="531"/>
                    </a:lnTo>
                    <a:lnTo>
                      <a:pt x="514" y="513"/>
                    </a:lnTo>
                    <a:lnTo>
                      <a:pt x="529" y="512"/>
                    </a:lnTo>
                    <a:lnTo>
                      <a:pt x="541" y="500"/>
                    </a:lnTo>
                    <a:lnTo>
                      <a:pt x="537" y="451"/>
                    </a:lnTo>
                    <a:lnTo>
                      <a:pt x="547" y="434"/>
                    </a:lnTo>
                    <a:lnTo>
                      <a:pt x="542" y="421"/>
                    </a:lnTo>
                    <a:lnTo>
                      <a:pt x="606" y="419"/>
                    </a:lnTo>
                    <a:lnTo>
                      <a:pt x="602" y="401"/>
                    </a:lnTo>
                    <a:lnTo>
                      <a:pt x="570" y="369"/>
                    </a:lnTo>
                    <a:lnTo>
                      <a:pt x="567" y="327"/>
                    </a:lnTo>
                    <a:lnTo>
                      <a:pt x="552" y="333"/>
                    </a:lnTo>
                    <a:lnTo>
                      <a:pt x="533" y="334"/>
                    </a:lnTo>
                    <a:lnTo>
                      <a:pt x="530" y="313"/>
                    </a:lnTo>
                    <a:lnTo>
                      <a:pt x="513" y="319"/>
                    </a:lnTo>
                    <a:lnTo>
                      <a:pt x="496" y="312"/>
                    </a:lnTo>
                    <a:lnTo>
                      <a:pt x="498" y="301"/>
                    </a:lnTo>
                    <a:lnTo>
                      <a:pt x="470" y="305"/>
                    </a:lnTo>
                    <a:lnTo>
                      <a:pt x="445" y="325"/>
                    </a:lnTo>
                    <a:lnTo>
                      <a:pt x="421" y="310"/>
                    </a:lnTo>
                    <a:lnTo>
                      <a:pt x="409" y="288"/>
                    </a:lnTo>
                    <a:lnTo>
                      <a:pt x="389" y="283"/>
                    </a:lnTo>
                    <a:lnTo>
                      <a:pt x="381" y="256"/>
                    </a:lnTo>
                    <a:lnTo>
                      <a:pt x="343" y="246"/>
                    </a:lnTo>
                    <a:lnTo>
                      <a:pt x="318" y="254"/>
                    </a:lnTo>
                    <a:lnTo>
                      <a:pt x="309" y="256"/>
                    </a:lnTo>
                    <a:lnTo>
                      <a:pt x="306" y="233"/>
                    </a:lnTo>
                    <a:lnTo>
                      <a:pt x="273" y="227"/>
                    </a:lnTo>
                    <a:lnTo>
                      <a:pt x="252" y="235"/>
                    </a:lnTo>
                    <a:lnTo>
                      <a:pt x="220" y="221"/>
                    </a:lnTo>
                    <a:lnTo>
                      <a:pt x="214" y="192"/>
                    </a:lnTo>
                    <a:lnTo>
                      <a:pt x="223" y="169"/>
                    </a:lnTo>
                    <a:lnTo>
                      <a:pt x="214" y="148"/>
                    </a:lnTo>
                    <a:lnTo>
                      <a:pt x="227" y="122"/>
                    </a:lnTo>
                    <a:lnTo>
                      <a:pt x="227" y="86"/>
                    </a:lnTo>
                    <a:lnTo>
                      <a:pt x="223" y="67"/>
                    </a:lnTo>
                    <a:lnTo>
                      <a:pt x="242" y="61"/>
                    </a:lnTo>
                    <a:lnTo>
                      <a:pt x="242" y="31"/>
                    </a:lnTo>
                    <a:lnTo>
                      <a:pt x="237" y="4"/>
                    </a:lnTo>
                    <a:lnTo>
                      <a:pt x="216" y="25"/>
                    </a:lnTo>
                    <a:lnTo>
                      <a:pt x="185" y="39"/>
                    </a:lnTo>
                    <a:lnTo>
                      <a:pt x="179" y="47"/>
                    </a:lnTo>
                    <a:lnTo>
                      <a:pt x="164" y="48"/>
                    </a:lnTo>
                    <a:lnTo>
                      <a:pt x="151" y="29"/>
                    </a:lnTo>
                    <a:lnTo>
                      <a:pt x="151" y="17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624;g1e20f346e65_0_0">
                <a:extLst>
                  <a:ext uri="{FF2B5EF4-FFF2-40B4-BE49-F238E27FC236}">
                    <a16:creationId xmlns:a16="http://schemas.microsoft.com/office/drawing/2014/main" xmlns="" id="{2A16231C-CE0E-33C0-B3F0-AA200D057F8E}"/>
                  </a:ext>
                </a:extLst>
              </p:cNvPr>
              <p:cNvSpPr/>
              <p:nvPr/>
            </p:nvSpPr>
            <p:spPr>
              <a:xfrm>
                <a:off x="5708036" y="2647553"/>
                <a:ext cx="832234" cy="551753"/>
              </a:xfrm>
              <a:custGeom>
                <a:avLst/>
                <a:gdLst/>
                <a:ahLst/>
                <a:cxnLst/>
                <a:rect l="l" t="t" r="r" b="b"/>
                <a:pathLst>
                  <a:path w="612" h="431" extrusionOk="0">
                    <a:moveTo>
                      <a:pt x="373" y="0"/>
                    </a:moveTo>
                    <a:cubicBezTo>
                      <a:pt x="358" y="7"/>
                      <a:pt x="358" y="7"/>
                      <a:pt x="358" y="7"/>
                    </a:cubicBezTo>
                    <a:cubicBezTo>
                      <a:pt x="344" y="5"/>
                      <a:pt x="344" y="5"/>
                      <a:pt x="344" y="5"/>
                    </a:cubicBezTo>
                    <a:cubicBezTo>
                      <a:pt x="336" y="29"/>
                      <a:pt x="336" y="29"/>
                      <a:pt x="336" y="29"/>
                    </a:cubicBezTo>
                    <a:cubicBezTo>
                      <a:pt x="345" y="33"/>
                      <a:pt x="345" y="33"/>
                      <a:pt x="345" y="33"/>
                    </a:cubicBezTo>
                    <a:cubicBezTo>
                      <a:pt x="349" y="47"/>
                      <a:pt x="349" y="47"/>
                      <a:pt x="349" y="47"/>
                    </a:cubicBezTo>
                    <a:cubicBezTo>
                      <a:pt x="337" y="40"/>
                      <a:pt x="337" y="40"/>
                      <a:pt x="337" y="40"/>
                    </a:cubicBezTo>
                    <a:cubicBezTo>
                      <a:pt x="336" y="50"/>
                      <a:pt x="336" y="50"/>
                      <a:pt x="336" y="50"/>
                    </a:cubicBezTo>
                    <a:cubicBezTo>
                      <a:pt x="345" y="60"/>
                      <a:pt x="345" y="60"/>
                      <a:pt x="345" y="60"/>
                    </a:cubicBezTo>
                    <a:cubicBezTo>
                      <a:pt x="325" y="63"/>
                      <a:pt x="325" y="63"/>
                      <a:pt x="325" y="63"/>
                    </a:cubicBezTo>
                    <a:cubicBezTo>
                      <a:pt x="305" y="61"/>
                      <a:pt x="305" y="61"/>
                      <a:pt x="305" y="61"/>
                    </a:cubicBezTo>
                    <a:cubicBezTo>
                      <a:pt x="292" y="46"/>
                      <a:pt x="292" y="46"/>
                      <a:pt x="292" y="46"/>
                    </a:cubicBezTo>
                    <a:cubicBezTo>
                      <a:pt x="268" y="45"/>
                      <a:pt x="268" y="45"/>
                      <a:pt x="268" y="45"/>
                    </a:cubicBezTo>
                    <a:cubicBezTo>
                      <a:pt x="264" y="62"/>
                      <a:pt x="264" y="62"/>
                      <a:pt x="264" y="62"/>
                    </a:cubicBezTo>
                    <a:cubicBezTo>
                      <a:pt x="243" y="79"/>
                      <a:pt x="243" y="79"/>
                      <a:pt x="243" y="79"/>
                    </a:cubicBezTo>
                    <a:cubicBezTo>
                      <a:pt x="226" y="78"/>
                      <a:pt x="226" y="78"/>
                      <a:pt x="226" y="78"/>
                    </a:cubicBezTo>
                    <a:cubicBezTo>
                      <a:pt x="208" y="88"/>
                      <a:pt x="208" y="88"/>
                      <a:pt x="208" y="88"/>
                    </a:cubicBezTo>
                    <a:cubicBezTo>
                      <a:pt x="176" y="99"/>
                      <a:pt x="176" y="99"/>
                      <a:pt x="176" y="99"/>
                    </a:cubicBezTo>
                    <a:cubicBezTo>
                      <a:pt x="167" y="115"/>
                      <a:pt x="167" y="115"/>
                      <a:pt x="167" y="115"/>
                    </a:cubicBezTo>
                    <a:cubicBezTo>
                      <a:pt x="137" y="124"/>
                      <a:pt x="137" y="124"/>
                      <a:pt x="137" y="124"/>
                    </a:cubicBezTo>
                    <a:cubicBezTo>
                      <a:pt x="112" y="121"/>
                      <a:pt x="112" y="121"/>
                      <a:pt x="112" y="121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20" y="132"/>
                      <a:pt x="120" y="132"/>
                      <a:pt x="120" y="132"/>
                    </a:cubicBezTo>
                    <a:cubicBezTo>
                      <a:pt x="118" y="148"/>
                      <a:pt x="118" y="148"/>
                      <a:pt x="118" y="148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81" y="141"/>
                      <a:pt x="81" y="141"/>
                      <a:pt x="81" y="141"/>
                    </a:cubicBezTo>
                    <a:cubicBezTo>
                      <a:pt x="72" y="132"/>
                      <a:pt x="72" y="132"/>
                      <a:pt x="72" y="132"/>
                    </a:cubicBezTo>
                    <a:cubicBezTo>
                      <a:pt x="45" y="156"/>
                      <a:pt x="45" y="156"/>
                      <a:pt x="45" y="156"/>
                    </a:cubicBezTo>
                    <a:cubicBezTo>
                      <a:pt x="33" y="168"/>
                      <a:pt x="33" y="168"/>
                      <a:pt x="33" y="168"/>
                    </a:cubicBezTo>
                    <a:cubicBezTo>
                      <a:pt x="32" y="199"/>
                      <a:pt x="32" y="199"/>
                      <a:pt x="32" y="199"/>
                    </a:cubicBezTo>
                    <a:cubicBezTo>
                      <a:pt x="38" y="220"/>
                      <a:pt x="38" y="220"/>
                      <a:pt x="38" y="220"/>
                    </a:cubicBezTo>
                    <a:cubicBezTo>
                      <a:pt x="33" y="240"/>
                      <a:pt x="33" y="240"/>
                      <a:pt x="33" y="240"/>
                    </a:cubicBezTo>
                    <a:cubicBezTo>
                      <a:pt x="31" y="277"/>
                      <a:pt x="31" y="277"/>
                      <a:pt x="31" y="277"/>
                    </a:cubicBezTo>
                    <a:cubicBezTo>
                      <a:pt x="31" y="294"/>
                      <a:pt x="31" y="294"/>
                      <a:pt x="31" y="294"/>
                    </a:cubicBezTo>
                    <a:cubicBezTo>
                      <a:pt x="37" y="300"/>
                      <a:pt x="37" y="300"/>
                      <a:pt x="37" y="300"/>
                    </a:cubicBezTo>
                    <a:cubicBezTo>
                      <a:pt x="27" y="316"/>
                      <a:pt x="27" y="316"/>
                      <a:pt x="27" y="316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22" y="389"/>
                      <a:pt x="22" y="389"/>
                      <a:pt x="22" y="389"/>
                    </a:cubicBezTo>
                    <a:cubicBezTo>
                      <a:pt x="60" y="400"/>
                      <a:pt x="60" y="400"/>
                      <a:pt x="60" y="400"/>
                    </a:cubicBezTo>
                    <a:cubicBezTo>
                      <a:pt x="65" y="413"/>
                      <a:pt x="65" y="413"/>
                      <a:pt x="65" y="413"/>
                    </a:cubicBezTo>
                    <a:cubicBezTo>
                      <a:pt x="73" y="416"/>
                      <a:pt x="73" y="416"/>
                      <a:pt x="73" y="416"/>
                    </a:cubicBezTo>
                    <a:cubicBezTo>
                      <a:pt x="73" y="416"/>
                      <a:pt x="73" y="416"/>
                      <a:pt x="73" y="416"/>
                    </a:cubicBezTo>
                    <a:cubicBezTo>
                      <a:pt x="80" y="414"/>
                      <a:pt x="87" y="411"/>
                      <a:pt x="87" y="411"/>
                    </a:cubicBezTo>
                    <a:cubicBezTo>
                      <a:pt x="121" y="392"/>
                      <a:pt x="121" y="392"/>
                      <a:pt x="121" y="392"/>
                    </a:cubicBezTo>
                    <a:cubicBezTo>
                      <a:pt x="146" y="384"/>
                      <a:pt x="146" y="384"/>
                      <a:pt x="146" y="384"/>
                    </a:cubicBezTo>
                    <a:cubicBezTo>
                      <a:pt x="164" y="359"/>
                      <a:pt x="164" y="359"/>
                      <a:pt x="164" y="359"/>
                    </a:cubicBezTo>
                    <a:cubicBezTo>
                      <a:pt x="170" y="342"/>
                      <a:pt x="170" y="342"/>
                      <a:pt x="170" y="342"/>
                    </a:cubicBezTo>
                    <a:cubicBezTo>
                      <a:pt x="165" y="307"/>
                      <a:pt x="165" y="307"/>
                      <a:pt x="165" y="307"/>
                    </a:cubicBezTo>
                    <a:cubicBezTo>
                      <a:pt x="175" y="296"/>
                      <a:pt x="175" y="296"/>
                      <a:pt x="175" y="296"/>
                    </a:cubicBezTo>
                    <a:cubicBezTo>
                      <a:pt x="229" y="316"/>
                      <a:pt x="229" y="316"/>
                      <a:pt x="229" y="316"/>
                    </a:cubicBezTo>
                    <a:cubicBezTo>
                      <a:pt x="262" y="317"/>
                      <a:pt x="262" y="317"/>
                      <a:pt x="262" y="317"/>
                    </a:cubicBezTo>
                    <a:cubicBezTo>
                      <a:pt x="297" y="332"/>
                      <a:pt x="297" y="332"/>
                      <a:pt x="297" y="332"/>
                    </a:cubicBezTo>
                    <a:cubicBezTo>
                      <a:pt x="353" y="346"/>
                      <a:pt x="353" y="346"/>
                      <a:pt x="353" y="346"/>
                    </a:cubicBezTo>
                    <a:cubicBezTo>
                      <a:pt x="426" y="383"/>
                      <a:pt x="426" y="383"/>
                      <a:pt x="426" y="383"/>
                    </a:cubicBezTo>
                    <a:cubicBezTo>
                      <a:pt x="478" y="407"/>
                      <a:pt x="478" y="407"/>
                      <a:pt x="478" y="407"/>
                    </a:cubicBezTo>
                    <a:cubicBezTo>
                      <a:pt x="496" y="421"/>
                      <a:pt x="496" y="421"/>
                      <a:pt x="496" y="421"/>
                    </a:cubicBezTo>
                    <a:cubicBezTo>
                      <a:pt x="505" y="421"/>
                      <a:pt x="505" y="421"/>
                      <a:pt x="505" y="421"/>
                    </a:cubicBezTo>
                    <a:cubicBezTo>
                      <a:pt x="516" y="429"/>
                      <a:pt x="516" y="429"/>
                      <a:pt x="516" y="429"/>
                    </a:cubicBezTo>
                    <a:cubicBezTo>
                      <a:pt x="527" y="431"/>
                      <a:pt x="527" y="431"/>
                      <a:pt x="527" y="431"/>
                    </a:cubicBezTo>
                    <a:cubicBezTo>
                      <a:pt x="541" y="418"/>
                      <a:pt x="541" y="418"/>
                      <a:pt x="541" y="418"/>
                    </a:cubicBezTo>
                    <a:cubicBezTo>
                      <a:pt x="570" y="405"/>
                      <a:pt x="570" y="405"/>
                      <a:pt x="570" y="405"/>
                    </a:cubicBezTo>
                    <a:cubicBezTo>
                      <a:pt x="566" y="313"/>
                      <a:pt x="566" y="313"/>
                      <a:pt x="566" y="313"/>
                    </a:cubicBezTo>
                    <a:cubicBezTo>
                      <a:pt x="565" y="298"/>
                      <a:pt x="565" y="298"/>
                      <a:pt x="565" y="298"/>
                    </a:cubicBezTo>
                    <a:cubicBezTo>
                      <a:pt x="588" y="242"/>
                      <a:pt x="588" y="242"/>
                      <a:pt x="588" y="242"/>
                    </a:cubicBezTo>
                    <a:cubicBezTo>
                      <a:pt x="600" y="228"/>
                      <a:pt x="600" y="228"/>
                      <a:pt x="600" y="228"/>
                    </a:cubicBezTo>
                    <a:cubicBezTo>
                      <a:pt x="608" y="201"/>
                      <a:pt x="608" y="201"/>
                      <a:pt x="608" y="201"/>
                    </a:cubicBezTo>
                    <a:cubicBezTo>
                      <a:pt x="612" y="202"/>
                      <a:pt x="612" y="202"/>
                      <a:pt x="612" y="202"/>
                    </a:cubicBezTo>
                    <a:cubicBezTo>
                      <a:pt x="609" y="193"/>
                      <a:pt x="609" y="193"/>
                      <a:pt x="609" y="193"/>
                    </a:cubicBezTo>
                    <a:cubicBezTo>
                      <a:pt x="574" y="149"/>
                      <a:pt x="574" y="149"/>
                      <a:pt x="574" y="149"/>
                    </a:cubicBezTo>
                    <a:cubicBezTo>
                      <a:pt x="536" y="159"/>
                      <a:pt x="536" y="159"/>
                      <a:pt x="536" y="159"/>
                    </a:cubicBezTo>
                    <a:cubicBezTo>
                      <a:pt x="513" y="140"/>
                      <a:pt x="513" y="140"/>
                      <a:pt x="513" y="140"/>
                    </a:cubicBezTo>
                    <a:cubicBezTo>
                      <a:pt x="482" y="144"/>
                      <a:pt x="482" y="144"/>
                      <a:pt x="482" y="144"/>
                    </a:cubicBezTo>
                    <a:cubicBezTo>
                      <a:pt x="472" y="113"/>
                      <a:pt x="472" y="113"/>
                      <a:pt x="472" y="113"/>
                    </a:cubicBezTo>
                    <a:cubicBezTo>
                      <a:pt x="459" y="105"/>
                      <a:pt x="459" y="105"/>
                      <a:pt x="459" y="105"/>
                    </a:cubicBezTo>
                    <a:cubicBezTo>
                      <a:pt x="444" y="127"/>
                      <a:pt x="444" y="127"/>
                      <a:pt x="444" y="127"/>
                    </a:cubicBezTo>
                    <a:cubicBezTo>
                      <a:pt x="434" y="123"/>
                      <a:pt x="434" y="123"/>
                      <a:pt x="434" y="123"/>
                    </a:cubicBezTo>
                    <a:cubicBezTo>
                      <a:pt x="427" y="96"/>
                      <a:pt x="427" y="96"/>
                      <a:pt x="427" y="96"/>
                    </a:cubicBezTo>
                    <a:cubicBezTo>
                      <a:pt x="416" y="83"/>
                      <a:pt x="416" y="83"/>
                      <a:pt x="416" y="83"/>
                    </a:cubicBezTo>
                    <a:cubicBezTo>
                      <a:pt x="409" y="60"/>
                      <a:pt x="409" y="60"/>
                      <a:pt x="409" y="60"/>
                    </a:cubicBezTo>
                    <a:cubicBezTo>
                      <a:pt x="382" y="27"/>
                      <a:pt x="382" y="27"/>
                      <a:pt x="382" y="27"/>
                    </a:cubicBezTo>
                    <a:lnTo>
                      <a:pt x="373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625;g1e20f346e65_0_0">
                <a:extLst>
                  <a:ext uri="{FF2B5EF4-FFF2-40B4-BE49-F238E27FC236}">
                    <a16:creationId xmlns:a16="http://schemas.microsoft.com/office/drawing/2014/main" xmlns="" id="{6E0EE4EB-5944-08B6-842C-57C13BA08CD1}"/>
                  </a:ext>
                </a:extLst>
              </p:cNvPr>
              <p:cNvSpPr/>
              <p:nvPr/>
            </p:nvSpPr>
            <p:spPr>
              <a:xfrm>
                <a:off x="5593423" y="3130215"/>
                <a:ext cx="226129" cy="167374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72" extrusionOk="0">
                    <a:moveTo>
                      <a:pt x="111" y="0"/>
                    </a:moveTo>
                    <a:lnTo>
                      <a:pt x="101" y="8"/>
                    </a:lnTo>
                    <a:lnTo>
                      <a:pt x="76" y="9"/>
                    </a:lnTo>
                    <a:lnTo>
                      <a:pt x="51" y="22"/>
                    </a:lnTo>
                    <a:lnTo>
                      <a:pt x="46" y="39"/>
                    </a:lnTo>
                    <a:lnTo>
                      <a:pt x="39" y="52"/>
                    </a:lnTo>
                    <a:lnTo>
                      <a:pt x="26" y="56"/>
                    </a:lnTo>
                    <a:lnTo>
                      <a:pt x="2" y="54"/>
                    </a:lnTo>
                    <a:lnTo>
                      <a:pt x="0" y="66"/>
                    </a:lnTo>
                    <a:lnTo>
                      <a:pt x="9" y="83"/>
                    </a:lnTo>
                    <a:lnTo>
                      <a:pt x="23" y="104"/>
                    </a:lnTo>
                    <a:lnTo>
                      <a:pt x="39" y="112"/>
                    </a:lnTo>
                    <a:lnTo>
                      <a:pt x="48" y="95"/>
                    </a:lnTo>
                    <a:lnTo>
                      <a:pt x="60" y="100"/>
                    </a:lnTo>
                    <a:lnTo>
                      <a:pt x="72" y="100"/>
                    </a:lnTo>
                    <a:lnTo>
                      <a:pt x="88" y="109"/>
                    </a:lnTo>
                    <a:lnTo>
                      <a:pt x="102" y="117"/>
                    </a:lnTo>
                    <a:lnTo>
                      <a:pt x="96" y="145"/>
                    </a:lnTo>
                    <a:lnTo>
                      <a:pt x="81" y="148"/>
                    </a:lnTo>
                    <a:lnTo>
                      <a:pt x="88" y="158"/>
                    </a:lnTo>
                    <a:lnTo>
                      <a:pt x="106" y="170"/>
                    </a:lnTo>
                    <a:lnTo>
                      <a:pt x="126" y="172"/>
                    </a:lnTo>
                    <a:lnTo>
                      <a:pt x="125" y="151"/>
                    </a:lnTo>
                    <a:lnTo>
                      <a:pt x="134" y="163"/>
                    </a:lnTo>
                    <a:lnTo>
                      <a:pt x="171" y="172"/>
                    </a:lnTo>
                    <a:lnTo>
                      <a:pt x="182" y="171"/>
                    </a:lnTo>
                    <a:lnTo>
                      <a:pt x="185" y="160"/>
                    </a:lnTo>
                    <a:lnTo>
                      <a:pt x="186" y="138"/>
                    </a:lnTo>
                    <a:lnTo>
                      <a:pt x="209" y="97"/>
                    </a:lnTo>
                    <a:lnTo>
                      <a:pt x="219" y="95"/>
                    </a:lnTo>
                    <a:lnTo>
                      <a:pt x="214" y="66"/>
                    </a:lnTo>
                    <a:lnTo>
                      <a:pt x="207" y="51"/>
                    </a:lnTo>
                    <a:lnTo>
                      <a:pt x="197" y="47"/>
                    </a:lnTo>
                    <a:lnTo>
                      <a:pt x="190" y="30"/>
                    </a:lnTo>
                    <a:lnTo>
                      <a:pt x="140" y="16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875" tIns="45925" rIns="91875" bIns="459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626;g1e20f346e65_0_0">
                <a:extLst>
                  <a:ext uri="{FF2B5EF4-FFF2-40B4-BE49-F238E27FC236}">
                    <a16:creationId xmlns:a16="http://schemas.microsoft.com/office/drawing/2014/main" xmlns="" id="{7AF83791-0B44-8583-0E0F-707147672F21}"/>
                  </a:ext>
                </a:extLst>
              </p:cNvPr>
              <p:cNvSpPr/>
              <p:nvPr/>
            </p:nvSpPr>
            <p:spPr>
              <a:xfrm>
                <a:off x="5103996" y="3179844"/>
                <a:ext cx="677350" cy="272471"/>
              </a:xfrm>
              <a:custGeom>
                <a:avLst/>
                <a:gdLst/>
                <a:ahLst/>
                <a:cxnLst/>
                <a:rect l="l" t="t" r="r" b="b"/>
                <a:pathLst>
                  <a:path w="656" h="280" extrusionOk="0">
                    <a:moveTo>
                      <a:pt x="351" y="0"/>
                    </a:moveTo>
                    <a:lnTo>
                      <a:pt x="325" y="15"/>
                    </a:lnTo>
                    <a:lnTo>
                      <a:pt x="291" y="24"/>
                    </a:lnTo>
                    <a:lnTo>
                      <a:pt x="278" y="40"/>
                    </a:lnTo>
                    <a:lnTo>
                      <a:pt x="263" y="32"/>
                    </a:lnTo>
                    <a:lnTo>
                      <a:pt x="255" y="22"/>
                    </a:lnTo>
                    <a:lnTo>
                      <a:pt x="241" y="29"/>
                    </a:lnTo>
                    <a:lnTo>
                      <a:pt x="243" y="49"/>
                    </a:lnTo>
                    <a:lnTo>
                      <a:pt x="238" y="66"/>
                    </a:lnTo>
                    <a:lnTo>
                      <a:pt x="222" y="80"/>
                    </a:lnTo>
                    <a:lnTo>
                      <a:pt x="192" y="101"/>
                    </a:lnTo>
                    <a:lnTo>
                      <a:pt x="185" y="86"/>
                    </a:lnTo>
                    <a:lnTo>
                      <a:pt x="168" y="78"/>
                    </a:lnTo>
                    <a:lnTo>
                      <a:pt x="167" y="66"/>
                    </a:lnTo>
                    <a:lnTo>
                      <a:pt x="145" y="50"/>
                    </a:lnTo>
                    <a:lnTo>
                      <a:pt x="142" y="66"/>
                    </a:lnTo>
                    <a:lnTo>
                      <a:pt x="106" y="78"/>
                    </a:lnTo>
                    <a:lnTo>
                      <a:pt x="84" y="100"/>
                    </a:lnTo>
                    <a:lnTo>
                      <a:pt x="46" y="132"/>
                    </a:lnTo>
                    <a:lnTo>
                      <a:pt x="54" y="140"/>
                    </a:lnTo>
                    <a:lnTo>
                      <a:pt x="51" y="233"/>
                    </a:lnTo>
                    <a:lnTo>
                      <a:pt x="0" y="238"/>
                    </a:lnTo>
                    <a:lnTo>
                      <a:pt x="25" y="278"/>
                    </a:lnTo>
                    <a:lnTo>
                      <a:pt x="31" y="280"/>
                    </a:lnTo>
                    <a:lnTo>
                      <a:pt x="47" y="279"/>
                    </a:lnTo>
                    <a:lnTo>
                      <a:pt x="87" y="272"/>
                    </a:lnTo>
                    <a:lnTo>
                      <a:pt x="116" y="258"/>
                    </a:lnTo>
                    <a:lnTo>
                      <a:pt x="141" y="255"/>
                    </a:lnTo>
                    <a:lnTo>
                      <a:pt x="154" y="258"/>
                    </a:lnTo>
                    <a:lnTo>
                      <a:pt x="170" y="254"/>
                    </a:lnTo>
                    <a:lnTo>
                      <a:pt x="184" y="258"/>
                    </a:lnTo>
                    <a:lnTo>
                      <a:pt x="192" y="253"/>
                    </a:lnTo>
                    <a:lnTo>
                      <a:pt x="263" y="255"/>
                    </a:lnTo>
                    <a:lnTo>
                      <a:pt x="279" y="250"/>
                    </a:lnTo>
                    <a:lnTo>
                      <a:pt x="291" y="255"/>
                    </a:lnTo>
                    <a:lnTo>
                      <a:pt x="300" y="250"/>
                    </a:lnTo>
                    <a:lnTo>
                      <a:pt x="376" y="262"/>
                    </a:lnTo>
                    <a:lnTo>
                      <a:pt x="391" y="254"/>
                    </a:lnTo>
                    <a:lnTo>
                      <a:pt x="612" y="253"/>
                    </a:lnTo>
                    <a:lnTo>
                      <a:pt x="612" y="241"/>
                    </a:lnTo>
                    <a:lnTo>
                      <a:pt x="620" y="228"/>
                    </a:lnTo>
                    <a:lnTo>
                      <a:pt x="621" y="204"/>
                    </a:lnTo>
                    <a:lnTo>
                      <a:pt x="630" y="167"/>
                    </a:lnTo>
                    <a:lnTo>
                      <a:pt x="642" y="163"/>
                    </a:lnTo>
                    <a:lnTo>
                      <a:pt x="656" y="120"/>
                    </a:lnTo>
                    <a:lnTo>
                      <a:pt x="645" y="121"/>
                    </a:lnTo>
                    <a:lnTo>
                      <a:pt x="608" y="112"/>
                    </a:lnTo>
                    <a:lnTo>
                      <a:pt x="599" y="100"/>
                    </a:lnTo>
                    <a:lnTo>
                      <a:pt x="600" y="121"/>
                    </a:lnTo>
                    <a:lnTo>
                      <a:pt x="580" y="119"/>
                    </a:lnTo>
                    <a:lnTo>
                      <a:pt x="562" y="107"/>
                    </a:lnTo>
                    <a:lnTo>
                      <a:pt x="555" y="97"/>
                    </a:lnTo>
                    <a:lnTo>
                      <a:pt x="570" y="94"/>
                    </a:lnTo>
                    <a:lnTo>
                      <a:pt x="576" y="66"/>
                    </a:lnTo>
                    <a:lnTo>
                      <a:pt x="562" y="58"/>
                    </a:lnTo>
                    <a:lnTo>
                      <a:pt x="546" y="49"/>
                    </a:lnTo>
                    <a:lnTo>
                      <a:pt x="534" y="49"/>
                    </a:lnTo>
                    <a:lnTo>
                      <a:pt x="522" y="44"/>
                    </a:lnTo>
                    <a:lnTo>
                      <a:pt x="513" y="61"/>
                    </a:lnTo>
                    <a:lnTo>
                      <a:pt x="497" y="53"/>
                    </a:lnTo>
                    <a:lnTo>
                      <a:pt x="483" y="32"/>
                    </a:lnTo>
                    <a:lnTo>
                      <a:pt x="474" y="15"/>
                    </a:lnTo>
                    <a:lnTo>
                      <a:pt x="475" y="9"/>
                    </a:lnTo>
                    <a:lnTo>
                      <a:pt x="474" y="8"/>
                    </a:lnTo>
                    <a:lnTo>
                      <a:pt x="449" y="44"/>
                    </a:lnTo>
                    <a:lnTo>
                      <a:pt x="424" y="72"/>
                    </a:lnTo>
                    <a:lnTo>
                      <a:pt x="416" y="88"/>
                    </a:lnTo>
                    <a:lnTo>
                      <a:pt x="391" y="103"/>
                    </a:lnTo>
                    <a:lnTo>
                      <a:pt x="362" y="94"/>
                    </a:lnTo>
                    <a:lnTo>
                      <a:pt x="346" y="97"/>
                    </a:lnTo>
                    <a:lnTo>
                      <a:pt x="346" y="61"/>
                    </a:lnTo>
                    <a:lnTo>
                      <a:pt x="338" y="44"/>
                    </a:lnTo>
                    <a:lnTo>
                      <a:pt x="356" y="28"/>
                    </a:lnTo>
                    <a:lnTo>
                      <a:pt x="346" y="16"/>
                    </a:lnTo>
                    <a:lnTo>
                      <a:pt x="351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627;g1e20f346e65_0_0">
                <a:extLst>
                  <a:ext uri="{FF2B5EF4-FFF2-40B4-BE49-F238E27FC236}">
                    <a16:creationId xmlns:a16="http://schemas.microsoft.com/office/drawing/2014/main" xmlns="" id="{FD63DD2D-5D93-C761-400E-5404DE469FA2}"/>
                  </a:ext>
                </a:extLst>
              </p:cNvPr>
              <p:cNvSpPr/>
              <p:nvPr/>
            </p:nvSpPr>
            <p:spPr>
              <a:xfrm>
                <a:off x="5807160" y="3026092"/>
                <a:ext cx="591649" cy="489474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82" extrusionOk="0">
                    <a:moveTo>
                      <a:pt x="102" y="0"/>
                    </a:moveTo>
                    <a:cubicBezTo>
                      <a:pt x="92" y="11"/>
                      <a:pt x="92" y="11"/>
                      <a:pt x="92" y="11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91" y="63"/>
                      <a:pt x="91" y="63"/>
                      <a:pt x="91" y="63"/>
                    </a:cubicBezTo>
                    <a:cubicBezTo>
                      <a:pt x="73" y="88"/>
                      <a:pt x="73" y="88"/>
                      <a:pt x="73" y="88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14" y="115"/>
                      <a:pt x="14" y="115"/>
                      <a:pt x="14" y="115"/>
                    </a:cubicBezTo>
                    <a:cubicBezTo>
                      <a:pt x="14" y="115"/>
                      <a:pt x="7" y="118"/>
                      <a:pt x="0" y="120"/>
                    </a:cubicBezTo>
                    <a:cubicBezTo>
                      <a:pt x="5" y="131"/>
                      <a:pt x="5" y="131"/>
                      <a:pt x="5" y="131"/>
                    </a:cubicBezTo>
                    <a:cubicBezTo>
                      <a:pt x="7" y="139"/>
                      <a:pt x="7" y="139"/>
                      <a:pt x="7" y="139"/>
                    </a:cubicBezTo>
                    <a:cubicBezTo>
                      <a:pt x="21" y="135"/>
                      <a:pt x="21" y="135"/>
                      <a:pt x="21" y="135"/>
                    </a:cubicBezTo>
                    <a:cubicBezTo>
                      <a:pt x="38" y="128"/>
                      <a:pt x="38" y="128"/>
                      <a:pt x="38" y="128"/>
                    </a:cubicBezTo>
                    <a:cubicBezTo>
                      <a:pt x="62" y="141"/>
                      <a:pt x="62" y="141"/>
                      <a:pt x="62" y="141"/>
                    </a:cubicBezTo>
                    <a:cubicBezTo>
                      <a:pt x="62" y="150"/>
                      <a:pt x="62" y="150"/>
                      <a:pt x="62" y="150"/>
                    </a:cubicBezTo>
                    <a:cubicBezTo>
                      <a:pt x="72" y="165"/>
                      <a:pt x="72" y="165"/>
                      <a:pt x="72" y="165"/>
                    </a:cubicBezTo>
                    <a:cubicBezTo>
                      <a:pt x="83" y="164"/>
                      <a:pt x="83" y="164"/>
                      <a:pt x="83" y="164"/>
                    </a:cubicBezTo>
                    <a:cubicBezTo>
                      <a:pt x="88" y="158"/>
                      <a:pt x="88" y="158"/>
                      <a:pt x="88" y="158"/>
                    </a:cubicBezTo>
                    <a:cubicBezTo>
                      <a:pt x="111" y="147"/>
                      <a:pt x="111" y="147"/>
                      <a:pt x="111" y="147"/>
                    </a:cubicBezTo>
                    <a:cubicBezTo>
                      <a:pt x="127" y="131"/>
                      <a:pt x="127" y="131"/>
                      <a:pt x="127" y="131"/>
                    </a:cubicBezTo>
                    <a:cubicBezTo>
                      <a:pt x="131" y="152"/>
                      <a:pt x="131" y="152"/>
                      <a:pt x="131" y="152"/>
                    </a:cubicBezTo>
                    <a:cubicBezTo>
                      <a:pt x="131" y="175"/>
                      <a:pt x="131" y="175"/>
                      <a:pt x="131" y="175"/>
                    </a:cubicBezTo>
                    <a:cubicBezTo>
                      <a:pt x="117" y="179"/>
                      <a:pt x="117" y="179"/>
                      <a:pt x="117" y="179"/>
                    </a:cubicBezTo>
                    <a:cubicBezTo>
                      <a:pt x="120" y="194"/>
                      <a:pt x="120" y="194"/>
                      <a:pt x="120" y="194"/>
                    </a:cubicBezTo>
                    <a:cubicBezTo>
                      <a:pt x="120" y="221"/>
                      <a:pt x="120" y="221"/>
                      <a:pt x="120" y="221"/>
                    </a:cubicBezTo>
                    <a:cubicBezTo>
                      <a:pt x="110" y="241"/>
                      <a:pt x="110" y="241"/>
                      <a:pt x="110" y="241"/>
                    </a:cubicBezTo>
                    <a:cubicBezTo>
                      <a:pt x="117" y="257"/>
                      <a:pt x="117" y="257"/>
                      <a:pt x="117" y="257"/>
                    </a:cubicBezTo>
                    <a:cubicBezTo>
                      <a:pt x="110" y="274"/>
                      <a:pt x="110" y="274"/>
                      <a:pt x="110" y="274"/>
                    </a:cubicBezTo>
                    <a:cubicBezTo>
                      <a:pt x="114" y="296"/>
                      <a:pt x="114" y="296"/>
                      <a:pt x="114" y="296"/>
                    </a:cubicBezTo>
                    <a:cubicBezTo>
                      <a:pt x="139" y="307"/>
                      <a:pt x="139" y="307"/>
                      <a:pt x="139" y="307"/>
                    </a:cubicBezTo>
                    <a:cubicBezTo>
                      <a:pt x="155" y="301"/>
                      <a:pt x="155" y="301"/>
                      <a:pt x="155" y="301"/>
                    </a:cubicBezTo>
                    <a:cubicBezTo>
                      <a:pt x="180" y="305"/>
                      <a:pt x="180" y="305"/>
                      <a:pt x="180" y="305"/>
                    </a:cubicBezTo>
                    <a:cubicBezTo>
                      <a:pt x="182" y="323"/>
                      <a:pt x="182" y="323"/>
                      <a:pt x="182" y="323"/>
                    </a:cubicBezTo>
                    <a:cubicBezTo>
                      <a:pt x="189" y="321"/>
                      <a:pt x="189" y="321"/>
                      <a:pt x="189" y="321"/>
                    </a:cubicBezTo>
                    <a:cubicBezTo>
                      <a:pt x="208" y="315"/>
                      <a:pt x="208" y="315"/>
                      <a:pt x="208" y="315"/>
                    </a:cubicBezTo>
                    <a:cubicBezTo>
                      <a:pt x="237" y="323"/>
                      <a:pt x="237" y="323"/>
                      <a:pt x="237" y="323"/>
                    </a:cubicBezTo>
                    <a:cubicBezTo>
                      <a:pt x="243" y="343"/>
                      <a:pt x="243" y="343"/>
                      <a:pt x="243" y="343"/>
                    </a:cubicBezTo>
                    <a:cubicBezTo>
                      <a:pt x="258" y="347"/>
                      <a:pt x="258" y="347"/>
                      <a:pt x="258" y="347"/>
                    </a:cubicBezTo>
                    <a:cubicBezTo>
                      <a:pt x="267" y="364"/>
                      <a:pt x="267" y="364"/>
                      <a:pt x="267" y="364"/>
                    </a:cubicBezTo>
                    <a:cubicBezTo>
                      <a:pt x="285" y="375"/>
                      <a:pt x="285" y="375"/>
                      <a:pt x="285" y="375"/>
                    </a:cubicBezTo>
                    <a:cubicBezTo>
                      <a:pt x="304" y="360"/>
                      <a:pt x="304" y="360"/>
                      <a:pt x="304" y="360"/>
                    </a:cubicBezTo>
                    <a:cubicBezTo>
                      <a:pt x="326" y="357"/>
                      <a:pt x="326" y="357"/>
                      <a:pt x="326" y="357"/>
                    </a:cubicBezTo>
                    <a:cubicBezTo>
                      <a:pt x="324" y="365"/>
                      <a:pt x="324" y="365"/>
                      <a:pt x="324" y="365"/>
                    </a:cubicBezTo>
                    <a:cubicBezTo>
                      <a:pt x="337" y="371"/>
                      <a:pt x="337" y="371"/>
                      <a:pt x="337" y="371"/>
                    </a:cubicBezTo>
                    <a:cubicBezTo>
                      <a:pt x="350" y="366"/>
                      <a:pt x="350" y="366"/>
                      <a:pt x="350" y="366"/>
                    </a:cubicBezTo>
                    <a:cubicBezTo>
                      <a:pt x="352" y="382"/>
                      <a:pt x="352" y="382"/>
                      <a:pt x="352" y="382"/>
                    </a:cubicBezTo>
                    <a:cubicBezTo>
                      <a:pt x="367" y="381"/>
                      <a:pt x="367" y="381"/>
                      <a:pt x="367" y="381"/>
                    </a:cubicBezTo>
                    <a:cubicBezTo>
                      <a:pt x="378" y="377"/>
                      <a:pt x="378" y="377"/>
                      <a:pt x="378" y="377"/>
                    </a:cubicBezTo>
                    <a:cubicBezTo>
                      <a:pt x="377" y="355"/>
                      <a:pt x="377" y="355"/>
                      <a:pt x="377" y="355"/>
                    </a:cubicBezTo>
                    <a:cubicBezTo>
                      <a:pt x="415" y="320"/>
                      <a:pt x="415" y="320"/>
                      <a:pt x="415" y="320"/>
                    </a:cubicBezTo>
                    <a:cubicBezTo>
                      <a:pt x="435" y="297"/>
                      <a:pt x="435" y="297"/>
                      <a:pt x="435" y="297"/>
                    </a:cubicBezTo>
                    <a:cubicBezTo>
                      <a:pt x="427" y="269"/>
                      <a:pt x="427" y="269"/>
                      <a:pt x="427" y="269"/>
                    </a:cubicBezTo>
                    <a:cubicBezTo>
                      <a:pt x="435" y="240"/>
                      <a:pt x="435" y="240"/>
                      <a:pt x="435" y="240"/>
                    </a:cubicBezTo>
                    <a:cubicBezTo>
                      <a:pt x="427" y="209"/>
                      <a:pt x="427" y="209"/>
                      <a:pt x="427" y="209"/>
                    </a:cubicBezTo>
                    <a:cubicBezTo>
                      <a:pt x="420" y="187"/>
                      <a:pt x="420" y="187"/>
                      <a:pt x="420" y="187"/>
                    </a:cubicBezTo>
                    <a:cubicBezTo>
                      <a:pt x="425" y="174"/>
                      <a:pt x="425" y="174"/>
                      <a:pt x="425" y="174"/>
                    </a:cubicBezTo>
                    <a:cubicBezTo>
                      <a:pt x="422" y="165"/>
                      <a:pt x="422" y="165"/>
                      <a:pt x="422" y="165"/>
                    </a:cubicBezTo>
                    <a:cubicBezTo>
                      <a:pt x="432" y="155"/>
                      <a:pt x="432" y="155"/>
                      <a:pt x="432" y="155"/>
                    </a:cubicBezTo>
                    <a:cubicBezTo>
                      <a:pt x="421" y="125"/>
                      <a:pt x="421" y="125"/>
                      <a:pt x="421" y="125"/>
                    </a:cubicBezTo>
                    <a:cubicBezTo>
                      <a:pt x="423" y="125"/>
                      <a:pt x="423" y="125"/>
                      <a:pt x="423" y="125"/>
                    </a:cubicBezTo>
                    <a:cubicBezTo>
                      <a:pt x="405" y="111"/>
                      <a:pt x="405" y="111"/>
                      <a:pt x="405" y="111"/>
                    </a:cubicBezTo>
                    <a:cubicBezTo>
                      <a:pt x="353" y="87"/>
                      <a:pt x="353" y="87"/>
                      <a:pt x="353" y="87"/>
                    </a:cubicBezTo>
                    <a:cubicBezTo>
                      <a:pt x="280" y="50"/>
                      <a:pt x="280" y="50"/>
                      <a:pt x="280" y="50"/>
                    </a:cubicBezTo>
                    <a:cubicBezTo>
                      <a:pt x="224" y="36"/>
                      <a:pt x="224" y="36"/>
                      <a:pt x="224" y="36"/>
                    </a:cubicBezTo>
                    <a:cubicBezTo>
                      <a:pt x="189" y="21"/>
                      <a:pt x="189" y="21"/>
                      <a:pt x="189" y="21"/>
                    </a:cubicBezTo>
                    <a:cubicBezTo>
                      <a:pt x="156" y="20"/>
                      <a:pt x="156" y="20"/>
                      <a:pt x="156" y="20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628;g1e20f346e65_0_0">
                <a:extLst>
                  <a:ext uri="{FF2B5EF4-FFF2-40B4-BE49-F238E27FC236}">
                    <a16:creationId xmlns:a16="http://schemas.microsoft.com/office/drawing/2014/main" xmlns="" id="{0E65B70C-AC8C-22A6-F39A-244189541C6F}"/>
                  </a:ext>
                </a:extLst>
              </p:cNvPr>
              <p:cNvSpPr/>
              <p:nvPr/>
            </p:nvSpPr>
            <p:spPr>
              <a:xfrm>
                <a:off x="6955354" y="3463992"/>
                <a:ext cx="708329" cy="617923"/>
              </a:xfrm>
              <a:custGeom>
                <a:avLst/>
                <a:gdLst/>
                <a:ahLst/>
                <a:cxnLst/>
                <a:rect l="l" t="t" r="r" b="b"/>
                <a:pathLst>
                  <a:path w="686" h="635" extrusionOk="0">
                    <a:moveTo>
                      <a:pt x="357" y="0"/>
                    </a:moveTo>
                    <a:lnTo>
                      <a:pt x="349" y="9"/>
                    </a:lnTo>
                    <a:lnTo>
                      <a:pt x="315" y="21"/>
                    </a:lnTo>
                    <a:lnTo>
                      <a:pt x="310" y="28"/>
                    </a:lnTo>
                    <a:lnTo>
                      <a:pt x="302" y="29"/>
                    </a:lnTo>
                    <a:lnTo>
                      <a:pt x="294" y="23"/>
                    </a:lnTo>
                    <a:lnTo>
                      <a:pt x="268" y="29"/>
                    </a:lnTo>
                    <a:lnTo>
                      <a:pt x="277" y="46"/>
                    </a:lnTo>
                    <a:lnTo>
                      <a:pt x="274" y="50"/>
                    </a:lnTo>
                    <a:lnTo>
                      <a:pt x="293" y="61"/>
                    </a:lnTo>
                    <a:lnTo>
                      <a:pt x="299" y="77"/>
                    </a:lnTo>
                    <a:lnTo>
                      <a:pt x="296" y="98"/>
                    </a:lnTo>
                    <a:lnTo>
                      <a:pt x="260" y="107"/>
                    </a:lnTo>
                    <a:lnTo>
                      <a:pt x="245" y="87"/>
                    </a:lnTo>
                    <a:lnTo>
                      <a:pt x="211" y="83"/>
                    </a:lnTo>
                    <a:lnTo>
                      <a:pt x="214" y="94"/>
                    </a:lnTo>
                    <a:lnTo>
                      <a:pt x="200" y="99"/>
                    </a:lnTo>
                    <a:lnTo>
                      <a:pt x="204" y="113"/>
                    </a:lnTo>
                    <a:lnTo>
                      <a:pt x="193" y="127"/>
                    </a:lnTo>
                    <a:lnTo>
                      <a:pt x="164" y="129"/>
                    </a:lnTo>
                    <a:lnTo>
                      <a:pt x="148" y="146"/>
                    </a:lnTo>
                    <a:lnTo>
                      <a:pt x="144" y="154"/>
                    </a:lnTo>
                    <a:lnTo>
                      <a:pt x="132" y="157"/>
                    </a:lnTo>
                    <a:lnTo>
                      <a:pt x="116" y="150"/>
                    </a:lnTo>
                    <a:lnTo>
                      <a:pt x="114" y="142"/>
                    </a:lnTo>
                    <a:lnTo>
                      <a:pt x="98" y="142"/>
                    </a:lnTo>
                    <a:lnTo>
                      <a:pt x="95" y="127"/>
                    </a:lnTo>
                    <a:lnTo>
                      <a:pt x="87" y="123"/>
                    </a:lnTo>
                    <a:lnTo>
                      <a:pt x="67" y="157"/>
                    </a:lnTo>
                    <a:lnTo>
                      <a:pt x="58" y="199"/>
                    </a:lnTo>
                    <a:lnTo>
                      <a:pt x="48" y="232"/>
                    </a:lnTo>
                    <a:lnTo>
                      <a:pt x="52" y="271"/>
                    </a:lnTo>
                    <a:lnTo>
                      <a:pt x="53" y="283"/>
                    </a:lnTo>
                    <a:lnTo>
                      <a:pt x="2" y="292"/>
                    </a:lnTo>
                    <a:lnTo>
                      <a:pt x="0" y="292"/>
                    </a:lnTo>
                    <a:lnTo>
                      <a:pt x="15" y="327"/>
                    </a:lnTo>
                    <a:lnTo>
                      <a:pt x="6" y="362"/>
                    </a:lnTo>
                    <a:lnTo>
                      <a:pt x="10" y="417"/>
                    </a:lnTo>
                    <a:lnTo>
                      <a:pt x="53" y="431"/>
                    </a:lnTo>
                    <a:lnTo>
                      <a:pt x="107" y="454"/>
                    </a:lnTo>
                    <a:lnTo>
                      <a:pt x="117" y="496"/>
                    </a:lnTo>
                    <a:lnTo>
                      <a:pt x="106" y="503"/>
                    </a:lnTo>
                    <a:lnTo>
                      <a:pt x="95" y="520"/>
                    </a:lnTo>
                    <a:lnTo>
                      <a:pt x="90" y="561"/>
                    </a:lnTo>
                    <a:lnTo>
                      <a:pt x="83" y="582"/>
                    </a:lnTo>
                    <a:lnTo>
                      <a:pt x="86" y="620"/>
                    </a:lnTo>
                    <a:lnTo>
                      <a:pt x="90" y="621"/>
                    </a:lnTo>
                    <a:lnTo>
                      <a:pt x="108" y="612"/>
                    </a:lnTo>
                    <a:lnTo>
                      <a:pt x="141" y="621"/>
                    </a:lnTo>
                    <a:lnTo>
                      <a:pt x="162" y="617"/>
                    </a:lnTo>
                    <a:lnTo>
                      <a:pt x="189" y="628"/>
                    </a:lnTo>
                    <a:lnTo>
                      <a:pt x="199" y="628"/>
                    </a:lnTo>
                    <a:lnTo>
                      <a:pt x="224" y="635"/>
                    </a:lnTo>
                    <a:lnTo>
                      <a:pt x="239" y="623"/>
                    </a:lnTo>
                    <a:lnTo>
                      <a:pt x="257" y="619"/>
                    </a:lnTo>
                    <a:lnTo>
                      <a:pt x="289" y="603"/>
                    </a:lnTo>
                    <a:lnTo>
                      <a:pt x="310" y="588"/>
                    </a:lnTo>
                    <a:lnTo>
                      <a:pt x="307" y="562"/>
                    </a:lnTo>
                    <a:lnTo>
                      <a:pt x="303" y="535"/>
                    </a:lnTo>
                    <a:lnTo>
                      <a:pt x="314" y="528"/>
                    </a:lnTo>
                    <a:lnTo>
                      <a:pt x="341" y="545"/>
                    </a:lnTo>
                    <a:lnTo>
                      <a:pt x="395" y="567"/>
                    </a:lnTo>
                    <a:lnTo>
                      <a:pt x="421" y="574"/>
                    </a:lnTo>
                    <a:lnTo>
                      <a:pt x="440" y="565"/>
                    </a:lnTo>
                    <a:lnTo>
                      <a:pt x="470" y="511"/>
                    </a:lnTo>
                    <a:lnTo>
                      <a:pt x="478" y="477"/>
                    </a:lnTo>
                    <a:lnTo>
                      <a:pt x="493" y="465"/>
                    </a:lnTo>
                    <a:lnTo>
                      <a:pt x="498" y="423"/>
                    </a:lnTo>
                    <a:lnTo>
                      <a:pt x="506" y="415"/>
                    </a:lnTo>
                    <a:lnTo>
                      <a:pt x="521" y="417"/>
                    </a:lnTo>
                    <a:lnTo>
                      <a:pt x="539" y="408"/>
                    </a:lnTo>
                    <a:lnTo>
                      <a:pt x="566" y="353"/>
                    </a:lnTo>
                    <a:lnTo>
                      <a:pt x="629" y="321"/>
                    </a:lnTo>
                    <a:lnTo>
                      <a:pt x="658" y="328"/>
                    </a:lnTo>
                    <a:lnTo>
                      <a:pt x="671" y="332"/>
                    </a:lnTo>
                    <a:lnTo>
                      <a:pt x="686" y="304"/>
                    </a:lnTo>
                    <a:lnTo>
                      <a:pt x="673" y="287"/>
                    </a:lnTo>
                    <a:lnTo>
                      <a:pt x="639" y="275"/>
                    </a:lnTo>
                    <a:lnTo>
                      <a:pt x="637" y="231"/>
                    </a:lnTo>
                    <a:lnTo>
                      <a:pt x="628" y="220"/>
                    </a:lnTo>
                    <a:lnTo>
                      <a:pt x="574" y="224"/>
                    </a:lnTo>
                    <a:lnTo>
                      <a:pt x="544" y="240"/>
                    </a:lnTo>
                    <a:lnTo>
                      <a:pt x="477" y="225"/>
                    </a:lnTo>
                    <a:lnTo>
                      <a:pt x="453" y="219"/>
                    </a:lnTo>
                    <a:lnTo>
                      <a:pt x="433" y="198"/>
                    </a:lnTo>
                    <a:lnTo>
                      <a:pt x="448" y="175"/>
                    </a:lnTo>
                    <a:lnTo>
                      <a:pt x="439" y="159"/>
                    </a:lnTo>
                    <a:lnTo>
                      <a:pt x="387" y="137"/>
                    </a:lnTo>
                    <a:lnTo>
                      <a:pt x="382" y="108"/>
                    </a:lnTo>
                    <a:lnTo>
                      <a:pt x="374" y="92"/>
                    </a:lnTo>
                    <a:lnTo>
                      <a:pt x="365" y="71"/>
                    </a:lnTo>
                    <a:lnTo>
                      <a:pt x="389" y="32"/>
                    </a:lnTo>
                    <a:lnTo>
                      <a:pt x="386" y="24"/>
                    </a:lnTo>
                    <a:lnTo>
                      <a:pt x="382" y="24"/>
                    </a:lnTo>
                    <a:lnTo>
                      <a:pt x="371" y="9"/>
                    </a:lnTo>
                    <a:lnTo>
                      <a:pt x="357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9050" cap="flat" cmpd="sng">
                <a:solidFill>
                  <a:srgbClr val="D8D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275" tIns="44625" rIns="89275" bIns="446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629;g1e20f346e65_0_0">
                <a:extLst>
                  <a:ext uri="{FF2B5EF4-FFF2-40B4-BE49-F238E27FC236}">
                    <a16:creationId xmlns:a16="http://schemas.microsoft.com/office/drawing/2014/main" xmlns="" id="{E21A8515-10C2-B68E-FC81-18A28E3B47A3}"/>
                  </a:ext>
                </a:extLst>
              </p:cNvPr>
              <p:cNvSpPr/>
              <p:nvPr/>
            </p:nvSpPr>
            <p:spPr>
              <a:xfrm>
                <a:off x="7322516" y="3283967"/>
                <a:ext cx="760989" cy="557591"/>
              </a:xfrm>
              <a:custGeom>
                <a:avLst/>
                <a:gdLst/>
                <a:ahLst/>
                <a:cxnLst/>
                <a:rect l="l" t="t" r="r" b="b"/>
                <a:pathLst>
                  <a:path w="737" h="573" extrusionOk="0">
                    <a:moveTo>
                      <a:pt x="55" y="0"/>
                    </a:moveTo>
                    <a:lnTo>
                      <a:pt x="43" y="30"/>
                    </a:lnTo>
                    <a:lnTo>
                      <a:pt x="35" y="64"/>
                    </a:lnTo>
                    <a:lnTo>
                      <a:pt x="46" y="72"/>
                    </a:lnTo>
                    <a:lnTo>
                      <a:pt x="39" y="98"/>
                    </a:lnTo>
                    <a:lnTo>
                      <a:pt x="17" y="117"/>
                    </a:lnTo>
                    <a:lnTo>
                      <a:pt x="38" y="127"/>
                    </a:lnTo>
                    <a:lnTo>
                      <a:pt x="29" y="142"/>
                    </a:lnTo>
                    <a:lnTo>
                      <a:pt x="26" y="171"/>
                    </a:lnTo>
                    <a:lnTo>
                      <a:pt x="39" y="187"/>
                    </a:lnTo>
                    <a:lnTo>
                      <a:pt x="34" y="209"/>
                    </a:lnTo>
                    <a:lnTo>
                      <a:pt x="21" y="209"/>
                    </a:lnTo>
                    <a:lnTo>
                      <a:pt x="24" y="217"/>
                    </a:lnTo>
                    <a:lnTo>
                      <a:pt x="0" y="256"/>
                    </a:lnTo>
                    <a:lnTo>
                      <a:pt x="9" y="277"/>
                    </a:lnTo>
                    <a:lnTo>
                      <a:pt x="17" y="293"/>
                    </a:lnTo>
                    <a:lnTo>
                      <a:pt x="22" y="322"/>
                    </a:lnTo>
                    <a:lnTo>
                      <a:pt x="74" y="344"/>
                    </a:lnTo>
                    <a:lnTo>
                      <a:pt x="83" y="360"/>
                    </a:lnTo>
                    <a:lnTo>
                      <a:pt x="68" y="383"/>
                    </a:lnTo>
                    <a:lnTo>
                      <a:pt x="88" y="404"/>
                    </a:lnTo>
                    <a:lnTo>
                      <a:pt x="112" y="410"/>
                    </a:lnTo>
                    <a:lnTo>
                      <a:pt x="179" y="425"/>
                    </a:lnTo>
                    <a:lnTo>
                      <a:pt x="209" y="409"/>
                    </a:lnTo>
                    <a:lnTo>
                      <a:pt x="263" y="405"/>
                    </a:lnTo>
                    <a:lnTo>
                      <a:pt x="272" y="416"/>
                    </a:lnTo>
                    <a:lnTo>
                      <a:pt x="274" y="460"/>
                    </a:lnTo>
                    <a:lnTo>
                      <a:pt x="308" y="472"/>
                    </a:lnTo>
                    <a:lnTo>
                      <a:pt x="321" y="489"/>
                    </a:lnTo>
                    <a:lnTo>
                      <a:pt x="306" y="517"/>
                    </a:lnTo>
                    <a:lnTo>
                      <a:pt x="310" y="518"/>
                    </a:lnTo>
                    <a:lnTo>
                      <a:pt x="333" y="534"/>
                    </a:lnTo>
                    <a:lnTo>
                      <a:pt x="346" y="556"/>
                    </a:lnTo>
                    <a:lnTo>
                      <a:pt x="355" y="558"/>
                    </a:lnTo>
                    <a:lnTo>
                      <a:pt x="374" y="529"/>
                    </a:lnTo>
                    <a:lnTo>
                      <a:pt x="389" y="529"/>
                    </a:lnTo>
                    <a:lnTo>
                      <a:pt x="403" y="535"/>
                    </a:lnTo>
                    <a:lnTo>
                      <a:pt x="405" y="526"/>
                    </a:lnTo>
                    <a:lnTo>
                      <a:pt x="406" y="464"/>
                    </a:lnTo>
                    <a:lnTo>
                      <a:pt x="392" y="446"/>
                    </a:lnTo>
                    <a:lnTo>
                      <a:pt x="403" y="435"/>
                    </a:lnTo>
                    <a:lnTo>
                      <a:pt x="420" y="435"/>
                    </a:lnTo>
                    <a:lnTo>
                      <a:pt x="439" y="442"/>
                    </a:lnTo>
                    <a:lnTo>
                      <a:pt x="462" y="481"/>
                    </a:lnTo>
                    <a:lnTo>
                      <a:pt x="471" y="485"/>
                    </a:lnTo>
                    <a:lnTo>
                      <a:pt x="487" y="468"/>
                    </a:lnTo>
                    <a:lnTo>
                      <a:pt x="499" y="467"/>
                    </a:lnTo>
                    <a:lnTo>
                      <a:pt x="528" y="456"/>
                    </a:lnTo>
                    <a:lnTo>
                      <a:pt x="562" y="454"/>
                    </a:lnTo>
                    <a:lnTo>
                      <a:pt x="578" y="472"/>
                    </a:lnTo>
                    <a:lnTo>
                      <a:pt x="601" y="475"/>
                    </a:lnTo>
                    <a:lnTo>
                      <a:pt x="608" y="498"/>
                    </a:lnTo>
                    <a:lnTo>
                      <a:pt x="593" y="521"/>
                    </a:lnTo>
                    <a:lnTo>
                      <a:pt x="585" y="541"/>
                    </a:lnTo>
                    <a:lnTo>
                      <a:pt x="585" y="543"/>
                    </a:lnTo>
                    <a:lnTo>
                      <a:pt x="733" y="523"/>
                    </a:lnTo>
                    <a:lnTo>
                      <a:pt x="737" y="508"/>
                    </a:lnTo>
                    <a:lnTo>
                      <a:pt x="699" y="466"/>
                    </a:lnTo>
                    <a:lnTo>
                      <a:pt x="691" y="467"/>
                    </a:lnTo>
                    <a:lnTo>
                      <a:pt x="687" y="444"/>
                    </a:lnTo>
                    <a:lnTo>
                      <a:pt x="679" y="433"/>
                    </a:lnTo>
                    <a:lnTo>
                      <a:pt x="679" y="413"/>
                    </a:lnTo>
                    <a:lnTo>
                      <a:pt x="671" y="384"/>
                    </a:lnTo>
                    <a:lnTo>
                      <a:pt x="655" y="355"/>
                    </a:lnTo>
                    <a:lnTo>
                      <a:pt x="629" y="339"/>
                    </a:lnTo>
                    <a:lnTo>
                      <a:pt x="610" y="335"/>
                    </a:lnTo>
                    <a:lnTo>
                      <a:pt x="584" y="300"/>
                    </a:lnTo>
                    <a:lnTo>
                      <a:pt x="562" y="264"/>
                    </a:lnTo>
                    <a:lnTo>
                      <a:pt x="563" y="251"/>
                    </a:lnTo>
                    <a:lnTo>
                      <a:pt x="554" y="247"/>
                    </a:lnTo>
                    <a:lnTo>
                      <a:pt x="550" y="231"/>
                    </a:lnTo>
                    <a:lnTo>
                      <a:pt x="546" y="221"/>
                    </a:lnTo>
                    <a:lnTo>
                      <a:pt x="537" y="198"/>
                    </a:lnTo>
                    <a:lnTo>
                      <a:pt x="530" y="189"/>
                    </a:lnTo>
                    <a:lnTo>
                      <a:pt x="518" y="180"/>
                    </a:lnTo>
                    <a:lnTo>
                      <a:pt x="518" y="162"/>
                    </a:lnTo>
                    <a:lnTo>
                      <a:pt x="530" y="150"/>
                    </a:lnTo>
                    <a:lnTo>
                      <a:pt x="539" y="139"/>
                    </a:lnTo>
                    <a:lnTo>
                      <a:pt x="543" y="110"/>
                    </a:lnTo>
                    <a:lnTo>
                      <a:pt x="547" y="113"/>
                    </a:lnTo>
                    <a:lnTo>
                      <a:pt x="545" y="100"/>
                    </a:lnTo>
                    <a:lnTo>
                      <a:pt x="524" y="71"/>
                    </a:lnTo>
                    <a:lnTo>
                      <a:pt x="510" y="42"/>
                    </a:lnTo>
                    <a:lnTo>
                      <a:pt x="505" y="25"/>
                    </a:lnTo>
                    <a:lnTo>
                      <a:pt x="505" y="12"/>
                    </a:lnTo>
                    <a:lnTo>
                      <a:pt x="55" y="0"/>
                    </a:lnTo>
                    <a:close/>
                    <a:moveTo>
                      <a:pt x="201" y="538"/>
                    </a:moveTo>
                    <a:lnTo>
                      <a:pt x="184" y="573"/>
                    </a:lnTo>
                    <a:lnTo>
                      <a:pt x="184" y="573"/>
                    </a:lnTo>
                    <a:lnTo>
                      <a:pt x="201" y="538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9050" cap="flat" cmpd="sng">
                <a:solidFill>
                  <a:srgbClr val="DEE0E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275" tIns="44625" rIns="89275" bIns="446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630;g1e20f346e65_0_0">
                <a:extLst>
                  <a:ext uri="{FF2B5EF4-FFF2-40B4-BE49-F238E27FC236}">
                    <a16:creationId xmlns:a16="http://schemas.microsoft.com/office/drawing/2014/main" xmlns="" id="{7D07C68D-A445-9C1C-9C72-9D878ABA2FF5}"/>
                  </a:ext>
                </a:extLst>
              </p:cNvPr>
              <p:cNvSpPr/>
              <p:nvPr/>
            </p:nvSpPr>
            <p:spPr>
              <a:xfrm>
                <a:off x="7573850" y="1959565"/>
                <a:ext cx="632953" cy="472932"/>
              </a:xfrm>
              <a:custGeom>
                <a:avLst/>
                <a:gdLst/>
                <a:ahLst/>
                <a:cxnLst/>
                <a:rect l="l" t="t" r="r" b="b"/>
                <a:pathLst>
                  <a:path w="466" h="369" extrusionOk="0">
                    <a:moveTo>
                      <a:pt x="382" y="0"/>
                    </a:moveTo>
                    <a:cubicBezTo>
                      <a:pt x="368" y="1"/>
                      <a:pt x="368" y="1"/>
                      <a:pt x="368" y="1"/>
                    </a:cubicBezTo>
                    <a:cubicBezTo>
                      <a:pt x="349" y="7"/>
                      <a:pt x="349" y="7"/>
                      <a:pt x="349" y="7"/>
                    </a:cubicBezTo>
                    <a:cubicBezTo>
                      <a:pt x="346" y="23"/>
                      <a:pt x="346" y="23"/>
                      <a:pt x="346" y="23"/>
                    </a:cubicBezTo>
                    <a:cubicBezTo>
                      <a:pt x="341" y="45"/>
                      <a:pt x="341" y="45"/>
                      <a:pt x="341" y="45"/>
                    </a:cubicBezTo>
                    <a:cubicBezTo>
                      <a:pt x="341" y="61"/>
                      <a:pt x="341" y="61"/>
                      <a:pt x="341" y="61"/>
                    </a:cubicBezTo>
                    <a:cubicBezTo>
                      <a:pt x="338" y="66"/>
                      <a:pt x="338" y="66"/>
                      <a:pt x="338" y="66"/>
                    </a:cubicBezTo>
                    <a:cubicBezTo>
                      <a:pt x="320" y="67"/>
                      <a:pt x="320" y="67"/>
                      <a:pt x="320" y="67"/>
                    </a:cubicBezTo>
                    <a:cubicBezTo>
                      <a:pt x="313" y="76"/>
                      <a:pt x="313" y="76"/>
                      <a:pt x="313" y="76"/>
                    </a:cubicBezTo>
                    <a:cubicBezTo>
                      <a:pt x="319" y="100"/>
                      <a:pt x="319" y="100"/>
                      <a:pt x="319" y="100"/>
                    </a:cubicBezTo>
                    <a:cubicBezTo>
                      <a:pt x="317" y="136"/>
                      <a:pt x="317" y="136"/>
                      <a:pt x="317" y="136"/>
                    </a:cubicBezTo>
                    <a:cubicBezTo>
                      <a:pt x="317" y="143"/>
                      <a:pt x="317" y="143"/>
                      <a:pt x="317" y="143"/>
                    </a:cubicBezTo>
                    <a:cubicBezTo>
                      <a:pt x="318" y="155"/>
                      <a:pt x="318" y="155"/>
                      <a:pt x="318" y="155"/>
                    </a:cubicBezTo>
                    <a:cubicBezTo>
                      <a:pt x="294" y="165"/>
                      <a:pt x="294" y="165"/>
                      <a:pt x="294" y="165"/>
                    </a:cubicBezTo>
                    <a:cubicBezTo>
                      <a:pt x="284" y="184"/>
                      <a:pt x="284" y="184"/>
                      <a:pt x="284" y="184"/>
                    </a:cubicBezTo>
                    <a:cubicBezTo>
                      <a:pt x="270" y="176"/>
                      <a:pt x="270" y="176"/>
                      <a:pt x="270" y="176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49" y="176"/>
                      <a:pt x="249" y="176"/>
                      <a:pt x="249" y="176"/>
                    </a:cubicBezTo>
                    <a:cubicBezTo>
                      <a:pt x="244" y="164"/>
                      <a:pt x="244" y="164"/>
                      <a:pt x="244" y="164"/>
                    </a:cubicBezTo>
                    <a:cubicBezTo>
                      <a:pt x="255" y="144"/>
                      <a:pt x="255" y="144"/>
                      <a:pt x="255" y="144"/>
                    </a:cubicBezTo>
                    <a:cubicBezTo>
                      <a:pt x="249" y="134"/>
                      <a:pt x="249" y="134"/>
                      <a:pt x="249" y="134"/>
                    </a:cubicBezTo>
                    <a:cubicBezTo>
                      <a:pt x="234" y="149"/>
                      <a:pt x="234" y="149"/>
                      <a:pt x="234" y="149"/>
                    </a:cubicBezTo>
                    <a:cubicBezTo>
                      <a:pt x="218" y="143"/>
                      <a:pt x="218" y="143"/>
                      <a:pt x="218" y="143"/>
                    </a:cubicBezTo>
                    <a:cubicBezTo>
                      <a:pt x="189" y="159"/>
                      <a:pt x="189" y="159"/>
                      <a:pt x="189" y="159"/>
                    </a:cubicBezTo>
                    <a:cubicBezTo>
                      <a:pt x="157" y="155"/>
                      <a:pt x="157" y="155"/>
                      <a:pt x="157" y="155"/>
                    </a:cubicBezTo>
                    <a:cubicBezTo>
                      <a:pt x="152" y="160"/>
                      <a:pt x="152" y="160"/>
                      <a:pt x="152" y="160"/>
                    </a:cubicBezTo>
                    <a:cubicBezTo>
                      <a:pt x="125" y="157"/>
                      <a:pt x="125" y="157"/>
                      <a:pt x="125" y="157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3" y="190"/>
                      <a:pt x="103" y="190"/>
                      <a:pt x="103" y="190"/>
                    </a:cubicBezTo>
                    <a:cubicBezTo>
                      <a:pt x="106" y="216"/>
                      <a:pt x="106" y="216"/>
                      <a:pt x="106" y="216"/>
                    </a:cubicBezTo>
                    <a:cubicBezTo>
                      <a:pt x="96" y="226"/>
                      <a:pt x="96" y="226"/>
                      <a:pt x="96" y="226"/>
                    </a:cubicBezTo>
                    <a:cubicBezTo>
                      <a:pt x="66" y="227"/>
                      <a:pt x="66" y="227"/>
                      <a:pt x="66" y="227"/>
                    </a:cubicBezTo>
                    <a:cubicBezTo>
                      <a:pt x="59" y="234"/>
                      <a:pt x="59" y="234"/>
                      <a:pt x="59" y="234"/>
                    </a:cubicBezTo>
                    <a:cubicBezTo>
                      <a:pt x="48" y="223"/>
                      <a:pt x="48" y="223"/>
                      <a:pt x="48" y="223"/>
                    </a:cubicBezTo>
                    <a:cubicBezTo>
                      <a:pt x="25" y="225"/>
                      <a:pt x="25" y="225"/>
                      <a:pt x="25" y="225"/>
                    </a:cubicBezTo>
                    <a:cubicBezTo>
                      <a:pt x="20" y="229"/>
                      <a:pt x="20" y="229"/>
                      <a:pt x="20" y="229"/>
                    </a:cubicBezTo>
                    <a:cubicBezTo>
                      <a:pt x="33" y="255"/>
                      <a:pt x="33" y="255"/>
                      <a:pt x="33" y="255"/>
                    </a:cubicBezTo>
                    <a:cubicBezTo>
                      <a:pt x="25" y="260"/>
                      <a:pt x="25" y="260"/>
                      <a:pt x="25" y="260"/>
                    </a:cubicBezTo>
                    <a:cubicBezTo>
                      <a:pt x="2" y="254"/>
                      <a:pt x="2" y="254"/>
                      <a:pt x="2" y="254"/>
                    </a:cubicBezTo>
                    <a:cubicBezTo>
                      <a:pt x="2" y="254"/>
                      <a:pt x="0" y="255"/>
                      <a:pt x="0" y="255"/>
                    </a:cubicBezTo>
                    <a:cubicBezTo>
                      <a:pt x="6" y="275"/>
                      <a:pt x="6" y="275"/>
                      <a:pt x="6" y="275"/>
                    </a:cubicBezTo>
                    <a:cubicBezTo>
                      <a:pt x="33" y="290"/>
                      <a:pt x="33" y="290"/>
                      <a:pt x="33" y="290"/>
                    </a:cubicBezTo>
                    <a:cubicBezTo>
                      <a:pt x="35" y="312"/>
                      <a:pt x="35" y="312"/>
                      <a:pt x="35" y="312"/>
                    </a:cubicBezTo>
                    <a:cubicBezTo>
                      <a:pt x="58" y="332"/>
                      <a:pt x="58" y="332"/>
                      <a:pt x="58" y="332"/>
                    </a:cubicBezTo>
                    <a:cubicBezTo>
                      <a:pt x="66" y="356"/>
                      <a:pt x="66" y="356"/>
                      <a:pt x="66" y="356"/>
                    </a:cubicBezTo>
                    <a:cubicBezTo>
                      <a:pt x="66" y="357"/>
                      <a:pt x="66" y="357"/>
                      <a:pt x="66" y="357"/>
                    </a:cubicBezTo>
                    <a:cubicBezTo>
                      <a:pt x="69" y="355"/>
                      <a:pt x="69" y="355"/>
                      <a:pt x="69" y="355"/>
                    </a:cubicBezTo>
                    <a:cubicBezTo>
                      <a:pt x="86" y="354"/>
                      <a:pt x="86" y="354"/>
                      <a:pt x="86" y="354"/>
                    </a:cubicBezTo>
                    <a:cubicBezTo>
                      <a:pt x="101" y="349"/>
                      <a:pt x="101" y="349"/>
                      <a:pt x="101" y="349"/>
                    </a:cubicBezTo>
                    <a:cubicBezTo>
                      <a:pt x="114" y="350"/>
                      <a:pt x="114" y="350"/>
                      <a:pt x="114" y="350"/>
                    </a:cubicBezTo>
                    <a:cubicBezTo>
                      <a:pt x="136" y="369"/>
                      <a:pt x="136" y="369"/>
                      <a:pt x="136" y="369"/>
                    </a:cubicBezTo>
                    <a:cubicBezTo>
                      <a:pt x="173" y="361"/>
                      <a:pt x="173" y="361"/>
                      <a:pt x="173" y="361"/>
                    </a:cubicBezTo>
                    <a:cubicBezTo>
                      <a:pt x="191" y="366"/>
                      <a:pt x="191" y="366"/>
                      <a:pt x="191" y="366"/>
                    </a:cubicBezTo>
                    <a:cubicBezTo>
                      <a:pt x="202" y="360"/>
                      <a:pt x="202" y="360"/>
                      <a:pt x="202" y="360"/>
                    </a:cubicBezTo>
                    <a:cubicBezTo>
                      <a:pt x="222" y="362"/>
                      <a:pt x="222" y="362"/>
                      <a:pt x="222" y="362"/>
                    </a:cubicBezTo>
                    <a:cubicBezTo>
                      <a:pt x="228" y="359"/>
                      <a:pt x="228" y="359"/>
                      <a:pt x="228" y="359"/>
                    </a:cubicBezTo>
                    <a:cubicBezTo>
                      <a:pt x="240" y="361"/>
                      <a:pt x="240" y="361"/>
                      <a:pt x="240" y="361"/>
                    </a:cubicBezTo>
                    <a:cubicBezTo>
                      <a:pt x="245" y="356"/>
                      <a:pt x="245" y="356"/>
                      <a:pt x="245" y="356"/>
                    </a:cubicBezTo>
                    <a:cubicBezTo>
                      <a:pt x="233" y="348"/>
                      <a:pt x="233" y="348"/>
                      <a:pt x="233" y="348"/>
                    </a:cubicBezTo>
                    <a:cubicBezTo>
                      <a:pt x="239" y="337"/>
                      <a:pt x="239" y="337"/>
                      <a:pt x="239" y="337"/>
                    </a:cubicBezTo>
                    <a:cubicBezTo>
                      <a:pt x="261" y="342"/>
                      <a:pt x="261" y="342"/>
                      <a:pt x="261" y="342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78" y="333"/>
                      <a:pt x="278" y="333"/>
                      <a:pt x="278" y="333"/>
                    </a:cubicBezTo>
                    <a:cubicBezTo>
                      <a:pt x="289" y="325"/>
                      <a:pt x="289" y="325"/>
                      <a:pt x="289" y="325"/>
                    </a:cubicBezTo>
                    <a:cubicBezTo>
                      <a:pt x="297" y="329"/>
                      <a:pt x="297" y="329"/>
                      <a:pt x="297" y="329"/>
                    </a:cubicBezTo>
                    <a:cubicBezTo>
                      <a:pt x="291" y="345"/>
                      <a:pt x="291" y="345"/>
                      <a:pt x="291" y="345"/>
                    </a:cubicBezTo>
                    <a:cubicBezTo>
                      <a:pt x="306" y="345"/>
                      <a:pt x="306" y="345"/>
                      <a:pt x="306" y="345"/>
                    </a:cubicBezTo>
                    <a:cubicBezTo>
                      <a:pt x="308" y="347"/>
                      <a:pt x="308" y="347"/>
                      <a:pt x="308" y="347"/>
                    </a:cubicBezTo>
                    <a:cubicBezTo>
                      <a:pt x="308" y="347"/>
                      <a:pt x="308" y="347"/>
                      <a:pt x="308" y="347"/>
                    </a:cubicBezTo>
                    <a:cubicBezTo>
                      <a:pt x="330" y="337"/>
                      <a:pt x="330" y="337"/>
                      <a:pt x="330" y="337"/>
                    </a:cubicBezTo>
                    <a:cubicBezTo>
                      <a:pt x="341" y="315"/>
                      <a:pt x="341" y="315"/>
                      <a:pt x="341" y="315"/>
                    </a:cubicBezTo>
                    <a:cubicBezTo>
                      <a:pt x="351" y="304"/>
                      <a:pt x="351" y="304"/>
                      <a:pt x="351" y="304"/>
                    </a:cubicBezTo>
                    <a:cubicBezTo>
                      <a:pt x="369" y="300"/>
                      <a:pt x="369" y="300"/>
                      <a:pt x="369" y="300"/>
                    </a:cubicBezTo>
                    <a:cubicBezTo>
                      <a:pt x="370" y="300"/>
                      <a:pt x="370" y="300"/>
                      <a:pt x="370" y="300"/>
                    </a:cubicBezTo>
                    <a:cubicBezTo>
                      <a:pt x="364" y="294"/>
                      <a:pt x="364" y="294"/>
                      <a:pt x="364" y="294"/>
                    </a:cubicBezTo>
                    <a:cubicBezTo>
                      <a:pt x="360" y="293"/>
                      <a:pt x="360" y="293"/>
                      <a:pt x="360" y="293"/>
                    </a:cubicBezTo>
                    <a:cubicBezTo>
                      <a:pt x="361" y="286"/>
                      <a:pt x="361" y="286"/>
                      <a:pt x="361" y="286"/>
                    </a:cubicBezTo>
                    <a:cubicBezTo>
                      <a:pt x="370" y="275"/>
                      <a:pt x="370" y="275"/>
                      <a:pt x="370" y="275"/>
                    </a:cubicBezTo>
                    <a:cubicBezTo>
                      <a:pt x="373" y="264"/>
                      <a:pt x="373" y="264"/>
                      <a:pt x="373" y="264"/>
                    </a:cubicBezTo>
                    <a:cubicBezTo>
                      <a:pt x="384" y="254"/>
                      <a:pt x="384" y="254"/>
                      <a:pt x="384" y="254"/>
                    </a:cubicBezTo>
                    <a:cubicBezTo>
                      <a:pt x="411" y="229"/>
                      <a:pt x="411" y="229"/>
                      <a:pt x="411" y="229"/>
                    </a:cubicBezTo>
                    <a:cubicBezTo>
                      <a:pt x="427" y="212"/>
                      <a:pt x="427" y="212"/>
                      <a:pt x="427" y="212"/>
                    </a:cubicBezTo>
                    <a:cubicBezTo>
                      <a:pt x="432" y="212"/>
                      <a:pt x="432" y="212"/>
                      <a:pt x="432" y="212"/>
                    </a:cubicBezTo>
                    <a:cubicBezTo>
                      <a:pt x="446" y="202"/>
                      <a:pt x="446" y="202"/>
                      <a:pt x="446" y="202"/>
                    </a:cubicBezTo>
                    <a:cubicBezTo>
                      <a:pt x="460" y="190"/>
                      <a:pt x="460" y="190"/>
                      <a:pt x="460" y="190"/>
                    </a:cubicBezTo>
                    <a:cubicBezTo>
                      <a:pt x="466" y="183"/>
                      <a:pt x="466" y="183"/>
                      <a:pt x="466" y="183"/>
                    </a:cubicBezTo>
                    <a:cubicBezTo>
                      <a:pt x="466" y="183"/>
                      <a:pt x="466" y="183"/>
                      <a:pt x="466" y="183"/>
                    </a:cubicBezTo>
                    <a:cubicBezTo>
                      <a:pt x="458" y="170"/>
                      <a:pt x="458" y="170"/>
                      <a:pt x="458" y="170"/>
                    </a:cubicBezTo>
                    <a:cubicBezTo>
                      <a:pt x="446" y="170"/>
                      <a:pt x="446" y="170"/>
                      <a:pt x="446" y="170"/>
                    </a:cubicBezTo>
                    <a:cubicBezTo>
                      <a:pt x="429" y="154"/>
                      <a:pt x="429" y="154"/>
                      <a:pt x="429" y="154"/>
                    </a:cubicBezTo>
                    <a:cubicBezTo>
                      <a:pt x="423" y="166"/>
                      <a:pt x="423" y="166"/>
                      <a:pt x="423" y="166"/>
                    </a:cubicBezTo>
                    <a:cubicBezTo>
                      <a:pt x="413" y="157"/>
                      <a:pt x="413" y="157"/>
                      <a:pt x="413" y="157"/>
                    </a:cubicBezTo>
                    <a:cubicBezTo>
                      <a:pt x="402" y="147"/>
                      <a:pt x="402" y="147"/>
                      <a:pt x="402" y="147"/>
                    </a:cubicBezTo>
                    <a:cubicBezTo>
                      <a:pt x="410" y="126"/>
                      <a:pt x="410" y="126"/>
                      <a:pt x="410" y="126"/>
                    </a:cubicBezTo>
                    <a:cubicBezTo>
                      <a:pt x="419" y="103"/>
                      <a:pt x="419" y="103"/>
                      <a:pt x="419" y="103"/>
                    </a:cubicBezTo>
                    <a:cubicBezTo>
                      <a:pt x="406" y="84"/>
                      <a:pt x="406" y="84"/>
                      <a:pt x="406" y="84"/>
                    </a:cubicBezTo>
                    <a:cubicBezTo>
                      <a:pt x="407" y="62"/>
                      <a:pt x="407" y="62"/>
                      <a:pt x="407" y="62"/>
                    </a:cubicBezTo>
                    <a:cubicBezTo>
                      <a:pt x="421" y="45"/>
                      <a:pt x="421" y="45"/>
                      <a:pt x="421" y="45"/>
                    </a:cubicBezTo>
                    <a:cubicBezTo>
                      <a:pt x="424" y="31"/>
                      <a:pt x="424" y="31"/>
                      <a:pt x="424" y="31"/>
                    </a:cubicBezTo>
                    <a:cubicBezTo>
                      <a:pt x="416" y="26"/>
                      <a:pt x="416" y="26"/>
                      <a:pt x="416" y="26"/>
                    </a:cubicBezTo>
                    <a:cubicBezTo>
                      <a:pt x="408" y="7"/>
                      <a:pt x="408" y="7"/>
                      <a:pt x="408" y="7"/>
                    </a:cubicBezTo>
                    <a:cubicBezTo>
                      <a:pt x="400" y="7"/>
                      <a:pt x="400" y="7"/>
                      <a:pt x="400" y="7"/>
                    </a:cubicBezTo>
                    <a:cubicBezTo>
                      <a:pt x="384" y="12"/>
                      <a:pt x="384" y="12"/>
                      <a:pt x="384" y="12"/>
                    </a:cubicBez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875" tIns="45925" rIns="91875" bIns="459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631;g1e20f346e65_0_0">
                <a:extLst>
                  <a:ext uri="{FF2B5EF4-FFF2-40B4-BE49-F238E27FC236}">
                    <a16:creationId xmlns:a16="http://schemas.microsoft.com/office/drawing/2014/main" xmlns="" id="{9DB219FC-6F24-3324-7EA8-4885947B32DA}"/>
                  </a:ext>
                </a:extLst>
              </p:cNvPr>
              <p:cNvSpPr/>
              <p:nvPr/>
            </p:nvSpPr>
            <p:spPr>
              <a:xfrm>
                <a:off x="6264579" y="2027683"/>
                <a:ext cx="699033" cy="404814"/>
              </a:xfrm>
              <a:custGeom>
                <a:avLst/>
                <a:gdLst/>
                <a:ahLst/>
                <a:cxnLst/>
                <a:rect l="l" t="t" r="r" b="b"/>
                <a:pathLst>
                  <a:path w="677" h="416" extrusionOk="0">
                    <a:moveTo>
                      <a:pt x="583" y="0"/>
                    </a:moveTo>
                    <a:lnTo>
                      <a:pt x="568" y="12"/>
                    </a:lnTo>
                    <a:lnTo>
                      <a:pt x="561" y="25"/>
                    </a:lnTo>
                    <a:lnTo>
                      <a:pt x="539" y="30"/>
                    </a:lnTo>
                    <a:lnTo>
                      <a:pt x="539" y="26"/>
                    </a:lnTo>
                    <a:lnTo>
                      <a:pt x="535" y="31"/>
                    </a:lnTo>
                    <a:lnTo>
                      <a:pt x="517" y="39"/>
                    </a:lnTo>
                    <a:lnTo>
                      <a:pt x="500" y="38"/>
                    </a:lnTo>
                    <a:lnTo>
                      <a:pt x="467" y="67"/>
                    </a:lnTo>
                    <a:lnTo>
                      <a:pt x="451" y="67"/>
                    </a:lnTo>
                    <a:lnTo>
                      <a:pt x="436" y="60"/>
                    </a:lnTo>
                    <a:lnTo>
                      <a:pt x="411" y="73"/>
                    </a:lnTo>
                    <a:lnTo>
                      <a:pt x="383" y="76"/>
                    </a:lnTo>
                    <a:lnTo>
                      <a:pt x="331" y="55"/>
                    </a:lnTo>
                    <a:lnTo>
                      <a:pt x="309" y="43"/>
                    </a:lnTo>
                    <a:lnTo>
                      <a:pt x="272" y="52"/>
                    </a:lnTo>
                    <a:lnTo>
                      <a:pt x="225" y="37"/>
                    </a:lnTo>
                    <a:lnTo>
                      <a:pt x="217" y="40"/>
                    </a:lnTo>
                    <a:lnTo>
                      <a:pt x="230" y="80"/>
                    </a:lnTo>
                    <a:lnTo>
                      <a:pt x="239" y="113"/>
                    </a:lnTo>
                    <a:lnTo>
                      <a:pt x="233" y="143"/>
                    </a:lnTo>
                    <a:lnTo>
                      <a:pt x="205" y="155"/>
                    </a:lnTo>
                    <a:lnTo>
                      <a:pt x="161" y="154"/>
                    </a:lnTo>
                    <a:lnTo>
                      <a:pt x="134" y="169"/>
                    </a:lnTo>
                    <a:lnTo>
                      <a:pt x="96" y="221"/>
                    </a:lnTo>
                    <a:lnTo>
                      <a:pt x="83" y="234"/>
                    </a:lnTo>
                    <a:lnTo>
                      <a:pt x="47" y="251"/>
                    </a:lnTo>
                    <a:lnTo>
                      <a:pt x="25" y="263"/>
                    </a:lnTo>
                    <a:lnTo>
                      <a:pt x="1" y="287"/>
                    </a:lnTo>
                    <a:lnTo>
                      <a:pt x="0" y="316"/>
                    </a:lnTo>
                    <a:lnTo>
                      <a:pt x="25" y="306"/>
                    </a:lnTo>
                    <a:lnTo>
                      <a:pt x="83" y="296"/>
                    </a:lnTo>
                    <a:lnTo>
                      <a:pt x="113" y="281"/>
                    </a:lnTo>
                    <a:lnTo>
                      <a:pt x="127" y="267"/>
                    </a:lnTo>
                    <a:lnTo>
                      <a:pt x="152" y="264"/>
                    </a:lnTo>
                    <a:lnTo>
                      <a:pt x="197" y="271"/>
                    </a:lnTo>
                    <a:lnTo>
                      <a:pt x="217" y="281"/>
                    </a:lnTo>
                    <a:lnTo>
                      <a:pt x="217" y="314"/>
                    </a:lnTo>
                    <a:lnTo>
                      <a:pt x="225" y="343"/>
                    </a:lnTo>
                    <a:lnTo>
                      <a:pt x="259" y="346"/>
                    </a:lnTo>
                    <a:lnTo>
                      <a:pt x="269" y="358"/>
                    </a:lnTo>
                    <a:lnTo>
                      <a:pt x="272" y="369"/>
                    </a:lnTo>
                    <a:lnTo>
                      <a:pt x="286" y="375"/>
                    </a:lnTo>
                    <a:lnTo>
                      <a:pt x="361" y="416"/>
                    </a:lnTo>
                    <a:lnTo>
                      <a:pt x="375" y="392"/>
                    </a:lnTo>
                    <a:lnTo>
                      <a:pt x="405" y="381"/>
                    </a:lnTo>
                    <a:lnTo>
                      <a:pt x="419" y="383"/>
                    </a:lnTo>
                    <a:lnTo>
                      <a:pt x="430" y="387"/>
                    </a:lnTo>
                    <a:lnTo>
                      <a:pt x="440" y="376"/>
                    </a:lnTo>
                    <a:lnTo>
                      <a:pt x="427" y="334"/>
                    </a:lnTo>
                    <a:lnTo>
                      <a:pt x="419" y="323"/>
                    </a:lnTo>
                    <a:lnTo>
                      <a:pt x="418" y="306"/>
                    </a:lnTo>
                    <a:lnTo>
                      <a:pt x="419" y="289"/>
                    </a:lnTo>
                    <a:lnTo>
                      <a:pt x="410" y="260"/>
                    </a:lnTo>
                    <a:lnTo>
                      <a:pt x="419" y="255"/>
                    </a:lnTo>
                    <a:lnTo>
                      <a:pt x="447" y="252"/>
                    </a:lnTo>
                    <a:lnTo>
                      <a:pt x="476" y="242"/>
                    </a:lnTo>
                    <a:lnTo>
                      <a:pt x="493" y="238"/>
                    </a:lnTo>
                    <a:lnTo>
                      <a:pt x="498" y="230"/>
                    </a:lnTo>
                    <a:lnTo>
                      <a:pt x="492" y="208"/>
                    </a:lnTo>
                    <a:lnTo>
                      <a:pt x="483" y="190"/>
                    </a:lnTo>
                    <a:lnTo>
                      <a:pt x="485" y="164"/>
                    </a:lnTo>
                    <a:lnTo>
                      <a:pt x="517" y="180"/>
                    </a:lnTo>
                    <a:lnTo>
                      <a:pt x="538" y="194"/>
                    </a:lnTo>
                    <a:lnTo>
                      <a:pt x="560" y="187"/>
                    </a:lnTo>
                    <a:lnTo>
                      <a:pt x="575" y="169"/>
                    </a:lnTo>
                    <a:lnTo>
                      <a:pt x="592" y="175"/>
                    </a:lnTo>
                    <a:lnTo>
                      <a:pt x="634" y="151"/>
                    </a:lnTo>
                    <a:lnTo>
                      <a:pt x="677" y="163"/>
                    </a:lnTo>
                    <a:lnTo>
                      <a:pt x="672" y="137"/>
                    </a:lnTo>
                    <a:lnTo>
                      <a:pt x="630" y="112"/>
                    </a:lnTo>
                    <a:lnTo>
                      <a:pt x="598" y="112"/>
                    </a:lnTo>
                    <a:lnTo>
                      <a:pt x="564" y="89"/>
                    </a:lnTo>
                    <a:lnTo>
                      <a:pt x="576" y="77"/>
                    </a:lnTo>
                    <a:lnTo>
                      <a:pt x="569" y="63"/>
                    </a:lnTo>
                    <a:lnTo>
                      <a:pt x="577" y="51"/>
                    </a:lnTo>
                    <a:lnTo>
                      <a:pt x="576" y="37"/>
                    </a:lnTo>
                    <a:lnTo>
                      <a:pt x="585" y="18"/>
                    </a:lnTo>
                    <a:lnTo>
                      <a:pt x="583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875" tIns="45925" rIns="91875" bIns="459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632;g1e20f346e65_0_0">
                <a:extLst>
                  <a:ext uri="{FF2B5EF4-FFF2-40B4-BE49-F238E27FC236}">
                    <a16:creationId xmlns:a16="http://schemas.microsoft.com/office/drawing/2014/main" xmlns="" id="{2319D48A-78CD-D471-825A-51ED153BFD9F}"/>
                  </a:ext>
                </a:extLst>
              </p:cNvPr>
              <p:cNvSpPr/>
              <p:nvPr/>
            </p:nvSpPr>
            <p:spPr>
              <a:xfrm>
                <a:off x="6279035" y="2259282"/>
                <a:ext cx="811583" cy="652956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10" extrusionOk="0">
                    <a:moveTo>
                      <a:pt x="364" y="0"/>
                    </a:moveTo>
                    <a:cubicBezTo>
                      <a:pt x="351" y="3"/>
                      <a:pt x="351" y="3"/>
                      <a:pt x="351" y="3"/>
                    </a:cubicBezTo>
                    <a:cubicBezTo>
                      <a:pt x="329" y="11"/>
                      <a:pt x="329" y="11"/>
                      <a:pt x="329" y="11"/>
                    </a:cubicBezTo>
                    <a:cubicBezTo>
                      <a:pt x="308" y="13"/>
                      <a:pt x="308" y="13"/>
                      <a:pt x="308" y="13"/>
                    </a:cubicBezTo>
                    <a:cubicBezTo>
                      <a:pt x="301" y="17"/>
                      <a:pt x="301" y="17"/>
                      <a:pt x="301" y="17"/>
                    </a:cubicBezTo>
                    <a:cubicBezTo>
                      <a:pt x="308" y="39"/>
                      <a:pt x="308" y="39"/>
                      <a:pt x="308" y="39"/>
                    </a:cubicBezTo>
                    <a:cubicBezTo>
                      <a:pt x="307" y="52"/>
                      <a:pt x="307" y="52"/>
                      <a:pt x="307" y="52"/>
                    </a:cubicBezTo>
                    <a:cubicBezTo>
                      <a:pt x="308" y="65"/>
                      <a:pt x="308" y="65"/>
                      <a:pt x="308" y="65"/>
                    </a:cubicBezTo>
                    <a:cubicBezTo>
                      <a:pt x="314" y="73"/>
                      <a:pt x="314" y="73"/>
                      <a:pt x="314" y="73"/>
                    </a:cubicBezTo>
                    <a:cubicBezTo>
                      <a:pt x="324" y="105"/>
                      <a:pt x="324" y="105"/>
                      <a:pt x="324" y="105"/>
                    </a:cubicBezTo>
                    <a:cubicBezTo>
                      <a:pt x="316" y="113"/>
                      <a:pt x="316" y="113"/>
                      <a:pt x="316" y="113"/>
                    </a:cubicBezTo>
                    <a:cubicBezTo>
                      <a:pt x="308" y="110"/>
                      <a:pt x="308" y="110"/>
                      <a:pt x="308" y="110"/>
                    </a:cubicBezTo>
                    <a:cubicBezTo>
                      <a:pt x="297" y="109"/>
                      <a:pt x="297" y="109"/>
                      <a:pt x="297" y="109"/>
                    </a:cubicBezTo>
                    <a:cubicBezTo>
                      <a:pt x="274" y="117"/>
                      <a:pt x="274" y="117"/>
                      <a:pt x="274" y="117"/>
                    </a:cubicBezTo>
                    <a:cubicBezTo>
                      <a:pt x="264" y="135"/>
                      <a:pt x="264" y="135"/>
                      <a:pt x="264" y="135"/>
                    </a:cubicBezTo>
                    <a:cubicBezTo>
                      <a:pt x="207" y="104"/>
                      <a:pt x="207" y="104"/>
                      <a:pt x="207" y="104"/>
                    </a:cubicBezTo>
                    <a:cubicBezTo>
                      <a:pt x="196" y="100"/>
                      <a:pt x="196" y="100"/>
                      <a:pt x="196" y="100"/>
                    </a:cubicBezTo>
                    <a:cubicBezTo>
                      <a:pt x="194" y="91"/>
                      <a:pt x="194" y="91"/>
                      <a:pt x="194" y="91"/>
                    </a:cubicBezTo>
                    <a:cubicBezTo>
                      <a:pt x="186" y="82"/>
                      <a:pt x="186" y="82"/>
                      <a:pt x="186" y="82"/>
                    </a:cubicBezTo>
                    <a:cubicBezTo>
                      <a:pt x="160" y="80"/>
                      <a:pt x="160" y="80"/>
                      <a:pt x="160" y="80"/>
                    </a:cubicBezTo>
                    <a:cubicBezTo>
                      <a:pt x="135" y="93"/>
                      <a:pt x="135" y="93"/>
                      <a:pt x="135" y="93"/>
                    </a:cubicBezTo>
                    <a:cubicBezTo>
                      <a:pt x="136" y="117"/>
                      <a:pt x="136" y="117"/>
                      <a:pt x="136" y="117"/>
                    </a:cubicBez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33" y="148"/>
                      <a:pt x="133" y="148"/>
                      <a:pt x="133" y="148"/>
                    </a:cubicBezTo>
                    <a:cubicBezTo>
                      <a:pt x="114" y="168"/>
                      <a:pt x="114" y="168"/>
                      <a:pt x="114" y="168"/>
                    </a:cubicBezTo>
                    <a:cubicBezTo>
                      <a:pt x="112" y="179"/>
                      <a:pt x="112" y="179"/>
                      <a:pt x="112" y="179"/>
                    </a:cubicBezTo>
                    <a:cubicBezTo>
                      <a:pt x="141" y="199"/>
                      <a:pt x="141" y="199"/>
                      <a:pt x="141" y="199"/>
                    </a:cubicBezTo>
                    <a:cubicBezTo>
                      <a:pt x="143" y="218"/>
                      <a:pt x="143" y="218"/>
                      <a:pt x="143" y="218"/>
                    </a:cubicBezTo>
                    <a:cubicBezTo>
                      <a:pt x="121" y="230"/>
                      <a:pt x="121" y="230"/>
                      <a:pt x="121" y="230"/>
                    </a:cubicBezTo>
                    <a:cubicBezTo>
                      <a:pt x="117" y="242"/>
                      <a:pt x="117" y="242"/>
                      <a:pt x="117" y="242"/>
                    </a:cubicBezTo>
                    <a:cubicBezTo>
                      <a:pt x="106" y="248"/>
                      <a:pt x="106" y="248"/>
                      <a:pt x="106" y="248"/>
                    </a:cubicBezTo>
                    <a:cubicBezTo>
                      <a:pt x="89" y="235"/>
                      <a:pt x="89" y="235"/>
                      <a:pt x="89" y="235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62" y="239"/>
                      <a:pt x="62" y="239"/>
                      <a:pt x="62" y="239"/>
                    </a:cubicBezTo>
                    <a:cubicBezTo>
                      <a:pt x="63" y="252"/>
                      <a:pt x="63" y="252"/>
                      <a:pt x="63" y="252"/>
                    </a:cubicBezTo>
                    <a:cubicBezTo>
                      <a:pt x="84" y="265"/>
                      <a:pt x="84" y="265"/>
                      <a:pt x="84" y="265"/>
                    </a:cubicBezTo>
                    <a:cubicBezTo>
                      <a:pt x="95" y="289"/>
                      <a:pt x="95" y="289"/>
                      <a:pt x="95" y="289"/>
                    </a:cubicBezTo>
                    <a:cubicBezTo>
                      <a:pt x="110" y="302"/>
                      <a:pt x="110" y="302"/>
                      <a:pt x="110" y="302"/>
                    </a:cubicBezTo>
                    <a:cubicBezTo>
                      <a:pt x="112" y="316"/>
                      <a:pt x="112" y="316"/>
                      <a:pt x="112" y="316"/>
                    </a:cubicBezTo>
                    <a:cubicBezTo>
                      <a:pt x="101" y="324"/>
                      <a:pt x="101" y="324"/>
                      <a:pt x="101" y="324"/>
                    </a:cubicBezTo>
                    <a:cubicBezTo>
                      <a:pt x="91" y="354"/>
                      <a:pt x="91" y="354"/>
                      <a:pt x="91" y="354"/>
                    </a:cubicBezTo>
                    <a:cubicBezTo>
                      <a:pt x="91" y="354"/>
                      <a:pt x="82" y="354"/>
                      <a:pt x="77" y="354"/>
                    </a:cubicBezTo>
                    <a:cubicBezTo>
                      <a:pt x="72" y="354"/>
                      <a:pt x="53" y="364"/>
                      <a:pt x="53" y="364"/>
                    </a:cubicBezTo>
                    <a:cubicBezTo>
                      <a:pt x="30" y="338"/>
                      <a:pt x="30" y="338"/>
                      <a:pt x="30" y="338"/>
                    </a:cubicBezTo>
                    <a:cubicBezTo>
                      <a:pt x="27" y="342"/>
                      <a:pt x="27" y="342"/>
                      <a:pt x="27" y="342"/>
                    </a:cubicBezTo>
                    <a:cubicBezTo>
                      <a:pt x="27" y="371"/>
                      <a:pt x="27" y="371"/>
                      <a:pt x="27" y="371"/>
                    </a:cubicBezTo>
                    <a:cubicBezTo>
                      <a:pt x="0" y="390"/>
                      <a:pt x="0" y="390"/>
                      <a:pt x="0" y="390"/>
                    </a:cubicBezTo>
                    <a:cubicBezTo>
                      <a:pt x="7" y="399"/>
                      <a:pt x="7" y="399"/>
                      <a:pt x="7" y="399"/>
                    </a:cubicBezTo>
                    <a:cubicBezTo>
                      <a:pt x="14" y="426"/>
                      <a:pt x="14" y="426"/>
                      <a:pt x="14" y="426"/>
                    </a:cubicBezTo>
                    <a:cubicBezTo>
                      <a:pt x="24" y="430"/>
                      <a:pt x="24" y="430"/>
                      <a:pt x="24" y="430"/>
                    </a:cubicBezTo>
                    <a:cubicBezTo>
                      <a:pt x="39" y="408"/>
                      <a:pt x="39" y="408"/>
                      <a:pt x="39" y="408"/>
                    </a:cubicBezTo>
                    <a:cubicBezTo>
                      <a:pt x="52" y="416"/>
                      <a:pt x="52" y="416"/>
                      <a:pt x="52" y="416"/>
                    </a:cubicBezTo>
                    <a:cubicBezTo>
                      <a:pt x="62" y="447"/>
                      <a:pt x="62" y="447"/>
                      <a:pt x="62" y="447"/>
                    </a:cubicBezTo>
                    <a:cubicBezTo>
                      <a:pt x="93" y="443"/>
                      <a:pt x="93" y="443"/>
                      <a:pt x="93" y="443"/>
                    </a:cubicBezTo>
                    <a:cubicBezTo>
                      <a:pt x="116" y="462"/>
                      <a:pt x="116" y="462"/>
                      <a:pt x="116" y="462"/>
                    </a:cubicBezTo>
                    <a:cubicBezTo>
                      <a:pt x="154" y="452"/>
                      <a:pt x="154" y="452"/>
                      <a:pt x="154" y="452"/>
                    </a:cubicBezTo>
                    <a:cubicBezTo>
                      <a:pt x="189" y="496"/>
                      <a:pt x="189" y="496"/>
                      <a:pt x="189" y="496"/>
                    </a:cubicBezTo>
                    <a:cubicBezTo>
                      <a:pt x="192" y="505"/>
                      <a:pt x="192" y="505"/>
                      <a:pt x="192" y="505"/>
                    </a:cubicBezTo>
                    <a:cubicBezTo>
                      <a:pt x="213" y="509"/>
                      <a:pt x="213" y="509"/>
                      <a:pt x="213" y="509"/>
                    </a:cubicBezTo>
                    <a:cubicBezTo>
                      <a:pt x="240" y="504"/>
                      <a:pt x="240" y="504"/>
                      <a:pt x="240" y="504"/>
                    </a:cubicBezTo>
                    <a:cubicBezTo>
                      <a:pt x="240" y="488"/>
                      <a:pt x="240" y="488"/>
                      <a:pt x="240" y="488"/>
                    </a:cubicBezTo>
                    <a:cubicBezTo>
                      <a:pt x="262" y="498"/>
                      <a:pt x="262" y="498"/>
                      <a:pt x="262" y="498"/>
                    </a:cubicBezTo>
                    <a:cubicBezTo>
                      <a:pt x="274" y="509"/>
                      <a:pt x="274" y="509"/>
                      <a:pt x="274" y="509"/>
                    </a:cubicBezTo>
                    <a:cubicBezTo>
                      <a:pt x="292" y="510"/>
                      <a:pt x="292" y="510"/>
                      <a:pt x="292" y="510"/>
                    </a:cubicBezTo>
                    <a:cubicBezTo>
                      <a:pt x="290" y="508"/>
                      <a:pt x="290" y="508"/>
                      <a:pt x="290" y="508"/>
                    </a:cubicBezTo>
                    <a:cubicBezTo>
                      <a:pt x="296" y="496"/>
                      <a:pt x="296" y="496"/>
                      <a:pt x="296" y="496"/>
                    </a:cubicBezTo>
                    <a:cubicBezTo>
                      <a:pt x="321" y="479"/>
                      <a:pt x="321" y="479"/>
                      <a:pt x="321" y="479"/>
                    </a:cubicBezTo>
                    <a:cubicBezTo>
                      <a:pt x="328" y="481"/>
                      <a:pt x="328" y="481"/>
                      <a:pt x="328" y="481"/>
                    </a:cubicBezTo>
                    <a:cubicBezTo>
                      <a:pt x="327" y="498"/>
                      <a:pt x="327" y="498"/>
                      <a:pt x="327" y="498"/>
                    </a:cubicBezTo>
                    <a:cubicBezTo>
                      <a:pt x="334" y="499"/>
                      <a:pt x="334" y="499"/>
                      <a:pt x="334" y="499"/>
                    </a:cubicBezTo>
                    <a:cubicBezTo>
                      <a:pt x="339" y="495"/>
                      <a:pt x="339" y="495"/>
                      <a:pt x="339" y="495"/>
                    </a:cubicBezTo>
                    <a:cubicBezTo>
                      <a:pt x="333" y="470"/>
                      <a:pt x="333" y="470"/>
                      <a:pt x="333" y="470"/>
                    </a:cubicBezTo>
                    <a:cubicBezTo>
                      <a:pt x="328" y="462"/>
                      <a:pt x="328" y="462"/>
                      <a:pt x="328" y="462"/>
                    </a:cubicBezTo>
                    <a:cubicBezTo>
                      <a:pt x="328" y="444"/>
                      <a:pt x="328" y="444"/>
                      <a:pt x="328" y="444"/>
                    </a:cubicBezTo>
                    <a:cubicBezTo>
                      <a:pt x="322" y="435"/>
                      <a:pt x="322" y="435"/>
                      <a:pt x="322" y="435"/>
                    </a:cubicBezTo>
                    <a:cubicBezTo>
                      <a:pt x="339" y="433"/>
                      <a:pt x="339" y="433"/>
                      <a:pt x="339" y="433"/>
                    </a:cubicBezTo>
                    <a:cubicBezTo>
                      <a:pt x="372" y="442"/>
                      <a:pt x="372" y="442"/>
                      <a:pt x="372" y="442"/>
                    </a:cubicBezTo>
                    <a:cubicBezTo>
                      <a:pt x="380" y="421"/>
                      <a:pt x="380" y="421"/>
                      <a:pt x="380" y="421"/>
                    </a:cubicBezTo>
                    <a:cubicBezTo>
                      <a:pt x="387" y="427"/>
                      <a:pt x="387" y="427"/>
                      <a:pt x="387" y="427"/>
                    </a:cubicBezTo>
                    <a:cubicBezTo>
                      <a:pt x="398" y="430"/>
                      <a:pt x="398" y="430"/>
                      <a:pt x="398" y="430"/>
                    </a:cubicBezTo>
                    <a:cubicBezTo>
                      <a:pt x="415" y="435"/>
                      <a:pt x="415" y="435"/>
                      <a:pt x="415" y="435"/>
                    </a:cubicBezTo>
                    <a:cubicBezTo>
                      <a:pt x="428" y="433"/>
                      <a:pt x="428" y="433"/>
                      <a:pt x="428" y="433"/>
                    </a:cubicBezTo>
                    <a:cubicBezTo>
                      <a:pt x="445" y="438"/>
                      <a:pt x="445" y="438"/>
                      <a:pt x="445" y="438"/>
                    </a:cubicBezTo>
                    <a:cubicBezTo>
                      <a:pt x="455" y="454"/>
                      <a:pt x="455" y="454"/>
                      <a:pt x="455" y="454"/>
                    </a:cubicBezTo>
                    <a:cubicBezTo>
                      <a:pt x="463" y="454"/>
                      <a:pt x="463" y="454"/>
                      <a:pt x="463" y="454"/>
                    </a:cubicBezTo>
                    <a:cubicBezTo>
                      <a:pt x="468" y="446"/>
                      <a:pt x="468" y="446"/>
                      <a:pt x="468" y="446"/>
                    </a:cubicBezTo>
                    <a:cubicBezTo>
                      <a:pt x="482" y="449"/>
                      <a:pt x="482" y="449"/>
                      <a:pt x="482" y="449"/>
                    </a:cubicBezTo>
                    <a:cubicBezTo>
                      <a:pt x="506" y="444"/>
                      <a:pt x="506" y="444"/>
                      <a:pt x="506" y="444"/>
                    </a:cubicBezTo>
                    <a:cubicBezTo>
                      <a:pt x="505" y="425"/>
                      <a:pt x="505" y="425"/>
                      <a:pt x="505" y="425"/>
                    </a:cubicBezTo>
                    <a:cubicBezTo>
                      <a:pt x="537" y="416"/>
                      <a:pt x="537" y="416"/>
                      <a:pt x="537" y="416"/>
                    </a:cubicBezTo>
                    <a:cubicBezTo>
                      <a:pt x="551" y="416"/>
                      <a:pt x="551" y="416"/>
                      <a:pt x="551" y="416"/>
                    </a:cubicBezTo>
                    <a:cubicBezTo>
                      <a:pt x="557" y="411"/>
                      <a:pt x="557" y="411"/>
                      <a:pt x="557" y="411"/>
                    </a:cubicBezTo>
                    <a:cubicBezTo>
                      <a:pt x="568" y="418"/>
                      <a:pt x="568" y="418"/>
                      <a:pt x="568" y="418"/>
                    </a:cubicBezTo>
                    <a:cubicBezTo>
                      <a:pt x="597" y="416"/>
                      <a:pt x="597" y="416"/>
                      <a:pt x="597" y="416"/>
                    </a:cubicBezTo>
                    <a:cubicBezTo>
                      <a:pt x="594" y="405"/>
                      <a:pt x="594" y="405"/>
                      <a:pt x="594" y="405"/>
                    </a:cubicBezTo>
                    <a:cubicBezTo>
                      <a:pt x="582" y="363"/>
                      <a:pt x="582" y="363"/>
                      <a:pt x="582" y="363"/>
                    </a:cubicBezTo>
                    <a:cubicBezTo>
                      <a:pt x="554" y="365"/>
                      <a:pt x="554" y="365"/>
                      <a:pt x="554" y="365"/>
                    </a:cubicBezTo>
                    <a:cubicBezTo>
                      <a:pt x="517" y="341"/>
                      <a:pt x="517" y="341"/>
                      <a:pt x="517" y="341"/>
                    </a:cubicBezTo>
                    <a:cubicBezTo>
                      <a:pt x="510" y="329"/>
                      <a:pt x="510" y="329"/>
                      <a:pt x="510" y="329"/>
                    </a:cubicBezTo>
                    <a:cubicBezTo>
                      <a:pt x="487" y="321"/>
                      <a:pt x="487" y="321"/>
                      <a:pt x="487" y="321"/>
                    </a:cubicBezTo>
                    <a:cubicBezTo>
                      <a:pt x="463" y="298"/>
                      <a:pt x="463" y="298"/>
                      <a:pt x="463" y="298"/>
                    </a:cubicBezTo>
                    <a:cubicBezTo>
                      <a:pt x="480" y="286"/>
                      <a:pt x="480" y="286"/>
                      <a:pt x="480" y="286"/>
                    </a:cubicBezTo>
                    <a:cubicBezTo>
                      <a:pt x="498" y="279"/>
                      <a:pt x="498" y="279"/>
                      <a:pt x="498" y="279"/>
                    </a:cubicBezTo>
                    <a:cubicBezTo>
                      <a:pt x="479" y="255"/>
                      <a:pt x="479" y="255"/>
                      <a:pt x="479" y="255"/>
                    </a:cubicBezTo>
                    <a:cubicBezTo>
                      <a:pt x="450" y="263"/>
                      <a:pt x="450" y="263"/>
                      <a:pt x="450" y="263"/>
                    </a:cubicBezTo>
                    <a:cubicBezTo>
                      <a:pt x="451" y="252"/>
                      <a:pt x="451" y="252"/>
                      <a:pt x="451" y="252"/>
                    </a:cubicBezTo>
                    <a:cubicBezTo>
                      <a:pt x="426" y="250"/>
                      <a:pt x="426" y="250"/>
                      <a:pt x="426" y="250"/>
                    </a:cubicBezTo>
                    <a:cubicBezTo>
                      <a:pt x="443" y="237"/>
                      <a:pt x="443" y="237"/>
                      <a:pt x="443" y="237"/>
                    </a:cubicBezTo>
                    <a:cubicBezTo>
                      <a:pt x="459" y="237"/>
                      <a:pt x="459" y="237"/>
                      <a:pt x="459" y="237"/>
                    </a:cubicBezTo>
                    <a:cubicBezTo>
                      <a:pt x="472" y="230"/>
                      <a:pt x="472" y="230"/>
                      <a:pt x="472" y="230"/>
                    </a:cubicBezTo>
                    <a:cubicBezTo>
                      <a:pt x="471" y="224"/>
                      <a:pt x="471" y="224"/>
                      <a:pt x="471" y="224"/>
                    </a:cubicBezTo>
                    <a:cubicBezTo>
                      <a:pt x="461" y="216"/>
                      <a:pt x="461" y="216"/>
                      <a:pt x="461" y="216"/>
                    </a:cubicBezTo>
                    <a:cubicBezTo>
                      <a:pt x="438" y="179"/>
                      <a:pt x="438" y="179"/>
                      <a:pt x="438" y="179"/>
                    </a:cubicBezTo>
                    <a:cubicBezTo>
                      <a:pt x="427" y="161"/>
                      <a:pt x="427" y="161"/>
                      <a:pt x="427" y="161"/>
                    </a:cubicBezTo>
                    <a:cubicBezTo>
                      <a:pt x="420" y="157"/>
                      <a:pt x="420" y="157"/>
                      <a:pt x="420" y="157"/>
                    </a:cubicBezTo>
                    <a:cubicBezTo>
                      <a:pt x="413" y="135"/>
                      <a:pt x="413" y="135"/>
                      <a:pt x="413" y="135"/>
                    </a:cubicBezTo>
                    <a:cubicBezTo>
                      <a:pt x="395" y="78"/>
                      <a:pt x="395" y="78"/>
                      <a:pt x="395" y="78"/>
                    </a:cubicBezTo>
                    <a:cubicBezTo>
                      <a:pt x="374" y="49"/>
                      <a:pt x="374" y="49"/>
                      <a:pt x="374" y="49"/>
                    </a:cubicBezTo>
                    <a:cubicBezTo>
                      <a:pt x="344" y="31"/>
                      <a:pt x="344" y="31"/>
                      <a:pt x="344" y="31"/>
                    </a:cubicBezTo>
                    <a:cubicBezTo>
                      <a:pt x="345" y="14"/>
                      <a:pt x="345" y="14"/>
                      <a:pt x="345" y="14"/>
                    </a:cubicBezTo>
                    <a:cubicBezTo>
                      <a:pt x="357" y="10"/>
                      <a:pt x="357" y="10"/>
                      <a:pt x="357" y="10"/>
                    </a:cubicBezTo>
                    <a:lnTo>
                      <a:pt x="364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875" tIns="45925" rIns="91875" bIns="459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633;g1e20f346e65_0_0">
                <a:extLst>
                  <a:ext uri="{FF2B5EF4-FFF2-40B4-BE49-F238E27FC236}">
                    <a16:creationId xmlns:a16="http://schemas.microsoft.com/office/drawing/2014/main" xmlns="" id="{8C71F345-D754-E57C-40CF-B983A4171C62}"/>
                  </a:ext>
                </a:extLst>
              </p:cNvPr>
              <p:cNvSpPr/>
              <p:nvPr/>
            </p:nvSpPr>
            <p:spPr>
              <a:xfrm>
                <a:off x="6320337" y="2884019"/>
                <a:ext cx="474971" cy="762916"/>
              </a:xfrm>
              <a:custGeom>
                <a:avLst/>
                <a:gdLst/>
                <a:ahLst/>
                <a:cxnLst/>
                <a:rect l="l" t="t" r="r" b="b"/>
                <a:pathLst>
                  <a:path w="460" h="784" extrusionOk="0">
                    <a:moveTo>
                      <a:pt x="276" y="0"/>
                    </a:moveTo>
                    <a:lnTo>
                      <a:pt x="276" y="21"/>
                    </a:lnTo>
                    <a:lnTo>
                      <a:pt x="240" y="28"/>
                    </a:lnTo>
                    <a:lnTo>
                      <a:pt x="207" y="21"/>
                    </a:lnTo>
                    <a:lnTo>
                      <a:pt x="197" y="57"/>
                    </a:lnTo>
                    <a:lnTo>
                      <a:pt x="181" y="75"/>
                    </a:lnTo>
                    <a:lnTo>
                      <a:pt x="151" y="149"/>
                    </a:lnTo>
                    <a:lnTo>
                      <a:pt x="152" y="169"/>
                    </a:lnTo>
                    <a:lnTo>
                      <a:pt x="157" y="290"/>
                    </a:lnTo>
                    <a:lnTo>
                      <a:pt x="119" y="307"/>
                    </a:lnTo>
                    <a:lnTo>
                      <a:pt x="101" y="324"/>
                    </a:lnTo>
                    <a:lnTo>
                      <a:pt x="86" y="321"/>
                    </a:lnTo>
                    <a:lnTo>
                      <a:pt x="72" y="311"/>
                    </a:lnTo>
                    <a:lnTo>
                      <a:pt x="57" y="311"/>
                    </a:lnTo>
                    <a:lnTo>
                      <a:pt x="72" y="350"/>
                    </a:lnTo>
                    <a:lnTo>
                      <a:pt x="59" y="363"/>
                    </a:lnTo>
                    <a:lnTo>
                      <a:pt x="63" y="375"/>
                    </a:lnTo>
                    <a:lnTo>
                      <a:pt x="56" y="392"/>
                    </a:lnTo>
                    <a:lnTo>
                      <a:pt x="65" y="421"/>
                    </a:lnTo>
                    <a:lnTo>
                      <a:pt x="76" y="462"/>
                    </a:lnTo>
                    <a:lnTo>
                      <a:pt x="65" y="500"/>
                    </a:lnTo>
                    <a:lnTo>
                      <a:pt x="76" y="537"/>
                    </a:lnTo>
                    <a:lnTo>
                      <a:pt x="50" y="567"/>
                    </a:lnTo>
                    <a:lnTo>
                      <a:pt x="0" y="613"/>
                    </a:lnTo>
                    <a:lnTo>
                      <a:pt x="4" y="684"/>
                    </a:lnTo>
                    <a:lnTo>
                      <a:pt x="36" y="716"/>
                    </a:lnTo>
                    <a:lnTo>
                      <a:pt x="40" y="736"/>
                    </a:lnTo>
                    <a:lnTo>
                      <a:pt x="98" y="737"/>
                    </a:lnTo>
                    <a:lnTo>
                      <a:pt x="100" y="723"/>
                    </a:lnTo>
                    <a:lnTo>
                      <a:pt x="146" y="723"/>
                    </a:lnTo>
                    <a:lnTo>
                      <a:pt x="135" y="758"/>
                    </a:lnTo>
                    <a:lnTo>
                      <a:pt x="134" y="780"/>
                    </a:lnTo>
                    <a:lnTo>
                      <a:pt x="327" y="784"/>
                    </a:lnTo>
                    <a:lnTo>
                      <a:pt x="327" y="773"/>
                    </a:lnTo>
                    <a:lnTo>
                      <a:pt x="322" y="759"/>
                    </a:lnTo>
                    <a:lnTo>
                      <a:pt x="307" y="736"/>
                    </a:lnTo>
                    <a:lnTo>
                      <a:pt x="329" y="704"/>
                    </a:lnTo>
                    <a:lnTo>
                      <a:pt x="304" y="682"/>
                    </a:lnTo>
                    <a:lnTo>
                      <a:pt x="318" y="674"/>
                    </a:lnTo>
                    <a:lnTo>
                      <a:pt x="313" y="633"/>
                    </a:lnTo>
                    <a:lnTo>
                      <a:pt x="322" y="620"/>
                    </a:lnTo>
                    <a:lnTo>
                      <a:pt x="325" y="596"/>
                    </a:lnTo>
                    <a:lnTo>
                      <a:pt x="346" y="562"/>
                    </a:lnTo>
                    <a:lnTo>
                      <a:pt x="368" y="561"/>
                    </a:lnTo>
                    <a:lnTo>
                      <a:pt x="376" y="550"/>
                    </a:lnTo>
                    <a:lnTo>
                      <a:pt x="376" y="536"/>
                    </a:lnTo>
                    <a:lnTo>
                      <a:pt x="354" y="509"/>
                    </a:lnTo>
                    <a:lnTo>
                      <a:pt x="336" y="503"/>
                    </a:lnTo>
                    <a:lnTo>
                      <a:pt x="327" y="486"/>
                    </a:lnTo>
                    <a:lnTo>
                      <a:pt x="334" y="463"/>
                    </a:lnTo>
                    <a:lnTo>
                      <a:pt x="336" y="442"/>
                    </a:lnTo>
                    <a:lnTo>
                      <a:pt x="355" y="436"/>
                    </a:lnTo>
                    <a:lnTo>
                      <a:pt x="368" y="436"/>
                    </a:lnTo>
                    <a:lnTo>
                      <a:pt x="382" y="451"/>
                    </a:lnTo>
                    <a:lnTo>
                      <a:pt x="394" y="444"/>
                    </a:lnTo>
                    <a:lnTo>
                      <a:pt x="388" y="429"/>
                    </a:lnTo>
                    <a:lnTo>
                      <a:pt x="385" y="412"/>
                    </a:lnTo>
                    <a:lnTo>
                      <a:pt x="405" y="399"/>
                    </a:lnTo>
                    <a:lnTo>
                      <a:pt x="414" y="384"/>
                    </a:lnTo>
                    <a:lnTo>
                      <a:pt x="419" y="370"/>
                    </a:lnTo>
                    <a:lnTo>
                      <a:pt x="444" y="361"/>
                    </a:lnTo>
                    <a:lnTo>
                      <a:pt x="456" y="348"/>
                    </a:lnTo>
                    <a:lnTo>
                      <a:pt x="460" y="317"/>
                    </a:lnTo>
                    <a:lnTo>
                      <a:pt x="460" y="292"/>
                    </a:lnTo>
                    <a:lnTo>
                      <a:pt x="427" y="282"/>
                    </a:lnTo>
                    <a:lnTo>
                      <a:pt x="411" y="266"/>
                    </a:lnTo>
                    <a:lnTo>
                      <a:pt x="394" y="270"/>
                    </a:lnTo>
                    <a:lnTo>
                      <a:pt x="371" y="254"/>
                    </a:lnTo>
                    <a:lnTo>
                      <a:pt x="360" y="258"/>
                    </a:lnTo>
                    <a:lnTo>
                      <a:pt x="369" y="237"/>
                    </a:lnTo>
                    <a:lnTo>
                      <a:pt x="382" y="237"/>
                    </a:lnTo>
                    <a:lnTo>
                      <a:pt x="386" y="219"/>
                    </a:lnTo>
                    <a:lnTo>
                      <a:pt x="368" y="209"/>
                    </a:lnTo>
                    <a:lnTo>
                      <a:pt x="350" y="209"/>
                    </a:lnTo>
                    <a:lnTo>
                      <a:pt x="357" y="171"/>
                    </a:lnTo>
                    <a:lnTo>
                      <a:pt x="369" y="159"/>
                    </a:lnTo>
                    <a:lnTo>
                      <a:pt x="373" y="142"/>
                    </a:lnTo>
                    <a:lnTo>
                      <a:pt x="380" y="136"/>
                    </a:lnTo>
                    <a:lnTo>
                      <a:pt x="385" y="109"/>
                    </a:lnTo>
                    <a:lnTo>
                      <a:pt x="386" y="84"/>
                    </a:lnTo>
                    <a:lnTo>
                      <a:pt x="373" y="61"/>
                    </a:lnTo>
                    <a:lnTo>
                      <a:pt x="364" y="55"/>
                    </a:lnTo>
                    <a:lnTo>
                      <a:pt x="344" y="29"/>
                    </a:lnTo>
                    <a:lnTo>
                      <a:pt x="321" y="28"/>
                    </a:lnTo>
                    <a:lnTo>
                      <a:pt x="305" y="13"/>
                    </a:lnTo>
                    <a:lnTo>
                      <a:pt x="276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875" tIns="45925" rIns="91875" bIns="459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634;g1e20f346e65_0_0">
                <a:extLst>
                  <a:ext uri="{FF2B5EF4-FFF2-40B4-BE49-F238E27FC236}">
                    <a16:creationId xmlns:a16="http://schemas.microsoft.com/office/drawing/2014/main" xmlns="" id="{C2B09B01-930D-93E2-EB67-1753AE8BEAF1}"/>
                  </a:ext>
                </a:extLst>
              </p:cNvPr>
              <p:cNvSpPr/>
              <p:nvPr/>
            </p:nvSpPr>
            <p:spPr>
              <a:xfrm>
                <a:off x="7272345" y="3707270"/>
                <a:ext cx="695939" cy="881635"/>
              </a:xfrm>
              <a:custGeom>
                <a:avLst/>
                <a:gdLst/>
                <a:ahLst/>
                <a:cxnLst/>
                <a:rect l="l" t="t" r="r" b="b"/>
                <a:pathLst>
                  <a:path w="674" h="906" extrusionOk="0">
                    <a:moveTo>
                      <a:pt x="461" y="0"/>
                    </a:moveTo>
                    <a:lnTo>
                      <a:pt x="450" y="11"/>
                    </a:lnTo>
                    <a:lnTo>
                      <a:pt x="464" y="29"/>
                    </a:lnTo>
                    <a:lnTo>
                      <a:pt x="463" y="91"/>
                    </a:lnTo>
                    <a:lnTo>
                      <a:pt x="461" y="100"/>
                    </a:lnTo>
                    <a:lnTo>
                      <a:pt x="447" y="94"/>
                    </a:lnTo>
                    <a:lnTo>
                      <a:pt x="432" y="94"/>
                    </a:lnTo>
                    <a:lnTo>
                      <a:pt x="413" y="123"/>
                    </a:lnTo>
                    <a:lnTo>
                      <a:pt x="404" y="121"/>
                    </a:lnTo>
                    <a:lnTo>
                      <a:pt x="391" y="99"/>
                    </a:lnTo>
                    <a:lnTo>
                      <a:pt x="368" y="83"/>
                    </a:lnTo>
                    <a:lnTo>
                      <a:pt x="351" y="78"/>
                    </a:lnTo>
                    <a:lnTo>
                      <a:pt x="322" y="71"/>
                    </a:lnTo>
                    <a:lnTo>
                      <a:pt x="259" y="103"/>
                    </a:lnTo>
                    <a:lnTo>
                      <a:pt x="233" y="158"/>
                    </a:lnTo>
                    <a:lnTo>
                      <a:pt x="214" y="167"/>
                    </a:lnTo>
                    <a:lnTo>
                      <a:pt x="199" y="165"/>
                    </a:lnTo>
                    <a:lnTo>
                      <a:pt x="191" y="173"/>
                    </a:lnTo>
                    <a:lnTo>
                      <a:pt x="186" y="215"/>
                    </a:lnTo>
                    <a:lnTo>
                      <a:pt x="171" y="227"/>
                    </a:lnTo>
                    <a:lnTo>
                      <a:pt x="163" y="261"/>
                    </a:lnTo>
                    <a:lnTo>
                      <a:pt x="133" y="316"/>
                    </a:lnTo>
                    <a:lnTo>
                      <a:pt x="136" y="313"/>
                    </a:lnTo>
                    <a:lnTo>
                      <a:pt x="134" y="341"/>
                    </a:lnTo>
                    <a:lnTo>
                      <a:pt x="178" y="342"/>
                    </a:lnTo>
                    <a:lnTo>
                      <a:pt x="192" y="350"/>
                    </a:lnTo>
                    <a:lnTo>
                      <a:pt x="233" y="346"/>
                    </a:lnTo>
                    <a:lnTo>
                      <a:pt x="243" y="362"/>
                    </a:lnTo>
                    <a:lnTo>
                      <a:pt x="241" y="408"/>
                    </a:lnTo>
                    <a:lnTo>
                      <a:pt x="262" y="439"/>
                    </a:lnTo>
                    <a:lnTo>
                      <a:pt x="247" y="474"/>
                    </a:lnTo>
                    <a:lnTo>
                      <a:pt x="237" y="471"/>
                    </a:lnTo>
                    <a:lnTo>
                      <a:pt x="220" y="448"/>
                    </a:lnTo>
                    <a:lnTo>
                      <a:pt x="186" y="448"/>
                    </a:lnTo>
                    <a:lnTo>
                      <a:pt x="167" y="448"/>
                    </a:lnTo>
                    <a:lnTo>
                      <a:pt x="175" y="491"/>
                    </a:lnTo>
                    <a:lnTo>
                      <a:pt x="162" y="524"/>
                    </a:lnTo>
                    <a:lnTo>
                      <a:pt x="146" y="558"/>
                    </a:lnTo>
                    <a:lnTo>
                      <a:pt x="136" y="557"/>
                    </a:lnTo>
                    <a:lnTo>
                      <a:pt x="136" y="514"/>
                    </a:lnTo>
                    <a:lnTo>
                      <a:pt x="121" y="504"/>
                    </a:lnTo>
                    <a:lnTo>
                      <a:pt x="100" y="516"/>
                    </a:lnTo>
                    <a:lnTo>
                      <a:pt x="80" y="521"/>
                    </a:lnTo>
                    <a:lnTo>
                      <a:pt x="67" y="533"/>
                    </a:lnTo>
                    <a:lnTo>
                      <a:pt x="59" y="581"/>
                    </a:lnTo>
                    <a:lnTo>
                      <a:pt x="32" y="628"/>
                    </a:lnTo>
                    <a:lnTo>
                      <a:pt x="32" y="648"/>
                    </a:lnTo>
                    <a:lnTo>
                      <a:pt x="36" y="650"/>
                    </a:lnTo>
                    <a:lnTo>
                      <a:pt x="58" y="649"/>
                    </a:lnTo>
                    <a:lnTo>
                      <a:pt x="72" y="662"/>
                    </a:lnTo>
                    <a:lnTo>
                      <a:pt x="74" y="669"/>
                    </a:lnTo>
                    <a:lnTo>
                      <a:pt x="120" y="669"/>
                    </a:lnTo>
                    <a:lnTo>
                      <a:pt x="150" y="665"/>
                    </a:lnTo>
                    <a:lnTo>
                      <a:pt x="184" y="679"/>
                    </a:lnTo>
                    <a:lnTo>
                      <a:pt x="196" y="671"/>
                    </a:lnTo>
                    <a:lnTo>
                      <a:pt x="208" y="674"/>
                    </a:lnTo>
                    <a:lnTo>
                      <a:pt x="224" y="665"/>
                    </a:lnTo>
                    <a:lnTo>
                      <a:pt x="241" y="631"/>
                    </a:lnTo>
                    <a:lnTo>
                      <a:pt x="238" y="615"/>
                    </a:lnTo>
                    <a:lnTo>
                      <a:pt x="268" y="615"/>
                    </a:lnTo>
                    <a:lnTo>
                      <a:pt x="263" y="644"/>
                    </a:lnTo>
                    <a:lnTo>
                      <a:pt x="296" y="660"/>
                    </a:lnTo>
                    <a:lnTo>
                      <a:pt x="307" y="686"/>
                    </a:lnTo>
                    <a:lnTo>
                      <a:pt x="321" y="711"/>
                    </a:lnTo>
                    <a:lnTo>
                      <a:pt x="338" y="723"/>
                    </a:lnTo>
                    <a:lnTo>
                      <a:pt x="355" y="721"/>
                    </a:lnTo>
                    <a:lnTo>
                      <a:pt x="378" y="716"/>
                    </a:lnTo>
                    <a:lnTo>
                      <a:pt x="383" y="732"/>
                    </a:lnTo>
                    <a:lnTo>
                      <a:pt x="401" y="736"/>
                    </a:lnTo>
                    <a:lnTo>
                      <a:pt x="409" y="746"/>
                    </a:lnTo>
                    <a:lnTo>
                      <a:pt x="418" y="736"/>
                    </a:lnTo>
                    <a:lnTo>
                      <a:pt x="441" y="748"/>
                    </a:lnTo>
                    <a:lnTo>
                      <a:pt x="468" y="778"/>
                    </a:lnTo>
                    <a:lnTo>
                      <a:pt x="461" y="791"/>
                    </a:lnTo>
                    <a:lnTo>
                      <a:pt x="479" y="818"/>
                    </a:lnTo>
                    <a:lnTo>
                      <a:pt x="491" y="807"/>
                    </a:lnTo>
                    <a:lnTo>
                      <a:pt x="514" y="832"/>
                    </a:lnTo>
                    <a:lnTo>
                      <a:pt x="522" y="850"/>
                    </a:lnTo>
                    <a:lnTo>
                      <a:pt x="533" y="866"/>
                    </a:lnTo>
                    <a:lnTo>
                      <a:pt x="549" y="899"/>
                    </a:lnTo>
                    <a:lnTo>
                      <a:pt x="567" y="893"/>
                    </a:lnTo>
                    <a:lnTo>
                      <a:pt x="575" y="903"/>
                    </a:lnTo>
                    <a:lnTo>
                      <a:pt x="597" y="890"/>
                    </a:lnTo>
                    <a:lnTo>
                      <a:pt x="636" y="869"/>
                    </a:lnTo>
                    <a:lnTo>
                      <a:pt x="653" y="873"/>
                    </a:lnTo>
                    <a:lnTo>
                      <a:pt x="641" y="899"/>
                    </a:lnTo>
                    <a:lnTo>
                      <a:pt x="657" y="906"/>
                    </a:lnTo>
                    <a:lnTo>
                      <a:pt x="674" y="906"/>
                    </a:lnTo>
                    <a:lnTo>
                      <a:pt x="672" y="703"/>
                    </a:lnTo>
                    <a:lnTo>
                      <a:pt x="664" y="704"/>
                    </a:lnTo>
                    <a:lnTo>
                      <a:pt x="654" y="711"/>
                    </a:lnTo>
                    <a:lnTo>
                      <a:pt x="638" y="708"/>
                    </a:lnTo>
                    <a:lnTo>
                      <a:pt x="622" y="716"/>
                    </a:lnTo>
                    <a:lnTo>
                      <a:pt x="617" y="732"/>
                    </a:lnTo>
                    <a:lnTo>
                      <a:pt x="628" y="741"/>
                    </a:lnTo>
                    <a:lnTo>
                      <a:pt x="632" y="745"/>
                    </a:lnTo>
                    <a:lnTo>
                      <a:pt x="622" y="754"/>
                    </a:lnTo>
                    <a:lnTo>
                      <a:pt x="605" y="744"/>
                    </a:lnTo>
                    <a:lnTo>
                      <a:pt x="593" y="744"/>
                    </a:lnTo>
                    <a:lnTo>
                      <a:pt x="588" y="735"/>
                    </a:lnTo>
                    <a:lnTo>
                      <a:pt x="555" y="740"/>
                    </a:lnTo>
                    <a:lnTo>
                      <a:pt x="546" y="727"/>
                    </a:lnTo>
                    <a:lnTo>
                      <a:pt x="534" y="708"/>
                    </a:lnTo>
                    <a:lnTo>
                      <a:pt x="512" y="686"/>
                    </a:lnTo>
                    <a:lnTo>
                      <a:pt x="507" y="674"/>
                    </a:lnTo>
                    <a:lnTo>
                      <a:pt x="499" y="677"/>
                    </a:lnTo>
                    <a:lnTo>
                      <a:pt x="484" y="665"/>
                    </a:lnTo>
                    <a:lnTo>
                      <a:pt x="467" y="658"/>
                    </a:lnTo>
                    <a:lnTo>
                      <a:pt x="463" y="649"/>
                    </a:lnTo>
                    <a:lnTo>
                      <a:pt x="457" y="649"/>
                    </a:lnTo>
                    <a:lnTo>
                      <a:pt x="455" y="623"/>
                    </a:lnTo>
                    <a:lnTo>
                      <a:pt x="449" y="614"/>
                    </a:lnTo>
                    <a:lnTo>
                      <a:pt x="457" y="581"/>
                    </a:lnTo>
                    <a:lnTo>
                      <a:pt x="467" y="548"/>
                    </a:lnTo>
                    <a:lnTo>
                      <a:pt x="464" y="537"/>
                    </a:lnTo>
                    <a:lnTo>
                      <a:pt x="486" y="478"/>
                    </a:lnTo>
                    <a:lnTo>
                      <a:pt x="497" y="469"/>
                    </a:lnTo>
                    <a:lnTo>
                      <a:pt x="489" y="441"/>
                    </a:lnTo>
                    <a:lnTo>
                      <a:pt x="489" y="412"/>
                    </a:lnTo>
                    <a:lnTo>
                      <a:pt x="480" y="400"/>
                    </a:lnTo>
                    <a:lnTo>
                      <a:pt x="489" y="377"/>
                    </a:lnTo>
                    <a:lnTo>
                      <a:pt x="487" y="357"/>
                    </a:lnTo>
                    <a:lnTo>
                      <a:pt x="496" y="333"/>
                    </a:lnTo>
                    <a:lnTo>
                      <a:pt x="488" y="321"/>
                    </a:lnTo>
                    <a:lnTo>
                      <a:pt x="484" y="295"/>
                    </a:lnTo>
                    <a:lnTo>
                      <a:pt x="472" y="275"/>
                    </a:lnTo>
                    <a:lnTo>
                      <a:pt x="472" y="270"/>
                    </a:lnTo>
                    <a:lnTo>
                      <a:pt x="470" y="270"/>
                    </a:lnTo>
                    <a:lnTo>
                      <a:pt x="471" y="262"/>
                    </a:lnTo>
                    <a:lnTo>
                      <a:pt x="459" y="269"/>
                    </a:lnTo>
                    <a:lnTo>
                      <a:pt x="447" y="266"/>
                    </a:lnTo>
                    <a:lnTo>
                      <a:pt x="449" y="263"/>
                    </a:lnTo>
                    <a:lnTo>
                      <a:pt x="439" y="261"/>
                    </a:lnTo>
                    <a:lnTo>
                      <a:pt x="438" y="233"/>
                    </a:lnTo>
                    <a:lnTo>
                      <a:pt x="482" y="171"/>
                    </a:lnTo>
                    <a:lnTo>
                      <a:pt x="514" y="135"/>
                    </a:lnTo>
                    <a:lnTo>
                      <a:pt x="539" y="141"/>
                    </a:lnTo>
                    <a:lnTo>
                      <a:pt x="532" y="124"/>
                    </a:lnTo>
                    <a:lnTo>
                      <a:pt x="643" y="110"/>
                    </a:lnTo>
                    <a:lnTo>
                      <a:pt x="643" y="106"/>
                    </a:lnTo>
                    <a:lnTo>
                      <a:pt x="651" y="86"/>
                    </a:lnTo>
                    <a:lnTo>
                      <a:pt x="666" y="63"/>
                    </a:lnTo>
                    <a:lnTo>
                      <a:pt x="659" y="40"/>
                    </a:lnTo>
                    <a:lnTo>
                      <a:pt x="636" y="37"/>
                    </a:lnTo>
                    <a:lnTo>
                      <a:pt x="620" y="19"/>
                    </a:lnTo>
                    <a:lnTo>
                      <a:pt x="586" y="21"/>
                    </a:lnTo>
                    <a:lnTo>
                      <a:pt x="557" y="32"/>
                    </a:lnTo>
                    <a:lnTo>
                      <a:pt x="545" y="33"/>
                    </a:lnTo>
                    <a:lnTo>
                      <a:pt x="529" y="50"/>
                    </a:lnTo>
                    <a:lnTo>
                      <a:pt x="520" y="46"/>
                    </a:lnTo>
                    <a:lnTo>
                      <a:pt x="497" y="7"/>
                    </a:lnTo>
                    <a:lnTo>
                      <a:pt x="478" y="0"/>
                    </a:lnTo>
                    <a:lnTo>
                      <a:pt x="461" y="0"/>
                    </a:lnTo>
                    <a:close/>
                    <a:moveTo>
                      <a:pt x="0" y="312"/>
                    </a:moveTo>
                    <a:lnTo>
                      <a:pt x="3" y="338"/>
                    </a:lnTo>
                    <a:lnTo>
                      <a:pt x="3" y="338"/>
                    </a:lnTo>
                    <a:lnTo>
                      <a:pt x="0" y="31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875" tIns="45925" rIns="91875" bIns="45925" anchor="ctr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  <a:tabLst/>
                  <a:defRPr/>
                </a:pP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635;g1e20f346e65_0_0">
                <a:extLst>
                  <a:ext uri="{FF2B5EF4-FFF2-40B4-BE49-F238E27FC236}">
                    <a16:creationId xmlns:a16="http://schemas.microsoft.com/office/drawing/2014/main" xmlns="" id="{1FC91BB4-C3D9-1F88-653D-C5C479E89454}"/>
                  </a:ext>
                </a:extLst>
              </p:cNvPr>
              <p:cNvSpPr/>
              <p:nvPr/>
            </p:nvSpPr>
            <p:spPr>
              <a:xfrm>
                <a:off x="6860359" y="3264504"/>
                <a:ext cx="527632" cy="483636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78" extrusionOk="0">
                    <a:moveTo>
                      <a:pt x="237" y="0"/>
                    </a:moveTo>
                    <a:cubicBezTo>
                      <a:pt x="236" y="0"/>
                      <a:pt x="234" y="2"/>
                      <a:pt x="234" y="2"/>
                    </a:cubicBezTo>
                    <a:cubicBezTo>
                      <a:pt x="202" y="30"/>
                      <a:pt x="202" y="30"/>
                      <a:pt x="202" y="30"/>
                    </a:cubicBezTo>
                    <a:cubicBezTo>
                      <a:pt x="190" y="50"/>
                      <a:pt x="190" y="50"/>
                      <a:pt x="190" y="50"/>
                    </a:cubicBezTo>
                    <a:cubicBezTo>
                      <a:pt x="194" y="62"/>
                      <a:pt x="194" y="62"/>
                      <a:pt x="194" y="62"/>
                    </a:cubicBezTo>
                    <a:cubicBezTo>
                      <a:pt x="185" y="72"/>
                      <a:pt x="185" y="72"/>
                      <a:pt x="185" y="72"/>
                    </a:cubicBezTo>
                    <a:cubicBezTo>
                      <a:pt x="166" y="74"/>
                      <a:pt x="166" y="74"/>
                      <a:pt x="166" y="74"/>
                    </a:cubicBezTo>
                    <a:cubicBezTo>
                      <a:pt x="152" y="67"/>
                      <a:pt x="152" y="67"/>
                      <a:pt x="152" y="67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18" y="79"/>
                      <a:pt x="118" y="79"/>
                      <a:pt x="118" y="79"/>
                    </a:cubicBezTo>
                    <a:cubicBezTo>
                      <a:pt x="137" y="110"/>
                      <a:pt x="137" y="110"/>
                      <a:pt x="137" y="110"/>
                    </a:cubicBezTo>
                    <a:cubicBezTo>
                      <a:pt x="129" y="117"/>
                      <a:pt x="129" y="117"/>
                      <a:pt x="129" y="117"/>
                    </a:cubicBezTo>
                    <a:cubicBezTo>
                      <a:pt x="125" y="116"/>
                      <a:pt x="125" y="116"/>
                      <a:pt x="125" y="116"/>
                    </a:cubicBezTo>
                    <a:cubicBezTo>
                      <a:pt x="128" y="121"/>
                      <a:pt x="128" y="121"/>
                      <a:pt x="128" y="121"/>
                    </a:cubicBezTo>
                    <a:cubicBezTo>
                      <a:pt x="133" y="139"/>
                      <a:pt x="133" y="139"/>
                      <a:pt x="133" y="139"/>
                    </a:cubicBezTo>
                    <a:cubicBezTo>
                      <a:pt x="137" y="156"/>
                      <a:pt x="137" y="156"/>
                      <a:pt x="137" y="156"/>
                    </a:cubicBezTo>
                    <a:cubicBezTo>
                      <a:pt x="112" y="184"/>
                      <a:pt x="112" y="184"/>
                      <a:pt x="112" y="184"/>
                    </a:cubicBezTo>
                    <a:cubicBezTo>
                      <a:pt x="94" y="182"/>
                      <a:pt x="94" y="182"/>
                      <a:pt x="94" y="182"/>
                    </a:cubicBezTo>
                    <a:cubicBezTo>
                      <a:pt x="88" y="196"/>
                      <a:pt x="88" y="196"/>
                      <a:pt x="88" y="196"/>
                    </a:cubicBezTo>
                    <a:cubicBezTo>
                      <a:pt x="81" y="226"/>
                      <a:pt x="81" y="226"/>
                      <a:pt x="81" y="226"/>
                    </a:cubicBezTo>
                    <a:cubicBezTo>
                      <a:pt x="57" y="224"/>
                      <a:pt x="57" y="224"/>
                      <a:pt x="57" y="224"/>
                    </a:cubicBezTo>
                    <a:cubicBezTo>
                      <a:pt x="44" y="212"/>
                      <a:pt x="44" y="212"/>
                      <a:pt x="44" y="212"/>
                    </a:cubicBezTo>
                    <a:cubicBezTo>
                      <a:pt x="37" y="212"/>
                      <a:pt x="37" y="212"/>
                      <a:pt x="37" y="212"/>
                    </a:cubicBezTo>
                    <a:cubicBezTo>
                      <a:pt x="32" y="206"/>
                      <a:pt x="32" y="206"/>
                      <a:pt x="32" y="206"/>
                    </a:cubicBezTo>
                    <a:cubicBezTo>
                      <a:pt x="10" y="199"/>
                      <a:pt x="10" y="199"/>
                      <a:pt x="10" y="199"/>
                    </a:cubicBezTo>
                    <a:cubicBezTo>
                      <a:pt x="10" y="200"/>
                      <a:pt x="10" y="200"/>
                      <a:pt x="10" y="200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7" y="239"/>
                      <a:pt x="7" y="239"/>
                      <a:pt x="7" y="239"/>
                    </a:cubicBezTo>
                    <a:cubicBezTo>
                      <a:pt x="23" y="250"/>
                      <a:pt x="23" y="250"/>
                      <a:pt x="23" y="250"/>
                    </a:cubicBezTo>
                    <a:cubicBezTo>
                      <a:pt x="16" y="263"/>
                      <a:pt x="16" y="263"/>
                      <a:pt x="16" y="263"/>
                    </a:cubicBezTo>
                    <a:cubicBezTo>
                      <a:pt x="15" y="279"/>
                      <a:pt x="15" y="279"/>
                      <a:pt x="15" y="279"/>
                    </a:cubicBezTo>
                    <a:cubicBezTo>
                      <a:pt x="17" y="313"/>
                      <a:pt x="17" y="313"/>
                      <a:pt x="17" y="313"/>
                    </a:cubicBezTo>
                    <a:cubicBezTo>
                      <a:pt x="10" y="351"/>
                      <a:pt x="10" y="351"/>
                      <a:pt x="10" y="351"/>
                    </a:cubicBezTo>
                    <a:cubicBezTo>
                      <a:pt x="9" y="370"/>
                      <a:pt x="9" y="370"/>
                      <a:pt x="9" y="370"/>
                    </a:cubicBezTo>
                    <a:cubicBezTo>
                      <a:pt x="15" y="367"/>
                      <a:pt x="15" y="367"/>
                      <a:pt x="15" y="367"/>
                    </a:cubicBezTo>
                    <a:cubicBezTo>
                      <a:pt x="22" y="378"/>
                      <a:pt x="22" y="378"/>
                      <a:pt x="22" y="378"/>
                    </a:cubicBezTo>
                    <a:cubicBezTo>
                      <a:pt x="70" y="378"/>
                      <a:pt x="70" y="378"/>
                      <a:pt x="70" y="378"/>
                    </a:cubicBezTo>
                    <a:cubicBezTo>
                      <a:pt x="71" y="378"/>
                      <a:pt x="71" y="378"/>
                      <a:pt x="71" y="378"/>
                    </a:cubicBezTo>
                    <a:cubicBezTo>
                      <a:pt x="110" y="371"/>
                      <a:pt x="110" y="371"/>
                      <a:pt x="110" y="371"/>
                    </a:cubicBez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06" y="332"/>
                      <a:pt x="106" y="332"/>
                      <a:pt x="106" y="332"/>
                    </a:cubicBezTo>
                    <a:cubicBezTo>
                      <a:pt x="114" y="307"/>
                      <a:pt x="114" y="307"/>
                      <a:pt x="114" y="307"/>
                    </a:cubicBezTo>
                    <a:cubicBezTo>
                      <a:pt x="121" y="275"/>
                      <a:pt x="121" y="275"/>
                      <a:pt x="121" y="275"/>
                    </a:cubicBezTo>
                    <a:cubicBezTo>
                      <a:pt x="136" y="249"/>
                      <a:pt x="136" y="249"/>
                      <a:pt x="136" y="249"/>
                    </a:cubicBezTo>
                    <a:cubicBezTo>
                      <a:pt x="142" y="252"/>
                      <a:pt x="142" y="252"/>
                      <a:pt x="142" y="252"/>
                    </a:cubicBezTo>
                    <a:cubicBezTo>
                      <a:pt x="144" y="264"/>
                      <a:pt x="144" y="264"/>
                      <a:pt x="144" y="264"/>
                    </a:cubicBezTo>
                    <a:cubicBezTo>
                      <a:pt x="156" y="264"/>
                      <a:pt x="156" y="264"/>
                      <a:pt x="156" y="264"/>
                    </a:cubicBezTo>
                    <a:cubicBezTo>
                      <a:pt x="158" y="270"/>
                      <a:pt x="158" y="270"/>
                      <a:pt x="158" y="270"/>
                    </a:cubicBezTo>
                    <a:cubicBezTo>
                      <a:pt x="170" y="275"/>
                      <a:pt x="170" y="275"/>
                      <a:pt x="170" y="275"/>
                    </a:cubicBezTo>
                    <a:cubicBezTo>
                      <a:pt x="179" y="273"/>
                      <a:pt x="179" y="273"/>
                      <a:pt x="179" y="273"/>
                    </a:cubicBezTo>
                    <a:cubicBezTo>
                      <a:pt x="182" y="267"/>
                      <a:pt x="182" y="267"/>
                      <a:pt x="182" y="267"/>
                    </a:cubicBezTo>
                    <a:cubicBezTo>
                      <a:pt x="194" y="254"/>
                      <a:pt x="194" y="254"/>
                      <a:pt x="194" y="254"/>
                    </a:cubicBezTo>
                    <a:cubicBezTo>
                      <a:pt x="216" y="252"/>
                      <a:pt x="216" y="252"/>
                      <a:pt x="216" y="252"/>
                    </a:cubicBezTo>
                    <a:cubicBezTo>
                      <a:pt x="225" y="242"/>
                      <a:pt x="225" y="242"/>
                      <a:pt x="225" y="242"/>
                    </a:cubicBezTo>
                    <a:cubicBezTo>
                      <a:pt x="222" y="231"/>
                      <a:pt x="222" y="231"/>
                      <a:pt x="222" y="231"/>
                    </a:cubicBezTo>
                    <a:cubicBezTo>
                      <a:pt x="232" y="227"/>
                      <a:pt x="232" y="227"/>
                      <a:pt x="232" y="227"/>
                    </a:cubicBezTo>
                    <a:cubicBezTo>
                      <a:pt x="230" y="219"/>
                      <a:pt x="230" y="219"/>
                      <a:pt x="230" y="219"/>
                    </a:cubicBezTo>
                    <a:cubicBezTo>
                      <a:pt x="256" y="222"/>
                      <a:pt x="256" y="222"/>
                      <a:pt x="256" y="222"/>
                    </a:cubicBezTo>
                    <a:cubicBezTo>
                      <a:pt x="267" y="237"/>
                      <a:pt x="267" y="237"/>
                      <a:pt x="267" y="237"/>
                    </a:cubicBezTo>
                    <a:cubicBezTo>
                      <a:pt x="295" y="230"/>
                      <a:pt x="295" y="230"/>
                      <a:pt x="295" y="230"/>
                    </a:cubicBezTo>
                    <a:cubicBezTo>
                      <a:pt x="297" y="214"/>
                      <a:pt x="297" y="214"/>
                      <a:pt x="297" y="214"/>
                    </a:cubicBezTo>
                    <a:cubicBezTo>
                      <a:pt x="292" y="202"/>
                      <a:pt x="292" y="202"/>
                      <a:pt x="292" y="202"/>
                    </a:cubicBezTo>
                    <a:cubicBezTo>
                      <a:pt x="278" y="194"/>
                      <a:pt x="278" y="194"/>
                      <a:pt x="278" y="194"/>
                    </a:cubicBezTo>
                    <a:cubicBezTo>
                      <a:pt x="280" y="191"/>
                      <a:pt x="280" y="191"/>
                      <a:pt x="280" y="191"/>
                    </a:cubicBezTo>
                    <a:cubicBezTo>
                      <a:pt x="273" y="178"/>
                      <a:pt x="273" y="178"/>
                      <a:pt x="273" y="178"/>
                    </a:cubicBezTo>
                    <a:cubicBezTo>
                      <a:pt x="293" y="173"/>
                      <a:pt x="293" y="173"/>
                      <a:pt x="293" y="173"/>
                    </a:cubicBezTo>
                    <a:cubicBezTo>
                      <a:pt x="299" y="178"/>
                      <a:pt x="299" y="178"/>
                      <a:pt x="299" y="178"/>
                    </a:cubicBezTo>
                    <a:cubicBezTo>
                      <a:pt x="305" y="177"/>
                      <a:pt x="305" y="177"/>
                      <a:pt x="305" y="177"/>
                    </a:cubicBezTo>
                    <a:cubicBezTo>
                      <a:pt x="309" y="172"/>
                      <a:pt x="309" y="172"/>
                      <a:pt x="309" y="172"/>
                    </a:cubicBezTo>
                    <a:cubicBezTo>
                      <a:pt x="335" y="163"/>
                      <a:pt x="335" y="163"/>
                      <a:pt x="335" y="163"/>
                    </a:cubicBezTo>
                    <a:cubicBezTo>
                      <a:pt x="341" y="156"/>
                      <a:pt x="341" y="156"/>
                      <a:pt x="341" y="156"/>
                    </a:cubicBezTo>
                    <a:cubicBezTo>
                      <a:pt x="352" y="163"/>
                      <a:pt x="352" y="163"/>
                      <a:pt x="352" y="163"/>
                    </a:cubicBezTo>
                    <a:cubicBezTo>
                      <a:pt x="360" y="174"/>
                      <a:pt x="360" y="174"/>
                      <a:pt x="360" y="174"/>
                    </a:cubicBezTo>
                    <a:cubicBezTo>
                      <a:pt x="363" y="174"/>
                      <a:pt x="363" y="174"/>
                      <a:pt x="363" y="174"/>
                    </a:cubicBezTo>
                    <a:cubicBezTo>
                      <a:pt x="373" y="174"/>
                      <a:pt x="373" y="174"/>
                      <a:pt x="373" y="174"/>
                    </a:cubicBezTo>
                    <a:cubicBezTo>
                      <a:pt x="377" y="157"/>
                      <a:pt x="377" y="157"/>
                      <a:pt x="377" y="157"/>
                    </a:cubicBezTo>
                    <a:cubicBezTo>
                      <a:pt x="367" y="145"/>
                      <a:pt x="367" y="145"/>
                      <a:pt x="367" y="145"/>
                    </a:cubicBezTo>
                    <a:cubicBezTo>
                      <a:pt x="369" y="123"/>
                      <a:pt x="369" y="123"/>
                      <a:pt x="369" y="123"/>
                    </a:cubicBezTo>
                    <a:cubicBezTo>
                      <a:pt x="376" y="112"/>
                      <a:pt x="376" y="112"/>
                      <a:pt x="376" y="112"/>
                    </a:cubicBezTo>
                    <a:cubicBezTo>
                      <a:pt x="360" y="104"/>
                      <a:pt x="360" y="104"/>
                      <a:pt x="360" y="104"/>
                    </a:cubicBezTo>
                    <a:cubicBezTo>
                      <a:pt x="377" y="90"/>
                      <a:pt x="377" y="90"/>
                      <a:pt x="377" y="90"/>
                    </a:cubicBezTo>
                    <a:cubicBezTo>
                      <a:pt x="382" y="70"/>
                      <a:pt x="382" y="70"/>
                      <a:pt x="382" y="70"/>
                    </a:cubicBezTo>
                    <a:cubicBezTo>
                      <a:pt x="374" y="64"/>
                      <a:pt x="374" y="64"/>
                      <a:pt x="374" y="64"/>
                    </a:cubicBezTo>
                    <a:cubicBezTo>
                      <a:pt x="380" y="38"/>
                      <a:pt x="380" y="38"/>
                      <a:pt x="380" y="38"/>
                    </a:cubicBezTo>
                    <a:cubicBezTo>
                      <a:pt x="388" y="16"/>
                      <a:pt x="388" y="16"/>
                      <a:pt x="388" y="16"/>
                    </a:cubicBezTo>
                    <a:cubicBezTo>
                      <a:pt x="388" y="16"/>
                      <a:pt x="388" y="16"/>
                      <a:pt x="388" y="16"/>
                    </a:cubicBezTo>
                    <a:cubicBezTo>
                      <a:pt x="246" y="16"/>
                      <a:pt x="246" y="16"/>
                      <a:pt x="246" y="16"/>
                    </a:cubicBezTo>
                    <a:lnTo>
                      <a:pt x="237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636;g1e20f346e65_0_0">
                <a:extLst>
                  <a:ext uri="{FF2B5EF4-FFF2-40B4-BE49-F238E27FC236}">
                    <a16:creationId xmlns:a16="http://schemas.microsoft.com/office/drawing/2014/main" xmlns="" id="{605AC831-3F45-9B08-FC48-71C98B61A352}"/>
                  </a:ext>
                </a:extLst>
              </p:cNvPr>
              <p:cNvSpPr/>
              <p:nvPr/>
            </p:nvSpPr>
            <p:spPr>
              <a:xfrm>
                <a:off x="6673468" y="2785734"/>
                <a:ext cx="521436" cy="628629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91" extrusionOk="0">
                    <a:moveTo>
                      <a:pt x="267" y="0"/>
                    </a:moveTo>
                    <a:cubicBezTo>
                      <a:pt x="261" y="5"/>
                      <a:pt x="261" y="5"/>
                      <a:pt x="261" y="5"/>
                    </a:cubicBezTo>
                    <a:cubicBezTo>
                      <a:pt x="247" y="5"/>
                      <a:pt x="247" y="5"/>
                      <a:pt x="247" y="5"/>
                    </a:cubicBezTo>
                    <a:cubicBezTo>
                      <a:pt x="215" y="14"/>
                      <a:pt x="215" y="14"/>
                      <a:pt x="215" y="14"/>
                    </a:cubicBezTo>
                    <a:cubicBezTo>
                      <a:pt x="216" y="33"/>
                      <a:pt x="216" y="33"/>
                      <a:pt x="216" y="33"/>
                    </a:cubicBezTo>
                    <a:cubicBezTo>
                      <a:pt x="192" y="38"/>
                      <a:pt x="192" y="38"/>
                      <a:pt x="192" y="38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3" y="43"/>
                      <a:pt x="173" y="43"/>
                      <a:pt x="173" y="43"/>
                    </a:cubicBezTo>
                    <a:cubicBezTo>
                      <a:pt x="165" y="43"/>
                      <a:pt x="165" y="43"/>
                      <a:pt x="165" y="43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38" y="22"/>
                      <a:pt x="138" y="22"/>
                      <a:pt x="138" y="22"/>
                    </a:cubicBezTo>
                    <a:cubicBezTo>
                      <a:pt x="125" y="24"/>
                      <a:pt x="125" y="24"/>
                      <a:pt x="125" y="24"/>
                    </a:cubicBezTo>
                    <a:cubicBezTo>
                      <a:pt x="108" y="19"/>
                      <a:pt x="108" y="19"/>
                      <a:pt x="108" y="19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51"/>
                      <a:pt x="38" y="51"/>
                      <a:pt x="38" y="51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49" y="84"/>
                      <a:pt x="49" y="84"/>
                      <a:pt x="49" y="84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37" y="87"/>
                      <a:pt x="37" y="87"/>
                      <a:pt x="37" y="87"/>
                    </a:cubicBezTo>
                    <a:cubicBezTo>
                      <a:pt x="38" y="70"/>
                      <a:pt x="38" y="70"/>
                      <a:pt x="38" y="70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6" y="85"/>
                      <a:pt x="6" y="85"/>
                      <a:pt x="6" y="8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17" y="119"/>
                      <a:pt x="17" y="119"/>
                      <a:pt x="17" y="119"/>
                    </a:cubicBezTo>
                    <a:cubicBezTo>
                      <a:pt x="24" y="123"/>
                      <a:pt x="24" y="123"/>
                      <a:pt x="24" y="123"/>
                    </a:cubicBezTo>
                    <a:cubicBezTo>
                      <a:pt x="34" y="141"/>
                      <a:pt x="34" y="141"/>
                      <a:pt x="34" y="141"/>
                    </a:cubicBezTo>
                    <a:cubicBezTo>
                      <a:pt x="33" y="160"/>
                      <a:pt x="33" y="160"/>
                      <a:pt x="33" y="160"/>
                    </a:cubicBezTo>
                    <a:cubicBezTo>
                      <a:pt x="29" y="180"/>
                      <a:pt x="29" y="180"/>
                      <a:pt x="29" y="180"/>
                    </a:cubicBezTo>
                    <a:cubicBezTo>
                      <a:pt x="24" y="185"/>
                      <a:pt x="24" y="185"/>
                      <a:pt x="24" y="185"/>
                    </a:cubicBezTo>
                    <a:cubicBezTo>
                      <a:pt x="21" y="198"/>
                      <a:pt x="21" y="198"/>
                      <a:pt x="21" y="198"/>
                    </a:cubicBezTo>
                    <a:cubicBezTo>
                      <a:pt x="12" y="207"/>
                      <a:pt x="12" y="207"/>
                      <a:pt x="12" y="207"/>
                    </a:cubicBezTo>
                    <a:cubicBezTo>
                      <a:pt x="6" y="236"/>
                      <a:pt x="6" y="236"/>
                      <a:pt x="6" y="236"/>
                    </a:cubicBezTo>
                    <a:cubicBezTo>
                      <a:pt x="20" y="236"/>
                      <a:pt x="20" y="236"/>
                      <a:pt x="20" y="236"/>
                    </a:cubicBezTo>
                    <a:cubicBezTo>
                      <a:pt x="34" y="243"/>
                      <a:pt x="34" y="243"/>
                      <a:pt x="34" y="243"/>
                    </a:cubicBezTo>
                    <a:cubicBezTo>
                      <a:pt x="31" y="257"/>
                      <a:pt x="31" y="257"/>
                      <a:pt x="31" y="257"/>
                    </a:cubicBezTo>
                    <a:cubicBezTo>
                      <a:pt x="21" y="257"/>
                      <a:pt x="21" y="257"/>
                      <a:pt x="21" y="257"/>
                    </a:cubicBezTo>
                    <a:cubicBezTo>
                      <a:pt x="14" y="273"/>
                      <a:pt x="14" y="273"/>
                      <a:pt x="14" y="273"/>
                    </a:cubicBezTo>
                    <a:cubicBezTo>
                      <a:pt x="22" y="270"/>
                      <a:pt x="22" y="270"/>
                      <a:pt x="22" y="270"/>
                    </a:cubicBezTo>
                    <a:cubicBezTo>
                      <a:pt x="40" y="282"/>
                      <a:pt x="40" y="282"/>
                      <a:pt x="40" y="282"/>
                    </a:cubicBezTo>
                    <a:cubicBezTo>
                      <a:pt x="53" y="279"/>
                      <a:pt x="53" y="279"/>
                      <a:pt x="53" y="279"/>
                    </a:cubicBezTo>
                    <a:cubicBezTo>
                      <a:pt x="65" y="291"/>
                      <a:pt x="65" y="291"/>
                      <a:pt x="65" y="291"/>
                    </a:cubicBezTo>
                    <a:cubicBezTo>
                      <a:pt x="97" y="301"/>
                      <a:pt x="97" y="301"/>
                      <a:pt x="97" y="301"/>
                    </a:cubicBezTo>
                    <a:cubicBezTo>
                      <a:pt x="120" y="332"/>
                      <a:pt x="120" y="332"/>
                      <a:pt x="120" y="332"/>
                    </a:cubicBezTo>
                    <a:cubicBezTo>
                      <a:pt x="150" y="334"/>
                      <a:pt x="150" y="334"/>
                      <a:pt x="150" y="334"/>
                    </a:cubicBezTo>
                    <a:cubicBezTo>
                      <a:pt x="158" y="358"/>
                      <a:pt x="158" y="358"/>
                      <a:pt x="158" y="358"/>
                    </a:cubicBezTo>
                    <a:cubicBezTo>
                      <a:pt x="155" y="368"/>
                      <a:pt x="155" y="368"/>
                      <a:pt x="155" y="368"/>
                    </a:cubicBezTo>
                    <a:cubicBezTo>
                      <a:pt x="134" y="373"/>
                      <a:pt x="134" y="373"/>
                      <a:pt x="134" y="373"/>
                    </a:cubicBezTo>
                    <a:cubicBezTo>
                      <a:pt x="130" y="400"/>
                      <a:pt x="130" y="400"/>
                      <a:pt x="130" y="400"/>
                    </a:cubicBezTo>
                    <a:cubicBezTo>
                      <a:pt x="144" y="409"/>
                      <a:pt x="144" y="409"/>
                      <a:pt x="144" y="409"/>
                    </a:cubicBezTo>
                    <a:cubicBezTo>
                      <a:pt x="161" y="428"/>
                      <a:pt x="161" y="428"/>
                      <a:pt x="161" y="428"/>
                    </a:cubicBezTo>
                    <a:cubicBezTo>
                      <a:pt x="183" y="425"/>
                      <a:pt x="183" y="425"/>
                      <a:pt x="183" y="425"/>
                    </a:cubicBezTo>
                    <a:cubicBezTo>
                      <a:pt x="187" y="429"/>
                      <a:pt x="187" y="429"/>
                      <a:pt x="187" y="429"/>
                    </a:cubicBezTo>
                    <a:cubicBezTo>
                      <a:pt x="221" y="436"/>
                      <a:pt x="221" y="436"/>
                      <a:pt x="221" y="436"/>
                    </a:cubicBezTo>
                    <a:cubicBezTo>
                      <a:pt x="221" y="461"/>
                      <a:pt x="221" y="461"/>
                      <a:pt x="221" y="461"/>
                    </a:cubicBezTo>
                    <a:cubicBezTo>
                      <a:pt x="222" y="471"/>
                      <a:pt x="222" y="471"/>
                      <a:pt x="222" y="471"/>
                    </a:cubicBezTo>
                    <a:cubicBezTo>
                      <a:pt x="206" y="473"/>
                      <a:pt x="206" y="473"/>
                      <a:pt x="206" y="473"/>
                    </a:cubicBezTo>
                    <a:cubicBezTo>
                      <a:pt x="206" y="474"/>
                      <a:pt x="206" y="474"/>
                      <a:pt x="206" y="474"/>
                    </a:cubicBezTo>
                    <a:cubicBezTo>
                      <a:pt x="223" y="490"/>
                      <a:pt x="223" y="490"/>
                      <a:pt x="223" y="490"/>
                    </a:cubicBezTo>
                    <a:cubicBezTo>
                      <a:pt x="239" y="487"/>
                      <a:pt x="239" y="487"/>
                      <a:pt x="239" y="487"/>
                    </a:cubicBezTo>
                    <a:cubicBezTo>
                      <a:pt x="267" y="491"/>
                      <a:pt x="267" y="491"/>
                      <a:pt x="267" y="491"/>
                    </a:cubicBezTo>
                    <a:cubicBezTo>
                      <a:pt x="275" y="484"/>
                      <a:pt x="275" y="484"/>
                      <a:pt x="275" y="484"/>
                    </a:cubicBezTo>
                    <a:cubicBezTo>
                      <a:pt x="256" y="453"/>
                      <a:pt x="256" y="453"/>
                      <a:pt x="256" y="453"/>
                    </a:cubicBezTo>
                    <a:cubicBezTo>
                      <a:pt x="264" y="443"/>
                      <a:pt x="264" y="443"/>
                      <a:pt x="264" y="443"/>
                    </a:cubicBezTo>
                    <a:cubicBezTo>
                      <a:pt x="290" y="441"/>
                      <a:pt x="290" y="441"/>
                      <a:pt x="290" y="441"/>
                    </a:cubicBezTo>
                    <a:cubicBezTo>
                      <a:pt x="304" y="448"/>
                      <a:pt x="304" y="448"/>
                      <a:pt x="304" y="448"/>
                    </a:cubicBezTo>
                    <a:cubicBezTo>
                      <a:pt x="323" y="446"/>
                      <a:pt x="323" y="446"/>
                      <a:pt x="323" y="446"/>
                    </a:cubicBezTo>
                    <a:cubicBezTo>
                      <a:pt x="332" y="436"/>
                      <a:pt x="332" y="436"/>
                      <a:pt x="332" y="436"/>
                    </a:cubicBezTo>
                    <a:cubicBezTo>
                      <a:pt x="328" y="424"/>
                      <a:pt x="328" y="424"/>
                      <a:pt x="328" y="424"/>
                    </a:cubicBezTo>
                    <a:cubicBezTo>
                      <a:pt x="340" y="404"/>
                      <a:pt x="340" y="404"/>
                      <a:pt x="340" y="404"/>
                    </a:cubicBezTo>
                    <a:cubicBezTo>
                      <a:pt x="372" y="376"/>
                      <a:pt x="372" y="376"/>
                      <a:pt x="372" y="376"/>
                    </a:cubicBezTo>
                    <a:cubicBezTo>
                      <a:pt x="372" y="376"/>
                      <a:pt x="374" y="374"/>
                      <a:pt x="375" y="374"/>
                    </a:cubicBezTo>
                    <a:cubicBezTo>
                      <a:pt x="359" y="347"/>
                      <a:pt x="359" y="347"/>
                      <a:pt x="359" y="347"/>
                    </a:cubicBezTo>
                    <a:cubicBezTo>
                      <a:pt x="370" y="324"/>
                      <a:pt x="370" y="324"/>
                      <a:pt x="370" y="324"/>
                    </a:cubicBezTo>
                    <a:cubicBezTo>
                      <a:pt x="376" y="298"/>
                      <a:pt x="376" y="298"/>
                      <a:pt x="376" y="298"/>
                    </a:cubicBezTo>
                    <a:cubicBezTo>
                      <a:pt x="370" y="273"/>
                      <a:pt x="370" y="273"/>
                      <a:pt x="370" y="273"/>
                    </a:cubicBezTo>
                    <a:cubicBezTo>
                      <a:pt x="345" y="243"/>
                      <a:pt x="345" y="243"/>
                      <a:pt x="345" y="243"/>
                    </a:cubicBezTo>
                    <a:cubicBezTo>
                      <a:pt x="349" y="207"/>
                      <a:pt x="349" y="207"/>
                      <a:pt x="349" y="207"/>
                    </a:cubicBezTo>
                    <a:cubicBezTo>
                      <a:pt x="371" y="176"/>
                      <a:pt x="371" y="176"/>
                      <a:pt x="371" y="176"/>
                    </a:cubicBezTo>
                    <a:cubicBezTo>
                      <a:pt x="384" y="134"/>
                      <a:pt x="384" y="134"/>
                      <a:pt x="384" y="134"/>
                    </a:cubicBezTo>
                    <a:cubicBezTo>
                      <a:pt x="384" y="77"/>
                      <a:pt x="384" y="77"/>
                      <a:pt x="384" y="77"/>
                    </a:cubicBezTo>
                    <a:cubicBezTo>
                      <a:pt x="339" y="79"/>
                      <a:pt x="339" y="79"/>
                      <a:pt x="339" y="79"/>
                    </a:cubicBezTo>
                    <a:cubicBezTo>
                      <a:pt x="310" y="26"/>
                      <a:pt x="310" y="26"/>
                      <a:pt x="310" y="26"/>
                    </a:cubicBezTo>
                    <a:cubicBezTo>
                      <a:pt x="314" y="26"/>
                      <a:pt x="314" y="26"/>
                      <a:pt x="314" y="26"/>
                    </a:cubicBezTo>
                    <a:cubicBezTo>
                      <a:pt x="307" y="5"/>
                      <a:pt x="307" y="5"/>
                      <a:pt x="307" y="5"/>
                    </a:cubicBezTo>
                    <a:cubicBezTo>
                      <a:pt x="278" y="7"/>
                      <a:pt x="278" y="7"/>
                      <a:pt x="278" y="7"/>
                    </a:cubicBezTo>
                    <a:lnTo>
                      <a:pt x="267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637;g1e20f346e65_0_0">
                <a:extLst>
                  <a:ext uri="{FF2B5EF4-FFF2-40B4-BE49-F238E27FC236}">
                    <a16:creationId xmlns:a16="http://schemas.microsoft.com/office/drawing/2014/main" xmlns="" id="{C95F33DF-A83B-FD96-FC9D-6622509F56C0}"/>
                  </a:ext>
                </a:extLst>
              </p:cNvPr>
              <p:cNvSpPr/>
              <p:nvPr/>
            </p:nvSpPr>
            <p:spPr>
              <a:xfrm>
                <a:off x="6634231" y="3168167"/>
                <a:ext cx="340741" cy="5790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52" extrusionOk="0">
                    <a:moveTo>
                      <a:pt x="119" y="0"/>
                    </a:moveTo>
                    <a:cubicBezTo>
                      <a:pt x="119" y="19"/>
                      <a:pt x="119" y="19"/>
                      <a:pt x="119" y="19"/>
                    </a:cubicBezTo>
                    <a:cubicBezTo>
                      <a:pt x="116" y="42"/>
                      <a:pt x="116" y="42"/>
                      <a:pt x="116" y="42"/>
                    </a:cubicBezTo>
                    <a:cubicBezTo>
                      <a:pt x="107" y="52"/>
                      <a:pt x="107" y="52"/>
                      <a:pt x="107" y="52"/>
                    </a:cubicBezTo>
                    <a:cubicBezTo>
                      <a:pt x="88" y="59"/>
                      <a:pt x="88" y="59"/>
                      <a:pt x="88" y="59"/>
                    </a:cubicBezTo>
                    <a:cubicBezTo>
                      <a:pt x="84" y="70"/>
                      <a:pt x="84" y="70"/>
                      <a:pt x="84" y="70"/>
                    </a:cubicBezTo>
                    <a:cubicBezTo>
                      <a:pt x="77" y="81"/>
                      <a:pt x="77" y="81"/>
                      <a:pt x="77" y="81"/>
                    </a:cubicBezTo>
                    <a:cubicBezTo>
                      <a:pt x="62" y="91"/>
                      <a:pt x="62" y="91"/>
                      <a:pt x="62" y="91"/>
                    </a:cubicBezTo>
                    <a:cubicBezTo>
                      <a:pt x="64" y="104"/>
                      <a:pt x="64" y="104"/>
                      <a:pt x="64" y="104"/>
                    </a:cubicBezTo>
                    <a:cubicBezTo>
                      <a:pt x="69" y="115"/>
                      <a:pt x="69" y="115"/>
                      <a:pt x="69" y="115"/>
                    </a:cubicBezTo>
                    <a:cubicBezTo>
                      <a:pt x="60" y="121"/>
                      <a:pt x="60" y="121"/>
                      <a:pt x="60" y="121"/>
                    </a:cubicBezTo>
                    <a:cubicBezTo>
                      <a:pt x="49" y="109"/>
                      <a:pt x="49" y="109"/>
                      <a:pt x="49" y="109"/>
                    </a:cubicBezTo>
                    <a:cubicBezTo>
                      <a:pt x="39" y="109"/>
                      <a:pt x="39" y="109"/>
                      <a:pt x="39" y="109"/>
                    </a:cubicBezTo>
                    <a:cubicBezTo>
                      <a:pt x="25" y="114"/>
                      <a:pt x="25" y="114"/>
                      <a:pt x="25" y="114"/>
                    </a:cubicBezTo>
                    <a:cubicBezTo>
                      <a:pt x="23" y="130"/>
                      <a:pt x="23" y="130"/>
                      <a:pt x="23" y="130"/>
                    </a:cubicBezTo>
                    <a:cubicBezTo>
                      <a:pt x="18" y="147"/>
                      <a:pt x="18" y="147"/>
                      <a:pt x="18" y="147"/>
                    </a:cubicBezTo>
                    <a:cubicBezTo>
                      <a:pt x="25" y="160"/>
                      <a:pt x="25" y="160"/>
                      <a:pt x="25" y="160"/>
                    </a:cubicBezTo>
                    <a:cubicBezTo>
                      <a:pt x="38" y="165"/>
                      <a:pt x="38" y="165"/>
                      <a:pt x="38" y="165"/>
                    </a:cubicBezTo>
                    <a:cubicBezTo>
                      <a:pt x="55" y="185"/>
                      <a:pt x="55" y="185"/>
                      <a:pt x="55" y="185"/>
                    </a:cubicBezTo>
                    <a:cubicBezTo>
                      <a:pt x="55" y="196"/>
                      <a:pt x="55" y="196"/>
                      <a:pt x="55" y="196"/>
                    </a:cubicBezTo>
                    <a:cubicBezTo>
                      <a:pt x="49" y="204"/>
                      <a:pt x="49" y="204"/>
                      <a:pt x="49" y="204"/>
                    </a:cubicBezTo>
                    <a:cubicBezTo>
                      <a:pt x="32" y="205"/>
                      <a:pt x="32" y="205"/>
                      <a:pt x="32" y="205"/>
                    </a:cubicBezTo>
                    <a:cubicBezTo>
                      <a:pt x="16" y="231"/>
                      <a:pt x="16" y="231"/>
                      <a:pt x="16" y="231"/>
                    </a:cubicBezTo>
                    <a:cubicBezTo>
                      <a:pt x="14" y="249"/>
                      <a:pt x="14" y="249"/>
                      <a:pt x="14" y="249"/>
                    </a:cubicBezTo>
                    <a:cubicBezTo>
                      <a:pt x="7" y="259"/>
                      <a:pt x="7" y="259"/>
                      <a:pt x="7" y="259"/>
                    </a:cubicBezTo>
                    <a:cubicBezTo>
                      <a:pt x="11" y="290"/>
                      <a:pt x="11" y="290"/>
                      <a:pt x="11" y="290"/>
                    </a:cubicBezTo>
                    <a:cubicBezTo>
                      <a:pt x="0" y="296"/>
                      <a:pt x="0" y="296"/>
                      <a:pt x="0" y="296"/>
                    </a:cubicBezTo>
                    <a:cubicBezTo>
                      <a:pt x="19" y="313"/>
                      <a:pt x="19" y="313"/>
                      <a:pt x="19" y="313"/>
                    </a:cubicBezTo>
                    <a:cubicBezTo>
                      <a:pt x="3" y="337"/>
                      <a:pt x="3" y="337"/>
                      <a:pt x="3" y="337"/>
                    </a:cubicBezTo>
                    <a:cubicBezTo>
                      <a:pt x="14" y="355"/>
                      <a:pt x="14" y="355"/>
                      <a:pt x="14" y="355"/>
                    </a:cubicBezTo>
                    <a:cubicBezTo>
                      <a:pt x="18" y="365"/>
                      <a:pt x="18" y="365"/>
                      <a:pt x="18" y="365"/>
                    </a:cubicBezTo>
                    <a:cubicBezTo>
                      <a:pt x="18" y="374"/>
                      <a:pt x="18" y="374"/>
                      <a:pt x="18" y="374"/>
                    </a:cubicBezTo>
                    <a:cubicBezTo>
                      <a:pt x="21" y="374"/>
                      <a:pt x="21" y="374"/>
                      <a:pt x="21" y="374"/>
                    </a:cubicBezTo>
                    <a:cubicBezTo>
                      <a:pt x="27" y="392"/>
                      <a:pt x="27" y="392"/>
                      <a:pt x="27" y="392"/>
                    </a:cubicBezTo>
                    <a:cubicBezTo>
                      <a:pt x="23" y="415"/>
                      <a:pt x="23" y="415"/>
                      <a:pt x="23" y="415"/>
                    </a:cubicBezTo>
                    <a:cubicBezTo>
                      <a:pt x="23" y="415"/>
                      <a:pt x="25" y="418"/>
                      <a:pt x="26" y="420"/>
                    </a:cubicBezTo>
                    <a:cubicBezTo>
                      <a:pt x="44" y="426"/>
                      <a:pt x="44" y="426"/>
                      <a:pt x="44" y="426"/>
                    </a:cubicBezTo>
                    <a:cubicBezTo>
                      <a:pt x="64" y="440"/>
                      <a:pt x="64" y="440"/>
                      <a:pt x="64" y="440"/>
                    </a:cubicBezTo>
                    <a:cubicBezTo>
                      <a:pt x="102" y="443"/>
                      <a:pt x="102" y="443"/>
                      <a:pt x="102" y="443"/>
                    </a:cubicBezTo>
                    <a:cubicBezTo>
                      <a:pt x="110" y="431"/>
                      <a:pt x="110" y="431"/>
                      <a:pt x="110" y="431"/>
                    </a:cubicBezTo>
                    <a:cubicBezTo>
                      <a:pt x="121" y="430"/>
                      <a:pt x="121" y="430"/>
                      <a:pt x="121" y="430"/>
                    </a:cubicBezTo>
                    <a:cubicBezTo>
                      <a:pt x="121" y="430"/>
                      <a:pt x="125" y="441"/>
                      <a:pt x="128" y="446"/>
                    </a:cubicBezTo>
                    <a:cubicBezTo>
                      <a:pt x="131" y="452"/>
                      <a:pt x="161" y="452"/>
                      <a:pt x="161" y="452"/>
                    </a:cubicBezTo>
                    <a:cubicBezTo>
                      <a:pt x="176" y="445"/>
                      <a:pt x="176" y="445"/>
                      <a:pt x="176" y="445"/>
                    </a:cubicBezTo>
                    <a:cubicBezTo>
                      <a:pt x="177" y="426"/>
                      <a:pt x="177" y="426"/>
                      <a:pt x="177" y="426"/>
                    </a:cubicBezTo>
                    <a:cubicBezTo>
                      <a:pt x="184" y="388"/>
                      <a:pt x="184" y="388"/>
                      <a:pt x="184" y="388"/>
                    </a:cubicBezTo>
                    <a:cubicBezTo>
                      <a:pt x="182" y="354"/>
                      <a:pt x="182" y="354"/>
                      <a:pt x="182" y="354"/>
                    </a:cubicBezTo>
                    <a:cubicBezTo>
                      <a:pt x="183" y="338"/>
                      <a:pt x="183" y="338"/>
                      <a:pt x="183" y="338"/>
                    </a:cubicBezTo>
                    <a:cubicBezTo>
                      <a:pt x="190" y="325"/>
                      <a:pt x="190" y="325"/>
                      <a:pt x="190" y="325"/>
                    </a:cubicBezTo>
                    <a:cubicBezTo>
                      <a:pt x="174" y="314"/>
                      <a:pt x="174" y="314"/>
                      <a:pt x="174" y="314"/>
                    </a:cubicBezTo>
                    <a:cubicBezTo>
                      <a:pt x="167" y="281"/>
                      <a:pt x="167" y="281"/>
                      <a:pt x="167" y="281"/>
                    </a:cubicBezTo>
                    <a:cubicBezTo>
                      <a:pt x="177" y="275"/>
                      <a:pt x="177" y="275"/>
                      <a:pt x="177" y="275"/>
                    </a:cubicBezTo>
                    <a:cubicBezTo>
                      <a:pt x="178" y="258"/>
                      <a:pt x="178" y="258"/>
                      <a:pt x="178" y="258"/>
                    </a:cubicBezTo>
                    <a:cubicBezTo>
                      <a:pt x="169" y="251"/>
                      <a:pt x="169" y="251"/>
                      <a:pt x="169" y="251"/>
                    </a:cubicBezTo>
                    <a:cubicBezTo>
                      <a:pt x="178" y="242"/>
                      <a:pt x="178" y="242"/>
                      <a:pt x="178" y="242"/>
                    </a:cubicBezTo>
                    <a:cubicBezTo>
                      <a:pt x="155" y="224"/>
                      <a:pt x="155" y="224"/>
                      <a:pt x="155" y="224"/>
                    </a:cubicBezTo>
                    <a:cubicBezTo>
                      <a:pt x="167" y="191"/>
                      <a:pt x="167" y="191"/>
                      <a:pt x="167" y="191"/>
                    </a:cubicBezTo>
                    <a:cubicBezTo>
                      <a:pt x="189" y="190"/>
                      <a:pt x="189" y="190"/>
                      <a:pt x="189" y="190"/>
                    </a:cubicBezTo>
                    <a:cubicBezTo>
                      <a:pt x="205" y="183"/>
                      <a:pt x="205" y="183"/>
                      <a:pt x="205" y="183"/>
                    </a:cubicBezTo>
                    <a:cubicBezTo>
                      <a:pt x="215" y="188"/>
                      <a:pt x="215" y="188"/>
                      <a:pt x="215" y="188"/>
                    </a:cubicBezTo>
                    <a:cubicBezTo>
                      <a:pt x="232" y="180"/>
                      <a:pt x="232" y="180"/>
                      <a:pt x="232" y="180"/>
                    </a:cubicBezTo>
                    <a:cubicBezTo>
                      <a:pt x="235" y="174"/>
                      <a:pt x="235" y="174"/>
                      <a:pt x="235" y="174"/>
                    </a:cubicBezTo>
                    <a:cubicBezTo>
                      <a:pt x="251" y="172"/>
                      <a:pt x="251" y="172"/>
                      <a:pt x="251" y="172"/>
                    </a:cubicBezTo>
                    <a:cubicBezTo>
                      <a:pt x="250" y="162"/>
                      <a:pt x="250" y="162"/>
                      <a:pt x="250" y="162"/>
                    </a:cubicBezTo>
                    <a:cubicBezTo>
                      <a:pt x="250" y="137"/>
                      <a:pt x="250" y="137"/>
                      <a:pt x="250" y="137"/>
                    </a:cubicBezTo>
                    <a:cubicBezTo>
                      <a:pt x="216" y="130"/>
                      <a:pt x="216" y="130"/>
                      <a:pt x="216" y="130"/>
                    </a:cubicBezTo>
                    <a:cubicBezTo>
                      <a:pt x="212" y="126"/>
                      <a:pt x="212" y="126"/>
                      <a:pt x="212" y="126"/>
                    </a:cubicBezTo>
                    <a:cubicBezTo>
                      <a:pt x="190" y="129"/>
                      <a:pt x="190" y="129"/>
                      <a:pt x="190" y="129"/>
                    </a:cubicBezTo>
                    <a:cubicBezTo>
                      <a:pt x="173" y="110"/>
                      <a:pt x="173" y="110"/>
                      <a:pt x="173" y="110"/>
                    </a:cubicBezTo>
                    <a:cubicBezTo>
                      <a:pt x="159" y="101"/>
                      <a:pt x="159" y="101"/>
                      <a:pt x="159" y="101"/>
                    </a:cubicBezTo>
                    <a:cubicBezTo>
                      <a:pt x="163" y="74"/>
                      <a:pt x="163" y="74"/>
                      <a:pt x="163" y="74"/>
                    </a:cubicBezTo>
                    <a:cubicBezTo>
                      <a:pt x="184" y="69"/>
                      <a:pt x="184" y="69"/>
                      <a:pt x="184" y="69"/>
                    </a:cubicBezTo>
                    <a:cubicBezTo>
                      <a:pt x="187" y="59"/>
                      <a:pt x="187" y="59"/>
                      <a:pt x="187" y="59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49" y="33"/>
                      <a:pt x="149" y="33"/>
                      <a:pt x="149" y="33"/>
                    </a:cubicBezTo>
                    <a:cubicBezTo>
                      <a:pt x="126" y="2"/>
                      <a:pt x="126" y="2"/>
                      <a:pt x="126" y="2"/>
                    </a:cubicBez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D8D8D8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6993903" algn="ctr" rotWithShape="0">
                  <a:srgbClr val="B2B2B2">
                    <a:alpha val="4588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51F61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1" name="Google Shape;643;g1e20f346e65_0_0">
            <a:extLst>
              <a:ext uri="{FF2B5EF4-FFF2-40B4-BE49-F238E27FC236}">
                <a16:creationId xmlns:a16="http://schemas.microsoft.com/office/drawing/2014/main" xmlns="" id="{B516032A-36FA-0DD8-237C-6865CB81AE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2802" y="2616897"/>
            <a:ext cx="1780612" cy="686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644;g1e20f346e65_0_0">
            <a:extLst>
              <a:ext uri="{FF2B5EF4-FFF2-40B4-BE49-F238E27FC236}">
                <a16:creationId xmlns:a16="http://schemas.microsoft.com/office/drawing/2014/main" xmlns="" id="{BE909A34-2880-57F0-EB3D-817F54BD1D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1867" y="1573935"/>
            <a:ext cx="2128700" cy="92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646;g1e20f346e65_0_0">
            <a:extLst>
              <a:ext uri="{FF2B5EF4-FFF2-40B4-BE49-F238E27FC236}">
                <a16:creationId xmlns:a16="http://schemas.microsoft.com/office/drawing/2014/main" xmlns="" id="{38328731-8709-FAC5-77CA-36C50B19519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9486" y="3871362"/>
            <a:ext cx="1602209" cy="8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647;g1e20f346e65_0_0">
            <a:extLst>
              <a:ext uri="{FF2B5EF4-FFF2-40B4-BE49-F238E27FC236}">
                <a16:creationId xmlns:a16="http://schemas.microsoft.com/office/drawing/2014/main" xmlns="" id="{DB63CD37-2289-0664-FBFA-48206525D35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8093" y="3917583"/>
            <a:ext cx="1263000" cy="12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xmlns="" id="{577E66C3-9C8C-7C46-FBB8-F96734C45FF0}"/>
              </a:ext>
            </a:extLst>
          </p:cNvPr>
          <p:cNvSpPr txBox="1"/>
          <p:nvPr/>
        </p:nvSpPr>
        <p:spPr>
          <a:xfrm>
            <a:off x="1758676" y="1221569"/>
            <a:ext cx="352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Partenaires impliqués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xmlns="" id="{5A0763E6-3249-7CF5-6E93-76AA2E3242A4}"/>
              </a:ext>
            </a:extLst>
          </p:cNvPr>
          <p:cNvSpPr txBox="1"/>
          <p:nvPr/>
        </p:nvSpPr>
        <p:spPr>
          <a:xfrm>
            <a:off x="1834750" y="3536937"/>
            <a:ext cx="352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Partenaires potentiels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12" name="Organigramme : Connecteur 11">
            <a:extLst>
              <a:ext uri="{FF2B5EF4-FFF2-40B4-BE49-F238E27FC236}">
                <a16:creationId xmlns:a16="http://schemas.microsoft.com/office/drawing/2014/main" xmlns="" id="{6F129F22-0E0D-5712-7E95-576B986FA9C4}"/>
              </a:ext>
            </a:extLst>
          </p:cNvPr>
          <p:cNvSpPr/>
          <p:nvPr/>
        </p:nvSpPr>
        <p:spPr>
          <a:xfrm>
            <a:off x="6397505" y="5317067"/>
            <a:ext cx="217714" cy="237064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8" name="Organigramme : Connecteur 47">
            <a:extLst>
              <a:ext uri="{FF2B5EF4-FFF2-40B4-BE49-F238E27FC236}">
                <a16:creationId xmlns:a16="http://schemas.microsoft.com/office/drawing/2014/main" xmlns="" id="{D38D2C11-EE86-19AD-CBEA-FE87AF4357F3}"/>
              </a:ext>
            </a:extLst>
          </p:cNvPr>
          <p:cNvSpPr/>
          <p:nvPr/>
        </p:nvSpPr>
        <p:spPr>
          <a:xfrm>
            <a:off x="6411017" y="5926667"/>
            <a:ext cx="217714" cy="273974"/>
          </a:xfrm>
          <a:prstGeom prst="flowChartConnector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xmlns="" id="{C70239FE-F970-185D-6BBC-EED515A9C1D3}"/>
              </a:ext>
            </a:extLst>
          </p:cNvPr>
          <p:cNvSpPr txBox="1"/>
          <p:nvPr/>
        </p:nvSpPr>
        <p:spPr>
          <a:xfrm>
            <a:off x="6721658" y="5258515"/>
            <a:ext cx="1866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Anciennes provinces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xmlns="" id="{97BE3057-12AC-55FA-216F-83A7CAC9926D}"/>
              </a:ext>
            </a:extLst>
          </p:cNvPr>
          <p:cNvSpPr txBox="1"/>
          <p:nvPr/>
        </p:nvSpPr>
        <p:spPr>
          <a:xfrm>
            <a:off x="6721658" y="5951987"/>
            <a:ext cx="1866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Nouvelles provinces</a:t>
            </a:r>
          </a:p>
        </p:txBody>
      </p:sp>
    </p:spTree>
    <p:extLst>
      <p:ext uri="{BB962C8B-B14F-4D97-AF65-F5344CB8AC3E}">
        <p14:creationId xmlns:p14="http://schemas.microsoft.com/office/powerpoint/2010/main" val="1705813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8E75E91-7D0F-C2AE-FAA4-636656F6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61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Nouvelle </a:t>
            </a:r>
            <a:r>
              <a:rPr lang="en-US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feuille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de route Mars-Juillet 2025</a:t>
            </a:r>
            <a:endParaRPr lang="fr-FR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xmlns="" id="{2B1030D4-FDA6-25E7-BD04-6C984B7FA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72969"/>
              </p:ext>
            </p:extLst>
          </p:nvPr>
        </p:nvGraphicFramePr>
        <p:xfrm>
          <a:off x="980298" y="2100648"/>
          <a:ext cx="10240909" cy="3418467"/>
        </p:xfrm>
        <a:graphic>
          <a:graphicData uri="http://schemas.openxmlformats.org/drawingml/2006/table">
            <a:tbl>
              <a:tblPr/>
              <a:tblGrid>
                <a:gridCol w="2420912">
                  <a:extLst>
                    <a:ext uri="{9D8B030D-6E8A-4147-A177-3AD203B41FA5}">
                      <a16:colId xmlns:a16="http://schemas.microsoft.com/office/drawing/2014/main" xmlns="" val="745215130"/>
                    </a:ext>
                  </a:extLst>
                </a:gridCol>
                <a:gridCol w="1224159">
                  <a:extLst>
                    <a:ext uri="{9D8B030D-6E8A-4147-A177-3AD203B41FA5}">
                      <a16:colId xmlns:a16="http://schemas.microsoft.com/office/drawing/2014/main" xmlns="" val="1454130183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xmlns="" val="3732357022"/>
                    </a:ext>
                  </a:extLst>
                </a:gridCol>
                <a:gridCol w="420234">
                  <a:extLst>
                    <a:ext uri="{9D8B030D-6E8A-4147-A177-3AD203B41FA5}">
                      <a16:colId xmlns:a16="http://schemas.microsoft.com/office/drawing/2014/main" xmlns="" val="3676713060"/>
                    </a:ext>
                  </a:extLst>
                </a:gridCol>
                <a:gridCol w="593809">
                  <a:extLst>
                    <a:ext uri="{9D8B030D-6E8A-4147-A177-3AD203B41FA5}">
                      <a16:colId xmlns:a16="http://schemas.microsoft.com/office/drawing/2014/main" xmlns="" val="3173193046"/>
                    </a:ext>
                  </a:extLst>
                </a:gridCol>
                <a:gridCol w="283201">
                  <a:extLst>
                    <a:ext uri="{9D8B030D-6E8A-4147-A177-3AD203B41FA5}">
                      <a16:colId xmlns:a16="http://schemas.microsoft.com/office/drawing/2014/main" xmlns="" val="3941323294"/>
                    </a:ext>
                  </a:extLst>
                </a:gridCol>
                <a:gridCol w="522151">
                  <a:extLst>
                    <a:ext uri="{9D8B030D-6E8A-4147-A177-3AD203B41FA5}">
                      <a16:colId xmlns:a16="http://schemas.microsoft.com/office/drawing/2014/main" xmlns="" val="2942541617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3848119123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2679379885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3678624216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2416337056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3253060384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1323831575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1702599095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2480569742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827477777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3359891608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1059669462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1302072859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3919624789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3172151709"/>
                    </a:ext>
                  </a:extLst>
                </a:gridCol>
                <a:gridCol w="291023">
                  <a:extLst>
                    <a:ext uri="{9D8B030D-6E8A-4147-A177-3AD203B41FA5}">
                      <a16:colId xmlns:a16="http://schemas.microsoft.com/office/drawing/2014/main" xmlns="" val="3372569830"/>
                    </a:ext>
                  </a:extLst>
                </a:gridCol>
              </a:tblGrid>
              <a:tr h="31941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Activités</a:t>
                      </a:r>
                      <a:endParaRPr lang="fr-FR" sz="4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7024" marR="67024" marT="33512" marB="3351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Responsible</a:t>
                      </a:r>
                      <a:endParaRPr lang="fr-FR" sz="4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7024" marR="67024" marT="33512" marB="3351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Mars 2025</a:t>
                      </a:r>
                      <a:endParaRPr lang="fr-FR" sz="4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7024" marR="67024" marT="33512" marB="3351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Avril 2025</a:t>
                      </a:r>
                      <a:endParaRPr lang="fr-FR" sz="4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7024" marR="67024" marT="33512" marB="3351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Mai 2025</a:t>
                      </a:r>
                      <a:endParaRPr lang="fr-FR" sz="4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7024" marR="67024" marT="33512" marB="3351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Juin 2025</a:t>
                      </a:r>
                      <a:endParaRPr lang="fr-FR" sz="4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7024" marR="67024" marT="33512" marB="3351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Juillet 2025</a:t>
                      </a:r>
                      <a:endParaRPr lang="fr-FR" sz="4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7024" marR="67024" marT="33512" marB="33512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6128362"/>
                  </a:ext>
                </a:extLst>
              </a:tr>
              <a:tr h="40173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S1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S2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S3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S4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S1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S2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S3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S4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S1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S2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S3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S4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S1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S2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S3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S4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S1</a:t>
                      </a:r>
                      <a:endParaRPr lang="fr-FR" sz="32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S2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S3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S4</a:t>
                      </a:r>
                      <a:endParaRPr lang="fr-FR" sz="32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0349244"/>
                  </a:ext>
                </a:extLst>
              </a:tr>
              <a:tr h="401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Harmonisation des textes standards de différents provinces </a:t>
                      </a:r>
                      <a:endParaRPr lang="fr-FR" sz="32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PEV et partenaires</a:t>
                      </a:r>
                      <a:endParaRPr lang="fr-FR" sz="3200" b="1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80035029"/>
                  </a:ext>
                </a:extLst>
              </a:tr>
              <a:tr h="401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Partage des documents avec GAVI</a:t>
                      </a:r>
                      <a:endParaRPr lang="fr-FR" sz="32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PEV</a:t>
                      </a:r>
                      <a:endParaRPr lang="fr-FR" sz="3200" b="1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41135359"/>
                  </a:ext>
                </a:extLst>
              </a:tr>
              <a:tr h="401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Traitement des documents MoU  par GAVI</a:t>
                      </a:r>
                      <a:endParaRPr lang="fr-FR" sz="3200" b="1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GAVI</a:t>
                      </a:r>
                      <a:endParaRPr lang="fr-FR" sz="32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63033806"/>
                  </a:ext>
                </a:extLst>
              </a:tr>
              <a:tr h="401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Integration des inputs de GAVI et de PWC</a:t>
                      </a:r>
                      <a:endParaRPr lang="fr-FR" sz="3200" b="1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PEV et partenaires</a:t>
                      </a:r>
                      <a:endParaRPr lang="fr-FR" sz="3200" b="1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06316880"/>
                  </a:ext>
                </a:extLst>
              </a:tr>
              <a:tr h="3914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Organisation de la cérémonie de la signature des Protocoles d’Entente</a:t>
                      </a:r>
                      <a:endParaRPr lang="fr-FR" sz="3200" b="1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PEV</a:t>
                      </a:r>
                      <a:endParaRPr lang="fr-FR" sz="32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25668159"/>
                  </a:ext>
                </a:extLst>
              </a:tr>
              <a:tr h="6988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Formation des utilisateurs du Cadre Programmatique et du Manuel des Procédures de Gestion</a:t>
                      </a:r>
                      <a:endParaRPr lang="fr-FR" sz="3200" b="1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PEV</a:t>
                      </a:r>
                      <a:endParaRPr lang="fr-FR" sz="32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fr-FR" sz="1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654" marR="4654" marT="46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50174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820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5"/>
          <p:cNvSpPr txBox="1">
            <a:spLocks noGrp="1"/>
          </p:cNvSpPr>
          <p:nvPr>
            <p:ph type="sldNum" idx="12"/>
          </p:nvPr>
        </p:nvSpPr>
        <p:spPr>
          <a:xfrm>
            <a:off x="11759992" y="6650400"/>
            <a:ext cx="4320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65"/>
          <p:cNvSpPr txBox="1">
            <a:spLocks noGrp="1"/>
          </p:cNvSpPr>
          <p:nvPr>
            <p:ph type="title"/>
          </p:nvPr>
        </p:nvSpPr>
        <p:spPr>
          <a:xfrm>
            <a:off x="460208" y="226670"/>
            <a:ext cx="111063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400" dirty="0"/>
              <a:t>Références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745" name="Google Shape;745;p65"/>
          <p:cNvSpPr/>
          <p:nvPr/>
        </p:nvSpPr>
        <p:spPr>
          <a:xfrm rot="10800000" flipH="1">
            <a:off x="1678" y="6084040"/>
            <a:ext cx="12189300" cy="40500"/>
          </a:xfrm>
          <a:prstGeom prst="rect">
            <a:avLst/>
          </a:prstGeom>
          <a:solidFill>
            <a:srgbClr val="00B0F0">
              <a:alpha val="7843"/>
            </a:srgbClr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6" name="Google Shape;746;p65"/>
          <p:cNvGrpSpPr/>
          <p:nvPr/>
        </p:nvGrpSpPr>
        <p:grpSpPr>
          <a:xfrm>
            <a:off x="460211" y="6277143"/>
            <a:ext cx="3140934" cy="430295"/>
            <a:chOff x="238125" y="2363000"/>
            <a:chExt cx="7122300" cy="975725"/>
          </a:xfrm>
        </p:grpSpPr>
        <p:sp>
          <p:nvSpPr>
            <p:cNvPr id="747" name="Google Shape;747;p65"/>
            <p:cNvSpPr/>
            <p:nvPr/>
          </p:nvSpPr>
          <p:spPr>
            <a:xfrm>
              <a:off x="238125" y="2363000"/>
              <a:ext cx="695275" cy="955800"/>
            </a:xfrm>
            <a:custGeom>
              <a:avLst/>
              <a:gdLst/>
              <a:ahLst/>
              <a:cxnLst/>
              <a:rect l="l" t="t" r="r" b="b"/>
              <a:pathLst>
                <a:path w="27811" h="38232" extrusionOk="0">
                  <a:moveTo>
                    <a:pt x="13895" y="0"/>
                  </a:moveTo>
                  <a:cubicBezTo>
                    <a:pt x="10626" y="0"/>
                    <a:pt x="7949" y="2656"/>
                    <a:pt x="7949" y="5946"/>
                  </a:cubicBezTo>
                  <a:cubicBezTo>
                    <a:pt x="7949" y="9236"/>
                    <a:pt x="10626" y="11893"/>
                    <a:pt x="13895" y="11893"/>
                  </a:cubicBezTo>
                  <a:cubicBezTo>
                    <a:pt x="17185" y="11893"/>
                    <a:pt x="19862" y="9236"/>
                    <a:pt x="19862" y="5946"/>
                  </a:cubicBezTo>
                  <a:cubicBezTo>
                    <a:pt x="19862" y="2656"/>
                    <a:pt x="17185" y="0"/>
                    <a:pt x="13895" y="0"/>
                  </a:cubicBezTo>
                  <a:close/>
                  <a:moveTo>
                    <a:pt x="7070" y="18738"/>
                  </a:moveTo>
                  <a:lnTo>
                    <a:pt x="7070" y="26380"/>
                  </a:lnTo>
                  <a:cubicBezTo>
                    <a:pt x="5987" y="25706"/>
                    <a:pt x="5252" y="24500"/>
                    <a:pt x="5252" y="23111"/>
                  </a:cubicBezTo>
                  <a:lnTo>
                    <a:pt x="5252" y="21987"/>
                  </a:lnTo>
                  <a:cubicBezTo>
                    <a:pt x="5252" y="20618"/>
                    <a:pt x="5987" y="19412"/>
                    <a:pt x="7070" y="18738"/>
                  </a:cubicBezTo>
                  <a:close/>
                  <a:moveTo>
                    <a:pt x="20557" y="18636"/>
                  </a:moveTo>
                  <a:cubicBezTo>
                    <a:pt x="21742" y="19269"/>
                    <a:pt x="22559" y="20536"/>
                    <a:pt x="22559" y="21987"/>
                  </a:cubicBezTo>
                  <a:lnTo>
                    <a:pt x="22559" y="23131"/>
                  </a:lnTo>
                  <a:cubicBezTo>
                    <a:pt x="22559" y="24562"/>
                    <a:pt x="21742" y="25828"/>
                    <a:pt x="20557" y="26482"/>
                  </a:cubicBezTo>
                  <a:lnTo>
                    <a:pt x="20557" y="18636"/>
                  </a:lnTo>
                  <a:close/>
                  <a:moveTo>
                    <a:pt x="9052" y="12935"/>
                  </a:moveTo>
                  <a:cubicBezTo>
                    <a:pt x="4066" y="12935"/>
                    <a:pt x="0" y="17001"/>
                    <a:pt x="0" y="21987"/>
                  </a:cubicBezTo>
                  <a:lnTo>
                    <a:pt x="0" y="23111"/>
                  </a:lnTo>
                  <a:cubicBezTo>
                    <a:pt x="0" y="27443"/>
                    <a:pt x="3024" y="31060"/>
                    <a:pt x="7070" y="31959"/>
                  </a:cubicBezTo>
                  <a:lnTo>
                    <a:pt x="7070" y="38232"/>
                  </a:lnTo>
                  <a:lnTo>
                    <a:pt x="20557" y="38232"/>
                  </a:lnTo>
                  <a:lnTo>
                    <a:pt x="20557" y="31999"/>
                  </a:lnTo>
                  <a:cubicBezTo>
                    <a:pt x="24684" y="31162"/>
                    <a:pt x="27811" y="27504"/>
                    <a:pt x="27811" y="23111"/>
                  </a:cubicBezTo>
                  <a:lnTo>
                    <a:pt x="27811" y="21987"/>
                  </a:lnTo>
                  <a:cubicBezTo>
                    <a:pt x="27811" y="17001"/>
                    <a:pt x="23744" y="12935"/>
                    <a:pt x="18738" y="1293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38125" y="2791600"/>
              <a:ext cx="695275" cy="547125"/>
            </a:xfrm>
            <a:custGeom>
              <a:avLst/>
              <a:gdLst/>
              <a:ahLst/>
              <a:cxnLst/>
              <a:rect l="l" t="t" r="r" b="b"/>
              <a:pathLst>
                <a:path w="27811" h="21885" extrusionOk="0">
                  <a:moveTo>
                    <a:pt x="13895" y="0"/>
                  </a:moveTo>
                  <a:cubicBezTo>
                    <a:pt x="11443" y="0"/>
                    <a:pt x="9441" y="2003"/>
                    <a:pt x="9441" y="4475"/>
                  </a:cubicBezTo>
                  <a:cubicBezTo>
                    <a:pt x="9441" y="6927"/>
                    <a:pt x="11443" y="8930"/>
                    <a:pt x="13895" y="8930"/>
                  </a:cubicBezTo>
                  <a:cubicBezTo>
                    <a:pt x="16368" y="8930"/>
                    <a:pt x="18370" y="6927"/>
                    <a:pt x="18370" y="4475"/>
                  </a:cubicBezTo>
                  <a:cubicBezTo>
                    <a:pt x="18370" y="2003"/>
                    <a:pt x="16368" y="0"/>
                    <a:pt x="13895" y="0"/>
                  </a:cubicBezTo>
                  <a:close/>
                  <a:moveTo>
                    <a:pt x="0" y="5987"/>
                  </a:moveTo>
                  <a:cubicBezTo>
                    <a:pt x="0" y="10973"/>
                    <a:pt x="4066" y="15039"/>
                    <a:pt x="9052" y="15039"/>
                  </a:cubicBezTo>
                  <a:lnTo>
                    <a:pt x="9686" y="15039"/>
                  </a:lnTo>
                  <a:lnTo>
                    <a:pt x="9686" y="21885"/>
                  </a:lnTo>
                  <a:lnTo>
                    <a:pt x="17941" y="21885"/>
                  </a:lnTo>
                  <a:lnTo>
                    <a:pt x="17941" y="15039"/>
                  </a:lnTo>
                  <a:lnTo>
                    <a:pt x="18738" y="15039"/>
                  </a:lnTo>
                  <a:cubicBezTo>
                    <a:pt x="23744" y="15039"/>
                    <a:pt x="27811" y="10973"/>
                    <a:pt x="27811" y="5987"/>
                  </a:cubicBezTo>
                  <a:lnTo>
                    <a:pt x="22559" y="5987"/>
                  </a:lnTo>
                  <a:cubicBezTo>
                    <a:pt x="22559" y="8092"/>
                    <a:pt x="20843" y="9788"/>
                    <a:pt x="18738" y="9788"/>
                  </a:cubicBezTo>
                  <a:lnTo>
                    <a:pt x="9052" y="9788"/>
                  </a:lnTo>
                  <a:cubicBezTo>
                    <a:pt x="6948" y="9788"/>
                    <a:pt x="5252" y="8092"/>
                    <a:pt x="5252" y="5987"/>
                  </a:cubicBez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1191350" y="2441650"/>
              <a:ext cx="614600" cy="794900"/>
            </a:xfrm>
            <a:custGeom>
              <a:avLst/>
              <a:gdLst/>
              <a:ahLst/>
              <a:cxnLst/>
              <a:rect l="l" t="t" r="r" b="b"/>
              <a:pathLst>
                <a:path w="24584" h="31796" extrusionOk="0">
                  <a:moveTo>
                    <a:pt x="12568" y="5620"/>
                  </a:moveTo>
                  <a:cubicBezTo>
                    <a:pt x="15653" y="5620"/>
                    <a:pt x="17799" y="6969"/>
                    <a:pt x="17799" y="10218"/>
                  </a:cubicBezTo>
                  <a:cubicBezTo>
                    <a:pt x="17799" y="13119"/>
                    <a:pt x="15797" y="14775"/>
                    <a:pt x="12629" y="14775"/>
                  </a:cubicBezTo>
                  <a:lnTo>
                    <a:pt x="6908" y="14775"/>
                  </a:lnTo>
                  <a:lnTo>
                    <a:pt x="6908" y="5620"/>
                  </a:lnTo>
                  <a:close/>
                  <a:moveTo>
                    <a:pt x="1" y="1"/>
                  </a:moveTo>
                  <a:lnTo>
                    <a:pt x="1" y="31796"/>
                  </a:lnTo>
                  <a:lnTo>
                    <a:pt x="6908" y="31796"/>
                  </a:lnTo>
                  <a:lnTo>
                    <a:pt x="6908" y="20333"/>
                  </a:lnTo>
                  <a:lnTo>
                    <a:pt x="13876" y="20333"/>
                  </a:lnTo>
                  <a:cubicBezTo>
                    <a:pt x="21355" y="20333"/>
                    <a:pt x="24583" y="15122"/>
                    <a:pt x="24583" y="10136"/>
                  </a:cubicBezTo>
                  <a:cubicBezTo>
                    <a:pt x="24583" y="3883"/>
                    <a:pt x="20251" y="1"/>
                    <a:pt x="1365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1911675" y="2441650"/>
              <a:ext cx="571650" cy="794900"/>
            </a:xfrm>
            <a:custGeom>
              <a:avLst/>
              <a:gdLst/>
              <a:ahLst/>
              <a:cxnLst/>
              <a:rect l="l" t="t" r="r" b="b"/>
              <a:pathLst>
                <a:path w="22866" h="31796" extrusionOk="0">
                  <a:moveTo>
                    <a:pt x="0" y="1"/>
                  </a:moveTo>
                  <a:lnTo>
                    <a:pt x="0" y="31796"/>
                  </a:lnTo>
                  <a:lnTo>
                    <a:pt x="22866" y="31796"/>
                  </a:lnTo>
                  <a:lnTo>
                    <a:pt x="22866" y="25952"/>
                  </a:lnTo>
                  <a:lnTo>
                    <a:pt x="6907" y="25952"/>
                  </a:lnTo>
                  <a:lnTo>
                    <a:pt x="6907" y="18596"/>
                  </a:lnTo>
                  <a:lnTo>
                    <a:pt x="20598" y="18596"/>
                  </a:lnTo>
                  <a:lnTo>
                    <a:pt x="20598" y="12752"/>
                  </a:lnTo>
                  <a:lnTo>
                    <a:pt x="6907" y="12752"/>
                  </a:lnTo>
                  <a:lnTo>
                    <a:pt x="6907" y="5845"/>
                  </a:lnTo>
                  <a:lnTo>
                    <a:pt x="22743" y="5845"/>
                  </a:lnTo>
                  <a:lnTo>
                    <a:pt x="2274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2542575" y="2441650"/>
              <a:ext cx="692225" cy="798475"/>
            </a:xfrm>
            <a:custGeom>
              <a:avLst/>
              <a:gdLst/>
              <a:ahLst/>
              <a:cxnLst/>
              <a:rect l="l" t="t" r="r" b="b"/>
              <a:pathLst>
                <a:path w="27689" h="31939" extrusionOk="0">
                  <a:moveTo>
                    <a:pt x="0" y="1"/>
                  </a:moveTo>
                  <a:lnTo>
                    <a:pt x="10299" y="31939"/>
                  </a:lnTo>
                  <a:lnTo>
                    <a:pt x="17267" y="31939"/>
                  </a:lnTo>
                  <a:lnTo>
                    <a:pt x="27688" y="1"/>
                  </a:lnTo>
                  <a:lnTo>
                    <a:pt x="20965" y="1"/>
                  </a:lnTo>
                  <a:lnTo>
                    <a:pt x="14181" y="22928"/>
                  </a:lnTo>
                  <a:lnTo>
                    <a:pt x="14038" y="22928"/>
                  </a:lnTo>
                  <a:lnTo>
                    <a:pt x="7315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3487650" y="2440125"/>
              <a:ext cx="140000" cy="188025"/>
            </a:xfrm>
            <a:custGeom>
              <a:avLst/>
              <a:gdLst/>
              <a:ahLst/>
              <a:cxnLst/>
              <a:rect l="l" t="t" r="r" b="b"/>
              <a:pathLst>
                <a:path w="5600" h="7521" extrusionOk="0">
                  <a:moveTo>
                    <a:pt x="2861" y="1186"/>
                  </a:moveTo>
                  <a:cubicBezTo>
                    <a:pt x="3637" y="1186"/>
                    <a:pt x="4230" y="1472"/>
                    <a:pt x="4230" y="2350"/>
                  </a:cubicBezTo>
                  <a:cubicBezTo>
                    <a:pt x="4230" y="3127"/>
                    <a:pt x="3699" y="3515"/>
                    <a:pt x="2881" y="3515"/>
                  </a:cubicBezTo>
                  <a:lnTo>
                    <a:pt x="1390" y="3515"/>
                  </a:lnTo>
                  <a:lnTo>
                    <a:pt x="1390" y="1186"/>
                  </a:ln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390" y="7520"/>
                  </a:lnTo>
                  <a:lnTo>
                    <a:pt x="1390" y="4700"/>
                  </a:lnTo>
                  <a:lnTo>
                    <a:pt x="3127" y="4700"/>
                  </a:lnTo>
                  <a:cubicBezTo>
                    <a:pt x="4823" y="4700"/>
                    <a:pt x="5599" y="3515"/>
                    <a:pt x="5599" y="2371"/>
                  </a:cubicBezTo>
                  <a:cubicBezTo>
                    <a:pt x="5599" y="818"/>
                    <a:pt x="4496" y="1"/>
                    <a:pt x="3045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3650100" y="2490700"/>
              <a:ext cx="86850" cy="137450"/>
            </a:xfrm>
            <a:custGeom>
              <a:avLst/>
              <a:gdLst/>
              <a:ahLst/>
              <a:cxnLst/>
              <a:rect l="l" t="t" r="r" b="b"/>
              <a:pathLst>
                <a:path w="3474" h="5498" extrusionOk="0">
                  <a:moveTo>
                    <a:pt x="3045" y="0"/>
                  </a:moveTo>
                  <a:cubicBezTo>
                    <a:pt x="2391" y="0"/>
                    <a:pt x="1594" y="430"/>
                    <a:pt x="1287" y="1002"/>
                  </a:cubicBezTo>
                  <a:lnTo>
                    <a:pt x="1267" y="1002"/>
                  </a:lnTo>
                  <a:lnTo>
                    <a:pt x="126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739"/>
                  </a:lnTo>
                  <a:cubicBezTo>
                    <a:pt x="1287" y="1737"/>
                    <a:pt x="2023" y="1165"/>
                    <a:pt x="2984" y="1165"/>
                  </a:cubicBezTo>
                  <a:cubicBezTo>
                    <a:pt x="3167" y="1165"/>
                    <a:pt x="3310" y="1165"/>
                    <a:pt x="3474" y="1206"/>
                  </a:cubicBezTo>
                  <a:lnTo>
                    <a:pt x="3474" y="21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3752775" y="2490700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4"/>
                  </a:moveTo>
                  <a:cubicBezTo>
                    <a:pt x="3106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0"/>
                  </a:moveTo>
                  <a:cubicBezTo>
                    <a:pt x="1247" y="0"/>
                    <a:pt x="0" y="797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65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3897850" y="2490700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2" y="1104"/>
                  </a:moveTo>
                  <a:cubicBezTo>
                    <a:pt x="3086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4" y="4394"/>
                    <a:pt x="2473" y="4394"/>
                  </a:cubicBezTo>
                  <a:cubicBezTo>
                    <a:pt x="1799" y="4394"/>
                    <a:pt x="1308" y="4006"/>
                    <a:pt x="1308" y="3352"/>
                  </a:cubicBezTo>
                  <a:lnTo>
                    <a:pt x="1308" y="2166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105" y="0"/>
                  </a:moveTo>
                  <a:cubicBezTo>
                    <a:pt x="920" y="0"/>
                    <a:pt x="1" y="797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18" y="5415"/>
                    <a:pt x="2126" y="5415"/>
                  </a:cubicBezTo>
                  <a:cubicBezTo>
                    <a:pt x="2739" y="5415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2"/>
                  </a:lnTo>
                  <a:cubicBezTo>
                    <a:pt x="3597" y="6049"/>
                    <a:pt x="3168" y="6539"/>
                    <a:pt x="2391" y="6539"/>
                  </a:cubicBezTo>
                  <a:cubicBezTo>
                    <a:pt x="1921" y="6539"/>
                    <a:pt x="1554" y="6335"/>
                    <a:pt x="1308" y="5824"/>
                  </a:cubicBezTo>
                  <a:lnTo>
                    <a:pt x="82" y="6253"/>
                  </a:lnTo>
                  <a:cubicBezTo>
                    <a:pt x="348" y="7152"/>
                    <a:pt x="1390" y="7561"/>
                    <a:pt x="2269" y="7561"/>
                  </a:cubicBezTo>
                  <a:cubicBezTo>
                    <a:pt x="4128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7" y="103"/>
                  </a:lnTo>
                  <a:lnTo>
                    <a:pt x="3617" y="736"/>
                  </a:lnTo>
                  <a:lnTo>
                    <a:pt x="3597" y="736"/>
                  </a:lnTo>
                  <a:cubicBezTo>
                    <a:pt x="3311" y="327"/>
                    <a:pt x="2739" y="0"/>
                    <a:pt x="210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4051100" y="2490700"/>
              <a:ext cx="86875" cy="137450"/>
            </a:xfrm>
            <a:custGeom>
              <a:avLst/>
              <a:gdLst/>
              <a:ahLst/>
              <a:cxnLst/>
              <a:rect l="l" t="t" r="r" b="b"/>
              <a:pathLst>
                <a:path w="3475" h="5498" extrusionOk="0">
                  <a:moveTo>
                    <a:pt x="3046" y="0"/>
                  </a:moveTo>
                  <a:cubicBezTo>
                    <a:pt x="2392" y="0"/>
                    <a:pt x="1595" y="430"/>
                    <a:pt x="1288" y="1002"/>
                  </a:cubicBezTo>
                  <a:lnTo>
                    <a:pt x="1268" y="1002"/>
                  </a:lnTo>
                  <a:lnTo>
                    <a:pt x="1268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739"/>
                  </a:lnTo>
                  <a:cubicBezTo>
                    <a:pt x="1288" y="1737"/>
                    <a:pt x="2024" y="1165"/>
                    <a:pt x="2984" y="1165"/>
                  </a:cubicBezTo>
                  <a:cubicBezTo>
                    <a:pt x="3168" y="1165"/>
                    <a:pt x="3311" y="1165"/>
                    <a:pt x="3475" y="1206"/>
                  </a:cubicBezTo>
                  <a:lnTo>
                    <a:pt x="3475" y="21"/>
                  </a:lnTo>
                  <a:cubicBezTo>
                    <a:pt x="3332" y="0"/>
                    <a:pt x="3189" y="0"/>
                    <a:pt x="3046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4149700" y="2490200"/>
              <a:ext cx="120600" cy="140500"/>
            </a:xfrm>
            <a:custGeom>
              <a:avLst/>
              <a:gdLst/>
              <a:ahLst/>
              <a:cxnLst/>
              <a:rect l="l" t="t" r="r" b="b"/>
              <a:pathLst>
                <a:path w="4824" h="5620" extrusionOk="0">
                  <a:moveTo>
                    <a:pt x="3434" y="3269"/>
                  </a:moveTo>
                  <a:lnTo>
                    <a:pt x="3434" y="3515"/>
                  </a:lnTo>
                  <a:cubicBezTo>
                    <a:pt x="3434" y="4107"/>
                    <a:pt x="3270" y="4598"/>
                    <a:pt x="2228" y="4618"/>
                  </a:cubicBezTo>
                  <a:cubicBezTo>
                    <a:pt x="1635" y="4618"/>
                    <a:pt x="1268" y="4373"/>
                    <a:pt x="1268" y="3923"/>
                  </a:cubicBezTo>
                  <a:cubicBezTo>
                    <a:pt x="1268" y="3453"/>
                    <a:pt x="1615" y="3269"/>
                    <a:pt x="2167" y="326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22"/>
                    <a:pt x="2412" y="1022"/>
                  </a:cubicBezTo>
                  <a:cubicBezTo>
                    <a:pt x="3045" y="1022"/>
                    <a:pt x="3434" y="1247"/>
                    <a:pt x="3434" y="1819"/>
                  </a:cubicBezTo>
                  <a:lnTo>
                    <a:pt x="3434" y="2330"/>
                  </a:lnTo>
                  <a:lnTo>
                    <a:pt x="2003" y="2330"/>
                  </a:lnTo>
                  <a:cubicBezTo>
                    <a:pt x="961" y="2330"/>
                    <a:pt x="1" y="2943"/>
                    <a:pt x="1" y="3985"/>
                  </a:cubicBezTo>
                  <a:cubicBezTo>
                    <a:pt x="1" y="5006"/>
                    <a:pt x="757" y="5619"/>
                    <a:pt x="1881" y="5619"/>
                  </a:cubicBezTo>
                  <a:cubicBezTo>
                    <a:pt x="2575" y="5619"/>
                    <a:pt x="2984" y="5517"/>
                    <a:pt x="3474" y="5006"/>
                  </a:cubicBezTo>
                  <a:lnTo>
                    <a:pt x="3495" y="5006"/>
                  </a:lnTo>
                  <a:cubicBezTo>
                    <a:pt x="3495" y="5109"/>
                    <a:pt x="3515" y="5435"/>
                    <a:pt x="3536" y="5517"/>
                  </a:cubicBezTo>
                  <a:lnTo>
                    <a:pt x="4823" y="5517"/>
                  </a:lnTo>
                  <a:cubicBezTo>
                    <a:pt x="4762" y="5395"/>
                    <a:pt x="4721" y="4598"/>
                    <a:pt x="4721" y="4352"/>
                  </a:cubicBezTo>
                  <a:lnTo>
                    <a:pt x="4721" y="1737"/>
                  </a:lnTo>
                  <a:cubicBezTo>
                    <a:pt x="4721" y="409"/>
                    <a:pt x="361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4300925" y="2490700"/>
              <a:ext cx="197200" cy="137450"/>
            </a:xfrm>
            <a:custGeom>
              <a:avLst/>
              <a:gdLst/>
              <a:ahLst/>
              <a:cxnLst/>
              <a:rect l="l" t="t" r="r" b="b"/>
              <a:pathLst>
                <a:path w="7888" h="5498" extrusionOk="0">
                  <a:moveTo>
                    <a:pt x="2800" y="0"/>
                  </a:moveTo>
                  <a:cubicBezTo>
                    <a:pt x="2166" y="0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7" y="5497"/>
                  </a:lnTo>
                  <a:lnTo>
                    <a:pt x="1287" y="2330"/>
                  </a:lnTo>
                  <a:cubicBezTo>
                    <a:pt x="1287" y="1431"/>
                    <a:pt x="1880" y="1124"/>
                    <a:pt x="2330" y="1124"/>
                  </a:cubicBezTo>
                  <a:cubicBezTo>
                    <a:pt x="3106" y="1124"/>
                    <a:pt x="3310" y="1696"/>
                    <a:pt x="3310" y="2371"/>
                  </a:cubicBezTo>
                  <a:lnTo>
                    <a:pt x="3310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4" y="1124"/>
                    <a:pt x="5620" y="1124"/>
                  </a:cubicBezTo>
                  <a:cubicBezTo>
                    <a:pt x="6355" y="1124"/>
                    <a:pt x="6600" y="161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1"/>
                  </a:lnTo>
                  <a:cubicBezTo>
                    <a:pt x="7888" y="573"/>
                    <a:pt x="7009" y="0"/>
                    <a:pt x="6008" y="0"/>
                  </a:cubicBezTo>
                  <a:cubicBezTo>
                    <a:pt x="5272" y="0"/>
                    <a:pt x="4720" y="307"/>
                    <a:pt x="4332" y="797"/>
                  </a:cubicBezTo>
                  <a:cubicBezTo>
                    <a:pt x="3985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4532325" y="2490700"/>
              <a:ext cx="197725" cy="137450"/>
            </a:xfrm>
            <a:custGeom>
              <a:avLst/>
              <a:gdLst/>
              <a:ahLst/>
              <a:cxnLst/>
              <a:rect l="l" t="t" r="r" b="b"/>
              <a:pathLst>
                <a:path w="7909" h="5498" extrusionOk="0">
                  <a:moveTo>
                    <a:pt x="2800" y="0"/>
                  </a:moveTo>
                  <a:cubicBezTo>
                    <a:pt x="2167" y="0"/>
                    <a:pt x="1636" y="246"/>
                    <a:pt x="1268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1" y="103"/>
                  </a:lnTo>
                  <a:lnTo>
                    <a:pt x="1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1"/>
                    <a:pt x="1881" y="1124"/>
                    <a:pt x="2330" y="1124"/>
                  </a:cubicBezTo>
                  <a:cubicBezTo>
                    <a:pt x="3127" y="1124"/>
                    <a:pt x="3311" y="1696"/>
                    <a:pt x="3311" y="2371"/>
                  </a:cubicBezTo>
                  <a:lnTo>
                    <a:pt x="3311" y="5497"/>
                  </a:lnTo>
                  <a:lnTo>
                    <a:pt x="4598" y="5497"/>
                  </a:lnTo>
                  <a:lnTo>
                    <a:pt x="4598" y="2371"/>
                  </a:lnTo>
                  <a:cubicBezTo>
                    <a:pt x="4598" y="1676"/>
                    <a:pt x="4905" y="1124"/>
                    <a:pt x="5641" y="1124"/>
                  </a:cubicBezTo>
                  <a:cubicBezTo>
                    <a:pt x="6356" y="1124"/>
                    <a:pt x="6621" y="1615"/>
                    <a:pt x="6621" y="2350"/>
                  </a:cubicBezTo>
                  <a:lnTo>
                    <a:pt x="6621" y="5497"/>
                  </a:lnTo>
                  <a:lnTo>
                    <a:pt x="7909" y="5497"/>
                  </a:lnTo>
                  <a:lnTo>
                    <a:pt x="7909" y="1901"/>
                  </a:lnTo>
                  <a:cubicBezTo>
                    <a:pt x="7909" y="573"/>
                    <a:pt x="7010" y="0"/>
                    <a:pt x="6008" y="0"/>
                  </a:cubicBezTo>
                  <a:cubicBezTo>
                    <a:pt x="5273" y="0"/>
                    <a:pt x="4721" y="307"/>
                    <a:pt x="4353" y="797"/>
                  </a:cubicBezTo>
                  <a:lnTo>
                    <a:pt x="4333" y="797"/>
                  </a:lnTo>
                  <a:cubicBezTo>
                    <a:pt x="4006" y="287"/>
                    <a:pt x="3515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475812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29" y="2269"/>
                  </a:lnTo>
                  <a:lnTo>
                    <a:pt x="1329" y="2187"/>
                  </a:lnTo>
                  <a:cubicBezTo>
                    <a:pt x="132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186" y="5620"/>
                    <a:pt x="251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71"/>
                    <a:pt x="3025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3487650" y="2756350"/>
              <a:ext cx="131300" cy="188000"/>
            </a:xfrm>
            <a:custGeom>
              <a:avLst/>
              <a:gdLst/>
              <a:ahLst/>
              <a:cxnLst/>
              <a:rect l="l" t="t" r="r" b="b"/>
              <a:pathLst>
                <a:path w="5252" h="7520" extrusionOk="0">
                  <a:moveTo>
                    <a:pt x="0" y="0"/>
                  </a:moveTo>
                  <a:lnTo>
                    <a:pt x="0" y="7520"/>
                  </a:lnTo>
                  <a:lnTo>
                    <a:pt x="5252" y="7520"/>
                  </a:lnTo>
                  <a:lnTo>
                    <a:pt x="5252" y="6294"/>
                  </a:lnTo>
                  <a:lnTo>
                    <a:pt x="1390" y="6294"/>
                  </a:lnTo>
                  <a:lnTo>
                    <a:pt x="1390" y="4312"/>
                  </a:lnTo>
                  <a:lnTo>
                    <a:pt x="4782" y="4312"/>
                  </a:lnTo>
                  <a:lnTo>
                    <a:pt x="4782" y="3065"/>
                  </a:lnTo>
                  <a:lnTo>
                    <a:pt x="1390" y="3065"/>
                  </a:lnTo>
                  <a:lnTo>
                    <a:pt x="1390" y="1226"/>
                  </a:lnTo>
                  <a:lnTo>
                    <a:pt x="5211" y="1226"/>
                  </a:lnTo>
                  <a:lnTo>
                    <a:pt x="5211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3650600" y="2756350"/>
              <a:ext cx="58275" cy="189550"/>
            </a:xfrm>
            <a:custGeom>
              <a:avLst/>
              <a:gdLst/>
              <a:ahLst/>
              <a:cxnLst/>
              <a:rect l="l" t="t" r="r" b="b"/>
              <a:pathLst>
                <a:path w="2331" h="7582" extrusionOk="0">
                  <a:moveTo>
                    <a:pt x="1" y="0"/>
                  </a:moveTo>
                  <a:lnTo>
                    <a:pt x="1" y="6069"/>
                  </a:lnTo>
                  <a:cubicBezTo>
                    <a:pt x="1" y="6559"/>
                    <a:pt x="21" y="7581"/>
                    <a:pt x="1308" y="7581"/>
                  </a:cubicBezTo>
                  <a:cubicBezTo>
                    <a:pt x="1635" y="7581"/>
                    <a:pt x="2064" y="7520"/>
                    <a:pt x="2330" y="7438"/>
                  </a:cubicBezTo>
                  <a:lnTo>
                    <a:pt x="2330" y="6457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390" y="6498"/>
                    <a:pt x="1288" y="6294"/>
                    <a:pt x="1288" y="6069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3723150" y="28064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50"/>
                  </a:moveTo>
                  <a:lnTo>
                    <a:pt x="3413" y="3515"/>
                  </a:lnTo>
                  <a:cubicBezTo>
                    <a:pt x="3413" y="4108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4"/>
                  </a:cubicBezTo>
                  <a:cubicBezTo>
                    <a:pt x="1247" y="3454"/>
                    <a:pt x="1615" y="3250"/>
                    <a:pt x="2146" y="3250"/>
                  </a:cubicBezTo>
                  <a:close/>
                  <a:moveTo>
                    <a:pt x="239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4"/>
                  </a:lnTo>
                  <a:cubicBezTo>
                    <a:pt x="1410" y="1206"/>
                    <a:pt x="1819" y="1022"/>
                    <a:pt x="2391" y="1022"/>
                  </a:cubicBezTo>
                  <a:cubicBezTo>
                    <a:pt x="3045" y="1022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54" y="5007"/>
                  </a:cubicBezTo>
                  <a:lnTo>
                    <a:pt x="347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02" y="5518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37"/>
                  </a:lnTo>
                  <a:cubicBezTo>
                    <a:pt x="4700" y="409"/>
                    <a:pt x="3597" y="1"/>
                    <a:pt x="239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3872825" y="2806925"/>
              <a:ext cx="86350" cy="137425"/>
            </a:xfrm>
            <a:custGeom>
              <a:avLst/>
              <a:gdLst/>
              <a:ahLst/>
              <a:cxnLst/>
              <a:rect l="l" t="t" r="r" b="b"/>
              <a:pathLst>
                <a:path w="3454" h="5497" extrusionOk="0">
                  <a:moveTo>
                    <a:pt x="3025" y="0"/>
                  </a:moveTo>
                  <a:cubicBezTo>
                    <a:pt x="2391" y="0"/>
                    <a:pt x="1594" y="429"/>
                    <a:pt x="1267" y="1001"/>
                  </a:cubicBezTo>
                  <a:lnTo>
                    <a:pt x="1247" y="1001"/>
                  </a:lnTo>
                  <a:lnTo>
                    <a:pt x="124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03" y="1165"/>
                    <a:pt x="2984" y="1165"/>
                  </a:cubicBezTo>
                  <a:cubicBezTo>
                    <a:pt x="3147" y="1165"/>
                    <a:pt x="3290" y="1165"/>
                    <a:pt x="3454" y="1206"/>
                  </a:cubicBezTo>
                  <a:lnTo>
                    <a:pt x="3454" y="20"/>
                  </a:lnTo>
                  <a:cubicBezTo>
                    <a:pt x="3331" y="0"/>
                    <a:pt x="3168" y="0"/>
                    <a:pt x="30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3975000" y="2806925"/>
              <a:ext cx="121600" cy="189025"/>
            </a:xfrm>
            <a:custGeom>
              <a:avLst/>
              <a:gdLst/>
              <a:ahLst/>
              <a:cxnLst/>
              <a:rect l="l" t="t" r="r" b="b"/>
              <a:pathLst>
                <a:path w="4864" h="7561" extrusionOk="0">
                  <a:moveTo>
                    <a:pt x="2452" y="1103"/>
                  </a:moveTo>
                  <a:cubicBezTo>
                    <a:pt x="3106" y="1103"/>
                    <a:pt x="3617" y="1471"/>
                    <a:pt x="3617" y="2125"/>
                  </a:cubicBezTo>
                  <a:lnTo>
                    <a:pt x="3617" y="3331"/>
                  </a:lnTo>
                  <a:cubicBezTo>
                    <a:pt x="3617" y="4107"/>
                    <a:pt x="3024" y="4393"/>
                    <a:pt x="2493" y="4393"/>
                  </a:cubicBezTo>
                  <a:cubicBezTo>
                    <a:pt x="1819" y="4393"/>
                    <a:pt x="1308" y="4005"/>
                    <a:pt x="1308" y="3351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52" y="1103"/>
                  </a:cubicBezTo>
                  <a:close/>
                  <a:moveTo>
                    <a:pt x="2125" y="0"/>
                  </a:moveTo>
                  <a:cubicBezTo>
                    <a:pt x="940" y="0"/>
                    <a:pt x="0" y="797"/>
                    <a:pt x="0" y="2268"/>
                  </a:cubicBezTo>
                  <a:lnTo>
                    <a:pt x="0" y="3290"/>
                  </a:lnTo>
                  <a:cubicBezTo>
                    <a:pt x="0" y="4679"/>
                    <a:pt x="838" y="5415"/>
                    <a:pt x="2146" y="5415"/>
                  </a:cubicBezTo>
                  <a:cubicBezTo>
                    <a:pt x="2759" y="5415"/>
                    <a:pt x="3249" y="5190"/>
                    <a:pt x="3597" y="4720"/>
                  </a:cubicBezTo>
                  <a:lnTo>
                    <a:pt x="3617" y="4720"/>
                  </a:lnTo>
                  <a:lnTo>
                    <a:pt x="3617" y="5272"/>
                  </a:lnTo>
                  <a:cubicBezTo>
                    <a:pt x="3617" y="6048"/>
                    <a:pt x="3188" y="6539"/>
                    <a:pt x="2391" y="6539"/>
                  </a:cubicBezTo>
                  <a:cubicBezTo>
                    <a:pt x="1941" y="6539"/>
                    <a:pt x="1574" y="6335"/>
                    <a:pt x="1308" y="5824"/>
                  </a:cubicBezTo>
                  <a:lnTo>
                    <a:pt x="82" y="6253"/>
                  </a:lnTo>
                  <a:cubicBezTo>
                    <a:pt x="368" y="7152"/>
                    <a:pt x="1410" y="7561"/>
                    <a:pt x="2289" y="7561"/>
                  </a:cubicBezTo>
                  <a:cubicBezTo>
                    <a:pt x="4148" y="7561"/>
                    <a:pt x="4864" y="6294"/>
                    <a:pt x="4864" y="5047"/>
                  </a:cubicBezTo>
                  <a:lnTo>
                    <a:pt x="4864" y="102"/>
                  </a:lnTo>
                  <a:lnTo>
                    <a:pt x="3637" y="102"/>
                  </a:lnTo>
                  <a:lnTo>
                    <a:pt x="3637" y="736"/>
                  </a:lnTo>
                  <a:lnTo>
                    <a:pt x="3617" y="736"/>
                  </a:lnTo>
                  <a:cubicBezTo>
                    <a:pt x="3331" y="327"/>
                    <a:pt x="2759" y="0"/>
                    <a:pt x="212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41303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347947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10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2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37" y="1"/>
                  </a:moveTo>
                  <a:lnTo>
                    <a:pt x="3637" y="2678"/>
                  </a:lnTo>
                  <a:lnTo>
                    <a:pt x="3597" y="2678"/>
                  </a:lnTo>
                  <a:cubicBezTo>
                    <a:pt x="3331" y="2310"/>
                    <a:pt x="2820" y="2003"/>
                    <a:pt x="2227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61" y="7643"/>
                    <a:pt x="2125" y="7643"/>
                  </a:cubicBezTo>
                  <a:cubicBezTo>
                    <a:pt x="2616" y="7643"/>
                    <a:pt x="3351" y="7336"/>
                    <a:pt x="3658" y="6907"/>
                  </a:cubicBez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3630675" y="31231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94" y="1084"/>
                  </a:moveTo>
                  <a:cubicBezTo>
                    <a:pt x="3004" y="1084"/>
                    <a:pt x="3536" y="1390"/>
                    <a:pt x="3536" y="2126"/>
                  </a:cubicBezTo>
                  <a:lnTo>
                    <a:pt x="3536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42" y="1084"/>
                    <a:pt x="2494" y="1084"/>
                  </a:cubicBezTo>
                  <a:close/>
                  <a:moveTo>
                    <a:pt x="2473" y="1"/>
                  </a:moveTo>
                  <a:cubicBezTo>
                    <a:pt x="1145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84"/>
                    <a:pt x="1206" y="5620"/>
                    <a:pt x="2534" y="5620"/>
                  </a:cubicBezTo>
                  <a:cubicBezTo>
                    <a:pt x="3474" y="5620"/>
                    <a:pt x="4333" y="5252"/>
                    <a:pt x="4741" y="4414"/>
                  </a:cubicBezTo>
                  <a:lnTo>
                    <a:pt x="3761" y="3842"/>
                  </a:lnTo>
                  <a:cubicBezTo>
                    <a:pt x="3474" y="4251"/>
                    <a:pt x="3025" y="4537"/>
                    <a:pt x="2596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3" y="3168"/>
                  </a:lnTo>
                  <a:lnTo>
                    <a:pt x="4803" y="2126"/>
                  </a:lnTo>
                  <a:cubicBezTo>
                    <a:pt x="4803" y="695"/>
                    <a:pt x="365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3828375" y="3072550"/>
              <a:ext cx="158400" cy="188525"/>
            </a:xfrm>
            <a:custGeom>
              <a:avLst/>
              <a:gdLst/>
              <a:ahLst/>
              <a:cxnLst/>
              <a:rect l="l" t="t" r="r" b="b"/>
              <a:pathLst>
                <a:path w="6336" h="7541" extrusionOk="0">
                  <a:moveTo>
                    <a:pt x="1" y="1"/>
                  </a:moveTo>
                  <a:lnTo>
                    <a:pt x="2473" y="7541"/>
                  </a:lnTo>
                  <a:lnTo>
                    <a:pt x="3842" y="7541"/>
                  </a:lnTo>
                  <a:lnTo>
                    <a:pt x="6335" y="1"/>
                  </a:lnTo>
                  <a:lnTo>
                    <a:pt x="4925" y="1"/>
                  </a:lnTo>
                  <a:lnTo>
                    <a:pt x="3229" y="5538"/>
                  </a:lnTo>
                  <a:lnTo>
                    <a:pt x="3209" y="5538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3982150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13" y="3249"/>
                  </a:moveTo>
                  <a:lnTo>
                    <a:pt x="3413" y="3515"/>
                  </a:lnTo>
                  <a:cubicBezTo>
                    <a:pt x="3413" y="4107"/>
                    <a:pt x="3249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6" y="3249"/>
                  </a:cubicBezTo>
                  <a:close/>
                  <a:moveTo>
                    <a:pt x="2391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10" y="1737"/>
                  </a:lnTo>
                  <a:lnTo>
                    <a:pt x="1410" y="1553"/>
                  </a:lnTo>
                  <a:cubicBezTo>
                    <a:pt x="1410" y="1206"/>
                    <a:pt x="1819" y="1001"/>
                    <a:pt x="2391" y="1001"/>
                  </a:cubicBezTo>
                  <a:cubicBezTo>
                    <a:pt x="3045" y="1001"/>
                    <a:pt x="3413" y="1247"/>
                    <a:pt x="3413" y="1819"/>
                  </a:cubicBezTo>
                  <a:lnTo>
                    <a:pt x="3413" y="2330"/>
                  </a:lnTo>
                  <a:lnTo>
                    <a:pt x="1982" y="2330"/>
                  </a:lnTo>
                  <a:cubicBezTo>
                    <a:pt x="940" y="2330"/>
                    <a:pt x="0" y="2943"/>
                    <a:pt x="0" y="3985"/>
                  </a:cubicBezTo>
                  <a:cubicBezTo>
                    <a:pt x="0" y="5006"/>
                    <a:pt x="756" y="5620"/>
                    <a:pt x="1880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5" y="5517"/>
                  </a:cubicBezTo>
                  <a:lnTo>
                    <a:pt x="4802" y="5517"/>
                  </a:lnTo>
                  <a:cubicBezTo>
                    <a:pt x="4741" y="5395"/>
                    <a:pt x="4700" y="4598"/>
                    <a:pt x="4700" y="4353"/>
                  </a:cubicBezTo>
                  <a:lnTo>
                    <a:pt x="4700" y="1717"/>
                  </a:lnTo>
                  <a:cubicBezTo>
                    <a:pt x="4700" y="409"/>
                    <a:pt x="3597" y="0"/>
                    <a:pt x="2391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4127225" y="3123125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2473" y="1"/>
                  </a:moveTo>
                  <a:cubicBezTo>
                    <a:pt x="1124" y="1"/>
                    <a:pt x="1" y="838"/>
                    <a:pt x="1" y="2371"/>
                  </a:cubicBezTo>
                  <a:lnTo>
                    <a:pt x="1" y="3413"/>
                  </a:lnTo>
                  <a:cubicBezTo>
                    <a:pt x="1" y="4843"/>
                    <a:pt x="1186" y="5620"/>
                    <a:pt x="2514" y="5620"/>
                  </a:cubicBezTo>
                  <a:cubicBezTo>
                    <a:pt x="3679" y="5620"/>
                    <a:pt x="4823" y="4946"/>
                    <a:pt x="4823" y="3515"/>
                  </a:cubicBezTo>
                  <a:lnTo>
                    <a:pt x="4823" y="3454"/>
                  </a:lnTo>
                  <a:lnTo>
                    <a:pt x="3577" y="3454"/>
                  </a:lnTo>
                  <a:lnTo>
                    <a:pt x="3577" y="3515"/>
                  </a:lnTo>
                  <a:cubicBezTo>
                    <a:pt x="3577" y="4251"/>
                    <a:pt x="3025" y="4537"/>
                    <a:pt x="2514" y="4537"/>
                  </a:cubicBezTo>
                  <a:cubicBezTo>
                    <a:pt x="1819" y="4537"/>
                    <a:pt x="1329" y="4149"/>
                    <a:pt x="1329" y="3454"/>
                  </a:cubicBezTo>
                  <a:lnTo>
                    <a:pt x="1329" y="2187"/>
                  </a:lnTo>
                  <a:cubicBezTo>
                    <a:pt x="1329" y="1390"/>
                    <a:pt x="1921" y="1084"/>
                    <a:pt x="2473" y="1084"/>
                  </a:cubicBezTo>
                  <a:cubicBezTo>
                    <a:pt x="3004" y="1084"/>
                    <a:pt x="3577" y="1390"/>
                    <a:pt x="3577" y="2126"/>
                  </a:cubicBezTo>
                  <a:lnTo>
                    <a:pt x="3577" y="2228"/>
                  </a:lnTo>
                  <a:lnTo>
                    <a:pt x="4823" y="2228"/>
                  </a:lnTo>
                  <a:lnTo>
                    <a:pt x="4823" y="2126"/>
                  </a:lnTo>
                  <a:cubicBezTo>
                    <a:pt x="4823" y="695"/>
                    <a:pt x="3638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65"/>
            <p:cNvSpPr/>
            <p:nvPr/>
          </p:nvSpPr>
          <p:spPr>
            <a:xfrm>
              <a:off x="4265675" y="31231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1"/>
                  </a:moveTo>
                  <a:cubicBezTo>
                    <a:pt x="1145" y="1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43"/>
                    <a:pt x="1185" y="5620"/>
                    <a:pt x="2514" y="5620"/>
                  </a:cubicBezTo>
                  <a:cubicBezTo>
                    <a:pt x="3678" y="5620"/>
                    <a:pt x="4843" y="4946"/>
                    <a:pt x="4843" y="3515"/>
                  </a:cubicBezTo>
                  <a:lnTo>
                    <a:pt x="4843" y="3454"/>
                  </a:lnTo>
                  <a:lnTo>
                    <a:pt x="3576" y="3454"/>
                  </a:lnTo>
                  <a:lnTo>
                    <a:pt x="3576" y="3515"/>
                  </a:lnTo>
                  <a:cubicBezTo>
                    <a:pt x="3576" y="4251"/>
                    <a:pt x="3045" y="4537"/>
                    <a:pt x="2514" y="4537"/>
                  </a:cubicBezTo>
                  <a:cubicBezTo>
                    <a:pt x="1839" y="4537"/>
                    <a:pt x="1328" y="4149"/>
                    <a:pt x="1328" y="3454"/>
                  </a:cubicBezTo>
                  <a:lnTo>
                    <a:pt x="1328" y="2187"/>
                  </a:lnTo>
                  <a:cubicBezTo>
                    <a:pt x="1328" y="1390"/>
                    <a:pt x="1921" y="1084"/>
                    <a:pt x="2473" y="1084"/>
                  </a:cubicBezTo>
                  <a:cubicBezTo>
                    <a:pt x="3004" y="1084"/>
                    <a:pt x="3576" y="1390"/>
                    <a:pt x="3576" y="2126"/>
                  </a:cubicBezTo>
                  <a:lnTo>
                    <a:pt x="3576" y="2228"/>
                  </a:lnTo>
                  <a:lnTo>
                    <a:pt x="4843" y="2228"/>
                  </a:lnTo>
                  <a:lnTo>
                    <a:pt x="4843" y="2126"/>
                  </a:lnTo>
                  <a:cubicBezTo>
                    <a:pt x="4843" y="695"/>
                    <a:pt x="3637" y="1"/>
                    <a:pt x="247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65"/>
            <p:cNvSpPr/>
            <p:nvPr/>
          </p:nvSpPr>
          <p:spPr>
            <a:xfrm>
              <a:off x="4410750" y="3070500"/>
              <a:ext cx="31700" cy="190075"/>
            </a:xfrm>
            <a:custGeom>
              <a:avLst/>
              <a:gdLst/>
              <a:ahLst/>
              <a:cxnLst/>
              <a:rect l="l" t="t" r="r" b="b"/>
              <a:pathLst>
                <a:path w="126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67" y="1370"/>
                  </a:lnTo>
                  <a:lnTo>
                    <a:pt x="1267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67" y="7602"/>
                  </a:lnTo>
                  <a:lnTo>
                    <a:pt x="1267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65"/>
            <p:cNvSpPr/>
            <p:nvPr/>
          </p:nvSpPr>
          <p:spPr>
            <a:xfrm>
              <a:off x="4477675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187" y="1"/>
                    <a:pt x="161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391" y="1124"/>
                  </a:cubicBezTo>
                  <a:cubicBezTo>
                    <a:pt x="3045" y="1124"/>
                    <a:pt x="3392" y="1554"/>
                    <a:pt x="3392" y="2371"/>
                  </a:cubicBezTo>
                  <a:lnTo>
                    <a:pt x="3392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5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65"/>
            <p:cNvSpPr/>
            <p:nvPr/>
          </p:nvSpPr>
          <p:spPr>
            <a:xfrm>
              <a:off x="4619175" y="31226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3433" y="3249"/>
                  </a:moveTo>
                  <a:lnTo>
                    <a:pt x="3433" y="3515"/>
                  </a:lnTo>
                  <a:cubicBezTo>
                    <a:pt x="3433" y="4107"/>
                    <a:pt x="3250" y="4598"/>
                    <a:pt x="2228" y="4598"/>
                  </a:cubicBezTo>
                  <a:cubicBezTo>
                    <a:pt x="1615" y="4598"/>
                    <a:pt x="1247" y="4373"/>
                    <a:pt x="1247" y="3923"/>
                  </a:cubicBezTo>
                  <a:cubicBezTo>
                    <a:pt x="1247" y="3454"/>
                    <a:pt x="1615" y="3249"/>
                    <a:pt x="2167" y="3249"/>
                  </a:cubicBezTo>
                  <a:close/>
                  <a:moveTo>
                    <a:pt x="2412" y="0"/>
                  </a:moveTo>
                  <a:cubicBezTo>
                    <a:pt x="1390" y="0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3"/>
                  </a:lnTo>
                  <a:cubicBezTo>
                    <a:pt x="1431" y="1206"/>
                    <a:pt x="1840" y="1001"/>
                    <a:pt x="2391" y="1001"/>
                  </a:cubicBezTo>
                  <a:cubicBezTo>
                    <a:pt x="3045" y="1001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41" y="2330"/>
                    <a:pt x="1" y="2943"/>
                    <a:pt x="1" y="3985"/>
                  </a:cubicBezTo>
                  <a:cubicBezTo>
                    <a:pt x="1" y="5006"/>
                    <a:pt x="757" y="5620"/>
                    <a:pt x="1881" y="5620"/>
                  </a:cubicBezTo>
                  <a:cubicBezTo>
                    <a:pt x="2575" y="5620"/>
                    <a:pt x="2984" y="5517"/>
                    <a:pt x="3454" y="5027"/>
                  </a:cubicBezTo>
                  <a:lnTo>
                    <a:pt x="3474" y="5027"/>
                  </a:lnTo>
                  <a:cubicBezTo>
                    <a:pt x="3495" y="5109"/>
                    <a:pt x="3515" y="5436"/>
                    <a:pt x="3536" y="5517"/>
                  </a:cubicBezTo>
                  <a:lnTo>
                    <a:pt x="4803" y="5517"/>
                  </a:lnTo>
                  <a:cubicBezTo>
                    <a:pt x="4741" y="5395"/>
                    <a:pt x="4721" y="4598"/>
                    <a:pt x="4721" y="4353"/>
                  </a:cubicBezTo>
                  <a:lnTo>
                    <a:pt x="4721" y="1717"/>
                  </a:lnTo>
                  <a:cubicBezTo>
                    <a:pt x="4721" y="409"/>
                    <a:pt x="3597" y="0"/>
                    <a:pt x="241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65"/>
            <p:cNvSpPr/>
            <p:nvPr/>
          </p:nvSpPr>
          <p:spPr>
            <a:xfrm>
              <a:off x="4756600" y="3084825"/>
              <a:ext cx="79725" cy="177800"/>
            </a:xfrm>
            <a:custGeom>
              <a:avLst/>
              <a:gdLst/>
              <a:ahLst/>
              <a:cxnLst/>
              <a:rect l="l" t="t" r="r" b="b"/>
              <a:pathLst>
                <a:path w="3189" h="7112" extrusionOk="0">
                  <a:moveTo>
                    <a:pt x="736" y="0"/>
                  </a:moveTo>
                  <a:lnTo>
                    <a:pt x="736" y="1635"/>
                  </a:lnTo>
                  <a:lnTo>
                    <a:pt x="0" y="1635"/>
                  </a:lnTo>
                  <a:lnTo>
                    <a:pt x="0" y="2656"/>
                  </a:lnTo>
                  <a:lnTo>
                    <a:pt x="736" y="2656"/>
                  </a:lnTo>
                  <a:lnTo>
                    <a:pt x="736" y="5742"/>
                  </a:lnTo>
                  <a:cubicBezTo>
                    <a:pt x="736" y="6702"/>
                    <a:pt x="1410" y="7111"/>
                    <a:pt x="2248" y="7111"/>
                  </a:cubicBezTo>
                  <a:cubicBezTo>
                    <a:pt x="2432" y="7111"/>
                    <a:pt x="2902" y="7070"/>
                    <a:pt x="3188" y="7009"/>
                  </a:cubicBezTo>
                  <a:lnTo>
                    <a:pt x="3188" y="5905"/>
                  </a:lnTo>
                  <a:cubicBezTo>
                    <a:pt x="2943" y="5946"/>
                    <a:pt x="2779" y="5967"/>
                    <a:pt x="2534" y="5967"/>
                  </a:cubicBezTo>
                  <a:cubicBezTo>
                    <a:pt x="2228" y="5967"/>
                    <a:pt x="2023" y="5844"/>
                    <a:pt x="2023" y="5435"/>
                  </a:cubicBezTo>
                  <a:lnTo>
                    <a:pt x="2023" y="2656"/>
                  </a:lnTo>
                  <a:lnTo>
                    <a:pt x="3188" y="2656"/>
                  </a:lnTo>
                  <a:lnTo>
                    <a:pt x="3188" y="1635"/>
                  </a:lnTo>
                  <a:lnTo>
                    <a:pt x="2023" y="1635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65"/>
            <p:cNvSpPr/>
            <p:nvPr/>
          </p:nvSpPr>
          <p:spPr>
            <a:xfrm>
              <a:off x="4857750" y="3070500"/>
              <a:ext cx="32200" cy="190075"/>
            </a:xfrm>
            <a:custGeom>
              <a:avLst/>
              <a:gdLst/>
              <a:ahLst/>
              <a:cxnLst/>
              <a:rect l="l" t="t" r="r" b="b"/>
              <a:pathLst>
                <a:path w="1288" h="7603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208"/>
                  </a:moveTo>
                  <a:lnTo>
                    <a:pt x="0" y="7602"/>
                  </a:lnTo>
                  <a:lnTo>
                    <a:pt x="1288" y="7602"/>
                  </a:lnTo>
                  <a:lnTo>
                    <a:pt x="1288" y="2208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65"/>
            <p:cNvSpPr/>
            <p:nvPr/>
          </p:nvSpPr>
          <p:spPr>
            <a:xfrm>
              <a:off x="491852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25" y="4537"/>
                    <a:pt x="2473" y="4537"/>
                  </a:cubicBezTo>
                  <a:cubicBezTo>
                    <a:pt x="1820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3" y="5620"/>
                  </a:cubicBezTo>
                  <a:cubicBezTo>
                    <a:pt x="367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65"/>
            <p:cNvSpPr/>
            <p:nvPr/>
          </p:nvSpPr>
          <p:spPr>
            <a:xfrm>
              <a:off x="5069750" y="312312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6" y="1124"/>
                    <a:pt x="2412" y="1124"/>
                  </a:cubicBezTo>
                  <a:cubicBezTo>
                    <a:pt x="3066" y="1124"/>
                    <a:pt x="3413" y="1554"/>
                    <a:pt x="3413" y="2371"/>
                  </a:cubicBezTo>
                  <a:lnTo>
                    <a:pt x="3413" y="5497"/>
                  </a:lnTo>
                  <a:lnTo>
                    <a:pt x="4700" y="5497"/>
                  </a:lnTo>
                  <a:lnTo>
                    <a:pt x="4700" y="2044"/>
                  </a:lnTo>
                  <a:cubicBezTo>
                    <a:pt x="4700" y="757"/>
                    <a:pt x="402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5706775" y="2440125"/>
              <a:ext cx="147675" cy="188025"/>
            </a:xfrm>
            <a:custGeom>
              <a:avLst/>
              <a:gdLst/>
              <a:ahLst/>
              <a:cxnLst/>
              <a:rect l="l" t="t" r="r" b="b"/>
              <a:pathLst>
                <a:path w="5907" h="7521" extrusionOk="0">
                  <a:moveTo>
                    <a:pt x="2780" y="1186"/>
                  </a:moveTo>
                  <a:cubicBezTo>
                    <a:pt x="3577" y="1186"/>
                    <a:pt x="4149" y="1472"/>
                    <a:pt x="4149" y="2350"/>
                  </a:cubicBezTo>
                  <a:cubicBezTo>
                    <a:pt x="4149" y="3127"/>
                    <a:pt x="3618" y="3515"/>
                    <a:pt x="2800" y="3515"/>
                  </a:cubicBezTo>
                  <a:lnTo>
                    <a:pt x="1411" y="3515"/>
                  </a:lnTo>
                  <a:lnTo>
                    <a:pt x="1411" y="1186"/>
                  </a:lnTo>
                  <a:close/>
                  <a:moveTo>
                    <a:pt x="1" y="1"/>
                  </a:moveTo>
                  <a:lnTo>
                    <a:pt x="1" y="7520"/>
                  </a:lnTo>
                  <a:lnTo>
                    <a:pt x="1411" y="7520"/>
                  </a:lnTo>
                  <a:lnTo>
                    <a:pt x="1411" y="4700"/>
                  </a:lnTo>
                  <a:lnTo>
                    <a:pt x="2616" y="4700"/>
                  </a:lnTo>
                  <a:lnTo>
                    <a:pt x="4374" y="7520"/>
                  </a:lnTo>
                  <a:lnTo>
                    <a:pt x="5906" y="7520"/>
                  </a:lnTo>
                  <a:lnTo>
                    <a:pt x="4047" y="4537"/>
                  </a:lnTo>
                  <a:cubicBezTo>
                    <a:pt x="5048" y="4189"/>
                    <a:pt x="5538" y="3250"/>
                    <a:pt x="5538" y="2371"/>
                  </a:cubicBezTo>
                  <a:cubicBezTo>
                    <a:pt x="5538" y="818"/>
                    <a:pt x="4394" y="1"/>
                    <a:pt x="2984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5868725" y="2425825"/>
              <a:ext cx="120575" cy="205375"/>
            </a:xfrm>
            <a:custGeom>
              <a:avLst/>
              <a:gdLst/>
              <a:ahLst/>
              <a:cxnLst/>
              <a:rect l="l" t="t" r="r" b="b"/>
              <a:pathLst>
                <a:path w="4823" h="8215" extrusionOk="0">
                  <a:moveTo>
                    <a:pt x="2841" y="0"/>
                  </a:moveTo>
                  <a:lnTo>
                    <a:pt x="1942" y="1839"/>
                  </a:lnTo>
                  <a:lnTo>
                    <a:pt x="2943" y="1839"/>
                  </a:lnTo>
                  <a:lnTo>
                    <a:pt x="4291" y="0"/>
                  </a:lnTo>
                  <a:close/>
                  <a:moveTo>
                    <a:pt x="2493" y="3678"/>
                  </a:moveTo>
                  <a:cubicBezTo>
                    <a:pt x="3004" y="3678"/>
                    <a:pt x="3535" y="3985"/>
                    <a:pt x="3535" y="4721"/>
                  </a:cubicBezTo>
                  <a:lnTo>
                    <a:pt x="353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5"/>
                    <a:pt x="1942" y="3678"/>
                    <a:pt x="2493" y="3678"/>
                  </a:cubicBezTo>
                  <a:close/>
                  <a:moveTo>
                    <a:pt x="2493" y="2595"/>
                  </a:moveTo>
                  <a:cubicBezTo>
                    <a:pt x="1145" y="2595"/>
                    <a:pt x="0" y="3433"/>
                    <a:pt x="0" y="4966"/>
                  </a:cubicBezTo>
                  <a:lnTo>
                    <a:pt x="0" y="6008"/>
                  </a:lnTo>
                  <a:cubicBezTo>
                    <a:pt x="0" y="7479"/>
                    <a:pt x="1206" y="8215"/>
                    <a:pt x="2534" y="8215"/>
                  </a:cubicBezTo>
                  <a:cubicBezTo>
                    <a:pt x="3474" y="8215"/>
                    <a:pt x="4332" y="7847"/>
                    <a:pt x="4761" y="7009"/>
                  </a:cubicBezTo>
                  <a:lnTo>
                    <a:pt x="3760" y="6437"/>
                  </a:lnTo>
                  <a:cubicBezTo>
                    <a:pt x="3474" y="6866"/>
                    <a:pt x="3025" y="7132"/>
                    <a:pt x="2595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23" y="5763"/>
                  </a:lnTo>
                  <a:lnTo>
                    <a:pt x="4823" y="4721"/>
                  </a:lnTo>
                  <a:cubicBezTo>
                    <a:pt x="4823" y="3290"/>
                    <a:pt x="3658" y="2595"/>
                    <a:pt x="2493" y="2595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6017900" y="2490200"/>
              <a:ext cx="123125" cy="188525"/>
            </a:xfrm>
            <a:custGeom>
              <a:avLst/>
              <a:gdLst/>
              <a:ahLst/>
              <a:cxnLst/>
              <a:rect l="l" t="t" r="r" b="b"/>
              <a:pathLst>
                <a:path w="4925" h="7541" extrusionOk="0">
                  <a:moveTo>
                    <a:pt x="2452" y="1124"/>
                  </a:moveTo>
                  <a:cubicBezTo>
                    <a:pt x="3106" y="1124"/>
                    <a:pt x="3617" y="1492"/>
                    <a:pt x="3617" y="2146"/>
                  </a:cubicBezTo>
                  <a:lnTo>
                    <a:pt x="3617" y="3494"/>
                  </a:lnTo>
                  <a:cubicBezTo>
                    <a:pt x="3617" y="4271"/>
                    <a:pt x="3024" y="4557"/>
                    <a:pt x="2473" y="4557"/>
                  </a:cubicBezTo>
                  <a:cubicBezTo>
                    <a:pt x="1819" y="4557"/>
                    <a:pt x="1287" y="4169"/>
                    <a:pt x="1287" y="3515"/>
                  </a:cubicBezTo>
                  <a:lnTo>
                    <a:pt x="1287" y="2268"/>
                  </a:lnTo>
                  <a:cubicBezTo>
                    <a:pt x="1287" y="1471"/>
                    <a:pt x="1900" y="1124"/>
                    <a:pt x="2452" y="1124"/>
                  </a:cubicBezTo>
                  <a:close/>
                  <a:moveTo>
                    <a:pt x="2800" y="0"/>
                  </a:moveTo>
                  <a:cubicBezTo>
                    <a:pt x="2309" y="0"/>
                    <a:pt x="1696" y="225"/>
                    <a:pt x="1267" y="736"/>
                  </a:cubicBezTo>
                  <a:lnTo>
                    <a:pt x="1267" y="123"/>
                  </a:lnTo>
                  <a:lnTo>
                    <a:pt x="0" y="123"/>
                  </a:lnTo>
                  <a:lnTo>
                    <a:pt x="0" y="7540"/>
                  </a:lnTo>
                  <a:lnTo>
                    <a:pt x="1287" y="7540"/>
                  </a:lnTo>
                  <a:lnTo>
                    <a:pt x="1287" y="4965"/>
                  </a:lnTo>
                  <a:lnTo>
                    <a:pt x="1328" y="4965"/>
                  </a:lnTo>
                  <a:cubicBezTo>
                    <a:pt x="1594" y="5333"/>
                    <a:pt x="2084" y="5640"/>
                    <a:pt x="2697" y="5640"/>
                  </a:cubicBezTo>
                  <a:cubicBezTo>
                    <a:pt x="3903" y="5640"/>
                    <a:pt x="4925" y="4904"/>
                    <a:pt x="4925" y="3453"/>
                  </a:cubicBezTo>
                  <a:lnTo>
                    <a:pt x="4925" y="2146"/>
                  </a:lnTo>
                  <a:cubicBezTo>
                    <a:pt x="4925" y="756"/>
                    <a:pt x="3964" y="0"/>
                    <a:pt x="2800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6167575" y="2493250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0" y="1"/>
                  </a:moveTo>
                  <a:lnTo>
                    <a:pt x="0" y="3434"/>
                  </a:lnTo>
                  <a:cubicBezTo>
                    <a:pt x="0" y="4721"/>
                    <a:pt x="695" y="5497"/>
                    <a:pt x="1901" y="5497"/>
                  </a:cubicBezTo>
                  <a:cubicBezTo>
                    <a:pt x="2514" y="5497"/>
                    <a:pt x="3065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4"/>
                  </a:lnTo>
                  <a:cubicBezTo>
                    <a:pt x="3413" y="3924"/>
                    <a:pt x="3004" y="4373"/>
                    <a:pt x="2309" y="4373"/>
                  </a:cubicBezTo>
                  <a:cubicBezTo>
                    <a:pt x="1655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6318275" y="2440125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27"/>
                  </a:moveTo>
                  <a:cubicBezTo>
                    <a:pt x="3106" y="3127"/>
                    <a:pt x="3597" y="3495"/>
                    <a:pt x="3597" y="4149"/>
                  </a:cubicBezTo>
                  <a:lnTo>
                    <a:pt x="3597" y="5497"/>
                  </a:lnTo>
                  <a:cubicBezTo>
                    <a:pt x="3597" y="6274"/>
                    <a:pt x="3004" y="6560"/>
                    <a:pt x="2473" y="6560"/>
                  </a:cubicBezTo>
                  <a:cubicBezTo>
                    <a:pt x="1798" y="6560"/>
                    <a:pt x="1288" y="6172"/>
                    <a:pt x="1288" y="5518"/>
                  </a:cubicBezTo>
                  <a:lnTo>
                    <a:pt x="1288" y="4271"/>
                  </a:lnTo>
                  <a:cubicBezTo>
                    <a:pt x="1288" y="3495"/>
                    <a:pt x="1901" y="3127"/>
                    <a:pt x="2432" y="3127"/>
                  </a:cubicBezTo>
                  <a:close/>
                  <a:moveTo>
                    <a:pt x="0" y="1"/>
                  </a:moveTo>
                  <a:lnTo>
                    <a:pt x="0" y="7520"/>
                  </a:lnTo>
                  <a:lnTo>
                    <a:pt x="1226" y="7520"/>
                  </a:lnTo>
                  <a:lnTo>
                    <a:pt x="1226" y="6989"/>
                  </a:lnTo>
                  <a:lnTo>
                    <a:pt x="1267" y="6989"/>
                  </a:lnTo>
                  <a:cubicBezTo>
                    <a:pt x="1533" y="7336"/>
                    <a:pt x="2023" y="7643"/>
                    <a:pt x="2636" y="7643"/>
                  </a:cubicBezTo>
                  <a:cubicBezTo>
                    <a:pt x="3842" y="7643"/>
                    <a:pt x="4904" y="6907"/>
                    <a:pt x="4904" y="5456"/>
                  </a:cubicBezTo>
                  <a:lnTo>
                    <a:pt x="4904" y="4149"/>
                  </a:lnTo>
                  <a:cubicBezTo>
                    <a:pt x="4904" y="2759"/>
                    <a:pt x="3964" y="2023"/>
                    <a:pt x="2779" y="2023"/>
                  </a:cubicBezTo>
                  <a:cubicBezTo>
                    <a:pt x="2289" y="2023"/>
                    <a:pt x="1696" y="2207"/>
                    <a:pt x="1288" y="273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6469475" y="2440125"/>
              <a:ext cx="58775" cy="189550"/>
            </a:xfrm>
            <a:custGeom>
              <a:avLst/>
              <a:gdLst/>
              <a:ahLst/>
              <a:cxnLst/>
              <a:rect l="l" t="t" r="r" b="b"/>
              <a:pathLst>
                <a:path w="2351" h="7582" extrusionOk="0">
                  <a:moveTo>
                    <a:pt x="1" y="1"/>
                  </a:moveTo>
                  <a:lnTo>
                    <a:pt x="1" y="6069"/>
                  </a:lnTo>
                  <a:cubicBezTo>
                    <a:pt x="1" y="6560"/>
                    <a:pt x="42" y="7581"/>
                    <a:pt x="1309" y="7581"/>
                  </a:cubicBezTo>
                  <a:cubicBezTo>
                    <a:pt x="1656" y="7581"/>
                    <a:pt x="2065" y="7520"/>
                    <a:pt x="2351" y="7438"/>
                  </a:cubicBezTo>
                  <a:lnTo>
                    <a:pt x="2351" y="6458"/>
                  </a:lnTo>
                  <a:cubicBezTo>
                    <a:pt x="2105" y="6478"/>
                    <a:pt x="1983" y="6498"/>
                    <a:pt x="1758" y="6498"/>
                  </a:cubicBezTo>
                  <a:cubicBezTo>
                    <a:pt x="1411" y="6498"/>
                    <a:pt x="1288" y="6315"/>
                    <a:pt x="1288" y="6069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6550700" y="2438600"/>
              <a:ext cx="32225" cy="189550"/>
            </a:xfrm>
            <a:custGeom>
              <a:avLst/>
              <a:gdLst/>
              <a:ahLst/>
              <a:cxnLst/>
              <a:rect l="l" t="t" r="r" b="b"/>
              <a:pathLst>
                <a:path w="1289" h="7582" extrusionOk="0">
                  <a:moveTo>
                    <a:pt x="1" y="0"/>
                  </a:moveTo>
                  <a:lnTo>
                    <a:pt x="1" y="1369"/>
                  </a:lnTo>
                  <a:lnTo>
                    <a:pt x="1288" y="1369"/>
                  </a:lnTo>
                  <a:lnTo>
                    <a:pt x="1288" y="0"/>
                  </a:lnTo>
                  <a:close/>
                  <a:moveTo>
                    <a:pt x="1" y="2187"/>
                  </a:moveTo>
                  <a:lnTo>
                    <a:pt x="1" y="7581"/>
                  </a:lnTo>
                  <a:lnTo>
                    <a:pt x="1288" y="7581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6611500" y="2490700"/>
              <a:ext cx="122625" cy="188025"/>
            </a:xfrm>
            <a:custGeom>
              <a:avLst/>
              <a:gdLst/>
              <a:ahLst/>
              <a:cxnLst/>
              <a:rect l="l" t="t" r="r" b="b"/>
              <a:pathLst>
                <a:path w="4905" h="7521" extrusionOk="0">
                  <a:moveTo>
                    <a:pt x="2432" y="1083"/>
                  </a:moveTo>
                  <a:cubicBezTo>
                    <a:pt x="3086" y="1083"/>
                    <a:pt x="3617" y="1472"/>
                    <a:pt x="3617" y="2126"/>
                  </a:cubicBezTo>
                  <a:lnTo>
                    <a:pt x="3617" y="3454"/>
                  </a:lnTo>
                  <a:cubicBezTo>
                    <a:pt x="3617" y="4230"/>
                    <a:pt x="3004" y="4516"/>
                    <a:pt x="2473" y="4516"/>
                  </a:cubicBezTo>
                  <a:cubicBezTo>
                    <a:pt x="179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70"/>
                    <a:pt x="1880" y="1083"/>
                    <a:pt x="2432" y="1083"/>
                  </a:cubicBezTo>
                  <a:close/>
                  <a:moveTo>
                    <a:pt x="2207" y="0"/>
                  </a:moveTo>
                  <a:cubicBezTo>
                    <a:pt x="1022" y="0"/>
                    <a:pt x="0" y="716"/>
                    <a:pt x="0" y="2187"/>
                  </a:cubicBezTo>
                  <a:lnTo>
                    <a:pt x="0" y="3495"/>
                  </a:lnTo>
                  <a:cubicBezTo>
                    <a:pt x="0" y="4864"/>
                    <a:pt x="940" y="5620"/>
                    <a:pt x="2126" y="5620"/>
                  </a:cubicBezTo>
                  <a:cubicBezTo>
                    <a:pt x="2596" y="5620"/>
                    <a:pt x="3331" y="5313"/>
                    <a:pt x="3638" y="4884"/>
                  </a:cubicBezTo>
                  <a:lnTo>
                    <a:pt x="363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17" y="82"/>
                  </a:lnTo>
                  <a:lnTo>
                    <a:pt x="3617" y="654"/>
                  </a:lnTo>
                  <a:lnTo>
                    <a:pt x="3576" y="654"/>
                  </a:lnTo>
                  <a:cubicBezTo>
                    <a:pt x="3311" y="307"/>
                    <a:pt x="2820" y="0"/>
                    <a:pt x="2207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6767300" y="2493250"/>
              <a:ext cx="117025" cy="137450"/>
            </a:xfrm>
            <a:custGeom>
              <a:avLst/>
              <a:gdLst/>
              <a:ahLst/>
              <a:cxnLst/>
              <a:rect l="l" t="t" r="r" b="b"/>
              <a:pathLst>
                <a:path w="468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75" y="5497"/>
                    <a:pt x="1901" y="5497"/>
                  </a:cubicBezTo>
                  <a:cubicBezTo>
                    <a:pt x="2494" y="5497"/>
                    <a:pt x="3046" y="5252"/>
                    <a:pt x="3413" y="4721"/>
                  </a:cubicBezTo>
                  <a:lnTo>
                    <a:pt x="3434" y="4721"/>
                  </a:lnTo>
                  <a:lnTo>
                    <a:pt x="3434" y="5395"/>
                  </a:lnTo>
                  <a:lnTo>
                    <a:pt x="4680" y="5395"/>
                  </a:lnTo>
                  <a:lnTo>
                    <a:pt x="4680" y="1"/>
                  </a:lnTo>
                  <a:lnTo>
                    <a:pt x="3393" y="1"/>
                  </a:lnTo>
                  <a:lnTo>
                    <a:pt x="3393" y="3004"/>
                  </a:lnTo>
                  <a:cubicBezTo>
                    <a:pt x="3393" y="3924"/>
                    <a:pt x="3005" y="4373"/>
                    <a:pt x="2289" y="4373"/>
                  </a:cubicBezTo>
                  <a:cubicBezTo>
                    <a:pt x="1636" y="4373"/>
                    <a:pt x="1288" y="3944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6911375" y="2490700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4" y="1083"/>
                    <a:pt x="3515" y="1390"/>
                    <a:pt x="3515" y="2126"/>
                  </a:cubicBezTo>
                  <a:lnTo>
                    <a:pt x="3515" y="2269"/>
                  </a:lnTo>
                  <a:lnTo>
                    <a:pt x="1349" y="2269"/>
                  </a:lnTo>
                  <a:lnTo>
                    <a:pt x="1349" y="2187"/>
                  </a:lnTo>
                  <a:cubicBezTo>
                    <a:pt x="1349" y="1390"/>
                    <a:pt x="1921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0" y="838"/>
                    <a:pt x="0" y="2371"/>
                  </a:cubicBezTo>
                  <a:lnTo>
                    <a:pt x="0" y="3413"/>
                  </a:lnTo>
                  <a:cubicBezTo>
                    <a:pt x="0" y="4884"/>
                    <a:pt x="1185" y="5620"/>
                    <a:pt x="2514" y="5620"/>
                  </a:cubicBezTo>
                  <a:cubicBezTo>
                    <a:pt x="3474" y="5620"/>
                    <a:pt x="4332" y="5252"/>
                    <a:pt x="4741" y="4414"/>
                  </a:cubicBezTo>
                  <a:lnTo>
                    <a:pt x="3760" y="3842"/>
                  </a:lnTo>
                  <a:cubicBezTo>
                    <a:pt x="3474" y="4271"/>
                    <a:pt x="3024" y="4537"/>
                    <a:pt x="2575" y="4537"/>
                  </a:cubicBezTo>
                  <a:cubicBezTo>
                    <a:pt x="1901" y="4537"/>
                    <a:pt x="1349" y="4149"/>
                    <a:pt x="1349" y="3454"/>
                  </a:cubicBezTo>
                  <a:lnTo>
                    <a:pt x="1349" y="3168"/>
                  </a:lnTo>
                  <a:lnTo>
                    <a:pt x="4802" y="3168"/>
                  </a:lnTo>
                  <a:lnTo>
                    <a:pt x="4802" y="2126"/>
                  </a:lnTo>
                  <a:cubicBezTo>
                    <a:pt x="4802" y="695"/>
                    <a:pt x="365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5706775" y="2756350"/>
              <a:ext cx="147675" cy="188000"/>
            </a:xfrm>
            <a:custGeom>
              <a:avLst/>
              <a:gdLst/>
              <a:ahLst/>
              <a:cxnLst/>
              <a:rect l="l" t="t" r="r" b="b"/>
              <a:pathLst>
                <a:path w="5907" h="7520" extrusionOk="0">
                  <a:moveTo>
                    <a:pt x="2841" y="1226"/>
                  </a:moveTo>
                  <a:cubicBezTo>
                    <a:pt x="3720" y="1226"/>
                    <a:pt x="4496" y="1757"/>
                    <a:pt x="4496" y="2656"/>
                  </a:cubicBezTo>
                  <a:lnTo>
                    <a:pt x="4496" y="4822"/>
                  </a:lnTo>
                  <a:cubicBezTo>
                    <a:pt x="4496" y="5905"/>
                    <a:pt x="3618" y="6273"/>
                    <a:pt x="2902" y="6273"/>
                  </a:cubicBezTo>
                  <a:lnTo>
                    <a:pt x="1411" y="6273"/>
                  </a:lnTo>
                  <a:lnTo>
                    <a:pt x="1411" y="1226"/>
                  </a:lnTo>
                  <a:close/>
                  <a:moveTo>
                    <a:pt x="1" y="0"/>
                  </a:moveTo>
                  <a:lnTo>
                    <a:pt x="1" y="7520"/>
                  </a:lnTo>
                  <a:lnTo>
                    <a:pt x="2943" y="7520"/>
                  </a:lnTo>
                  <a:cubicBezTo>
                    <a:pt x="4435" y="7520"/>
                    <a:pt x="5906" y="6519"/>
                    <a:pt x="5906" y="4741"/>
                  </a:cubicBezTo>
                  <a:lnTo>
                    <a:pt x="5906" y="2738"/>
                  </a:lnTo>
                  <a:cubicBezTo>
                    <a:pt x="5906" y="1063"/>
                    <a:pt x="4578" y="0"/>
                    <a:pt x="294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5879450" y="2742025"/>
              <a:ext cx="120075" cy="205400"/>
            </a:xfrm>
            <a:custGeom>
              <a:avLst/>
              <a:gdLst/>
              <a:ahLst/>
              <a:cxnLst/>
              <a:rect l="l" t="t" r="r" b="b"/>
              <a:pathLst>
                <a:path w="4803" h="8216" extrusionOk="0">
                  <a:moveTo>
                    <a:pt x="2820" y="1"/>
                  </a:moveTo>
                  <a:lnTo>
                    <a:pt x="1942" y="1840"/>
                  </a:lnTo>
                  <a:lnTo>
                    <a:pt x="2943" y="1840"/>
                  </a:lnTo>
                  <a:lnTo>
                    <a:pt x="4292" y="1"/>
                  </a:lnTo>
                  <a:close/>
                  <a:moveTo>
                    <a:pt x="2473" y="3679"/>
                  </a:moveTo>
                  <a:cubicBezTo>
                    <a:pt x="3004" y="3679"/>
                    <a:pt x="3515" y="3986"/>
                    <a:pt x="3515" y="4721"/>
                  </a:cubicBezTo>
                  <a:lnTo>
                    <a:pt x="3515" y="4864"/>
                  </a:lnTo>
                  <a:lnTo>
                    <a:pt x="1349" y="4864"/>
                  </a:lnTo>
                  <a:lnTo>
                    <a:pt x="1349" y="4782"/>
                  </a:lnTo>
                  <a:cubicBezTo>
                    <a:pt x="1349" y="3986"/>
                    <a:pt x="1942" y="3679"/>
                    <a:pt x="2473" y="3679"/>
                  </a:cubicBezTo>
                  <a:close/>
                  <a:moveTo>
                    <a:pt x="2473" y="2596"/>
                  </a:moveTo>
                  <a:cubicBezTo>
                    <a:pt x="1145" y="2596"/>
                    <a:pt x="0" y="3434"/>
                    <a:pt x="0" y="4966"/>
                  </a:cubicBezTo>
                  <a:lnTo>
                    <a:pt x="0" y="6009"/>
                  </a:lnTo>
                  <a:cubicBezTo>
                    <a:pt x="0" y="7480"/>
                    <a:pt x="1186" y="8215"/>
                    <a:pt x="2534" y="8215"/>
                  </a:cubicBezTo>
                  <a:cubicBezTo>
                    <a:pt x="3474" y="8215"/>
                    <a:pt x="4332" y="7848"/>
                    <a:pt x="4741" y="7010"/>
                  </a:cubicBezTo>
                  <a:lnTo>
                    <a:pt x="3760" y="6438"/>
                  </a:lnTo>
                  <a:cubicBezTo>
                    <a:pt x="3474" y="6846"/>
                    <a:pt x="3025" y="7132"/>
                    <a:pt x="2596" y="7132"/>
                  </a:cubicBezTo>
                  <a:cubicBezTo>
                    <a:pt x="1901" y="7132"/>
                    <a:pt x="1349" y="6744"/>
                    <a:pt x="1349" y="6049"/>
                  </a:cubicBezTo>
                  <a:lnTo>
                    <a:pt x="1349" y="5763"/>
                  </a:lnTo>
                  <a:lnTo>
                    <a:pt x="4802" y="5763"/>
                  </a:lnTo>
                  <a:lnTo>
                    <a:pt x="4802" y="4721"/>
                  </a:lnTo>
                  <a:cubicBezTo>
                    <a:pt x="4802" y="3291"/>
                    <a:pt x="3658" y="2596"/>
                    <a:pt x="2473" y="2596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6028625" y="2806925"/>
              <a:ext cx="197200" cy="137425"/>
            </a:xfrm>
            <a:custGeom>
              <a:avLst/>
              <a:gdLst/>
              <a:ahLst/>
              <a:cxnLst/>
              <a:rect l="l" t="t" r="r" b="b"/>
              <a:pathLst>
                <a:path w="7888" h="5497" extrusionOk="0">
                  <a:moveTo>
                    <a:pt x="2779" y="0"/>
                  </a:moveTo>
                  <a:cubicBezTo>
                    <a:pt x="2146" y="0"/>
                    <a:pt x="1614" y="266"/>
                    <a:pt x="1247" y="756"/>
                  </a:cubicBezTo>
                  <a:lnTo>
                    <a:pt x="1226" y="756"/>
                  </a:lnTo>
                  <a:lnTo>
                    <a:pt x="1226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330"/>
                  </a:lnTo>
                  <a:cubicBezTo>
                    <a:pt x="1288" y="1430"/>
                    <a:pt x="1860" y="1124"/>
                    <a:pt x="2330" y="1124"/>
                  </a:cubicBezTo>
                  <a:cubicBezTo>
                    <a:pt x="3106" y="1124"/>
                    <a:pt x="3310" y="1696"/>
                    <a:pt x="3310" y="2370"/>
                  </a:cubicBezTo>
                  <a:lnTo>
                    <a:pt x="3310" y="5497"/>
                  </a:lnTo>
                  <a:lnTo>
                    <a:pt x="4577" y="5497"/>
                  </a:lnTo>
                  <a:lnTo>
                    <a:pt x="4577" y="2391"/>
                  </a:lnTo>
                  <a:cubicBezTo>
                    <a:pt x="4577" y="1676"/>
                    <a:pt x="4884" y="1124"/>
                    <a:pt x="5620" y="1124"/>
                  </a:cubicBezTo>
                  <a:cubicBezTo>
                    <a:pt x="6355" y="1124"/>
                    <a:pt x="6600" y="1635"/>
                    <a:pt x="6600" y="2350"/>
                  </a:cubicBezTo>
                  <a:lnTo>
                    <a:pt x="6600" y="5497"/>
                  </a:lnTo>
                  <a:lnTo>
                    <a:pt x="7888" y="5497"/>
                  </a:lnTo>
                  <a:lnTo>
                    <a:pt x="7888" y="1900"/>
                  </a:lnTo>
                  <a:cubicBezTo>
                    <a:pt x="7888" y="572"/>
                    <a:pt x="6989" y="0"/>
                    <a:pt x="5987" y="0"/>
                  </a:cubicBezTo>
                  <a:cubicBezTo>
                    <a:pt x="5252" y="0"/>
                    <a:pt x="4720" y="307"/>
                    <a:pt x="4332" y="797"/>
                  </a:cubicBezTo>
                  <a:lnTo>
                    <a:pt x="4312" y="797"/>
                  </a:lnTo>
                  <a:cubicBezTo>
                    <a:pt x="3985" y="286"/>
                    <a:pt x="3494" y="0"/>
                    <a:pt x="2779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6253900" y="2806925"/>
              <a:ext cx="122625" cy="140500"/>
            </a:xfrm>
            <a:custGeom>
              <a:avLst/>
              <a:gdLst/>
              <a:ahLst/>
              <a:cxnLst/>
              <a:rect l="l" t="t" r="r" b="b"/>
              <a:pathLst>
                <a:path w="4905" h="5620" extrusionOk="0">
                  <a:moveTo>
                    <a:pt x="2432" y="1103"/>
                  </a:moveTo>
                  <a:cubicBezTo>
                    <a:pt x="3107" y="1103"/>
                    <a:pt x="3597" y="1471"/>
                    <a:pt x="3597" y="2125"/>
                  </a:cubicBezTo>
                  <a:lnTo>
                    <a:pt x="3597" y="3474"/>
                  </a:lnTo>
                  <a:cubicBezTo>
                    <a:pt x="3597" y="4250"/>
                    <a:pt x="3025" y="4536"/>
                    <a:pt x="2473" y="4536"/>
                  </a:cubicBezTo>
                  <a:cubicBezTo>
                    <a:pt x="1819" y="4536"/>
                    <a:pt x="1308" y="4148"/>
                    <a:pt x="1308" y="3494"/>
                  </a:cubicBezTo>
                  <a:lnTo>
                    <a:pt x="1308" y="2166"/>
                  </a:lnTo>
                  <a:cubicBezTo>
                    <a:pt x="1308" y="1390"/>
                    <a:pt x="1901" y="1103"/>
                    <a:pt x="2432" y="1103"/>
                  </a:cubicBezTo>
                  <a:close/>
                  <a:moveTo>
                    <a:pt x="2432" y="0"/>
                  </a:moveTo>
                  <a:cubicBezTo>
                    <a:pt x="1247" y="0"/>
                    <a:pt x="1" y="797"/>
                    <a:pt x="1" y="2268"/>
                  </a:cubicBezTo>
                  <a:lnTo>
                    <a:pt x="1" y="3494"/>
                  </a:lnTo>
                  <a:cubicBezTo>
                    <a:pt x="1" y="4884"/>
                    <a:pt x="1165" y="5619"/>
                    <a:pt x="2473" y="5619"/>
                  </a:cubicBezTo>
                  <a:cubicBezTo>
                    <a:pt x="3679" y="5619"/>
                    <a:pt x="4905" y="4822"/>
                    <a:pt x="4905" y="3351"/>
                  </a:cubicBezTo>
                  <a:lnTo>
                    <a:pt x="4905" y="2248"/>
                  </a:lnTo>
                  <a:cubicBezTo>
                    <a:pt x="4905" y="858"/>
                    <a:pt x="3740" y="0"/>
                    <a:pt x="2432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6398975" y="2806925"/>
              <a:ext cx="121100" cy="140500"/>
            </a:xfrm>
            <a:custGeom>
              <a:avLst/>
              <a:gdLst/>
              <a:ahLst/>
              <a:cxnLst/>
              <a:rect l="l" t="t" r="r" b="b"/>
              <a:pathLst>
                <a:path w="4844" h="5620" extrusionOk="0"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43"/>
                    <a:pt x="1186" y="5619"/>
                    <a:pt x="2514" y="5619"/>
                  </a:cubicBezTo>
                  <a:cubicBezTo>
                    <a:pt x="3679" y="5619"/>
                    <a:pt x="4823" y="4945"/>
                    <a:pt x="4823" y="3515"/>
                  </a:cubicBezTo>
                  <a:lnTo>
                    <a:pt x="4823" y="3453"/>
                  </a:lnTo>
                  <a:lnTo>
                    <a:pt x="3577" y="3453"/>
                  </a:lnTo>
                  <a:lnTo>
                    <a:pt x="3577" y="3515"/>
                  </a:lnTo>
                  <a:cubicBezTo>
                    <a:pt x="3577" y="4250"/>
                    <a:pt x="3046" y="4536"/>
                    <a:pt x="2514" y="4536"/>
                  </a:cubicBezTo>
                  <a:cubicBezTo>
                    <a:pt x="1840" y="4536"/>
                    <a:pt x="1329" y="4148"/>
                    <a:pt x="1329" y="3453"/>
                  </a:cubicBez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ubicBezTo>
                    <a:pt x="3005" y="1083"/>
                    <a:pt x="3577" y="1390"/>
                    <a:pt x="3577" y="2125"/>
                  </a:cubicBezTo>
                  <a:lnTo>
                    <a:pt x="3577" y="2227"/>
                  </a:lnTo>
                  <a:lnTo>
                    <a:pt x="4844" y="2227"/>
                  </a:lnTo>
                  <a:lnTo>
                    <a:pt x="4844" y="2125"/>
                  </a:lnTo>
                  <a:cubicBezTo>
                    <a:pt x="4844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6542025" y="2806925"/>
              <a:ext cx="86875" cy="137425"/>
            </a:xfrm>
            <a:custGeom>
              <a:avLst/>
              <a:gdLst/>
              <a:ahLst/>
              <a:cxnLst/>
              <a:rect l="l" t="t" r="r" b="b"/>
              <a:pathLst>
                <a:path w="3475" h="5497" extrusionOk="0">
                  <a:moveTo>
                    <a:pt x="3045" y="0"/>
                  </a:moveTo>
                  <a:cubicBezTo>
                    <a:pt x="2391" y="0"/>
                    <a:pt x="1594" y="429"/>
                    <a:pt x="1288" y="1001"/>
                  </a:cubicBezTo>
                  <a:lnTo>
                    <a:pt x="1267" y="1001"/>
                  </a:lnTo>
                  <a:lnTo>
                    <a:pt x="1267" y="102"/>
                  </a:lnTo>
                  <a:lnTo>
                    <a:pt x="0" y="102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738"/>
                  </a:lnTo>
                  <a:cubicBezTo>
                    <a:pt x="1288" y="1737"/>
                    <a:pt x="2023" y="1165"/>
                    <a:pt x="2984" y="1165"/>
                  </a:cubicBezTo>
                  <a:cubicBezTo>
                    <a:pt x="3168" y="1165"/>
                    <a:pt x="3311" y="1165"/>
                    <a:pt x="3474" y="1206"/>
                  </a:cubicBezTo>
                  <a:lnTo>
                    <a:pt x="3474" y="20"/>
                  </a:lnTo>
                  <a:cubicBezTo>
                    <a:pt x="3331" y="0"/>
                    <a:pt x="3188" y="0"/>
                    <a:pt x="3045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6640625" y="2806400"/>
              <a:ext cx="120575" cy="140500"/>
            </a:xfrm>
            <a:custGeom>
              <a:avLst/>
              <a:gdLst/>
              <a:ahLst/>
              <a:cxnLst/>
              <a:rect l="l" t="t" r="r" b="b"/>
              <a:pathLst>
                <a:path w="4823" h="5620" extrusionOk="0">
                  <a:moveTo>
                    <a:pt x="3433" y="3250"/>
                  </a:moveTo>
                  <a:lnTo>
                    <a:pt x="3433" y="3515"/>
                  </a:lnTo>
                  <a:cubicBezTo>
                    <a:pt x="3433" y="4108"/>
                    <a:pt x="3270" y="4598"/>
                    <a:pt x="2227" y="4598"/>
                  </a:cubicBezTo>
                  <a:cubicBezTo>
                    <a:pt x="1635" y="4598"/>
                    <a:pt x="1267" y="4373"/>
                    <a:pt x="1267" y="3924"/>
                  </a:cubicBezTo>
                  <a:cubicBezTo>
                    <a:pt x="1267" y="3454"/>
                    <a:pt x="1614" y="3250"/>
                    <a:pt x="2166" y="3250"/>
                  </a:cubicBezTo>
                  <a:close/>
                  <a:moveTo>
                    <a:pt x="2411" y="1"/>
                  </a:moveTo>
                  <a:cubicBezTo>
                    <a:pt x="1390" y="1"/>
                    <a:pt x="266" y="409"/>
                    <a:pt x="266" y="1594"/>
                  </a:cubicBezTo>
                  <a:lnTo>
                    <a:pt x="266" y="1737"/>
                  </a:lnTo>
                  <a:lnTo>
                    <a:pt x="1431" y="1737"/>
                  </a:lnTo>
                  <a:lnTo>
                    <a:pt x="1431" y="1554"/>
                  </a:lnTo>
                  <a:cubicBezTo>
                    <a:pt x="1431" y="1206"/>
                    <a:pt x="1839" y="1022"/>
                    <a:pt x="2391" y="1022"/>
                  </a:cubicBezTo>
                  <a:cubicBezTo>
                    <a:pt x="3045" y="1022"/>
                    <a:pt x="3433" y="1247"/>
                    <a:pt x="3433" y="1819"/>
                  </a:cubicBezTo>
                  <a:lnTo>
                    <a:pt x="3433" y="2330"/>
                  </a:lnTo>
                  <a:lnTo>
                    <a:pt x="2003" y="2330"/>
                  </a:lnTo>
                  <a:cubicBezTo>
                    <a:pt x="961" y="2330"/>
                    <a:pt x="0" y="2943"/>
                    <a:pt x="0" y="3985"/>
                  </a:cubicBezTo>
                  <a:cubicBezTo>
                    <a:pt x="0" y="5007"/>
                    <a:pt x="756" y="5620"/>
                    <a:pt x="1880" y="5620"/>
                  </a:cubicBezTo>
                  <a:cubicBezTo>
                    <a:pt x="2575" y="5620"/>
                    <a:pt x="2984" y="5518"/>
                    <a:pt x="3474" y="5007"/>
                  </a:cubicBezTo>
                  <a:lnTo>
                    <a:pt x="3494" y="5007"/>
                  </a:lnTo>
                  <a:cubicBezTo>
                    <a:pt x="3494" y="5109"/>
                    <a:pt x="3515" y="5436"/>
                    <a:pt x="3535" y="5518"/>
                  </a:cubicBezTo>
                  <a:lnTo>
                    <a:pt x="4823" y="5518"/>
                  </a:lnTo>
                  <a:cubicBezTo>
                    <a:pt x="4741" y="5395"/>
                    <a:pt x="4720" y="4598"/>
                    <a:pt x="4720" y="4353"/>
                  </a:cubicBezTo>
                  <a:lnTo>
                    <a:pt x="4720" y="1737"/>
                  </a:lnTo>
                  <a:cubicBezTo>
                    <a:pt x="4720" y="409"/>
                    <a:pt x="3617" y="1"/>
                    <a:pt x="2411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6778550" y="2768600"/>
              <a:ext cx="79200" cy="177800"/>
            </a:xfrm>
            <a:custGeom>
              <a:avLst/>
              <a:gdLst/>
              <a:ahLst/>
              <a:cxnLst/>
              <a:rect l="l" t="t" r="r" b="b"/>
              <a:pathLst>
                <a:path w="3168" h="7112" extrusionOk="0">
                  <a:moveTo>
                    <a:pt x="716" y="1"/>
                  </a:moveTo>
                  <a:lnTo>
                    <a:pt x="716" y="1635"/>
                  </a:lnTo>
                  <a:lnTo>
                    <a:pt x="0" y="1635"/>
                  </a:lnTo>
                  <a:lnTo>
                    <a:pt x="0" y="2657"/>
                  </a:lnTo>
                  <a:lnTo>
                    <a:pt x="716" y="2657"/>
                  </a:lnTo>
                  <a:lnTo>
                    <a:pt x="716" y="5742"/>
                  </a:lnTo>
                  <a:cubicBezTo>
                    <a:pt x="716" y="6703"/>
                    <a:pt x="1390" y="7111"/>
                    <a:pt x="2228" y="7111"/>
                  </a:cubicBezTo>
                  <a:cubicBezTo>
                    <a:pt x="2412" y="7111"/>
                    <a:pt x="2882" y="7071"/>
                    <a:pt x="3168" y="7009"/>
                  </a:cubicBezTo>
                  <a:lnTo>
                    <a:pt x="3168" y="5906"/>
                  </a:lnTo>
                  <a:cubicBezTo>
                    <a:pt x="2922" y="5947"/>
                    <a:pt x="2779" y="5967"/>
                    <a:pt x="2514" y="5967"/>
                  </a:cubicBezTo>
                  <a:cubicBezTo>
                    <a:pt x="2207" y="5967"/>
                    <a:pt x="2003" y="5845"/>
                    <a:pt x="2003" y="5436"/>
                  </a:cubicBezTo>
                  <a:lnTo>
                    <a:pt x="2003" y="2657"/>
                  </a:lnTo>
                  <a:lnTo>
                    <a:pt x="3168" y="2657"/>
                  </a:lnTo>
                  <a:lnTo>
                    <a:pt x="3168" y="1635"/>
                  </a:lnTo>
                  <a:lnTo>
                    <a:pt x="2003" y="1635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6879700" y="2754800"/>
              <a:ext cx="32200" cy="189550"/>
            </a:xfrm>
            <a:custGeom>
              <a:avLst/>
              <a:gdLst/>
              <a:ahLst/>
              <a:cxnLst/>
              <a:rect l="l" t="t" r="r" b="b"/>
              <a:pathLst>
                <a:path w="1288" h="7582" extrusionOk="0">
                  <a:moveTo>
                    <a:pt x="0" y="1"/>
                  </a:moveTo>
                  <a:lnTo>
                    <a:pt x="0" y="1370"/>
                  </a:lnTo>
                  <a:lnTo>
                    <a:pt x="1288" y="1370"/>
                  </a:lnTo>
                  <a:lnTo>
                    <a:pt x="1288" y="1"/>
                  </a:lnTo>
                  <a:close/>
                  <a:moveTo>
                    <a:pt x="0" y="2187"/>
                  </a:moveTo>
                  <a:lnTo>
                    <a:pt x="0" y="7582"/>
                  </a:lnTo>
                  <a:lnTo>
                    <a:pt x="1288" y="7582"/>
                  </a:lnTo>
                  <a:lnTo>
                    <a:pt x="1288" y="2187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6939975" y="2806925"/>
              <a:ext cx="122625" cy="188000"/>
            </a:xfrm>
            <a:custGeom>
              <a:avLst/>
              <a:gdLst/>
              <a:ahLst/>
              <a:cxnLst/>
              <a:rect l="l" t="t" r="r" b="b"/>
              <a:pathLst>
                <a:path w="4905" h="7520" extrusionOk="0">
                  <a:moveTo>
                    <a:pt x="2432" y="1083"/>
                  </a:moveTo>
                  <a:cubicBezTo>
                    <a:pt x="3107" y="1083"/>
                    <a:pt x="3638" y="1471"/>
                    <a:pt x="3638" y="2125"/>
                  </a:cubicBezTo>
                  <a:lnTo>
                    <a:pt x="3638" y="3453"/>
                  </a:lnTo>
                  <a:cubicBezTo>
                    <a:pt x="3638" y="4230"/>
                    <a:pt x="3025" y="4516"/>
                    <a:pt x="2473" y="4516"/>
                  </a:cubicBezTo>
                  <a:cubicBezTo>
                    <a:pt x="1819" y="4516"/>
                    <a:pt x="1308" y="4128"/>
                    <a:pt x="1308" y="3474"/>
                  </a:cubicBezTo>
                  <a:lnTo>
                    <a:pt x="1308" y="2146"/>
                  </a:lnTo>
                  <a:cubicBezTo>
                    <a:pt x="1308" y="1369"/>
                    <a:pt x="1901" y="1083"/>
                    <a:pt x="2432" y="1083"/>
                  </a:cubicBezTo>
                  <a:close/>
                  <a:moveTo>
                    <a:pt x="2228" y="0"/>
                  </a:moveTo>
                  <a:cubicBezTo>
                    <a:pt x="1022" y="0"/>
                    <a:pt x="1" y="715"/>
                    <a:pt x="1" y="2186"/>
                  </a:cubicBezTo>
                  <a:lnTo>
                    <a:pt x="1" y="3494"/>
                  </a:lnTo>
                  <a:cubicBezTo>
                    <a:pt x="1" y="4863"/>
                    <a:pt x="961" y="5619"/>
                    <a:pt x="2126" y="5619"/>
                  </a:cubicBezTo>
                  <a:cubicBezTo>
                    <a:pt x="2616" y="5619"/>
                    <a:pt x="3352" y="5313"/>
                    <a:pt x="3658" y="4884"/>
                  </a:cubicBezTo>
                  <a:lnTo>
                    <a:pt x="3658" y="7520"/>
                  </a:lnTo>
                  <a:lnTo>
                    <a:pt x="4905" y="7520"/>
                  </a:lnTo>
                  <a:lnTo>
                    <a:pt x="4905" y="82"/>
                  </a:lnTo>
                  <a:lnTo>
                    <a:pt x="3638" y="82"/>
                  </a:lnTo>
                  <a:lnTo>
                    <a:pt x="3638" y="654"/>
                  </a:lnTo>
                  <a:lnTo>
                    <a:pt x="3597" y="654"/>
                  </a:lnTo>
                  <a:cubicBezTo>
                    <a:pt x="3331" y="307"/>
                    <a:pt x="2820" y="0"/>
                    <a:pt x="2228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7096300" y="2809475"/>
              <a:ext cx="117000" cy="137425"/>
            </a:xfrm>
            <a:custGeom>
              <a:avLst/>
              <a:gdLst/>
              <a:ahLst/>
              <a:cxnLst/>
              <a:rect l="l" t="t" r="r" b="b"/>
              <a:pathLst>
                <a:path w="4680" h="5497" extrusionOk="0">
                  <a:moveTo>
                    <a:pt x="0" y="0"/>
                  </a:moveTo>
                  <a:lnTo>
                    <a:pt x="0" y="3433"/>
                  </a:lnTo>
                  <a:cubicBezTo>
                    <a:pt x="0" y="4720"/>
                    <a:pt x="675" y="5497"/>
                    <a:pt x="1880" y="5497"/>
                  </a:cubicBezTo>
                  <a:cubicBezTo>
                    <a:pt x="2493" y="5497"/>
                    <a:pt x="3045" y="5252"/>
                    <a:pt x="3413" y="4720"/>
                  </a:cubicBezTo>
                  <a:lnTo>
                    <a:pt x="3433" y="4720"/>
                  </a:lnTo>
                  <a:lnTo>
                    <a:pt x="3433" y="5395"/>
                  </a:lnTo>
                  <a:lnTo>
                    <a:pt x="4680" y="5395"/>
                  </a:lnTo>
                  <a:lnTo>
                    <a:pt x="4680" y="0"/>
                  </a:lnTo>
                  <a:lnTo>
                    <a:pt x="3392" y="0"/>
                  </a:lnTo>
                  <a:lnTo>
                    <a:pt x="3392" y="3004"/>
                  </a:lnTo>
                  <a:cubicBezTo>
                    <a:pt x="3392" y="3924"/>
                    <a:pt x="3004" y="4373"/>
                    <a:pt x="2289" y="4373"/>
                  </a:cubicBezTo>
                  <a:cubicBezTo>
                    <a:pt x="1635" y="4373"/>
                    <a:pt x="1288" y="3944"/>
                    <a:pt x="1288" y="3127"/>
                  </a:cubicBezTo>
                  <a:lnTo>
                    <a:pt x="1288" y="0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7240350" y="2806925"/>
              <a:ext cx="120075" cy="140500"/>
            </a:xfrm>
            <a:custGeom>
              <a:avLst/>
              <a:gdLst/>
              <a:ahLst/>
              <a:cxnLst/>
              <a:rect l="l" t="t" r="r" b="b"/>
              <a:pathLst>
                <a:path w="4803" h="5620" extrusionOk="0">
                  <a:moveTo>
                    <a:pt x="2473" y="1083"/>
                  </a:moveTo>
                  <a:cubicBezTo>
                    <a:pt x="3005" y="1083"/>
                    <a:pt x="3515" y="1390"/>
                    <a:pt x="3515" y="2125"/>
                  </a:cubicBezTo>
                  <a:lnTo>
                    <a:pt x="3515" y="2268"/>
                  </a:lnTo>
                  <a:lnTo>
                    <a:pt x="1329" y="2268"/>
                  </a:lnTo>
                  <a:lnTo>
                    <a:pt x="1329" y="2186"/>
                  </a:lnTo>
                  <a:cubicBezTo>
                    <a:pt x="1329" y="1390"/>
                    <a:pt x="1922" y="1083"/>
                    <a:pt x="2473" y="1083"/>
                  </a:cubicBezTo>
                  <a:close/>
                  <a:moveTo>
                    <a:pt x="2473" y="0"/>
                  </a:moveTo>
                  <a:cubicBezTo>
                    <a:pt x="1145" y="0"/>
                    <a:pt x="1" y="838"/>
                    <a:pt x="1" y="2370"/>
                  </a:cubicBezTo>
                  <a:lnTo>
                    <a:pt x="1" y="3413"/>
                  </a:lnTo>
                  <a:cubicBezTo>
                    <a:pt x="1" y="4884"/>
                    <a:pt x="1186" y="5619"/>
                    <a:pt x="2514" y="5619"/>
                  </a:cubicBezTo>
                  <a:cubicBezTo>
                    <a:pt x="3475" y="5619"/>
                    <a:pt x="4312" y="5252"/>
                    <a:pt x="4741" y="4414"/>
                  </a:cubicBezTo>
                  <a:lnTo>
                    <a:pt x="3740" y="3842"/>
                  </a:lnTo>
                  <a:cubicBezTo>
                    <a:pt x="3475" y="4250"/>
                    <a:pt x="3005" y="4536"/>
                    <a:pt x="2575" y="4536"/>
                  </a:cubicBezTo>
                  <a:cubicBezTo>
                    <a:pt x="1901" y="4536"/>
                    <a:pt x="1329" y="4148"/>
                    <a:pt x="1329" y="3453"/>
                  </a:cubicBezTo>
                  <a:lnTo>
                    <a:pt x="1329" y="3167"/>
                  </a:lnTo>
                  <a:lnTo>
                    <a:pt x="4803" y="3167"/>
                  </a:lnTo>
                  <a:lnTo>
                    <a:pt x="4803" y="2125"/>
                  </a:lnTo>
                  <a:cubicBezTo>
                    <a:pt x="4803" y="695"/>
                    <a:pt x="3638" y="0"/>
                    <a:pt x="2473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5699125" y="3072550"/>
              <a:ext cx="122625" cy="191075"/>
            </a:xfrm>
            <a:custGeom>
              <a:avLst/>
              <a:gdLst/>
              <a:ahLst/>
              <a:cxnLst/>
              <a:rect l="l" t="t" r="r" b="b"/>
              <a:pathLst>
                <a:path w="4905" h="7643" extrusionOk="0">
                  <a:moveTo>
                    <a:pt x="2432" y="3107"/>
                  </a:moveTo>
                  <a:cubicBezTo>
                    <a:pt x="3086" y="3107"/>
                    <a:pt x="3617" y="3495"/>
                    <a:pt x="3617" y="4149"/>
                  </a:cubicBezTo>
                  <a:lnTo>
                    <a:pt x="3617" y="5477"/>
                  </a:lnTo>
                  <a:cubicBezTo>
                    <a:pt x="3617" y="6253"/>
                    <a:pt x="3004" y="6540"/>
                    <a:pt x="2473" y="6540"/>
                  </a:cubicBezTo>
                  <a:cubicBezTo>
                    <a:pt x="1819" y="6540"/>
                    <a:pt x="1308" y="6151"/>
                    <a:pt x="1308" y="5497"/>
                  </a:cubicBezTo>
                  <a:lnTo>
                    <a:pt x="1308" y="4169"/>
                  </a:lnTo>
                  <a:cubicBezTo>
                    <a:pt x="1308" y="3393"/>
                    <a:pt x="1901" y="3107"/>
                    <a:pt x="2432" y="3107"/>
                  </a:cubicBezTo>
                  <a:close/>
                  <a:moveTo>
                    <a:pt x="3617" y="1"/>
                  </a:moveTo>
                  <a:lnTo>
                    <a:pt x="3617" y="2678"/>
                  </a:lnTo>
                  <a:lnTo>
                    <a:pt x="3597" y="2678"/>
                  </a:lnTo>
                  <a:cubicBezTo>
                    <a:pt x="3311" y="2310"/>
                    <a:pt x="2820" y="2003"/>
                    <a:pt x="2228" y="2003"/>
                  </a:cubicBezTo>
                  <a:cubicBezTo>
                    <a:pt x="1022" y="2003"/>
                    <a:pt x="0" y="2739"/>
                    <a:pt x="0" y="4210"/>
                  </a:cubicBezTo>
                  <a:lnTo>
                    <a:pt x="0" y="5518"/>
                  </a:lnTo>
                  <a:cubicBezTo>
                    <a:pt x="0" y="6887"/>
                    <a:pt x="940" y="7643"/>
                    <a:pt x="2125" y="7643"/>
                  </a:cubicBezTo>
                  <a:cubicBezTo>
                    <a:pt x="2616" y="7643"/>
                    <a:pt x="3331" y="7336"/>
                    <a:pt x="3637" y="6907"/>
                  </a:cubicBezTo>
                  <a:lnTo>
                    <a:pt x="3658" y="6907"/>
                  </a:lnTo>
                  <a:lnTo>
                    <a:pt x="3658" y="7520"/>
                  </a:lnTo>
                  <a:lnTo>
                    <a:pt x="4904" y="7520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5854925" y="3125675"/>
              <a:ext cx="117525" cy="137450"/>
            </a:xfrm>
            <a:custGeom>
              <a:avLst/>
              <a:gdLst/>
              <a:ahLst/>
              <a:cxnLst/>
              <a:rect l="l" t="t" r="r" b="b"/>
              <a:pathLst>
                <a:path w="4701" h="5498" extrusionOk="0">
                  <a:moveTo>
                    <a:pt x="1" y="1"/>
                  </a:moveTo>
                  <a:lnTo>
                    <a:pt x="1" y="3434"/>
                  </a:lnTo>
                  <a:cubicBezTo>
                    <a:pt x="1" y="4721"/>
                    <a:pt x="695" y="5498"/>
                    <a:pt x="1901" y="5498"/>
                  </a:cubicBezTo>
                  <a:cubicBezTo>
                    <a:pt x="2494" y="5498"/>
                    <a:pt x="3066" y="5252"/>
                    <a:pt x="3413" y="4721"/>
                  </a:cubicBezTo>
                  <a:lnTo>
                    <a:pt x="3454" y="4721"/>
                  </a:lnTo>
                  <a:lnTo>
                    <a:pt x="3454" y="5395"/>
                  </a:lnTo>
                  <a:lnTo>
                    <a:pt x="4700" y="5395"/>
                  </a:lnTo>
                  <a:lnTo>
                    <a:pt x="4700" y="1"/>
                  </a:lnTo>
                  <a:lnTo>
                    <a:pt x="3413" y="1"/>
                  </a:lnTo>
                  <a:lnTo>
                    <a:pt x="3413" y="3005"/>
                  </a:lnTo>
                  <a:cubicBezTo>
                    <a:pt x="3413" y="3924"/>
                    <a:pt x="3004" y="4374"/>
                    <a:pt x="2310" y="4374"/>
                  </a:cubicBezTo>
                  <a:cubicBezTo>
                    <a:pt x="1656" y="4374"/>
                    <a:pt x="1288" y="3945"/>
                    <a:pt x="1288" y="3127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6067950" y="3069500"/>
              <a:ext cx="147150" cy="194125"/>
            </a:xfrm>
            <a:custGeom>
              <a:avLst/>
              <a:gdLst/>
              <a:ahLst/>
              <a:cxnLst/>
              <a:rect l="l" t="t" r="r" b="b"/>
              <a:pathLst>
                <a:path w="5886" h="7765" extrusionOk="0">
                  <a:moveTo>
                    <a:pt x="3004" y="0"/>
                  </a:moveTo>
                  <a:cubicBezTo>
                    <a:pt x="1370" y="0"/>
                    <a:pt x="1" y="981"/>
                    <a:pt x="1" y="2759"/>
                  </a:cubicBezTo>
                  <a:lnTo>
                    <a:pt x="1" y="5170"/>
                  </a:lnTo>
                  <a:cubicBezTo>
                    <a:pt x="1" y="6845"/>
                    <a:pt x="1431" y="7765"/>
                    <a:pt x="3066" y="7765"/>
                  </a:cubicBezTo>
                  <a:cubicBezTo>
                    <a:pt x="4496" y="7765"/>
                    <a:pt x="5886" y="6968"/>
                    <a:pt x="5886" y="5292"/>
                  </a:cubicBezTo>
                  <a:lnTo>
                    <a:pt x="5886" y="5068"/>
                  </a:lnTo>
                  <a:lnTo>
                    <a:pt x="4557" y="5068"/>
                  </a:lnTo>
                  <a:lnTo>
                    <a:pt x="4557" y="5170"/>
                  </a:lnTo>
                  <a:cubicBezTo>
                    <a:pt x="4557" y="6151"/>
                    <a:pt x="3760" y="6518"/>
                    <a:pt x="3066" y="6518"/>
                  </a:cubicBezTo>
                  <a:cubicBezTo>
                    <a:pt x="2187" y="6518"/>
                    <a:pt x="1411" y="6008"/>
                    <a:pt x="1411" y="5109"/>
                  </a:cubicBezTo>
                  <a:lnTo>
                    <a:pt x="1411" y="2697"/>
                  </a:lnTo>
                  <a:cubicBezTo>
                    <a:pt x="1411" y="1614"/>
                    <a:pt x="2289" y="1247"/>
                    <a:pt x="3004" y="1247"/>
                  </a:cubicBezTo>
                  <a:cubicBezTo>
                    <a:pt x="3699" y="1247"/>
                    <a:pt x="4557" y="1614"/>
                    <a:pt x="4557" y="2595"/>
                  </a:cubicBezTo>
                  <a:lnTo>
                    <a:pt x="4557" y="2718"/>
                  </a:lnTo>
                  <a:lnTo>
                    <a:pt x="5886" y="2718"/>
                  </a:lnTo>
                  <a:lnTo>
                    <a:pt x="5886" y="2473"/>
                  </a:lnTo>
                  <a:cubicBezTo>
                    <a:pt x="5886" y="797"/>
                    <a:pt x="4455" y="0"/>
                    <a:pt x="3004" y="0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6239075" y="3123125"/>
              <a:ext cx="122650" cy="140500"/>
            </a:xfrm>
            <a:custGeom>
              <a:avLst/>
              <a:gdLst/>
              <a:ahLst/>
              <a:cxnLst/>
              <a:rect l="l" t="t" r="r" b="b"/>
              <a:pathLst>
                <a:path w="4906" h="5620" extrusionOk="0">
                  <a:moveTo>
                    <a:pt x="2433" y="1104"/>
                  </a:moveTo>
                  <a:cubicBezTo>
                    <a:pt x="3087" y="1104"/>
                    <a:pt x="3597" y="1472"/>
                    <a:pt x="3597" y="2126"/>
                  </a:cubicBezTo>
                  <a:lnTo>
                    <a:pt x="3597" y="3474"/>
                  </a:lnTo>
                  <a:cubicBezTo>
                    <a:pt x="3597" y="4251"/>
                    <a:pt x="3005" y="4537"/>
                    <a:pt x="2474" y="4537"/>
                  </a:cubicBezTo>
                  <a:cubicBezTo>
                    <a:pt x="1799" y="4537"/>
                    <a:pt x="1309" y="4149"/>
                    <a:pt x="1309" y="3495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433" y="1"/>
                  </a:moveTo>
                  <a:cubicBezTo>
                    <a:pt x="1247" y="1"/>
                    <a:pt x="1" y="798"/>
                    <a:pt x="1" y="2269"/>
                  </a:cubicBezTo>
                  <a:lnTo>
                    <a:pt x="1" y="3495"/>
                  </a:lnTo>
                  <a:cubicBezTo>
                    <a:pt x="1" y="4884"/>
                    <a:pt x="1166" y="5620"/>
                    <a:pt x="2474" y="5620"/>
                  </a:cubicBezTo>
                  <a:cubicBezTo>
                    <a:pt x="3659" y="5620"/>
                    <a:pt x="4905" y="4823"/>
                    <a:pt x="4905" y="3352"/>
                  </a:cubicBezTo>
                  <a:lnTo>
                    <a:pt x="4905" y="2248"/>
                  </a:lnTo>
                  <a:cubicBezTo>
                    <a:pt x="4905" y="859"/>
                    <a:pt x="3740" y="1"/>
                    <a:pt x="2433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6390300" y="3123125"/>
              <a:ext cx="117000" cy="137450"/>
            </a:xfrm>
            <a:custGeom>
              <a:avLst/>
              <a:gdLst/>
              <a:ahLst/>
              <a:cxnLst/>
              <a:rect l="l" t="t" r="r" b="b"/>
              <a:pathLst>
                <a:path w="4680" h="5498" extrusionOk="0">
                  <a:moveTo>
                    <a:pt x="2800" y="1"/>
                  </a:moveTo>
                  <a:cubicBezTo>
                    <a:pt x="2207" y="1"/>
                    <a:pt x="1635" y="246"/>
                    <a:pt x="1267" y="757"/>
                  </a:cubicBezTo>
                  <a:lnTo>
                    <a:pt x="1247" y="757"/>
                  </a:lnTo>
                  <a:lnTo>
                    <a:pt x="1247" y="103"/>
                  </a:lnTo>
                  <a:lnTo>
                    <a:pt x="0" y="103"/>
                  </a:lnTo>
                  <a:lnTo>
                    <a:pt x="0" y="5497"/>
                  </a:lnTo>
                  <a:lnTo>
                    <a:pt x="1288" y="5497"/>
                  </a:lnTo>
                  <a:lnTo>
                    <a:pt x="1288" y="2473"/>
                  </a:lnTo>
                  <a:cubicBezTo>
                    <a:pt x="1288" y="1554"/>
                    <a:pt x="1697" y="1124"/>
                    <a:pt x="2391" y="1124"/>
                  </a:cubicBezTo>
                  <a:cubicBezTo>
                    <a:pt x="3045" y="1124"/>
                    <a:pt x="3393" y="1554"/>
                    <a:pt x="3393" y="2371"/>
                  </a:cubicBezTo>
                  <a:lnTo>
                    <a:pt x="3393" y="5497"/>
                  </a:lnTo>
                  <a:lnTo>
                    <a:pt x="4680" y="5497"/>
                  </a:lnTo>
                  <a:lnTo>
                    <a:pt x="4680" y="2044"/>
                  </a:lnTo>
                  <a:cubicBezTo>
                    <a:pt x="4680" y="757"/>
                    <a:pt x="4006" y="1"/>
                    <a:pt x="2800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6534350" y="3123125"/>
              <a:ext cx="121100" cy="189050"/>
            </a:xfrm>
            <a:custGeom>
              <a:avLst/>
              <a:gdLst/>
              <a:ahLst/>
              <a:cxnLst/>
              <a:rect l="l" t="t" r="r" b="b"/>
              <a:pathLst>
                <a:path w="4844" h="7562" extrusionOk="0">
                  <a:moveTo>
                    <a:pt x="2433" y="1104"/>
                  </a:moveTo>
                  <a:cubicBezTo>
                    <a:pt x="3107" y="1104"/>
                    <a:pt x="3597" y="1472"/>
                    <a:pt x="3597" y="2126"/>
                  </a:cubicBezTo>
                  <a:lnTo>
                    <a:pt x="3597" y="3331"/>
                  </a:lnTo>
                  <a:cubicBezTo>
                    <a:pt x="3597" y="4108"/>
                    <a:pt x="3005" y="4394"/>
                    <a:pt x="2473" y="4394"/>
                  </a:cubicBezTo>
                  <a:cubicBezTo>
                    <a:pt x="1820" y="4394"/>
                    <a:pt x="1309" y="4006"/>
                    <a:pt x="1309" y="3352"/>
                  </a:cubicBezTo>
                  <a:lnTo>
                    <a:pt x="1309" y="2167"/>
                  </a:lnTo>
                  <a:cubicBezTo>
                    <a:pt x="1309" y="1390"/>
                    <a:pt x="1901" y="1104"/>
                    <a:pt x="2433" y="1104"/>
                  </a:cubicBezTo>
                  <a:close/>
                  <a:moveTo>
                    <a:pt x="2126" y="1"/>
                  </a:moveTo>
                  <a:cubicBezTo>
                    <a:pt x="920" y="1"/>
                    <a:pt x="1" y="798"/>
                    <a:pt x="1" y="2269"/>
                  </a:cubicBezTo>
                  <a:lnTo>
                    <a:pt x="1" y="3290"/>
                  </a:lnTo>
                  <a:cubicBezTo>
                    <a:pt x="1" y="4680"/>
                    <a:pt x="839" y="5416"/>
                    <a:pt x="2146" y="5416"/>
                  </a:cubicBezTo>
                  <a:cubicBezTo>
                    <a:pt x="2739" y="5416"/>
                    <a:pt x="3229" y="5191"/>
                    <a:pt x="3577" y="4721"/>
                  </a:cubicBezTo>
                  <a:lnTo>
                    <a:pt x="3597" y="4721"/>
                  </a:lnTo>
                  <a:lnTo>
                    <a:pt x="3597" y="5273"/>
                  </a:lnTo>
                  <a:cubicBezTo>
                    <a:pt x="3597" y="6049"/>
                    <a:pt x="3168" y="6539"/>
                    <a:pt x="2392" y="6539"/>
                  </a:cubicBezTo>
                  <a:cubicBezTo>
                    <a:pt x="1922" y="6539"/>
                    <a:pt x="1554" y="6335"/>
                    <a:pt x="1309" y="5824"/>
                  </a:cubicBezTo>
                  <a:lnTo>
                    <a:pt x="83" y="6253"/>
                  </a:lnTo>
                  <a:cubicBezTo>
                    <a:pt x="348" y="7152"/>
                    <a:pt x="1411" y="7561"/>
                    <a:pt x="2269" y="7561"/>
                  </a:cubicBezTo>
                  <a:cubicBezTo>
                    <a:pt x="4149" y="7561"/>
                    <a:pt x="4844" y="6294"/>
                    <a:pt x="4844" y="5048"/>
                  </a:cubicBezTo>
                  <a:lnTo>
                    <a:pt x="4844" y="103"/>
                  </a:lnTo>
                  <a:lnTo>
                    <a:pt x="3618" y="103"/>
                  </a:lnTo>
                  <a:lnTo>
                    <a:pt x="3618" y="736"/>
                  </a:lnTo>
                  <a:lnTo>
                    <a:pt x="3597" y="736"/>
                  </a:lnTo>
                  <a:cubicBezTo>
                    <a:pt x="3311" y="328"/>
                    <a:pt x="2759" y="1"/>
                    <a:pt x="2126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6683025" y="3123125"/>
              <a:ext cx="123125" cy="140500"/>
            </a:xfrm>
            <a:custGeom>
              <a:avLst/>
              <a:gdLst/>
              <a:ahLst/>
              <a:cxnLst/>
              <a:rect l="l" t="t" r="r" b="b"/>
              <a:pathLst>
                <a:path w="4925" h="5620" extrusionOk="0">
                  <a:moveTo>
                    <a:pt x="2432" y="1104"/>
                  </a:moveTo>
                  <a:cubicBezTo>
                    <a:pt x="3106" y="1104"/>
                    <a:pt x="3617" y="1472"/>
                    <a:pt x="3617" y="2126"/>
                  </a:cubicBezTo>
                  <a:lnTo>
                    <a:pt x="3617" y="3474"/>
                  </a:lnTo>
                  <a:cubicBezTo>
                    <a:pt x="3617" y="4251"/>
                    <a:pt x="3024" y="4537"/>
                    <a:pt x="2493" y="4537"/>
                  </a:cubicBezTo>
                  <a:cubicBezTo>
                    <a:pt x="1819" y="4537"/>
                    <a:pt x="1308" y="4149"/>
                    <a:pt x="1308" y="3495"/>
                  </a:cubicBezTo>
                  <a:lnTo>
                    <a:pt x="1308" y="2167"/>
                  </a:lnTo>
                  <a:cubicBezTo>
                    <a:pt x="1308" y="1390"/>
                    <a:pt x="1901" y="1104"/>
                    <a:pt x="2432" y="1104"/>
                  </a:cubicBezTo>
                  <a:close/>
                  <a:moveTo>
                    <a:pt x="2432" y="1"/>
                  </a:moveTo>
                  <a:cubicBezTo>
                    <a:pt x="1247" y="1"/>
                    <a:pt x="0" y="798"/>
                    <a:pt x="0" y="2269"/>
                  </a:cubicBezTo>
                  <a:lnTo>
                    <a:pt x="0" y="3495"/>
                  </a:lnTo>
                  <a:cubicBezTo>
                    <a:pt x="0" y="4884"/>
                    <a:pt x="1185" y="5620"/>
                    <a:pt x="2493" y="5620"/>
                  </a:cubicBezTo>
                  <a:cubicBezTo>
                    <a:pt x="3678" y="5620"/>
                    <a:pt x="4925" y="4823"/>
                    <a:pt x="4925" y="3352"/>
                  </a:cubicBezTo>
                  <a:lnTo>
                    <a:pt x="4925" y="2248"/>
                  </a:lnTo>
                  <a:cubicBezTo>
                    <a:pt x="4925" y="859"/>
                    <a:pt x="3740" y="1"/>
                    <a:pt x="2432" y="1"/>
                  </a:cubicBezTo>
                  <a:close/>
                </a:path>
              </a:pathLst>
            </a:custGeom>
            <a:solidFill>
              <a:srgbClr val="002878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5432975" y="2440125"/>
              <a:ext cx="21475" cy="823500"/>
            </a:xfrm>
            <a:custGeom>
              <a:avLst/>
              <a:gdLst/>
              <a:ahLst/>
              <a:cxnLst/>
              <a:rect l="l" t="t" r="r" b="b"/>
              <a:pathLst>
                <a:path w="859" h="32940" extrusionOk="0">
                  <a:moveTo>
                    <a:pt x="0" y="1"/>
                  </a:moveTo>
                  <a:lnTo>
                    <a:pt x="0" y="32940"/>
                  </a:lnTo>
                  <a:lnTo>
                    <a:pt x="858" y="32940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64C8FA"/>
            </a:solidFill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0" name="Google Shape;810;p65"/>
          <p:cNvSpPr txBox="1"/>
          <p:nvPr/>
        </p:nvSpPr>
        <p:spPr>
          <a:xfrm>
            <a:off x="8247907" y="6126435"/>
            <a:ext cx="3486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AC"/>
              </a:buClr>
              <a:buSzPts val="1800"/>
              <a:buFont typeface="Lato"/>
              <a:buNone/>
            </a:pPr>
            <a:r>
              <a:rPr lang="en-GB" sz="1800" b="0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vacciner c'est </a:t>
            </a:r>
            <a:r>
              <a:rPr lang="en-GB" sz="1800" b="1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aimer,</a:t>
            </a:r>
            <a:r>
              <a:rPr lang="en-GB" sz="1800" b="0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 vacciner c'est </a:t>
            </a:r>
            <a:r>
              <a:rPr lang="en-GB" sz="1800" b="1" i="0" u="none" strike="noStrike" cap="none">
                <a:solidFill>
                  <a:srgbClr val="4A66AC"/>
                </a:solidFill>
                <a:latin typeface="Lato"/>
                <a:ea typeface="Lato"/>
                <a:cs typeface="Lato"/>
                <a:sym typeface="Lato"/>
              </a:rPr>
              <a:t>protéger</a:t>
            </a:r>
            <a:endParaRPr sz="1800" b="1" i="0" u="none" strike="noStrike" cap="none">
              <a:solidFill>
                <a:srgbClr val="4A66A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B57AE601-2943-1662-7416-BE82B261D76B}"/>
              </a:ext>
            </a:extLst>
          </p:cNvPr>
          <p:cNvSpPr txBox="1"/>
          <p:nvPr/>
        </p:nvSpPr>
        <p:spPr>
          <a:xfrm>
            <a:off x="463116" y="1691752"/>
            <a:ext cx="10450721" cy="15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Clr>
                <a:srgbClr val="2F85AA"/>
              </a:buClr>
              <a:buSzPts val="1867"/>
            </a:pPr>
            <a:endParaRPr lang="en-US" sz="1600" b="0" i="0" u="none" strike="noStrike" cap="none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>
              <a:spcBef>
                <a:spcPts val="0"/>
              </a:spcBef>
              <a:spcAft>
                <a:spcPts val="1800"/>
              </a:spcAft>
              <a:buClr>
                <a:srgbClr val="2F85AA"/>
              </a:buClr>
              <a:buSzPts val="1867"/>
            </a:pPr>
            <a:r>
              <a:rPr lang="en-US" sz="1600" b="0" i="0" u="none" strike="noStrike" cap="none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Mpiongo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P. B., </a:t>
            </a:r>
            <a:r>
              <a:rPr lang="en-US" sz="1600" b="0" i="0" u="none" strike="noStrike" cap="none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Kibanza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J., </a:t>
            </a:r>
            <a:r>
              <a:rPr lang="en-US" sz="1600" b="0" i="0" u="none" strike="noStrike" cap="none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Yav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F. K., et al. (2023). Strengthening immunization programs through innovative sub-national public-private partnerships in selected provinces in the Democratic Republic of the Congo. Vaccine, 41(51), 7598-7607. 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  <a:hlinkClick r:id="rId3"/>
              </a:rPr>
              <a:t>https://doi.org/https://10.1016/j.vaccine.2023.11.029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948189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4_Foundation Master Slides">
  <a:themeElements>
    <a:clrScheme name="Bill &amp; Melinda Gates Foundation Colors Jan 2014">
      <a:dk1>
        <a:srgbClr val="59452A"/>
      </a:dk1>
      <a:lt1>
        <a:srgbClr val="FFFFFF"/>
      </a:lt1>
      <a:dk2>
        <a:srgbClr val="D5CB99"/>
      </a:dk2>
      <a:lt2>
        <a:srgbClr val="B6985E"/>
      </a:lt2>
      <a:accent1>
        <a:srgbClr val="977C00"/>
      </a:accent1>
      <a:accent2>
        <a:srgbClr val="CE6B29"/>
      </a:accent2>
      <a:accent3>
        <a:srgbClr val="8CB7C7"/>
      </a:accent3>
      <a:accent4>
        <a:srgbClr val="9B242D"/>
      </a:accent4>
      <a:accent5>
        <a:srgbClr val="AAA092"/>
      </a:accent5>
      <a:accent6>
        <a:srgbClr val="000000"/>
      </a:accent6>
      <a:hlink>
        <a:srgbClr val="3086AB"/>
      </a:hlink>
      <a:folHlink>
        <a:srgbClr val="3086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égral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é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é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Thème Office 2013 – 2022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ème Office 2013 – 2022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7326</TotalTime>
  <Words>2356</Words>
  <Application>Microsoft Office PowerPoint</Application>
  <PresentationFormat>Grand écran</PresentationFormat>
  <Paragraphs>445</Paragraphs>
  <Slides>22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22</vt:i4>
      </vt:variant>
    </vt:vector>
  </HeadingPairs>
  <TitlesOfParts>
    <vt:vector size="40" baseType="lpstr">
      <vt:lpstr>Arial</vt:lpstr>
      <vt:lpstr>Wingdings</vt:lpstr>
      <vt:lpstr>Noto Sans Symbols</vt:lpstr>
      <vt:lpstr>Calibri</vt:lpstr>
      <vt:lpstr>Times New Roman</vt:lpstr>
      <vt:lpstr>Arial Narrow</vt:lpstr>
      <vt:lpstr>Aptos Display</vt:lpstr>
      <vt:lpstr>Calibri Light</vt:lpstr>
      <vt:lpstr>Twentieth Century</vt:lpstr>
      <vt:lpstr>Wingdings 3</vt:lpstr>
      <vt:lpstr>Tw Cen MT Condensed</vt:lpstr>
      <vt:lpstr>Aptos</vt:lpstr>
      <vt:lpstr>Tw Cen MT</vt:lpstr>
      <vt:lpstr>Lato</vt:lpstr>
      <vt:lpstr>4_Foundation Master Slides</vt:lpstr>
      <vt:lpstr>Intégral</vt:lpstr>
      <vt:lpstr>Thème Office 2013 – 2022</vt:lpstr>
      <vt:lpstr>Thème Office</vt:lpstr>
      <vt:lpstr>REVUE ANNUELLE PEV MoUs provinciaux en RDC </vt:lpstr>
      <vt:lpstr>CONTENU</vt:lpstr>
      <vt:lpstr>Présentation PowerPoint</vt:lpstr>
      <vt:lpstr>Le MoU est un entente  entre une province et un ou plusieurs donateurs dans laquelle les fonds alloués à un programme sont mis dans un panier commun.</vt:lpstr>
      <vt:lpstr>Présentation PowerPoint</vt:lpstr>
      <vt:lpstr>L’objectif des MoU est d’atteindre une couverture vaccinale de 80% et d’arrêter la transmission de la Polio et d’autres maladies évitables par la vaccination </vt:lpstr>
      <vt:lpstr>La philosophie du MoU est de responsabiliser (Automoniser) les provinces, de renforcer les systèmes de mise en œuvre et de mesurer les résultats </vt:lpstr>
      <vt:lpstr>Le protocole d’accord vise à mettre en place des mécanismes de financement robustes et transparent pour assurer la bonne gestion</vt:lpstr>
      <vt:lpstr>Les parties prenantes impliquées dans le MoU</vt:lpstr>
      <vt:lpstr>Les rôles des parties prenantes impliquées</vt:lpstr>
      <vt:lpstr>Présentation PowerPoint</vt:lpstr>
      <vt:lpstr>Fonctionnement des organes MoU pour une planification et gestion communes. </vt:lpstr>
      <vt:lpstr>Présentation PowerPoint</vt:lpstr>
      <vt:lpstr>Présentation PowerPoint</vt:lpstr>
      <vt:lpstr>Présentation PowerPoint</vt:lpstr>
      <vt:lpstr>Les 3 provinces MoU ont continuellement déboursé les fonds alloués à la vaccination de 2019 à 2024. </vt:lpstr>
      <vt:lpstr>État du décaissement 2025 après integration des nouveaux bailleurs(GAVI et USAID) </vt:lpstr>
      <vt:lpstr>Avantages et Enseignements tirés des MoU en cours d'implémentation</vt:lpstr>
      <vt:lpstr>Présentation PowerPoint</vt:lpstr>
      <vt:lpstr>Présentation PowerPoint</vt:lpstr>
      <vt:lpstr>Nouvelle feuille de route Mars-Juillet 2025</vt:lpstr>
      <vt:lpstr>Références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MoUs provinciaux en RDC</dc:title>
  <dc:creator>NYOMBO MUTAMBA</dc:creator>
  <cp:lastModifiedBy>Sapologie</cp:lastModifiedBy>
  <cp:revision>90</cp:revision>
  <dcterms:created xsi:type="dcterms:W3CDTF">2023-04-25T11:42:08Z</dcterms:created>
  <dcterms:modified xsi:type="dcterms:W3CDTF">2025-12-15T13:43:58Z</dcterms:modified>
</cp:coreProperties>
</file>