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notesSlides/notesSlide16.xml" ContentType="application/vnd.openxmlformats-officedocument.presentationml.notesSlide+xml"/>
  <Override PartName="/ppt/tags/tag10.xml" ContentType="application/vnd.openxmlformats-officedocument.presentationml.tags+xml"/>
  <Override PartName="/ppt/notesSlides/notesSlide17.xml" ContentType="application/vnd.openxmlformats-officedocument.presentationml.notesSlide+xml"/>
  <Override PartName="/ppt/tags/tag11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2.xml" ContentType="application/vnd.openxmlformats-officedocument.presentationml.tags+xml"/>
  <Override PartName="/ppt/notesSlides/notesSlide21.xml" ContentType="application/vnd.openxmlformats-officedocument.presentationml.notesSlide+xml"/>
  <Override PartName="/ppt/tags/tag13.xml" ContentType="application/vnd.openxmlformats-officedocument.presentationml.tags+xml"/>
  <Override PartName="/ppt/notesSlides/notesSlide22.xml" ContentType="application/vnd.openxmlformats-officedocument.presentationml.notesSlide+xml"/>
  <Override PartName="/ppt/tags/tag14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30"/>
  </p:notesMasterIdLst>
  <p:sldIdLst>
    <p:sldId id="256" r:id="rId3"/>
    <p:sldId id="257" r:id="rId4"/>
    <p:sldId id="258" r:id="rId5"/>
    <p:sldId id="273" r:id="rId6"/>
    <p:sldId id="283" r:id="rId7"/>
    <p:sldId id="284" r:id="rId8"/>
    <p:sldId id="286" r:id="rId9"/>
    <p:sldId id="287" r:id="rId10"/>
    <p:sldId id="288" r:id="rId11"/>
    <p:sldId id="289" r:id="rId12"/>
    <p:sldId id="262" r:id="rId13"/>
    <p:sldId id="261" r:id="rId14"/>
    <p:sldId id="290" r:id="rId15"/>
    <p:sldId id="291" r:id="rId16"/>
    <p:sldId id="299" r:id="rId17"/>
    <p:sldId id="300" r:id="rId18"/>
    <p:sldId id="301" r:id="rId19"/>
    <p:sldId id="302" r:id="rId20"/>
    <p:sldId id="275" r:id="rId21"/>
    <p:sldId id="276" r:id="rId22"/>
    <p:sldId id="265" r:id="rId23"/>
    <p:sldId id="303" r:id="rId24"/>
    <p:sldId id="266" r:id="rId25"/>
    <p:sldId id="282" r:id="rId26"/>
    <p:sldId id="274" r:id="rId27"/>
    <p:sldId id="268" r:id="rId28"/>
    <p:sldId id="269" r:id="rId29"/>
  </p:sldIdLst>
  <p:sldSz cx="12192000" cy="6858000"/>
  <p:notesSz cx="6858000" cy="9144000"/>
  <p:embeddedFontLst>
    <p:embeddedFont>
      <p:font typeface="Aptos Narrow" panose="020B0004020202020204" pitchFamily="34" charset="0"/>
      <p:regular r:id="rId31"/>
      <p:bold r:id="rId32"/>
      <p:italic r:id="rId33"/>
      <p:boldItalic r:id="rId34"/>
    </p:embeddedFont>
    <p:embeddedFont>
      <p:font typeface="Play" panose="020B0604020202020204" charset="0"/>
      <p:regular r:id="rId35"/>
    </p:embeddedFont>
    <p:embeddedFont>
      <p:font typeface="Source Serif Pro" panose="02040603050405020204" pitchFamily="18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042B85-2813-40D6-8C08-B53CA402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28BBFD1-A734-4757-B910-67CC1CD159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32"/>
        <p:guide pos="38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9.fntdata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c9d920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45" name="Google Shape;145;g3aabc9d920d_0_19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63" name="Google Shape;163;g3aabc9d920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abc9d920d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04" name="Google Shape;204;g3aabc9d920d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41D5CF7-B149-FCF8-83A6-3ADB76E76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>
            <a:extLst>
              <a:ext uri="{FF2B5EF4-FFF2-40B4-BE49-F238E27FC236}">
                <a16:creationId xmlns:a16="http://schemas.microsoft.com/office/drawing/2014/main" id="{6B2B96CF-462F-BA6E-D0CF-236A8D7CC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34" name="Google Shape;234;g3aabc9d920d_0_234:notes">
            <a:extLst>
              <a:ext uri="{FF2B5EF4-FFF2-40B4-BE49-F238E27FC236}">
                <a16:creationId xmlns:a16="http://schemas.microsoft.com/office/drawing/2014/main" id="{9ADD5842-46BD-158A-D8AB-FA0365D877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2193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bc9d920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63" name="Google Shape;263;g3aabc9d920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bc9d920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72" name="Google Shape;272;g3aabc9d920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BE"/>
          </a:p>
        </p:txBody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c9d920d_0_27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4" name="Google Shape;94;g3aabc9d920d_0_27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5" name="Google Shape;95;g3aabc9d920d_0_2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c9d920d_0_2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c9d920d_0_2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c9d920d_0_28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c9d920d_0_28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c9d920d_0_28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abc9d920d_0_2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c9d920d_0_29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c9d920d_0_29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c9d920d_0_2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c9d920d_0_29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c9d920d_0_2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c9d920d_0_29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c9d920d_0_29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c9d920d_0_29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c9d920d_0_29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c9d920d_0_2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c9d920d_0_30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c9d920d_0_3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c9d920d_0_30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c9d920d_0_30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c9d920d_0_3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c9d920d_0_3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9d920d_0_31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c9d920d_0_3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c9d920d_0_31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c9d920d_0_2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c9d920d_0_2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c9d920d_0_26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c9d920d_0_191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c9d920d_0_191"/>
          <p:cNvSpPr txBox="1"/>
          <p:nvPr/>
        </p:nvSpPr>
        <p:spPr>
          <a:xfrm>
            <a:off x="4210333" y="766916"/>
            <a:ext cx="7894800" cy="32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43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600" b="1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</a:t>
            </a:r>
            <a:r>
              <a:rPr 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aneva</a:t>
            </a:r>
            <a:r>
              <a:rPr lang="en-US" alt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provinces </a:t>
            </a:r>
            <a:r>
              <a:rPr 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organisés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spécifiques ou approches </a:t>
            </a:r>
            <a:r>
              <a:rPr 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innovantes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FAE, IPVS</a:t>
            </a:r>
            <a:r>
              <a:rPr lang="en-US" alt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stratégies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spéciales</a:t>
            </a:r>
            <a:r>
              <a:rPr lang="en-US" alt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introduction des nouveaux </a:t>
            </a:r>
            <a:r>
              <a:rPr lang="en-US" alt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vaccins</a:t>
            </a:r>
            <a:r>
              <a:rPr lang="en-US" alt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(VAP, RR, </a:t>
            </a:r>
            <a:r>
              <a:rPr lang="en-US" alt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etc</a:t>
            </a:r>
            <a:r>
              <a:rPr lang="en-US" alt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3600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en-US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rovince</a:t>
            </a:r>
            <a:r>
              <a:rPr lang="en-US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SANKURU</a:t>
            </a:r>
          </a:p>
        </p:txBody>
      </p:sp>
      <p:sp>
        <p:nvSpPr>
          <p:cNvPr id="149" name="Google Shape;149;g3aabc9d920d_0_19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c9d920d_0_19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c9d920d_0_191"/>
          <p:cNvSpPr txBox="1"/>
          <p:nvPr/>
        </p:nvSpPr>
        <p:spPr>
          <a:xfrm>
            <a:off x="4717875" y="5889523"/>
            <a:ext cx="4525200" cy="67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Décembre</a:t>
            </a:r>
            <a:r>
              <a:rPr lang="en-US" sz="20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20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605900" y="927441"/>
            <a:ext cx="11127508" cy="601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Province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 (zones couvertes, impact sur la couverture)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</a:t>
            </a: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succès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</a:t>
            </a: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 pratiques à </a:t>
            </a: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capitaliser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/>
          <p:cNvSpPr txBox="1"/>
          <p:nvPr/>
        </p:nvSpPr>
        <p:spPr>
          <a:xfrm>
            <a:off x="383540" y="135890"/>
            <a:ext cx="1127506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Profil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antennes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0" name="Google Shape;170;g3aabc9d920d_0_207"/>
          <p:cNvSpPr/>
          <p:nvPr/>
        </p:nvSpPr>
        <p:spPr>
          <a:xfrm>
            <a:off x="108155" y="714871"/>
            <a:ext cx="5934187" cy="5947095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Cartographie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province avec les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antennes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1" name="Google Shape;171;g3aabc9d920d_0_207"/>
          <p:cNvSpPr/>
          <p:nvPr/>
        </p:nvSpPr>
        <p:spPr>
          <a:xfrm>
            <a:off x="6149660" y="501444"/>
            <a:ext cx="5934185" cy="6220665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Tableau avec les </a:t>
            </a:r>
            <a:r>
              <a:rPr lang="en-US" sz="2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éléments</a:t>
            </a: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suivants</a:t>
            </a: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sz="2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d’antennes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PEV: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3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de ZS: 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Total 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(16)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(11)</a:t>
            </a:r>
            <a:endParaRPr sz="2000" dirty="0">
              <a:solidFill>
                <a:schemeClr val="tx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d’AS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Total 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(248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FAE (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182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2000" dirty="0">
              <a:solidFill>
                <a:schemeClr val="tx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643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qui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vaccinent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Total 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611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FAE 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(432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2000" dirty="0">
              <a:solidFill>
                <a:schemeClr val="tx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</a:t>
            </a:r>
            <a:r>
              <a:rPr lang="en-US" sz="2000" dirty="0" err="1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totale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2.963 227</a:t>
            </a:r>
            <a:endParaRPr sz="2000" dirty="0">
              <a:solidFill>
                <a:schemeClr val="tx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0-11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103 417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12-23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38 281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0-59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560050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ECF: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87,5%</a:t>
            </a:r>
            <a:endParaRPr sz="2000" dirty="0">
              <a:solidFill>
                <a:schemeClr val="tx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Séances de vaccination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planifiées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fixe 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(14820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avancée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7119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à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67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point de concentration (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43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OVM (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23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Existence du plan de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contextualisation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DPS: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Oui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% des ZS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intégré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dans le PAO 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100%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00" y="1001395"/>
            <a:ext cx="5725245" cy="5563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50" y="93292"/>
            <a:ext cx="11274900" cy="35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8144854"/>
              </p:ext>
            </p:extLst>
          </p:nvPr>
        </p:nvGraphicFramePr>
        <p:xfrm>
          <a:off x="0" y="451191"/>
          <a:ext cx="12126595" cy="6530833"/>
        </p:xfrm>
        <a:graphic>
          <a:graphicData uri="http://schemas.openxmlformats.org/drawingml/2006/table">
            <a:tbl>
              <a:tblPr/>
              <a:tblGrid>
                <a:gridCol w="35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2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8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66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Activités</a:t>
                      </a:r>
                      <a:r>
                        <a:rPr lang="en-US" altLang="zh-CN" sz="1200" b="1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spécifiques</a:t>
                      </a:r>
                      <a:r>
                        <a:rPr lang="en-US" altLang="zh-CN" sz="1200" b="1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ou</a:t>
                      </a:r>
                      <a:r>
                        <a:rPr lang="en-US" altLang="zh-CN" sz="1200" b="1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approches</a:t>
                      </a:r>
                      <a:r>
                        <a:rPr lang="en-US" altLang="zh-CN" sz="1200" b="1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spéciales</a:t>
                      </a:r>
                      <a:endParaRPr lang="en-US" altLang="zh-CN" sz="1200" b="1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ptos Narrow" panose="020B0004020202020204"/>
                        <a:cs typeface="Arial" panose="020B0604020202020204" pitchFamily="34" charset="0"/>
                      </a:endParaRP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Objectifs</a:t>
                      </a:r>
                      <a:endParaRPr lang="en-US" altLang="zh-CN" sz="1200" b="1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ptos Narrow" panose="020B0004020202020204"/>
                        <a:cs typeface="Arial" panose="020B0604020202020204" pitchFamily="34" charset="0"/>
                      </a:endParaRP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Perimetre</a:t>
                      </a:r>
                      <a:r>
                        <a:rPr lang="en-US" altLang="zh-CN" sz="1200" b="1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d’intervention</a:t>
                      </a:r>
                      <a:endParaRPr lang="en-US" altLang="zh-CN" sz="1200" b="1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ptos Narrow" panose="020B0004020202020204"/>
                        <a:cs typeface="Arial" panose="020B0604020202020204" pitchFamily="34" charset="0"/>
                      </a:endParaRP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Réaliser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la micro-planification et consolidation</a:t>
                      </a: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Avec un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canevas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précis, les AS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réalisent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la micro-planification à la base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associée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au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dénombrement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, 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Analyser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et identifier les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problèmes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de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l’AS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et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chercher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des solutions, fixer les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indicateurs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ZS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4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Briefing des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superviseurs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provinciaux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, des ECZ </a:t>
                      </a: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Les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suppro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 et les ECZ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ont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été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briefés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par les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encadreurs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du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niveau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national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Remise à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niveau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des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acteurs</a:t>
                      </a:r>
                      <a:endParaRPr lang="en-US" altLang="zh-CN" sz="18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ptos Narrow" panose="020B0004020202020204"/>
                        <a:cs typeface="Arial" panose="020B0604020202020204" pitchFamily="34" charset="0"/>
                      </a:endParaRP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DPS et ZS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4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Identification des EZD ET SV avec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listes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nominatives</a:t>
                      </a: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Après le briefing des IT, ITA et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relais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;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ces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acteurs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procèdent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à la recherche et identification des enfants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Récupérer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les enfants identifier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AS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034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Commander et reception des vaccins et autres intrants</a:t>
                      </a:r>
                      <a:endParaRPr sz="18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En fonction de stock actuel, la province et les ZS estiment les besoins et réception en fonction de la demande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Répondre au besoin de la province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 DPS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6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Approvisionnement des vaccins et intrants aux </a:t>
                      </a:r>
                      <a:r>
                        <a:rPr lang="en-GB" sz="180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niveaux</a:t>
                      </a:r>
                      <a:r>
                        <a:rPr lang="en-GB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ZS/AS</a:t>
                      </a:r>
                      <a:endParaRPr sz="18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Les vaccins reçus dans la province/seront transportés vers les ZS/AS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Transport des vaccins de qualité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ZS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69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Disponibilité et réception des outils de gestion </a:t>
                      </a:r>
                      <a:endParaRPr sz="18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Les outils de gestion sont reproduits au niveau central ou provincial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Gestion des données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ZS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8346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6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Inventaire des matériels des chaines froid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Chaque trimètre les antennes effectuent les inventaires des MCF, chaque mois par ZS </a:t>
                      </a:r>
                      <a:endParaRPr sz="16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Un bonne gestion des MCF et garantie la qualité des vaccins</a:t>
                      </a:r>
                      <a:endParaRPr sz="16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DPS-ZS</a:t>
                      </a:r>
                      <a:endParaRPr sz="16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50" y="131201"/>
            <a:ext cx="11274900" cy="46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3476601795"/>
              </p:ext>
            </p:extLst>
          </p:nvPr>
        </p:nvGraphicFramePr>
        <p:xfrm>
          <a:off x="117750" y="599840"/>
          <a:ext cx="11906866" cy="6188851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3519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8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05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8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987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 ou approches spéciale</a:t>
                      </a:r>
                      <a:r>
                        <a:rPr lang="en-US" altLang="en-US" sz="16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16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1600" b="1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 d’intervention</a:t>
                      </a:r>
                      <a:endParaRPr sz="1600" b="1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5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latin typeface="+mn-lt"/>
                          <a:cs typeface="Arial" panose="020B0604020202020204" pitchFamily="34" charset="0"/>
                        </a:rPr>
                        <a:t>Identification des leaders et </a:t>
                      </a:r>
                      <a:r>
                        <a:rPr lang="en-GB" sz="1800" u="none" strike="noStrike" cap="none" dirty="0" err="1">
                          <a:latin typeface="+mn-lt"/>
                          <a:cs typeface="Arial" panose="020B0604020202020204" pitchFamily="34" charset="0"/>
                        </a:rPr>
                        <a:t>influenceurs</a:t>
                      </a:r>
                      <a:r>
                        <a:rPr lang="en-GB" sz="1800" u="none" strike="noStrike" cap="none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800" u="none" strike="noStrike" cap="none" dirty="0" err="1">
                          <a:latin typeface="+mn-lt"/>
                          <a:cs typeface="Arial" panose="020B0604020202020204" pitchFamily="34" charset="0"/>
                        </a:rPr>
                        <a:t>communautaires</a:t>
                      </a:r>
                      <a:endParaRPr sz="1800" u="none" strike="noStrike" cap="none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Les leaders communautaires sont identifiés pour faciliter la recherche identification des EZD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Identification et orientation des EZD et SV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43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latin typeface="+mn-lt"/>
                          <a:cs typeface="Arial" panose="020B0604020202020204" pitchFamily="34" charset="0"/>
                        </a:rPr>
                        <a:t>Organisation des dialogues </a:t>
                      </a:r>
                      <a:r>
                        <a:rPr lang="en-GB" sz="1800" u="none" strike="noStrike" cap="none" dirty="0" err="1">
                          <a:latin typeface="+mn-lt"/>
                          <a:cs typeface="Arial" panose="020B0604020202020204" pitchFamily="34" charset="0"/>
                        </a:rPr>
                        <a:t>persuasifs</a:t>
                      </a:r>
                      <a:r>
                        <a:rPr lang="en-GB" sz="1800" u="none" strike="noStrike" cap="none" dirty="0">
                          <a:latin typeface="+mn-lt"/>
                          <a:cs typeface="Arial" panose="020B0604020202020204" pitchFamily="34" charset="0"/>
                        </a:rPr>
                        <a:t> avec leaders et </a:t>
                      </a:r>
                      <a:r>
                        <a:rPr lang="en-GB" sz="1800" u="none" strike="noStrike" cap="none" dirty="0" err="1">
                          <a:latin typeface="+mn-lt"/>
                          <a:cs typeface="Arial" panose="020B0604020202020204" pitchFamily="34" charset="0"/>
                        </a:rPr>
                        <a:t>influenceurs</a:t>
                      </a:r>
                      <a:r>
                        <a:rPr lang="en-GB" sz="1800" u="none" strike="noStrike" cap="none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800" u="none" strike="noStrike" cap="none" dirty="0" err="1">
                          <a:latin typeface="+mn-lt"/>
                          <a:cs typeface="Arial" panose="020B0604020202020204" pitchFamily="34" charset="0"/>
                        </a:rPr>
                        <a:t>communautaires</a:t>
                      </a:r>
                      <a:endParaRPr sz="1800" u="none" strike="noStrike" cap="none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 dialogue fait chez les leaders par des petites des réunions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Impliquez les Leaders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3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La mise à jour des CAC et RECO </a:t>
                      </a:r>
                      <a:r>
                        <a:rPr lang="en-GB" sz="1800" u="none" strike="noStrike" cap="none" dirty="0" err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actifs</a:t>
                      </a:r>
                      <a:endParaRPr sz="1800" u="none" strike="noStrike" cap="none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Les CAC sont mise à jour avec le concours des ECZ dont l’AC.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Sensibilisation de la 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43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Identification des EZD et recherche des ESV </a:t>
                      </a:r>
                      <a:endParaRPr sz="1800" u="none" strike="noStrike" cap="none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Les relais formés identifiés les EZD et SV sont dans la communauté et élaborent des listes à transmettre aux BCZ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Récupération des enfants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43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Organisation de la mobilisation </a:t>
                      </a:r>
                      <a:r>
                        <a:rPr lang="en-GB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communautaires</a:t>
                      </a: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 </a:t>
                      </a:r>
                      <a:r>
                        <a:rPr lang="en-GB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en</a:t>
                      </a: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 </a:t>
                      </a:r>
                      <a:r>
                        <a:rPr lang="en-GB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faveurs</a:t>
                      </a: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 du </a:t>
                      </a:r>
                      <a:r>
                        <a:rPr lang="en-GB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rattrapage</a:t>
                      </a: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 à travers les </a:t>
                      </a:r>
                      <a:r>
                        <a:rPr lang="en-GB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canaux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A travers les canaux les canaux habituels, les communautés sont sensibilisés sur la récupération des enfants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BE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Récupération des enfants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600" y="128133"/>
            <a:ext cx="11274900" cy="537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2773220897"/>
              </p:ext>
            </p:extLst>
          </p:nvPr>
        </p:nvGraphicFramePr>
        <p:xfrm>
          <a:off x="127820" y="665599"/>
          <a:ext cx="11975690" cy="6093369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517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7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Activités spécifiques ou approches spéciale</a:t>
                      </a:r>
                      <a:r>
                        <a:rPr lang="en-US" altLang="en-US" sz="1400" b="1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Description</a:t>
                      </a:r>
                      <a:endParaRPr sz="1400" b="1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Objectifs</a:t>
                      </a:r>
                      <a:endParaRPr sz="1400" b="1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Perimetre d’intervention</a:t>
                      </a:r>
                      <a:endParaRPr sz="1400" b="1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894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Actualisation de la </a:t>
                      </a:r>
                      <a:r>
                        <a:rPr lang="en-GB" sz="180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cartographie</a:t>
                      </a:r>
                      <a:r>
                        <a:rPr lang="en-GB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populations </a:t>
                      </a:r>
                      <a:r>
                        <a:rPr lang="en-GB" sz="180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refractaires</a:t>
                      </a:r>
                      <a:r>
                        <a:rPr lang="en-GB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à la vaccination</a:t>
                      </a:r>
                      <a:endParaRPr sz="18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Les AS actualisent les sites de résistance à la vaccination en fonctions des cas antérieurs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Identification et récupération des enfants non vaccinés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59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Appuyer  les OSC pour l'organisation des sessions communautaires de réflexion en faveur  des hommes et femmes des villages à forte concentration d’enfants Zéro dose</a:t>
                      </a:r>
                      <a:endParaRPr sz="18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/>
                        </a:rPr>
                        <a:t>Entretien réflexion avec des hommes et des femmes à l’aide de canevas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Identification et récupération des enfants non vaccinés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6777"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/>
                        </a:rPr>
                        <a:t> Organiser des campagnes de communication pour le changement de comportement en faveur des ZD 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/>
                        </a:rPr>
                        <a:t>Séances de sensibilisation par les acteurs communautaires de ZS  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Identification et récupération des enfants non vaccinés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7659"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latin typeface="Arial" panose="020B0604020202020204"/>
                          <a:cs typeface="Arial" panose="020B0604020202020204"/>
                          <a:sym typeface="Arial" panose="020B0604020202020204"/>
                        </a:rPr>
                        <a:t>Former les OSC, CAC et CODESA en technique de communication centrée sur les enfants ZD et les communautés manquées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latin typeface="Arial" panose="020B0604020202020204"/>
                          <a:cs typeface="Arial" panose="020B0604020202020204"/>
                          <a:sym typeface="Arial" panose="020B0604020202020204"/>
                        </a:rPr>
                        <a:t>Formation des OSC, CODESA et IT sur l'utilisation et la saisie des données dans les téléphones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latin typeface="Arial" panose="020B0604020202020204"/>
                          <a:ea typeface="Times New Roman" panose="02020603050405020304"/>
                          <a:cs typeface="Arial" panose="020B0604020202020204"/>
                          <a:sym typeface="Times New Roman" panose="02020603050405020304"/>
                        </a:rPr>
                        <a:t>Digitalisation des données EZD et SV récupérés</a:t>
                      </a:r>
                      <a:endParaRPr sz="1600" b="0" i="0" u="none" strike="noStrike" cap="none" dirty="0">
                        <a:solidFill>
                          <a:schemeClr val="dk1"/>
                        </a:solidFill>
                        <a:latin typeface="Arial" panose="020B0604020202020204"/>
                        <a:ea typeface="Times New Roman" panose="02020603050405020304"/>
                        <a:cs typeface="Arial" panose="020B06040202020202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latin typeface="Arial" panose="020B0604020202020204"/>
                          <a:ea typeface="Times New Roman" panose="02020603050405020304"/>
                          <a:cs typeface="Arial" panose="020B0604020202020204"/>
                          <a:sym typeface="Times New Roman" panose="02020603050405020304"/>
                        </a:rPr>
                        <a:t>Communauté</a:t>
                      </a:r>
                      <a:endParaRPr sz="1600" b="0" i="0" u="none" strike="noStrike" cap="none" dirty="0">
                        <a:solidFill>
                          <a:schemeClr val="dk1"/>
                        </a:solidFill>
                        <a:latin typeface="Arial" panose="020B0604020202020204"/>
                        <a:ea typeface="Times New Roman" panose="02020603050405020304"/>
                        <a:cs typeface="Arial" panose="020B06040202020202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07035" y="73660"/>
            <a:ext cx="11275060" cy="40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ouverture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vaccinale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janvier à octobre 2025 PEV DE ROUTINE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8561609"/>
              </p:ext>
            </p:extLst>
          </p:nvPr>
        </p:nvGraphicFramePr>
        <p:xfrm>
          <a:off x="98324" y="420370"/>
          <a:ext cx="12093676" cy="6363972"/>
        </p:xfrm>
        <a:graphic>
          <a:graphicData uri="http://schemas.openxmlformats.org/drawingml/2006/table">
            <a:tbl>
              <a:tblPr/>
              <a:tblGrid>
                <a:gridCol w="170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6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81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04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59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18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1029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ZS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BCG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DTC-HepB Hib1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DTC-HepB Hib3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PCV-13 (1)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PCV-13 (3)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Rota 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Rota 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VAA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VAR 1/RR 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8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Bena Dibele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11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Dikungu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44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Djalo Ndjeka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44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Katako Kombe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78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Kole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11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Lodja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44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Lomela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11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Lusambo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8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Minga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78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Omendjadi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44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Ototo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8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Pania Mutombo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78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Tshudi Loto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044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Tshumbe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111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Vanga Kete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178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Wembo Nyama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978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DPS Sankuru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07500" y="128133"/>
            <a:ext cx="11274900" cy="42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alt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</a:t>
            </a: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ouverture vaccinale</a:t>
            </a:r>
            <a:r>
              <a:rPr lang="fr-FR" alt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janvier à octobre 2025 (suite)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118110" y="711199"/>
          <a:ext cx="12002135" cy="5966440"/>
        </p:xfrm>
        <a:graphic>
          <a:graphicData uri="http://schemas.openxmlformats.org/drawingml/2006/table">
            <a:tbl>
              <a:tblPr/>
              <a:tblGrid>
                <a:gridCol w="2594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7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22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ZS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VAR 2/RR 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VPI 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VPI 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VPO 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VPO 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Bena Dibele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134,2%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Dikungu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114,8%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811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Djalo Ndjeka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96,6%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86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Katako Kombe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74,7%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86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Kole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85,2%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811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Lodja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98,9%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514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Lomela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514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Lusambo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83,4%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Minga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89,6%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514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Omendjadi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Ototo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94,2%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Pania Mutombo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78,0%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Tshudi Loto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78,4%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Tshumbe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886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Vanga Kete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246%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173,9%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0811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Wembo Nyama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124,3%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9514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DPS Sankuru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FAE 2024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c9d920d_0_3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91" name="Google Shape;191;g3aabc9d920d_0_390"/>
          <p:cNvGraphicFramePr/>
          <p:nvPr>
            <p:custDataLst>
              <p:tags r:id="rId1"/>
            </p:custDataLst>
          </p:nvPr>
        </p:nvGraphicFramePr>
        <p:xfrm>
          <a:off x="234950" y="742315"/>
          <a:ext cx="11884025" cy="600202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187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4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6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4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9121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ZS couvertes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identifié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récupéré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la CV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15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DTC1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DTC3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2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Porte à porte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3763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3842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2551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2427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45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Point de concentration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2002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dirty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1894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1105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1203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5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20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Avancée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8133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7438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6626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5314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9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Horaire adapté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28032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21908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20953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17977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8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Total </a:t>
                      </a:r>
                    </a:p>
                  </a:txBody>
                  <a:tcPr marL="91425" marR="91425" marT="91425" marB="91425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41930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35082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31235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26921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dirty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FAE 2025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91" name="Google Shape;191;g3aabc9d920d_0_390"/>
          <p:cNvGraphicFramePr/>
          <p:nvPr>
            <p:custDataLst>
              <p:tags r:id="rId1"/>
            </p:custDataLst>
          </p:nvPr>
        </p:nvGraphicFramePr>
        <p:xfrm>
          <a:off x="179070" y="757555"/>
          <a:ext cx="11846560" cy="573786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148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676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ZS couvertes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identifié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récupéré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la CV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51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DTC1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DTC3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Porte à porte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2116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1973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1316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1598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5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Point de concentration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1131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661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717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31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Avancée/ZS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5241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4975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3325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3408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281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Horaire adapté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16534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17432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12136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12238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931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Total</a:t>
                      </a:r>
                    </a:p>
                  </a:txBody>
                  <a:tcPr marL="91425" marR="91425" marT="91425" marB="91425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 dirty="0">
                          <a:solidFill>
                            <a:sysClr val="windowText" lastClr="000000"/>
                          </a:solidFill>
                          <a:latin typeface="+mn-lt"/>
                          <a:ea typeface="Arial" panose="020B0604020202020204"/>
                        </a:rPr>
                        <a:t>25022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 dirty="0">
                          <a:solidFill>
                            <a:sysClr val="windowText" lastClr="000000"/>
                          </a:solidFill>
                          <a:latin typeface="+mn-lt"/>
                          <a:ea typeface="Arial" panose="020B0604020202020204"/>
                        </a:rPr>
                        <a:t>26112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 dirty="0">
                          <a:solidFill>
                            <a:sysClr val="windowText" lastClr="000000"/>
                          </a:solidFill>
                          <a:latin typeface="+mn-lt"/>
                          <a:ea typeface="Arial" panose="020B0604020202020204"/>
                        </a:rPr>
                        <a:t>17438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 dirty="0">
                          <a:solidFill>
                            <a:sysClr val="windowText" lastClr="000000"/>
                          </a:solidFill>
                          <a:latin typeface="+mn-lt"/>
                          <a:ea typeface="Arial" panose="020B0604020202020204"/>
                        </a:rPr>
                        <a:t>17961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 dirty="0">
                          <a:solidFill>
                            <a:sysClr val="windowText" lastClr="000000"/>
                          </a:solidFill>
                          <a:latin typeface="+mn-lt"/>
                          <a:ea typeface="Arial" panose="020B0604020202020204"/>
                        </a:rPr>
                        <a:t>64%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 dirty="0">
                          <a:solidFill>
                            <a:sysClr val="windowText" lastClr="000000"/>
                          </a:solidFill>
                          <a:latin typeface="+mn-lt"/>
                          <a:ea typeface="Arial" panose="020B0604020202020204"/>
                        </a:rPr>
                        <a:t>65%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abc9d920d_0_410"/>
          <p:cNvSpPr txBox="1"/>
          <p:nvPr/>
        </p:nvSpPr>
        <p:spPr>
          <a:xfrm>
            <a:off x="497850" y="180357"/>
            <a:ext cx="11274900" cy="46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IPVS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première phase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7" name="Google Shape;207;g3aabc9d920d_0_41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8" name="Google Shape;208;g3aabc9d920d_0_41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9" name="Google Shape;209;g3aabc9d920d_0_41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5" y="886803"/>
            <a:ext cx="11944350" cy="58679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07035" y="120015"/>
            <a:ext cx="11275060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IPVS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première phase 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95" y="454025"/>
            <a:ext cx="11917680" cy="6283960"/>
          </a:xfrm>
          <a:prstGeom prst="rect">
            <a:avLst/>
          </a:prstGeom>
          <a:solidFill>
            <a:srgbClr val="FF0000"/>
          </a:solidFill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07035" y="120015"/>
            <a:ext cx="11275060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IPVS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deuxième phase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127635" y="504190"/>
          <a:ext cx="11913870" cy="6157595"/>
        </p:xfrm>
        <a:graphic>
          <a:graphicData uri="http://schemas.openxmlformats.org/drawingml/2006/table">
            <a:tbl>
              <a:tblPr/>
              <a:tblGrid>
                <a:gridCol w="1538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4546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Zone de santé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Cibles 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Enfants identifiés 12 - 23 mois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Enfants recuperés 12 - 23 mois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DTC 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DTC 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DTC 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VAR 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VAR 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VPI 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VPI 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Lodja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84989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5503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665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657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681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Lomela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32274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18596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1773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2201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1241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2061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1171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Omendjadi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39962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6917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640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Ototo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36120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2184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Vangakete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33529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19211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1900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7785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2046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1263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1654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2401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1938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Dikungu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37626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4862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1109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1022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596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978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591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Djalo Ndjeka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23382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2737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Katako Kombe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34364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en-US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7320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409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4291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1461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Tshumbe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27412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17167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684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5268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594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Wembo-Nyama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27340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1458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798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413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Bena Dibele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32511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en-US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7312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3836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1035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1324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Kole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33329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3751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Lusambo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34221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7109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557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4554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Minga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39597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4770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2070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337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Sankuru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560050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96619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12003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29159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16094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10435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11247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11537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7116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07035" y="120015"/>
            <a:ext cx="11275060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IPVS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deuxième phase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75565" y="569595"/>
          <a:ext cx="12019280" cy="6160770"/>
        </p:xfrm>
        <a:graphic>
          <a:graphicData uri="http://schemas.openxmlformats.org/drawingml/2006/table">
            <a:tbl>
              <a:tblPr/>
              <a:tblGrid>
                <a:gridCol w="1551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4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44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4673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Zone de santé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Cibles 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Enfants identifiés 24 - 59 mois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Enfants recuperés 24 - 59 mois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DTC 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DTC 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DTC 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VAR 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VAR 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VPI 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VPI 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Lodja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84989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977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372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500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553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366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658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346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572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Lomela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32274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2278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1221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1486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1078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1029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1060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1113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Omendjadi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39962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1690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235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243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276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243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Ototo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36120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1568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174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298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361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224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171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245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172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Vangakete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33529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2385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1456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488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96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Dikungu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37626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4967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1932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853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634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539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453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525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Djalo Ndjeka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23382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2438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181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226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152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233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236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Katako Kombe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34364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en-US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3263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208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3682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1167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187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192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Tshumbe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27412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2188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3246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2850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768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768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2736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966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Wembo-Nyama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27340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4683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270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1368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468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330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1333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484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175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Bena Dibele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32511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en-US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5427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226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413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219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209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183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Kole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33329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1733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275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160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242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244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387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196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239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Lusambo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34221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18071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2233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215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762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780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10969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Minga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39597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2501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95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1178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Sankuru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560050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45479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6620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16233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10129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5295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17219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6464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5362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54610" y="88900"/>
            <a:ext cx="12037695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Résultats des </a:t>
            </a:r>
            <a:r>
              <a:rPr lang="fr-FR" alt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JNVs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polio août et novembre 2025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4661908"/>
              </p:ext>
            </p:extLst>
          </p:nvPr>
        </p:nvGraphicFramePr>
        <p:xfrm>
          <a:off x="113665" y="611504"/>
          <a:ext cx="12011660" cy="6157595"/>
        </p:xfrm>
        <a:graphic>
          <a:graphicData uri="http://schemas.openxmlformats.org/drawingml/2006/table">
            <a:tbl>
              <a:tblPr/>
              <a:tblGrid>
                <a:gridCol w="212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3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7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8016"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en-US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Zone de Santé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Nbre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</a:t>
                      </a:r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d'enfants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</a:t>
                      </a:r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vaccinés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 JNV </a:t>
                      </a:r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août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2025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Cibles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</a:t>
                      </a:r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denombrées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(Moso) 0-59 </a:t>
                      </a:r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mois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JNVs  août_2025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Nbre d'enfants vaccinés  JNV nov  2025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Cibles denombrées (Moso) 0-59 mois JNV nov_2025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CV PEV de routine (Penta3)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Lodja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93105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94841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102,5%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150,4%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Lomela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36651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36746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136,5%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Omendjadi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43021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44081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123,4%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996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Ototo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36332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36832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159,8%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79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Tshudi loto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22578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22621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98,9%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Vangakete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33527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33561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108,0%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Bena Dibele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38476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37782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101,0%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96,0%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996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Kole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36056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37385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101,3%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143,8%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68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Lusambo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43759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44003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134,3%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Minga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43040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44290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110,4%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Pania Mutombo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25573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26344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116,9%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Dikungu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38169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39879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83,4%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668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Djalo Ndjeka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23395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24212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85,8%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996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Katako Kombe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35292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35364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136,6%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668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Tshumbe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29182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29885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203,2%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668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Wembo-Nyama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28718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29091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144,2%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Sankuru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606874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616917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126,8%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54610" y="88900"/>
            <a:ext cx="12037695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Résultats de la riposte vaccinale contre M-</a:t>
            </a:r>
            <a:r>
              <a:rPr lang="fr-FR" alt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pox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octobre 2025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4142044"/>
              </p:ext>
            </p:extLst>
          </p:nvPr>
        </p:nvGraphicFramePr>
        <p:xfrm>
          <a:off x="121920" y="599840"/>
          <a:ext cx="11970385" cy="6258163"/>
        </p:xfrm>
        <a:graphic>
          <a:graphicData uri="http://schemas.openxmlformats.org/drawingml/2006/table">
            <a:tbl>
              <a:tblPr firstRow="1" firstCol="1" bandRow="1"/>
              <a:tblGrid>
                <a:gridCol w="1917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83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44010">
                <a:tc row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Zone Santé</a:t>
                      </a:r>
                      <a:endParaRPr lang="fr-BE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Enfants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65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1-5 ans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6-11 ans</a:t>
                      </a:r>
                      <a:endParaRPr lang="fr-BE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12-17 ans 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Enfants</a:t>
                      </a:r>
                      <a:endParaRPr lang="fr-BE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CV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24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6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Bena</a:t>
                      </a:r>
                      <a:r>
                        <a:rPr lang="fr-FR" sz="2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0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Dibele</a:t>
                      </a:r>
                      <a:endParaRPr lang="fr-BE" sz="36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2225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662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3264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2619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5883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3 442 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2910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6352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15122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89,00%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33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Dikungu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2677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2937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5614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3389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3529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6918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3631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3936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7567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20099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114,12%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5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Kole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2612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4999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3467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3506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6973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4744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4838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9582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21554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105,16%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3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Lomela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3711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4045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7756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4639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4554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9193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4242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3839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8081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25030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103,00%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9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Ototo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2415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2868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5283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2900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3186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6086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2721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3072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5793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17162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101,08%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9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Wembo Nyama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2227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4626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2600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2848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5448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2512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3857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13931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317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Djalo Ndjeka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3303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3686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6989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4304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4695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8999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3780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4073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7853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23841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108,79%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969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altLang="en-US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Katako Kombe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2717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2723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5440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3512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3473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6985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3606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3781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7387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19812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91,73%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969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Tshudi loto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596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725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1321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857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964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1821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861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922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1783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4925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88,21%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9969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20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Tshumbe</a:t>
                      </a:r>
                      <a:endParaRPr lang="fr-FR" sz="20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1813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2037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3850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2489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2704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5193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2879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5950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14993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72,39%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9317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Vanga kete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1988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2392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4380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4561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5638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10199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4539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5468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10007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24586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98,56%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99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DPS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26059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27086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53145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35982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37716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73698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32348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38422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74212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201055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97,37%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54610" y="88900"/>
            <a:ext cx="12037695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Résultats de la riposte vaccinale contre M-</a:t>
            </a:r>
            <a:r>
              <a:rPr lang="fr-FR" alt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pox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octobre 2025 (suite)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4019703"/>
              </p:ext>
            </p:extLst>
          </p:nvPr>
        </p:nvGraphicFramePr>
        <p:xfrm>
          <a:off x="135255" y="806450"/>
          <a:ext cx="11879580" cy="5955030"/>
        </p:xfrm>
        <a:graphic>
          <a:graphicData uri="http://schemas.openxmlformats.org/drawingml/2006/table">
            <a:tbl>
              <a:tblPr firstRow="1" firstCol="1" bandRow="1"/>
              <a:tblGrid>
                <a:gridCol w="1705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75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9631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6880">
                <a:tc row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Zone Santé</a:t>
                      </a:r>
                      <a:endParaRPr lang="fr-BE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Personnel de premières ligne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18-39 ans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40-59 ans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 ans et plus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PPL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CV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74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Bena</a:t>
                      </a: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dibele</a:t>
                      </a:r>
                      <a:endParaRPr lang="fr-BE" sz="2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85,00%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Dikungu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948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976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491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1 843 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134,15%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336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482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800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89,17%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Lomela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1482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2953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1365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1058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2423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532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409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6 317 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117,00%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Ototo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721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573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1 483 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102,63%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Wembo Nyama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1814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2003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3817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1817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1997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3814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627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686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1 313 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8 944 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100,58%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Djalo Ndjeka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98,32%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Katako Kombe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580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1646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79,34%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Tshudi loto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495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1340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83,32%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Tshumbe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579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1048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Vanga kete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99,18%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6052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5131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11183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4785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4752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9537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1994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1974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2656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6103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98,97%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54610" y="88900"/>
            <a:ext cx="12037695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Résultats de la riposte vaccinale contre M-</a:t>
            </a:r>
            <a:r>
              <a:rPr lang="fr-FR" alt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pox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octobre 2025 (suite)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8531427"/>
              </p:ext>
            </p:extLst>
          </p:nvPr>
        </p:nvGraphicFramePr>
        <p:xfrm>
          <a:off x="99695" y="530860"/>
          <a:ext cx="11915140" cy="6130290"/>
        </p:xfrm>
        <a:graphic>
          <a:graphicData uri="http://schemas.openxmlformats.org/drawingml/2006/table">
            <a:tbl>
              <a:tblPr firstRow="1" firstCol="1" bandRow="1"/>
              <a:tblGrid>
                <a:gridCol w="1566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80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137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880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11175">
                <a:tc row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Zone Santé</a:t>
                      </a:r>
                      <a:endParaRPr lang="fr-BE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AUTRES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18-39 ans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40-59 ans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 ans et plus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AUTRES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CV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CV 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3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Général</a:t>
                      </a:r>
                      <a:endParaRPr lang="fr-BE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Bena</a:t>
                      </a: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Dibele</a:t>
                      </a:r>
                      <a:endParaRPr lang="fr-FR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2564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2777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5341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2190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2459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4649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1190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1313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2503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12493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153,0%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28 314 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81,00%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Dikungu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2219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2236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4455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2543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2456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4999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2567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2456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5023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14477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82,00%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36 419 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109,00%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Kole</a:t>
                      </a:r>
                      <a:endParaRPr lang="fr-FR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3233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3138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2497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5542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5670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4567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10237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22150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86,00%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44 504 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83,00%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Lomela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3998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6343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4690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4690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15723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87,00%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47 070 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106,00%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Ototo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2065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4305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6370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1959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2249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4208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6787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5678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12465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23043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104,00%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41 688 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102,00%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Wembo Nya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2443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4430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3047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3444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6491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2694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5481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16402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93,00%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39 277 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106,00%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l">
                        <a:buSzTx/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Djalo Ndjeka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3138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3461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6599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2276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2515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4791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1378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1490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2868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14258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87,72%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38451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99,80%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l">
                        <a:buSzTx/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Katako Kombe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1131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958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2089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1932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1674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1552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3226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7247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97,26%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43526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98,18%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Tshudi</a:t>
                      </a: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loto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2103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2106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4209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1817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1674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3491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1232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1137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2369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10069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96,10%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16334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43,94%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Tshumbe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2459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2674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5133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3047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3198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6245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949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1092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13419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87,35%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28566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78,85%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Vanga kete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7141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8454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15595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5155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9642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898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26135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90,11%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50939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94,10%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30841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36094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66935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27253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29427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56680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26999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24802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51801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175416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96,81%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415 088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91,01%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167149"/>
            <a:ext cx="11360700" cy="1042219"/>
          </a:xfrm>
        </p:spPr>
        <p:txBody>
          <a:bodyPr>
            <a:normAutofit fontScale="90000"/>
          </a:bodyPr>
          <a:lstStyle/>
          <a:p>
            <a:r>
              <a:rPr lang="fr-FR" sz="3100" dirty="0"/>
              <a:t>Facteurs expliquant la performance (leadership, mobilisation communautaire, intégration, supervision)</a:t>
            </a:r>
            <a:br>
              <a:rPr lang="fr-FR" dirty="0"/>
            </a:br>
            <a:endParaRPr lang="fr-BE" dirty="0"/>
          </a:p>
        </p:txBody>
      </p:sp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217945"/>
              </p:ext>
            </p:extLst>
          </p:nvPr>
        </p:nvGraphicFramePr>
        <p:xfrm>
          <a:off x="137652" y="1111044"/>
          <a:ext cx="11877369" cy="5653549"/>
        </p:xfrm>
        <a:graphic>
          <a:graphicData uri="http://schemas.openxmlformats.org/drawingml/2006/table">
            <a:tbl>
              <a:tblPr firstRow="1" firstCol="1" bandRow="1"/>
              <a:tblGrid>
                <a:gridCol w="1757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9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98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2961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Bonne pratique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Problème résolu par la bonne pratique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 de la bonne pratique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personnes impliquées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Résultats de la bonne pratique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Recommandation pour la réplication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806">
                <a:tc grid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Leadership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085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L’implication des APA locales 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Résistance à la vaccination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Participation régulière des APA aux réunions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Descente sur terrain sur des APA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AT, Chefs secteurs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Vaccination des cas de résistance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Tenue des réunions multisectorielles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806">
                <a:tc grid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Mobilisation communautaire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14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Implication des CAC 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Orientation et récupération des enfants manqués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Les membres des CAC habitent les villages et connaissent chaque enfant pour orienter et récupérer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Les membres des CAC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Reduction des EZD et SV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Utilisation des CAC lors toutes les activités de santé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1" y="137652"/>
            <a:ext cx="11360700" cy="825910"/>
          </a:xfrm>
        </p:spPr>
        <p:txBody>
          <a:bodyPr>
            <a:normAutofit fontScale="90000"/>
          </a:bodyPr>
          <a:lstStyle/>
          <a:p>
            <a:r>
              <a:rPr lang="fr-FR" sz="3100" dirty="0"/>
              <a:t>Facteurs expliquant la performance (leadership, mobilisation communautaire, intégration, supervision) (suite)</a:t>
            </a:r>
            <a:br>
              <a:rPr lang="fr-FR" dirty="0"/>
            </a:br>
            <a:endParaRPr lang="fr-BE" dirty="0"/>
          </a:p>
        </p:txBody>
      </p:sp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64480"/>
              </p:ext>
            </p:extLst>
          </p:nvPr>
        </p:nvGraphicFramePr>
        <p:xfrm>
          <a:off x="137652" y="1150373"/>
          <a:ext cx="11975691" cy="5569975"/>
        </p:xfrm>
        <a:graphic>
          <a:graphicData uri="http://schemas.openxmlformats.org/drawingml/2006/table">
            <a:tbl>
              <a:tblPr firstRow="1" firstCol="1" bandRow="1"/>
              <a:tblGrid>
                <a:gridCol w="1772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4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5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19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111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Bonne pratique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Problème résolu par la bonne pratique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 de la bonne pratique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personnes impliquées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Résultats de la bonne pratique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Recommandation pour la réplication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24">
                <a:tc grid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Intégration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4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Couplage SVA et vaccination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Adhésion des parents résistants à la vaccination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Lors de couplage, les parents viennent avec les enfants pour prendre le </a:t>
                      </a:r>
                      <a:r>
                        <a:rPr lang="fr-FR" sz="20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mebendazole</a:t>
                      </a: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et se font vacciner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Les prestataires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 d’enfants vaccinés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Intégration de la vaccination avec d’autres activités de santé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824">
                <a:tc grid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supervision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66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Une bonne supervision de intégrée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Correction des erreurs des acteurs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Suivi régulier des activités de vaccination et autres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ECP et ECZ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Amélioration/maintien des indicateurs PEV et autres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 supervision intégrée des activités de santé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609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 pratiques à </a:t>
            </a:r>
            <a:r>
              <a:rPr lang="en-US" sz="3200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capitaliser</a:t>
            </a:r>
            <a:endParaRPr lang="en-US" sz="3200" dirty="0">
              <a:solidFill>
                <a:srgbClr val="1155CC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</a:t>
            </a:r>
            <a:r>
              <a:rPr lang="fr-FR" sz="2800" dirty="0">
                <a:sym typeface="+mn-ea"/>
              </a:rPr>
              <a:t>L’implication des APA locales et Leaders communautaires permet de mieux organiser la recherche et identification des EZD et SV existants</a:t>
            </a:r>
            <a:endParaRPr lang="fr-FR" sz="28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800" dirty="0">
                <a:sym typeface="+mn-ea"/>
              </a:rPr>
              <a:t>-Formation de qualité permet l’appropriation de l’activité par les acteurs du terrain,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800" dirty="0">
                <a:sym typeface="+mn-ea"/>
              </a:rPr>
              <a:t>-Utilisation des techniciens locaux permet la maintenance spontanée de la chambre froide et réfrigérateurs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800" dirty="0">
                <a:sym typeface="+mn-ea"/>
              </a:rPr>
              <a:t>-Les AVS constituent des opportunités pour la récupération des enfants PEV de routine et l’intensification de la recherche active </a:t>
            </a:r>
            <a:endParaRPr lang="fr-FR" sz="28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200" dirty="0">
              <a:sym typeface="+mn-e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B831B62-A8A7-8ACD-2012-33198F56B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>
            <a:extLst>
              <a:ext uri="{FF2B5EF4-FFF2-40B4-BE49-F238E27FC236}">
                <a16:creationId xmlns:a16="http://schemas.microsoft.com/office/drawing/2014/main" id="{AE2D3FDA-13C7-81BE-044A-FDC9653DE6A1}"/>
              </a:ext>
            </a:extLst>
          </p:cNvPr>
          <p:cNvSpPr txBox="1"/>
          <p:nvPr/>
        </p:nvSpPr>
        <p:spPr>
          <a:xfrm>
            <a:off x="458592" y="317941"/>
            <a:ext cx="11274900" cy="609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600" dirty="0">
                <a:sym typeface="+mn-ea"/>
              </a:rPr>
              <a:t>-</a:t>
            </a:r>
            <a:r>
              <a:rPr lang="fr-FR" sz="3200" dirty="0">
                <a:sym typeface="+mn-ea"/>
              </a:rPr>
              <a:t>La vaccination de tous les EZD et SV existants</a:t>
            </a:r>
            <a:endParaRPr lang="fr-FR" sz="32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-Coordination des interventions FAE (technique et C4D)</a:t>
            </a:r>
            <a:endParaRPr lang="fr-FR" sz="32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-Le respect de délai de livraison des vaccins et autres intrants</a:t>
            </a:r>
            <a:endParaRPr lang="fr-FR" sz="32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-Comment maintenir les membres des CAC actifs?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-Pannes répétées des réfrigérateurs solaires dans les ZS</a:t>
            </a:r>
            <a:endParaRPr lang="fr-FR" sz="32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-Fournir les vaccins de qualité aux bénéficiaires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-Les réfrigérateurs non installés dans les AS</a:t>
            </a:r>
            <a:endParaRPr lang="fr-FR" sz="3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>
            <a:extLst>
              <a:ext uri="{FF2B5EF4-FFF2-40B4-BE49-F238E27FC236}">
                <a16:creationId xmlns:a16="http://schemas.microsoft.com/office/drawing/2014/main" id="{745130A7-C0BC-BF28-2831-1634F9BA66EA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>
            <a:extLst>
              <a:ext uri="{FF2B5EF4-FFF2-40B4-BE49-F238E27FC236}">
                <a16:creationId xmlns:a16="http://schemas.microsoft.com/office/drawing/2014/main" id="{E8BC10B2-7E38-E9BF-1A79-AFC1FE692ABE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>
            <a:extLst>
              <a:ext uri="{FF2B5EF4-FFF2-40B4-BE49-F238E27FC236}">
                <a16:creationId xmlns:a16="http://schemas.microsoft.com/office/drawing/2014/main" id="{DECBFE56-C744-62A7-21E0-FD7D706A622D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69745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236525" y="-15552"/>
            <a:ext cx="114458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50" name="Google Shape;250;g3aabc9d920d_0_428"/>
          <p:cNvGraphicFramePr/>
          <p:nvPr>
            <p:custDataLst>
              <p:tags r:id="rId1"/>
            </p:custDataLst>
          </p:nvPr>
        </p:nvGraphicFramePr>
        <p:xfrm>
          <a:off x="1" y="417177"/>
          <a:ext cx="12191999" cy="6383075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375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3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8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8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5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55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188">
                <a:tc rowSpan="10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FAE</a:t>
                      </a:r>
                      <a:endParaRPr sz="1600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Formation des </a:t>
                      </a:r>
                      <a:r>
                        <a:rPr lang="en-GB" sz="180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acteurs</a:t>
                      </a:r>
                      <a:r>
                        <a:rPr lang="en-GB" sz="180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GB" sz="180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impliqués</a:t>
                      </a:r>
                      <a:endParaRPr lang="en-GB" sz="180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Persistance d’enfants ZD et SV</a:t>
                      </a:r>
                    </a:p>
                  </a:txBody>
                  <a:tcPr marL="7620" marR="7620" marT="762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 AVS </a:t>
                      </a: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Instabilité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des personnels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94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Identification des EZD et SV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Micro-planification à la base non réalisée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IPVS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86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80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Reduction de nombre EZD et SV dans la province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Mauvaise compréhension des notions EZD et SV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Appui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technique UNICEF/OMS</a:t>
                      </a: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Arrêt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de </a:t>
                      </a: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financement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71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Réalisation des stratégies(horaire adapté, porte à porte etc.)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Permutation intempestive des agents</a:t>
                      </a:r>
                    </a:p>
                  </a:txBody>
                  <a:tcPr marL="7003" marR="7003" marT="7003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18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Installation des nouveaux matériels chambre froid à </a:t>
                      </a:r>
                      <a:r>
                        <a:rPr lang="fr-F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Tshumbe</a:t>
                      </a: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et </a:t>
                      </a:r>
                      <a:r>
                        <a:rPr lang="fr-F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Lodja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Rupture répétée des antigènes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000" b="0" i="0" u="none" strike="noStrike" dirty="0" err="1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000" b="0" i="0" u="none" strike="noStrike" dirty="0" err="1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003" marR="7003" marT="7003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18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Acquisition véhicule </a:t>
                      </a:r>
                      <a:r>
                        <a:rPr lang="en-GB" sz="18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frigorifique</a:t>
                      </a: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, des pièces recharges, 8 Motos T125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15% des structures sans réfrigérateurs solaires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000" b="0" i="0" u="none" strike="noStrike" dirty="0" err="1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000" b="0" i="0" u="none" strike="noStrike" dirty="0" err="1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02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Fuite des fréons dans la chambre froide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fr-FR" sz="20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618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24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Manque d’un véhicule transportant les intrants secs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24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3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24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13 BCZ sans congélateurs solaires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24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892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24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Absence d’une chambre négative en province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24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236220" y="103505"/>
            <a:ext cx="114458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50" name="Google Shape;250;g3aabc9d920d_0_428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1453946"/>
              </p:ext>
            </p:extLst>
          </p:nvPr>
        </p:nvGraphicFramePr>
        <p:xfrm>
          <a:off x="1" y="494031"/>
          <a:ext cx="12191999" cy="6704459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375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0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7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79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33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449">
                <a:tc rowSpan="8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FAE</a:t>
                      </a:r>
                      <a:endParaRPr sz="1600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Bonne complétude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Difficulté dans la saisie et l'archivage des données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Retro-saisi des données financées par la Caritas/SANRU </a:t>
                      </a:r>
                      <a:endParaRPr lang="en-GB" sz="18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US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3" marR="7003" marT="7003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44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Les équipes PEV formés en DHIS2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Beaucoup aberrations de saisies des données dans le DHIS2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44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Disponibilité des CAC dans certaines ZS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Les datas des ZS formés en DHIS2 données PEV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</a:pPr>
                      <a:endParaRPr lang="en-GB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</a:pPr>
                      <a:endParaRPr lang="en-GB" sz="18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70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Tenue des revues PEV trimestrielles et </a:t>
                      </a:r>
                      <a:r>
                        <a:rPr lang="fr-FR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semestriellesréunions</a:t>
                      </a: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 de </a:t>
                      </a:r>
                      <a:r>
                        <a:rPr lang="fr-FR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CCPev</a:t>
                      </a: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, monitorages BCZ et AS 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Faible appui recherche des EZD et SV dans la communauté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AVS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Irrégularité des financements 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53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Réalisation des missions de supervisions DPS intégrées par occasion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Faible fonctionnalité des différents comités et commissions </a:t>
                      </a:r>
                    </a:p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fr-FR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</a:p>
                  </a:txBody>
                  <a:tcPr marL="7003" marR="7003" marT="7003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777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Appui financier des activités technique T1 à T4 2025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Certaines activités communication non mise en œuvre (T1 2024)</a:t>
                      </a:r>
                      <a:b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</a:br>
                      <a:endParaRPr lang="fr-FR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fr-FR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endParaRPr lang="en-GB" sz="1800" b="0" i="0" u="none" strike="noStrike" cap="none" noProof="0" dirty="0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Absence de financement provincial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1604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/>
                        </a:rPr>
                        <a:t>Appui financier C4D (T1-T4) et AGR (T4)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fr-FR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18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Instabilité des personnels d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74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endParaRPr lang="fr-FR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236220" y="103505"/>
            <a:ext cx="114458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50" name="Google Shape;250;g3aabc9d920d_0_428"/>
          <p:cNvGraphicFramePr/>
          <p:nvPr>
            <p:custDataLst>
              <p:tags r:id="rId1"/>
            </p:custDataLst>
          </p:nvPr>
        </p:nvGraphicFramePr>
        <p:xfrm>
          <a:off x="1" y="494030"/>
          <a:ext cx="12192000" cy="6363971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322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6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5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0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88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613">
                <a:tc rowSpan="8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2. IPVS</a:t>
                      </a:r>
                      <a:endParaRPr sz="1600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Formation des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acteurs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à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tous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niveaux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(DPS, BCZ, AS et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communauté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</a:rPr>
                        <a:t>Rupture des certains antigènes (Penta, VAR et VPO) à la 1</a:t>
                      </a:r>
                      <a:r>
                        <a:rPr lang="fr-FR" sz="1600" b="0" i="0" u="none" strike="noStrike" baseline="30000" dirty="0">
                          <a:solidFill>
                            <a:srgbClr val="000000"/>
                          </a:solidFill>
                        </a:rPr>
                        <a:t>ère</a:t>
                      </a: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</a:rPr>
                        <a:t> phase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AVS</a:t>
                      </a: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Instabilité des acteurs</a:t>
                      </a: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87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Realisation de la micro-planification à la base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Permutation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intempestive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des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acteurs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06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Une bonne comprehension des EZD et SV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</a:rPr>
                        <a:t>Faible identification EZD et SV avant à la mise en œuvre IPVS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71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  <a:r>
                        <a:rPr lang="en-GB" sz="1600" dirty="0">
                          <a:sym typeface="+mn-ea"/>
                        </a:rPr>
                        <a:t>Identification des EZD et SV </a:t>
                      </a: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</a:rPr>
                        <a:t>Mauvaise tenue des outils de gestion des données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4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Recuperation des EZD et SV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Erreurs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des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formules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dans la base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en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ligne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61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</a:rPr>
                        <a:t>Réalisation de l’évaluation: AS, BCZ et DPS phase 1</a:t>
                      </a:r>
                    </a:p>
                    <a:p>
                      <a:pPr algn="l">
                        <a:buSzTx/>
                      </a:pPr>
                      <a:endParaRPr lang="en-GB" sz="16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  <a:r>
                        <a:rPr lang="en-GB" sz="1600" i="0" u="none" strike="noStrike" cap="none" dirty="0" err="1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Approvisionnement</a:t>
                      </a: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 </a:t>
                      </a:r>
                      <a:r>
                        <a:rPr lang="en-GB" sz="1600" i="0" u="none" strike="noStrike" cap="none" dirty="0" err="1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en</a:t>
                      </a: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 retard des </a:t>
                      </a:r>
                      <a:r>
                        <a:rPr lang="en-GB" sz="1600" i="0" u="none" strike="noStrike" cap="none" dirty="0" err="1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vaccins</a:t>
                      </a: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 pour les IPVS au premier passage</a:t>
                      </a: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003" marR="7003" marT="7003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096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600" i="0" u="none" strike="noStrike" dirty="0">
                          <a:solidFill>
                            <a:srgbClr val="000000"/>
                          </a:solidFill>
                        </a:rPr>
                        <a:t>Réalisation des monitorages de Monitorage Rapide de Convenance</a:t>
                      </a:r>
                      <a:endParaRPr lang="en-GB" sz="160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fr-FR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Monitorage </a:t>
                      </a:r>
                      <a:r>
                        <a:rPr lang="fr-FR" sz="1600" i="0" u="none" strike="noStrike" cap="none" dirty="0" err="1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rapide:petit</a:t>
                      </a:r>
                      <a:r>
                        <a:rPr lang="fr-FR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 </a:t>
                      </a:r>
                      <a:r>
                        <a:rPr lang="fr-FR" sz="1600" i="0" u="none" strike="noStrike" cap="none" dirty="0" err="1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echantillonnage</a:t>
                      </a:r>
                      <a:r>
                        <a:rPr lang="fr-FR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 à enquêter</a:t>
                      </a:r>
                    </a:p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41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Reproduction des </a:t>
                      </a:r>
                      <a:r>
                        <a:rPr lang="en-GB" sz="1600" dirty="0" err="1">
                          <a:sym typeface="+mn-ea"/>
                        </a:rPr>
                        <a:t>outils</a:t>
                      </a:r>
                      <a:r>
                        <a:rPr lang="en-GB" sz="1600" dirty="0">
                          <a:sym typeface="+mn-ea"/>
                        </a:rPr>
                        <a:t> de gestion des IPVS</a:t>
                      </a: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 </a:t>
                      </a: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641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  <a:r>
                        <a:rPr lang="en-GB" sz="1600" dirty="0" err="1">
                          <a:sym typeface="+mn-ea"/>
                        </a:rPr>
                        <a:t>Disponibilité</a:t>
                      </a:r>
                      <a:r>
                        <a:rPr lang="en-GB" sz="1600" dirty="0">
                          <a:sym typeface="+mn-ea"/>
                        </a:rPr>
                        <a:t> des fonds pour la mise </a:t>
                      </a:r>
                      <a:r>
                        <a:rPr lang="en-GB" sz="1600" dirty="0" err="1">
                          <a:sym typeface="+mn-ea"/>
                        </a:rPr>
                        <a:t>en</a:t>
                      </a:r>
                      <a:r>
                        <a:rPr lang="en-GB" sz="1600" dirty="0">
                          <a:sym typeface="+mn-ea"/>
                        </a:rPr>
                        <a:t> oeuvre des IPVS dans les ZS</a:t>
                      </a: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bc9d920d_0_242"/>
          <p:cNvSpPr txBox="1"/>
          <p:nvPr/>
        </p:nvSpPr>
        <p:spPr>
          <a:xfrm>
            <a:off x="407035" y="107315"/>
            <a:ext cx="112750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-Approvisionner en temps la province avec les vaccins et autres intrants</a:t>
            </a:r>
            <a:endParaRPr lang="fr-FR" sz="24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-Assurer la maintenance permanente des réfrigérateurs solaires et chambres froide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-Transporter et installer 44 réfrigérateurs dans les AS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-Intensifier l’identification des EZD et SV pour réaliser deux phases des IPVS en 2026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-Renforcer l’implication des CAC dans la recherche et identification des EZD et SV</a:t>
            </a:r>
            <a:endParaRPr lang="fr-FR" sz="24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-Renforcer l’implication les Leaders communautaires, religieux et d’opinions dans le projet,</a:t>
            </a:r>
            <a:endParaRPr lang="fr-FR" sz="24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-Doter la province d’une chambre négative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-Doter 13 BCZ avec des congélateurs solaires</a:t>
            </a:r>
            <a:endParaRPr lang="fr-FR" sz="24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-Renforcer les capacités des acteurs en gestion technique PEV, CCL</a:t>
            </a:r>
            <a:endParaRPr lang="fr-FR" sz="24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-Financer les réunions des coordinations et de validation des données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-Stabiliser les acteurs de santé dans le travail</a:t>
            </a:r>
            <a:endParaRPr lang="fr-FR" sz="24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27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6" name="Google Shape;266;g3aabc9d920d_0_24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7" name="Google Shape;267;g3aabc9d920d_0_24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g3aabc9d920d_0_24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9" name="Google Shape;269;g3aabc9d920d_0_24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bc9d920d_0_26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g3aabc9d920d_0_26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g3aabc9d920d_0_26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6*477"/>
  <p:tag name="TABLE_ENDDRAG_RECT" val="18*54*936*47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4*498"/>
  <p:tag name="TABLE_ENDDRAG_RECT" val="13*33*934*49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45*475"/>
  <p:tag name="TABLE_ENDDRAG_RECT" val="9*56*945*4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5*472"/>
  <p:tag name="TABLE_ENDDRAG_RECT" val="18*58*935*47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2*451"/>
  <p:tag name="TABLE_ENDDRAG_RECT" val="14*59*932*45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8*484"/>
  <p:tag name="TABLE_ENDDRAG_RECT" val="10*39*938*48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46*485"/>
  <p:tag name="TABLE_ENDDRAG_RECT" val="5*44*946*48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45*482"/>
  <p:tag name="TABLE_ENDDRAG_RECT" val="8*48*945*48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42*469"/>
  <p:tag name="TABLE_ENDDRAG_RECT" val="9*65*942*46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5*468"/>
  <p:tag name="TABLE_ENDDRAG_RECT" val="10*63*935*46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8*482"/>
  <p:tag name="TABLE_ENDDRAG_RECT" val="7*41*938*48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50*490"/>
  <p:tag name="TABLE_ENDDRAG_RECT" val="9*44*950*49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50*490"/>
  <p:tag name="TABLE_ENDDRAG_RECT" val="9*44*950*49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50*490"/>
  <p:tag name="TABLE_ENDDRAG_RECT" val="9*44*950*490"/>
</p:tagLst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3788</Words>
  <Application>Microsoft Office PowerPoint</Application>
  <PresentationFormat>Grand écran</PresentationFormat>
  <Paragraphs>1701</Paragraphs>
  <Slides>27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5" baseType="lpstr">
      <vt:lpstr>Aptos Narrow</vt:lpstr>
      <vt:lpstr>Times New Roman</vt:lpstr>
      <vt:lpstr>Play</vt:lpstr>
      <vt:lpstr>Source Serif Pro</vt:lpstr>
      <vt:lpstr>Calibri</vt:lpstr>
      <vt:lpstr>Arial</vt:lpstr>
      <vt:lpstr>Thème Office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Facteurs expliquant la performance (leadership, mobilisation communautaire, intégration, supervision) </vt:lpstr>
      <vt:lpstr>Facteurs expliquant la performance (leadership, mobilisation communautaire, intégration, supervision) (suite)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Aimé CIKOMOLA</dc:creator>
  <cp:lastModifiedBy>Office User</cp:lastModifiedBy>
  <cp:revision>131</cp:revision>
  <dcterms:created xsi:type="dcterms:W3CDTF">2025-11-28T20:10:00Z</dcterms:created>
  <dcterms:modified xsi:type="dcterms:W3CDTF">2025-12-16T08:12:18Z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FF85A336416248C8905C33630EA46A21_13</vt:lpwstr>
  </property>
  <property fmtid="{D5CDD505-2E9C-101B-9397-08002B2CF9AE}" pid="3" name="KSOProductBuildVer">
    <vt:lpwstr>1036-12.2.0.23155</vt:lpwstr>
  </property>
</Properties>
</file>