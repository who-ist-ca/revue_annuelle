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5" r:id="rId3"/>
  </p:sldMasterIdLst>
  <p:notesMasterIdLst>
    <p:notesMasterId r:id="rId23"/>
  </p:notesMasterIdLst>
  <p:sldIdLst>
    <p:sldId id="256" r:id="rId4"/>
    <p:sldId id="257" r:id="rId5"/>
    <p:sldId id="258" r:id="rId6"/>
    <p:sldId id="259" r:id="rId7"/>
    <p:sldId id="270" r:id="rId8"/>
    <p:sldId id="260" r:id="rId9"/>
    <p:sldId id="271" r:id="rId10"/>
    <p:sldId id="283" r:id="rId11"/>
    <p:sldId id="274" r:id="rId12"/>
    <p:sldId id="273" r:id="rId13"/>
    <p:sldId id="276" r:id="rId14"/>
    <p:sldId id="266" r:id="rId15"/>
    <p:sldId id="272" r:id="rId16"/>
    <p:sldId id="267" r:id="rId17"/>
    <p:sldId id="278" r:id="rId18"/>
    <p:sldId id="279" r:id="rId19"/>
    <p:sldId id="282" r:id="rId20"/>
    <p:sldId id="281" r:id="rId21"/>
    <p:sldId id="269"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Play" panose="020B0604020202020204" charset="0"/>
      <p:regular r:id="rId28"/>
    </p:embeddedFont>
    <p:embeddedFont>
      <p:font typeface="Trebuchet MS" panose="020B0603020202020204" pitchFamily="34" charset="0"/>
      <p:regular r:id="rId29"/>
      <p:bold r:id="rId30"/>
      <p:italic r:id="rId31"/>
      <p:boldItalic r:id="rId32"/>
    </p:embeddedFont>
    <p:embeddedFont>
      <p:font typeface="Arial Narrow" panose="020B0606020202030204" pitchFamily="34" charset="0"/>
      <p:regular r:id="rId33"/>
      <p:bold r:id="rId34"/>
      <p:italic r:id="rId35"/>
      <p:boldItalic r:id="rId36"/>
    </p:embeddedFont>
    <p:embeddedFont>
      <p:font typeface="Bahnschrift Condensed" panose="020B0502040204020203" pitchFamily="34" charset="0"/>
      <p:regular r:id="rId37"/>
      <p:bold r:id="rId38"/>
    </p:embeddedFont>
    <p:embeddedFont>
      <p:font typeface="Calibri Light" panose="020F0302020204030204"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6042B85-2813-40D6-8C08-B53CA4025A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628BBFD1-A734-4757-B910-67CC1CD15934}" styleName="Table_1">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6" d="100"/>
          <a:sy n="66" d="100"/>
        </p:scale>
        <p:origin x="792"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8.xml"/><Relationship Id="rId34" Type="http://schemas.openxmlformats.org/officeDocument/2006/relationships/font" Target="fonts/font11.fntdata"/><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‹N°›</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725154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c9d920d_0_191: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c9d920d_0_191: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c9d920d_0_19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c9d920d_0_199: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abc9d920d_0_20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aabc9d920d_0_20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c9d920d_0_22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c9d920d_0_22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abc9d920d_0_23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aabc9d920d_0_234: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abc9d920d_0_3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aabc9d920d_0_3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abc9d920d_0_4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aabc9d920d_0_42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abc9d920d_0_4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aabc9d920d_0_42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abc9d920d_0_43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aabc9d920d_0_43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aabc9d920d_0_43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aabc9d920d_0_43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391676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0" name="Espace réservé de l'image des diapositives 1"/>
          <p:cNvSpPr>
            <a:spLocks noGrp="1" noRot="1" noChangeAspect="1"/>
          </p:cNvSpPr>
          <p:nvPr>
            <p:ph type="sldImg"/>
          </p:nvPr>
        </p:nvSpPr>
        <p:spPr/>
      </p:sp>
      <p:sp>
        <p:nvSpPr>
          <p:cNvPr id="1048841" name="Espace réservé des commentaires 2"/>
          <p:cNvSpPr>
            <a:spLocks noGrp="1"/>
          </p:cNvSpPr>
          <p:nvPr>
            <p:ph type="body" idx="1"/>
          </p:nvPr>
        </p:nvSpPr>
        <p:spPr/>
        <p:txBody>
          <a:bodyPr>
            <a:normAutofit/>
          </a:bodyPr>
          <a:lstStyle/>
          <a:p>
            <a:endParaRPr lang="fr-FR" dirty="0"/>
          </a:p>
        </p:txBody>
      </p:sp>
      <p:sp>
        <p:nvSpPr>
          <p:cNvPr id="1048842"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23149A-9D75-4C49-BB85-8D6AE8CA66AD}"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9124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abc9d920d_0_23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aabc9d920d_0_234: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855163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aabc9d920d_0_262: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aabc9d920d_0_262: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e de titre">
  <p:cSld name="1_Diapositive de titr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3385430" y="3768780"/>
            <a:ext cx="8572500" cy="234156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A3041"/>
              </a:buClr>
              <a:buSzPts val="3600"/>
              <a:buFont typeface="Play" panose="00000500000000000000"/>
              <a:buNone/>
              <a:defRPr sz="3600">
                <a:solidFill>
                  <a:srgbClr val="0A30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‹N°›</a:t>
            </a:fld>
            <a:endParaRPr lang="en-US"/>
          </a:p>
        </p:txBody>
      </p:sp>
      <p:pic>
        <p:nvPicPr>
          <p:cNvPr id="18" name="Google Shape;18;p17"/>
          <p:cNvPicPr preferRelativeResize="0"/>
          <p:nvPr/>
        </p:nvPicPr>
        <p:blipFill rotWithShape="1">
          <a:blip r:embed="rId2"/>
          <a:srcRect/>
          <a:stretch>
            <a:fillRect/>
          </a:stretch>
        </p:blipFill>
        <p:spPr>
          <a:xfrm>
            <a:off x="-23811" y="0"/>
            <a:ext cx="12215811" cy="37179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9"/>
        <p:cNvGrpSpPr/>
        <p:nvPr/>
      </p:nvGrpSpPr>
      <p:grpSpPr>
        <a:xfrm>
          <a:off x="0" y="0"/>
          <a:ext cx="0" cy="0"/>
          <a:chOff x="0" y="0"/>
          <a:chExt cx="0" cy="0"/>
        </a:xfrm>
      </p:grpSpPr>
      <p:sp>
        <p:nvSpPr>
          <p:cNvPr id="20" name="Google Shape;2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25"/>
        <p:cNvGrpSpPr/>
        <p:nvPr/>
      </p:nvGrpSpPr>
      <p:grpSpPr>
        <a:xfrm>
          <a:off x="0" y="0"/>
          <a:ext cx="0" cy="0"/>
          <a:chOff x="0" y="0"/>
          <a:chExt cx="0" cy="0"/>
        </a:xfrm>
      </p:grpSpPr>
      <p:sp>
        <p:nvSpPr>
          <p:cNvPr id="26" name="Google Shape;2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29"/>
        <p:cNvGrpSpPr/>
        <p:nvPr/>
      </p:nvGrpSpPr>
      <p:grpSpPr>
        <a:xfrm>
          <a:off x="0" y="0"/>
          <a:ext cx="0" cy="0"/>
          <a:chOff x="0" y="0"/>
          <a:chExt cx="0" cy="0"/>
        </a:xfrm>
      </p:grpSpPr>
      <p:sp>
        <p:nvSpPr>
          <p:cNvPr id="30" name="Google Shape;30;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5"/>
        <p:cNvGrpSpPr/>
        <p:nvPr/>
      </p:nvGrpSpPr>
      <p:grpSpPr>
        <a:xfrm>
          <a:off x="0" y="0"/>
          <a:ext cx="0" cy="0"/>
          <a:chOff x="0" y="0"/>
          <a:chExt cx="0" cy="0"/>
        </a:xfrm>
      </p:grpSpPr>
      <p:sp>
        <p:nvSpPr>
          <p:cNvPr id="36" name="Google Shape;36;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panose="000005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1"/>
        <p:cNvGrpSpPr/>
        <p:nvPr/>
      </p:nvGrpSpPr>
      <p:grpSpPr>
        <a:xfrm>
          <a:off x="0" y="0"/>
          <a:ext cx="0" cy="0"/>
          <a:chOff x="0" y="0"/>
          <a:chExt cx="0" cy="0"/>
        </a:xfrm>
      </p:grpSpPr>
      <p:sp>
        <p:nvSpPr>
          <p:cNvPr id="42" name="Google Shape;4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8"/>
        <p:cNvGrpSpPr/>
        <p:nvPr/>
      </p:nvGrpSpPr>
      <p:grpSpPr>
        <a:xfrm>
          <a:off x="0" y="0"/>
          <a:ext cx="0" cy="0"/>
          <a:chOff x="0" y="0"/>
          <a:chExt cx="0" cy="0"/>
        </a:xfrm>
      </p:grpSpPr>
      <p:sp>
        <p:nvSpPr>
          <p:cNvPr id="49" name="Google Shape;49;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9"/>
        <p:cNvGrpSpPr/>
        <p:nvPr/>
      </p:nvGrpSpPr>
      <p:grpSpPr>
        <a:xfrm>
          <a:off x="0" y="0"/>
          <a:ext cx="0" cy="0"/>
          <a:chOff x="0" y="0"/>
          <a:chExt cx="0" cy="0"/>
        </a:xfrm>
      </p:grpSpPr>
      <p:sp>
        <p:nvSpPr>
          <p:cNvPr id="70" name="Google Shape;70;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panose="000005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8"/>
          <p:cNvSpPr>
            <a:spLocks noGrp="1"/>
          </p:cNvSpPr>
          <p:nvPr>
            <p:ph type="pic" idx="2"/>
          </p:nvPr>
        </p:nvSpPr>
        <p:spPr>
          <a:xfrm>
            <a:off x="5183188" y="987425"/>
            <a:ext cx="6172200" cy="4873625"/>
          </a:xfrm>
          <a:prstGeom prst="rect">
            <a:avLst/>
          </a:prstGeom>
          <a:noFill/>
          <a:ln>
            <a:noFill/>
          </a:ln>
        </p:spPr>
      </p:sp>
      <p:sp>
        <p:nvSpPr>
          <p:cNvPr id="72" name="Google Shape;72;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2"/>
        <p:cNvGrpSpPr/>
        <p:nvPr/>
      </p:nvGrpSpPr>
      <p:grpSpPr>
        <a:xfrm>
          <a:off x="0" y="0"/>
          <a:ext cx="0" cy="0"/>
          <a:chOff x="0" y="0"/>
          <a:chExt cx="0" cy="0"/>
        </a:xfrm>
      </p:grpSpPr>
      <p:sp>
        <p:nvSpPr>
          <p:cNvPr id="93" name="Google Shape;93;g3aabc9d920d_0_272"/>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94" name="Google Shape;94;g3aabc9d920d_0_27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95" name="Google Shape;95;g3aabc9d920d_0_272"/>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
        <p:cNvGrpSpPr/>
        <p:nvPr/>
      </p:nvGrpSpPr>
      <p:grpSpPr>
        <a:xfrm>
          <a:off x="0" y="0"/>
          <a:ext cx="0" cy="0"/>
          <a:chOff x="0" y="0"/>
          <a:chExt cx="0" cy="0"/>
        </a:xfrm>
      </p:grpSpPr>
      <p:sp>
        <p:nvSpPr>
          <p:cNvPr id="97" name="Google Shape;97;g3aabc9d920d_0_276"/>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98" name="Google Shape;98;g3aabc9d920d_0_276"/>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c9d920d_0_27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c9d920d_0_279"/>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c9d920d_0_27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3"/>
        <p:cNvGrpSpPr/>
        <p:nvPr/>
      </p:nvGrpSpPr>
      <p:grpSpPr>
        <a:xfrm>
          <a:off x="0" y="0"/>
          <a:ext cx="0" cy="0"/>
          <a:chOff x="0" y="0"/>
          <a:chExt cx="0" cy="0"/>
        </a:xfrm>
      </p:grpSpPr>
      <p:sp>
        <p:nvSpPr>
          <p:cNvPr id="104" name="Google Shape;104;g3aabc9d920d_0_28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5" name="Google Shape;105;g3aabc9d920d_0_283"/>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6" name="Google Shape;106;g3aabc9d920d_0_283"/>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7" name="Google Shape;107;g3aabc9d920d_0_28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8"/>
        <p:cNvGrpSpPr/>
        <p:nvPr/>
      </p:nvGrpSpPr>
      <p:grpSpPr>
        <a:xfrm>
          <a:off x="0" y="0"/>
          <a:ext cx="0" cy="0"/>
          <a:chOff x="0" y="0"/>
          <a:chExt cx="0" cy="0"/>
        </a:xfrm>
      </p:grpSpPr>
      <p:sp>
        <p:nvSpPr>
          <p:cNvPr id="109" name="Google Shape;109;g3aabc9d920d_0_28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10" name="Google Shape;110;g3aabc9d920d_0_28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g3aabc9d920d_0_291"/>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13" name="Google Shape;113;g3aabc9d920d_0_291"/>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14" name="Google Shape;114;g3aabc9d920d_0_29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5"/>
        <p:cNvGrpSpPr/>
        <p:nvPr/>
      </p:nvGrpSpPr>
      <p:grpSpPr>
        <a:xfrm>
          <a:off x="0" y="0"/>
          <a:ext cx="0" cy="0"/>
          <a:chOff x="0" y="0"/>
          <a:chExt cx="0" cy="0"/>
        </a:xfrm>
      </p:grpSpPr>
      <p:sp>
        <p:nvSpPr>
          <p:cNvPr id="116" name="Google Shape;116;g3aabc9d920d_0_295"/>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117" name="Google Shape;117;g3aabc9d920d_0_2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8"/>
        <p:cNvGrpSpPr/>
        <p:nvPr/>
      </p:nvGrpSpPr>
      <p:grpSpPr>
        <a:xfrm>
          <a:off x="0" y="0"/>
          <a:ext cx="0" cy="0"/>
          <a:chOff x="0" y="0"/>
          <a:chExt cx="0" cy="0"/>
        </a:xfrm>
      </p:grpSpPr>
      <p:sp>
        <p:nvSpPr>
          <p:cNvPr id="119" name="Google Shape;119;g3aabc9d920d_0_298"/>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 name="Google Shape;120;g3aabc9d920d_0_298"/>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1" name="Google Shape;121;g3aabc9d920d_0_298"/>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2" name="Google Shape;122;g3aabc9d920d_0_298"/>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23" name="Google Shape;123;g3aabc9d920d_0_29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4"/>
        <p:cNvGrpSpPr/>
        <p:nvPr/>
      </p:nvGrpSpPr>
      <p:grpSpPr>
        <a:xfrm>
          <a:off x="0" y="0"/>
          <a:ext cx="0" cy="0"/>
          <a:chOff x="0" y="0"/>
          <a:chExt cx="0" cy="0"/>
        </a:xfrm>
      </p:grpSpPr>
      <p:sp>
        <p:nvSpPr>
          <p:cNvPr id="125" name="Google Shape;125;g3aabc9d920d_0_304"/>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26" name="Google Shape;126;g3aabc9d920d_0_30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7"/>
        <p:cNvGrpSpPr/>
        <p:nvPr/>
      </p:nvGrpSpPr>
      <p:grpSpPr>
        <a:xfrm>
          <a:off x="0" y="0"/>
          <a:ext cx="0" cy="0"/>
          <a:chOff x="0" y="0"/>
          <a:chExt cx="0" cy="0"/>
        </a:xfrm>
      </p:grpSpPr>
      <p:sp>
        <p:nvSpPr>
          <p:cNvPr id="128" name="Google Shape;128;g3aabc9d920d_0_307"/>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29" name="Google Shape;129;g3aabc9d920d_0_307"/>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30" name="Google Shape;130;g3aabc9d920d_0_30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
        <p:nvSpPr>
          <p:cNvPr id="132" name="Google Shape;132;g3aabc9d920d_0_31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33"/>
        <p:cNvGrpSpPr/>
        <p:nvPr/>
      </p:nvGrpSpPr>
      <p:grpSpPr>
        <a:xfrm>
          <a:off x="0" y="0"/>
          <a:ext cx="0" cy="0"/>
          <a:chOff x="0" y="0"/>
          <a:chExt cx="0" cy="0"/>
        </a:xfrm>
      </p:grpSpPr>
      <p:sp>
        <p:nvSpPr>
          <p:cNvPr id="134" name="Google Shape;134;g3aabc9d920d_0_313"/>
          <p:cNvSpPr txBox="1">
            <a:spLocks noGrp="1"/>
          </p:cNvSpPr>
          <p:nvPr>
            <p:ph type="body" idx="1"/>
          </p:nvPr>
        </p:nvSpPr>
        <p:spPr>
          <a:xfrm>
            <a:off x="609600" y="457200"/>
            <a:ext cx="4876800" cy="5715300"/>
          </a:xfrm>
          <a:prstGeom prst="rect">
            <a:avLst/>
          </a:prstGeom>
          <a:noFill/>
          <a:ln>
            <a:noFill/>
          </a:ln>
        </p:spPr>
        <p:txBody>
          <a:bodyPr spcFirstLastPara="1" wrap="square" lIns="121900" tIns="60925" rIns="121900" bIns="60925" anchor="ctr" anchorCtr="0">
            <a:normAutofit/>
          </a:bodyPr>
          <a:lstStyle>
            <a:lvl1pPr marL="457200" lvl="0" indent="-381000" algn="l">
              <a:lnSpc>
                <a:spcPct val="115000"/>
              </a:lnSpc>
              <a:spcBef>
                <a:spcPts val="500"/>
              </a:spcBef>
              <a:spcAft>
                <a:spcPts val="0"/>
              </a:spcAft>
              <a:buSzPts val="2400"/>
              <a:buChar char="●"/>
              <a:defRPr/>
            </a:lvl1pPr>
            <a:lvl2pPr marL="914400" lvl="1" indent="-381000" algn="l">
              <a:lnSpc>
                <a:spcPct val="115000"/>
              </a:lnSpc>
              <a:spcBef>
                <a:spcPts val="500"/>
              </a:spcBef>
              <a:spcAft>
                <a:spcPts val="0"/>
              </a:spcAft>
              <a:buSzPts val="2400"/>
              <a:buChar char="○"/>
              <a:defRPr/>
            </a:lvl2pPr>
            <a:lvl3pPr marL="1371600" lvl="2" indent="-381000" algn="l">
              <a:lnSpc>
                <a:spcPct val="115000"/>
              </a:lnSpc>
              <a:spcBef>
                <a:spcPts val="500"/>
              </a:spcBef>
              <a:spcAft>
                <a:spcPts val="0"/>
              </a:spcAft>
              <a:buSzPts val="2400"/>
              <a:buChar char="■"/>
              <a:defRPr/>
            </a:lvl3pPr>
            <a:lvl4pPr marL="1828800" lvl="3" indent="-381000" algn="l">
              <a:lnSpc>
                <a:spcPct val="115000"/>
              </a:lnSpc>
              <a:spcBef>
                <a:spcPts val="500"/>
              </a:spcBef>
              <a:spcAft>
                <a:spcPts val="0"/>
              </a:spcAft>
              <a:buSzPts val="2400"/>
              <a:buChar char="●"/>
              <a:defRPr/>
            </a:lvl4pPr>
            <a:lvl5pPr marL="2286000" lvl="4" indent="-349250" algn="l">
              <a:lnSpc>
                <a:spcPct val="115000"/>
              </a:lnSpc>
              <a:spcBef>
                <a:spcPts val="400"/>
              </a:spcBef>
              <a:spcAft>
                <a:spcPts val="0"/>
              </a:spcAft>
              <a:buSzPts val="1900"/>
              <a:buChar char="○"/>
              <a:defRPr/>
            </a:lvl5pPr>
            <a:lvl6pPr marL="2743200" lvl="5" indent="-349250" algn="l">
              <a:lnSpc>
                <a:spcPct val="115000"/>
              </a:lnSpc>
              <a:spcBef>
                <a:spcPts val="400"/>
              </a:spcBef>
              <a:spcAft>
                <a:spcPts val="0"/>
              </a:spcAft>
              <a:buSzPts val="1900"/>
              <a:buChar char="■"/>
              <a:defRPr/>
            </a:lvl6pPr>
            <a:lvl7pPr marL="3200400" lvl="6" indent="-349250" algn="l">
              <a:lnSpc>
                <a:spcPct val="115000"/>
              </a:lnSpc>
              <a:spcBef>
                <a:spcPts val="400"/>
              </a:spcBef>
              <a:spcAft>
                <a:spcPts val="0"/>
              </a:spcAft>
              <a:buSzPts val="1900"/>
              <a:buChar char="●"/>
              <a:defRPr/>
            </a:lvl7pPr>
            <a:lvl8pPr marL="3657600" lvl="7" indent="-349250" algn="l">
              <a:lnSpc>
                <a:spcPct val="115000"/>
              </a:lnSpc>
              <a:spcBef>
                <a:spcPts val="400"/>
              </a:spcBef>
              <a:spcAft>
                <a:spcPts val="0"/>
              </a:spcAft>
              <a:buSzPts val="1900"/>
              <a:buChar char="○"/>
              <a:defRPr/>
            </a:lvl8pPr>
            <a:lvl9pPr marL="4114800" lvl="8" indent="-349250" algn="l">
              <a:lnSpc>
                <a:spcPct val="115000"/>
              </a:lnSpc>
              <a:spcBef>
                <a:spcPts val="400"/>
              </a:spcBef>
              <a:spcAft>
                <a:spcPts val="0"/>
              </a:spcAft>
              <a:buSzPts val="1900"/>
              <a:buChar char="■"/>
              <a:defRPr/>
            </a:lvl9pPr>
          </a:lstStyle>
          <a:p>
            <a:endParaRPr/>
          </a:p>
        </p:txBody>
      </p:sp>
      <p:sp>
        <p:nvSpPr>
          <p:cNvPr id="135" name="Google Shape;135;g3aabc9d920d_0_313"/>
          <p:cNvSpPr txBox="1">
            <a:spLocks noGrp="1"/>
          </p:cNvSpPr>
          <p:nvPr>
            <p:ph type="title"/>
          </p:nvPr>
        </p:nvSpPr>
        <p:spPr>
          <a:xfrm>
            <a:off x="6502400" y="457200"/>
            <a:ext cx="3759300" cy="5715300"/>
          </a:xfrm>
          <a:prstGeom prst="rect">
            <a:avLst/>
          </a:prstGeom>
          <a:noFill/>
          <a:ln>
            <a:noFill/>
          </a:ln>
        </p:spPr>
        <p:txBody>
          <a:bodyPr spcFirstLastPara="1" wrap="square" lIns="121900" tIns="60925" rIns="121900" bIns="60925" anchor="ctr" anchorCtr="0">
            <a:normAutofit/>
          </a:bodyPr>
          <a:lstStyle>
            <a:lvl1pPr lvl="0" algn="r">
              <a:lnSpc>
                <a:spcPct val="100000"/>
              </a:lnSpc>
              <a:spcBef>
                <a:spcPts val="0"/>
              </a:spcBef>
              <a:spcAft>
                <a:spcPts val="0"/>
              </a:spcAft>
              <a:buClr>
                <a:schemeClr val="dk1"/>
              </a:buClr>
              <a:buSzPts val="24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36" name="Google Shape;136;g3aabc9d920d_0_313"/>
          <p:cNvSpPr txBox="1">
            <a:spLocks noGrp="1"/>
          </p:cNvSpPr>
          <p:nvPr>
            <p:ph type="dt" idx="10"/>
          </p:nvPr>
        </p:nvSpPr>
        <p:spPr>
          <a:xfrm>
            <a:off x="6502401" y="6426201"/>
            <a:ext cx="3759300" cy="126900"/>
          </a:xfrm>
          <a:prstGeom prst="rect">
            <a:avLst/>
          </a:prstGeom>
          <a:noFill/>
          <a:ln>
            <a:noFill/>
          </a:ln>
        </p:spPr>
        <p:txBody>
          <a:bodyPr spcFirstLastPara="1" wrap="square" lIns="121900" tIns="60925" rIns="121900" bIns="60925" anchor="ctr"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37" name="Google Shape;137;g3aabc9d920d_0_313"/>
          <p:cNvSpPr txBox="1">
            <a:spLocks noGrp="1"/>
          </p:cNvSpPr>
          <p:nvPr>
            <p:ph type="sldNum" idx="12"/>
          </p:nvPr>
        </p:nvSpPr>
        <p:spPr>
          <a:xfrm>
            <a:off x="10363200" y="6400800"/>
            <a:ext cx="711300" cy="152400"/>
          </a:xfrm>
          <a:prstGeom prst="rect">
            <a:avLst/>
          </a:prstGeom>
          <a:noFill/>
          <a:ln>
            <a:noFill/>
          </a:ln>
        </p:spPr>
        <p:txBody>
          <a:bodyPr spcFirstLastPara="1" wrap="square" lIns="121900" tIns="60925" rIns="121900" bIns="60925" anchor="ctr" anchorCtr="0">
            <a:normAutofit fontScale="25000" lnSpcReduction="20000"/>
          </a:bodyPr>
          <a:lstStyle>
            <a:lvl1pPr marL="0" marR="0" lvl="0"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ctr">
              <a:lnSpc>
                <a:spcPct val="100000"/>
              </a:lnSpc>
              <a:spcBef>
                <a:spcPts val="0"/>
              </a:spcBef>
              <a:spcAft>
                <a:spcPts val="0"/>
              </a:spcAft>
              <a:buClr>
                <a:srgbClr val="000000"/>
              </a:buClr>
              <a:buSzPts val="5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fld id="{00000000-1234-1234-1234-123412341234}" type="slidenum">
              <a:rPr lang="en-US"/>
              <a:t>‹N°›</a:t>
            </a:fld>
            <a:endParaRPr lang="en-US"/>
          </a:p>
        </p:txBody>
      </p:sp>
      <p:sp>
        <p:nvSpPr>
          <p:cNvPr id="138" name="Google Shape;138;g3aabc9d920d_0_313"/>
          <p:cNvSpPr txBox="1">
            <a:spLocks noGrp="1"/>
          </p:cNvSpPr>
          <p:nvPr>
            <p:ph type="ftr" idx="11"/>
          </p:nvPr>
        </p:nvSpPr>
        <p:spPr>
          <a:xfrm>
            <a:off x="6500284" y="6296248"/>
            <a:ext cx="3761100" cy="152400"/>
          </a:xfrm>
          <a:prstGeom prst="rect">
            <a:avLst/>
          </a:prstGeom>
          <a:noFill/>
          <a:ln>
            <a:noFill/>
          </a:ln>
        </p:spPr>
        <p:txBody>
          <a:bodyPr spcFirstLastPara="1" wrap="square" lIns="121900" tIns="60925" rIns="121900" bIns="60925" anchor="b" anchorCtr="0">
            <a:noAutofit/>
          </a:bodyPr>
          <a:lstStyle>
            <a:lvl1pPr marR="0" lvl="0" algn="r">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rgbClr val="000000"/>
              </a:buClr>
              <a:buSzPts val="1900"/>
              <a:buFont typeface="Arial" panose="020B0604020202020204"/>
              <a:buNone/>
              <a:defRPr sz="19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 Layout 2 1 1">
  <p:cSld name="CUSTOM_1_1_1_3_2">
    <p:spTree>
      <p:nvGrpSpPr>
        <p:cNvPr id="1" name="Shape 139"/>
        <p:cNvGrpSpPr/>
        <p:nvPr/>
      </p:nvGrpSpPr>
      <p:grpSpPr>
        <a:xfrm>
          <a:off x="0" y="0"/>
          <a:ext cx="0" cy="0"/>
          <a:chOff x="0" y="0"/>
          <a:chExt cx="0" cy="0"/>
        </a:xfrm>
      </p:grpSpPr>
      <p:sp>
        <p:nvSpPr>
          <p:cNvPr id="140" name="Google Shape;140;g3aabc9d920d_0_319"/>
          <p:cNvSpPr txBox="1"/>
          <p:nvPr/>
        </p:nvSpPr>
        <p:spPr>
          <a:xfrm>
            <a:off x="0" y="0"/>
            <a:ext cx="3495900" cy="6858000"/>
          </a:xfrm>
          <a:prstGeom prst="rect">
            <a:avLst/>
          </a:prstGeom>
          <a:solidFill>
            <a:srgbClr val="D9D2E9"/>
          </a:solidFill>
          <a:ln>
            <a:noFill/>
          </a:ln>
        </p:spPr>
        <p:txBody>
          <a:bodyPr spcFirstLastPara="1" wrap="square" lIns="121900" tIns="121900" rIns="121900" bIns="121900" anchor="t" anchorCtr="0">
            <a:noAutofit/>
          </a:bodyPr>
          <a:lstStyle/>
          <a:p>
            <a:pPr marL="0" lvl="0" indent="0" algn="l" rtl="0">
              <a:spcBef>
                <a:spcPts val="0"/>
              </a:spcBef>
              <a:spcAft>
                <a:spcPts val="0"/>
              </a:spcAft>
              <a:buNone/>
            </a:pPr>
            <a:endParaRPr/>
          </a:p>
        </p:txBody>
      </p:sp>
      <p:sp>
        <p:nvSpPr>
          <p:cNvPr id="141" name="Google Shape;141;g3aabc9d920d_0_319"/>
          <p:cNvSpPr txBox="1">
            <a:spLocks noGrp="1"/>
          </p:cNvSpPr>
          <p:nvPr>
            <p:ph type="sldNum" idx="12"/>
          </p:nvPr>
        </p:nvSpPr>
        <p:spPr>
          <a:xfrm>
            <a:off x="11409045" y="6333134"/>
            <a:ext cx="731700" cy="524700"/>
          </a:xfrm>
          <a:prstGeom prst="rect">
            <a:avLst/>
          </a:prstGeom>
        </p:spPr>
        <p:txBody>
          <a:bodyPr spcFirstLastPara="1" wrap="square" lIns="121900" tIns="121900" rIns="121900" bIns="121900" anchor="t" anchorCtr="0">
            <a:normAutofit/>
          </a:bodyPr>
          <a:lstStyle>
            <a:lvl1pPr lvl="0">
              <a:buNone/>
              <a:defRPr sz="1700"/>
            </a:lvl1pPr>
            <a:lvl2pPr lvl="1">
              <a:buNone/>
              <a:defRPr sz="1700"/>
            </a:lvl2pPr>
            <a:lvl3pPr lvl="2">
              <a:buNone/>
              <a:defRPr sz="1700"/>
            </a:lvl3pPr>
            <a:lvl4pPr lvl="3">
              <a:buNone/>
              <a:defRPr sz="1700"/>
            </a:lvl4pPr>
            <a:lvl5pPr lvl="4">
              <a:buNone/>
              <a:defRPr sz="1700"/>
            </a:lvl5pPr>
            <a:lvl6pPr lvl="5">
              <a:buNone/>
              <a:defRPr sz="1700"/>
            </a:lvl6pPr>
            <a:lvl7pPr lvl="6">
              <a:buNone/>
              <a:defRPr sz="1700"/>
            </a:lvl7pPr>
            <a:lvl8pPr lvl="7">
              <a:buNone/>
              <a:defRPr sz="1700"/>
            </a:lvl8pPr>
            <a:lvl9pPr lvl="8">
              <a:buNone/>
              <a:defRPr sz="1700"/>
            </a:lvl9pPr>
          </a:lstStyle>
          <a:p>
            <a:pPr marL="0" lvl="0" indent="0" algn="r" rtl="0">
              <a:spcBef>
                <a:spcPts val="0"/>
              </a:spcBef>
              <a:spcAft>
                <a:spcPts val="0"/>
              </a:spcAft>
              <a:buNone/>
            </a:pPr>
            <a:fld id="{00000000-1234-1234-1234-123412341234}" type="slidenum">
              <a:rPr lang="en-US"/>
              <a:t>‹N°›</a:t>
            </a:fld>
            <a:endParaRPr lang="en-US"/>
          </a:p>
        </p:txBody>
      </p:sp>
      <p:sp>
        <p:nvSpPr>
          <p:cNvPr id="142" name="Google Shape;142;g3aabc9d920d_0_319"/>
          <p:cNvSpPr txBox="1">
            <a:spLocks noGrp="1"/>
          </p:cNvSpPr>
          <p:nvPr>
            <p:ph type="title"/>
          </p:nvPr>
        </p:nvSpPr>
        <p:spPr>
          <a:xfrm>
            <a:off x="325667" y="2918467"/>
            <a:ext cx="2844900" cy="763500"/>
          </a:xfrm>
          <a:prstGeom prst="rect">
            <a:avLst/>
          </a:prstGeom>
        </p:spPr>
        <p:txBody>
          <a:bodyPr spcFirstLastPara="1" wrap="square" lIns="0" tIns="0" rIns="121900" bIns="0" anchor="t" anchorCtr="0">
            <a:spAutoFit/>
          </a:bodyPr>
          <a:lstStyle>
            <a:lvl1pPr lvl="0">
              <a:spcBef>
                <a:spcPts val="0"/>
              </a:spcBef>
              <a:spcAft>
                <a:spcPts val="0"/>
              </a:spcAft>
              <a:buSzPts val="2700"/>
              <a:buFont typeface="Source Serif Pro"/>
              <a:buNone/>
              <a:defRPr sz="2700">
                <a:latin typeface="Source Serif Pro"/>
                <a:ea typeface="Source Serif Pro"/>
                <a:cs typeface="Source Serif Pro"/>
                <a:sym typeface="Source Serif Pro"/>
              </a:defRPr>
            </a:lvl1pPr>
            <a:lvl2pPr lvl="1">
              <a:spcBef>
                <a:spcPts val="0"/>
              </a:spcBef>
              <a:spcAft>
                <a:spcPts val="0"/>
              </a:spcAft>
              <a:buSzPts val="2700"/>
              <a:buFont typeface="Source Serif Pro"/>
              <a:buNone/>
              <a:defRPr sz="2700">
                <a:latin typeface="Source Serif Pro"/>
                <a:ea typeface="Source Serif Pro"/>
                <a:cs typeface="Source Serif Pro"/>
                <a:sym typeface="Source Serif Pro"/>
              </a:defRPr>
            </a:lvl2pPr>
            <a:lvl3pPr lvl="2">
              <a:spcBef>
                <a:spcPts val="0"/>
              </a:spcBef>
              <a:spcAft>
                <a:spcPts val="0"/>
              </a:spcAft>
              <a:buSzPts val="2700"/>
              <a:buFont typeface="Source Serif Pro"/>
              <a:buNone/>
              <a:defRPr sz="2700">
                <a:latin typeface="Source Serif Pro"/>
                <a:ea typeface="Source Serif Pro"/>
                <a:cs typeface="Source Serif Pro"/>
                <a:sym typeface="Source Serif Pro"/>
              </a:defRPr>
            </a:lvl3pPr>
            <a:lvl4pPr lvl="3">
              <a:spcBef>
                <a:spcPts val="0"/>
              </a:spcBef>
              <a:spcAft>
                <a:spcPts val="0"/>
              </a:spcAft>
              <a:buSzPts val="2700"/>
              <a:buFont typeface="Source Serif Pro"/>
              <a:buNone/>
              <a:defRPr sz="2700">
                <a:latin typeface="Source Serif Pro"/>
                <a:ea typeface="Source Serif Pro"/>
                <a:cs typeface="Source Serif Pro"/>
                <a:sym typeface="Source Serif Pro"/>
              </a:defRPr>
            </a:lvl4pPr>
            <a:lvl5pPr lvl="4">
              <a:spcBef>
                <a:spcPts val="0"/>
              </a:spcBef>
              <a:spcAft>
                <a:spcPts val="0"/>
              </a:spcAft>
              <a:buSzPts val="2700"/>
              <a:buFont typeface="Source Serif Pro"/>
              <a:buNone/>
              <a:defRPr sz="2700">
                <a:latin typeface="Source Serif Pro"/>
                <a:ea typeface="Source Serif Pro"/>
                <a:cs typeface="Source Serif Pro"/>
                <a:sym typeface="Source Serif Pro"/>
              </a:defRPr>
            </a:lvl5pPr>
            <a:lvl6pPr lvl="5">
              <a:spcBef>
                <a:spcPts val="0"/>
              </a:spcBef>
              <a:spcAft>
                <a:spcPts val="0"/>
              </a:spcAft>
              <a:buSzPts val="2700"/>
              <a:buFont typeface="Source Serif Pro"/>
              <a:buNone/>
              <a:defRPr sz="2700">
                <a:latin typeface="Source Serif Pro"/>
                <a:ea typeface="Source Serif Pro"/>
                <a:cs typeface="Source Serif Pro"/>
                <a:sym typeface="Source Serif Pro"/>
              </a:defRPr>
            </a:lvl6pPr>
            <a:lvl7pPr lvl="6">
              <a:spcBef>
                <a:spcPts val="0"/>
              </a:spcBef>
              <a:spcAft>
                <a:spcPts val="0"/>
              </a:spcAft>
              <a:buSzPts val="2700"/>
              <a:buFont typeface="Source Serif Pro"/>
              <a:buNone/>
              <a:defRPr sz="2700">
                <a:latin typeface="Source Serif Pro"/>
                <a:ea typeface="Source Serif Pro"/>
                <a:cs typeface="Source Serif Pro"/>
                <a:sym typeface="Source Serif Pro"/>
              </a:defRPr>
            </a:lvl7pPr>
            <a:lvl8pPr lvl="7">
              <a:spcBef>
                <a:spcPts val="0"/>
              </a:spcBef>
              <a:spcAft>
                <a:spcPts val="0"/>
              </a:spcAft>
              <a:buSzPts val="2700"/>
              <a:buFont typeface="Source Serif Pro"/>
              <a:buNone/>
              <a:defRPr sz="2700">
                <a:latin typeface="Source Serif Pro"/>
                <a:ea typeface="Source Serif Pro"/>
                <a:cs typeface="Source Serif Pro"/>
                <a:sym typeface="Source Serif Pro"/>
              </a:defRPr>
            </a:lvl8pPr>
            <a:lvl9pPr lvl="8">
              <a:spcBef>
                <a:spcPts val="0"/>
              </a:spcBef>
              <a:spcAft>
                <a:spcPts val="0"/>
              </a:spcAft>
              <a:buSzPts val="2700"/>
              <a:buFont typeface="Source Serif Pro"/>
              <a:buNone/>
              <a:defRPr sz="2700">
                <a:latin typeface="Source Serif Pro"/>
                <a:ea typeface="Source Serif Pro"/>
                <a:cs typeface="Source Serif Pro"/>
                <a:sym typeface="Source Serif Pr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1048582"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1048583" name="Espace réservé de la date 3"/>
          <p:cNvSpPr>
            <a:spLocks noGrp="1"/>
          </p:cNvSpPr>
          <p:nvPr>
            <p:ph type="dt" sz="half" idx="10"/>
          </p:nvPr>
        </p:nvSpPr>
        <p:spPr/>
        <p:txBody>
          <a:bodyPr/>
          <a:lstStyle/>
          <a:p>
            <a:fld id="{DBC117AC-604A-4679-B9EC-605D7323C5C3}" type="datetime1">
              <a:rPr lang="fr-FR" smtClean="0"/>
              <a:t>07/12/2025</a:t>
            </a:fld>
            <a:endParaRPr lang="fr-FR"/>
          </a:p>
        </p:txBody>
      </p:sp>
      <p:sp>
        <p:nvSpPr>
          <p:cNvPr id="1048584" name="Espace réservé du pied de page 4"/>
          <p:cNvSpPr>
            <a:spLocks noGrp="1"/>
          </p:cNvSpPr>
          <p:nvPr>
            <p:ph type="ftr" sz="quarter" idx="11"/>
          </p:nvPr>
        </p:nvSpPr>
        <p:spPr/>
        <p:txBody>
          <a:bodyPr/>
          <a:lstStyle/>
          <a:p>
            <a:r>
              <a:rPr lang="en-US" smtClean="0"/>
              <a:t>VALIDATION DONNEES IPVS PHASE 2 DPS KASAI</a:t>
            </a:r>
            <a:endParaRPr lang="fr-FR"/>
          </a:p>
        </p:txBody>
      </p:sp>
      <p:sp>
        <p:nvSpPr>
          <p:cNvPr id="1048585"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320373676"/>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589" name="Titre 1"/>
          <p:cNvSpPr>
            <a:spLocks noGrp="1"/>
          </p:cNvSpPr>
          <p:nvPr>
            <p:ph type="title"/>
          </p:nvPr>
        </p:nvSpPr>
        <p:spPr/>
        <p:txBody>
          <a:bodyPr/>
          <a:lstStyle/>
          <a:p>
            <a:r>
              <a:rPr lang="fr-FR"/>
              <a:t>Modifiez le style du titre</a:t>
            </a:r>
          </a:p>
        </p:txBody>
      </p:sp>
      <p:sp>
        <p:nvSpPr>
          <p:cNvPr id="1048590"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591" name="Espace réservé de la date 3"/>
          <p:cNvSpPr>
            <a:spLocks noGrp="1"/>
          </p:cNvSpPr>
          <p:nvPr>
            <p:ph type="dt" sz="half" idx="10"/>
          </p:nvPr>
        </p:nvSpPr>
        <p:spPr/>
        <p:txBody>
          <a:bodyPr/>
          <a:lstStyle/>
          <a:p>
            <a:fld id="{81733264-BFBF-4415-81E5-16BFB9B2B96C}" type="datetime1">
              <a:rPr lang="fr-FR" smtClean="0"/>
              <a:t>07/12/2025</a:t>
            </a:fld>
            <a:endParaRPr lang="fr-FR"/>
          </a:p>
        </p:txBody>
      </p:sp>
      <p:sp>
        <p:nvSpPr>
          <p:cNvPr id="1048592" name="Espace réservé du pied de page 4"/>
          <p:cNvSpPr>
            <a:spLocks noGrp="1"/>
          </p:cNvSpPr>
          <p:nvPr>
            <p:ph type="ftr" sz="quarter" idx="11"/>
          </p:nvPr>
        </p:nvSpPr>
        <p:spPr/>
        <p:txBody>
          <a:bodyPr/>
          <a:lstStyle/>
          <a:p>
            <a:r>
              <a:rPr lang="en-US" smtClean="0"/>
              <a:t>VALIDATION DONNEES IPVS PHASE 2 DPS KASAI</a:t>
            </a:r>
            <a:endParaRPr lang="fr-FR"/>
          </a:p>
        </p:txBody>
      </p:sp>
      <p:sp>
        <p:nvSpPr>
          <p:cNvPr id="1048593"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838422493"/>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926"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1048927"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1048928" name="Espace réservé de la date 3"/>
          <p:cNvSpPr>
            <a:spLocks noGrp="1"/>
          </p:cNvSpPr>
          <p:nvPr>
            <p:ph type="dt" sz="half" idx="10"/>
          </p:nvPr>
        </p:nvSpPr>
        <p:spPr/>
        <p:txBody>
          <a:bodyPr/>
          <a:lstStyle/>
          <a:p>
            <a:fld id="{C079ECF7-ACEC-4D9D-B802-CB3C7FFF6F3A}" type="datetime1">
              <a:rPr lang="fr-FR" smtClean="0"/>
              <a:t>07/12/2025</a:t>
            </a:fld>
            <a:endParaRPr lang="fr-FR"/>
          </a:p>
        </p:txBody>
      </p:sp>
      <p:sp>
        <p:nvSpPr>
          <p:cNvPr id="1048929" name="Espace réservé du pied de page 4"/>
          <p:cNvSpPr>
            <a:spLocks noGrp="1"/>
          </p:cNvSpPr>
          <p:nvPr>
            <p:ph type="ftr" sz="quarter" idx="11"/>
          </p:nvPr>
        </p:nvSpPr>
        <p:spPr/>
        <p:txBody>
          <a:bodyPr/>
          <a:lstStyle/>
          <a:p>
            <a:r>
              <a:rPr lang="en-US" smtClean="0"/>
              <a:t>VALIDATION DONNEES IPVS PHASE 2 DPS KASAI</a:t>
            </a:r>
            <a:endParaRPr lang="fr-FR"/>
          </a:p>
        </p:txBody>
      </p:sp>
      <p:sp>
        <p:nvSpPr>
          <p:cNvPr id="1048930"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13747155"/>
      </p:ext>
    </p:extLst>
  </p:cSld>
  <p:clrMapOvr>
    <a:masterClrMapping/>
  </p:clrMapOvr>
  <p:transition spd="slow">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603" name="Titre 1"/>
          <p:cNvSpPr>
            <a:spLocks noGrp="1"/>
          </p:cNvSpPr>
          <p:nvPr>
            <p:ph type="title"/>
          </p:nvPr>
        </p:nvSpPr>
        <p:spPr/>
        <p:txBody>
          <a:bodyPr/>
          <a:lstStyle/>
          <a:p>
            <a:r>
              <a:rPr lang="fr-FR"/>
              <a:t>Modifiez le style du titre</a:t>
            </a:r>
          </a:p>
        </p:txBody>
      </p:sp>
      <p:sp>
        <p:nvSpPr>
          <p:cNvPr id="1048604"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05"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606" name="Espace réservé de la date 4"/>
          <p:cNvSpPr>
            <a:spLocks noGrp="1"/>
          </p:cNvSpPr>
          <p:nvPr>
            <p:ph type="dt" sz="half" idx="10"/>
          </p:nvPr>
        </p:nvSpPr>
        <p:spPr/>
        <p:txBody>
          <a:bodyPr/>
          <a:lstStyle/>
          <a:p>
            <a:fld id="{328A1266-81AC-482E-9478-6527AF94F607}" type="datetime1">
              <a:rPr lang="fr-FR" smtClean="0"/>
              <a:t>07/12/2025</a:t>
            </a:fld>
            <a:endParaRPr lang="fr-FR"/>
          </a:p>
        </p:txBody>
      </p:sp>
      <p:sp>
        <p:nvSpPr>
          <p:cNvPr id="1048607" name="Espace réservé du pied de page 5"/>
          <p:cNvSpPr>
            <a:spLocks noGrp="1"/>
          </p:cNvSpPr>
          <p:nvPr>
            <p:ph type="ftr" sz="quarter" idx="11"/>
          </p:nvPr>
        </p:nvSpPr>
        <p:spPr/>
        <p:txBody>
          <a:bodyPr/>
          <a:lstStyle/>
          <a:p>
            <a:r>
              <a:rPr lang="en-US" smtClean="0"/>
              <a:t>VALIDATION DONNEES IPVS PHASE 2 DPS KASAI</a:t>
            </a:r>
            <a:endParaRPr lang="fr-FR"/>
          </a:p>
        </p:txBody>
      </p:sp>
      <p:sp>
        <p:nvSpPr>
          <p:cNvPr id="1048608"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253031534"/>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698" name="Titre 1"/>
          <p:cNvSpPr>
            <a:spLocks noGrp="1"/>
          </p:cNvSpPr>
          <p:nvPr>
            <p:ph type="title"/>
          </p:nvPr>
        </p:nvSpPr>
        <p:spPr>
          <a:xfrm>
            <a:off x="839788" y="365125"/>
            <a:ext cx="10515600" cy="1325563"/>
          </a:xfrm>
        </p:spPr>
        <p:txBody>
          <a:bodyPr/>
          <a:lstStyle/>
          <a:p>
            <a:r>
              <a:rPr lang="fr-FR"/>
              <a:t>Modifiez le style du titre</a:t>
            </a:r>
          </a:p>
        </p:txBody>
      </p:sp>
      <p:sp>
        <p:nvSpPr>
          <p:cNvPr id="1048699"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0"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1"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48702"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703" name="Espace réservé de la date 6"/>
          <p:cNvSpPr>
            <a:spLocks noGrp="1"/>
          </p:cNvSpPr>
          <p:nvPr>
            <p:ph type="dt" sz="half" idx="10"/>
          </p:nvPr>
        </p:nvSpPr>
        <p:spPr/>
        <p:txBody>
          <a:bodyPr/>
          <a:lstStyle/>
          <a:p>
            <a:fld id="{3A22E3E1-E0EE-4BF1-AA49-D7E2C6097977}" type="datetime1">
              <a:rPr lang="fr-FR" smtClean="0"/>
              <a:t>07/12/2025</a:t>
            </a:fld>
            <a:endParaRPr lang="fr-FR"/>
          </a:p>
        </p:txBody>
      </p:sp>
      <p:sp>
        <p:nvSpPr>
          <p:cNvPr id="1048704" name="Espace réservé du pied de page 7"/>
          <p:cNvSpPr>
            <a:spLocks noGrp="1"/>
          </p:cNvSpPr>
          <p:nvPr>
            <p:ph type="ftr" sz="quarter" idx="11"/>
          </p:nvPr>
        </p:nvSpPr>
        <p:spPr/>
        <p:txBody>
          <a:bodyPr/>
          <a:lstStyle/>
          <a:p>
            <a:r>
              <a:rPr lang="en-US" smtClean="0"/>
              <a:t>VALIDATION DONNEES IPVS PHASE 2 DPS KASAI</a:t>
            </a:r>
            <a:endParaRPr lang="fr-FR"/>
          </a:p>
        </p:txBody>
      </p:sp>
      <p:sp>
        <p:nvSpPr>
          <p:cNvPr id="1048705" name="Espace réservé du numéro de diapositive 8"/>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1094648663"/>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810" name="Titre 1"/>
          <p:cNvSpPr>
            <a:spLocks noGrp="1"/>
          </p:cNvSpPr>
          <p:nvPr>
            <p:ph type="title"/>
          </p:nvPr>
        </p:nvSpPr>
        <p:spPr/>
        <p:txBody>
          <a:bodyPr/>
          <a:lstStyle/>
          <a:p>
            <a:r>
              <a:rPr lang="fr-FR"/>
              <a:t>Modifiez le style du titre</a:t>
            </a:r>
          </a:p>
        </p:txBody>
      </p:sp>
      <p:sp>
        <p:nvSpPr>
          <p:cNvPr id="1048811" name="Espace réservé de la date 2"/>
          <p:cNvSpPr>
            <a:spLocks noGrp="1"/>
          </p:cNvSpPr>
          <p:nvPr>
            <p:ph type="dt" sz="half" idx="10"/>
          </p:nvPr>
        </p:nvSpPr>
        <p:spPr/>
        <p:txBody>
          <a:bodyPr/>
          <a:lstStyle/>
          <a:p>
            <a:fld id="{CBF2CB90-F2E0-4982-B957-6F9175484337}" type="datetime1">
              <a:rPr lang="fr-FR" smtClean="0"/>
              <a:t>07/12/2025</a:t>
            </a:fld>
            <a:endParaRPr lang="fr-FR"/>
          </a:p>
        </p:txBody>
      </p:sp>
      <p:sp>
        <p:nvSpPr>
          <p:cNvPr id="1048812" name="Espace réservé du pied de page 3"/>
          <p:cNvSpPr>
            <a:spLocks noGrp="1"/>
          </p:cNvSpPr>
          <p:nvPr>
            <p:ph type="ftr" sz="quarter" idx="11"/>
          </p:nvPr>
        </p:nvSpPr>
        <p:spPr/>
        <p:txBody>
          <a:bodyPr/>
          <a:lstStyle/>
          <a:p>
            <a:r>
              <a:rPr lang="en-US" smtClean="0"/>
              <a:t>VALIDATION DONNEES IPVS PHASE 2 DPS KASAI</a:t>
            </a:r>
            <a:endParaRPr lang="fr-FR"/>
          </a:p>
        </p:txBody>
      </p:sp>
      <p:sp>
        <p:nvSpPr>
          <p:cNvPr id="1048813" name="Espace réservé du numéro de diapositive 4"/>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50667212"/>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677" name="Espace réservé de la date 1"/>
          <p:cNvSpPr>
            <a:spLocks noGrp="1"/>
          </p:cNvSpPr>
          <p:nvPr>
            <p:ph type="dt" sz="half" idx="10"/>
          </p:nvPr>
        </p:nvSpPr>
        <p:spPr/>
        <p:txBody>
          <a:bodyPr/>
          <a:lstStyle/>
          <a:p>
            <a:fld id="{186A6090-186D-47E2-BC86-9A9D127989CF}" type="datetime1">
              <a:rPr lang="fr-FR" smtClean="0"/>
              <a:t>07/12/2025</a:t>
            </a:fld>
            <a:endParaRPr lang="fr-FR"/>
          </a:p>
        </p:txBody>
      </p:sp>
      <p:sp>
        <p:nvSpPr>
          <p:cNvPr id="1048678" name="Espace réservé du pied de page 2"/>
          <p:cNvSpPr>
            <a:spLocks noGrp="1"/>
          </p:cNvSpPr>
          <p:nvPr>
            <p:ph type="ftr" sz="quarter" idx="11"/>
          </p:nvPr>
        </p:nvSpPr>
        <p:spPr/>
        <p:txBody>
          <a:bodyPr/>
          <a:lstStyle/>
          <a:p>
            <a:r>
              <a:rPr lang="en-US" smtClean="0"/>
              <a:t>VALIDATION DONNEES IPVS PHASE 2 DPS KASAI</a:t>
            </a:r>
            <a:endParaRPr lang="fr-FR"/>
          </a:p>
        </p:txBody>
      </p:sp>
      <p:sp>
        <p:nvSpPr>
          <p:cNvPr id="1048679" name="Espace réservé du numéro de diapositive 3"/>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371347877"/>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936"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1048937"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38"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939" name="Espace réservé de la date 4"/>
          <p:cNvSpPr>
            <a:spLocks noGrp="1"/>
          </p:cNvSpPr>
          <p:nvPr>
            <p:ph type="dt" sz="half" idx="10"/>
          </p:nvPr>
        </p:nvSpPr>
        <p:spPr/>
        <p:txBody>
          <a:bodyPr/>
          <a:lstStyle/>
          <a:p>
            <a:fld id="{C719DAF9-0A2C-4599-9CCF-EB72AEC26F8E}" type="datetime1">
              <a:rPr lang="fr-FR" smtClean="0"/>
              <a:t>07/12/2025</a:t>
            </a:fld>
            <a:endParaRPr lang="fr-FR"/>
          </a:p>
        </p:txBody>
      </p:sp>
      <p:sp>
        <p:nvSpPr>
          <p:cNvPr id="1048940" name="Espace réservé du pied de page 5"/>
          <p:cNvSpPr>
            <a:spLocks noGrp="1"/>
          </p:cNvSpPr>
          <p:nvPr>
            <p:ph type="ftr" sz="quarter" idx="11"/>
          </p:nvPr>
        </p:nvSpPr>
        <p:spPr/>
        <p:txBody>
          <a:bodyPr/>
          <a:lstStyle/>
          <a:p>
            <a:r>
              <a:rPr lang="en-US" smtClean="0"/>
              <a:t>VALIDATION DONNEES IPVS PHASE 2 DPS KASAI</a:t>
            </a:r>
            <a:endParaRPr lang="fr-FR"/>
          </a:p>
        </p:txBody>
      </p:sp>
      <p:sp>
        <p:nvSpPr>
          <p:cNvPr id="1048941"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2991723269"/>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920"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1048921"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1048922"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1048923" name="Espace réservé de la date 4"/>
          <p:cNvSpPr>
            <a:spLocks noGrp="1"/>
          </p:cNvSpPr>
          <p:nvPr>
            <p:ph type="dt" sz="half" idx="10"/>
          </p:nvPr>
        </p:nvSpPr>
        <p:spPr/>
        <p:txBody>
          <a:bodyPr/>
          <a:lstStyle/>
          <a:p>
            <a:fld id="{C63C8038-1D05-4FF9-8468-7A8A3658641E}" type="datetime1">
              <a:rPr lang="fr-FR" smtClean="0"/>
              <a:t>07/12/2025</a:t>
            </a:fld>
            <a:endParaRPr lang="fr-FR"/>
          </a:p>
        </p:txBody>
      </p:sp>
      <p:sp>
        <p:nvSpPr>
          <p:cNvPr id="1048924" name="Espace réservé du pied de page 5"/>
          <p:cNvSpPr>
            <a:spLocks noGrp="1"/>
          </p:cNvSpPr>
          <p:nvPr>
            <p:ph type="ftr" sz="quarter" idx="11"/>
          </p:nvPr>
        </p:nvSpPr>
        <p:spPr/>
        <p:txBody>
          <a:bodyPr/>
          <a:lstStyle/>
          <a:p>
            <a:r>
              <a:rPr lang="en-US" smtClean="0"/>
              <a:t>VALIDATION DONNEES IPVS PHASE 2 DPS KASAI</a:t>
            </a:r>
            <a:endParaRPr lang="fr-FR"/>
          </a:p>
        </p:txBody>
      </p:sp>
      <p:sp>
        <p:nvSpPr>
          <p:cNvPr id="1048925" name="Espace réservé du numéro de diapositive 6"/>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2664856084"/>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931" name="Titre 1"/>
          <p:cNvSpPr>
            <a:spLocks noGrp="1"/>
          </p:cNvSpPr>
          <p:nvPr>
            <p:ph type="title"/>
          </p:nvPr>
        </p:nvSpPr>
        <p:spPr/>
        <p:txBody>
          <a:bodyPr/>
          <a:lstStyle/>
          <a:p>
            <a:r>
              <a:rPr lang="fr-FR"/>
              <a:t>Modifiez le style du titre</a:t>
            </a:r>
          </a:p>
        </p:txBody>
      </p:sp>
      <p:sp>
        <p:nvSpPr>
          <p:cNvPr id="1048932"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33" name="Espace réservé de la date 3"/>
          <p:cNvSpPr>
            <a:spLocks noGrp="1"/>
          </p:cNvSpPr>
          <p:nvPr>
            <p:ph type="dt" sz="half" idx="10"/>
          </p:nvPr>
        </p:nvSpPr>
        <p:spPr/>
        <p:txBody>
          <a:bodyPr/>
          <a:lstStyle/>
          <a:p>
            <a:fld id="{B4544A7F-3715-4FDA-A82A-154D4A85F0EF}" type="datetime1">
              <a:rPr lang="fr-FR" smtClean="0"/>
              <a:t>07/12/2025</a:t>
            </a:fld>
            <a:endParaRPr lang="fr-FR"/>
          </a:p>
        </p:txBody>
      </p:sp>
      <p:sp>
        <p:nvSpPr>
          <p:cNvPr id="1048934" name="Espace réservé du pied de page 4"/>
          <p:cNvSpPr>
            <a:spLocks noGrp="1"/>
          </p:cNvSpPr>
          <p:nvPr>
            <p:ph type="ftr" sz="quarter" idx="11"/>
          </p:nvPr>
        </p:nvSpPr>
        <p:spPr/>
        <p:txBody>
          <a:bodyPr/>
          <a:lstStyle/>
          <a:p>
            <a:r>
              <a:rPr lang="en-US" smtClean="0"/>
              <a:t>VALIDATION DONNEES IPVS PHASE 2 DPS KASAI</a:t>
            </a:r>
            <a:endParaRPr lang="fr-FR"/>
          </a:p>
        </p:txBody>
      </p:sp>
      <p:sp>
        <p:nvSpPr>
          <p:cNvPr id="1048935"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809929976"/>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915"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1048916"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17" name="Espace réservé de la date 3"/>
          <p:cNvSpPr>
            <a:spLocks noGrp="1"/>
          </p:cNvSpPr>
          <p:nvPr>
            <p:ph type="dt" sz="half" idx="10"/>
          </p:nvPr>
        </p:nvSpPr>
        <p:spPr/>
        <p:txBody>
          <a:bodyPr/>
          <a:lstStyle/>
          <a:p>
            <a:fld id="{1AD02DAE-991D-4352-B573-C19F9BE58B2A}" type="datetime1">
              <a:rPr lang="fr-FR" smtClean="0"/>
              <a:t>07/12/2025</a:t>
            </a:fld>
            <a:endParaRPr lang="fr-FR"/>
          </a:p>
        </p:txBody>
      </p:sp>
      <p:sp>
        <p:nvSpPr>
          <p:cNvPr id="1048918" name="Espace réservé du pied de page 4"/>
          <p:cNvSpPr>
            <a:spLocks noGrp="1"/>
          </p:cNvSpPr>
          <p:nvPr>
            <p:ph type="ftr" sz="quarter" idx="11"/>
          </p:nvPr>
        </p:nvSpPr>
        <p:spPr/>
        <p:txBody>
          <a:bodyPr/>
          <a:lstStyle/>
          <a:p>
            <a:r>
              <a:rPr lang="en-US" smtClean="0"/>
              <a:t>VALIDATION DONNEES IPVS PHASE 2 DPS KASAI</a:t>
            </a:r>
            <a:endParaRPr lang="fr-FR"/>
          </a:p>
        </p:txBody>
      </p:sp>
      <p:sp>
        <p:nvSpPr>
          <p:cNvPr id="1048919" name="Espace réservé du numéro de diapositive 5"/>
          <p:cNvSpPr>
            <a:spLocks noGrp="1"/>
          </p:cNvSpPr>
          <p:nvPr>
            <p:ph type="sldNum" sz="quarter" idx="12"/>
          </p:nvPr>
        </p:nvSpPr>
        <p:spPr/>
        <p:txBody>
          <a:bodyPr/>
          <a:lstStyle/>
          <a:p>
            <a:fld id="{E2E7D88A-0A00-4DD6-BEE2-4EF1457D8857}" type="slidenum">
              <a:rPr lang="fr-FR" smtClean="0"/>
              <a:t>‹N°›</a:t>
            </a:fld>
            <a:endParaRPr lang="fr-FR"/>
          </a:p>
        </p:txBody>
      </p:sp>
    </p:spTree>
    <p:extLst>
      <p:ext uri="{BB962C8B-B14F-4D97-AF65-F5344CB8AC3E}">
        <p14:creationId xmlns:p14="http://schemas.microsoft.com/office/powerpoint/2010/main" val="328218331"/>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Contenu">
    <p:spTree>
      <p:nvGrpSpPr>
        <p:cNvPr id="1" name=""/>
        <p:cNvGrpSpPr/>
        <p:nvPr/>
      </p:nvGrpSpPr>
      <p:grpSpPr>
        <a:xfrm>
          <a:off x="0" y="0"/>
          <a:ext cx="0" cy="0"/>
          <a:chOff x="0" y="0"/>
          <a:chExt cx="0" cy="0"/>
        </a:xfrm>
      </p:grpSpPr>
      <p:sp>
        <p:nvSpPr>
          <p:cNvPr id="1048907" name="Espace réservé du contenu 1"/>
          <p:cNvSpPr>
            <a:spLocks noGrp="1"/>
          </p:cNvSpPr>
          <p:nvPr>
            <p:ph/>
          </p:nvPr>
        </p:nvSpPr>
        <p:spPr>
          <a:xfrm>
            <a:off x="609600" y="274639"/>
            <a:ext cx="10972800" cy="58515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908" name="Rectangle 4"/>
          <p:cNvSpPr>
            <a:spLocks noGrp="1" noChangeArrowheads="1"/>
          </p:cNvSpPr>
          <p:nvPr>
            <p:ph type="dt" sz="half" idx="10"/>
          </p:nvPr>
        </p:nvSpPr>
        <p:spPr/>
        <p:txBody>
          <a:bodyPr/>
          <a:lstStyle/>
          <a:p>
            <a:fld id="{FA7F39E6-7FE9-4460-967D-747A791051AE}" type="datetime1">
              <a:rPr lang="fr-FR" smtClean="0"/>
              <a:t>07/12/2025</a:t>
            </a:fld>
            <a:endParaRPr lang="en-US"/>
          </a:p>
        </p:txBody>
      </p:sp>
      <p:sp>
        <p:nvSpPr>
          <p:cNvPr id="1048909" name="Rectangle 5"/>
          <p:cNvSpPr>
            <a:spLocks noGrp="1" noChangeArrowheads="1"/>
          </p:cNvSpPr>
          <p:nvPr>
            <p:ph type="ftr" sz="quarter" idx="11"/>
          </p:nvPr>
        </p:nvSpPr>
        <p:spPr/>
        <p:txBody>
          <a:bodyPr/>
          <a:lstStyle/>
          <a:p>
            <a:r>
              <a:rPr lang="en-US" smtClean="0"/>
              <a:t>VALIDATION DONNEES IPVS PHASE 2 DPS KASAI</a:t>
            </a:r>
            <a:endParaRPr lang="en-US"/>
          </a:p>
        </p:txBody>
      </p:sp>
      <p:sp>
        <p:nvSpPr>
          <p:cNvPr id="1048910" name="Rectangle 6"/>
          <p:cNvSpPr>
            <a:spLocks noGrp="1" noChangeArrowheads="1"/>
          </p:cNvSpPr>
          <p:nvPr>
            <p:ph type="sldNum" sz="quarter" idx="12"/>
          </p:nvPr>
        </p:nvSpPr>
        <p:spPr/>
        <p:txBody>
          <a:bodyPr/>
          <a:lstStyle/>
          <a:p>
            <a:fld id="{21C53F29-358E-4320-838C-749B091AF196}" type="slidenum">
              <a:rPr lang="en-US"/>
              <a:t>‹N°›</a:t>
            </a:fld>
            <a:endParaRPr lang="en-US"/>
          </a:p>
        </p:txBody>
      </p:sp>
    </p:spTree>
    <p:extLst>
      <p:ext uri="{BB962C8B-B14F-4D97-AF65-F5344CB8AC3E}">
        <p14:creationId xmlns:p14="http://schemas.microsoft.com/office/powerpoint/2010/main" val="866445058"/>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panose="00000500000000000000"/>
              <a:buNone/>
              <a:defRPr sz="4400" b="0" i="0" u="none" strike="noStrike" cap="none">
                <a:solidFill>
                  <a:schemeClr val="dk1"/>
                </a:solidFill>
                <a:latin typeface="Play" panose="00000500000000000000"/>
                <a:ea typeface="Play" panose="00000500000000000000"/>
                <a:cs typeface="Play" panose="00000500000000000000"/>
                <a:sym typeface="Play"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75757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g3aabc9d920d_0_26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0" name="Google Shape;90;g3aabc9d920d_0_268"/>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a:lnSpc>
                <a:spcPct val="115000"/>
              </a:lnSpc>
              <a:spcBef>
                <a:spcPts val="0"/>
              </a:spcBef>
              <a:spcAft>
                <a:spcPts val="0"/>
              </a:spcAft>
              <a:buClr>
                <a:schemeClr val="dk2"/>
              </a:buClr>
              <a:buSzPts val="24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49250" algn="l">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91" name="Google Shape;91;g3aabc9d920d_0_26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1048577"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48578"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F3BA96-854F-4071-97BB-E2FAFF8BB317}" type="datetime1">
              <a:rPr lang="fr-FR" smtClean="0"/>
              <a:t>07/12/2025</a:t>
            </a:fld>
            <a:endParaRPr lang="fr-FR"/>
          </a:p>
        </p:txBody>
      </p:sp>
      <p:sp>
        <p:nvSpPr>
          <p:cNvPr id="1048579"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VALIDATION DONNEES IPVS PHASE 2 DPS KASAI</a:t>
            </a:r>
            <a:endParaRPr lang="fr-FR"/>
          </a:p>
        </p:txBody>
      </p:sp>
      <p:sp>
        <p:nvSpPr>
          <p:cNvPr id="1048580"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7D88A-0A00-4DD6-BEE2-4EF1457D8857}" type="slidenum">
              <a:rPr lang="fr-FR" smtClean="0"/>
              <a:t>‹N°›</a:t>
            </a:fld>
            <a:endParaRPr lang="fr-FR"/>
          </a:p>
        </p:txBody>
      </p:sp>
    </p:spTree>
    <p:extLst>
      <p:ext uri="{BB962C8B-B14F-4D97-AF65-F5344CB8AC3E}">
        <p14:creationId xmlns:p14="http://schemas.microsoft.com/office/powerpoint/2010/main" val="328094521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spd="slow">
    <p:fade/>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c9d920d_0_191"/>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c9d920d_0_191"/>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t>
            </a:r>
            <a:r>
              <a:rPr lang="en-US" sz="4300" b="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annuelle</a:t>
            </a:r>
            <a:r>
              <a:rPr lang="en-US"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Province du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Kasaï</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ayant</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organisé</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des </a:t>
            </a:r>
            <a:r>
              <a:rPr lang="en-US" sz="2400"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activités</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d’approches</a:t>
            </a:r>
            <a:r>
              <a:rPr 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400"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innovantes</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FAE, IPVS</a:t>
            </a:r>
            <a:r>
              <a:rPr lang="" alt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r>
              <a:rPr 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 alt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et </a:t>
            </a:r>
            <a:r>
              <a:rPr lang="" altLang="en-US"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introduction </a:t>
            </a:r>
            <a:r>
              <a:rPr lang="" altLang="en-US" sz="2400"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du nouveau vaccin (RR,)</a:t>
            </a:r>
            <a:endParaRPr sz="2400"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endPar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3200"/>
              <a:buFont typeface="Arial" panose="020B0604020202020204"/>
              <a:buNone/>
            </a:pPr>
            <a:r>
              <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a:t>
            </a:r>
            <a:r>
              <a:rPr lang="en-US" sz="4300" b="1"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rovince</a:t>
            </a:r>
            <a:r>
              <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 altLang="en-US" sz="4300" b="1" i="1"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du KASAI</a:t>
            </a:r>
            <a:endParaRPr lang=""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g3aabc9d920d_0_191"/>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c9d920d_0_191"/>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c9d920d_0_191"/>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c9d920d_0_199"/>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c9d920d_0_19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c9d920d_0_19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c9d920d_0_19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c9d920d_0_199"/>
          <p:cNvSpPr txBox="1"/>
          <p:nvPr/>
        </p:nvSpPr>
        <p:spPr>
          <a:xfrm>
            <a:off x="566533" y="1550500"/>
            <a:ext cx="10714500" cy="4738200"/>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 de la Province</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Presentation des activités</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Résultats obtenus (zones couvertes, impact sur la couverture)</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Facteurs de succès</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Défis rencontrés</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Bonnes pratiques à capitaliser</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Analyse FFOM</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700">
                <a:solidFill>
                  <a:schemeClr val="dk1"/>
                </a:solidFill>
                <a:latin typeface="Times New Roman" panose="02020603050405020304"/>
                <a:ea typeface="Times New Roman" panose="02020603050405020304"/>
                <a:cs typeface="Times New Roman" panose="02020603050405020304"/>
                <a:sym typeface="Times New Roman" panose="02020603050405020304"/>
              </a:rPr>
              <a:t>Recommandations pour 2026</a:t>
            </a:r>
            <a:endParaRPr sz="27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aabc9d920d_0_20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Profil des antennes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g3aabc9d920d_0_20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g3aabc9d920d_0_20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Google Shape;168;g3aabc9d920d_0_20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69" name="Google Shape;169;g3aabc9d920d_0_20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70" name="Google Shape;170;g3aabc9d920d_0_207"/>
          <p:cNvSpPr/>
          <p:nvPr/>
        </p:nvSpPr>
        <p:spPr>
          <a:xfrm>
            <a:off x="458600" y="1323703"/>
            <a:ext cx="55752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r>
              <a:rPr lang="en-US" sz="2000">
                <a:latin typeface="Times New Roman" panose="02020603050405020304"/>
                <a:ea typeface="Times New Roman" panose="02020603050405020304"/>
                <a:cs typeface="Times New Roman" panose="02020603050405020304"/>
                <a:sym typeface="Times New Roman" panose="02020603050405020304"/>
              </a:rPr>
              <a:t>Cartographie de la province avec les antennes</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71" name="Google Shape;171;g3aabc9d920d_0_207"/>
          <p:cNvSpPr/>
          <p:nvPr/>
        </p:nvSpPr>
        <p:spPr>
          <a:xfrm>
            <a:off x="6158290" y="1323703"/>
            <a:ext cx="55752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Tableau avec les </a:t>
            </a:r>
            <a:r>
              <a:rPr lang="en-US" sz="20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éléments</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0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suivants</a:t>
            </a:r>
            <a:r>
              <a:rPr lang="en-US"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Nombre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d’antennes</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PEV: 2</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Nombre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de ZS: Total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(18), </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(11)</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Nombre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d’AS</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Total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(500), </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(253)</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Nombre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d’ESS:839</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Nombre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d’ESS</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qui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vaccinent</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Total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(714), </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FAE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(351)</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Pop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totale</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6254 384 Habitant</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Pop de 0-11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mois</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250175</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Pop de 12-23 </a:t>
            </a: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mois</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237 666</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Pop de 0-59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mois:218278</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Couverture</a:t>
            </a:r>
            <a:r>
              <a:rPr 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en ECF</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67%</a:t>
            </a:r>
            <a:endParaRPr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Séances de vaccination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planifiées</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fixe (13760),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avancée</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(5857),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porte</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à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porte</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2277), point de concentration 2277), OVM (0)</a:t>
            </a:r>
            <a:endParaRPr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Existence du plan de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contextualisation</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FAE DPS: 1</a:t>
            </a:r>
            <a:endParaRPr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l" rtl="0">
              <a:spcBef>
                <a:spcPts val="0"/>
              </a:spcBef>
              <a:spcAft>
                <a:spcPts val="0"/>
              </a:spcAft>
              <a:buClr>
                <a:schemeClr val="dk1"/>
              </a:buClr>
              <a:buSzPts val="1500"/>
              <a:buFont typeface="Times New Roman" panose="02020603050405020304"/>
              <a:buChar char="●"/>
            </a:pP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des ZS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ayant</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intégré</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les </a:t>
            </a:r>
            <a:r>
              <a:rPr lang="en-US" sz="1500" dirty="0" err="1"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activités</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FAE dans le PAO : </a:t>
            </a:r>
            <a:r>
              <a:rPr lang="en-US"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rPr>
              <a:t>	61,1%</a:t>
            </a:r>
            <a:endParaRPr sz="15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Clr>
                <a:schemeClr val="dk1"/>
              </a:buClr>
              <a:buSzPts val="1100"/>
              <a:buFont typeface="Arial" panose="020B0604020202020204"/>
              <a:buNone/>
            </a:pPr>
            <a:endParaRPr sz="2000" dirty="0" smtClean="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12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9" name="Espace réservé du contenu 7" descr="E:\DPS  KASAI IDS 2015.jpg"/>
          <p:cNvPicPr>
            <a:picLocks/>
          </p:cNvPicPr>
          <p:nvPr/>
        </p:nvPicPr>
        <p:blipFill>
          <a:blip r:embed="rId3" cstate="print"/>
          <a:srcRect/>
          <a:stretch>
            <a:fillRect/>
          </a:stretch>
        </p:blipFill>
        <p:spPr bwMode="auto">
          <a:xfrm>
            <a:off x="643574" y="1355480"/>
            <a:ext cx="5651348" cy="47724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c9d920d_0_22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Presentation des activités</a:t>
            </a: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c9d920d_0_22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c9d920d_0_22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c9d920d_0_22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c9d920d_0_226"/>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8" name="Google Shape;181;g3aabc9d920d_0_226"/>
          <p:cNvGraphicFramePr/>
          <p:nvPr>
            <p:extLst>
              <p:ext uri="{D42A27DB-BD31-4B8C-83A1-F6EECF244321}">
                <p14:modId xmlns:p14="http://schemas.microsoft.com/office/powerpoint/2010/main" val="1479774361"/>
              </p:ext>
            </p:extLst>
          </p:nvPr>
        </p:nvGraphicFramePr>
        <p:xfrm>
          <a:off x="458600" y="1189100"/>
          <a:ext cx="11274900" cy="5058895"/>
        </p:xfrm>
        <a:graphic>
          <a:graphicData uri="http://schemas.openxmlformats.org/drawingml/2006/table">
            <a:tbl>
              <a:tblPr>
                <a:noFill/>
                <a:tableStyleId>{26042B85-2813-40D6-8C08-B53CA4025A34}</a:tableStyleId>
              </a:tblPr>
              <a:tblGrid>
                <a:gridCol w="1659911">
                  <a:extLst>
                    <a:ext uri="{9D8B030D-6E8A-4147-A177-3AD203B41FA5}">
                      <a16:colId xmlns:a16="http://schemas.microsoft.com/office/drawing/2014/main" val="20000"/>
                    </a:ext>
                  </a:extLst>
                </a:gridCol>
                <a:gridCol w="6382693">
                  <a:extLst>
                    <a:ext uri="{9D8B030D-6E8A-4147-A177-3AD203B41FA5}">
                      <a16:colId xmlns:a16="http://schemas.microsoft.com/office/drawing/2014/main" val="20001"/>
                    </a:ext>
                  </a:extLst>
                </a:gridCol>
                <a:gridCol w="1629624">
                  <a:extLst>
                    <a:ext uri="{9D8B030D-6E8A-4147-A177-3AD203B41FA5}">
                      <a16:colId xmlns:a16="http://schemas.microsoft.com/office/drawing/2014/main" val="20002"/>
                    </a:ext>
                  </a:extLst>
                </a:gridCol>
                <a:gridCol w="1602672">
                  <a:extLst>
                    <a:ext uri="{9D8B030D-6E8A-4147-A177-3AD203B41FA5}">
                      <a16:colId xmlns:a16="http://schemas.microsoft.com/office/drawing/2014/main" val="20003"/>
                    </a:ext>
                  </a:extLst>
                </a:gridCol>
              </a:tblGrid>
              <a:tr h="411500">
                <a:tc>
                  <a:txBody>
                    <a:bodyPr/>
                    <a:lstStyle/>
                    <a:p>
                      <a:pPr marL="0" lvl="0" indent="0" algn="ctr" rtl="0">
                        <a:spcBef>
                          <a:spcPts val="0"/>
                        </a:spcBef>
                        <a:spcAft>
                          <a:spcPts val="0"/>
                        </a:spcAft>
                        <a:buNone/>
                      </a:pPr>
                      <a:r>
                        <a:rPr lang="en-US" sz="1500" b="1" dirty="0" err="1">
                          <a:latin typeface="Times New Roman" panose="02020603050405020304"/>
                          <a:ea typeface="Times New Roman" panose="02020603050405020304"/>
                          <a:cs typeface="Times New Roman" panose="02020603050405020304"/>
                          <a:sym typeface="Times New Roman" panose="02020603050405020304"/>
                        </a:rPr>
                        <a:t>Activités</a:t>
                      </a:r>
                      <a:r>
                        <a:rPr lang="en-US" sz="1500" b="1" dirty="0">
                          <a:latin typeface="Times New Roman" panose="02020603050405020304"/>
                          <a:ea typeface="Times New Roman" panose="02020603050405020304"/>
                          <a:cs typeface="Times New Roman" panose="02020603050405020304"/>
                          <a:sym typeface="Times New Roman" panose="02020603050405020304"/>
                        </a:rPr>
                        <a:t> </a:t>
                      </a:r>
                      <a:r>
                        <a:rPr lang="en-US" sz="1500" b="1" dirty="0" err="1">
                          <a:latin typeface="Times New Roman" panose="02020603050405020304"/>
                          <a:ea typeface="Times New Roman" panose="02020603050405020304"/>
                          <a:cs typeface="Times New Roman" panose="02020603050405020304"/>
                          <a:sym typeface="Times New Roman" panose="02020603050405020304"/>
                        </a:rPr>
                        <a:t>spécifiques</a:t>
                      </a:r>
                      <a:r>
                        <a:rPr lang="en-US" sz="1500" b="1" dirty="0">
                          <a:latin typeface="Times New Roman" panose="02020603050405020304"/>
                          <a:ea typeface="Times New Roman" panose="02020603050405020304"/>
                          <a:cs typeface="Times New Roman" panose="02020603050405020304"/>
                          <a:sym typeface="Times New Roman" panose="02020603050405020304"/>
                        </a:rPr>
                        <a:t> </a:t>
                      </a:r>
                      <a:r>
                        <a:rPr lang="en-US" sz="1500" b="1" dirty="0" err="1">
                          <a:latin typeface="Times New Roman" panose="02020603050405020304"/>
                          <a:ea typeface="Times New Roman" panose="02020603050405020304"/>
                          <a:cs typeface="Times New Roman" panose="02020603050405020304"/>
                          <a:sym typeface="Times New Roman" panose="02020603050405020304"/>
                        </a:rPr>
                        <a:t>ou</a:t>
                      </a:r>
                      <a:r>
                        <a:rPr lang="en-US" sz="1500" b="1" dirty="0">
                          <a:latin typeface="Times New Roman" panose="02020603050405020304"/>
                          <a:ea typeface="Times New Roman" panose="02020603050405020304"/>
                          <a:cs typeface="Times New Roman" panose="02020603050405020304"/>
                          <a:sym typeface="Times New Roman" panose="02020603050405020304"/>
                        </a:rPr>
                        <a:t> </a:t>
                      </a:r>
                      <a:r>
                        <a:rPr lang="en-US" sz="1500" b="1" dirty="0" err="1">
                          <a:latin typeface="Times New Roman" panose="02020603050405020304"/>
                          <a:ea typeface="Times New Roman" panose="02020603050405020304"/>
                          <a:cs typeface="Times New Roman" panose="02020603050405020304"/>
                          <a:sym typeface="Times New Roman" panose="02020603050405020304"/>
                        </a:rPr>
                        <a:t>approches</a:t>
                      </a:r>
                      <a:r>
                        <a:rPr lang="en-US" sz="1500" b="1" dirty="0">
                          <a:latin typeface="Times New Roman" panose="02020603050405020304"/>
                          <a:ea typeface="Times New Roman" panose="02020603050405020304"/>
                          <a:cs typeface="Times New Roman" panose="02020603050405020304"/>
                          <a:sym typeface="Times New Roman" panose="02020603050405020304"/>
                        </a:rPr>
                        <a:t> </a:t>
                      </a:r>
                      <a:r>
                        <a:rPr lang="en-US" sz="1500" b="1" dirty="0" err="1">
                          <a:latin typeface="Times New Roman" panose="02020603050405020304"/>
                          <a:ea typeface="Times New Roman" panose="02020603050405020304"/>
                          <a:cs typeface="Times New Roman" panose="02020603050405020304"/>
                          <a:sym typeface="Times New Roman" panose="02020603050405020304"/>
                        </a:rPr>
                        <a:t>spéciale</a:t>
                      </a:r>
                      <a:r>
                        <a:rPr lang="" altLang="en-US" sz="1500" b="1" dirty="0">
                          <a:latin typeface="Times New Roman" panose="02020603050405020304"/>
                          <a:ea typeface="Times New Roman" panose="02020603050405020304"/>
                          <a:cs typeface="Times New Roman" panose="02020603050405020304"/>
                          <a:sym typeface="Times New Roman" panose="02020603050405020304"/>
                        </a:rPr>
                        <a:t>s</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500" b="1">
                          <a:latin typeface="Times New Roman" panose="02020603050405020304"/>
                          <a:ea typeface="Times New Roman" panose="02020603050405020304"/>
                          <a:cs typeface="Times New Roman" panose="02020603050405020304"/>
                          <a:sym typeface="Times New Roman" panose="02020603050405020304"/>
                        </a:rPr>
                        <a:t>Description</a:t>
                      </a:r>
                      <a:endParaRPr sz="15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500" b="1" dirty="0" err="1">
                          <a:latin typeface="Times New Roman" panose="02020603050405020304"/>
                          <a:ea typeface="Times New Roman" panose="02020603050405020304"/>
                          <a:cs typeface="Times New Roman" panose="02020603050405020304"/>
                          <a:sym typeface="Times New Roman" panose="02020603050405020304"/>
                        </a:rPr>
                        <a:t>Objectifs</a:t>
                      </a:r>
                      <a:endParaRPr sz="1500" b="1"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500" b="1">
                          <a:latin typeface="Times New Roman" panose="02020603050405020304"/>
                          <a:ea typeface="Times New Roman" panose="02020603050405020304"/>
                          <a:cs typeface="Times New Roman" panose="02020603050405020304"/>
                          <a:sym typeface="Times New Roman" panose="02020603050405020304"/>
                        </a:rPr>
                        <a:t>Perimetre d’intervention</a:t>
                      </a:r>
                      <a:endParaRPr sz="15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nchor="ctr">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Porte à </a:t>
                      </a:r>
                      <a:r>
                        <a:rPr lang="en-US" dirty="0" err="1">
                          <a:latin typeface="Times New Roman" panose="02020603050405020304"/>
                          <a:ea typeface="Times New Roman" panose="02020603050405020304"/>
                          <a:cs typeface="Times New Roman" panose="02020603050405020304"/>
                          <a:sym typeface="Times New Roman" panose="02020603050405020304"/>
                        </a:rPr>
                        <a:t>porte</a:t>
                      </a: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smtClean="0">
                          <a:effectLst/>
                        </a:rPr>
                        <a:t>Nous nous sommes fixé l'heure   de la vaccination porte à porte  en fonction de disponibilité des mamans soit gardien des enfants dans leurs maisons tout en respectant les principes de conservation des vaccins </a:t>
                      </a:r>
                      <a:endParaRPr lang="fr-FR"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Point de concentration</a:t>
                      </a: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algn="just">
                        <a:lnSpc>
                          <a:spcPct val="107000"/>
                        </a:lnSpc>
                        <a:spcAft>
                          <a:spcPts val="0"/>
                        </a:spcAft>
                        <a:tabLst>
                          <a:tab pos="845820" algn="l"/>
                        </a:tabLst>
                      </a:pPr>
                      <a:r>
                        <a:rPr lang="fr-FR" sz="1400" dirty="0" smtClean="0">
                          <a:effectLst/>
                        </a:rPr>
                        <a:t>Nous avons un calendrier de la vaccination  au points de concentration en fonction des jours du marchés , au ports , et gars …</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algn="just">
                        <a:lnSpc>
                          <a:spcPct val="107000"/>
                        </a:lnSpc>
                        <a:spcAft>
                          <a:spcPts val="0"/>
                        </a:spcAft>
                        <a:tabLst>
                          <a:tab pos="845820" algn="l"/>
                        </a:tabLst>
                      </a:pPr>
                      <a:r>
                        <a:rPr lang="fr-BE" sz="1400" dirty="0" smtClean="0">
                          <a:effectLst/>
                        </a:rPr>
                        <a:t>Avancée/cartographie des ZS</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dirty="0" smtClean="0">
                          <a:effectLst/>
                        </a:rPr>
                        <a:t>Nous avons actualisé la  cartographie des ZS et AS  en fonction des enfants ZD identifié par les CAC  et </a:t>
                      </a:r>
                      <a:r>
                        <a:rPr lang="fr-FR" sz="1400" dirty="0" smtClean="0">
                          <a:effectLst/>
                        </a:rPr>
                        <a:t>disponibilité </a:t>
                      </a:r>
                      <a:r>
                        <a:rPr lang="fr-FR" sz="1400" dirty="0" smtClean="0">
                          <a:effectLst/>
                        </a:rPr>
                        <a:t>les vaccins et enfin se </a:t>
                      </a:r>
                      <a:r>
                        <a:rPr lang="fr-FR" sz="1400" dirty="0" smtClean="0">
                          <a:effectLst/>
                        </a:rPr>
                        <a:t>déplacer </a:t>
                      </a:r>
                      <a:r>
                        <a:rPr lang="fr-FR" sz="1400" dirty="0" smtClean="0">
                          <a:effectLst/>
                        </a:rPr>
                        <a:t>vers le lieu de vaccination pour </a:t>
                      </a:r>
                      <a:r>
                        <a:rPr lang="fr-FR" sz="1400" dirty="0" smtClean="0">
                          <a:effectLst/>
                        </a:rPr>
                        <a:t>récupérer </a:t>
                      </a:r>
                      <a:r>
                        <a:rPr lang="fr-FR" sz="1400" dirty="0" smtClean="0">
                          <a:effectLst/>
                        </a:rPr>
                        <a:t>les enfants ZD et SV .</a:t>
                      </a:r>
                      <a:endParaRPr lang="fr-FR"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Horaire adapté</a:t>
                      </a: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b="0" i="0" u="none" strike="noStrike" kern="1200" cap="none" dirty="0" smtClean="0">
                          <a:solidFill>
                            <a:schemeClr val="dk1"/>
                          </a:solidFill>
                          <a:effectLst/>
                          <a:latin typeface="Arial" panose="020B0604020202020204"/>
                          <a:ea typeface="Arial" panose="020B0604020202020204"/>
                          <a:cs typeface="Arial" panose="020B0604020202020204"/>
                          <a:sym typeface="Arial" panose="020B0604020202020204"/>
                        </a:rPr>
                        <a:t>Nous avons planifié les séances de vaccination en harmonisant  l'horaire de séance  en fonction de disponibilité des mamans soit gardien des enfants en précisant le lieu ou site de vaccination et les six contacts que l'enfant doit se présenté au service de vaccination</a:t>
                      </a:r>
                    </a:p>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aabc9d920d_0_234"/>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 obtenus: couverture </a:t>
            </a:r>
            <a:r>
              <a:rPr lang=""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vaccinale de 2024 à Octobre 2025</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g3aabc9d920d_0_234"/>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g3aabc9d920d_0_234"/>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9" name="Google Shape;239;g3aabc9d920d_0_234"/>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0" name="Google Shape;240;g3aabc9d920d_0_234"/>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642" y="967168"/>
            <a:ext cx="11144816" cy="5237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aabc9d920d_0_3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obtenus</a:t>
            </a:r>
            <a:r>
              <a:rPr lang="en-US"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FAE 2024-2025</a:t>
            </a: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7" name="Google Shape;187;g3aabc9d920d_0_3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8" name="Google Shape;188;g3aabc9d920d_0_3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Google Shape;189;g3aabc9d920d_0_3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90" name="Google Shape;190;g3aabc9d920d_0_3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91" name="Google Shape;191;g3aabc9d920d_0_390"/>
          <p:cNvGraphicFramePr/>
          <p:nvPr>
            <p:extLst>
              <p:ext uri="{D42A27DB-BD31-4B8C-83A1-F6EECF244321}">
                <p14:modId xmlns:p14="http://schemas.microsoft.com/office/powerpoint/2010/main" val="1480391208"/>
              </p:ext>
            </p:extLst>
          </p:nvPr>
        </p:nvGraphicFramePr>
        <p:xfrm>
          <a:off x="458600" y="1189099"/>
          <a:ext cx="11275000" cy="5052332"/>
        </p:xfrm>
        <a:graphic>
          <a:graphicData uri="http://schemas.openxmlformats.org/drawingml/2006/table">
            <a:tbl>
              <a:tblPr>
                <a:noFill/>
                <a:tableStyleId>{26042B85-2813-40D6-8C08-B53CA4025A34}</a:tableStyleId>
              </a:tblPr>
              <a:tblGrid>
                <a:gridCol w="2005467">
                  <a:extLst>
                    <a:ext uri="{9D8B030D-6E8A-4147-A177-3AD203B41FA5}">
                      <a16:colId xmlns:a16="http://schemas.microsoft.com/office/drawing/2014/main" val="20000"/>
                    </a:ext>
                  </a:extLst>
                </a:gridCol>
                <a:gridCol w="813283">
                  <a:extLst>
                    <a:ext uri="{9D8B030D-6E8A-4147-A177-3AD203B41FA5}">
                      <a16:colId xmlns:a16="http://schemas.microsoft.com/office/drawing/2014/main" val="20001"/>
                    </a:ext>
                  </a:extLst>
                </a:gridCol>
                <a:gridCol w="1409375">
                  <a:extLst>
                    <a:ext uri="{9D8B030D-6E8A-4147-A177-3AD203B41FA5}">
                      <a16:colId xmlns:a16="http://schemas.microsoft.com/office/drawing/2014/main" val="20002"/>
                    </a:ext>
                  </a:extLst>
                </a:gridCol>
                <a:gridCol w="1409375">
                  <a:extLst>
                    <a:ext uri="{9D8B030D-6E8A-4147-A177-3AD203B41FA5}">
                      <a16:colId xmlns:a16="http://schemas.microsoft.com/office/drawing/2014/main" val="20003"/>
                    </a:ext>
                  </a:extLst>
                </a:gridCol>
                <a:gridCol w="1409375">
                  <a:extLst>
                    <a:ext uri="{9D8B030D-6E8A-4147-A177-3AD203B41FA5}">
                      <a16:colId xmlns:a16="http://schemas.microsoft.com/office/drawing/2014/main" val="20004"/>
                    </a:ext>
                  </a:extLst>
                </a:gridCol>
                <a:gridCol w="1409375">
                  <a:extLst>
                    <a:ext uri="{9D8B030D-6E8A-4147-A177-3AD203B41FA5}">
                      <a16:colId xmlns:a16="http://schemas.microsoft.com/office/drawing/2014/main" val="20005"/>
                    </a:ext>
                  </a:extLst>
                </a:gridCol>
                <a:gridCol w="1409375">
                  <a:extLst>
                    <a:ext uri="{9D8B030D-6E8A-4147-A177-3AD203B41FA5}">
                      <a16:colId xmlns:a16="http://schemas.microsoft.com/office/drawing/2014/main" val="20006"/>
                    </a:ext>
                  </a:extLst>
                </a:gridCol>
                <a:gridCol w="1409375">
                  <a:extLst>
                    <a:ext uri="{9D8B030D-6E8A-4147-A177-3AD203B41FA5}">
                      <a16:colId xmlns:a16="http://schemas.microsoft.com/office/drawing/2014/main" val="20007"/>
                    </a:ext>
                  </a:extLst>
                </a:gridCol>
              </a:tblGrid>
              <a:tr h="486419">
                <a:tc rowSpan="2">
                  <a:txBody>
                    <a:bodyPr/>
                    <a:lstStyle/>
                    <a:p>
                      <a:pPr marL="0" lvl="0" indent="0" algn="ctr" rtl="0">
                        <a:spcBef>
                          <a:spcPts val="0"/>
                        </a:spcBef>
                        <a:spcAft>
                          <a:spcPts val="0"/>
                        </a:spcAft>
                        <a:buNone/>
                      </a:pPr>
                      <a:r>
                        <a:rPr lang="en-US" sz="1500" b="1" dirty="0">
                          <a:latin typeface="Times New Roman" panose="02020603050405020304"/>
                          <a:ea typeface="Times New Roman" panose="02020603050405020304"/>
                          <a:cs typeface="Times New Roman" panose="02020603050405020304"/>
                          <a:sym typeface="Times New Roman" panose="02020603050405020304"/>
                        </a:rPr>
                        <a:t>Intervention</a:t>
                      </a:r>
                      <a:endParaRPr sz="1500" b="1"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rowSpan="2">
                  <a:txBody>
                    <a:bodyPr/>
                    <a:lstStyle/>
                    <a:p>
                      <a:pPr marL="0" lvl="0" indent="0" algn="ctr" rtl="0">
                        <a:spcBef>
                          <a:spcPts val="0"/>
                        </a:spcBef>
                        <a:spcAft>
                          <a:spcPts val="0"/>
                        </a:spcAft>
                        <a:buNone/>
                      </a:pPr>
                      <a:r>
                        <a:rPr lang="en-US" sz="1500" b="1">
                          <a:latin typeface="Times New Roman" panose="02020603050405020304"/>
                          <a:ea typeface="Times New Roman" panose="02020603050405020304"/>
                          <a:cs typeface="Times New Roman" panose="02020603050405020304"/>
                          <a:sym typeface="Times New Roman" panose="02020603050405020304"/>
                        </a:rPr>
                        <a:t>Nombre ZS couvertes</a:t>
                      </a:r>
                      <a:endParaRPr sz="15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Nombre enfant identifié</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hMerge="1">
                  <a:txBody>
                    <a:bodyPr/>
                    <a:lstStyle/>
                    <a:p>
                      <a:endParaRPr lang="fr-FR"/>
                    </a:p>
                  </a:txBody>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Nombre Enfant récupéré</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hMerge="1">
                  <a:txBody>
                    <a:bodyPr/>
                    <a:lstStyle/>
                    <a:p>
                      <a:endParaRPr lang="fr-FR"/>
                    </a:p>
                  </a:txBody>
                  <a:tcPr/>
                </a:tc>
                <a:tc gridSpan="2">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dirty="0">
                          <a:latin typeface="Times New Roman" panose="02020603050405020304"/>
                          <a:ea typeface="Times New Roman" panose="02020603050405020304"/>
                          <a:cs typeface="Times New Roman" panose="02020603050405020304"/>
                          <a:sym typeface="Times New Roman" panose="02020603050405020304"/>
                        </a:rPr>
                        <a:t>Contribution dans la CV</a:t>
                      </a:r>
                      <a:endParaRPr sz="15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D9D9D9"/>
                      </a:solidFill>
                      <a:prstDash val="solid"/>
                      <a:round/>
                      <a:headEnd type="none" w="sm" len="sm"/>
                      <a:tailEnd type="none" w="sm" len="sm"/>
                    </a:lnB>
                  </a:tcPr>
                </a:tc>
                <a:tc hMerge="1">
                  <a:txBody>
                    <a:bodyPr/>
                    <a:lstStyle/>
                    <a:p>
                      <a:endParaRPr lang="fr-FR"/>
                    </a:p>
                  </a:txBody>
                  <a:tcPr/>
                </a:tc>
                <a:extLst>
                  <a:ext uri="{0D108BD9-81ED-4DB2-BD59-A6C34878D82A}">
                    <a16:rowId xmlns:a16="http://schemas.microsoft.com/office/drawing/2014/main" val="10000"/>
                  </a:ext>
                </a:extLst>
              </a:tr>
              <a:tr h="810600">
                <a:tc vMerge="1">
                  <a:txBody>
                    <a:bodyPr/>
                    <a:lstStyle/>
                    <a:p>
                      <a:endParaRPr lang="fr-FR"/>
                    </a:p>
                  </a:txBody>
                  <a:tcPr/>
                </a:tc>
                <a:tc vMerge="1">
                  <a:txBody>
                    <a:bodyPr/>
                    <a:lstStyle/>
                    <a:p>
                      <a:endParaRPr lang="fr-FR"/>
                    </a:p>
                  </a:txBody>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ZD</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SV</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rgbClr val="000000"/>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ZD</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SV</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DTC1</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en-US" sz="1500" b="1" u="none" strike="noStrike" cap="none">
                          <a:latin typeface="Times New Roman" panose="02020603050405020304"/>
                          <a:ea typeface="Times New Roman" panose="02020603050405020304"/>
                          <a:cs typeface="Times New Roman" panose="02020603050405020304"/>
                          <a:sym typeface="Times New Roman" panose="02020603050405020304"/>
                        </a:rPr>
                        <a:t>DTC3</a:t>
                      </a:r>
                      <a:endParaRPr sz="15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lt1"/>
                      </a:solidFill>
                      <a:prstDash val="solid"/>
                      <a:round/>
                      <a:headEnd type="none" w="sm" len="sm"/>
                      <a:tailEnd type="none" w="sm" len="sm"/>
                    </a:lnR>
                    <a:lnT w="9525" cap="flat" cmpd="sng">
                      <a:solidFill>
                        <a:srgbClr val="D9D9D9"/>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8345">
                <a:tc>
                  <a:txBody>
                    <a:bodyPr/>
                    <a:lstStyle/>
                    <a:p>
                      <a:pPr algn="l" fontAlgn="b"/>
                      <a:r>
                        <a:rPr lang="fr-FR" sz="1400" b="0" i="0" u="none" strike="noStrike" dirty="0">
                          <a:solidFill>
                            <a:schemeClr val="tx1"/>
                          </a:solidFill>
                          <a:effectLst/>
                          <a:latin typeface="Aptos Narrow" panose="020B0004020202020204" pitchFamily="34" charset="0"/>
                        </a:rPr>
                        <a:t>Fixe/horaire adapté</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30503</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47396</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26031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31604</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ea typeface="Times New Roman" panose="02020603050405020304"/>
                          <a:cs typeface="Times New Roman" panose="02020603050405020304"/>
                          <a:sym typeface="Arial" panose="020B0604020202020204"/>
                        </a:rPr>
                        <a:t>85,3</a:t>
                      </a:r>
                    </a:p>
                  </a:txBody>
                  <a:tcPr marL="6350" marR="6350" marT="6350" marB="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a:solidFill>
                            <a:srgbClr val="000000"/>
                          </a:solidFill>
                          <a:latin typeface="Times New Roman" panose="02020603050405020304"/>
                          <a:ea typeface="Times New Roman" panose="02020603050405020304"/>
                          <a:cs typeface="Times New Roman" panose="02020603050405020304"/>
                          <a:sym typeface="Arial" panose="020B0604020202020204"/>
                        </a:rPr>
                        <a:t>66,7</a:t>
                      </a:r>
                    </a:p>
                  </a:txBody>
                  <a:tcPr marL="6350" marR="6350" marT="6350" marB="0" anchor="b">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511916">
                <a:tc>
                  <a:txBody>
                    <a:bodyPr/>
                    <a:lstStyle/>
                    <a:p>
                      <a:pPr algn="l" fontAlgn="b"/>
                      <a:r>
                        <a:rPr lang="fr-FR" sz="1400" b="0" i="0" u="none" strike="noStrike" dirty="0">
                          <a:solidFill>
                            <a:schemeClr val="tx1"/>
                          </a:solidFill>
                          <a:effectLst/>
                          <a:latin typeface="Aptos Narrow" panose="020B0004020202020204" pitchFamily="34" charset="0"/>
                        </a:rPr>
                        <a:t>Avancée/cartographie des ZS</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22877</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35547</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19523</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23703</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ea typeface="Times New Roman" panose="02020603050405020304"/>
                          <a:cs typeface="Times New Roman" panose="02020603050405020304"/>
                          <a:sym typeface="Arial" panose="020B0604020202020204"/>
                        </a:rPr>
                        <a:t>85,3</a:t>
                      </a:r>
                    </a:p>
                  </a:txBody>
                  <a:tcPr marL="6350" marR="6350" marT="6350" marB="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a:solidFill>
                            <a:srgbClr val="000000"/>
                          </a:solidFill>
                          <a:latin typeface="Times New Roman" panose="02020603050405020304"/>
                          <a:ea typeface="Times New Roman" panose="02020603050405020304"/>
                          <a:cs typeface="Times New Roman" panose="02020603050405020304"/>
                          <a:sym typeface="Arial" panose="020B0604020202020204"/>
                        </a:rPr>
                        <a:t>66,7</a:t>
                      </a:r>
                    </a:p>
                  </a:txBody>
                  <a:tcPr marL="6350" marR="6350" marT="6350" marB="0" anchor="b">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468345">
                <a:tc>
                  <a:txBody>
                    <a:bodyPr/>
                    <a:lstStyle/>
                    <a:p>
                      <a:pPr algn="l" fontAlgn="b"/>
                      <a:r>
                        <a:rPr lang="fr-FR" sz="1400" b="0" i="0" u="none" strike="noStrike" dirty="0">
                          <a:solidFill>
                            <a:schemeClr val="tx1"/>
                          </a:solidFill>
                          <a:effectLst/>
                          <a:latin typeface="Aptos Narrow" panose="020B0004020202020204" pitchFamily="34" charset="0"/>
                        </a:rPr>
                        <a:t>Porte à porte</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15252</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23698</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13015</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15802</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ea typeface="Times New Roman" panose="02020603050405020304"/>
                          <a:cs typeface="Times New Roman" panose="02020603050405020304"/>
                          <a:sym typeface="Arial" panose="020B0604020202020204"/>
                        </a:rPr>
                        <a:t>85,3</a:t>
                      </a:r>
                    </a:p>
                  </a:txBody>
                  <a:tcPr marL="6350" marR="6350" marT="6350" marB="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a:solidFill>
                            <a:srgbClr val="000000"/>
                          </a:solidFill>
                          <a:latin typeface="Times New Roman" panose="02020603050405020304"/>
                          <a:ea typeface="Times New Roman" panose="02020603050405020304"/>
                          <a:cs typeface="Times New Roman" panose="02020603050405020304"/>
                          <a:sym typeface="Arial" panose="020B0604020202020204"/>
                        </a:rPr>
                        <a:t>66,7</a:t>
                      </a:r>
                    </a:p>
                  </a:txBody>
                  <a:tcPr marL="6350" marR="6350" marT="6350" marB="0" anchor="b">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468345">
                <a:tc>
                  <a:txBody>
                    <a:bodyPr/>
                    <a:lstStyle/>
                    <a:p>
                      <a:pPr algn="l" fontAlgn="b"/>
                      <a:r>
                        <a:rPr lang="fr-FR" sz="1400" b="0" i="0" u="none" strike="noStrike" dirty="0">
                          <a:solidFill>
                            <a:schemeClr val="tx1"/>
                          </a:solidFill>
                          <a:effectLst/>
                          <a:latin typeface="Aptos Narrow" panose="020B0004020202020204" pitchFamily="34" charset="0"/>
                        </a:rPr>
                        <a:t>Point de concentration</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7626</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111849</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6508</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7901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ea typeface="Times New Roman" panose="02020603050405020304"/>
                          <a:cs typeface="Times New Roman" panose="02020603050405020304"/>
                          <a:sym typeface="Arial" panose="020B0604020202020204"/>
                        </a:rPr>
                        <a:t>85,3</a:t>
                      </a:r>
                    </a:p>
                  </a:txBody>
                  <a:tcPr marL="6350" marR="6350" marT="6350" marB="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ctr" rtl="0" fontAlgn="b">
                        <a:lnSpc>
                          <a:spcPct val="100000"/>
                        </a:lnSpc>
                        <a:spcBef>
                          <a:spcPts val="0"/>
                        </a:spcBef>
                        <a:spcAft>
                          <a:spcPts val="0"/>
                        </a:spcAft>
                        <a:buClr>
                          <a:srgbClr val="000000"/>
                        </a:buClr>
                        <a:buFont typeface="Arial" panose="020B0604020202020204"/>
                        <a:buNone/>
                      </a:pPr>
                      <a:r>
                        <a:rPr lang="fr-FR" sz="2000" b="0" i="0" u="none" strike="noStrike" cap="none" dirty="0">
                          <a:solidFill>
                            <a:srgbClr val="000000"/>
                          </a:solidFill>
                          <a:latin typeface="Times New Roman" panose="02020603050405020304"/>
                          <a:ea typeface="Times New Roman" panose="02020603050405020304"/>
                          <a:cs typeface="Times New Roman" panose="02020603050405020304"/>
                          <a:sym typeface="Arial" panose="020B0604020202020204"/>
                        </a:rPr>
                        <a:t>7,1</a:t>
                      </a:r>
                    </a:p>
                  </a:txBody>
                  <a:tcPr marL="6350" marR="6350" marT="6350" marB="0" anchor="b">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r h="764121">
                <a:tc>
                  <a:txBody>
                    <a:bodyPr/>
                    <a:lstStyle/>
                    <a:p>
                      <a:pPr algn="l" fontAlgn="b"/>
                      <a:r>
                        <a:rPr lang="fr-FR" sz="1400" b="0" i="0" u="none" strike="noStrike" dirty="0">
                          <a:solidFill>
                            <a:schemeClr val="tx1"/>
                          </a:solidFill>
                          <a:effectLst/>
                          <a:latin typeface="Aptos Narrow" panose="020B0004020202020204" pitchFamily="34" charset="0"/>
                        </a:rPr>
                        <a:t>Vaccination à tout contact pour la réduction des OVM</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11</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6"/>
                  </a:ext>
                </a:extLst>
              </a:tr>
              <a:tr h="1016326">
                <a:tc>
                  <a:txBody>
                    <a:bodyPr/>
                    <a:lstStyle/>
                    <a:p>
                      <a:pPr algn="l" fontAlgn="b"/>
                      <a:r>
                        <a:rPr lang="fr-FR" sz="1400" b="0" i="0" u="none" strike="noStrike" dirty="0">
                          <a:solidFill>
                            <a:schemeClr val="tx1"/>
                          </a:solidFill>
                          <a:effectLst/>
                          <a:latin typeface="Aptos Narrow" panose="020B0004020202020204" pitchFamily="34" charset="0"/>
                        </a:rPr>
                        <a:t>Autres à préciser (Initiatives locales de récupération des EZD et SV)</a:t>
                      </a:r>
                    </a:p>
                  </a:txBody>
                  <a:tcPr marL="6350" marR="6350" marT="6350" marB="0" anchor="b">
                    <a:lnL w="9525" cap="flat" cmpd="sng">
                      <a:solidFill>
                        <a:srgbClr val="9E9E9E">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endParaRPr sz="20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ctr" rtl="0">
                        <a:spcBef>
                          <a:spcPts val="0"/>
                        </a:spcBef>
                        <a:spcAft>
                          <a:spcPts val="0"/>
                        </a:spcAft>
                        <a:buNone/>
                      </a:pPr>
                      <a:r>
                        <a:rPr lang="fr-FR" sz="2000" dirty="0" smtClean="0">
                          <a:latin typeface="Times New Roman" panose="02020603050405020304"/>
                          <a:ea typeface="Times New Roman" panose="02020603050405020304"/>
                          <a:cs typeface="Times New Roman" panose="02020603050405020304"/>
                          <a:sym typeface="Times New Roman" panose="02020603050405020304"/>
                        </a:rPr>
                        <a:t>0</a:t>
                      </a:r>
                      <a:endParaRPr lang="fr-FR" sz="20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9525" cap="flat" cmpd="sng">
                      <a:solidFill>
                        <a:schemeClr val="dk1"/>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en-US" sz="40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a:t>
            </a:r>
            <a: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4000"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obtenus</a:t>
            </a:r>
            <a: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FAE 2024-2025</a:t>
            </a:r>
            <a:br>
              <a:rPr lang="en-US" sz="40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br>
            <a:endParaRPr lang="fr-FR" dirty="0"/>
          </a:p>
        </p:txBody>
      </p:sp>
      <p:graphicFrame>
        <p:nvGraphicFramePr>
          <p:cNvPr id="4" name="Table 8">
            <a:extLst>
              <a:ext uri="{FF2B5EF4-FFF2-40B4-BE49-F238E27FC236}">
                <a16:creationId xmlns:a16="http://schemas.microsoft.com/office/drawing/2014/main" id="{A7E6897A-53FA-90E3-CA29-51CE15620B78}"/>
              </a:ext>
            </a:extLst>
          </p:cNvPr>
          <p:cNvGraphicFramePr>
            <a:graphicFrameLocks noGrp="1"/>
          </p:cNvGraphicFramePr>
          <p:nvPr>
            <p:extLst>
              <p:ext uri="{D42A27DB-BD31-4B8C-83A1-F6EECF244321}">
                <p14:modId xmlns:p14="http://schemas.microsoft.com/office/powerpoint/2010/main" val="1869396501"/>
              </p:ext>
            </p:extLst>
          </p:nvPr>
        </p:nvGraphicFramePr>
        <p:xfrm>
          <a:off x="315687" y="1706912"/>
          <a:ext cx="11465214" cy="4727071"/>
        </p:xfrm>
        <a:graphic>
          <a:graphicData uri="http://schemas.openxmlformats.org/drawingml/2006/table">
            <a:tbl>
              <a:tblPr/>
              <a:tblGrid>
                <a:gridCol w="3496653">
                  <a:extLst>
                    <a:ext uri="{9D8B030D-6E8A-4147-A177-3AD203B41FA5}">
                      <a16:colId xmlns:a16="http://schemas.microsoft.com/office/drawing/2014/main" val="413449366"/>
                    </a:ext>
                  </a:extLst>
                </a:gridCol>
                <a:gridCol w="2069447">
                  <a:extLst>
                    <a:ext uri="{9D8B030D-6E8A-4147-A177-3AD203B41FA5}">
                      <a16:colId xmlns:a16="http://schemas.microsoft.com/office/drawing/2014/main" val="2669374710"/>
                    </a:ext>
                  </a:extLst>
                </a:gridCol>
                <a:gridCol w="1355845">
                  <a:extLst>
                    <a:ext uri="{9D8B030D-6E8A-4147-A177-3AD203B41FA5}">
                      <a16:colId xmlns:a16="http://schemas.microsoft.com/office/drawing/2014/main" val="3747185192"/>
                    </a:ext>
                  </a:extLst>
                </a:gridCol>
                <a:gridCol w="1593712">
                  <a:extLst>
                    <a:ext uri="{9D8B030D-6E8A-4147-A177-3AD203B41FA5}">
                      <a16:colId xmlns:a16="http://schemas.microsoft.com/office/drawing/2014/main" val="2278548722"/>
                    </a:ext>
                  </a:extLst>
                </a:gridCol>
                <a:gridCol w="1593712">
                  <a:extLst>
                    <a:ext uri="{9D8B030D-6E8A-4147-A177-3AD203B41FA5}">
                      <a16:colId xmlns:a16="http://schemas.microsoft.com/office/drawing/2014/main" val="3517584529"/>
                    </a:ext>
                  </a:extLst>
                </a:gridCol>
                <a:gridCol w="1355845">
                  <a:extLst>
                    <a:ext uri="{9D8B030D-6E8A-4147-A177-3AD203B41FA5}">
                      <a16:colId xmlns:a16="http://schemas.microsoft.com/office/drawing/2014/main" val="2420723100"/>
                    </a:ext>
                  </a:extLst>
                </a:gridCol>
              </a:tblGrid>
              <a:tr h="518397">
                <a:tc rowSpan="2">
                  <a:txBody>
                    <a:bodyPr/>
                    <a:lstStyle/>
                    <a:p>
                      <a:pPr algn="ctr" fontAlgn="ctr"/>
                      <a:r>
                        <a:rPr lang="fr-FR" sz="1800" b="1" i="0" u="none" strike="noStrike" dirty="0">
                          <a:solidFill>
                            <a:schemeClr val="tx1"/>
                          </a:solidFill>
                          <a:effectLst/>
                          <a:latin typeface="Aptos Narrow" panose="020B0004020202020204" pitchFamily="34" charset="0"/>
                        </a:rPr>
                        <a:t>Stratégies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t"/>
                      <a:r>
                        <a:rPr lang="fr-FR" sz="1800" b="0" i="0" u="none" strike="noStrike" dirty="0">
                          <a:solidFill>
                            <a:schemeClr val="tx1"/>
                          </a:solidFill>
                          <a:effectLst/>
                          <a:latin typeface="Aptos Narrow" panose="020B0004020202020204" pitchFamily="34" charset="0"/>
                        </a:rPr>
                        <a:t>% de ZS mettant en œuvre la </a:t>
                      </a:r>
                      <a:r>
                        <a:rPr lang="fr-FR" sz="1800" b="0" i="0" u="none" strike="noStrike" dirty="0" smtClean="0">
                          <a:solidFill>
                            <a:schemeClr val="tx1"/>
                          </a:solidFill>
                          <a:effectLst/>
                          <a:latin typeface="Aptos Narrow" panose="020B0004020202020204" pitchFamily="34" charset="0"/>
                        </a:rPr>
                        <a:t>stratégie</a:t>
                      </a:r>
                    </a:p>
                    <a:p>
                      <a:pPr algn="ctr" fontAlgn="t"/>
                      <a:r>
                        <a:rPr lang="fr-FR" sz="1800" b="0" i="0" u="none" strike="noStrike" dirty="0" smtClean="0">
                          <a:solidFill>
                            <a:schemeClr val="tx1"/>
                          </a:solidFill>
                          <a:effectLst/>
                          <a:latin typeface="Aptos Narrow" panose="020B0004020202020204" pitchFamily="34" charset="0"/>
                        </a:rPr>
                        <a:t> </a:t>
                      </a:r>
                      <a:endParaRPr lang="fr-FR" sz="1800" b="0" i="0" u="none" strike="noStrike" dirty="0">
                        <a:solidFill>
                          <a:schemeClr val="tx1"/>
                        </a:solidFill>
                        <a:effectLst/>
                        <a:latin typeface="Aptos Narrow" panose="020B000402020202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t"/>
                      <a:r>
                        <a:rPr lang="fr-FR" sz="1800" b="0" i="0" u="none" strike="noStrike" dirty="0">
                          <a:solidFill>
                            <a:schemeClr val="tx1"/>
                          </a:solidFill>
                          <a:effectLst/>
                          <a:latin typeface="Aptos Narrow" panose="020B0004020202020204" pitchFamily="34" charset="0"/>
                        </a:rPr>
                        <a:t>%  d'AS mettant en œuvre la stratégie</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t"/>
                      <a:r>
                        <a:rPr lang="fr-FR" sz="1800" b="0" i="0" u="none" strike="noStrike" dirty="0">
                          <a:solidFill>
                            <a:schemeClr val="tx1"/>
                          </a:solidFill>
                          <a:effectLst/>
                          <a:latin typeface="Aptos Narrow" panose="020B0004020202020204" pitchFamily="34" charset="0"/>
                        </a:rPr>
                        <a:t>Nombre d'enfants vaccinés </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fr-FR"/>
                    </a:p>
                  </a:txBody>
                  <a:tcPr/>
                </a:tc>
                <a:tc rowSpan="2">
                  <a:txBody>
                    <a:bodyPr/>
                    <a:lstStyle/>
                    <a:p>
                      <a:pPr algn="ctr" fontAlgn="t"/>
                      <a:r>
                        <a:rPr lang="fr-FR" sz="1800" b="1" i="0" u="none" strike="noStrike">
                          <a:solidFill>
                            <a:schemeClr val="tx1"/>
                          </a:solidFill>
                          <a:effectLst/>
                          <a:latin typeface="Aptos Narrow" panose="020B0004020202020204" pitchFamily="34" charset="0"/>
                        </a:rPr>
                        <a:t>Total</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120511"/>
                  </a:ext>
                </a:extLst>
              </a:tr>
              <a:tr h="825113">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t"/>
                      <a:r>
                        <a:rPr lang="fr-FR" sz="1800" b="0" i="0" u="none" strike="noStrike" dirty="0" smtClean="0">
                          <a:solidFill>
                            <a:schemeClr val="tx1"/>
                          </a:solidFill>
                          <a:effectLst/>
                          <a:latin typeface="Aptos Narrow" panose="020B0004020202020204" pitchFamily="34" charset="0"/>
                        </a:rPr>
                        <a:t>Janvier </a:t>
                      </a:r>
                      <a:r>
                        <a:rPr lang="fr-FR" sz="1800" b="0" i="0" u="none" strike="noStrike" dirty="0">
                          <a:solidFill>
                            <a:schemeClr val="tx1"/>
                          </a:solidFill>
                          <a:effectLst/>
                          <a:latin typeface="Aptos Narrow" panose="020B0004020202020204" pitchFamily="34" charset="0"/>
                        </a:rPr>
                        <a:t>à décembre </a:t>
                      </a:r>
                      <a:r>
                        <a:rPr lang="fr-FR" sz="1800" b="0" i="0" u="none" strike="noStrike" dirty="0" smtClean="0">
                          <a:solidFill>
                            <a:schemeClr val="tx1"/>
                          </a:solidFill>
                          <a:effectLst/>
                          <a:latin typeface="Aptos Narrow" panose="020B0004020202020204" pitchFamily="34" charset="0"/>
                        </a:rPr>
                        <a:t>2024</a:t>
                      </a:r>
                      <a:endParaRPr lang="fr-FR" sz="1800" b="0" i="0" u="none" strike="noStrike" dirty="0">
                        <a:solidFill>
                          <a:schemeClr val="tx1"/>
                        </a:solidFill>
                        <a:effectLst/>
                        <a:latin typeface="Aptos Narrow" panose="020B000402020202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fr-FR" sz="1800" b="0" i="0" u="none" strike="noStrike" dirty="0">
                          <a:solidFill>
                            <a:schemeClr val="tx1"/>
                          </a:solidFill>
                          <a:effectLst/>
                          <a:latin typeface="Aptos Narrow" panose="020B0004020202020204" pitchFamily="34" charset="0"/>
                        </a:rPr>
                        <a:t>Janvier à </a:t>
                      </a:r>
                      <a:r>
                        <a:rPr lang="fr-FR" sz="1800" b="0" i="0" u="none" strike="noStrike" dirty="0" smtClean="0">
                          <a:solidFill>
                            <a:schemeClr val="tx1"/>
                          </a:solidFill>
                          <a:effectLst/>
                          <a:latin typeface="Aptos Narrow" panose="020B0004020202020204" pitchFamily="34" charset="0"/>
                        </a:rPr>
                        <a:t>Octobre 2025</a:t>
                      </a:r>
                      <a:endParaRPr lang="fr-FR" sz="1800" b="0" i="0" u="none" strike="noStrike" dirty="0">
                        <a:solidFill>
                          <a:schemeClr val="tx1"/>
                        </a:solidFill>
                        <a:effectLst/>
                        <a:latin typeface="Aptos Narrow" panose="020B000402020202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fr-FR"/>
                    </a:p>
                  </a:txBody>
                  <a:tcPr/>
                </a:tc>
                <a:extLst>
                  <a:ext uri="{0D108BD9-81ED-4DB2-BD59-A6C34878D82A}">
                    <a16:rowId xmlns:a16="http://schemas.microsoft.com/office/drawing/2014/main" val="4243806648"/>
                  </a:ext>
                </a:extLst>
              </a:tr>
              <a:tr h="388087">
                <a:tc>
                  <a:txBody>
                    <a:bodyPr/>
                    <a:lstStyle/>
                    <a:p>
                      <a:pPr algn="l" fontAlgn="b"/>
                      <a:r>
                        <a:rPr lang="fr-FR" sz="1800" b="0" i="0" u="none" strike="noStrike" dirty="0">
                          <a:solidFill>
                            <a:schemeClr val="tx1"/>
                          </a:solidFill>
                          <a:effectLst/>
                          <a:latin typeface="Aptos Narrow" panose="020B0004020202020204" pitchFamily="34" charset="0"/>
                        </a:rPr>
                        <a:t>Fixe/horaire adapté</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61%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dirty="0" smtClean="0">
                          <a:solidFill>
                            <a:srgbClr val="000000"/>
                          </a:solidFill>
                          <a:effectLst/>
                          <a:latin typeface="Arial"/>
                        </a:rPr>
                        <a:t>50,6%</a:t>
                      </a: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157236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57635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214871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704736"/>
                  </a:ext>
                </a:extLst>
              </a:tr>
              <a:tr h="388087">
                <a:tc>
                  <a:txBody>
                    <a:bodyPr/>
                    <a:lstStyle/>
                    <a:p>
                      <a:pPr algn="l" fontAlgn="b"/>
                      <a:r>
                        <a:rPr lang="fr-FR" sz="1800" b="0" i="0" u="none" strike="noStrike" dirty="0">
                          <a:solidFill>
                            <a:schemeClr val="tx1"/>
                          </a:solidFill>
                          <a:effectLst/>
                          <a:latin typeface="Aptos Narrow" panose="020B0004020202020204" pitchFamily="34" charset="0"/>
                        </a:rPr>
                        <a:t>Avancée/cartographie des ZS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61%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smtClean="0">
                          <a:solidFill>
                            <a:srgbClr val="000000"/>
                          </a:solidFill>
                          <a:effectLst/>
                          <a:latin typeface="Arial"/>
                        </a:rPr>
                        <a:t>50,6%</a:t>
                      </a: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78329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43226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121555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5063897"/>
                  </a:ext>
                </a:extLst>
              </a:tr>
              <a:tr h="388087">
                <a:tc>
                  <a:txBody>
                    <a:bodyPr/>
                    <a:lstStyle/>
                    <a:p>
                      <a:pPr algn="l" fontAlgn="b"/>
                      <a:r>
                        <a:rPr lang="fr-FR" sz="1800" b="0" i="0" u="none" strike="noStrike" dirty="0">
                          <a:solidFill>
                            <a:schemeClr val="tx1"/>
                          </a:solidFill>
                          <a:effectLst/>
                          <a:latin typeface="Aptos Narrow" panose="020B0004020202020204" pitchFamily="34" charset="0"/>
                        </a:rPr>
                        <a:t>Porte à porte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61%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smtClean="0">
                          <a:solidFill>
                            <a:srgbClr val="000000"/>
                          </a:solidFill>
                          <a:effectLst/>
                          <a:latin typeface="Arial"/>
                        </a:rPr>
                        <a:t>50,6%</a:t>
                      </a: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2781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28817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31598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947758"/>
                  </a:ext>
                </a:extLst>
              </a:tr>
              <a:tr h="388087">
                <a:tc>
                  <a:txBody>
                    <a:bodyPr/>
                    <a:lstStyle/>
                    <a:p>
                      <a:pPr algn="l" fontAlgn="b"/>
                      <a:r>
                        <a:rPr lang="fr-FR" sz="1800" b="0" i="0" u="none" strike="noStrike" dirty="0">
                          <a:solidFill>
                            <a:schemeClr val="tx1"/>
                          </a:solidFill>
                          <a:effectLst/>
                          <a:latin typeface="Aptos Narrow" panose="020B0004020202020204" pitchFamily="34" charset="0"/>
                        </a:rPr>
                        <a:t>Point de concentration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61%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dirty="0" smtClean="0">
                          <a:solidFill>
                            <a:srgbClr val="000000"/>
                          </a:solidFill>
                          <a:effectLst/>
                          <a:latin typeface="Arial"/>
                        </a:rPr>
                        <a:t>50,6%</a:t>
                      </a: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52091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14409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66500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228055"/>
                  </a:ext>
                </a:extLst>
              </a:tr>
              <a:tr h="551972">
                <a:tc>
                  <a:txBody>
                    <a:bodyPr/>
                    <a:lstStyle/>
                    <a:p>
                      <a:pPr algn="l" fontAlgn="b"/>
                      <a:r>
                        <a:rPr lang="fr-FR" sz="1800" b="0" i="0" u="none" strike="noStrike" dirty="0">
                          <a:solidFill>
                            <a:schemeClr val="tx1"/>
                          </a:solidFill>
                          <a:effectLst/>
                          <a:latin typeface="Aptos Narrow" panose="020B0004020202020204" pitchFamily="34" charset="0"/>
                        </a:rPr>
                        <a:t>Vaccination à tout contact pour la réduction des OVM</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dirty="0">
                          <a:solidFill>
                            <a:srgbClr val="000000"/>
                          </a:solidFill>
                          <a:effectLst/>
                          <a:latin typeface="Arial"/>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dirty="0">
                          <a:solidFill>
                            <a:srgbClr val="000000"/>
                          </a:solidFill>
                          <a:effectLst/>
                          <a:latin typeface="Arial"/>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dirty="0">
                          <a:solidFill>
                            <a:srgbClr val="000000"/>
                          </a:solidFill>
                          <a:effectLst/>
                          <a:latin typeface="Arial"/>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020343"/>
                  </a:ext>
                </a:extLst>
              </a:tr>
              <a:tr h="825113">
                <a:tc>
                  <a:txBody>
                    <a:bodyPr/>
                    <a:lstStyle/>
                    <a:p>
                      <a:pPr algn="l" fontAlgn="b"/>
                      <a:r>
                        <a:rPr lang="fr-FR" sz="1800" b="0" i="0" u="none" strike="noStrike" dirty="0">
                          <a:solidFill>
                            <a:schemeClr val="tx1"/>
                          </a:solidFill>
                          <a:effectLst/>
                          <a:latin typeface="Aptos Narrow" panose="020B0004020202020204" pitchFamily="34" charset="0"/>
                        </a:rPr>
                        <a:t>Autres à préciser (Initiatives locales de récupération des EZD et SV)</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dirty="0">
                          <a:solidFill>
                            <a:srgbClr val="000000"/>
                          </a:solidFill>
                          <a:effectLst/>
                          <a:latin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fr-FR" sz="1800" b="0" i="0" u="none" strike="noStrike" dirty="0">
                          <a:solidFill>
                            <a:srgbClr val="000000"/>
                          </a:solidFill>
                          <a:effectLst/>
                          <a:latin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endParaRPr lang="fr-FR" sz="1800" b="0" i="0" u="none" strike="noStrike" dirty="0">
                        <a:solidFill>
                          <a:srgbClr val="000000"/>
                        </a:solidFill>
                        <a:effectLst/>
                        <a:latin typeface="Arial"/>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747659257"/>
                  </a:ext>
                </a:extLst>
              </a:tr>
              <a:tr h="442716">
                <a:tc>
                  <a:txBody>
                    <a:bodyPr/>
                    <a:lstStyle/>
                    <a:p>
                      <a:pPr algn="l" fontAlgn="b"/>
                      <a:r>
                        <a:rPr lang="fr-FR" sz="1800" b="1" i="0" u="none" strike="noStrike">
                          <a:solidFill>
                            <a:schemeClr val="tx1"/>
                          </a:solidFill>
                          <a:effectLst/>
                          <a:latin typeface="Aptos Narrow" panose="020B0004020202020204" pitchFamily="34" charset="0"/>
                        </a:rPr>
                        <a:t>Total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800" b="0" i="0" u="none" strike="noStrike">
                          <a:solidFill>
                            <a:srgbClr val="000000"/>
                          </a:solidFill>
                          <a:effectLst/>
                          <a:latin typeface="Arial"/>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dirty="0">
                          <a:solidFill>
                            <a:srgbClr val="000000"/>
                          </a:solidFill>
                          <a:effectLst/>
                          <a:latin typeface="Arial"/>
                        </a:rPr>
                        <a:t>290 436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a:solidFill>
                            <a:srgbClr val="000000"/>
                          </a:solidFill>
                          <a:effectLst/>
                          <a:latin typeface="Arial"/>
                        </a:rPr>
                        <a:t>144087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fr-FR" sz="1800" b="0" i="0" u="none" strike="noStrike" dirty="0">
                          <a:solidFill>
                            <a:srgbClr val="000000"/>
                          </a:solidFill>
                          <a:effectLst/>
                          <a:latin typeface="Arial"/>
                        </a:rPr>
                        <a:t>434 523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7798712"/>
                  </a:ext>
                </a:extLst>
              </a:tr>
            </a:tbl>
          </a:graphicData>
        </a:graphic>
      </p:graphicFrame>
    </p:spTree>
    <p:extLst>
      <p:ext uri="{BB962C8B-B14F-4D97-AF65-F5344CB8AC3E}">
        <p14:creationId xmlns:p14="http://schemas.microsoft.com/office/powerpoint/2010/main" val="22484136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15600" y="2170176"/>
            <a:ext cx="11360700" cy="1304543"/>
          </a:xfrm>
        </p:spPr>
        <p:style>
          <a:lnRef idx="2">
            <a:schemeClr val="dk1"/>
          </a:lnRef>
          <a:fillRef idx="1">
            <a:schemeClr val="lt1"/>
          </a:fillRef>
          <a:effectRef idx="0">
            <a:schemeClr val="dk1"/>
          </a:effectRef>
          <a:fontRef idx="minor">
            <a:schemeClr val="dk1"/>
          </a:fontRef>
        </p:style>
        <p:txBody>
          <a:bodyPr>
            <a:normAutofit fontScale="90000"/>
          </a:bodyPr>
          <a:lstStyle/>
          <a:p>
            <a:pPr lvl="0"/>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RÉSULTATS OBTENUS</a:t>
            </a:r>
            <a:r>
              <a:rPr lang="en-US" sz="40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IPVS Juillet- </a:t>
            </a:r>
            <a:r>
              <a:rPr lang="en-US" sz="3600" dirty="0" err="1"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Août</a:t>
            </a:r>
            <a:r>
              <a:rPr lang="en-US" sz="3600" dirty="0" smtClean="0">
                <a:solidFill>
                  <a:srgbClr val="1155CC"/>
                </a:solidFill>
                <a:latin typeface="Times New Roman" panose="02020603050405020304"/>
                <a:ea typeface="Times New Roman" panose="02020603050405020304"/>
                <a:cs typeface="Times New Roman" panose="02020603050405020304"/>
                <a:sym typeface="Times New Roman" panose="02020603050405020304"/>
              </a:rPr>
              <a:t> et Septembre2025</a:t>
            </a:r>
            <a:r>
              <a:rPr lang="en-US" sz="36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r>
            <a:br>
              <a:rPr lang="en-US" sz="360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br>
            <a:endParaRPr lang="fr-FR" dirty="0"/>
          </a:p>
        </p:txBody>
      </p:sp>
    </p:spTree>
    <p:extLst>
      <p:ext uri="{BB962C8B-B14F-4D97-AF65-F5344CB8AC3E}">
        <p14:creationId xmlns:p14="http://schemas.microsoft.com/office/powerpoint/2010/main" val="31364624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39412" cy="752475"/>
          </a:xfrm>
        </p:spPr>
        <p:style>
          <a:lnRef idx="1">
            <a:schemeClr val="dk1"/>
          </a:lnRef>
          <a:fillRef idx="2">
            <a:schemeClr val="dk1"/>
          </a:fillRef>
          <a:effectRef idx="1">
            <a:schemeClr val="dk1"/>
          </a:effectRef>
          <a:fontRef idx="minor">
            <a:schemeClr val="dk1"/>
          </a:fontRef>
        </p:style>
        <p:txBody>
          <a:bodyPr>
            <a:normAutofit/>
          </a:bodyPr>
          <a:lstStyle/>
          <a:p>
            <a:r>
              <a:rPr lang="fr-FR" sz="3600" dirty="0">
                <a:latin typeface="Bahnschrift Condensed" panose="020B0502040204020203" pitchFamily="34" charset="0"/>
              </a:rPr>
              <a:t>DECOMPTE ZEROS DOSE</a:t>
            </a: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781ED30-4502-4EF1-A48E-205E46A4DE25}" type="datetime1">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07/12/2025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VALIDATION DONNEES IPVS PHASE 2 DPS KASAI</a:t>
            </a:r>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7D88A-0A00-4DD6-BEE2-4EF1457D8857}"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au 2"/>
          <p:cNvGraphicFramePr>
            <a:graphicFrameLocks noGrp="1"/>
          </p:cNvGraphicFramePr>
          <p:nvPr>
            <p:extLst/>
          </p:nvPr>
        </p:nvGraphicFramePr>
        <p:xfrm>
          <a:off x="905162" y="1173022"/>
          <a:ext cx="10446330" cy="5430520"/>
        </p:xfrm>
        <a:graphic>
          <a:graphicData uri="http://schemas.openxmlformats.org/drawingml/2006/table">
            <a:tbl>
              <a:tblPr/>
              <a:tblGrid>
                <a:gridCol w="1297680">
                  <a:extLst>
                    <a:ext uri="{9D8B030D-6E8A-4147-A177-3AD203B41FA5}">
                      <a16:colId xmlns:a16="http://schemas.microsoft.com/office/drawing/2014/main" val="3094666778"/>
                    </a:ext>
                  </a:extLst>
                </a:gridCol>
                <a:gridCol w="951633">
                  <a:extLst>
                    <a:ext uri="{9D8B030D-6E8A-4147-A177-3AD203B41FA5}">
                      <a16:colId xmlns:a16="http://schemas.microsoft.com/office/drawing/2014/main" val="3500964411"/>
                    </a:ext>
                  </a:extLst>
                </a:gridCol>
                <a:gridCol w="908376">
                  <a:extLst>
                    <a:ext uri="{9D8B030D-6E8A-4147-A177-3AD203B41FA5}">
                      <a16:colId xmlns:a16="http://schemas.microsoft.com/office/drawing/2014/main" val="3463542662"/>
                    </a:ext>
                  </a:extLst>
                </a:gridCol>
                <a:gridCol w="865121">
                  <a:extLst>
                    <a:ext uri="{9D8B030D-6E8A-4147-A177-3AD203B41FA5}">
                      <a16:colId xmlns:a16="http://schemas.microsoft.com/office/drawing/2014/main" val="3346604022"/>
                    </a:ext>
                  </a:extLst>
                </a:gridCol>
                <a:gridCol w="886748">
                  <a:extLst>
                    <a:ext uri="{9D8B030D-6E8A-4147-A177-3AD203B41FA5}">
                      <a16:colId xmlns:a16="http://schemas.microsoft.com/office/drawing/2014/main" val="736641492"/>
                    </a:ext>
                  </a:extLst>
                </a:gridCol>
                <a:gridCol w="865121">
                  <a:extLst>
                    <a:ext uri="{9D8B030D-6E8A-4147-A177-3AD203B41FA5}">
                      <a16:colId xmlns:a16="http://schemas.microsoft.com/office/drawing/2014/main" val="2543263577"/>
                    </a:ext>
                  </a:extLst>
                </a:gridCol>
                <a:gridCol w="930004">
                  <a:extLst>
                    <a:ext uri="{9D8B030D-6E8A-4147-A177-3AD203B41FA5}">
                      <a16:colId xmlns:a16="http://schemas.microsoft.com/office/drawing/2014/main" val="1592733424"/>
                    </a:ext>
                  </a:extLst>
                </a:gridCol>
                <a:gridCol w="951633">
                  <a:extLst>
                    <a:ext uri="{9D8B030D-6E8A-4147-A177-3AD203B41FA5}">
                      <a16:colId xmlns:a16="http://schemas.microsoft.com/office/drawing/2014/main" val="3912811190"/>
                    </a:ext>
                  </a:extLst>
                </a:gridCol>
                <a:gridCol w="930004">
                  <a:extLst>
                    <a:ext uri="{9D8B030D-6E8A-4147-A177-3AD203B41FA5}">
                      <a16:colId xmlns:a16="http://schemas.microsoft.com/office/drawing/2014/main" val="2164919624"/>
                    </a:ext>
                  </a:extLst>
                </a:gridCol>
                <a:gridCol w="800237">
                  <a:extLst>
                    <a:ext uri="{9D8B030D-6E8A-4147-A177-3AD203B41FA5}">
                      <a16:colId xmlns:a16="http://schemas.microsoft.com/office/drawing/2014/main" val="2862861342"/>
                    </a:ext>
                  </a:extLst>
                </a:gridCol>
                <a:gridCol w="1059773">
                  <a:extLst>
                    <a:ext uri="{9D8B030D-6E8A-4147-A177-3AD203B41FA5}">
                      <a16:colId xmlns:a16="http://schemas.microsoft.com/office/drawing/2014/main" val="1271352091"/>
                    </a:ext>
                  </a:extLst>
                </a:gridCol>
              </a:tblGrid>
              <a:tr h="477680">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ZONES DE SANTE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ZD IDENTIFIES Phase 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EZD IDENTIFIES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EZD IDENTIFIES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Total ZD IDENTIFIES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EZD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en-US" sz="1400" b="0" i="0" u="none" strike="noStrike">
                          <a:solidFill>
                            <a:srgbClr val="000000"/>
                          </a:solidFill>
                          <a:effectLst/>
                          <a:latin typeface="Bahnschrift Condensed" panose="020B0502040204020203" pitchFamily="34" charset="0"/>
                        </a:rPr>
                        <a:t>Total EZD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EZD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ZERO DOSES PHASE2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248824870"/>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Banga Lubaka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884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4080995"/>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Bulape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932809"/>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Dekese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56440795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Ilebo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477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398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FF0000"/>
                          </a:solidFill>
                          <a:effectLst/>
                          <a:latin typeface="Bahnschrift Condensed" panose="020B0502040204020203"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978824"/>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Kakenge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991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1171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230897"/>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Kalonda Ouest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1201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776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2668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713905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Kamonia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731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1314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2615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61042002"/>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Kamwesha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2898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2861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5759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7463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FF0000"/>
                          </a:solidFill>
                          <a:effectLst/>
                          <a:latin typeface="Bahnschrift Condensed" panose="020B0502040204020203" pitchFamily="34" charset="0"/>
                        </a:rPr>
                        <a:t>-30%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2778750"/>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Kanzala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333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877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300438291"/>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Kitangwa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1151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2151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0061677"/>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Luebo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1569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09348735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Mikope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1193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16205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Mushenge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657841838"/>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Mutena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2037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1079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4384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1079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815413"/>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Mweka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4066559021"/>
                  </a:ext>
                </a:extLst>
              </a:tr>
              <a:tr h="236394">
                <a:tc>
                  <a:txBody>
                    <a:bodyPr/>
                    <a:lstStyle/>
                    <a:p>
                      <a:pPr algn="l" fontAlgn="ctr"/>
                      <a:r>
                        <a:rPr lang="fr-FR" sz="1600" b="0" i="0" u="none" strike="noStrike">
                          <a:solidFill>
                            <a:srgbClr val="000000"/>
                          </a:solidFill>
                          <a:effectLst/>
                          <a:latin typeface="Bahnschrift Condensed" panose="020B0502040204020203" pitchFamily="34" charset="0"/>
                        </a:rPr>
                        <a:t> Ndjoko Mpunda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480130205"/>
                  </a:ext>
                </a:extLst>
              </a:tr>
              <a:tr h="236394">
                <a:tc>
                  <a:txBody>
                    <a:bodyPr/>
                    <a:lstStyle/>
                    <a:p>
                      <a:pPr algn="l" fontAlgn="ctr"/>
                      <a:r>
                        <a:rPr lang="fr-FR" sz="1600" b="0" i="0" u="none" strike="noStrike" dirty="0">
                          <a:solidFill>
                            <a:srgbClr val="000000"/>
                          </a:solidFill>
                          <a:effectLst/>
                          <a:latin typeface="Bahnschrift Condensed" panose="020B0502040204020203" pitchFamily="34" charset="0"/>
                        </a:rPr>
                        <a:t> Nyanga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576064754"/>
                  </a:ext>
                </a:extLst>
              </a:tr>
              <a:tr h="236394">
                <a:tc>
                  <a:txBody>
                    <a:bodyPr/>
                    <a:lstStyle/>
                    <a:p>
                      <a:pPr algn="l" fontAlgn="ctr"/>
                      <a:r>
                        <a:rPr lang="fr-FR" sz="1600" b="0" i="0" u="none" strike="noStrike" dirty="0">
                          <a:solidFill>
                            <a:srgbClr val="000000"/>
                          </a:solidFill>
                          <a:effectLst/>
                          <a:latin typeface="Bahnschrift Condensed" panose="020B0502040204020203" pitchFamily="34" charset="0"/>
                        </a:rPr>
                        <a:t> Tshikapa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2467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396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2901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7027152"/>
                  </a:ext>
                </a:extLst>
              </a:tr>
              <a:tr h="236394">
                <a:tc>
                  <a:txBody>
                    <a:bodyPr/>
                    <a:lstStyle/>
                    <a:p>
                      <a:pPr algn="l" fontAlgn="ctr"/>
                      <a:r>
                        <a:rPr lang="fr-FR" sz="1800" b="1" i="0" u="none" strike="noStrike">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16519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9980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7557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34056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14695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9253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7392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a:solidFill>
                            <a:srgbClr val="000000"/>
                          </a:solidFill>
                          <a:effectLst/>
                          <a:latin typeface="Bahnschrift Condensed" panose="020B0502040204020203" pitchFamily="34" charset="0"/>
                        </a:rPr>
                        <a:t>31340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a:solidFill>
                            <a:srgbClr val="000000"/>
                          </a:solidFill>
                          <a:effectLst/>
                          <a:latin typeface="Bahnschrift Condensed" panose="020B0502040204020203" pitchFamily="34" charset="0"/>
                        </a:rPr>
                        <a:t>2716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441530663"/>
                  </a:ext>
                </a:extLst>
              </a:tr>
            </a:tbl>
          </a:graphicData>
        </a:graphic>
      </p:graphicFrame>
    </p:spTree>
    <p:extLst>
      <p:ext uri="{BB962C8B-B14F-4D97-AF65-F5344CB8AC3E}">
        <p14:creationId xmlns:p14="http://schemas.microsoft.com/office/powerpoint/2010/main" val="1537418078"/>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6"/>
            <a:ext cx="10515600" cy="743238"/>
          </a:xfrm>
        </p:spPr>
        <p:style>
          <a:lnRef idx="1">
            <a:schemeClr val="dk1"/>
          </a:lnRef>
          <a:fillRef idx="2">
            <a:schemeClr val="dk1"/>
          </a:fillRef>
          <a:effectRef idx="1">
            <a:schemeClr val="dk1"/>
          </a:effectRef>
          <a:fontRef idx="minor">
            <a:schemeClr val="dk1"/>
          </a:fontRef>
        </p:style>
        <p:txBody>
          <a:bodyPr>
            <a:normAutofit/>
          </a:bodyPr>
          <a:lstStyle/>
          <a:p>
            <a:r>
              <a:rPr lang="fr-FR" sz="4000" dirty="0">
                <a:latin typeface="Bahnschrift Condensed" panose="020B0502040204020203" pitchFamily="34" charset="0"/>
              </a:rPr>
              <a:t>DECOMPTE SOUS VACCINES</a:t>
            </a: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47D6AE6-7D3C-4CEA-8C9A-1EAC3D70ACEB}" type="datetime1">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07/12/2025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VALIDATION DONNEES IPVS PHASE 2 DPS KASAI</a:t>
            </a:r>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7D88A-0A00-4DD6-BEE2-4EF1457D8857}"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au 2"/>
          <p:cNvGraphicFramePr>
            <a:graphicFrameLocks noGrp="1"/>
          </p:cNvGraphicFramePr>
          <p:nvPr>
            <p:extLst/>
          </p:nvPr>
        </p:nvGraphicFramePr>
        <p:xfrm>
          <a:off x="886692" y="1154550"/>
          <a:ext cx="10427852" cy="5430520"/>
        </p:xfrm>
        <a:graphic>
          <a:graphicData uri="http://schemas.openxmlformats.org/drawingml/2006/table">
            <a:tbl>
              <a:tblPr/>
              <a:tblGrid>
                <a:gridCol w="1152249">
                  <a:extLst>
                    <a:ext uri="{9D8B030D-6E8A-4147-A177-3AD203B41FA5}">
                      <a16:colId xmlns:a16="http://schemas.microsoft.com/office/drawing/2014/main" val="3302373688"/>
                    </a:ext>
                  </a:extLst>
                </a:gridCol>
                <a:gridCol w="1152249">
                  <a:extLst>
                    <a:ext uri="{9D8B030D-6E8A-4147-A177-3AD203B41FA5}">
                      <a16:colId xmlns:a16="http://schemas.microsoft.com/office/drawing/2014/main" val="4181504691"/>
                    </a:ext>
                  </a:extLst>
                </a:gridCol>
                <a:gridCol w="748962">
                  <a:extLst>
                    <a:ext uri="{9D8B030D-6E8A-4147-A177-3AD203B41FA5}">
                      <a16:colId xmlns:a16="http://schemas.microsoft.com/office/drawing/2014/main" val="873234819"/>
                    </a:ext>
                  </a:extLst>
                </a:gridCol>
                <a:gridCol w="844983">
                  <a:extLst>
                    <a:ext uri="{9D8B030D-6E8A-4147-A177-3AD203B41FA5}">
                      <a16:colId xmlns:a16="http://schemas.microsoft.com/office/drawing/2014/main" val="2728475662"/>
                    </a:ext>
                  </a:extLst>
                </a:gridCol>
                <a:gridCol w="902594">
                  <a:extLst>
                    <a:ext uri="{9D8B030D-6E8A-4147-A177-3AD203B41FA5}">
                      <a16:colId xmlns:a16="http://schemas.microsoft.com/office/drawing/2014/main" val="2422714100"/>
                    </a:ext>
                  </a:extLst>
                </a:gridCol>
                <a:gridCol w="844983">
                  <a:extLst>
                    <a:ext uri="{9D8B030D-6E8A-4147-A177-3AD203B41FA5}">
                      <a16:colId xmlns:a16="http://schemas.microsoft.com/office/drawing/2014/main" val="496234366"/>
                    </a:ext>
                  </a:extLst>
                </a:gridCol>
                <a:gridCol w="825778">
                  <a:extLst>
                    <a:ext uri="{9D8B030D-6E8A-4147-A177-3AD203B41FA5}">
                      <a16:colId xmlns:a16="http://schemas.microsoft.com/office/drawing/2014/main" val="3953732995"/>
                    </a:ext>
                  </a:extLst>
                </a:gridCol>
                <a:gridCol w="825778">
                  <a:extLst>
                    <a:ext uri="{9D8B030D-6E8A-4147-A177-3AD203B41FA5}">
                      <a16:colId xmlns:a16="http://schemas.microsoft.com/office/drawing/2014/main" val="2176217506"/>
                    </a:ext>
                  </a:extLst>
                </a:gridCol>
                <a:gridCol w="825778">
                  <a:extLst>
                    <a:ext uri="{9D8B030D-6E8A-4147-A177-3AD203B41FA5}">
                      <a16:colId xmlns:a16="http://schemas.microsoft.com/office/drawing/2014/main" val="1701719543"/>
                    </a:ext>
                  </a:extLst>
                </a:gridCol>
                <a:gridCol w="1152249">
                  <a:extLst>
                    <a:ext uri="{9D8B030D-6E8A-4147-A177-3AD203B41FA5}">
                      <a16:colId xmlns:a16="http://schemas.microsoft.com/office/drawing/2014/main" val="3876175591"/>
                    </a:ext>
                  </a:extLst>
                </a:gridCol>
                <a:gridCol w="1152249">
                  <a:extLst>
                    <a:ext uri="{9D8B030D-6E8A-4147-A177-3AD203B41FA5}">
                      <a16:colId xmlns:a16="http://schemas.microsoft.com/office/drawing/2014/main" val="1778370390"/>
                    </a:ext>
                  </a:extLst>
                </a:gridCol>
              </a:tblGrid>
              <a:tr h="478567">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ZONES DE SANTE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ESV IDENTIFIES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ctr"/>
                      <a:r>
                        <a:rPr lang="fr-FR" sz="1400" b="0" i="0" u="none" strike="noStrike">
                          <a:solidFill>
                            <a:srgbClr val="000000"/>
                          </a:solidFill>
                          <a:effectLst>
                            <a:outerShdw blurRad="50800" dist="38100" algn="tr" rotWithShape="0">
                              <a:prstClr val="black">
                                <a:alpha val="40000"/>
                              </a:prstClr>
                            </a:outerShdw>
                          </a:effectLst>
                          <a:latin typeface="Bahnschrift Condensed" panose="020B0502040204020203" pitchFamily="34" charset="0"/>
                        </a:rPr>
                        <a:t>Total ESV IDENTIFIES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ESV VACCINES PHASE III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Total ESV vaccinés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SOLDE ESV DOSES PHASE2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ctr"/>
                      <a:r>
                        <a:rPr lang="fr-FR" sz="1400" b="0" i="0" u="none" strike="noStrike">
                          <a:solidFill>
                            <a:srgbClr val="000000"/>
                          </a:solidFill>
                          <a:effectLst/>
                          <a:latin typeface="Bahnschrift Condensed" panose="020B0502040204020203" pitchFamily="34" charset="0"/>
                        </a:rPr>
                        <a:t>Proportion Soldes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882167030"/>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Banga Lubaka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932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8732901"/>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Bulape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2050006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Dekese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206580141"/>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Ilebo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458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737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1469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757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147020"/>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Kakenge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1143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1624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3671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1078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1847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3749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FF0000"/>
                          </a:solidFill>
                          <a:effectLst/>
                          <a:latin typeface="Bahnschrift Condensed" panose="020B0502040204020203"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4457589"/>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Kalonda Ouest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1029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931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3235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98084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Kamonia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1634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2808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effectLst/>
                          <a:latin typeface="Bahnschrift Condensed" panose="020B0502040204020203" pitchFamily="34" charset="0"/>
                        </a:rPr>
                        <a:t>612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5988294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Kamwesha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2766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5553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1802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7261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FF0000"/>
                          </a:solidFill>
                          <a:effectLst/>
                          <a:latin typeface="Bahnschrift Condensed" panose="020B0502040204020203" pitchFamily="34" charset="0"/>
                        </a:rPr>
                        <a:t>-31%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43553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Kanzala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2140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1486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654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21767092"/>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Kitangwa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1282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1169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3603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1169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2728976"/>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Luebo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1840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1318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32564958"/>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Mikope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470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1405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329743"/>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Mushenge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887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560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1661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1227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7318244"/>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Mutena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2594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1210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4817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4003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1056535"/>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Mweka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669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668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352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1689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1637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52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4556299"/>
                  </a:ext>
                </a:extLst>
              </a:tr>
              <a:tr h="236833">
                <a:tc>
                  <a:txBody>
                    <a:bodyPr/>
                    <a:lstStyle/>
                    <a:p>
                      <a:pPr algn="l" fontAlgn="ctr"/>
                      <a:r>
                        <a:rPr lang="fr-FR" sz="1600" b="0" i="0" u="none" strike="noStrike">
                          <a:solidFill>
                            <a:srgbClr val="000000"/>
                          </a:solidFill>
                          <a:effectLst/>
                          <a:latin typeface="Bahnschrift Condensed" panose="020B0502040204020203" pitchFamily="34" charset="0"/>
                        </a:rPr>
                        <a:t> Ndjoko Mpunda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524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505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234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1263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197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833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6278845"/>
                  </a:ext>
                </a:extLst>
              </a:tr>
              <a:tr h="236833">
                <a:tc>
                  <a:txBody>
                    <a:bodyPr/>
                    <a:lstStyle/>
                    <a:p>
                      <a:pPr algn="l" fontAlgn="ctr"/>
                      <a:r>
                        <a:rPr lang="fr-FR" sz="1600" b="0" i="0" u="none" strike="noStrike" dirty="0">
                          <a:solidFill>
                            <a:srgbClr val="000000"/>
                          </a:solidFill>
                          <a:effectLst/>
                          <a:latin typeface="Bahnschrift Condensed" panose="020B0502040204020203" pitchFamily="34" charset="0"/>
                        </a:rPr>
                        <a:t> Nyanga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fr-FR" sz="1600" b="0" i="0" u="none" strike="noStrike" dirty="0">
                          <a:solidFill>
                            <a:srgbClr val="000000"/>
                          </a:solidFill>
                          <a:effectLst/>
                          <a:latin typeface="Bahnschrift Condensed" panose="020B0502040204020203"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rtl="0"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a:solidFill>
                            <a:srgbClr val="000000"/>
                          </a:solidFill>
                          <a:effectLst/>
                          <a:latin typeface="Bahnschrift Condensed" panose="020B0502040204020203"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fr-FR" sz="1600" b="0" i="0" u="none" strike="noStrike" dirty="0" smtClean="0">
                          <a:solidFill>
                            <a:srgbClr val="000000"/>
                          </a:solidFill>
                          <a:effectLst/>
                          <a:latin typeface="Bahnschrift Condensed" panose="020B0502040204020203" pitchFamily="34" charset="0"/>
                        </a:rPr>
                        <a:t>0</a:t>
                      </a:r>
                      <a:endParaRPr lang="fr-FR" sz="16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4235623451"/>
                  </a:ext>
                </a:extLst>
              </a:tr>
              <a:tr h="236833">
                <a:tc>
                  <a:txBody>
                    <a:bodyPr/>
                    <a:lstStyle/>
                    <a:p>
                      <a:pPr algn="l" fontAlgn="ctr"/>
                      <a:r>
                        <a:rPr lang="fr-FR" sz="1600" b="0" i="0" u="none" strike="noStrike" dirty="0">
                          <a:solidFill>
                            <a:srgbClr val="000000"/>
                          </a:solidFill>
                          <a:effectLst/>
                          <a:latin typeface="Bahnschrift Condensed" panose="020B0502040204020203" pitchFamily="34" charset="0"/>
                        </a:rPr>
                        <a:t> Tshikapa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600" b="0" i="0" u="none" strike="noStrike">
                          <a:solidFill>
                            <a:srgbClr val="000000"/>
                          </a:solidFill>
                          <a:effectLst/>
                          <a:latin typeface="Bahnschrift Condensed" panose="020B0502040204020203" pitchFamily="34" charset="0"/>
                        </a:rPr>
                        <a:t>2756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b"/>
                      <a:r>
                        <a:rPr lang="fr-FR" sz="1600" b="0" i="0" u="none" strike="noStrike">
                          <a:solidFill>
                            <a:srgbClr val="000000"/>
                          </a:solidFill>
                          <a:effectLst/>
                          <a:latin typeface="Bahnschrift Condensed" panose="020B0502040204020203" pitchFamily="34" charset="0"/>
                        </a:rPr>
                        <a:t>2774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1012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1600" b="0" i="0" u="none" strike="noStrike">
                          <a:solidFill>
                            <a:srgbClr val="000000"/>
                          </a:solidFill>
                          <a:effectLst/>
                          <a:latin typeface="Bahnschrift Condensed" panose="020B0502040204020203" pitchFamily="34" charset="0"/>
                        </a:rPr>
                        <a:t>6542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2423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2714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968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6105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437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a:solidFill>
                            <a:srgbClr val="000000"/>
                          </a:solidFill>
                          <a:effectLst/>
                          <a:latin typeface="Bahnschrift Condensed" panose="020B0502040204020203"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385929"/>
                  </a:ext>
                </a:extLst>
              </a:tr>
              <a:tr h="236833">
                <a:tc>
                  <a:txBody>
                    <a:bodyPr/>
                    <a:lstStyle/>
                    <a:p>
                      <a:pPr algn="l" fontAlgn="ctr"/>
                      <a:r>
                        <a:rPr lang="fr-FR" sz="1800" b="1" i="0" u="none" strike="noStrike">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17053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16294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12875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rtl="0" fontAlgn="b"/>
                      <a:r>
                        <a:rPr lang="fr-FR" sz="1800" b="0" i="0" u="none" strike="noStrike">
                          <a:solidFill>
                            <a:srgbClr val="000000"/>
                          </a:solidFill>
                          <a:effectLst/>
                          <a:latin typeface="Bahnschrift Condensed" panose="020B0502040204020203" pitchFamily="34" charset="0"/>
                        </a:rPr>
                        <a:t>46222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1" i="0" u="none" strike="noStrike">
                          <a:solidFill>
                            <a:srgbClr val="000000"/>
                          </a:solidFill>
                          <a:effectLst/>
                          <a:latin typeface="Bahnschrift Condensed" panose="020B0502040204020203" pitchFamily="34" charset="0"/>
                        </a:rPr>
                        <a:t>15643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14385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11134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42130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a:solidFill>
                            <a:srgbClr val="000000"/>
                          </a:solidFill>
                          <a:effectLst/>
                          <a:latin typeface="Bahnschrift Condensed" panose="020B0502040204020203" pitchFamily="34" charset="0"/>
                        </a:rPr>
                        <a:t>4092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ctr" fontAlgn="b"/>
                      <a:r>
                        <a:rPr lang="fr-FR" sz="1800" b="0" i="0" u="none" strike="noStrike" dirty="0">
                          <a:solidFill>
                            <a:srgbClr val="000000"/>
                          </a:solidFill>
                          <a:effectLst/>
                          <a:latin typeface="Bahnschrift Condensed" panose="020B0502040204020203"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81374691"/>
                  </a:ext>
                </a:extLst>
              </a:tr>
            </a:tbl>
          </a:graphicData>
        </a:graphic>
      </p:graphicFrame>
    </p:spTree>
    <p:extLst>
      <p:ext uri="{BB962C8B-B14F-4D97-AF65-F5344CB8AC3E}">
        <p14:creationId xmlns:p14="http://schemas.microsoft.com/office/powerpoint/2010/main" val="596515023"/>
      </p:ext>
    </p:extLst>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6"/>
            <a:ext cx="10515600" cy="604692"/>
          </a:xfrm>
        </p:spPr>
        <p:style>
          <a:lnRef idx="1">
            <a:schemeClr val="dk1"/>
          </a:lnRef>
          <a:fillRef idx="2">
            <a:schemeClr val="dk1"/>
          </a:fillRef>
          <a:effectRef idx="1">
            <a:schemeClr val="dk1"/>
          </a:effectRef>
          <a:fontRef idx="minor">
            <a:schemeClr val="dk1"/>
          </a:fontRef>
        </p:style>
        <p:txBody>
          <a:bodyPr>
            <a:normAutofit/>
          </a:bodyPr>
          <a:lstStyle/>
          <a:p>
            <a:r>
              <a:rPr lang="fr-FR" sz="3200" dirty="0">
                <a:latin typeface="Bahnschrift Condensed" panose="020B0502040204020203" pitchFamily="34" charset="0"/>
              </a:rPr>
              <a:t> </a:t>
            </a:r>
            <a:r>
              <a:rPr lang="fr-FR" sz="3200" dirty="0" smtClean="0">
                <a:latin typeface="Bahnschrift Condensed" panose="020B0502040204020203" pitchFamily="34" charset="0"/>
              </a:rPr>
              <a:t>                         SYNTHESE DE VACCINES PAR ANTIGENES</a:t>
            </a:r>
            <a:endParaRPr lang="fr-FR" sz="3200" dirty="0">
              <a:latin typeface="Bahnschrift Condensed" panose="020B0502040204020203" pitchFamily="34" charset="0"/>
            </a:endParaRPr>
          </a:p>
        </p:txBody>
      </p:sp>
      <p:sp>
        <p:nvSpPr>
          <p:cNvPr id="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05BC48C-1DD8-4ED4-AEB9-28A87F25D0CC}" type="datetime1">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07/12/2025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Espace réservé du pied de page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GESTION IPVS  DPS KASAI</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7D88A-0A00-4DD6-BEE2-4EF1457D8857}"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4" name="Tableau 3"/>
          <p:cNvGraphicFramePr>
            <a:graphicFrameLocks noGrp="1"/>
          </p:cNvGraphicFramePr>
          <p:nvPr>
            <p:extLst/>
          </p:nvPr>
        </p:nvGraphicFramePr>
        <p:xfrm>
          <a:off x="838201" y="1034477"/>
          <a:ext cx="10515600" cy="4967454"/>
        </p:xfrm>
        <a:graphic>
          <a:graphicData uri="http://schemas.openxmlformats.org/drawingml/2006/table">
            <a:tbl>
              <a:tblPr/>
              <a:tblGrid>
                <a:gridCol w="581361">
                  <a:extLst>
                    <a:ext uri="{9D8B030D-6E8A-4147-A177-3AD203B41FA5}">
                      <a16:colId xmlns:a16="http://schemas.microsoft.com/office/drawing/2014/main" val="821448162"/>
                    </a:ext>
                  </a:extLst>
                </a:gridCol>
                <a:gridCol w="1682532">
                  <a:extLst>
                    <a:ext uri="{9D8B030D-6E8A-4147-A177-3AD203B41FA5}">
                      <a16:colId xmlns:a16="http://schemas.microsoft.com/office/drawing/2014/main" val="3701987039"/>
                    </a:ext>
                  </a:extLst>
                </a:gridCol>
                <a:gridCol w="1961396">
                  <a:extLst>
                    <a:ext uri="{9D8B030D-6E8A-4147-A177-3AD203B41FA5}">
                      <a16:colId xmlns:a16="http://schemas.microsoft.com/office/drawing/2014/main" val="3965934215"/>
                    </a:ext>
                  </a:extLst>
                </a:gridCol>
                <a:gridCol w="1387141">
                  <a:extLst>
                    <a:ext uri="{9D8B030D-6E8A-4147-A177-3AD203B41FA5}">
                      <a16:colId xmlns:a16="http://schemas.microsoft.com/office/drawing/2014/main" val="3281471045"/>
                    </a:ext>
                  </a:extLst>
                </a:gridCol>
                <a:gridCol w="1634390">
                  <a:extLst>
                    <a:ext uri="{9D8B030D-6E8A-4147-A177-3AD203B41FA5}">
                      <a16:colId xmlns:a16="http://schemas.microsoft.com/office/drawing/2014/main" val="3172171198"/>
                    </a:ext>
                  </a:extLst>
                </a:gridCol>
                <a:gridCol w="1634390">
                  <a:extLst>
                    <a:ext uri="{9D8B030D-6E8A-4147-A177-3AD203B41FA5}">
                      <a16:colId xmlns:a16="http://schemas.microsoft.com/office/drawing/2014/main" val="1071505691"/>
                    </a:ext>
                  </a:extLst>
                </a:gridCol>
                <a:gridCol w="1634390">
                  <a:extLst>
                    <a:ext uri="{9D8B030D-6E8A-4147-A177-3AD203B41FA5}">
                      <a16:colId xmlns:a16="http://schemas.microsoft.com/office/drawing/2014/main" val="704118151"/>
                    </a:ext>
                  </a:extLst>
                </a:gridCol>
              </a:tblGrid>
              <a:tr h="521881">
                <a:tc rowSpan="2">
                  <a:txBody>
                    <a:bodyPr/>
                    <a:lstStyle/>
                    <a:p>
                      <a:pPr algn="ctr" rtl="0" fontAlgn="ctr"/>
                      <a:endParaRPr lang="fr-FR" sz="16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rtl="0" fontAlgn="ctr"/>
                      <a:r>
                        <a:rPr lang="fr-FR" sz="1600" b="0" i="0" u="none" strike="noStrike" dirty="0" smtClean="0">
                          <a:solidFill>
                            <a:srgbClr val="000000"/>
                          </a:solidFill>
                          <a:effectLst/>
                          <a:latin typeface="Bahnschrift Condensed" panose="020B0502040204020203" pitchFamily="34" charset="0"/>
                        </a:rPr>
                        <a:t>ANTIGENES</a:t>
                      </a:r>
                      <a:endParaRPr lang="fr-FR" sz="16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gridSpan="3">
                  <a:txBody>
                    <a:bodyPr/>
                    <a:lstStyle/>
                    <a:p>
                      <a:pPr algn="ctr" rtl="0" fontAlgn="ctr"/>
                      <a:r>
                        <a:rPr lang="fr-FR" sz="1800" b="0" i="0" u="none" strike="noStrike" dirty="0">
                          <a:solidFill>
                            <a:srgbClr val="000000"/>
                          </a:solidFill>
                          <a:effectLst/>
                          <a:latin typeface="Bahnschrift Condensed" panose="020B0502040204020203" pitchFamily="34" charset="0"/>
                        </a:rPr>
                        <a:t>ENFANTS VACCINES EN </a:t>
                      </a:r>
                      <a:r>
                        <a:rPr lang="fr-FR" sz="1800" b="0" i="0" u="none" strike="noStrike" baseline="0" dirty="0" smtClean="0">
                          <a:solidFill>
                            <a:srgbClr val="000000"/>
                          </a:solidFill>
                          <a:effectLst/>
                          <a:latin typeface="Bahnschrift Condensed" panose="020B0502040204020203" pitchFamily="34" charset="0"/>
                        </a:rPr>
                        <a:t> 3 PASSAGES /IPVS</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fr-FR"/>
                    </a:p>
                  </a:txBody>
                  <a:tcPr/>
                </a:tc>
                <a:tc hMerge="1">
                  <a:txBody>
                    <a:bodyPr/>
                    <a:lstStyle/>
                    <a:p>
                      <a:endParaRPr lang="fr-FR"/>
                    </a:p>
                  </a:txBody>
                  <a:tcPr/>
                </a:tc>
                <a:tc gridSpan="2">
                  <a:txBody>
                    <a:bodyPr/>
                    <a:lstStyle/>
                    <a:p>
                      <a:pPr algn="ctr" rtl="0" fontAlgn="ctr"/>
                      <a:r>
                        <a:rPr lang="fr-FR" sz="1800" b="0" i="0" u="none" strike="noStrike" dirty="0" smtClean="0">
                          <a:solidFill>
                            <a:srgbClr val="000000"/>
                          </a:solidFill>
                          <a:effectLst/>
                          <a:latin typeface="Bahnschrift Condensed" panose="020B0502040204020203" pitchFamily="34" charset="0"/>
                        </a:rPr>
                        <a:t>REPARTITION</a:t>
                      </a:r>
                      <a:r>
                        <a:rPr lang="fr-FR" sz="1800" b="0" i="0" u="none" strike="noStrike" baseline="0" dirty="0" smtClean="0">
                          <a:solidFill>
                            <a:srgbClr val="000000"/>
                          </a:solidFill>
                          <a:effectLst/>
                          <a:latin typeface="Bahnschrift Condensed" panose="020B0502040204020203" pitchFamily="34" charset="0"/>
                        </a:rPr>
                        <a:t> PAR SEXE</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ct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45950410"/>
                  </a:ext>
                </a:extLst>
              </a:tr>
              <a:tr h="521881">
                <a:tc vMerge="1">
                  <a:txBody>
                    <a:bodyPr/>
                    <a:lstStyle/>
                    <a:p>
                      <a:endParaRPr lang="fr-FR"/>
                    </a:p>
                  </a:txBody>
                  <a:tcPr/>
                </a:tc>
                <a:tc vMerge="1">
                  <a:txBody>
                    <a:bodyPr/>
                    <a:lstStyle/>
                    <a:p>
                      <a:endParaRPr lang="fr-FR"/>
                    </a:p>
                  </a:txBody>
                  <a:tcPr/>
                </a:tc>
                <a:tc>
                  <a:txBody>
                    <a:bodyPr/>
                    <a:lstStyle/>
                    <a:p>
                      <a:pPr algn="ctr" rtl="0" fontAlgn="ctr"/>
                      <a:r>
                        <a:rPr lang="fr-FR" sz="1800" b="0" i="0" u="none" strike="noStrike" dirty="0">
                          <a:solidFill>
                            <a:srgbClr val="000000"/>
                          </a:solidFill>
                          <a:effectLst/>
                          <a:latin typeface="Bahnschrift Condensed" panose="020B0502040204020203" pitchFamily="34" charset="0"/>
                        </a:rPr>
                        <a:t>12-23 MOIS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a:solidFill>
                            <a:srgbClr val="000000"/>
                          </a:solidFill>
                          <a:effectLst/>
                          <a:latin typeface="Bahnschrift Condensed" panose="020B0502040204020203" pitchFamily="34" charset="0"/>
                        </a:rPr>
                        <a:t>24-59 MOIS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a:solidFill>
                            <a:srgbClr val="000000"/>
                          </a:solidFill>
                          <a:effectLst/>
                          <a:latin typeface="Bahnschrift Condensed" panose="020B0502040204020203"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smtClean="0">
                          <a:solidFill>
                            <a:srgbClr val="000000"/>
                          </a:solidFill>
                          <a:effectLst/>
                          <a:latin typeface="Bahnschrift Condensed" panose="020B0502040204020203" pitchFamily="34" charset="0"/>
                        </a:rPr>
                        <a:t>M</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fr-FR" sz="1800" b="0" i="0" u="none" strike="noStrike" dirty="0" smtClean="0">
                          <a:solidFill>
                            <a:srgbClr val="000000"/>
                          </a:solidFill>
                          <a:effectLst/>
                          <a:latin typeface="Bahnschrift Condensed" panose="020B0502040204020203" pitchFamily="34" charset="0"/>
                        </a:rPr>
                        <a:t>F</a:t>
                      </a:r>
                      <a:endParaRPr lang="fr-FR" sz="18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81933830"/>
                  </a:ext>
                </a:extLst>
              </a:tr>
              <a:tr h="459221">
                <a:tc>
                  <a:txBody>
                    <a:bodyPr/>
                    <a:lstStyle/>
                    <a:p>
                      <a:pPr algn="ctr" fontAlgn="b"/>
                      <a:r>
                        <a:rPr lang="fr-FR" sz="2400" b="0" i="0" u="none" strike="noStrike" dirty="0" smtClean="0">
                          <a:solidFill>
                            <a:srgbClr val="000000"/>
                          </a:solidFill>
                          <a:effectLst/>
                          <a:latin typeface="Bahnschrift Condensed" panose="020B0502040204020203" pitchFamily="34" charset="0"/>
                        </a:rPr>
                        <a:t>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a:solidFill>
                            <a:srgbClr val="000000"/>
                          </a:solidFill>
                          <a:effectLst/>
                          <a:latin typeface="Bahnschrift Condensed" panose="020B0502040204020203" pitchFamily="34" charset="0"/>
                        </a:rPr>
                        <a:t> </a:t>
                      </a:r>
                      <a:r>
                        <a:rPr lang="fr-FR" sz="2400" b="0" i="0" u="none" strike="noStrike" dirty="0" smtClean="0">
                          <a:solidFill>
                            <a:srgbClr val="000000"/>
                          </a:solidFill>
                          <a:effectLst/>
                          <a:latin typeface="Bahnschrift Condensed" panose="020B0502040204020203" pitchFamily="34" charset="0"/>
                        </a:rPr>
                        <a:t>PENTA-1 </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2000" b="0" i="0" u="none" strike="noStrike" dirty="0" smtClean="0">
                          <a:solidFill>
                            <a:srgbClr val="000000"/>
                          </a:solidFill>
                          <a:effectLst/>
                          <a:latin typeface="Bahnschrift Condensed" panose="020B0502040204020203" pitchFamily="34" charset="0"/>
                        </a:rPr>
                        <a:t>6658</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fr-FR" sz="2000" b="0" i="0" u="none" strike="noStrike" dirty="0" smtClean="0">
                          <a:solidFill>
                            <a:srgbClr val="000000"/>
                          </a:solidFill>
                          <a:effectLst/>
                          <a:latin typeface="Bahnschrift Condensed" panose="020B0502040204020203" pitchFamily="34" charset="0"/>
                        </a:rPr>
                        <a:t>8037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14695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7201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7494</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5991798"/>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PENTA-3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000" b="1" i="0" u="none" strike="noStrike" dirty="0" smtClean="0">
                          <a:solidFill>
                            <a:srgbClr val="000000"/>
                          </a:solidFill>
                          <a:effectLst/>
                          <a:latin typeface="Calibri" panose="020F0502020204030204" pitchFamily="34" charset="0"/>
                        </a:rPr>
                        <a:t>6031</a:t>
                      </a:r>
                      <a:endParaRPr lang="fr-FR" sz="20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000" b="1" i="0" u="none" strike="noStrike" dirty="0" smtClean="0">
                          <a:solidFill>
                            <a:srgbClr val="000000"/>
                          </a:solidFill>
                          <a:effectLst/>
                          <a:latin typeface="Calibri" panose="020F0502020204030204" pitchFamily="34" charset="0"/>
                        </a:rPr>
                        <a:t>6658</a:t>
                      </a:r>
                      <a:endParaRPr lang="fr-FR" sz="2000" b="1" i="0" u="none" strike="noStrike" dirty="0">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12689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6218</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6471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9033196"/>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VPI-</a:t>
                      </a:r>
                      <a:r>
                        <a:rPr lang="fr-FR" sz="2400" b="0" i="0" u="none" strike="noStrike" baseline="0" dirty="0" smtClean="0">
                          <a:solidFill>
                            <a:srgbClr val="000000"/>
                          </a:solidFill>
                          <a:effectLst/>
                          <a:latin typeface="Bahnschrift Condensed" panose="020B0502040204020203" pitchFamily="34" charset="0"/>
                        </a:rPr>
                        <a:t> 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13821</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13821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6773</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7049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7337965"/>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4</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VPI-2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14127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14127</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6922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7205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511739"/>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VAR-1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14037</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14037</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6878</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7159</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971665"/>
                  </a:ext>
                </a:extLst>
              </a:tr>
              <a:tr h="559538">
                <a:tc>
                  <a:txBody>
                    <a:bodyPr/>
                    <a:lstStyle/>
                    <a:p>
                      <a:pPr algn="ctr" fontAlgn="b"/>
                      <a:r>
                        <a:rPr lang="fr-FR" sz="2400" b="0" i="0" u="none" strike="noStrike" dirty="0" smtClean="0">
                          <a:solidFill>
                            <a:srgbClr val="000000"/>
                          </a:solidFill>
                          <a:effectLst/>
                          <a:latin typeface="Bahnschrift Condensed" panose="020B0502040204020203" pitchFamily="34" charset="0"/>
                        </a:rPr>
                        <a:t>6</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VAR-2</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0</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2000" b="0" i="0" u="none" strike="noStrike" dirty="0" smtClean="0">
                          <a:solidFill>
                            <a:srgbClr val="000000"/>
                          </a:solidFill>
                          <a:effectLst/>
                          <a:latin typeface="Bahnschrift Condensed" panose="020B0502040204020203" pitchFamily="34" charset="0"/>
                        </a:rPr>
                        <a:t>18971</a:t>
                      </a:r>
                      <a:endParaRPr lang="fr-FR" sz="2000" b="0" i="0" u="none" strike="noStrike" dirty="0">
                        <a:solidFill>
                          <a:srgbClr val="000000"/>
                        </a:solidFill>
                        <a:effectLst/>
                        <a:latin typeface="Bahnschrift Condensed" panose="020B0502040204020203"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18971</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9296</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2400" b="0" i="0" u="none" strike="noStrike" dirty="0" smtClean="0">
                          <a:solidFill>
                            <a:srgbClr val="000000"/>
                          </a:solidFill>
                          <a:effectLst/>
                          <a:latin typeface="Bahnschrift Condensed" panose="020B0502040204020203" pitchFamily="34" charset="0"/>
                        </a:rPr>
                        <a:t>9675</a:t>
                      </a:r>
                      <a:endParaRPr lang="fr-FR" sz="24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7668075"/>
                  </a:ext>
                </a:extLst>
              </a:tr>
              <a:tr h="666781">
                <a:tc>
                  <a:txBody>
                    <a:bodyPr/>
                    <a:lstStyle/>
                    <a:p>
                      <a:endParaRPr lang="fr-FR" dirty="0"/>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r>
                        <a:rPr lang="fr-FR" dirty="0" smtClean="0"/>
                        <a:t>PROVINCE DU KASAI</a:t>
                      </a:r>
                      <a:endParaRPr lang="fr-FR" dirty="0"/>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fr-FR" sz="1800" b="0" i="0" u="none" strike="noStrike" dirty="0" smtClean="0">
                          <a:solidFill>
                            <a:srgbClr val="000000"/>
                          </a:solidFill>
                          <a:effectLst/>
                          <a:latin typeface="Bahnschrift Condensed" panose="020B0502040204020203" pitchFamily="34" charset="0"/>
                        </a:rPr>
                        <a:t>40538</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fr-FR" sz="1800" b="0" i="0" u="none" strike="noStrike" dirty="0" smtClean="0">
                          <a:solidFill>
                            <a:srgbClr val="000000"/>
                          </a:solidFill>
                          <a:effectLst/>
                          <a:latin typeface="Bahnschrift Condensed" panose="020B0502040204020203" pitchFamily="34" charset="0"/>
                        </a:rPr>
                        <a:t>47793</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88331</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43288</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fr-FR" sz="1800" b="0" i="0" u="none" strike="noStrike" dirty="0" smtClean="0">
                          <a:solidFill>
                            <a:srgbClr val="000000"/>
                          </a:solidFill>
                          <a:effectLst/>
                          <a:latin typeface="Bahnschrift Condensed" panose="020B0502040204020203" pitchFamily="34" charset="0"/>
                        </a:rPr>
                        <a:t>45053</a:t>
                      </a:r>
                      <a:endParaRPr lang="fr-FR" sz="1800" b="0" i="0" u="none" strike="noStrike" dirty="0">
                        <a:solidFill>
                          <a:srgbClr val="000000"/>
                        </a:solidFill>
                        <a:effectLst/>
                        <a:latin typeface="Bahnschrift Condensed" panose="020B0502040204020203"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0745310"/>
                  </a:ext>
                </a:extLst>
              </a:tr>
            </a:tbl>
          </a:graphicData>
        </a:graphic>
      </p:graphicFrame>
    </p:spTree>
    <p:extLst>
      <p:ext uri="{BB962C8B-B14F-4D97-AF65-F5344CB8AC3E}">
        <p14:creationId xmlns:p14="http://schemas.microsoft.com/office/powerpoint/2010/main" val="3426640158"/>
      </p:ext>
    </p:extLst>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aabc9d920d_0_428"/>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 FFOM</a:t>
            </a: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6" name="Google Shape;246;g3aabc9d920d_0_42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7" name="Google Shape;247;g3aabc9d920d_0_42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g3aabc9d920d_0_42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9" name="Google Shape;249;g3aabc9d920d_0_428"/>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50" name="Google Shape;250;g3aabc9d920d_0_428"/>
          <p:cNvGraphicFramePr/>
          <p:nvPr>
            <p:extLst>
              <p:ext uri="{D42A27DB-BD31-4B8C-83A1-F6EECF244321}">
                <p14:modId xmlns:p14="http://schemas.microsoft.com/office/powerpoint/2010/main" val="4289878278"/>
              </p:ext>
            </p:extLst>
          </p:nvPr>
        </p:nvGraphicFramePr>
        <p:xfrm>
          <a:off x="458586" y="1049652"/>
          <a:ext cx="11274925" cy="4665360"/>
        </p:xfrm>
        <a:graphic>
          <a:graphicData uri="http://schemas.openxmlformats.org/drawingml/2006/table">
            <a:tbl>
              <a:tblPr>
                <a:noFill/>
                <a:tableStyleId>{628BBFD1-A734-4757-B910-67CC1CD15934}</a:tableStyleId>
              </a:tblPr>
              <a:tblGrid>
                <a:gridCol w="790792">
                  <a:extLst>
                    <a:ext uri="{9D8B030D-6E8A-4147-A177-3AD203B41FA5}">
                      <a16:colId xmlns:a16="http://schemas.microsoft.com/office/drawing/2014/main" val="20000"/>
                    </a:ext>
                  </a:extLst>
                </a:gridCol>
                <a:gridCol w="3995458">
                  <a:extLst>
                    <a:ext uri="{9D8B030D-6E8A-4147-A177-3AD203B41FA5}">
                      <a16:colId xmlns:a16="http://schemas.microsoft.com/office/drawing/2014/main" val="20001"/>
                    </a:ext>
                  </a:extLst>
                </a:gridCol>
                <a:gridCol w="3790522">
                  <a:extLst>
                    <a:ext uri="{9D8B030D-6E8A-4147-A177-3AD203B41FA5}">
                      <a16:colId xmlns:a16="http://schemas.microsoft.com/office/drawing/2014/main" val="20002"/>
                    </a:ext>
                  </a:extLst>
                </a:gridCol>
                <a:gridCol w="1376127">
                  <a:extLst>
                    <a:ext uri="{9D8B030D-6E8A-4147-A177-3AD203B41FA5}">
                      <a16:colId xmlns:a16="http://schemas.microsoft.com/office/drawing/2014/main" val="20003"/>
                    </a:ext>
                  </a:extLst>
                </a:gridCol>
                <a:gridCol w="1322026">
                  <a:extLst>
                    <a:ext uri="{9D8B030D-6E8A-4147-A177-3AD203B41FA5}">
                      <a16:colId xmlns:a16="http://schemas.microsoft.com/office/drawing/2014/main" val="20004"/>
                    </a:ext>
                  </a:extLst>
                </a:gridCol>
              </a:tblGrid>
              <a:tr h="532425">
                <a:tc>
                  <a:txBody>
                    <a:bodyPr/>
                    <a:lstStyle/>
                    <a:p>
                      <a:pPr marL="0" marR="0" lvl="0" indent="0" algn="ctr" rtl="0">
                        <a:spcBef>
                          <a:spcPts val="0"/>
                        </a:spcBef>
                        <a:spcAft>
                          <a:spcPts val="0"/>
                        </a:spcAft>
                        <a:buNone/>
                      </a:pPr>
                      <a:r>
                        <a:rPr lang="en-US" sz="1800" b="1" i="0" u="none" strike="noStrike" cap="none"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Activités</a:t>
                      </a:r>
                      <a:r>
                        <a:rPr lang="en-US"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US" sz="1800" b="1" i="0" u="none" strike="noStrike" cap="none"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spécifiques</a:t>
                      </a:r>
                      <a:endParaRPr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Forces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Faiblesses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Opportunités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Menaces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501100">
                <a:tc rowSpan="4">
                  <a:txBody>
                    <a:bodyPr/>
                    <a:lstStyle/>
                    <a:p>
                      <a:pPr marL="0" marR="0" lvl="0" indent="0" algn="l" rtl="0">
                        <a:spcBef>
                          <a:spcPts val="0"/>
                        </a:spcBef>
                        <a:spcAft>
                          <a:spcPts val="0"/>
                        </a:spcAft>
                        <a:buNone/>
                      </a:pPr>
                      <a:r>
                        <a:rPr lang="en-US"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FAE</a:t>
                      </a:r>
                      <a:endParaRPr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D9D9"/>
                    </a:solidFill>
                  </a:tcPr>
                </a:tc>
                <a:tc>
                  <a:txBody>
                    <a:bodyPr/>
                    <a:lstStyle/>
                    <a:p>
                      <a:pPr algn="l" fontAlgn="t"/>
                      <a:r>
                        <a:rPr lang="fr-FR" sz="1200" b="0" i="0" u="none" strike="noStrike" dirty="0">
                          <a:solidFill>
                            <a:srgbClr val="000000"/>
                          </a:solidFill>
                          <a:effectLst/>
                          <a:latin typeface="Aptos Narrow"/>
                        </a:rPr>
                        <a:t>Organisation des activités de vaccination dans les structures sanitaires avec des horaires adaptés aux disponibilités des mères et les adolescentes (WE, jours fériés)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Non Organisation  des activités de vaccination à tout contact pour la réduction des occasions de vaccination manquées (OVM) au cours des activités curatives et préventives dans les Etablissements des soins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000000"/>
                          </a:solidFill>
                          <a:effectLst/>
                          <a:latin typeface="Aptos Narrow"/>
                          <a:ea typeface="Arial" panose="020B0604020202020204"/>
                          <a:cs typeface="Arial" panose="020B0604020202020204"/>
                          <a:sym typeface="Times New Roman" panose="02020603050405020304"/>
                        </a:rPr>
                        <a:t>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Organisation</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 de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trois</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 passages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d’IPVS</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fr-FR"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La fin du projet FAE</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1100">
                <a:tc vMerge="1">
                  <a:txBody>
                    <a:bodyPr/>
                    <a:lstStyle/>
                    <a:p>
                      <a:endParaRPr lang="fr-FR"/>
                    </a:p>
                  </a:txBody>
                  <a:tcPr/>
                </a:tc>
                <a:tc>
                  <a:txBody>
                    <a:bodyPr/>
                    <a:lstStyle/>
                    <a:p>
                      <a:pPr algn="l" fontAlgn="t"/>
                      <a:r>
                        <a:rPr lang="fr-FR" sz="1200" b="0" i="0" u="none" strike="noStrike" dirty="0">
                          <a:solidFill>
                            <a:srgbClr val="000000"/>
                          </a:solidFill>
                          <a:effectLst/>
                          <a:latin typeface="Aptos Narrow"/>
                        </a:rPr>
                        <a:t>Organisation des stratégies avancées de vaccination selon la cartographie des EZD du CS dans les sites éloignés à forte concentration ZD (mise en place de l'approche fluviale et transfrontalière, corridor de mobilité, réalisation des séances en avancée en utilisant du matériel garantissant la qualité du vaccin pour des longues distances tel que indigo)</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rgbClr val="FF0000"/>
                          </a:solidFill>
                          <a:effectLst/>
                          <a:latin typeface="Aptos Narrow"/>
                        </a:rPr>
                        <a:t>Faible Organisation des supervisions mensuelles des aires de santé à forte concentration d’EZD à l’aide des outils NTIC et évaluer le nombre d’EZD atteints en chiffre absolu selon leur âge et leur sexe.</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000000"/>
                          </a:solidFill>
                          <a:effectLst/>
                          <a:latin typeface="Aptos Narrow"/>
                          <a:ea typeface="Arial" panose="020B0604020202020204"/>
                          <a:cs typeface="Arial" panose="020B0604020202020204"/>
                          <a:sym typeface="Times New Roman" panose="02020603050405020304"/>
                        </a:rPr>
                        <a:t> </a:t>
                      </a:r>
                      <a:r>
                        <a:rPr lang="fr-FR"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La récupération des EZD et SV pendant les JNV</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1100">
                <a:tc vMerge="1">
                  <a:txBody>
                    <a:bodyPr/>
                    <a:lstStyle/>
                    <a:p>
                      <a:endParaRPr lang="fr-FR"/>
                    </a:p>
                  </a:txBody>
                  <a:tcPr/>
                </a:tc>
                <a:tc>
                  <a:txBody>
                    <a:bodyPr/>
                    <a:lstStyle/>
                    <a:p>
                      <a:pPr algn="l" fontAlgn="t"/>
                      <a:r>
                        <a:rPr lang="fr-FR" sz="1200" b="0" i="0" u="none" strike="noStrike" dirty="0">
                          <a:solidFill>
                            <a:srgbClr val="000000"/>
                          </a:solidFill>
                          <a:effectLst/>
                          <a:latin typeface="Aptos Narrow"/>
                        </a:rPr>
                        <a:t>Organisation des activités de vaccination dans les points de concentration (marchés fréquentés par les femmes et les adolescentes, carrefours, ports, rassemblements ponctuels des femmes ayant des enfants de moins de 5 ans dans les églises…)</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algn="l" fontAlgn="b"/>
                      <a:r>
                        <a:rPr lang="fr-FR" sz="1200" b="0" i="0" u="none" strike="noStrike" dirty="0">
                          <a:solidFill>
                            <a:srgbClr val="000000"/>
                          </a:solidFill>
                          <a:effectLst/>
                          <a:latin typeface="Aptos Narrow"/>
                        </a:rPr>
                        <a:t> </a:t>
                      </a:r>
                    </a:p>
                  </a:txBody>
                  <a:tcPr marL="6350" marR="6350" marT="6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1100">
                <a:tc vMerge="1">
                  <a:txBody>
                    <a:bodyPr/>
                    <a:lstStyle/>
                    <a:p>
                      <a:endParaRPr lang="fr-FR"/>
                    </a:p>
                  </a:txBody>
                  <a:tcPr/>
                </a:tc>
                <a:tc>
                  <a:txBody>
                    <a:bodyPr/>
                    <a:lstStyle/>
                    <a:p>
                      <a:pPr algn="l" fontAlgn="t"/>
                      <a:r>
                        <a:rPr lang="fr-FR" sz="1600" b="0" i="0" u="none" strike="noStrike" dirty="0">
                          <a:solidFill>
                            <a:srgbClr val="000000"/>
                          </a:solidFill>
                          <a:effectLst/>
                          <a:latin typeface="Aptos Narrow"/>
                        </a:rPr>
                        <a:t> </a:t>
                      </a:r>
                      <a:r>
                        <a:rPr lang="fr-FR" sz="1200" b="0" i="0" u="none" strike="noStrike" cap="none" dirty="0">
                          <a:solidFill>
                            <a:srgbClr val="000000"/>
                          </a:solidFill>
                          <a:effectLst/>
                          <a:latin typeface="Aptos Narrow"/>
                          <a:ea typeface="Arial" panose="020B0604020202020204"/>
                          <a:cs typeface="Arial" panose="020B0604020202020204"/>
                          <a:sym typeface="Arial" panose="020B0604020202020204"/>
                        </a:rPr>
                        <a:t>Identification des besoins en formation sur la Gestion PEV, le genre et l'équité avec un focus sur l'identification et la vaccination des enfants ZD</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cap="none" dirty="0" smtClean="0">
                          <a:solidFill>
                            <a:srgbClr val="FF0000"/>
                          </a:solidFill>
                          <a:effectLst/>
                          <a:latin typeface="Aptos Narrow"/>
                          <a:ea typeface="Arial" panose="020B0604020202020204"/>
                          <a:cs typeface="Arial" panose="020B0604020202020204"/>
                          <a:sym typeface="Arial" panose="020B0604020202020204"/>
                        </a:rPr>
                        <a:t>Plus de 90% des prestataires non formés  </a:t>
                      </a:r>
                      <a:r>
                        <a:rPr lang="fr-FR" sz="1200" b="0" i="0" u="none" strike="noStrike" cap="none" dirty="0">
                          <a:solidFill>
                            <a:srgbClr val="FF0000"/>
                          </a:solidFill>
                          <a:effectLst/>
                          <a:latin typeface="Aptos Narrow"/>
                          <a:ea typeface="Arial" panose="020B0604020202020204"/>
                          <a:cs typeface="Arial" panose="020B0604020202020204"/>
                          <a:sym typeface="Arial" panose="020B0604020202020204"/>
                        </a:rPr>
                        <a:t>en Gestion PEV plus stratégies de vaccination, Genre et Equité à l'aide des supports vidéo organisée</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aabc9d920d_0_428"/>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 FFOM</a:t>
            </a: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6" name="Google Shape;246;g3aabc9d920d_0_42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7" name="Google Shape;247;g3aabc9d920d_0_42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 name="Google Shape;248;g3aabc9d920d_0_42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49" name="Google Shape;249;g3aabc9d920d_0_428"/>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50" name="Google Shape;250;g3aabc9d920d_0_428"/>
          <p:cNvGraphicFramePr/>
          <p:nvPr>
            <p:extLst>
              <p:ext uri="{D42A27DB-BD31-4B8C-83A1-F6EECF244321}">
                <p14:modId xmlns:p14="http://schemas.microsoft.com/office/powerpoint/2010/main" val="3054988297"/>
              </p:ext>
            </p:extLst>
          </p:nvPr>
        </p:nvGraphicFramePr>
        <p:xfrm>
          <a:off x="458592" y="649863"/>
          <a:ext cx="11274925" cy="4976510"/>
        </p:xfrm>
        <a:graphic>
          <a:graphicData uri="http://schemas.openxmlformats.org/drawingml/2006/table">
            <a:tbl>
              <a:tblPr>
                <a:noFill/>
                <a:tableStyleId>{628BBFD1-A734-4757-B910-67CC1CD15934}</a:tableStyleId>
              </a:tblPr>
              <a:tblGrid>
                <a:gridCol w="1198192">
                  <a:extLst>
                    <a:ext uri="{9D8B030D-6E8A-4147-A177-3AD203B41FA5}">
                      <a16:colId xmlns:a16="http://schemas.microsoft.com/office/drawing/2014/main" val="20000"/>
                    </a:ext>
                  </a:extLst>
                </a:gridCol>
                <a:gridCol w="4300402">
                  <a:extLst>
                    <a:ext uri="{9D8B030D-6E8A-4147-A177-3AD203B41FA5}">
                      <a16:colId xmlns:a16="http://schemas.microsoft.com/office/drawing/2014/main" val="20001"/>
                    </a:ext>
                  </a:extLst>
                </a:gridCol>
                <a:gridCol w="3404097">
                  <a:extLst>
                    <a:ext uri="{9D8B030D-6E8A-4147-A177-3AD203B41FA5}">
                      <a16:colId xmlns:a16="http://schemas.microsoft.com/office/drawing/2014/main" val="20002"/>
                    </a:ext>
                  </a:extLst>
                </a:gridCol>
                <a:gridCol w="1077363">
                  <a:extLst>
                    <a:ext uri="{9D8B030D-6E8A-4147-A177-3AD203B41FA5}">
                      <a16:colId xmlns:a16="http://schemas.microsoft.com/office/drawing/2014/main" val="20003"/>
                    </a:ext>
                  </a:extLst>
                </a:gridCol>
                <a:gridCol w="1294871">
                  <a:extLst>
                    <a:ext uri="{9D8B030D-6E8A-4147-A177-3AD203B41FA5}">
                      <a16:colId xmlns:a16="http://schemas.microsoft.com/office/drawing/2014/main" val="20004"/>
                    </a:ext>
                  </a:extLst>
                </a:gridCol>
              </a:tblGrid>
              <a:tr h="532425">
                <a:tc>
                  <a:txBody>
                    <a:bodyPr/>
                    <a:lstStyle/>
                    <a:p>
                      <a:pPr marL="0" marR="0" lvl="0" indent="0" algn="ctr" rtl="0">
                        <a:spcBef>
                          <a:spcPts val="0"/>
                        </a:spcBef>
                        <a:spcAft>
                          <a:spcPts val="0"/>
                        </a:spcAft>
                        <a:buNone/>
                      </a:pPr>
                      <a:r>
                        <a:rPr lang="en-US" sz="1800" b="1" i="0" u="none" strike="noStrike" cap="none"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Activités</a:t>
                      </a:r>
                      <a:r>
                        <a:rPr lang="en-US"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r>
                        <a:rPr lang="en-US" sz="1800" b="1" i="0" u="none" strike="noStrike" cap="none" dirty="0" err="1">
                          <a:solidFill>
                            <a:srgbClr val="FFFFFF"/>
                          </a:solidFill>
                          <a:latin typeface="Times New Roman" panose="02020603050405020304"/>
                          <a:ea typeface="Times New Roman" panose="02020603050405020304"/>
                          <a:cs typeface="Times New Roman" panose="02020603050405020304"/>
                          <a:sym typeface="Times New Roman" panose="02020603050405020304"/>
                        </a:rPr>
                        <a:t>spécifiques</a:t>
                      </a:r>
                      <a:endParaRPr sz="1800" b="1"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Forces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Faiblesses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Opportunités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Menaces</a:t>
                      </a:r>
                      <a:endParaRPr sz="1800" b="1"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501100">
                <a:tc rowSpan="5">
                  <a:txBody>
                    <a:bodyPr/>
                    <a:lstStyle/>
                    <a:p>
                      <a:pPr marL="0" marR="0" lvl="0" indent="0" algn="l" rtl="0">
                        <a:spcBef>
                          <a:spcPts val="0"/>
                        </a:spcBef>
                        <a:spcAft>
                          <a:spcPts val="0"/>
                        </a:spcAft>
                        <a:buNone/>
                      </a:pPr>
                      <a:r>
                        <a:rPr lang="en-US"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FAE</a:t>
                      </a:r>
                      <a:endParaRPr sz="160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D9D9"/>
                    </a:solidFill>
                  </a:tcPr>
                </a:tc>
                <a:tc>
                  <a:txBody>
                    <a:bodyPr/>
                    <a:lstStyle/>
                    <a:p>
                      <a:pPr algn="l" fontAlgn="t"/>
                      <a:r>
                        <a:rPr lang="fr-FR" sz="1200" b="0" i="0" u="none" strike="noStrike" dirty="0">
                          <a:solidFill>
                            <a:srgbClr val="000000"/>
                          </a:solidFill>
                          <a:effectLst/>
                          <a:latin typeface="Aptos Narrow"/>
                        </a:rPr>
                        <a:t> Distribution directe des vaccins et autres intrants de vaccination dans les aires de santé à accès difficile selon l'approche de la nouvelle Génération de la Chaine d’Approvisionnement (NGCA) à un rythme trimestriel (au niveau des points de transit et/ou aires de santé spécifique)</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Manque des moyens de transport et le carburant autour des ES pour la vaccination des EZD vivant au-delà de 5 Km des ETS</a:t>
                      </a:r>
                    </a:p>
                  </a:txBody>
                  <a:tcPr marL="6350" marR="6350" marT="635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a:solidFill>
                            <a:srgbClr val="000000"/>
                          </a:solidFill>
                          <a:effectLst/>
                          <a:latin typeface="Aptos Narrow"/>
                          <a:ea typeface="Arial" panose="020B0604020202020204"/>
                          <a:cs typeface="Arial" panose="020B0604020202020204"/>
                          <a:sym typeface="Times New Roman" panose="02020603050405020304"/>
                        </a:rPr>
                        <a:t> </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la non integration des 7/18ZS dans le </a:t>
                      </a:r>
                      <a:r>
                        <a:rPr lang="en-US" sz="1200" b="0" i="0" u="none" strike="noStrike" cap="none" dirty="0" err="1" smtClean="0">
                          <a:solidFill>
                            <a:srgbClr val="000000"/>
                          </a:solidFill>
                          <a:effectLst/>
                          <a:latin typeface="Aptos Narrow"/>
                          <a:ea typeface="Arial" panose="020B0604020202020204"/>
                          <a:cs typeface="Arial" panose="020B0604020202020204"/>
                          <a:sym typeface="Times New Roman" panose="02020603050405020304"/>
                        </a:rPr>
                        <a:t>projet</a:t>
                      </a:r>
                      <a:r>
                        <a:rPr lang="en-US" sz="1200" b="0" i="0" u="none" strike="noStrike" cap="none" dirty="0" smtClean="0">
                          <a:solidFill>
                            <a:srgbClr val="000000"/>
                          </a:solidFill>
                          <a:effectLst/>
                          <a:latin typeface="Aptos Narrow"/>
                          <a:ea typeface="Arial" panose="020B0604020202020204"/>
                          <a:cs typeface="Arial" panose="020B0604020202020204"/>
                          <a:sym typeface="Times New Roman" panose="02020603050405020304"/>
                        </a:rPr>
                        <a:t> FAE</a:t>
                      </a:r>
                      <a:endParaRPr sz="1200" b="0" i="0" u="none" strike="noStrike" cap="none" dirty="0">
                        <a:solidFill>
                          <a:srgbClr val="000000"/>
                        </a:solidFill>
                        <a:effectLst/>
                        <a:latin typeface="Aptos Narrow"/>
                        <a:ea typeface="Arial" panose="020B0604020202020204"/>
                        <a:cs typeface="Arial" panose="020B06040202020202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1100">
                <a:tc vMerge="1">
                  <a:txBody>
                    <a:bodyPr/>
                    <a:lstStyle/>
                    <a:p>
                      <a:endParaRPr lang="fr-FR"/>
                    </a:p>
                  </a:txBody>
                  <a:tcPr/>
                </a:tc>
                <a:tc>
                  <a:txBody>
                    <a:bodyPr/>
                    <a:lstStyle/>
                    <a:p>
                      <a:pPr algn="l" fontAlgn="t"/>
                      <a:r>
                        <a:rPr lang="fr-FR" sz="1200" b="0" i="0" u="none" strike="noStrike" dirty="0">
                          <a:solidFill>
                            <a:srgbClr val="000000"/>
                          </a:solidFill>
                          <a:effectLst/>
                          <a:latin typeface="Aptos Narrow"/>
                        </a:rPr>
                        <a:t>Organisation des réunions trimestrielles provinciales de suivi des activités EZD (logistiques, indicateurs, managériales etc.)</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La  non mise à jour des outils de gestion de données du PEV en intégrant les rubriques en lien avec l'identification, la récupération et le suivi des enfants zéro dose et sous vacciné</a:t>
                      </a:r>
                    </a:p>
                  </a:txBody>
                  <a:tcPr marL="6350" marR="6350" marT="635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1100">
                <a:tc vMerge="1">
                  <a:txBody>
                    <a:bodyPr/>
                    <a:lstStyle/>
                    <a:p>
                      <a:endParaRPr lang="fr-FR"/>
                    </a:p>
                  </a:txBody>
                  <a:tcPr/>
                </a:tc>
                <a:tc>
                  <a:txBody>
                    <a:bodyPr/>
                    <a:lstStyle/>
                    <a:p>
                      <a:pPr algn="l" fontAlgn="t"/>
                      <a:r>
                        <a:rPr lang="fr-FR" sz="1200" b="0" i="0" u="none" strike="noStrike">
                          <a:solidFill>
                            <a:srgbClr val="000000"/>
                          </a:solidFill>
                          <a:effectLst/>
                          <a:latin typeface="Aptos Narrow"/>
                        </a:rPr>
                        <a:t>Appui des réunions systématiques de monitorage mensuel des données EZD et des bonnes pratiques aux niveau des Aires de santé et des Bureaux Centraux</a:t>
                      </a:r>
                    </a:p>
                  </a:txBody>
                  <a:tcPr marL="6350" marR="6350" marT="63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Non organisation  des enquêtes DQS </a:t>
                      </a:r>
                      <a:r>
                        <a:rPr lang="fr-FR" sz="1200" b="0" i="0" u="none" strike="noStrike" dirty="0" err="1">
                          <a:solidFill>
                            <a:srgbClr val="000000"/>
                          </a:solidFill>
                          <a:effectLst/>
                          <a:latin typeface="Aptos Narrow"/>
                        </a:rPr>
                        <a:t>allegés</a:t>
                      </a:r>
                      <a:r>
                        <a:rPr lang="fr-FR" sz="1200" b="0" i="0" u="none" strike="noStrike" dirty="0">
                          <a:solidFill>
                            <a:srgbClr val="000000"/>
                          </a:solidFill>
                          <a:effectLst/>
                          <a:latin typeface="Aptos Narrow"/>
                        </a:rPr>
                        <a:t> durant les supervisions à un rythme trimestriel afin d’évaluer l’atteinte des enfants ZD</a:t>
                      </a:r>
                    </a:p>
                  </a:txBody>
                  <a:tcPr marL="6350" marR="6350" marT="635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1100">
                <a:tc vMerge="1">
                  <a:txBody>
                    <a:bodyPr/>
                    <a:lstStyle/>
                    <a:p>
                      <a:endParaRPr lang="fr-FR"/>
                    </a:p>
                  </a:txBody>
                  <a:tcPr/>
                </a:tc>
                <a:tc>
                  <a:txBody>
                    <a:bodyPr/>
                    <a:lstStyle/>
                    <a:p>
                      <a:pPr algn="l" fontAlgn="t"/>
                      <a:r>
                        <a:rPr lang="fr-FR" sz="1200" b="0" i="0" u="none" strike="noStrike" dirty="0" smtClean="0">
                          <a:solidFill>
                            <a:srgbClr val="000000"/>
                          </a:solidFill>
                          <a:effectLst/>
                          <a:latin typeface="Aptos Narrow"/>
                        </a:rPr>
                        <a:t>. Accompagnement</a:t>
                      </a:r>
                      <a:r>
                        <a:rPr lang="fr-FR" sz="1200" b="0" i="0" u="none" strike="noStrike" baseline="0" dirty="0" smtClean="0">
                          <a:solidFill>
                            <a:srgbClr val="000000"/>
                          </a:solidFill>
                          <a:effectLst/>
                          <a:latin typeface="Aptos Narrow"/>
                        </a:rPr>
                        <a:t> d</a:t>
                      </a:r>
                      <a:r>
                        <a:rPr lang="fr-FR" sz="1200" b="0" i="0" u="none" strike="noStrike" dirty="0" smtClean="0">
                          <a:solidFill>
                            <a:srgbClr val="000000"/>
                          </a:solidFill>
                          <a:effectLst/>
                          <a:latin typeface="Aptos Narrow"/>
                        </a:rPr>
                        <a:t>es </a:t>
                      </a:r>
                      <a:r>
                        <a:rPr lang="fr-FR" sz="1200" b="0" i="0" u="none" strike="noStrike" dirty="0">
                          <a:solidFill>
                            <a:srgbClr val="000000"/>
                          </a:solidFill>
                          <a:effectLst/>
                          <a:latin typeface="Aptos Narrow"/>
                        </a:rPr>
                        <a:t>Cellules d'Animation Communautaire pour l’identification porte à porte des nouveaux nés et des EZD et sous vaccinés selon la stratégie porte à porte à l’aide de l’outil ODK et des téléphones/tablettes (Expérience de distribution MIILD dans les ménages)</a:t>
                      </a:r>
                    </a:p>
                  </a:txBody>
                  <a:tcPr marL="6350" marR="6350" marT="635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algn="l" fontAlgn="t"/>
                      <a:r>
                        <a:rPr lang="fr-FR" sz="1200" b="0" i="0" u="none" strike="noStrike" dirty="0" smtClean="0">
                          <a:solidFill>
                            <a:schemeClr val="tx1"/>
                          </a:solidFill>
                          <a:effectLst/>
                          <a:latin typeface="Aptos Narrow"/>
                        </a:rPr>
                        <a:t>Non réalisation</a:t>
                      </a:r>
                      <a:r>
                        <a:rPr lang="fr-FR" sz="1200" b="0" i="0" u="none" strike="noStrike" baseline="0" dirty="0" smtClean="0">
                          <a:solidFill>
                            <a:schemeClr val="tx1"/>
                          </a:solidFill>
                          <a:effectLst/>
                          <a:latin typeface="Aptos Narrow"/>
                        </a:rPr>
                        <a:t> de </a:t>
                      </a:r>
                      <a:r>
                        <a:rPr lang="fr-FR" sz="1200" b="0" i="0" u="none" strike="noStrike" dirty="0" smtClean="0">
                          <a:solidFill>
                            <a:schemeClr val="tx1"/>
                          </a:solidFill>
                          <a:effectLst/>
                          <a:latin typeface="Aptos Narrow"/>
                        </a:rPr>
                        <a:t> </a:t>
                      </a:r>
                      <a:r>
                        <a:rPr lang="fr-FR" sz="1200" b="0" i="0" u="none" strike="noStrike" dirty="0">
                          <a:solidFill>
                            <a:schemeClr val="tx1"/>
                          </a:solidFill>
                          <a:effectLst/>
                          <a:latin typeface="Aptos Narrow"/>
                        </a:rPr>
                        <a:t>diagnostic genre au cours des 6 premiers mois en vue d'identifier des stratégies </a:t>
                      </a:r>
                      <a:r>
                        <a:rPr lang="fr-FR" sz="1200" b="0" i="0" u="none" strike="noStrike" dirty="0" err="1">
                          <a:solidFill>
                            <a:schemeClr val="tx1"/>
                          </a:solidFill>
                          <a:effectLst/>
                          <a:latin typeface="Aptos Narrow"/>
                        </a:rPr>
                        <a:t>sexospécifiques</a:t>
                      </a:r>
                      <a:r>
                        <a:rPr lang="fr-FR" sz="1200" b="0" i="0" u="none" strike="noStrike" dirty="0">
                          <a:solidFill>
                            <a:schemeClr val="tx1"/>
                          </a:solidFill>
                          <a:effectLst/>
                          <a:latin typeface="Aptos Narrow"/>
                        </a:rPr>
                        <a:t> adaptées à intégrer dans les activités d'identification et de vaccination d'enfants ZD</a:t>
                      </a:r>
                    </a:p>
                  </a:txBody>
                  <a:tcPr marL="6350" marR="6350" marT="635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1100">
                <a:tc vMerge="1">
                  <a:txBody>
                    <a:bodyPr/>
                    <a:lstStyle/>
                    <a:p>
                      <a:endParaRPr lang="fr-FR"/>
                    </a:p>
                  </a:txBody>
                  <a:tcPr/>
                </a:tc>
                <a:tc>
                  <a:txBody>
                    <a:bodyPr/>
                    <a:lstStyle/>
                    <a:p>
                      <a:pPr algn="l" fontAlgn="t"/>
                      <a:r>
                        <a:rPr lang="fr-FR" sz="1200" b="0" i="0" u="none" strike="noStrike" dirty="0" smtClean="0">
                          <a:solidFill>
                            <a:srgbClr val="000000"/>
                          </a:solidFill>
                          <a:effectLst/>
                          <a:latin typeface="Aptos Narrow"/>
                        </a:rPr>
                        <a:t>. Appui</a:t>
                      </a:r>
                      <a:r>
                        <a:rPr lang="fr-FR" sz="1200" b="0" i="0" u="none" strike="noStrike" baseline="0" dirty="0" smtClean="0">
                          <a:solidFill>
                            <a:srgbClr val="000000"/>
                          </a:solidFill>
                          <a:effectLst/>
                          <a:latin typeface="Aptos Narrow"/>
                        </a:rPr>
                        <a:t> de </a:t>
                      </a:r>
                      <a:r>
                        <a:rPr lang="fr-FR" sz="1200" b="0" i="0" u="none" strike="noStrike" dirty="0" smtClean="0">
                          <a:solidFill>
                            <a:srgbClr val="000000"/>
                          </a:solidFill>
                          <a:effectLst/>
                          <a:latin typeface="Aptos Narrow"/>
                        </a:rPr>
                        <a:t> </a:t>
                      </a:r>
                      <a:r>
                        <a:rPr lang="fr-FR" sz="1200" b="0" i="0" u="none" strike="noStrike" dirty="0">
                          <a:solidFill>
                            <a:srgbClr val="000000"/>
                          </a:solidFill>
                          <a:effectLst/>
                          <a:latin typeface="Aptos Narrow"/>
                        </a:rPr>
                        <a:t>processus d'élaboration des plans de communication spécifiques adaptés aux EZD et aux communautés manquées en se basant sur la technique de l’approche centrée sur les bénéficiaires au niveau zonal (HCD).</a:t>
                      </a:r>
                    </a:p>
                  </a:txBody>
                  <a:tcPr marL="6350" marR="6350" marT="635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algn="l" fontAlgn="t"/>
                      <a:r>
                        <a:rPr lang="fr-FR" sz="1200" b="0" i="0" u="none" strike="noStrike" dirty="0">
                          <a:solidFill>
                            <a:srgbClr val="000000"/>
                          </a:solidFill>
                          <a:effectLst/>
                          <a:latin typeface="Aptos Narrow"/>
                        </a:rPr>
                        <a:t>6.1.5.  Accompagner  les  OSC  sélectionnées  après  évaluation  dans l’élaboration de leur plan d’action qui prend en compte l'égalité genre, l'équité et l'approche Centrée sur la personne (HCD) en vue de l'identification et la vaccination complète des EZD (OMS-IMEP, 2019 ; </a:t>
                      </a:r>
                      <a:r>
                        <a:rPr lang="fr-FR" sz="1200" b="0" i="0" u="none" strike="noStrike" dirty="0" err="1">
                          <a:solidFill>
                            <a:srgbClr val="000000"/>
                          </a:solidFill>
                          <a:effectLst/>
                          <a:latin typeface="Aptos Narrow"/>
                        </a:rPr>
                        <a:t>Luma</a:t>
                      </a:r>
                      <a:r>
                        <a:rPr lang="fr-FR" sz="1200" b="0" i="0" u="none" strike="noStrike" dirty="0">
                          <a:solidFill>
                            <a:srgbClr val="000000"/>
                          </a:solidFill>
                          <a:effectLst/>
                          <a:latin typeface="Aptos Narrow"/>
                        </a:rPr>
                        <a:t> Institute,2022)</a:t>
                      </a:r>
                    </a:p>
                  </a:txBody>
                  <a:tcPr marL="6350" marR="6350" marT="635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257475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aabc9d920d_0_43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 FFOM</a:t>
            </a: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 name="Google Shape;256;g3aabc9d920d_0_43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 name="Google Shape;257;g3aabc9d920d_0_43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8" name="Google Shape;258;g3aabc9d920d_0_43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59" name="Google Shape;259;g3aabc9d920d_0_43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60" name="Google Shape;260;g3aabc9d920d_0_437"/>
          <p:cNvGraphicFramePr/>
          <p:nvPr>
            <p:extLst>
              <p:ext uri="{D42A27DB-BD31-4B8C-83A1-F6EECF244321}">
                <p14:modId xmlns:p14="http://schemas.microsoft.com/office/powerpoint/2010/main" val="4002673142"/>
              </p:ext>
            </p:extLst>
          </p:nvPr>
        </p:nvGraphicFramePr>
        <p:xfrm>
          <a:off x="458599" y="755904"/>
          <a:ext cx="11497985" cy="6001726"/>
        </p:xfrm>
        <a:graphic>
          <a:graphicData uri="http://schemas.openxmlformats.org/drawingml/2006/table">
            <a:tbl>
              <a:tblPr>
                <a:noFill/>
                <a:tableStyleId>{628BBFD1-A734-4757-B910-67CC1CD15934}</a:tableStyleId>
              </a:tblPr>
              <a:tblGrid>
                <a:gridCol w="2029038">
                  <a:extLst>
                    <a:ext uri="{9D8B030D-6E8A-4147-A177-3AD203B41FA5}">
                      <a16:colId xmlns:a16="http://schemas.microsoft.com/office/drawing/2014/main" val="20000"/>
                    </a:ext>
                  </a:extLst>
                </a:gridCol>
                <a:gridCol w="2851902">
                  <a:extLst>
                    <a:ext uri="{9D8B030D-6E8A-4147-A177-3AD203B41FA5}">
                      <a16:colId xmlns:a16="http://schemas.microsoft.com/office/drawing/2014/main" val="20001"/>
                    </a:ext>
                  </a:extLst>
                </a:gridCol>
                <a:gridCol w="2677289">
                  <a:extLst>
                    <a:ext uri="{9D8B030D-6E8A-4147-A177-3AD203B41FA5}">
                      <a16:colId xmlns:a16="http://schemas.microsoft.com/office/drawing/2014/main" val="20002"/>
                    </a:ext>
                  </a:extLst>
                </a:gridCol>
                <a:gridCol w="2106924">
                  <a:extLst>
                    <a:ext uri="{9D8B030D-6E8A-4147-A177-3AD203B41FA5}">
                      <a16:colId xmlns:a16="http://schemas.microsoft.com/office/drawing/2014/main" val="20003"/>
                    </a:ext>
                  </a:extLst>
                </a:gridCol>
                <a:gridCol w="1832832">
                  <a:extLst>
                    <a:ext uri="{9D8B030D-6E8A-4147-A177-3AD203B41FA5}">
                      <a16:colId xmlns:a16="http://schemas.microsoft.com/office/drawing/2014/main" val="20004"/>
                    </a:ext>
                  </a:extLst>
                </a:gridCol>
              </a:tblGrid>
              <a:tr h="524482">
                <a:tc>
                  <a:txBody>
                    <a:bodyPr/>
                    <a:lstStyle/>
                    <a:p>
                      <a:pPr marL="0" marR="0" lvl="0" indent="0" algn="ctr" rtl="0">
                        <a:spcBef>
                          <a:spcPts val="0"/>
                        </a:spcBef>
                        <a:spcAft>
                          <a:spcPts val="0"/>
                        </a:spcAft>
                        <a:buNone/>
                      </a:pPr>
                      <a:r>
                        <a:rPr lang="en-US" sz="1800" b="1" i="0" u="none" strike="noStrike" cap="none" dirty="0" err="1">
                          <a:solidFill>
                            <a:srgbClr val="FFFFFF"/>
                          </a:solidFill>
                          <a:latin typeface="Arial" panose="020B0604020202020204"/>
                          <a:ea typeface="Arial" panose="020B0604020202020204"/>
                          <a:cs typeface="Arial" panose="020B0604020202020204"/>
                          <a:sym typeface="Arial" panose="020B0604020202020204"/>
                        </a:rPr>
                        <a:t>Activités</a:t>
                      </a:r>
                      <a:r>
                        <a:rPr lang="en-US" sz="1800" b="1" i="0" u="none" strike="noStrike" cap="none" dirty="0">
                          <a:solidFill>
                            <a:srgbClr val="FFFFFF"/>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rgbClr val="FFFFFF"/>
                          </a:solidFill>
                          <a:latin typeface="Arial" panose="020B0604020202020204"/>
                          <a:ea typeface="Arial" panose="020B0604020202020204"/>
                          <a:cs typeface="Arial" panose="020B0604020202020204"/>
                          <a:sym typeface="Arial" panose="020B0604020202020204"/>
                        </a:rPr>
                        <a:t>spécifiques</a:t>
                      </a:r>
                      <a:endParaRPr sz="1800" b="1" i="0" u="none" strike="noStrike" cap="none" dirty="0">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Forces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Faiblesses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Opportunités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Menaces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78105">
                <a:tc rowSpan="4">
                  <a:txBody>
                    <a:bodyPr/>
                    <a:lstStyle/>
                    <a:p>
                      <a:pPr marL="0" marR="0" lvl="0" indent="0" algn="l" rtl="0">
                        <a:spcBef>
                          <a:spcPts val="0"/>
                        </a:spcBef>
                        <a:spcAft>
                          <a:spcPts val="0"/>
                        </a:spcAft>
                        <a:buNone/>
                      </a:pPr>
                      <a:r>
                        <a:rPr lang="en-US" sz="1600" b="0" i="1" u="none" strike="noStrike" cap="none" dirty="0" smtClean="0">
                          <a:solidFill>
                            <a:srgbClr val="000000"/>
                          </a:solidFill>
                          <a:latin typeface="Arial" panose="020B0604020202020204"/>
                          <a:ea typeface="Arial" panose="020B0604020202020204"/>
                          <a:cs typeface="Arial" panose="020B0604020202020204"/>
                          <a:sym typeface="Arial" panose="020B0604020202020204"/>
                        </a:rPr>
                        <a:t>2. IPVS</a:t>
                      </a:r>
                      <a:endParaRPr lang="en-US" sz="1600" b="0" i="1"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D9D9"/>
                    </a:solidFill>
                  </a:tcPr>
                </a:tc>
                <a:tc>
                  <a: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kumimoji="0" lang="fr-FR" sz="2000" b="0" i="0" u="none" strike="noStrike" kern="1200" cap="none" spc="0" normalizeH="0" baseline="0" noProof="0" dirty="0" smtClean="0">
                          <a:ln>
                            <a:noFill/>
                          </a:ln>
                          <a:solidFill>
                            <a:prstClr val="black"/>
                          </a:solidFill>
                          <a:effectLst/>
                          <a:uLnTx/>
                          <a:uFillTx/>
                          <a:latin typeface="Calibri"/>
                          <a:ea typeface="+mn-ea"/>
                          <a:cs typeface="+mn-cs"/>
                        </a:rPr>
                        <a:t>Estimation des besoins en vaccins réalisées dans les 3 passage tenant compte des besoins des IPVS et aussi de la Routine ;</a:t>
                      </a:r>
                    </a:p>
                    <a:p>
                      <a:pPr marL="0" marR="0" lvl="0" indent="0" algn="l" rtl="0">
                        <a:spcBef>
                          <a:spcPts val="0"/>
                        </a:spcBef>
                        <a:spcAft>
                          <a:spcPts val="0"/>
                        </a:spcAft>
                        <a:buNone/>
                      </a:pPr>
                      <a:endParaRPr sz="16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dirty="0" smtClean="0">
                          <a:cs typeface="Arial" panose="020B0604020202020204" pitchFamily="34" charset="0"/>
                        </a:rPr>
                        <a:t>Faible disponibilité en vaccins de routines pour la récupération des enfants observée dans certains sites de l’Antenne PEV de Tshikapa(surtout pour le BCG et le Rota) au passage II , puis VAA et PCV-13 au 3é passage</a:t>
                      </a:r>
                      <a:endParaRPr sz="16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La non prise en compte de la ZS de NYANGA malgré le plaidoyer</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279806">
                <a:tc vMerge="1">
                  <a:txBody>
                    <a:bodyPr/>
                    <a:lstStyle/>
                    <a:p>
                      <a:endParaRPr lang="fr-FR"/>
                    </a:p>
                  </a:txBody>
                  <a:tcPr/>
                </a:tc>
                <a:tc>
                  <a:txBody>
                    <a:bodyPr/>
                    <a:lstStyle/>
                    <a:p>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dirty="0" smtClean="0"/>
                        <a:t>Suivi journalier des disponibilité pendants passage avec des réapprovisionnements réalisé dans certains AS. </a:t>
                      </a:r>
                      <a:endParaRPr lang="fr-FR" sz="1600" dirty="0"/>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just">
                        <a:lnSpc>
                          <a:spcPct val="100000"/>
                        </a:lnSpc>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dirty="0" smtClean="0">
                          <a:cs typeface="Arial" panose="020B0604020202020204" pitchFamily="34" charset="0"/>
                        </a:rPr>
                        <a:t>Faible couverture des AS en réfrigérateur PQS fonctionnel (53% pour l’Antenne PEV de Tshikapa et 57% pour l’Antenne PEV de Mweka);</a:t>
                      </a: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6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97107">
                <a:tc vMerge="1">
                  <a:txBody>
                    <a:bodyPr/>
                    <a:lstStyle/>
                    <a:p>
                      <a:endParaRPr lang="fr-FR"/>
                    </a:p>
                  </a:txBody>
                  <a:tcPr/>
                </a:tc>
                <a:tc>
                  <a:txBody>
                    <a:bodyPr/>
                    <a:lstStyle/>
                    <a:p>
                      <a:pPr lvl="0"/>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dirty="0" smtClean="0"/>
                        <a:t>Bonne disponibilité du Penta, VAR et VPI pour couvrir les IPVS;</a:t>
                      </a: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157439">
                <a:tc vMerge="1">
                  <a:txBody>
                    <a:bodyPr/>
                    <a:lstStyle/>
                    <a:p>
                      <a:endParaRPr lang="fr-FR"/>
                    </a:p>
                  </a:txBody>
                  <a:tcPr/>
                </a:tc>
                <a:tc>
                  <a:txBody>
                    <a:bodyPr/>
                    <a:lstStyle/>
                    <a:p>
                      <a:pPr lvl="0"/>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dirty="0" smtClean="0"/>
                        <a:t>Les missions d’approvisionnement des 18 BCZ et des sites de stockage des AS réalisées avant le début de chaque passage ;</a:t>
                      </a: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aabc9d920d_0_43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Analyse FFOM</a:t>
            </a: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 name="Google Shape;256;g3aabc9d920d_0_43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 name="Google Shape;257;g3aabc9d920d_0_43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8" name="Google Shape;258;g3aabc9d920d_0_43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59" name="Google Shape;259;g3aabc9d920d_0_43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60" name="Google Shape;260;g3aabc9d920d_0_437"/>
          <p:cNvGraphicFramePr/>
          <p:nvPr>
            <p:extLst>
              <p:ext uri="{D42A27DB-BD31-4B8C-83A1-F6EECF244321}">
                <p14:modId xmlns:p14="http://schemas.microsoft.com/office/powerpoint/2010/main" val="1887094216"/>
              </p:ext>
            </p:extLst>
          </p:nvPr>
        </p:nvGraphicFramePr>
        <p:xfrm>
          <a:off x="458599" y="768096"/>
          <a:ext cx="11428301" cy="5753169"/>
        </p:xfrm>
        <a:graphic>
          <a:graphicData uri="http://schemas.openxmlformats.org/drawingml/2006/table">
            <a:tbl>
              <a:tblPr>
                <a:noFill/>
                <a:tableStyleId>{628BBFD1-A734-4757-B910-67CC1CD15934}</a:tableStyleId>
              </a:tblPr>
              <a:tblGrid>
                <a:gridCol w="2016741">
                  <a:extLst>
                    <a:ext uri="{9D8B030D-6E8A-4147-A177-3AD203B41FA5}">
                      <a16:colId xmlns:a16="http://schemas.microsoft.com/office/drawing/2014/main" val="20000"/>
                    </a:ext>
                  </a:extLst>
                </a:gridCol>
                <a:gridCol w="2834618">
                  <a:extLst>
                    <a:ext uri="{9D8B030D-6E8A-4147-A177-3AD203B41FA5}">
                      <a16:colId xmlns:a16="http://schemas.microsoft.com/office/drawing/2014/main" val="20001"/>
                    </a:ext>
                  </a:extLst>
                </a:gridCol>
                <a:gridCol w="2661063">
                  <a:extLst>
                    <a:ext uri="{9D8B030D-6E8A-4147-A177-3AD203B41FA5}">
                      <a16:colId xmlns:a16="http://schemas.microsoft.com/office/drawing/2014/main" val="20002"/>
                    </a:ext>
                  </a:extLst>
                </a:gridCol>
                <a:gridCol w="2094155">
                  <a:extLst>
                    <a:ext uri="{9D8B030D-6E8A-4147-A177-3AD203B41FA5}">
                      <a16:colId xmlns:a16="http://schemas.microsoft.com/office/drawing/2014/main" val="20003"/>
                    </a:ext>
                  </a:extLst>
                </a:gridCol>
                <a:gridCol w="1821724">
                  <a:extLst>
                    <a:ext uri="{9D8B030D-6E8A-4147-A177-3AD203B41FA5}">
                      <a16:colId xmlns:a16="http://schemas.microsoft.com/office/drawing/2014/main" val="20004"/>
                    </a:ext>
                  </a:extLst>
                </a:gridCol>
              </a:tblGrid>
              <a:tr h="528891">
                <a:tc>
                  <a:txBody>
                    <a:bodyPr/>
                    <a:lstStyle/>
                    <a:p>
                      <a:pPr marL="0" marR="0" lvl="0" indent="0" algn="ctr" rtl="0">
                        <a:spcBef>
                          <a:spcPts val="0"/>
                        </a:spcBef>
                        <a:spcAft>
                          <a:spcPts val="0"/>
                        </a:spcAft>
                        <a:buNone/>
                      </a:pPr>
                      <a:r>
                        <a:rPr lang="en-US" sz="1800" b="1" i="0" u="none" strike="noStrike" cap="none" dirty="0" err="1">
                          <a:solidFill>
                            <a:srgbClr val="FFFFFF"/>
                          </a:solidFill>
                          <a:latin typeface="Arial" panose="020B0604020202020204"/>
                          <a:ea typeface="Arial" panose="020B0604020202020204"/>
                          <a:cs typeface="Arial" panose="020B0604020202020204"/>
                          <a:sym typeface="Arial" panose="020B0604020202020204"/>
                        </a:rPr>
                        <a:t>Activités</a:t>
                      </a:r>
                      <a:r>
                        <a:rPr lang="en-US" sz="1800" b="1" i="0" u="none" strike="noStrike" cap="none" dirty="0">
                          <a:solidFill>
                            <a:srgbClr val="FFFFFF"/>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rgbClr val="FFFFFF"/>
                          </a:solidFill>
                          <a:latin typeface="Arial" panose="020B0604020202020204"/>
                          <a:ea typeface="Arial" panose="020B0604020202020204"/>
                          <a:cs typeface="Arial" panose="020B0604020202020204"/>
                          <a:sym typeface="Arial" panose="020B0604020202020204"/>
                        </a:rPr>
                        <a:t>spécifiques</a:t>
                      </a:r>
                      <a:endParaRPr sz="1800" b="1" i="0" u="none" strike="noStrike" cap="none" dirty="0">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Forces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Faiblesses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Opportunités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Menaces</a:t>
                      </a:r>
                      <a:endParaRPr sz="1800" b="1" i="0" u="none" strike="noStrike" cap="none">
                        <a:solidFill>
                          <a:srgbClr val="FFFFFF"/>
                        </a:solidFill>
                        <a:latin typeface="Arial" panose="020B0604020202020204"/>
                        <a:ea typeface="Arial" panose="020B0604020202020204"/>
                        <a:cs typeface="Arial" panose="020B0604020202020204"/>
                        <a:sym typeface="Arial" panose="020B0604020202020204"/>
                      </a:endParaRPr>
                    </a:p>
                  </a:txBody>
                  <a:tcPr marL="7000" marR="7000" marT="70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1102472">
                <a:tc rowSpan="4">
                  <a:txBody>
                    <a:bodyPr/>
                    <a:lstStyle/>
                    <a:p>
                      <a:pPr marL="0" marR="0" lvl="0" indent="0" algn="l" rtl="0">
                        <a:spcBef>
                          <a:spcPts val="0"/>
                        </a:spcBef>
                        <a:spcAft>
                          <a:spcPts val="0"/>
                        </a:spcAft>
                        <a:buNone/>
                      </a:pPr>
                      <a:r>
                        <a:rPr lang="en-US" sz="1600" b="0" i="1" u="none" strike="noStrike" cap="none" dirty="0" smtClean="0">
                          <a:solidFill>
                            <a:srgbClr val="000000"/>
                          </a:solidFill>
                          <a:latin typeface="Arial" panose="020B0604020202020204"/>
                          <a:ea typeface="Arial" panose="020B0604020202020204"/>
                          <a:cs typeface="Arial" panose="020B0604020202020204"/>
                          <a:sym typeface="Arial" panose="020B0604020202020204"/>
                        </a:rPr>
                        <a:t>2. IPVS</a:t>
                      </a:r>
                      <a:endParaRPr lang="en-US" sz="1600" b="0" i="1"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D9D9D9"/>
                    </a:solidFill>
                  </a:tcPr>
                </a:tc>
                <a:tc>
                  <a:txBody>
                    <a:bodyPr/>
                    <a:lstStyle/>
                    <a:p>
                      <a:r>
                        <a:rPr lang="fr-FR" sz="1600" dirty="0" smtClean="0">
                          <a:latin typeface="Arial Narrow" panose="020B0606020202030204" pitchFamily="34" charset="0"/>
                        </a:rPr>
                        <a:t>Fortes appropriation des communautés dans la recherche des enfants EZD et ESV;</a:t>
                      </a:r>
                      <a:endParaRPr lang="fr-FR" sz="1600" dirty="0">
                        <a:latin typeface="Arial Narrow" panose="020B0606020202030204" pitchFamily="34" charset="0"/>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r>
                        <a:rPr lang="fr-FR" sz="1600" dirty="0" smtClean="0"/>
                        <a:t>Nombre des CAC planifiés insuffisants couvrir tous les ménages dans certaines AS;</a:t>
                      </a:r>
                      <a:endParaRPr lang="fr-FR" sz="1600" dirty="0"/>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fr-FR" sz="16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La non prise en compte de la ZS de NYANGA malgré le plaidoyer</a:t>
                      </a:r>
                      <a:endParaRPr lang="fr-F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19328">
                <a:tc vMerge="1">
                  <a:txBody>
                    <a:bodyPr/>
                    <a:lstStyle/>
                    <a:p>
                      <a:endParaRPr lang="fr-FR"/>
                    </a:p>
                  </a:txBody>
                  <a:tcPr/>
                </a:tc>
                <a:tc>
                  <a:txBody>
                    <a:bodyPr/>
                    <a:lstStyle/>
                    <a:p>
                      <a:r>
                        <a:rPr lang="fr-FR" sz="1600" dirty="0" smtClean="0">
                          <a:latin typeface="Arial Narrow" panose="020B0606020202030204" pitchFamily="34" charset="0"/>
                        </a:rPr>
                        <a:t>Bonne </a:t>
                      </a:r>
                      <a:r>
                        <a:rPr lang="fr-FR" sz="1600" dirty="0" smtClean="0">
                          <a:latin typeface="Arial Narrow" panose="020B0606020202030204" pitchFamily="34" charset="0"/>
                        </a:rPr>
                        <a:t>fonctionnalité de la task-force communication</a:t>
                      </a:r>
                      <a:endParaRPr lang="fr-FR" sz="1600" dirty="0">
                        <a:latin typeface="Arial Narrow" panose="020B0606020202030204" pitchFamily="34" charset="0"/>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algn="just">
                        <a:lnSpc>
                          <a:spcPct val="100000"/>
                        </a:lnSpc>
                      </a:pPr>
                      <a:endParaRPr lang="fr-FR" sz="1600" dirty="0" smtClean="0">
                        <a:cs typeface="Arial" panose="020B0604020202020204" pitchFamily="34" charset="0"/>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02967">
                <a:tc vMerge="1">
                  <a:txBody>
                    <a:bodyPr/>
                    <a:lstStyle/>
                    <a:p>
                      <a:endParaRPr lang="fr-FR"/>
                    </a:p>
                  </a:txBody>
                  <a:tcPr/>
                </a:tc>
                <a:tc>
                  <a:txBody>
                    <a:bodyPr/>
                    <a:lstStyle/>
                    <a:p>
                      <a:pPr lvl="0"/>
                      <a:r>
                        <a:rPr lang="fr-FR" sz="1800" dirty="0" smtClean="0"/>
                        <a:t>A</a:t>
                      </a:r>
                      <a:r>
                        <a:rPr lang="fr-FR" sz="1600" dirty="0" smtClean="0"/>
                        <a:t>ppui technique, et</a:t>
                      </a:r>
                      <a:r>
                        <a:rPr lang="fr-FR" sz="1600" baseline="0" dirty="0" smtClean="0"/>
                        <a:t> logistique </a:t>
                      </a:r>
                      <a:r>
                        <a:rPr lang="fr-FR" sz="1600" dirty="0" smtClean="0"/>
                        <a:t>du niveau central dans la mise en œuvre des</a:t>
                      </a:r>
                      <a:r>
                        <a:rPr lang="fr-FR" sz="1600" baseline="0" dirty="0" smtClean="0"/>
                        <a:t> IPVS</a:t>
                      </a:r>
                      <a:endParaRPr lang="fr-FR" sz="1600" dirty="0" smtClean="0"/>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fr-FR" sz="1600" dirty="0" smtClean="0"/>
                        <a:t>Faible promptitude dans le rapportage des données des IPVS dans le masque en ligne</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167169">
                <a:tc vMerge="1">
                  <a:txBody>
                    <a:bodyPr/>
                    <a:lstStyle/>
                    <a:p>
                      <a:endParaRPr lang="fr-FR"/>
                    </a:p>
                  </a:txBody>
                  <a:tcPr/>
                </a:tc>
                <a:tc>
                  <a:txBody>
                    <a:bodyPr/>
                    <a:lstStyle/>
                    <a:p>
                      <a:pPr lvl="0"/>
                      <a:r>
                        <a:rPr lang="fr-FR" sz="1600" dirty="0" smtClean="0"/>
                        <a:t>Analyses journalières des données avec le feed-back aux ZS</a:t>
                      </a: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lvl="0"/>
                      <a:r>
                        <a:rPr lang="fr-FR" sz="1600" dirty="0" smtClean="0"/>
                        <a:t>Les données IPVS logé dans le masque de saisie sont différentes de celles  saisies  sur DHIS2 pour toutes les ZS ;</a:t>
                      </a:r>
                      <a:endParaRPr lang="fr-FR" sz="1600" dirty="0"/>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167169">
                <a:tc>
                  <a:txBody>
                    <a:bodyPr/>
                    <a:lstStyle/>
                    <a:p>
                      <a:pPr marL="0" marR="0" lvl="0" indent="0" algn="l" rtl="0">
                        <a:spcBef>
                          <a:spcPts val="0"/>
                        </a:spcBef>
                        <a:spcAft>
                          <a:spcPts val="0"/>
                        </a:spcAft>
                        <a:buNone/>
                      </a:pPr>
                      <a:endParaRPr lang="en-US" sz="1600" b="0" i="1"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9D9D9"/>
                    </a:solidFill>
                  </a:tcPr>
                </a:tc>
                <a:tc>
                  <a:txBody>
                    <a:bodyPr/>
                    <a:lstStyle/>
                    <a:p>
                      <a:pPr lvl="0"/>
                      <a:r>
                        <a:rPr lang="fr-FR" sz="1600" dirty="0" smtClean="0"/>
                        <a:t>Le masque de saisie rendu disponible dès le début de chaque passage</a:t>
                      </a:r>
                    </a:p>
                  </a:txBody>
                  <a:tcPr marL="7000" marR="7000" marT="700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fr-FR" sz="1600" dirty="0" smtClean="0"/>
                        <a:t>Les soldes des EZD et ESV non encore vacciné  dans certaines ZS</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txBody>
                  <a:tcPr marL="7000" marR="7000" marT="7000" marB="0">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4150481606"/>
                  </a:ext>
                </a:extLst>
              </a:tr>
            </a:tbl>
          </a:graphicData>
        </a:graphic>
      </p:graphicFrame>
    </p:spTree>
    <p:extLst>
      <p:ext uri="{BB962C8B-B14F-4D97-AF65-F5344CB8AC3E}">
        <p14:creationId xmlns:p14="http://schemas.microsoft.com/office/powerpoint/2010/main" val="23582837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2" name="Titre 1"/>
          <p:cNvSpPr>
            <a:spLocks noGrp="1"/>
          </p:cNvSpPr>
          <p:nvPr>
            <p:ph type="title"/>
          </p:nvPr>
        </p:nvSpPr>
        <p:spPr>
          <a:xfrm>
            <a:off x="281178" y="253122"/>
            <a:ext cx="11400421" cy="688239"/>
          </a:xfrm>
          <a:ln/>
        </p:spPr>
        <p:style>
          <a:lnRef idx="1">
            <a:schemeClr val="dk1"/>
          </a:lnRef>
          <a:fillRef idx="2">
            <a:schemeClr val="dk1"/>
          </a:fillRef>
          <a:effectRef idx="1">
            <a:schemeClr val="dk1"/>
          </a:effectRef>
          <a:fontRef idx="minor">
            <a:schemeClr val="dk1"/>
          </a:fontRef>
        </p:style>
        <p:txBody>
          <a:bodyPr>
            <a:noAutofit/>
          </a:bodyPr>
          <a:lstStyle/>
          <a:p>
            <a:pPr algn="ctr"/>
            <a:r>
              <a:rPr lang="fr-FR" b="1" dirty="0" smtClean="0">
                <a:effectLst>
                  <a:outerShdw blurRad="38100" dist="38100" dir="2700000" algn="tl">
                    <a:srgbClr val="000000">
                      <a:alpha val="43137"/>
                    </a:srgbClr>
                  </a:outerShdw>
                </a:effectLst>
              </a:rPr>
              <a:t>MEILLEURS PRATIQUES</a:t>
            </a:r>
            <a:endParaRPr lang="fr-FR" b="1" dirty="0">
              <a:effectLst>
                <a:outerShdw blurRad="38100" dist="38100" dir="2700000" algn="tl">
                  <a:srgbClr val="000000">
                    <a:alpha val="43137"/>
                  </a:srgbClr>
                </a:outerShdw>
              </a:effectLst>
            </a:endParaRPr>
          </a:p>
        </p:txBody>
      </p:sp>
      <p:sp>
        <p:nvSpPr>
          <p:cNvPr id="1048833" name="Espace réservé du texte 2"/>
          <p:cNvSpPr>
            <a:spLocks noGrp="1"/>
          </p:cNvSpPr>
          <p:nvPr>
            <p:ph type="body" idx="1"/>
          </p:nvPr>
        </p:nvSpPr>
        <p:spPr>
          <a:xfrm>
            <a:off x="281177" y="1053794"/>
            <a:ext cx="5539519" cy="576262"/>
          </a:xfrm>
          <a:ln/>
        </p:spPr>
        <p:style>
          <a:lnRef idx="1">
            <a:schemeClr val="dk1"/>
          </a:lnRef>
          <a:fillRef idx="2">
            <a:schemeClr val="dk1"/>
          </a:fillRef>
          <a:effectRef idx="1">
            <a:schemeClr val="dk1"/>
          </a:effectRef>
          <a:fontRef idx="minor">
            <a:schemeClr val="dk1"/>
          </a:fontRef>
        </p:style>
        <p:txBody>
          <a:bodyPr>
            <a:normAutofit/>
          </a:bodyPr>
          <a:lstStyle/>
          <a:p>
            <a:pPr algn="ctr"/>
            <a:r>
              <a:rPr lang="fr-FR" sz="3200" dirty="0" smtClean="0">
                <a:effectLst>
                  <a:outerShdw blurRad="38100" dist="38100" dir="2700000" algn="tl">
                    <a:srgbClr val="000000">
                      <a:alpha val="43137"/>
                    </a:srgbClr>
                  </a:outerShdw>
                </a:effectLst>
                <a:latin typeface="+mj-lt"/>
              </a:rPr>
              <a:t>TECHNIQUE</a:t>
            </a:r>
            <a:endParaRPr lang="fr-FR" sz="3200" dirty="0">
              <a:effectLst>
                <a:outerShdw blurRad="38100" dist="38100" dir="2700000" algn="tl">
                  <a:srgbClr val="000000">
                    <a:alpha val="43137"/>
                  </a:srgbClr>
                </a:outerShdw>
              </a:effectLst>
              <a:latin typeface="+mj-lt"/>
            </a:endParaRPr>
          </a:p>
        </p:txBody>
      </p:sp>
      <p:sp>
        <p:nvSpPr>
          <p:cNvPr id="1048835" name="Espace réservé du texte 4"/>
          <p:cNvSpPr>
            <a:spLocks noGrp="1"/>
          </p:cNvSpPr>
          <p:nvPr>
            <p:ph type="body" sz="quarter" idx="3"/>
          </p:nvPr>
        </p:nvSpPr>
        <p:spPr>
          <a:xfrm>
            <a:off x="6027174" y="1053794"/>
            <a:ext cx="5654425" cy="576262"/>
          </a:xfrm>
          <a:ln/>
        </p:spPr>
        <p:style>
          <a:lnRef idx="1">
            <a:schemeClr val="dk1"/>
          </a:lnRef>
          <a:fillRef idx="2">
            <a:schemeClr val="dk1"/>
          </a:fillRef>
          <a:effectRef idx="1">
            <a:schemeClr val="dk1"/>
          </a:effectRef>
          <a:fontRef idx="minor">
            <a:schemeClr val="dk1"/>
          </a:fontRef>
        </p:style>
        <p:txBody>
          <a:bodyPr>
            <a:normAutofit/>
          </a:bodyPr>
          <a:lstStyle/>
          <a:p>
            <a:pPr algn="ctr"/>
            <a:r>
              <a:rPr lang="fr-FR" sz="3200" dirty="0" smtClean="0">
                <a:effectLst>
                  <a:outerShdw blurRad="38100" dist="38100" dir="2700000" algn="tl">
                    <a:srgbClr val="000000">
                      <a:alpha val="43137"/>
                    </a:srgbClr>
                  </a:outerShdw>
                </a:effectLst>
                <a:latin typeface="+mj-lt"/>
              </a:rPr>
              <a:t>LOGISTIQUE</a:t>
            </a:r>
            <a:endParaRPr lang="fr-FR" sz="3200" dirty="0">
              <a:effectLst>
                <a:outerShdw blurRad="38100" dist="38100" dir="2700000" algn="tl">
                  <a:srgbClr val="000000">
                    <a:alpha val="43137"/>
                  </a:srgbClr>
                </a:outerShdw>
              </a:effectLst>
              <a:latin typeface="+mj-lt"/>
            </a:endParaRPr>
          </a:p>
        </p:txBody>
      </p:sp>
      <p:sp>
        <p:nvSpPr>
          <p:cNvPr id="1048837" name="Espace réservé de la date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BB03E5-99E2-48DB-B4D6-9984100C7978}" type="datetime1">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07/12/2025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048838"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7D88A-0A00-4DD6-BEE2-4EF1457D8857}"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Espace réservé du contenu 3">
            <a:extLst>
              <a:ext uri="{FF2B5EF4-FFF2-40B4-BE49-F238E27FC236}">
                <a16:creationId xmlns:a16="http://schemas.microsoft.com/office/drawing/2014/main" id="{2928A480-C652-4A98-A06E-4783A4C5F5F7}"/>
              </a:ext>
            </a:extLst>
          </p:cNvPr>
          <p:cNvSpPr>
            <a:spLocks noGrp="1"/>
          </p:cNvSpPr>
          <p:nvPr>
            <p:ph sz="half" idx="2"/>
          </p:nvPr>
        </p:nvSpPr>
        <p:spPr>
          <a:xfrm>
            <a:off x="277090" y="1742489"/>
            <a:ext cx="5543605" cy="4160537"/>
          </a:xfrm>
          <a:ln w="28575">
            <a:solidFill>
              <a:schemeClr val="accent1"/>
            </a:solidFill>
          </a:ln>
        </p:spPr>
        <p:txBody>
          <a:bodyPr>
            <a:normAutofit/>
          </a:bodyPr>
          <a:lstStyle/>
          <a:p>
            <a:pPr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lvl="0"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lvl="0" algn="just" fontAlgn="base">
              <a:lnSpc>
                <a:spcPct val="148000"/>
              </a:lnSpc>
              <a:spcAft>
                <a:spcPts val="905"/>
              </a:spcAft>
              <a:buClr>
                <a:srgbClr val="000000"/>
              </a:buClr>
              <a:buSzPts val="1200"/>
              <a:buFont typeface="Wingdings" panose="05000000000000000000" pitchFamily="2" charset="2"/>
              <a:buChar char="ü"/>
            </a:pPr>
            <a:endParaRPr lang="fr-FR" sz="2400" dirty="0" smtClean="0">
              <a:solidFill>
                <a:srgbClr val="000000"/>
              </a:solidFill>
              <a:uFill>
                <a:solidFill>
                  <a:srgbClr val="000000"/>
                </a:solidFill>
              </a:uFill>
              <a:latin typeface="Arial Narrow" panose="020B0606020202030204" pitchFamily="34" charset="0"/>
              <a:ea typeface="Arial" panose="020B0604020202020204" pitchFamily="34" charset="0"/>
              <a:cs typeface="Arial" panose="020B0604020202020204" pitchFamily="34" charset="0"/>
            </a:endParaRPr>
          </a:p>
          <a:p>
            <a:pPr marL="0" indent="0">
              <a:buNone/>
            </a:pPr>
            <a:endParaRPr lang="fr-FR" sz="2400" dirty="0">
              <a:latin typeface="Arial" panose="020B0604020202020204" pitchFamily="34" charset="0"/>
              <a:cs typeface="Arial" panose="020B0604020202020204" pitchFamily="34" charset="0"/>
            </a:endParaRPr>
          </a:p>
        </p:txBody>
      </p:sp>
      <p:sp>
        <p:nvSpPr>
          <p:cNvPr id="13" name="Espace réservé du contenu 5">
            <a:extLst>
              <a:ext uri="{FF2B5EF4-FFF2-40B4-BE49-F238E27FC236}">
                <a16:creationId xmlns:a16="http://schemas.microsoft.com/office/drawing/2014/main" id="{2DA71682-57A7-4BA0-9361-EF7A2E30A560}"/>
              </a:ext>
            </a:extLst>
          </p:cNvPr>
          <p:cNvSpPr>
            <a:spLocks noGrp="1"/>
          </p:cNvSpPr>
          <p:nvPr>
            <p:ph sz="quarter" idx="4"/>
          </p:nvPr>
        </p:nvSpPr>
        <p:spPr>
          <a:xfrm>
            <a:off x="6027174" y="1764145"/>
            <a:ext cx="5654425" cy="4135653"/>
          </a:xfrm>
          <a:ln w="28575">
            <a:solidFill>
              <a:schemeClr val="tx1"/>
            </a:solidFill>
          </a:ln>
        </p:spPr>
        <p:txBody>
          <a:bodyPr>
            <a:noAutofit/>
          </a:bodyPr>
          <a:lstStyle/>
          <a:p>
            <a:pPr marL="285750" indent="-285750"/>
            <a:r>
              <a:rPr lang="fr-FR" sz="2000" dirty="0" smtClean="0"/>
              <a:t> </a:t>
            </a:r>
            <a:r>
              <a:rPr lang="fr-FR" sz="2000" dirty="0">
                <a:latin typeface="Arial Narrow" panose="020B0606020202030204" pitchFamily="34" charset="0"/>
              </a:rPr>
              <a:t>Regroupement des AS filles autour des AS leaders qui ont des  MCF homologués et fonctionnels;  </a:t>
            </a:r>
          </a:p>
          <a:p>
            <a:pPr marL="285750" indent="-285750"/>
            <a:r>
              <a:rPr lang="fr-FR" sz="2000" dirty="0">
                <a:latin typeface="Arial Narrow" panose="020B0606020202030204" pitchFamily="34" charset="0"/>
              </a:rPr>
              <a:t>Pré positionnement des glacières  dans les ZS ayant un déficit criant en MCF;</a:t>
            </a:r>
          </a:p>
          <a:p>
            <a:pPr marL="285750" indent="-285750"/>
            <a:r>
              <a:rPr lang="fr-FR" sz="2000" dirty="0">
                <a:latin typeface="Arial Narrow" panose="020B0606020202030204" pitchFamily="34" charset="0"/>
              </a:rPr>
              <a:t>Recyclages des accumulateurs et redéploiement dans les ZS;</a:t>
            </a:r>
          </a:p>
          <a:p>
            <a:pPr marL="285750" indent="-285750"/>
            <a:r>
              <a:rPr lang="fr-FR" sz="2000" dirty="0">
                <a:latin typeface="Arial Narrow" panose="020B0606020202030204" pitchFamily="34" charset="0"/>
              </a:rPr>
              <a:t>Prise regulière de  la température;</a:t>
            </a:r>
          </a:p>
          <a:p>
            <a:pPr marL="285750" indent="-285750"/>
            <a:r>
              <a:rPr lang="fr-FR" sz="2000" dirty="0">
                <a:latin typeface="Arial Narrow" panose="020B0606020202030204" pitchFamily="34" charset="0"/>
              </a:rPr>
              <a:t>Tenue à jour et correctement des outils de gestion.</a:t>
            </a:r>
          </a:p>
          <a:p>
            <a:pPr marL="285750" indent="-285750"/>
            <a:r>
              <a:rPr lang="fr-FR" sz="2000" dirty="0">
                <a:latin typeface="Arial Narrow" panose="020B0606020202030204" pitchFamily="34" charset="0"/>
              </a:rPr>
              <a:t> La quantité des vaccins reçus pour les IPVS a permis de récupérer les enfants ( ZD et SV), sans faire recours aux doses supplémentaires.</a:t>
            </a:r>
          </a:p>
          <a:p>
            <a:pPr marL="0" lvl="0" indent="0">
              <a:buNone/>
            </a:pPr>
            <a:endParaRPr lang="fr-FR" sz="2000" dirty="0" smtClean="0"/>
          </a:p>
          <a:p>
            <a:pPr lvl="0"/>
            <a:endParaRPr lang="fr-FR" sz="2000" dirty="0"/>
          </a:p>
          <a:p>
            <a:pPr lvl="0"/>
            <a:endParaRPr lang="fr-FR" sz="2000" dirty="0" smtClean="0"/>
          </a:p>
          <a:p>
            <a:pPr marL="0" indent="0">
              <a:buNone/>
            </a:pPr>
            <a:r>
              <a:rPr lang="fr-FR" sz="1800" dirty="0" smtClean="0">
                <a:solidFill>
                  <a:prstClr val="black"/>
                </a:solidFill>
                <a:latin typeface="Arial Narrow" panose="020B0606020202030204" pitchFamily="34" charset="0"/>
              </a:rPr>
              <a:t> </a:t>
            </a:r>
          </a:p>
        </p:txBody>
      </p:sp>
      <p:sp>
        <p:nvSpPr>
          <p:cNvPr id="2" name="Espace réservé du pied de page 1"/>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PRESENTATION DPS KASAI_3 PASSAGES IPVS</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p:cNvSpPr/>
          <p:nvPr/>
        </p:nvSpPr>
        <p:spPr>
          <a:xfrm>
            <a:off x="383822" y="1764145"/>
            <a:ext cx="5398142" cy="2862322"/>
          </a:xfrm>
          <a:prstGeom prst="rect">
            <a:avLst/>
          </a:prstGeom>
        </p:spPr>
        <p:txBody>
          <a:bodyPr wrap="square">
            <a:spAutoFit/>
          </a:bodyPr>
          <a:lstStyle/>
          <a:p>
            <a:r>
              <a:rPr lang="fr-FR" sz="1800" dirty="0">
                <a:latin typeface="Arial Narrow" panose="020B0606020202030204" pitchFamily="34" charset="0"/>
              </a:rPr>
              <a:t>Renforcement du PEV de routine par:</a:t>
            </a:r>
          </a:p>
          <a:p>
            <a:pPr marL="285750" indent="-285750">
              <a:buFont typeface="Arial" panose="020B0604020202020204" pitchFamily="34" charset="0"/>
              <a:buChar char="•"/>
            </a:pPr>
            <a:r>
              <a:rPr lang="fr-FR" sz="1800" dirty="0">
                <a:latin typeface="Arial Narrow" panose="020B0606020202030204" pitchFamily="34" charset="0"/>
              </a:rPr>
              <a:t>Renforcement de capacité des cadres de la DPS, des ZS dans le suivi des activités de la vaccination et la recherches des enfants en conflit avec le calendrier vaccinal;  </a:t>
            </a:r>
            <a:endParaRPr lang="fr-FR" sz="1800" dirty="0" smtClean="0">
              <a:latin typeface="Arial Narrow" panose="020B0606020202030204" pitchFamily="34" charset="0"/>
            </a:endParaRPr>
          </a:p>
          <a:p>
            <a:endParaRPr lang="fr-FR" sz="1800" dirty="0">
              <a:latin typeface="Arial Narrow" panose="020B0606020202030204" pitchFamily="34" charset="0"/>
            </a:endParaRPr>
          </a:p>
          <a:p>
            <a:pPr marL="285750" indent="-285750">
              <a:buFont typeface="Arial" panose="020B0604020202020204" pitchFamily="34" charset="0"/>
              <a:buChar char="•"/>
            </a:pPr>
            <a:r>
              <a:rPr lang="fr-FR" sz="1800" dirty="0">
                <a:latin typeface="Arial Narrow" panose="020B0606020202030204" pitchFamily="34" charset="0"/>
              </a:rPr>
              <a:t>Mise à jour </a:t>
            </a:r>
            <a:r>
              <a:rPr lang="fr-FR" sz="1800" dirty="0" err="1" smtClean="0">
                <a:latin typeface="Arial Narrow" panose="020B0606020202030204" pitchFamily="34" charset="0"/>
              </a:rPr>
              <a:t>permenant</a:t>
            </a:r>
            <a:r>
              <a:rPr lang="fr-FR" sz="1800" dirty="0" smtClean="0">
                <a:latin typeface="Arial Narrow" panose="020B0606020202030204" pitchFamily="34" charset="0"/>
              </a:rPr>
              <a:t> </a:t>
            </a:r>
            <a:r>
              <a:rPr lang="fr-FR" sz="1800" dirty="0">
                <a:latin typeface="Arial Narrow" panose="020B0606020202030204" pitchFamily="34" charset="0"/>
              </a:rPr>
              <a:t>des listes des enfants à </a:t>
            </a:r>
            <a:r>
              <a:rPr lang="fr-FR" sz="1800" dirty="0" smtClean="0">
                <a:latin typeface="Arial Narrow" panose="020B0606020202030204" pitchFamily="34" charset="0"/>
              </a:rPr>
              <a:t>récupérer;</a:t>
            </a:r>
          </a:p>
          <a:p>
            <a:endParaRPr lang="fr-FR" sz="1800" dirty="0">
              <a:latin typeface="Arial Narrow" panose="020B0606020202030204" pitchFamily="34" charset="0"/>
            </a:endParaRPr>
          </a:p>
          <a:p>
            <a:pPr marL="285750" indent="-285750">
              <a:buFont typeface="Arial" panose="020B0604020202020204" pitchFamily="34" charset="0"/>
              <a:buChar char="•"/>
            </a:pPr>
            <a:r>
              <a:rPr lang="fr-FR" sz="1800" dirty="0">
                <a:latin typeface="Arial Narrow" panose="020B0606020202030204" pitchFamily="34" charset="0"/>
              </a:rPr>
              <a:t>Redynamisation des activités des relais communautaires au travers des visites à </a:t>
            </a:r>
            <a:r>
              <a:rPr lang="fr-FR" sz="1800" dirty="0" smtClean="0">
                <a:latin typeface="Arial Narrow" panose="020B0606020202030204" pitchFamily="34" charset="0"/>
              </a:rPr>
              <a:t>domicile;</a:t>
            </a:r>
            <a:endParaRPr lang="fr-FR" sz="1800" dirty="0">
              <a:latin typeface="Arial Narrow" panose="020B0606020202030204" pitchFamily="34" charset="0"/>
            </a:endParaRPr>
          </a:p>
        </p:txBody>
      </p:sp>
    </p:spTree>
    <p:extLst>
      <p:ext uri="{BB962C8B-B14F-4D97-AF65-F5344CB8AC3E}">
        <p14:creationId xmlns:p14="http://schemas.microsoft.com/office/powerpoint/2010/main" val="1439741160"/>
      </p:ext>
    </p:extLst>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aabc9d920d_0_234"/>
          <p:cNvSpPr txBox="1"/>
          <p:nvPr/>
        </p:nvSpPr>
        <p:spPr>
          <a:xfrm>
            <a:off x="458592" y="317940"/>
            <a:ext cx="11274900" cy="742763"/>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r>
              <a:rPr kumimoji="0" lang="en-US" sz="2700" b="0" i="0" u="none" strike="noStrike" kern="0" cap="none" spc="0" normalizeH="0" baseline="0" noProof="0" dirty="0" smtClean="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rPr>
              <a:t>DÉFIS RENCONTRÉS</a:t>
            </a: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defTabSz="914400" rtl="0" eaLnBrk="1" fontAlgn="auto" latinLnBrk="0" hangingPunct="1">
              <a:lnSpc>
                <a:spcPct val="200000"/>
              </a:lnSpc>
              <a:spcBef>
                <a:spcPts val="0"/>
              </a:spcBef>
              <a:spcAft>
                <a:spcPts val="0"/>
              </a:spcAft>
              <a:buClr>
                <a:srgbClr val="000000"/>
              </a:buClr>
              <a:buSzTx/>
              <a:buFont typeface="Arial" panose="020B0604020202020204"/>
              <a:buAutoNum type="arabicPeriod"/>
              <a:tabLst/>
              <a:defRPr/>
            </a:pPr>
            <a:r>
              <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Récupération de enfants Zéro dose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et sous vaccinés;</a:t>
            </a:r>
            <a:endPar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200000"/>
              </a:lnSpc>
              <a:spcBef>
                <a:spcPts val="0"/>
              </a:spcBef>
              <a:spcAft>
                <a:spcPts val="0"/>
              </a:spcAft>
              <a:buClr>
                <a:srgbClr val="000000"/>
              </a:buClr>
              <a:buSzTx/>
              <a:buFont typeface="Arial" panose="020B0604020202020204"/>
              <a:buAutoNum type="arabicPeriod"/>
              <a:tabLst/>
              <a:defRPr/>
            </a:pPr>
            <a:r>
              <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Augmentation de couvertures vaccinales  dans tous les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antigènes;</a:t>
            </a:r>
            <a:endPar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200000"/>
              </a:lnSpc>
              <a:spcBef>
                <a:spcPts val="0"/>
              </a:spcBef>
              <a:spcAft>
                <a:spcPts val="0"/>
              </a:spcAft>
              <a:buClr>
                <a:srgbClr val="000000"/>
              </a:buClr>
              <a:buSzTx/>
              <a:buFont typeface="Arial" panose="020B0604020202020204"/>
              <a:buAutoNum type="arabicPeriod"/>
              <a:tabLst/>
              <a:defRPr/>
            </a:pPr>
            <a:r>
              <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Supervision </a:t>
            </a:r>
            <a:r>
              <a:rPr kumimoji="0" lang="fr-FR" sz="2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lang="fr-FR" sz="2800" dirty="0" smtClean="0"/>
              <a:t>formative</a:t>
            </a:r>
            <a:r>
              <a:rPr lang="fr-FR" sz="2800" b="1" dirty="0" smtClean="0"/>
              <a:t>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dans</a:t>
            </a:r>
            <a:r>
              <a:rPr kumimoji="0" lang="fr-FR" sz="2800" b="0"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toutes les zones de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santé;</a:t>
            </a:r>
            <a:endPar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42900" marR="0" lvl="0" indent="-342900" algn="l" defTabSz="914400" rtl="0" eaLnBrk="1" fontAlgn="auto" latinLnBrk="0" hangingPunct="1">
              <a:lnSpc>
                <a:spcPct val="200000"/>
              </a:lnSpc>
              <a:spcBef>
                <a:spcPts val="0"/>
              </a:spcBef>
              <a:spcAft>
                <a:spcPts val="0"/>
              </a:spcAft>
              <a:buClr>
                <a:srgbClr val="000000"/>
              </a:buClr>
              <a:buSzTx/>
              <a:buFont typeface="Arial" panose="020B0604020202020204"/>
              <a:buAutoNum type="arabicPeriod"/>
              <a:tabLst/>
              <a:defRPr/>
            </a:pPr>
            <a:r>
              <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Tenue régulière des réunions de </a:t>
            </a:r>
            <a:r>
              <a:rPr kumimoji="0" lang="fr-FR" sz="28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coordination. </a:t>
            </a:r>
            <a:endParaRPr kumimoji="0" lang="fr-FR"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1500"/>
              <a:buFont typeface="Arial" panose="020B0604020202020204"/>
              <a:buNone/>
              <a:tabLst/>
              <a:defRPr/>
            </a:pPr>
            <a:endParaRPr kumimoji="0" sz="2700" b="0" i="0" u="none" strike="noStrike" kern="0" cap="none" spc="0" normalizeH="0" baseline="0" noProof="0" dirty="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g3aabc9d920d_0_234"/>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panose="020B0604020202020204"/>
              <a:buNone/>
              <a:tabLst/>
              <a:defRPr/>
            </a:pPr>
            <a:endParaRPr kumimoji="0" sz="1900" b="0" i="0" u="none" strike="noStrike" kern="0" cap="none" spc="0" normalizeH="0" baseline="0" noProof="0">
              <a:ln>
                <a:noFill/>
              </a:ln>
              <a:solidFill>
                <a:srgbClr val="0070C0"/>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g3aabc9d920d_0_234"/>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panose="020B0604020202020204"/>
              <a:buNone/>
              <a:tabLst/>
              <a:defRPr/>
            </a:pPr>
            <a:endParaRPr kumimoji="0" sz="1200" b="1" i="0" u="none" strike="noStrike" kern="0" cap="none" spc="0" normalizeH="0" baseline="0" noProof="0">
              <a:ln>
                <a:noFill/>
              </a:ln>
              <a:solidFill>
                <a:srgbClr val="1155CC"/>
              </a:solidFill>
              <a:effectLst/>
              <a:uLnTx/>
              <a:uFillTx/>
              <a:latin typeface="Times New Roman" panose="02020603050405020304"/>
              <a:ea typeface="Times New Roman" panose="02020603050405020304"/>
              <a:cs typeface="Times New Roman" panose="02020603050405020304"/>
              <a:sym typeface="Times New Roman" panose="02020603050405020304"/>
            </a:endParaRPr>
          </a:p>
        </p:txBody>
      </p:sp>
      <p:sp>
        <p:nvSpPr>
          <p:cNvPr id="239" name="Google Shape;239;g3aabc9d920d_0_234"/>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tabLst/>
              <a:defRPr/>
            </a:pPr>
            <a:fld id="{00000000-1234-1234-1234-123412341234}" type="slidenum">
              <a:rPr kumimoji="0" lang="en-US" sz="1200" b="0" i="0" u="none" strike="noStrike" kern="0" cap="none" spc="0" normalizeH="0" baseline="0" noProof="0">
                <a:ln>
                  <a:noFill/>
                </a:ln>
                <a:solidFill>
                  <a:srgbClr val="1155CC"/>
                </a:solidFill>
                <a:effectLst/>
                <a:uLnTx/>
                <a:uFillTx/>
                <a:latin typeface="Arial" panose="020B0604020202020204"/>
                <a:ea typeface="Arial" panose="020B0604020202020204"/>
                <a:cs typeface="Arial" panose="020B0604020202020204"/>
                <a:sym typeface="Arial" panose="020B0604020202020204"/>
              </a:rPr>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tabLst/>
                <a:defRPr/>
              </a:pPr>
              <a:t>17</a:t>
            </a:fld>
            <a:endParaRPr kumimoji="0" sz="1200" b="0" i="0" u="none" strike="noStrike" kern="0" cap="none" spc="0" normalizeH="0" baseline="0" noProof="0">
              <a:ln>
                <a:noFill/>
              </a:ln>
              <a:solidFill>
                <a:srgbClr val="1155CC"/>
              </a:solidFill>
              <a:effectLst/>
              <a:uLnTx/>
              <a:uFillTx/>
              <a:latin typeface="Arial" panose="020B0604020202020204"/>
              <a:ea typeface="Arial" panose="020B0604020202020204"/>
              <a:cs typeface="Arial" panose="020B0604020202020204"/>
              <a:sym typeface="Arial" panose="020B0604020202020204"/>
            </a:endParaRPr>
          </a:p>
        </p:txBody>
      </p:sp>
      <p:cxnSp>
        <p:nvCxnSpPr>
          <p:cNvPr id="240" name="Google Shape;240;g3aabc9d920d_0_234"/>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Tree>
    <p:extLst>
      <p:ext uri="{BB962C8B-B14F-4D97-AF65-F5344CB8AC3E}">
        <p14:creationId xmlns:p14="http://schemas.microsoft.com/office/powerpoint/2010/main" val="17779335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F1CEA2C-B1BD-4FD1-A716-95FE9ED2672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91B03E4-757E-4AC9-812D-D0A0A87C53E2}" type="datetime1">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07/12/2025</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Espace réservé du pied de page 4">
            <a:extLst>
              <a:ext uri="{FF2B5EF4-FFF2-40B4-BE49-F238E27FC236}">
                <a16:creationId xmlns:a16="http://schemas.microsoft.com/office/drawing/2014/main" id="{B240382B-22D7-4E5B-BFC7-CC1C82EE721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a:ea typeface="+mn-ea"/>
                <a:cs typeface="+mn-cs"/>
              </a:rPr>
              <a:t>GESTION IPVS  DPS KASAI</a:t>
            </a:r>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Espace réservé du numéro de diapositive 5">
            <a:extLst>
              <a:ext uri="{FF2B5EF4-FFF2-40B4-BE49-F238E27FC236}">
                <a16:creationId xmlns:a16="http://schemas.microsoft.com/office/drawing/2014/main" id="{EC4D9765-7E13-46D4-A75C-CB75B3EDA08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7D88A-0A00-4DD6-BEE2-4EF1457D8857}"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7" name="Espace réservé du contenu 6">
            <a:extLst>
              <a:ext uri="{FF2B5EF4-FFF2-40B4-BE49-F238E27FC236}">
                <a16:creationId xmlns:a16="http://schemas.microsoft.com/office/drawing/2014/main" id="{E4F91DEA-1599-4134-942D-85D25E9B9218}"/>
              </a:ext>
            </a:extLst>
          </p:cNvPr>
          <p:cNvGraphicFramePr>
            <a:graphicFrameLocks noGrp="1"/>
          </p:cNvGraphicFramePr>
          <p:nvPr>
            <p:ph idx="1"/>
            <p:extLst>
              <p:ext uri="{D42A27DB-BD31-4B8C-83A1-F6EECF244321}">
                <p14:modId xmlns:p14="http://schemas.microsoft.com/office/powerpoint/2010/main" val="1296862888"/>
              </p:ext>
            </p:extLst>
          </p:nvPr>
        </p:nvGraphicFramePr>
        <p:xfrm>
          <a:off x="143162" y="925449"/>
          <a:ext cx="11711709" cy="4798769"/>
        </p:xfrm>
        <a:graphic>
          <a:graphicData uri="http://schemas.openxmlformats.org/drawingml/2006/table">
            <a:tbl>
              <a:tblPr firstRow="1" bandRow="1">
                <a:tableStyleId>{5940675A-B579-460E-94D1-54222C63F5DA}</a:tableStyleId>
              </a:tblPr>
              <a:tblGrid>
                <a:gridCol w="586487">
                  <a:extLst>
                    <a:ext uri="{9D8B030D-6E8A-4147-A177-3AD203B41FA5}">
                      <a16:colId xmlns:a16="http://schemas.microsoft.com/office/drawing/2014/main" val="20000"/>
                    </a:ext>
                  </a:extLst>
                </a:gridCol>
                <a:gridCol w="4250646">
                  <a:extLst>
                    <a:ext uri="{9D8B030D-6E8A-4147-A177-3AD203B41FA5}">
                      <a16:colId xmlns:a16="http://schemas.microsoft.com/office/drawing/2014/main" val="20001"/>
                    </a:ext>
                  </a:extLst>
                </a:gridCol>
                <a:gridCol w="2378198">
                  <a:extLst>
                    <a:ext uri="{9D8B030D-6E8A-4147-A177-3AD203B41FA5}">
                      <a16:colId xmlns:a16="http://schemas.microsoft.com/office/drawing/2014/main" val="20002"/>
                    </a:ext>
                  </a:extLst>
                </a:gridCol>
                <a:gridCol w="2754630">
                  <a:extLst>
                    <a:ext uri="{9D8B030D-6E8A-4147-A177-3AD203B41FA5}">
                      <a16:colId xmlns:a16="http://schemas.microsoft.com/office/drawing/2014/main" val="20003"/>
                    </a:ext>
                  </a:extLst>
                </a:gridCol>
                <a:gridCol w="1741748">
                  <a:extLst>
                    <a:ext uri="{9D8B030D-6E8A-4147-A177-3AD203B41FA5}">
                      <a16:colId xmlns:a16="http://schemas.microsoft.com/office/drawing/2014/main" val="20004"/>
                    </a:ext>
                  </a:extLst>
                </a:gridCol>
              </a:tblGrid>
              <a:tr h="637176">
                <a:tc>
                  <a:txBody>
                    <a:bodyPr/>
                    <a:lstStyle/>
                    <a:p>
                      <a:pPr algn="ctr"/>
                      <a:r>
                        <a:rPr lang="fr-FR" sz="1600" b="1" dirty="0">
                          <a:solidFill>
                            <a:schemeClr val="tx1"/>
                          </a:solidFill>
                          <a:latin typeface="Bahnschrift Condensed" panose="020B0502040204020203" pitchFamily="34" charset="0"/>
                        </a:rPr>
                        <a:t>N°</a:t>
                      </a:r>
                    </a:p>
                  </a:txBody>
                  <a:tcPr>
                    <a:solidFill>
                      <a:schemeClr val="bg1">
                        <a:lumMod val="65000"/>
                      </a:schemeClr>
                    </a:solidFill>
                  </a:tcPr>
                </a:tc>
                <a:tc>
                  <a:txBody>
                    <a:bodyPr/>
                    <a:lstStyle/>
                    <a:p>
                      <a:pPr algn="ctr"/>
                      <a:r>
                        <a:rPr lang="fr-FR" sz="1600" b="1" dirty="0">
                          <a:solidFill>
                            <a:schemeClr val="tx1"/>
                          </a:solidFill>
                          <a:latin typeface="Bahnschrift Condensed" panose="020B0502040204020203" pitchFamily="34" charset="0"/>
                        </a:rPr>
                        <a:t>RECOMMMANDATIONS</a:t>
                      </a:r>
                    </a:p>
                  </a:txBody>
                  <a:tcPr>
                    <a:solidFill>
                      <a:schemeClr val="bg1">
                        <a:lumMod val="65000"/>
                      </a:schemeClr>
                    </a:solidFill>
                  </a:tcPr>
                </a:tc>
                <a:tc>
                  <a:txBody>
                    <a:bodyPr/>
                    <a:lstStyle/>
                    <a:p>
                      <a:pPr algn="ctr"/>
                      <a:r>
                        <a:rPr lang="fr-FR" sz="1600" b="1" dirty="0">
                          <a:solidFill>
                            <a:schemeClr val="tx1"/>
                          </a:solidFill>
                          <a:latin typeface="Bahnschrift Condensed" panose="020B0502040204020203" pitchFamily="34" charset="0"/>
                        </a:rPr>
                        <a:t>RESPONSABLE</a:t>
                      </a:r>
                    </a:p>
                  </a:txBody>
                  <a:tcPr>
                    <a:solidFill>
                      <a:schemeClr val="bg1">
                        <a:lumMod val="65000"/>
                      </a:schemeClr>
                    </a:solidFill>
                  </a:tcPr>
                </a:tc>
                <a:tc>
                  <a:txBody>
                    <a:bodyPr/>
                    <a:lstStyle/>
                    <a:p>
                      <a:pPr algn="ctr"/>
                      <a:r>
                        <a:rPr lang="fr-FR" sz="1600" b="1" dirty="0">
                          <a:solidFill>
                            <a:schemeClr val="tx1"/>
                          </a:solidFill>
                          <a:latin typeface="Bahnschrift Condensed" panose="020B0502040204020203" pitchFamily="34" charset="0"/>
                        </a:rPr>
                        <a:t>ECHEANCE</a:t>
                      </a:r>
                    </a:p>
                  </a:txBody>
                  <a:tcPr>
                    <a:solidFill>
                      <a:schemeClr val="bg1">
                        <a:lumMod val="65000"/>
                      </a:schemeClr>
                    </a:solidFill>
                  </a:tcPr>
                </a:tc>
                <a:tc>
                  <a:txBody>
                    <a:bodyPr/>
                    <a:lstStyle/>
                    <a:p>
                      <a:pPr algn="ctr"/>
                      <a:r>
                        <a:rPr lang="fr-FR" sz="1600" b="1" dirty="0" smtClean="0">
                          <a:solidFill>
                            <a:schemeClr val="tx1"/>
                          </a:solidFill>
                          <a:latin typeface="Bahnschrift Condensed" panose="020B0502040204020203" pitchFamily="34" charset="0"/>
                        </a:rPr>
                        <a:t>SOURCE</a:t>
                      </a:r>
                      <a:r>
                        <a:rPr lang="fr-FR" sz="1600" b="1" baseline="0" dirty="0" smtClean="0">
                          <a:solidFill>
                            <a:schemeClr val="tx1"/>
                          </a:solidFill>
                          <a:latin typeface="Bahnschrift Condensed" panose="020B0502040204020203" pitchFamily="34" charset="0"/>
                        </a:rPr>
                        <a:t> DE VERIFICATION</a:t>
                      </a:r>
                      <a:endParaRPr lang="fr-FR" sz="1600" b="1" dirty="0">
                        <a:solidFill>
                          <a:schemeClr val="tx1"/>
                        </a:solidFill>
                        <a:latin typeface="Bahnschrift Condensed" panose="020B0502040204020203" pitchFamily="34" charset="0"/>
                      </a:endParaRPr>
                    </a:p>
                  </a:txBody>
                  <a:tcPr>
                    <a:solidFill>
                      <a:schemeClr val="bg1">
                        <a:lumMod val="65000"/>
                      </a:schemeClr>
                    </a:solidFill>
                  </a:tcPr>
                </a:tc>
                <a:extLst>
                  <a:ext uri="{0D108BD9-81ED-4DB2-BD59-A6C34878D82A}">
                    <a16:rowId xmlns:a16="http://schemas.microsoft.com/office/drawing/2014/main" val="10000"/>
                  </a:ext>
                </a:extLst>
              </a:tr>
              <a:tr h="635823">
                <a:tc>
                  <a:txBody>
                    <a:bodyPr/>
                    <a:lstStyle/>
                    <a:p>
                      <a:pPr algn="ctr"/>
                      <a:r>
                        <a:rPr lang="fr-FR" sz="1600" dirty="0" smtClean="0">
                          <a:solidFill>
                            <a:schemeClr val="tx1"/>
                          </a:solidFill>
                          <a:latin typeface="Bahnschrift Condensed" panose="020B0502040204020203" pitchFamily="34" charset="0"/>
                        </a:rPr>
                        <a:t>1</a:t>
                      </a:r>
                      <a:endParaRPr lang="fr-FR" sz="1600" dirty="0">
                        <a:solidFill>
                          <a:schemeClr val="tx1"/>
                        </a:solidFill>
                        <a:latin typeface="Bahnschrift Condensed" panose="020B0502040204020203" pitchFamily="34" charset="0"/>
                      </a:endParaRPr>
                    </a:p>
                  </a:txBody>
                  <a:tcPr anchor="ctr"/>
                </a:tc>
                <a:tc>
                  <a:txBody>
                    <a:bodyPr/>
                    <a:lstStyle/>
                    <a:p>
                      <a:pPr marL="225425" marR="13970" indent="-457200" algn="ctr">
                        <a:lnSpc>
                          <a:spcPct val="115000"/>
                        </a:lnSpc>
                        <a:spcAft>
                          <a:spcPts val="0"/>
                        </a:spcAft>
                      </a:pPr>
                      <a:r>
                        <a:rPr lang="fr-FR" sz="2000" b="0" baseline="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Concilier la gestion de tous les  antigènes et autres  intrants spécifiques lors des 3 passages des IPVS</a:t>
                      </a:r>
                      <a:endParaRPr lang="fr-FR" sz="20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tc>
                <a:tc>
                  <a:txBody>
                    <a:bodyPr/>
                    <a:lstStyle/>
                    <a:p>
                      <a:pPr marL="1270" indent="-45720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MCA/LOG</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Immédiat</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ctr"/>
                      <a:r>
                        <a:rPr lang="fr-FR" sz="2000" b="0" dirty="0" smtClean="0">
                          <a:solidFill>
                            <a:schemeClr val="tx1"/>
                          </a:solidFill>
                          <a:effectLst/>
                          <a:latin typeface="Bahnschrift Condensed" panose="020B0502040204020203" pitchFamily="34" charset="0"/>
                          <a:cs typeface="Arial" panose="020B0604020202020204" pitchFamily="34" charset="0"/>
                        </a:rPr>
                        <a:t>Rapport final de gestion conciliée validé et archivé</a:t>
                      </a:r>
                      <a:endParaRPr lang="fr-FR" sz="2000" b="0" dirty="0">
                        <a:solidFill>
                          <a:schemeClr val="tx1"/>
                        </a:solidFill>
                        <a:effectLst/>
                        <a:latin typeface="Bahnschrift Condensed" panose="020B0502040204020203" pitchFamily="34" charset="0"/>
                        <a:cs typeface="Arial" panose="020B0604020202020204" pitchFamily="34" charset="0"/>
                      </a:endParaRPr>
                    </a:p>
                  </a:txBody>
                  <a:tcPr/>
                </a:tc>
                <a:extLst>
                  <a:ext uri="{0D108BD9-81ED-4DB2-BD59-A6C34878D82A}">
                    <a16:rowId xmlns:a16="http://schemas.microsoft.com/office/drawing/2014/main" val="10001"/>
                  </a:ext>
                </a:extLst>
              </a:tr>
              <a:tr h="728809">
                <a:tc>
                  <a:txBody>
                    <a:bodyPr/>
                    <a:lstStyle/>
                    <a:p>
                      <a:pPr algn="ctr"/>
                      <a:r>
                        <a:rPr lang="fr-FR" sz="1600" dirty="0" smtClean="0">
                          <a:solidFill>
                            <a:schemeClr val="tx1"/>
                          </a:solidFill>
                          <a:latin typeface="Bahnschrift Condensed" panose="020B0502040204020203" pitchFamily="34" charset="0"/>
                        </a:rPr>
                        <a:t>2</a:t>
                      </a:r>
                      <a:endParaRPr lang="fr-FR" sz="1600" dirty="0">
                        <a:solidFill>
                          <a:schemeClr val="tx1"/>
                        </a:solidFill>
                        <a:latin typeface="Bahnschrift Condensed" panose="020B0502040204020203" pitchFamily="34" charset="0"/>
                      </a:endParaRPr>
                    </a:p>
                  </a:txBody>
                  <a:tcPr anchor="ctr"/>
                </a:tc>
                <a:tc>
                  <a:txBody>
                    <a:bodyPr/>
                    <a:lstStyle/>
                    <a:p>
                      <a:pPr marL="225425" indent="-457200" algn="ctr">
                        <a:lnSpc>
                          <a:spcPct val="115000"/>
                        </a:lnSpc>
                        <a:spcAft>
                          <a:spcPts val="0"/>
                        </a:spcAft>
                      </a:pPr>
                      <a:r>
                        <a:rPr lang="fr-FR" sz="20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Augmenter</a:t>
                      </a:r>
                      <a:r>
                        <a:rPr lang="fr-FR" sz="2000" b="0" baseline="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 le taux de satisfaction de 33,4 à 80% dans l’approvisionnement de vaccins et autres intrants dans l’Antenne PEV Tshikapa</a:t>
                      </a:r>
                      <a:endParaRPr lang="fr-FR" sz="20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1270" indent="-45720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CD</a:t>
                      </a:r>
                      <a:r>
                        <a:rPr lang="fr-FR" sz="1800" b="0" baseline="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 LOGISTIQUE</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T4 2025</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ctr"/>
                      <a:r>
                        <a:rPr lang="fr-FR" sz="2000" b="0" dirty="0" smtClean="0">
                          <a:solidFill>
                            <a:schemeClr val="tx1"/>
                          </a:solidFill>
                          <a:effectLst/>
                          <a:latin typeface="Bahnschrift Condensed" panose="020B0502040204020203" pitchFamily="34" charset="0"/>
                          <a:cs typeface="Arial" panose="020B0604020202020204" pitchFamily="34" charset="0"/>
                        </a:rPr>
                        <a:t>PV</a:t>
                      </a:r>
                      <a:r>
                        <a:rPr lang="fr-FR" sz="2000" b="0" baseline="0" dirty="0" smtClean="0">
                          <a:solidFill>
                            <a:schemeClr val="tx1"/>
                          </a:solidFill>
                          <a:effectLst/>
                          <a:latin typeface="Bahnschrift Condensed" panose="020B0502040204020203" pitchFamily="34" charset="0"/>
                          <a:cs typeface="Arial" panose="020B0604020202020204" pitchFamily="34" charset="0"/>
                        </a:rPr>
                        <a:t> de réception au T4</a:t>
                      </a:r>
                      <a:endParaRPr lang="fr-FR" sz="2000" b="0" dirty="0">
                        <a:solidFill>
                          <a:schemeClr val="tx1"/>
                        </a:solidFill>
                        <a:effectLst/>
                        <a:latin typeface="Bahnschrift Condensed" panose="020B0502040204020203" pitchFamily="34" charset="0"/>
                        <a:cs typeface="Arial" panose="020B0604020202020204" pitchFamily="34" charset="0"/>
                      </a:endParaRPr>
                    </a:p>
                  </a:txBody>
                  <a:tcPr/>
                </a:tc>
                <a:extLst>
                  <a:ext uri="{0D108BD9-81ED-4DB2-BD59-A6C34878D82A}">
                    <a16:rowId xmlns:a16="http://schemas.microsoft.com/office/drawing/2014/main" val="10005"/>
                  </a:ext>
                </a:extLst>
              </a:tr>
              <a:tr h="759822">
                <a:tc>
                  <a:txBody>
                    <a:bodyPr/>
                    <a:lstStyle/>
                    <a:p>
                      <a:pPr algn="ctr"/>
                      <a:r>
                        <a:rPr lang="fr-FR" sz="1600" dirty="0" smtClean="0">
                          <a:solidFill>
                            <a:schemeClr val="tx1"/>
                          </a:solidFill>
                          <a:latin typeface="Bahnschrift Condensed" panose="020B0502040204020203" pitchFamily="34" charset="0"/>
                        </a:rPr>
                        <a:t>3</a:t>
                      </a:r>
                      <a:endParaRPr lang="fr-FR" sz="1600" dirty="0">
                        <a:solidFill>
                          <a:schemeClr val="tx1"/>
                        </a:solidFill>
                        <a:latin typeface="Bahnschrift Condensed" panose="020B0502040204020203" pitchFamily="34" charset="0"/>
                      </a:endParaRPr>
                    </a:p>
                  </a:txBody>
                  <a:tcPr anchor="ctr"/>
                </a:tc>
                <a:tc>
                  <a:txBody>
                    <a:bodyPr/>
                    <a:lstStyle/>
                    <a:p>
                      <a:pPr marL="0" marR="0" lvl="0" indent="-457200" algn="ctr" defTabSz="914400" rtl="0" eaLnBrk="1" fontAlgn="b" latinLnBrk="0" hangingPunct="1">
                        <a:lnSpc>
                          <a:spcPct val="100000"/>
                        </a:lnSpc>
                        <a:spcBef>
                          <a:spcPts val="0"/>
                        </a:spcBef>
                        <a:spcAft>
                          <a:spcPts val="0"/>
                        </a:spcAft>
                        <a:buClrTx/>
                        <a:buSzTx/>
                        <a:buFontTx/>
                        <a:buNone/>
                        <a:tabLst/>
                        <a:defRPr/>
                      </a:pPr>
                      <a:r>
                        <a:rPr lang="fr-FR" sz="2000" b="0" u="none" strike="noStrike" baseline="0" dirty="0" smtClean="0">
                          <a:effectLst/>
                          <a:latin typeface="Bahnschrift Condensed" panose="020B0502040204020203" pitchFamily="34" charset="0"/>
                          <a:cs typeface="Arial" panose="020B0604020202020204" pitchFamily="34" charset="0"/>
                        </a:rPr>
                        <a:t>Doter les Antennes du Kasaï en matières  de Matériels de CDF homologués</a:t>
                      </a:r>
                      <a:endParaRPr lang="fr-FR" sz="2000" b="0" u="none" strike="noStrike" baseline="0" dirty="0">
                        <a:effectLst/>
                        <a:latin typeface="Bahnschrift Condensed" panose="020B0502040204020203" pitchFamily="34" charset="0"/>
                        <a:cs typeface="Arial" panose="020B0604020202020204" pitchFamily="34" charset="0"/>
                      </a:endParaRPr>
                    </a:p>
                  </a:txBody>
                  <a:tcPr marL="9525" marR="9525" marT="9525" marB="0" anchor="ctr"/>
                </a:tc>
                <a:tc>
                  <a:txBody>
                    <a:bodyPr/>
                    <a:lstStyle/>
                    <a:p>
                      <a:pPr marL="0" marR="0" indent="-457200" algn="ctr" defTabSz="914400" rtl="0" eaLnBrk="1" fontAlgn="b" latinLnBrk="0" hangingPunct="1">
                        <a:lnSpc>
                          <a:spcPct val="100000"/>
                        </a:lnSpc>
                        <a:spcBef>
                          <a:spcPts val="0"/>
                        </a:spcBef>
                        <a:spcAft>
                          <a:spcPts val="0"/>
                        </a:spcAft>
                        <a:buClrTx/>
                        <a:buSzTx/>
                        <a:buFontTx/>
                        <a:buNone/>
                        <a:tabLst/>
                        <a:defRPr/>
                      </a:pPr>
                      <a:r>
                        <a:rPr lang="fr-FR" sz="2000" b="0" i="0" u="none" strike="noStrike" baseline="0" dirty="0" smtClean="0">
                          <a:solidFill>
                            <a:srgbClr val="000000"/>
                          </a:solidFill>
                          <a:effectLst/>
                          <a:latin typeface="Bahnschrift Condensed" panose="020B0502040204020203" pitchFamily="34" charset="0"/>
                        </a:rPr>
                        <a:t> DIRECTION PEV/ PTF</a:t>
                      </a:r>
                      <a:endParaRPr lang="fr-FR" sz="2000" b="0" i="0" u="none" strike="noStrike" dirty="0">
                        <a:solidFill>
                          <a:srgbClr val="000000"/>
                        </a:solidFill>
                        <a:effectLst/>
                        <a:latin typeface="Bahnschrift Condensed" panose="020B0502040204020203" pitchFamily="34" charset="0"/>
                      </a:endParaRPr>
                    </a:p>
                  </a:txBody>
                  <a:tcPr marL="9525" marR="9525" marT="9525" marB="0" anchor="ctr"/>
                </a:tc>
                <a:tc>
                  <a:txBody>
                    <a:bodyPr/>
                    <a:lstStyle/>
                    <a:p>
                      <a:pPr algn="ctr" fontAlgn="b">
                        <a:buClrTx/>
                        <a:buSzTx/>
                        <a:buFontTx/>
                      </a:pPr>
                      <a:r>
                        <a:rPr lang="fr-FR" sz="1800" b="0" i="0" u="none" strike="noStrike" baseline="0" dirty="0" smtClean="0">
                          <a:effectLst/>
                          <a:latin typeface="Bahnschrift Condensed" panose="020B0502040204020203" pitchFamily="34" charset="0"/>
                        </a:rPr>
                        <a:t> T1 2026</a:t>
                      </a:r>
                      <a:endParaRPr lang="fr-FR" sz="1800" b="0" i="0" u="none" strike="noStrike" dirty="0">
                        <a:effectLst/>
                        <a:latin typeface="Bahnschrift Condensed" panose="020B0502040204020203" pitchFamily="34" charset="0"/>
                      </a:endParaRPr>
                    </a:p>
                  </a:txBody>
                  <a:tcPr marL="9525" marR="9525" marT="9525" marB="0" anchor="ctr"/>
                </a:tc>
                <a:tc>
                  <a:txBody>
                    <a:bodyPr/>
                    <a:lstStyle/>
                    <a:p>
                      <a:pPr algn="ctr"/>
                      <a:r>
                        <a:rPr lang="fr-FR" sz="2000" b="0" dirty="0" smtClean="0">
                          <a:solidFill>
                            <a:schemeClr val="tx1"/>
                          </a:solidFill>
                          <a:effectLst/>
                          <a:latin typeface="Bahnschrift Condensed" panose="020B0502040204020203" pitchFamily="34" charset="0"/>
                          <a:cs typeface="Arial" panose="020B0604020202020204" pitchFamily="34" charset="0"/>
                        </a:rPr>
                        <a:t>PV</a:t>
                      </a:r>
                      <a:r>
                        <a:rPr lang="fr-FR" sz="2000" b="0" baseline="0" dirty="0" smtClean="0">
                          <a:solidFill>
                            <a:schemeClr val="tx1"/>
                          </a:solidFill>
                          <a:effectLst/>
                          <a:latin typeface="Bahnschrift Condensed" panose="020B0502040204020203" pitchFamily="34" charset="0"/>
                          <a:cs typeface="Arial" panose="020B0604020202020204" pitchFamily="34" charset="0"/>
                        </a:rPr>
                        <a:t> de réception de MCF</a:t>
                      </a:r>
                      <a:endParaRPr lang="fr-FR" sz="2000" b="0" dirty="0">
                        <a:solidFill>
                          <a:schemeClr val="tx1"/>
                        </a:solidFill>
                        <a:effectLst/>
                        <a:latin typeface="Bahnschrift Condensed" panose="020B0502040204020203" pitchFamily="34" charset="0"/>
                        <a:cs typeface="Arial" panose="020B0604020202020204" pitchFamily="34" charset="0"/>
                      </a:endParaRPr>
                    </a:p>
                  </a:txBody>
                  <a:tcPr/>
                </a:tc>
                <a:extLst>
                  <a:ext uri="{0D108BD9-81ED-4DB2-BD59-A6C34878D82A}">
                    <a16:rowId xmlns:a16="http://schemas.microsoft.com/office/drawing/2014/main" val="10006"/>
                  </a:ext>
                </a:extLst>
              </a:tr>
              <a:tr h="1298651">
                <a:tc>
                  <a:txBody>
                    <a:bodyPr/>
                    <a:lstStyle/>
                    <a:p>
                      <a:pPr algn="ctr"/>
                      <a:r>
                        <a:rPr lang="fr-FR" sz="1600" dirty="0" smtClean="0">
                          <a:solidFill>
                            <a:schemeClr val="tx1"/>
                          </a:solidFill>
                          <a:latin typeface="Bahnschrift Condensed" panose="020B0502040204020203" pitchFamily="34" charset="0"/>
                        </a:rPr>
                        <a:t>4</a:t>
                      </a:r>
                      <a:endParaRPr lang="fr-FR" sz="1600" dirty="0">
                        <a:solidFill>
                          <a:schemeClr val="tx1"/>
                        </a:solidFill>
                        <a:latin typeface="Bahnschrift Condensed" panose="020B0502040204020203" pitchFamily="34" charset="0"/>
                      </a:endParaRPr>
                    </a:p>
                  </a:txBody>
                  <a:tcPr anchor="ctr"/>
                </a:tc>
                <a:tc>
                  <a:txBody>
                    <a:bodyPr/>
                    <a:lstStyle/>
                    <a:p>
                      <a:pPr marL="225425" indent="-6350" algn="ctr">
                        <a:lnSpc>
                          <a:spcPct val="115000"/>
                        </a:lnSpc>
                        <a:spcAft>
                          <a:spcPts val="0"/>
                        </a:spcAft>
                      </a:pPr>
                      <a:r>
                        <a:rPr lang="fr-FR" sz="20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Poursuivre le solde de</a:t>
                      </a:r>
                      <a:r>
                        <a:rPr lang="fr-FR" sz="2000" b="0" baseline="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 la récupération des proportions des EZD et ESV identifiés dans les ZS</a:t>
                      </a:r>
                      <a:endParaRPr lang="fr-FR" sz="20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1270" indent="-635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MCZ/IT</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marL="225425" indent="-6350" algn="ctr">
                        <a:lnSpc>
                          <a:spcPct val="115000"/>
                        </a:lnSpc>
                        <a:spcAft>
                          <a:spcPts val="0"/>
                        </a:spcAft>
                      </a:pPr>
                      <a:r>
                        <a:rPr lang="fr-FR" sz="1800" b="0" dirty="0" smtClean="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rPr>
                        <a:t>CONTINUE</a:t>
                      </a:r>
                      <a:endParaRPr lang="fr-FR" sz="1800" b="0" dirty="0">
                        <a:solidFill>
                          <a:srgbClr val="000000"/>
                        </a:solidFill>
                        <a:effectLst/>
                        <a:latin typeface="Bahnschrift Condensed" panose="020B0502040204020203" pitchFamily="34" charset="0"/>
                        <a:ea typeface="Trebuchet MS" panose="020B0603020202020204" pitchFamily="34" charset="0"/>
                        <a:cs typeface="Trebuchet MS" panose="020B0603020202020204" pitchFamily="34" charset="0"/>
                      </a:endParaRPr>
                    </a:p>
                  </a:txBody>
                  <a:tcPr marL="67310" marR="24130" marT="0" marB="0" anchor="b"/>
                </a:tc>
                <a:tc>
                  <a:txBody>
                    <a:bodyPr/>
                    <a:lstStyle/>
                    <a:p>
                      <a:pPr algn="ctr"/>
                      <a:r>
                        <a:rPr lang="fr-FR" sz="2000" b="0" dirty="0" smtClean="0">
                          <a:solidFill>
                            <a:schemeClr val="tx1"/>
                          </a:solidFill>
                          <a:effectLst/>
                          <a:latin typeface="Bahnschrift Condensed" panose="020B0502040204020203" pitchFamily="34" charset="0"/>
                          <a:cs typeface="Arial" panose="020B0604020202020204" pitchFamily="34" charset="0"/>
                        </a:rPr>
                        <a:t>Rapport</a:t>
                      </a:r>
                      <a:r>
                        <a:rPr lang="fr-FR" sz="2000" b="0" baseline="0" dirty="0" smtClean="0">
                          <a:solidFill>
                            <a:schemeClr val="tx1"/>
                          </a:solidFill>
                          <a:effectLst/>
                          <a:latin typeface="Bahnschrift Condensed" panose="020B0502040204020203" pitchFamily="34" charset="0"/>
                          <a:cs typeface="Arial" panose="020B0604020202020204" pitchFamily="34" charset="0"/>
                        </a:rPr>
                        <a:t> </a:t>
                      </a:r>
                      <a:endParaRPr lang="fr-FR" sz="2000" b="0" dirty="0">
                        <a:solidFill>
                          <a:schemeClr val="tx1"/>
                        </a:solidFill>
                        <a:effectLst/>
                        <a:latin typeface="Bahnschrift Condensed" panose="020B0502040204020203" pitchFamily="34" charset="0"/>
                        <a:cs typeface="Arial" panose="020B0604020202020204" pitchFamily="34" charset="0"/>
                      </a:endParaRPr>
                    </a:p>
                  </a:txBody>
                  <a:tcPr/>
                </a:tc>
                <a:extLst>
                  <a:ext uri="{0D108BD9-81ED-4DB2-BD59-A6C34878D82A}">
                    <a16:rowId xmlns:a16="http://schemas.microsoft.com/office/drawing/2014/main" val="1239498162"/>
                  </a:ext>
                </a:extLst>
              </a:tr>
            </a:tbl>
          </a:graphicData>
        </a:graphic>
      </p:graphicFrame>
      <p:sp>
        <p:nvSpPr>
          <p:cNvPr id="8" name="Titre 1">
            <a:extLst>
              <a:ext uri="{FF2B5EF4-FFF2-40B4-BE49-F238E27FC236}">
                <a16:creationId xmlns:a16="http://schemas.microsoft.com/office/drawing/2014/main" id="{7F0EB9C8-2D16-4CF7-9024-738948BC4288}"/>
              </a:ext>
            </a:extLst>
          </p:cNvPr>
          <p:cNvSpPr>
            <a:spLocks noGrp="1"/>
          </p:cNvSpPr>
          <p:nvPr>
            <p:ph type="title"/>
          </p:nvPr>
        </p:nvSpPr>
        <p:spPr>
          <a:xfrm>
            <a:off x="132065" y="108621"/>
            <a:ext cx="11733905" cy="639524"/>
          </a:xfrm>
          <a:ln/>
        </p:spPr>
        <p:style>
          <a:lnRef idx="1">
            <a:schemeClr val="dk1"/>
          </a:lnRef>
          <a:fillRef idx="2">
            <a:schemeClr val="dk1"/>
          </a:fillRef>
          <a:effectRef idx="1">
            <a:schemeClr val="dk1"/>
          </a:effectRef>
          <a:fontRef idx="minor">
            <a:schemeClr val="dk1"/>
          </a:fontRef>
        </p:style>
        <p:txBody>
          <a:bodyPr>
            <a:normAutofit fontScale="90000"/>
          </a:bodyPr>
          <a:lstStyle/>
          <a:p>
            <a:pPr algn="ctr"/>
            <a:r>
              <a:rPr lang="fr-FR" b="1" dirty="0" smtClean="0"/>
              <a:t>VI. SYNTHESE </a:t>
            </a:r>
            <a:r>
              <a:rPr lang="fr-FR" b="1" dirty="0"/>
              <a:t>RECOMMANDATIONS </a:t>
            </a:r>
          </a:p>
        </p:txBody>
      </p:sp>
    </p:spTree>
    <p:extLst>
      <p:ext uri="{BB962C8B-B14F-4D97-AF65-F5344CB8AC3E}">
        <p14:creationId xmlns:p14="http://schemas.microsoft.com/office/powerpoint/2010/main" val="3668794341"/>
      </p:ext>
    </p:extLst>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aabc9d920d_0_262"/>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5" name="Google Shape;275;g3aabc9d920d_0_262"/>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 name="Google Shape;276;g3aabc9d920d_0_262"/>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3412</TotalTime>
  <Words>2321</Words>
  <Application>Microsoft Office PowerPoint</Application>
  <PresentationFormat>Grand écran</PresentationFormat>
  <Paragraphs>853</Paragraphs>
  <Slides>19</Slides>
  <Notes>13</Notes>
  <HiddenSlides>0</HiddenSlides>
  <MMClips>0</MMClips>
  <ScaleCrop>false</ScaleCrop>
  <HeadingPairs>
    <vt:vector size="6" baseType="variant">
      <vt:variant>
        <vt:lpstr>Polices utilisées</vt:lpstr>
      </vt:variant>
      <vt:variant>
        <vt:i4>11</vt:i4>
      </vt:variant>
      <vt:variant>
        <vt:lpstr>Thème</vt:lpstr>
      </vt:variant>
      <vt:variant>
        <vt:i4>3</vt:i4>
      </vt:variant>
      <vt:variant>
        <vt:lpstr>Titres des diapositives</vt:lpstr>
      </vt:variant>
      <vt:variant>
        <vt:i4>19</vt:i4>
      </vt:variant>
    </vt:vector>
  </HeadingPairs>
  <TitlesOfParts>
    <vt:vector size="33" baseType="lpstr">
      <vt:lpstr>Calibri</vt:lpstr>
      <vt:lpstr>Source Serif Pro</vt:lpstr>
      <vt:lpstr>Arial</vt:lpstr>
      <vt:lpstr>Play</vt:lpstr>
      <vt:lpstr>Trebuchet MS</vt:lpstr>
      <vt:lpstr>Arial Narrow</vt:lpstr>
      <vt:lpstr>Aptos Narrow</vt:lpstr>
      <vt:lpstr>Bahnschrift Condensed</vt:lpstr>
      <vt:lpstr>Calibri Light</vt:lpstr>
      <vt:lpstr>Times New Roman</vt:lpstr>
      <vt:lpstr>Wingdings</vt:lpstr>
      <vt:lpstr>Thème Office</vt:lpstr>
      <vt:lpstr>Simple Light</vt:lpstr>
      <vt:lpstr>1_Thème Office</vt:lpstr>
      <vt:lpstr>Présentation PowerPoint</vt:lpstr>
      <vt:lpstr>Présentation PowerPoint</vt:lpstr>
      <vt:lpstr>Présentation PowerPoint</vt:lpstr>
      <vt:lpstr>Présentation PowerPoint</vt:lpstr>
      <vt:lpstr>Présentation PowerPoint</vt:lpstr>
      <vt:lpstr>Présentation PowerPoint</vt:lpstr>
      <vt:lpstr>Résultats obtenus: FAE 2024-2025 </vt:lpstr>
      <vt:lpstr>RÉSULTATS OBTENUS:  IPVS Juillet- Août et Septembre2025 </vt:lpstr>
      <vt:lpstr>DECOMPTE ZEROS DOSE</vt:lpstr>
      <vt:lpstr>DECOMPTE SOUS VACCINES</vt:lpstr>
      <vt:lpstr>                          SYNTHESE DE VACCINES PAR ANTIGENES</vt:lpstr>
      <vt:lpstr>Présentation PowerPoint</vt:lpstr>
      <vt:lpstr>Présentation PowerPoint</vt:lpstr>
      <vt:lpstr>Présentation PowerPoint</vt:lpstr>
      <vt:lpstr>Présentation PowerPoint</vt:lpstr>
      <vt:lpstr>MEILLEURS PRATIQUES</vt:lpstr>
      <vt:lpstr>Présentation PowerPoint</vt:lpstr>
      <vt:lpstr>VI. SYNTHESE RECOMMANDATIONS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Aimé CIKOMOLA</dc:creator>
  <cp:lastModifiedBy>Dr Etienne Mikobi</cp:lastModifiedBy>
  <cp:revision>39</cp:revision>
  <dcterms:created xsi:type="dcterms:W3CDTF">2025-11-28T20:10:05Z</dcterms:created>
  <dcterms:modified xsi:type="dcterms:W3CDTF">2025-12-07T20:21:55Z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93DF6B1B20AE4EE791A0860C13F9B9CC_13</vt:lpwstr>
  </property>
  <property fmtid="{D5CDD505-2E9C-101B-9397-08002B2CF9AE}" pid="3" name="KSOProductBuildVer">
    <vt:lpwstr>3084-12.2.0.23155</vt:lpwstr>
  </property>
</Properties>
</file>